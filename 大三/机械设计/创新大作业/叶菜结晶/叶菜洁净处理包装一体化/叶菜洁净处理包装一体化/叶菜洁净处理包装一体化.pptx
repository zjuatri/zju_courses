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embeddedFontLst>
    <p:embeddedFont>
      <p:font typeface="MiSans" panose="00000500000000000000" pitchFamily="34" charset="-122"/>
      <p:regular r:id="rId22"/>
    </p:embeddedFont>
    <p:embeddedFont>
      <p:font typeface="MiSans" panose="00000500000000000000" pitchFamily="34" charset="-120"/>
      <p:regular r:id="rId23"/>
    </p:embeddedFont>
    <p:embeddedFont>
      <p:font typeface="Noto Sans SC" panose="020B0200000000000000" pitchFamily="34" charset="-122"/>
      <p:regular r:id="rId24"/>
    </p:embeddedFont>
    <p:embeddedFont>
      <p:font typeface="Noto Sans SC" panose="020B0200000000000000" pitchFamily="34" charset="-120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13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7.png"/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汇报人： 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01460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汇报日期：           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5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745" y="2816860"/>
            <a:ext cx="7075805" cy="1445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叶菜洁净处理包装一体化装备</a:t>
            </a:r>
            <a:r>
              <a:rPr lang="zh-CN" altLang="en-US" sz="44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演示</a:t>
            </a:r>
            <a:endParaRPr lang="zh-CN" altLang="en-US" sz="4400" b="1" dirty="0">
              <a:solidFill>
                <a:srgbClr val="000000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n00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631680" y="1380490"/>
            <a:ext cx="1750695" cy="14230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6-d2sggsm1bb2p4onbon20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290955" y="4163060"/>
            <a:ext cx="3957955" cy="448119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H="1">
            <a:off x="4570730" y="176911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8" name="Shape 1"/>
          <p:cNvSpPr/>
          <p:nvPr/>
        </p:nvSpPr>
        <p:spPr>
          <a:xfrm flipH="1">
            <a:off x="4570730" y="281114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9" name="Shape 2"/>
          <p:cNvSpPr/>
          <p:nvPr/>
        </p:nvSpPr>
        <p:spPr>
          <a:xfrm flipH="1">
            <a:off x="4570730" y="381317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 flipH="1">
            <a:off x="4570730" y="482282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11" name="Shape 4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44550" y="1749425"/>
            <a:ext cx="1408430" cy="9766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5" name="Text 18"/>
          <p:cNvSpPr/>
          <p:nvPr/>
        </p:nvSpPr>
        <p:spPr>
          <a:xfrm>
            <a:off x="844550" y="1749425"/>
            <a:ext cx="1408430" cy="976630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目录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44550" y="2692400"/>
            <a:ext cx="2663190" cy="438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CONTENTS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8" name="Text 21"/>
          <p:cNvSpPr/>
          <p:nvPr/>
        </p:nvSpPr>
        <p:spPr>
          <a:xfrm>
            <a:off x="4747260" y="1584960"/>
            <a:ext cx="1043305" cy="8020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642610" y="1793240"/>
            <a:ext cx="5848985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770120" y="2623820"/>
            <a:ext cx="1043305" cy="8020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02.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5665470" y="2832100"/>
            <a:ext cx="5716905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总体方案与模块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770120" y="3635375"/>
            <a:ext cx="1043305" cy="8020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03.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5665470" y="3843655"/>
            <a:ext cx="5848985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关键机构计算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4770120" y="4646930"/>
            <a:ext cx="1043305" cy="8020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04.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5665470" y="4855210"/>
            <a:ext cx="5716270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验证与展望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71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6-d2sggv61bb2p4onbonj0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市场痛点与研发必要性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4-11:33:06-d2sggsm1bb2p4onbon1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4-11:33:06-d2sggsm1bb2p4onbon1g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4-11:33:06-d2sggsm1bb2p4onbon1g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12" name="Text 4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6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</p:spPr>
      </p:sp>
      <p:sp>
        <p:nvSpPr>
          <p:cNvPr id="15" name="Text 6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传统叶菜加工的弊端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当前叶菜加工多依赖单机串连，存在效率低下、洁净度不稳定、包装漏包率高、水耗大等问题，难以满足现代食品加工企业对高效、环保、低能耗的需求。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行业标准的挑战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随着GB 2763-2021对农残去除率的严格要求以及GB 16798-2010对食品机械安全卫生的规范，市场对叶菜加工设备的性能和质量提出了更高标准。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中小企业的需求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中小企业急需一种占地小（≤15㎡）、能够兼容多种叶菜品种（如生菜、油麦菜、菠菜等）的柔性化加工设备，以适应多样化的市场需求。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4" name="Text 1"/>
          <p:cNvSpPr/>
          <p:nvPr/>
        </p:nvSpPr>
        <p:spPr>
          <a:xfrm>
            <a:off x="880110" y="1675765"/>
            <a:ext cx="4953000" cy="44132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6" name="Text 3"/>
          <p:cNvSpPr/>
          <p:nvPr/>
        </p:nvSpPr>
        <p:spPr>
          <a:xfrm>
            <a:off x="6357620" y="1675765"/>
            <a:ext cx="4953000" cy="44132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76300" y="2032000"/>
            <a:ext cx="4953000" cy="43008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5"/>
          <p:cNvSpPr/>
          <p:nvPr/>
        </p:nvSpPr>
        <p:spPr>
          <a:xfrm>
            <a:off x="876300" y="2032000"/>
            <a:ext cx="4953000" cy="43008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3810" y="2032000"/>
            <a:ext cx="4953000" cy="43008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7"/>
          <p:cNvSpPr/>
          <p:nvPr/>
        </p:nvSpPr>
        <p:spPr>
          <a:xfrm>
            <a:off x="6353810" y="2032000"/>
            <a:ext cx="4953000" cy="43008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设计任务与刚性指标</a:t>
            </a:r>
            <a:endParaRPr lang="en-US" sz="1600" dirty="0"/>
          </a:p>
        </p:txBody>
      </p:sp>
      <p:pic>
        <p:nvPicPr>
          <p:cNvPr id="12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6" name="Image 2" descr="https://kimi-img.moonshot.cn/pub/slides/slides_tmpl/image/25-09-04-11:33:11-d2sggtu1bb2p4onbon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335" y="2204085"/>
            <a:ext cx="1207135" cy="2529840"/>
          </a:xfrm>
          <a:prstGeom prst="rect">
            <a:avLst/>
          </a:prstGeom>
        </p:spPr>
      </p:pic>
      <p:pic>
        <p:nvPicPr>
          <p:cNvPr id="27" name="Image 3" descr="https://kimi-img.moonshot.cn/pub/slides/slides_tmpl/image/25-09-04-11:33:11-d2sggtu1bb2p4onbon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105" y="2204085"/>
            <a:ext cx="1207135" cy="25298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882265" y="25463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05510" y="36785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设计任务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363345" y="41008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本次设计任务是研发一套叶菜洁净处理包装一体化机械，涵盖总体结构设计、核心机构设计、传动系统选型、关键零件强度校核以及控制系统方案设计。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8416925" y="25463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6353810" y="36785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刚性指标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811645" y="41008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设备需满足处理能力500-800 kg/h，清洗去除率≥98%，切分长度3-15 cm可调、误差±5 mm，包装合格率≥99%，设备总功率≤15 kW，连续运行≥8 h故障率≤1‰/1000 h等关键指标。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71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总体方案与模块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8-d2sggvm1bb2p4onbonq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六大模块串联工艺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19760" y="1911985"/>
            <a:ext cx="4364990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模块化布局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19760" y="2313305"/>
            <a:ext cx="436435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设备采用进料、清洗净化、切分筛选、离心沥干、热封包装、成品输出六大模块串联的工艺布局，各模块通过输送机构衔接，实现连续化生产。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9760" y="4252595"/>
            <a:ext cx="4364355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传动系统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9760" y="4653915"/>
            <a:ext cx="436435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主传动采用交流伺服电机，确保运动精度与调速性能；辅助机构采用三相异步电机，兼顾成本与可靠性；传动系统包括齿轮传动、链传动、带传动的组合。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47890" y="1911985"/>
            <a:ext cx="4364990" cy="402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清洗方式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47890" y="2313305"/>
            <a:ext cx="436435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清洗段采用气泡清洗与喷淋清洗组合工艺，气泡产生湍流扰动，喷淋实现二次冲洗，提升洁净度的同时降低叶菜破损。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47890" y="4252595"/>
            <a:ext cx="4364355" cy="401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沥干方式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47890" y="4653915"/>
            <a:ext cx="436435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沥干段采用离心沥干与风刀吹干双重工艺，减少包装内水分残留，延长叶菜保质期。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3765" y="918210"/>
            <a:ext cx="1046861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清洗与沥干创新工艺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Image 1" descr="https://kimi-img.moonshot.cn/pub/slides/slides_tmpl/image/25-09-04-11:33:08-d2sggt61bb2p4onbon3g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214120" y="2749550"/>
            <a:ext cx="2677795" cy="283146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1:33:08-d2sggt61bb2p4onbon4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4748530" y="2228850"/>
            <a:ext cx="717550" cy="5207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1:33:08-d2sggt61bb2p4onbon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190" y="4832985"/>
            <a:ext cx="943610" cy="34607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 rot="19800000">
            <a:off x="1225968" y="3994193"/>
            <a:ext cx="1696082" cy="1703277"/>
          </a:xfrm>
          <a:custGeom>
            <a:avLst/>
            <a:gdLst/>
            <a:ahLst/>
            <a:cxnLst/>
            <a:rect l="l" t="t" r="r" b="b"/>
            <a:pathLst>
              <a:path w="1696082" h="1703277">
                <a:moveTo>
                  <a:pt x="604939" y="1663790"/>
                </a:moveTo>
                <a:lnTo>
                  <a:pt x="1091144" y="1663790"/>
                </a:lnTo>
                <a:lnTo>
                  <a:pt x="1019677" y="1685975"/>
                </a:lnTo>
                <a:cubicBezTo>
                  <a:pt x="964237" y="1697320"/>
                  <a:pt x="906835" y="1703277"/>
                  <a:pt x="848041" y="1703277"/>
                </a:cubicBezTo>
                <a:cubicBezTo>
                  <a:pt x="789247" y="1703277"/>
                  <a:pt x="731845" y="1697320"/>
                  <a:pt x="676406" y="1685975"/>
                </a:cubicBezTo>
                <a:close/>
                <a:moveTo>
                  <a:pt x="365869" y="1552871"/>
                </a:moveTo>
                <a:lnTo>
                  <a:pt x="1330213" y="1552871"/>
                </a:lnTo>
                <a:lnTo>
                  <a:pt x="1324202" y="1557831"/>
                </a:lnTo>
                <a:lnTo>
                  <a:pt x="1260590" y="1592358"/>
                </a:lnTo>
                <a:lnTo>
                  <a:pt x="435492" y="1592358"/>
                </a:lnTo>
                <a:lnTo>
                  <a:pt x="371880" y="1557831"/>
                </a:lnTo>
                <a:close/>
                <a:moveTo>
                  <a:pt x="236033" y="1441952"/>
                </a:moveTo>
                <a:lnTo>
                  <a:pt x="1460050" y="1441952"/>
                </a:lnTo>
                <a:lnTo>
                  <a:pt x="1450243" y="1453838"/>
                </a:lnTo>
                <a:lnTo>
                  <a:pt x="1416790" y="1481438"/>
                </a:lnTo>
                <a:lnTo>
                  <a:pt x="279292" y="1481438"/>
                </a:lnTo>
                <a:lnTo>
                  <a:pt x="245840" y="1453838"/>
                </a:lnTo>
                <a:close/>
                <a:moveTo>
                  <a:pt x="144515" y="1331032"/>
                </a:moveTo>
                <a:lnTo>
                  <a:pt x="1551567" y="1331032"/>
                </a:lnTo>
                <a:lnTo>
                  <a:pt x="1518988" y="1370519"/>
                </a:lnTo>
                <a:lnTo>
                  <a:pt x="177095" y="1370519"/>
                </a:lnTo>
                <a:close/>
                <a:moveTo>
                  <a:pt x="83397" y="1220113"/>
                </a:moveTo>
                <a:lnTo>
                  <a:pt x="1612686" y="1220113"/>
                </a:lnTo>
                <a:lnTo>
                  <a:pt x="1591253" y="1259600"/>
                </a:lnTo>
                <a:lnTo>
                  <a:pt x="104830" y="1259600"/>
                </a:lnTo>
                <a:close/>
                <a:moveTo>
                  <a:pt x="40373" y="1109194"/>
                </a:moveTo>
                <a:lnTo>
                  <a:pt x="1655709" y="1109194"/>
                </a:lnTo>
                <a:lnTo>
                  <a:pt x="1643451" y="1148680"/>
                </a:lnTo>
                <a:lnTo>
                  <a:pt x="52631" y="1148680"/>
                </a:lnTo>
                <a:close/>
                <a:moveTo>
                  <a:pt x="11181" y="998274"/>
                </a:moveTo>
                <a:lnTo>
                  <a:pt x="1684901" y="998274"/>
                </a:lnTo>
                <a:lnTo>
                  <a:pt x="1682381" y="1023274"/>
                </a:lnTo>
                <a:lnTo>
                  <a:pt x="1677883" y="1037761"/>
                </a:lnTo>
                <a:lnTo>
                  <a:pt x="18199" y="1037761"/>
                </a:lnTo>
                <a:lnTo>
                  <a:pt x="13702" y="1023274"/>
                </a:lnTo>
                <a:close/>
                <a:moveTo>
                  <a:pt x="0" y="887355"/>
                </a:moveTo>
                <a:lnTo>
                  <a:pt x="1696082" y="887355"/>
                </a:lnTo>
                <a:lnTo>
                  <a:pt x="1692102" y="926842"/>
                </a:lnTo>
                <a:lnTo>
                  <a:pt x="3980" y="926842"/>
                </a:lnTo>
                <a:close/>
                <a:moveTo>
                  <a:pt x="3980" y="776435"/>
                </a:moveTo>
                <a:lnTo>
                  <a:pt x="1692102" y="776435"/>
                </a:lnTo>
                <a:lnTo>
                  <a:pt x="1696082" y="815922"/>
                </a:lnTo>
                <a:lnTo>
                  <a:pt x="0" y="815922"/>
                </a:lnTo>
                <a:close/>
                <a:moveTo>
                  <a:pt x="18199" y="665516"/>
                </a:moveTo>
                <a:lnTo>
                  <a:pt x="1677884" y="665516"/>
                </a:lnTo>
                <a:lnTo>
                  <a:pt x="1682381" y="680003"/>
                </a:lnTo>
                <a:lnTo>
                  <a:pt x="1684901" y="705003"/>
                </a:lnTo>
                <a:lnTo>
                  <a:pt x="11181" y="705003"/>
                </a:lnTo>
                <a:lnTo>
                  <a:pt x="13702" y="680003"/>
                </a:lnTo>
                <a:close/>
                <a:moveTo>
                  <a:pt x="52631" y="554597"/>
                </a:moveTo>
                <a:lnTo>
                  <a:pt x="1643453" y="554597"/>
                </a:lnTo>
                <a:lnTo>
                  <a:pt x="1655710" y="594083"/>
                </a:lnTo>
                <a:lnTo>
                  <a:pt x="40373" y="594083"/>
                </a:lnTo>
                <a:close/>
                <a:moveTo>
                  <a:pt x="104829" y="443677"/>
                </a:moveTo>
                <a:lnTo>
                  <a:pt x="1591253" y="443677"/>
                </a:lnTo>
                <a:lnTo>
                  <a:pt x="1612686" y="483164"/>
                </a:lnTo>
                <a:lnTo>
                  <a:pt x="83396" y="483164"/>
                </a:lnTo>
                <a:close/>
                <a:moveTo>
                  <a:pt x="177094" y="332758"/>
                </a:moveTo>
                <a:lnTo>
                  <a:pt x="1518989" y="332758"/>
                </a:lnTo>
                <a:lnTo>
                  <a:pt x="1551568" y="372245"/>
                </a:lnTo>
                <a:lnTo>
                  <a:pt x="144514" y="372245"/>
                </a:lnTo>
                <a:close/>
                <a:moveTo>
                  <a:pt x="279291" y="221839"/>
                </a:moveTo>
                <a:lnTo>
                  <a:pt x="1416792" y="221839"/>
                </a:lnTo>
                <a:lnTo>
                  <a:pt x="1450243" y="249439"/>
                </a:lnTo>
                <a:lnTo>
                  <a:pt x="1460050" y="261325"/>
                </a:lnTo>
                <a:lnTo>
                  <a:pt x="236032" y="261325"/>
                </a:lnTo>
                <a:lnTo>
                  <a:pt x="245840" y="249439"/>
                </a:lnTo>
                <a:close/>
                <a:moveTo>
                  <a:pt x="435490" y="110919"/>
                </a:moveTo>
                <a:lnTo>
                  <a:pt x="1260592" y="110919"/>
                </a:lnTo>
                <a:lnTo>
                  <a:pt x="1324202" y="145446"/>
                </a:lnTo>
                <a:lnTo>
                  <a:pt x="1330214" y="150406"/>
                </a:lnTo>
                <a:lnTo>
                  <a:pt x="365868" y="150406"/>
                </a:lnTo>
                <a:lnTo>
                  <a:pt x="371880" y="145446"/>
                </a:lnTo>
                <a:close/>
                <a:moveTo>
                  <a:pt x="848020" y="0"/>
                </a:moveTo>
                <a:lnTo>
                  <a:pt x="848063" y="0"/>
                </a:lnTo>
                <a:lnTo>
                  <a:pt x="935117" y="4396"/>
                </a:lnTo>
                <a:cubicBezTo>
                  <a:pt x="963746" y="7304"/>
                  <a:pt x="991958" y="11629"/>
                  <a:pt x="1019677" y="17302"/>
                </a:cubicBezTo>
                <a:lnTo>
                  <a:pt x="1091147" y="39487"/>
                </a:lnTo>
                <a:lnTo>
                  <a:pt x="604936" y="39487"/>
                </a:lnTo>
                <a:lnTo>
                  <a:pt x="676406" y="17302"/>
                </a:lnTo>
                <a:cubicBezTo>
                  <a:pt x="704126" y="11629"/>
                  <a:pt x="732336" y="7304"/>
                  <a:pt x="760966" y="4396"/>
                </a:cubicBezTo>
                <a:close/>
              </a:path>
            </a:pathLst>
          </a:custGeom>
          <a:solidFill>
            <a:srgbClr val="00B0F0">
              <a:alpha val="30196"/>
            </a:srgbClr>
          </a:solidFill>
        </p:spPr>
      </p:sp>
      <p:sp>
        <p:nvSpPr>
          <p:cNvPr id="9" name="Text 3"/>
          <p:cNvSpPr/>
          <p:nvPr/>
        </p:nvSpPr>
        <p:spPr>
          <a:xfrm rot="19800000">
            <a:off x="1225968" y="3994193"/>
            <a:ext cx="1696082" cy="170327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4" descr="https://kimi-img.moonshot.cn/pub/slides/slides_tmpl/image/25-09-04-11:33:11-d2sggtu1bb2p4onbon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2525" y="2265680"/>
            <a:ext cx="2326005" cy="2326005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4-11:33:08-d2sggt61bb2p4onbon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00000">
            <a:off x="3891915" y="3684270"/>
            <a:ext cx="1569720" cy="1429385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765" y="4944110"/>
            <a:ext cx="461645" cy="462915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415540" y="2202815"/>
            <a:ext cx="2395855" cy="2395855"/>
          </a:xfrm>
          <a:prstGeom prst="ellipse">
            <a:avLst/>
          </a:prstGeom>
          <a:gradFill flip="none" rotWithShape="1">
            <a:gsLst>
              <a:gs pos="0">
                <a:srgbClr val="0C24C4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</p:sp>
      <p:sp>
        <p:nvSpPr>
          <p:cNvPr id="14" name="Text 5"/>
          <p:cNvSpPr/>
          <p:nvPr/>
        </p:nvSpPr>
        <p:spPr>
          <a:xfrm>
            <a:off x="2415540" y="2202815"/>
            <a:ext cx="2395855" cy="23958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5" name="Image 7" descr="https://kimi-img.moonshot.cn/pub/slides/slides_tmpl/image/25-09-04-11:33:06-d2sggsm1bb2p4onbon1g.png"/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 rot="1740000">
            <a:off x="10302240" y="1891030"/>
            <a:ext cx="805815" cy="847725"/>
          </a:xfrm>
          <a:prstGeom prst="rect">
            <a:avLst/>
          </a:prstGeom>
        </p:spPr>
      </p:pic>
      <p:pic>
        <p:nvPicPr>
          <p:cNvPr id="16" name="Image 8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sp>
        <p:nvSpPr>
          <p:cNvPr id="17" name="Shape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8" name="Text 7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0" name="Text 9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2" name="Text 11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12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4" name="Text 13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14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1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18"/>
          <p:cNvSpPr/>
          <p:nvPr/>
        </p:nvSpPr>
        <p:spPr>
          <a:xfrm>
            <a:off x="6166485" y="2667635"/>
            <a:ext cx="5436870" cy="511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清洗与沥干创新工艺</a:t>
            </a:r>
            <a:endParaRPr lang="en-US" sz="1600" dirty="0"/>
          </a:p>
        </p:txBody>
      </p:sp>
      <p:sp>
        <p:nvSpPr>
          <p:cNvPr id="30" name="Text 19"/>
          <p:cNvSpPr/>
          <p:nvPr/>
        </p:nvSpPr>
        <p:spPr>
          <a:xfrm>
            <a:off x="6164580" y="3178810"/>
            <a:ext cx="3796665" cy="300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洗段创新采用气泡湍流与高压雾化喷淋组合，气泡发生器在清洗槽底部释放微小气泡，形成湍流剥离泥沙与农残，出口处雾化喷嘴进行二次冲洗，洁净度提升至98%以上。沥干段采用低速离心与温和风刀双重脱水，变频驱动离心甩水，风刀风速去除表面游离水，沥干率≥95%且破损率≤3%，有效保留叶菜新鲜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71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关键机构计算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4-d2sggum1bb2p4onbonf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1-d2sggtu1bb2p4onbonc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461645" y="1942465"/>
            <a:ext cx="11273790" cy="45078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875" y="64643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切分齿轮与链条强度校核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821055" y="228790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切分齿轮强度校核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95655" y="2704465"/>
            <a:ext cx="4998085" cy="15982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切分机构采用模数为3mm、齿数分别为25和75的45钢齿轮副，传递功率1.5kW、转速1500r/min。经计算，接触应力为318MPa、弯曲应力为15.6MPa，均低于45钢调质处理后的接触疲劳极限481MPa与弯曲疲劳极限205MPa，满足20000小时使用寿命要求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57950" y="430276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输送链条强度校核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57950" y="4719320"/>
            <a:ext cx="4998085" cy="15982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输送链选用16A-2×60双排滚子链，总拉力为1733N，远小于许用拉力131040N；接触应力为1458MPa，低于20CrMnTi渗碳淬火处理后的接触疲劳极限2000MPa，链条强度满足要求。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g.jp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3-d2sggue1bb2p4onbon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745"/>
            <a:ext cx="12192000" cy="5861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清洗轴与热封座刚度校核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4-11:33:15-d2sgguu1bb2p4onbong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615883" y="1976755"/>
            <a:ext cx="1348105" cy="134493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1:33:14-d2sggum1bb2p4onbon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748" y="2197418"/>
            <a:ext cx="1244600" cy="11938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4-11:33:08-d2sggt61bb2p4onbon5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00000">
            <a:off x="3609023" y="2885440"/>
            <a:ext cx="530225" cy="483235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pic>
        <p:nvPicPr>
          <p:cNvPr id="9" name="Image 5" descr="https://kimi-img.moonshot.cn/pub/slides/slides_tmpl/image/25-09-04-11:33:15-d2sgguu1bb2p4onbong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483600" y="1976755"/>
            <a:ext cx="1348105" cy="134493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4-11:33:14-d2sggum1bb2p4onbon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50" y="2188143"/>
            <a:ext cx="1244600" cy="119380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4-11:33:08-d2sggt61bb2p4onbon5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00000">
            <a:off x="9476740" y="2885440"/>
            <a:ext cx="530225" cy="483235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2913063" y="228981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671830" y="36785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清洗轴强度校核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1129348" y="41008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气泡发生器轴为45钢阶梯轴，直径40mm，跨距500mm，承受均布载荷50N/mm与扭矩19.7N·m。计算当量应力为24.4MPa，远低于许用应力142MPa，轴强度满足要求。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8693150" y="2289810"/>
            <a:ext cx="928370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6"/>
          <p:cNvSpPr/>
          <p:nvPr/>
        </p:nvSpPr>
        <p:spPr>
          <a:xfrm>
            <a:off x="6539865" y="36785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热封座强度校核</a:t>
            </a:r>
            <a:endParaRPr lang="en-US" sz="1600" dirty="0"/>
          </a:p>
        </p:txBody>
      </p:sp>
      <p:sp>
        <p:nvSpPr>
          <p:cNvPr id="17" name="Text 7"/>
          <p:cNvSpPr/>
          <p:nvPr/>
        </p:nvSpPr>
        <p:spPr>
          <a:xfrm>
            <a:off x="6997383" y="41008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热封切刀座为6061-T6铝合金材质，承受封合压力5000N。经计算，弯曲应力为5.92MPa，远小于许用应力92MPa，切刀座强度满足要求。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71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验证与展望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7-d2sggve1bb2p4onbono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5615" y="1824990"/>
            <a:ext cx="10120630" cy="439547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4" name="Text 1"/>
          <p:cNvSpPr/>
          <p:nvPr/>
        </p:nvSpPr>
        <p:spPr>
          <a:xfrm>
            <a:off x="1745615" y="1824990"/>
            <a:ext cx="10120630" cy="43954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性能试验与指标达成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8" name="Image 1" descr="https://kimi-img.moonshot.cn/pub/slides/slides_tmpl/image/25-09-04-11:33:08-d2sggt61bb2p4onbon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60000">
            <a:off x="859790" y="1539875"/>
            <a:ext cx="1212850" cy="110490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60" y="2763520"/>
            <a:ext cx="534670" cy="53721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1:33:17-d2sggve1bb2p4onbonm0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1080000">
            <a:off x="-203835" y="4772025"/>
            <a:ext cx="852805" cy="200279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246630" y="2352040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试验环境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样机在温度0-40℃、湿度≤85%的环境下运行，实测处理量达到760kg/h，清洗去除率达到98.7%，切分长度误差控制在±4.2mm以内，包装合格率为99.2%，功率为13.8kW，连续运行8小时温升小于35℃，噪声低于75dB，各项指标均优于设计要求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568950" y="235902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节水与低损伤指标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水循环利用率实测达到72%，叶菜破损率仅为2.8%，节水与低损伤目标同步实现，有效降低了生产成本，提高了产品质量。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852535" y="237934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潜在改进方向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在高速切分过程中，微小振动对密封性能存在潜在影响，后续可进一步优化结构设计，减少振动对设备性能的影响。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7-d2sggve1bb2p4onbonmg.png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-240665" y="-157480"/>
            <a:ext cx="12669520" cy="7191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创新点与产业化路径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95" y="1953895"/>
            <a:ext cx="688340" cy="6915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95" y="3961130"/>
            <a:ext cx="688340" cy="69151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807845" y="2580640"/>
            <a:ext cx="0" cy="147066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sp>
        <p:nvSpPr>
          <p:cNvPr id="7" name="Text 2"/>
          <p:cNvSpPr/>
          <p:nvPr/>
        </p:nvSpPr>
        <p:spPr>
          <a:xfrm>
            <a:off x="1463040" y="20440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设备创新点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设备集成五大创新点：模块化布局实现占地仅12㎡，气泡与雾化清洗节水70%，自适应PLC控制兼容十种叶菜，低速离心与风刀低损伤工艺，硅胶热封余热回收降耗20%，显著提升生产效率与产品质量。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463040" y="405130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产业化展望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一阶段将引入视觉AI在线缺陷检测与伺服定量切根模块，进一步提升设备附加值；采用连续纤维增材制造优化齿轮箱体，缩短交付周期30%。设备将广泛应用于预制菜、净菜电商与中央厨房等领域，推动叶菜加工行业的智能化升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9-d2sggvu1bb2p4onbonq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330200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汇报人： 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5185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汇报日期：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099607" y="5982681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3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577FD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THANK YOU FOR READING！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1921</Words>
  <Application>WPS 演示</Application>
  <PresentationFormat>On-screen Show (16:9)</PresentationFormat>
  <Paragraphs>154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叶菜洁净处理包装一体化装备</dc:title>
  <dc:creator>Kimi</dc:creator>
  <dc:subject>叶菜洁净处理包装一体化装备</dc:subject>
  <cp:lastModifiedBy>L</cp:lastModifiedBy>
  <cp:revision>2</cp:revision>
  <dcterms:created xsi:type="dcterms:W3CDTF">2025-11-21T06:34:00Z</dcterms:created>
  <dcterms:modified xsi:type="dcterms:W3CDTF">2025-11-26T13:42:11Z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{"Label":"叶菜洁净处理包装一体化装备","ContentProducer":"001191110108MACG2KBH8F10000","ProduceID":"d4g0eo72ekfoauab9d5g","ReservedCode1":"","ContentPropagator":"001191110108MACG2KBH8F20000","PropagateID":"d4g0eo72ekfoauab9d5g","ReservedCode2":""}</vt:lpwstr>
  </property>
  <property fmtid="{D5CDD505-2E9C-101B-9397-08002B2CF9AE}" pid="3" name="ICV">
    <vt:lpwstr>464B01023EE64FB4B8BBE341A934933F_13</vt:lpwstr>
  </property>
  <property fmtid="{D5CDD505-2E9C-101B-9397-08002B2CF9AE}" pid="4" name="KSOProductBuildVer">
    <vt:lpwstr>2052-12.1.0.23542</vt:lpwstr>
  </property>
</Properties>
</file>