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omments/modernComment_15E_2A1828AA.xml" ContentType="application/vnd.ms-powerpoint.comment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348" r:id="rId2"/>
    <p:sldId id="347" r:id="rId3"/>
    <p:sldId id="349" r:id="rId4"/>
    <p:sldId id="350" r:id="rId5"/>
    <p:sldId id="351" r:id="rId6"/>
    <p:sldId id="352" r:id="rId7"/>
    <p:sldId id="353" r:id="rId8"/>
    <p:sldId id="354" r:id="rId9"/>
    <p:sldId id="367" r:id="rId10"/>
    <p:sldId id="355" r:id="rId11"/>
    <p:sldId id="356" r:id="rId12"/>
    <p:sldId id="357" r:id="rId13"/>
    <p:sldId id="358" r:id="rId14"/>
    <p:sldId id="375" r:id="rId15"/>
    <p:sldId id="376" r:id="rId16"/>
    <p:sldId id="374" r:id="rId17"/>
    <p:sldId id="359" r:id="rId18"/>
    <p:sldId id="360" r:id="rId19"/>
    <p:sldId id="362" r:id="rId20"/>
    <p:sldId id="361" r:id="rId21"/>
    <p:sldId id="363" r:id="rId22"/>
    <p:sldId id="368" r:id="rId23"/>
    <p:sldId id="364" r:id="rId24"/>
    <p:sldId id="365" r:id="rId25"/>
    <p:sldId id="377" r:id="rId26"/>
    <p:sldId id="366" r:id="rId27"/>
    <p:sldId id="336"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模板主体" id="{FC27560C-544F-432D-A08E-A637859AB426}">
          <p14:sldIdLst>
            <p14:sldId id="348"/>
            <p14:sldId id="347"/>
            <p14:sldId id="349"/>
            <p14:sldId id="350"/>
            <p14:sldId id="351"/>
            <p14:sldId id="352"/>
            <p14:sldId id="353"/>
            <p14:sldId id="354"/>
            <p14:sldId id="367"/>
            <p14:sldId id="355"/>
            <p14:sldId id="356"/>
            <p14:sldId id="357"/>
            <p14:sldId id="358"/>
            <p14:sldId id="375"/>
            <p14:sldId id="376"/>
            <p14:sldId id="374"/>
            <p14:sldId id="359"/>
            <p14:sldId id="360"/>
            <p14:sldId id="362"/>
            <p14:sldId id="361"/>
            <p14:sldId id="363"/>
            <p14:sldId id="368"/>
            <p14:sldId id="364"/>
            <p14:sldId id="365"/>
            <p14:sldId id="377"/>
            <p14:sldId id="366"/>
          </p14:sldIdLst>
        </p14:section>
        <p14:section name="素材页" id="{17B3877C-3808-4C73-A1F5-D64D89A0C3AC}">
          <p14:sldIdLst>
            <p14:sldId id="3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F88"/>
    <a:srgbClr val="8994BD"/>
    <a:srgbClr val="96A2D0"/>
    <a:srgbClr val="93BFF5"/>
    <a:srgbClr val="E6E6E6"/>
    <a:srgbClr val="3A68B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13" autoAdjust="0"/>
    <p:restoredTop sz="94660"/>
  </p:normalViewPr>
  <p:slideViewPr>
    <p:cSldViewPr snapToGrid="0">
      <p:cViewPr varScale="1">
        <p:scale>
          <a:sx n="93" d="100"/>
          <a:sy n="93" d="100"/>
        </p:scale>
        <p:origin x="72" y="11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omments/modernComment_15E_2A1828AA.xml><?xml version="1.0" encoding="utf-8"?>
<p188:cmLst xmlns:a="http://schemas.openxmlformats.org/drawingml/2006/main" xmlns:r="http://schemas.openxmlformats.org/officeDocument/2006/relationships" xmlns:p188="http://schemas.microsoft.com/office/powerpoint/2018/8/main">
  <p188:cm id="{AD7283C2-457E-49B9-85D2-B699DF0A4F71}" authorId="{5E01BCDE-CE39-0B18-6A1B-D7D970BF0C8B}" created="2024-11-18T12:11:35.220">
    <ac:txMkLst xmlns:ac="http://schemas.microsoft.com/office/drawing/2013/main/command">
      <pc:docMk xmlns:pc="http://schemas.microsoft.com/office/powerpoint/2013/main/command"/>
      <pc:sldMk xmlns:pc="http://schemas.microsoft.com/office/powerpoint/2013/main/command" cId="706226346" sldId="350"/>
      <ac:spMk id="15" creationId="{1C0F927F-181E-4597-A753-A84F08A3A902}"/>
      <ac:txMk cp="0" len="77">
        <ac:context len="78" hash="1392352595"/>
      </ac:txMk>
    </ac:txMkLst>
    <p188:pos x="10668939" y="245287"/>
    <p188:txBody>
      <a:bodyPr/>
      <a:lstStyle/>
      <a:p>
        <a:r>
          <a:rPr lang="zh-CN" altLang="en-US"/>
          <a:t>正文字号，图注字体字号按照模板修改，这里偏大</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9EBC71-470F-4178-8939-B7F43C998C3E}" type="datetimeFigureOut">
              <a:rPr lang="zh-CN" altLang="en-US" smtClean="0"/>
              <a:t>2025/12/21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7F53EF-5364-44E3-BFA2-84231755F7E3}" type="slidenum">
              <a:rPr lang="zh-CN" altLang="en-US" smtClean="0"/>
              <a:t>‹#›</a:t>
            </a:fld>
            <a:endParaRPr lang="zh-CN" altLang="en-US"/>
          </a:p>
        </p:txBody>
      </p:sp>
    </p:spTree>
    <p:extLst>
      <p:ext uri="{BB962C8B-B14F-4D97-AF65-F5344CB8AC3E}">
        <p14:creationId xmlns:p14="http://schemas.microsoft.com/office/powerpoint/2010/main" val="318964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49304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中位机能表</a:t>
            </a:r>
            <a:r>
              <a:rPr lang="en-US" altLang="zh-CN" dirty="0"/>
              <a:t>1</a:t>
            </a:r>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14</a:t>
            </a:fld>
            <a:endParaRPr lang="zh-CN" altLang="en-US"/>
          </a:p>
        </p:txBody>
      </p:sp>
    </p:spTree>
    <p:extLst>
      <p:ext uri="{BB962C8B-B14F-4D97-AF65-F5344CB8AC3E}">
        <p14:creationId xmlns:p14="http://schemas.microsoft.com/office/powerpoint/2010/main" val="1759822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中位机能表</a:t>
            </a:r>
            <a:r>
              <a:rPr lang="en-US" altLang="zh-CN" dirty="0"/>
              <a:t>2</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15</a:t>
            </a:fld>
            <a:endParaRPr lang="zh-CN" altLang="en-US"/>
          </a:p>
        </p:txBody>
      </p:sp>
    </p:spTree>
    <p:extLst>
      <p:ext uri="{BB962C8B-B14F-4D97-AF65-F5344CB8AC3E}">
        <p14:creationId xmlns:p14="http://schemas.microsoft.com/office/powerpoint/2010/main" val="19385173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滑阀机能、中位机能定义</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16</a:t>
            </a:fld>
            <a:endParaRPr lang="zh-CN" altLang="en-US"/>
          </a:p>
        </p:txBody>
      </p:sp>
    </p:spTree>
    <p:extLst>
      <p:ext uri="{BB962C8B-B14F-4D97-AF65-F5344CB8AC3E}">
        <p14:creationId xmlns:p14="http://schemas.microsoft.com/office/powerpoint/2010/main" val="37260721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CF4B11-F572-4DFC-9C9B-6A3CD1BCE16B}"/>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7234C54C-1BA6-440A-8D1B-F8BCE242FF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F756EE14-5E8C-42D6-8B1C-138B21B7F80B}"/>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20189FBD-18D7-4E8C-AC37-C54A7E72E50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A2B2B56-4F25-4616-A188-56D2ACCF11D7}"/>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4232478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4D3867-6D2D-4593-AC3F-B8E58C87261D}"/>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236C074-A1D1-4AA5-8442-2C11F3B581F9}"/>
              </a:ext>
            </a:extLst>
          </p:cNvPr>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DD4E8C40-44F5-4283-BF35-89F2C43027F0}"/>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65CA79F0-95A9-4981-8FB9-04D63D57C76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0BEDC06-5A03-4F54-9BA2-842910E536F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5911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733D58-C466-44BC-972E-587AD0D45D69}"/>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2E393EC4-145A-485A-A568-F282A0CC0D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9F3AAC01-5E49-476A-88CC-1D58B2399EA7}"/>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BC6AC38B-B467-4222-AA44-0AD3BDE4058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370A2F9-2C51-4DAD-89D5-D291EEEBA1FC}"/>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484923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3BEE30-4BA4-4E5D-91A1-423AC1F6AA8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B4895D3-5779-4E7B-96AD-64C7403E07E4}"/>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B0AE0855-595B-4F82-8B46-039050CA2449}"/>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BAA3D155-16F0-4A38-A2D0-09D219FE70F5}"/>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6" name="页脚占位符 5">
            <a:extLst>
              <a:ext uri="{FF2B5EF4-FFF2-40B4-BE49-F238E27FC236}">
                <a16:creationId xmlns:a16="http://schemas.microsoft.com/office/drawing/2014/main" id="{7631401B-6434-4F3F-9D1F-1E1D4889FC2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3CDCBEC-7E66-4D99-9199-750DC27EA063}"/>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96328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6667EB-8340-4492-B3A9-A728F915AC5E}"/>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99B05EE6-A0EE-49F6-8DB2-93C313DEC0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C3D33B3B-D619-44C0-B8FF-6BB33C540076}"/>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533DD8DF-90AF-4AA9-A4AF-7040FF4B72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5419D37D-A566-4F60-A4C3-78BCB7CF329E}"/>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A9CBCC86-6C82-4A0D-9287-32A6405E6B0A}"/>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8" name="页脚占位符 7">
            <a:extLst>
              <a:ext uri="{FF2B5EF4-FFF2-40B4-BE49-F238E27FC236}">
                <a16:creationId xmlns:a16="http://schemas.microsoft.com/office/drawing/2014/main" id="{05E0DED7-DA23-4400-97A1-04B7573C878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C0606BFF-B2FB-4915-9F3A-2C98A7665330}"/>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61831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BA1051-BA71-4574-BFA1-AC004EC5189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B350898-1F22-4B99-BE58-E24B18BB028D}"/>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4" name="页脚占位符 3">
            <a:extLst>
              <a:ext uri="{FF2B5EF4-FFF2-40B4-BE49-F238E27FC236}">
                <a16:creationId xmlns:a16="http://schemas.microsoft.com/office/drawing/2014/main" id="{01EC05BB-0041-4C92-95D3-6E3D1B7E521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AB48AC8-E018-466A-90AF-663F9BDF9D6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484332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85E6A85-9742-4F96-B4AF-2D30690A99D2}"/>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3" name="页脚占位符 2">
            <a:extLst>
              <a:ext uri="{FF2B5EF4-FFF2-40B4-BE49-F238E27FC236}">
                <a16:creationId xmlns:a16="http://schemas.microsoft.com/office/drawing/2014/main" id="{7C0D9671-8387-49B9-9224-F8D5E04A93B4}"/>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3482766-12A4-4E9D-A598-FC84A590B269}"/>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378293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4EBE77-9C31-4448-92F6-8E2538C72AD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C5A61C7-FA85-41FA-8268-50935F00E3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65910FFD-3BF9-4DCA-AE14-49BC3137B0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17DE66C-12DC-44D6-966F-E3121467991C}"/>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6" name="页脚占位符 5">
            <a:extLst>
              <a:ext uri="{FF2B5EF4-FFF2-40B4-BE49-F238E27FC236}">
                <a16:creationId xmlns:a16="http://schemas.microsoft.com/office/drawing/2014/main" id="{EC991129-C6C5-40AE-B3CD-E3A8E7F5ECD4}"/>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03AA085-B50D-4BD5-BC03-E1841817F767}"/>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4055332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DB4150-B2F0-479E-A721-35D82BBBDEB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F95BEBB3-457F-4B23-9EE3-8DF050B0A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5D000099-46C8-4A17-9C36-8398FFE23A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7B7DE7DA-AE75-4B26-8CAD-BD9CC0EFBBD8}"/>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6" name="页脚占位符 5">
            <a:extLst>
              <a:ext uri="{FF2B5EF4-FFF2-40B4-BE49-F238E27FC236}">
                <a16:creationId xmlns:a16="http://schemas.microsoft.com/office/drawing/2014/main" id="{5CC8E070-C62B-4610-AB79-AB28FDDB66E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8AD57F-16AE-4378-B779-5AB42B027BDA}"/>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214801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890AB4-B48E-4BCB-AF60-2FC3CC5B8E7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476B1054-3F3D-42E9-B458-83921265B939}"/>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D2B12639-CBE1-475E-9FA8-6C236A2A547A}"/>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0ECAF0BD-D7A7-4B37-B11F-72418A76973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3A0119A-4817-4B57-A6DE-540FE9B78171}"/>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1994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54BE39A-A81E-4A36-8807-AD97AC5A524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F457E41-3EA0-43C4-9FEC-F1DE8D145340}"/>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5BBE3E99-9292-4F50-A0F1-678BEFE4731A}"/>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68EB7626-D656-4E24-BD17-27CDF45B847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AFC70BD-F514-4D5A-9043-DD06515B207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116315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7642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04EFB9E-31F1-44AC-B2A0-70B3AD7E19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5F674FB-ADAE-4C16-9A45-55515D425D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08525FD1-9DA9-4D47-B946-7A3EE00EA7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E47004C3-9974-4565-85A6-888D85E56A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CC94A1A-F98A-49BC-BD74-896D43ADD1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227308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gif"/></Relationships>
</file>

<file path=ppt/slides/_rels/slide12.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microsoft.com/office/2018/10/relationships/comments" Target="../comments/modernComment_15E_2A1828AA.xm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图片 43">
            <a:extLst>
              <a:ext uri="{FF2B5EF4-FFF2-40B4-BE49-F238E27FC236}">
                <a16:creationId xmlns:a16="http://schemas.microsoft.com/office/drawing/2014/main" id="{070CC29F-EA08-4A06-BDBF-1A95FC039860}"/>
              </a:ext>
            </a:extLst>
          </p:cNvPr>
          <p:cNvPicPr>
            <a:picLocks noChangeAspect="1"/>
          </p:cNvPicPr>
          <p:nvPr/>
        </p:nvPicPr>
        <p:blipFill>
          <a:blip r:embed="rId3">
            <a:alphaModFix amt="15000"/>
          </a:blip>
          <a:stretch>
            <a:fillRect/>
          </a:stretch>
        </p:blipFill>
        <p:spPr>
          <a:xfrm>
            <a:off x="4762" y="4560887"/>
            <a:ext cx="12182475" cy="2314575"/>
          </a:xfrm>
          <a:prstGeom prst="rect">
            <a:avLst/>
          </a:prstGeom>
        </p:spPr>
      </p:pic>
      <p:sp>
        <p:nvSpPr>
          <p:cNvPr id="13" name="文本框 12">
            <a:extLst>
              <a:ext uri="{FF2B5EF4-FFF2-40B4-BE49-F238E27FC236}">
                <a16:creationId xmlns:a16="http://schemas.microsoft.com/office/drawing/2014/main" id="{F5F8934E-6CAF-4F75-9A96-2ADBDFD7C2D8}"/>
              </a:ext>
            </a:extLst>
          </p:cNvPr>
          <p:cNvSpPr txBox="1"/>
          <p:nvPr/>
        </p:nvSpPr>
        <p:spPr>
          <a:xfrm>
            <a:off x="4503252" y="174524"/>
            <a:ext cx="3185487" cy="646331"/>
          </a:xfrm>
          <a:prstGeom prst="rect">
            <a:avLst/>
          </a:prstGeom>
        </p:spPr>
        <p:txBody>
          <a:bodyPr wrap="none">
            <a:spAutoFit/>
          </a:bodyPr>
          <a:lstStyle>
            <a:defPPr>
              <a:defRPr lang="zh-CN"/>
            </a:defPPr>
            <a:lvl1pPr algn="ctr">
              <a:defRPr sz="6000" b="1" spc="300">
                <a:solidFill>
                  <a:srgbClr val="003F88"/>
                </a:solidFill>
                <a:latin typeface="+mn-ea"/>
              </a:defRPr>
            </a:lvl1pPr>
          </a:lstStyle>
          <a:p>
            <a:r>
              <a:rPr lang="en-US" altLang="zh-CN" sz="3600" dirty="0"/>
              <a:t>《</a:t>
            </a:r>
            <a:r>
              <a:rPr lang="zh-CN" altLang="en-US" sz="3600" dirty="0"/>
              <a:t>液压传动</a:t>
            </a:r>
            <a:r>
              <a:rPr lang="en-US" altLang="zh-CN" sz="3600" dirty="0"/>
              <a:t>》</a:t>
            </a:r>
            <a:endParaRPr lang="zh-CN" altLang="en-US" sz="3600" dirty="0"/>
          </a:p>
        </p:txBody>
      </p:sp>
      <p:sp>
        <p:nvSpPr>
          <p:cNvPr id="20" name="矩形 19">
            <a:extLst>
              <a:ext uri="{FF2B5EF4-FFF2-40B4-BE49-F238E27FC236}">
                <a16:creationId xmlns:a16="http://schemas.microsoft.com/office/drawing/2014/main" id="{83331D23-ACF9-4E53-8F13-F876D7C312EB}"/>
              </a:ext>
            </a:extLst>
          </p:cNvPr>
          <p:cNvSpPr/>
          <p:nvPr/>
        </p:nvSpPr>
        <p:spPr>
          <a:xfrm>
            <a:off x="954213" y="1527544"/>
            <a:ext cx="10283584" cy="1015663"/>
          </a:xfrm>
          <a:prstGeom prst="rect">
            <a:avLst/>
          </a:prstGeom>
        </p:spPr>
        <p:txBody>
          <a:bodyPr wrap="none">
            <a:spAutoFit/>
          </a:bodyPr>
          <a:lstStyle/>
          <a:p>
            <a:pPr algn="ctr"/>
            <a:r>
              <a:rPr lang="zh-CN" altLang="en-US" sz="6000" b="1" spc="300" dirty="0">
                <a:solidFill>
                  <a:srgbClr val="003F88"/>
                </a:solidFill>
                <a:latin typeface="+mn-ea"/>
              </a:rPr>
              <a:t>第十四讲  其他基本回路</a:t>
            </a:r>
            <a:r>
              <a:rPr lang="en-US" altLang="zh-CN" sz="6000" b="1" spc="300" dirty="0">
                <a:solidFill>
                  <a:srgbClr val="003F88"/>
                </a:solidFill>
                <a:latin typeface="+mn-ea"/>
              </a:rPr>
              <a:t>(</a:t>
            </a:r>
            <a:r>
              <a:rPr lang="zh-CN" altLang="en-US" sz="6000" b="1" spc="300" dirty="0">
                <a:solidFill>
                  <a:srgbClr val="003F88"/>
                </a:solidFill>
                <a:latin typeface="+mn-ea"/>
              </a:rPr>
              <a:t>上</a:t>
            </a:r>
            <a:r>
              <a:rPr lang="en-US" altLang="zh-CN" sz="6000" b="1" spc="300" dirty="0">
                <a:solidFill>
                  <a:srgbClr val="003F88"/>
                </a:solidFill>
                <a:latin typeface="+mn-ea"/>
              </a:rPr>
              <a:t>)</a:t>
            </a:r>
          </a:p>
        </p:txBody>
      </p:sp>
      <p:cxnSp>
        <p:nvCxnSpPr>
          <p:cNvPr id="32" name="直接连接符 31">
            <a:extLst>
              <a:ext uri="{FF2B5EF4-FFF2-40B4-BE49-F238E27FC236}">
                <a16:creationId xmlns:a16="http://schemas.microsoft.com/office/drawing/2014/main" id="{4D7BD61E-14B6-4FE2-8261-87597607A0C0}"/>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33" name="图片 32">
            <a:extLst>
              <a:ext uri="{FF2B5EF4-FFF2-40B4-BE49-F238E27FC236}">
                <a16:creationId xmlns:a16="http://schemas.microsoft.com/office/drawing/2014/main" id="{9C7D28D0-DFA2-44D6-BFC1-A9BFCE6625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grpSp>
        <p:nvGrpSpPr>
          <p:cNvPr id="5" name="Group 4">
            <a:extLst>
              <a:ext uri="{FF2B5EF4-FFF2-40B4-BE49-F238E27FC236}">
                <a16:creationId xmlns:a16="http://schemas.microsoft.com/office/drawing/2014/main" id="{6426EAEB-5250-91CD-F5A5-00DDDF64C421}"/>
              </a:ext>
            </a:extLst>
          </p:cNvPr>
          <p:cNvGrpSpPr/>
          <p:nvPr/>
        </p:nvGrpSpPr>
        <p:grpSpPr>
          <a:xfrm>
            <a:off x="3813206" y="2806158"/>
            <a:ext cx="4565577" cy="2944928"/>
            <a:chOff x="3813203" y="2677894"/>
            <a:chExt cx="4565577" cy="2944928"/>
          </a:xfrm>
        </p:grpSpPr>
        <p:sp>
          <p:nvSpPr>
            <p:cNvPr id="25" name="文本框 24">
              <a:extLst>
                <a:ext uri="{FF2B5EF4-FFF2-40B4-BE49-F238E27FC236}">
                  <a16:creationId xmlns:a16="http://schemas.microsoft.com/office/drawing/2014/main" id="{85CA4716-3D7C-44F0-A479-3BE4B57FA00D}"/>
                </a:ext>
              </a:extLst>
            </p:cNvPr>
            <p:cNvSpPr txBox="1"/>
            <p:nvPr/>
          </p:nvSpPr>
          <p:spPr>
            <a:xfrm>
              <a:off x="3813203" y="2677894"/>
              <a:ext cx="4565577" cy="978729"/>
            </a:xfrm>
            <a:prstGeom prst="rect">
              <a:avLst/>
            </a:prstGeom>
            <a:noFill/>
          </p:spPr>
          <p:txBody>
            <a:bodyPr wrap="square" numCol="2">
              <a:spAutoFit/>
            </a:bodyPr>
            <a:lstStyle/>
            <a:p>
              <a:pPr marL="457200" indent="-457200">
                <a:lnSpc>
                  <a:spcPct val="120000"/>
                </a:lnSpc>
                <a:buFont typeface="+mj-lt"/>
                <a:buAutoNum type="arabicPeriod"/>
              </a:pPr>
              <a:r>
                <a:rPr lang="zh-CN" altLang="en-US" sz="2400" spc="300" dirty="0">
                  <a:latin typeface="+mn-ea"/>
                </a:rPr>
                <a:t>概述</a:t>
              </a:r>
              <a:endParaRPr lang="en-US" altLang="zh-CN" sz="2400" spc="300" dirty="0">
                <a:latin typeface="+mn-ea"/>
              </a:endParaRPr>
            </a:p>
            <a:p>
              <a:pPr marL="457200" indent="-457200">
                <a:lnSpc>
                  <a:spcPct val="120000"/>
                </a:lnSpc>
                <a:buFont typeface="+mj-lt"/>
                <a:buAutoNum type="arabicPeriod"/>
              </a:pPr>
              <a:r>
                <a:rPr lang="zh-CN" altLang="en-US" sz="2400" spc="300" dirty="0">
                  <a:latin typeface="+mn-ea"/>
                </a:rPr>
                <a:t>压力回路</a:t>
              </a:r>
              <a:endParaRPr lang="en-US" altLang="zh-CN" sz="2400" spc="300" dirty="0">
                <a:latin typeface="+mn-ea"/>
              </a:endParaRPr>
            </a:p>
          </p:txBody>
        </p:sp>
        <p:sp>
          <p:nvSpPr>
            <p:cNvPr id="4" name="TextBox 3">
              <a:extLst>
                <a:ext uri="{FF2B5EF4-FFF2-40B4-BE49-F238E27FC236}">
                  <a16:creationId xmlns:a16="http://schemas.microsoft.com/office/drawing/2014/main" id="{91AF936E-54F9-20CE-8E45-EDF965520A55}"/>
                </a:ext>
              </a:extLst>
            </p:cNvPr>
            <p:cNvSpPr txBox="1"/>
            <p:nvPr/>
          </p:nvSpPr>
          <p:spPr>
            <a:xfrm>
              <a:off x="4220640" y="3559565"/>
              <a:ext cx="3750701" cy="2063257"/>
            </a:xfrm>
            <a:prstGeom prst="rect">
              <a:avLst/>
            </a:prstGeom>
            <a:noFill/>
          </p:spPr>
          <p:txBody>
            <a:bodyPr wrap="square" numCol="2" rtlCol="0">
              <a:spAutoFit/>
            </a:bodyPr>
            <a:lstStyle/>
            <a:p>
              <a:pPr>
                <a:lnSpc>
                  <a:spcPct val="150000"/>
                </a:lnSpc>
              </a:pPr>
              <a:r>
                <a:rPr lang="en-US" altLang="zh-CN" sz="2200" dirty="0"/>
                <a:t>2.1 </a:t>
              </a:r>
              <a:r>
                <a:rPr lang="zh-CN" altLang="en-US" sz="2200" dirty="0"/>
                <a:t>调压回路</a:t>
              </a:r>
            </a:p>
            <a:p>
              <a:pPr>
                <a:lnSpc>
                  <a:spcPct val="150000"/>
                </a:lnSpc>
              </a:pPr>
              <a:r>
                <a:rPr lang="en-US" altLang="zh-CN" sz="2200" dirty="0"/>
                <a:t>2.2 </a:t>
              </a:r>
              <a:r>
                <a:rPr lang="zh-CN" altLang="en-US" sz="2200" dirty="0"/>
                <a:t>减压回路</a:t>
              </a:r>
            </a:p>
            <a:p>
              <a:pPr>
                <a:lnSpc>
                  <a:spcPct val="150000"/>
                </a:lnSpc>
              </a:pPr>
              <a:r>
                <a:rPr lang="en-US" altLang="zh-CN" sz="2200" dirty="0"/>
                <a:t>2.3 </a:t>
              </a:r>
              <a:r>
                <a:rPr lang="zh-CN" altLang="en-US" sz="2200" dirty="0"/>
                <a:t>增压回路</a:t>
              </a:r>
            </a:p>
            <a:p>
              <a:pPr>
                <a:lnSpc>
                  <a:spcPct val="150000"/>
                </a:lnSpc>
              </a:pPr>
              <a:r>
                <a:rPr lang="en-US" altLang="zh-CN" sz="2200" dirty="0"/>
                <a:t>2.4 </a:t>
              </a:r>
              <a:r>
                <a:rPr lang="zh-CN" altLang="en-US" sz="2200" dirty="0"/>
                <a:t>卸荷回路</a:t>
              </a:r>
            </a:p>
            <a:p>
              <a:pPr algn="r">
                <a:lnSpc>
                  <a:spcPct val="150000"/>
                </a:lnSpc>
              </a:pPr>
              <a:r>
                <a:rPr lang="en-US" altLang="zh-CN" sz="2200" dirty="0"/>
                <a:t>2.5 </a:t>
              </a:r>
              <a:r>
                <a:rPr lang="zh-CN" altLang="en-US" sz="2200" dirty="0"/>
                <a:t>平衡回路</a:t>
              </a:r>
            </a:p>
            <a:p>
              <a:pPr algn="r">
                <a:lnSpc>
                  <a:spcPct val="150000"/>
                </a:lnSpc>
              </a:pPr>
              <a:r>
                <a:rPr lang="en-US" altLang="zh-CN" sz="2200" dirty="0"/>
                <a:t>2.6 </a:t>
              </a:r>
              <a:r>
                <a:rPr lang="zh-CN" altLang="en-US" sz="2200" dirty="0"/>
                <a:t>保压回路</a:t>
              </a:r>
            </a:p>
            <a:p>
              <a:pPr algn="r">
                <a:lnSpc>
                  <a:spcPct val="150000"/>
                </a:lnSpc>
              </a:pPr>
              <a:r>
                <a:rPr lang="en-US" altLang="zh-CN" sz="2200" dirty="0"/>
                <a:t>2.7 </a:t>
              </a:r>
              <a:r>
                <a:rPr lang="zh-CN" altLang="en-US" sz="2200" dirty="0"/>
                <a:t>卸压回路</a:t>
              </a:r>
            </a:p>
          </p:txBody>
        </p:sp>
      </p:grpSp>
    </p:spTree>
    <p:extLst>
      <p:ext uri="{BB962C8B-B14F-4D97-AF65-F5344CB8AC3E}">
        <p14:creationId xmlns:p14="http://schemas.microsoft.com/office/powerpoint/2010/main" val="11862188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1 </a:t>
            </a:r>
            <a:r>
              <a:rPr lang="zh-CN" altLang="en-US" sz="3600" b="1" dirty="0">
                <a:solidFill>
                  <a:srgbClr val="003F88"/>
                </a:solidFill>
                <a:latin typeface="+mn-ea"/>
              </a:rPr>
              <a:t>概述</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Rectangle 1">
            <a:extLst>
              <a:ext uri="{FF2B5EF4-FFF2-40B4-BE49-F238E27FC236}">
                <a16:creationId xmlns:a16="http://schemas.microsoft.com/office/drawing/2014/main" id="{F16BAF05-6A58-0EDA-686E-38CA49B3E43D}"/>
              </a:ext>
            </a:extLst>
          </p:cNvPr>
          <p:cNvSpPr>
            <a:spLocks noChangeArrowheads="1"/>
          </p:cNvSpPr>
          <p:nvPr/>
        </p:nvSpPr>
        <p:spPr bwMode="auto">
          <a:xfrm>
            <a:off x="489906" y="982117"/>
            <a:ext cx="11212188" cy="51508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eaLnBrk="0" fontAlgn="base" hangingPunct="0">
              <a:lnSpc>
                <a:spcPct val="200000"/>
              </a:lnSpc>
              <a:spcBef>
                <a:spcPct val="0"/>
              </a:spcBef>
              <a:spcAft>
                <a:spcPct val="0"/>
              </a:spcAft>
              <a:buFont typeface="Wingdings" panose="05000000000000000000" pitchFamily="2" charset="2"/>
              <a:buChar char="Ø"/>
            </a:pPr>
            <a:r>
              <a:rPr kumimoji="0" lang="zh-CN" altLang="zh-CN" sz="2400" b="0" i="0" u="none" strike="noStrike" cap="none" normalizeH="0" baseline="0" dirty="0">
                <a:ln>
                  <a:noFill/>
                </a:ln>
                <a:solidFill>
                  <a:schemeClr val="tx1"/>
                </a:solidFill>
                <a:effectLst/>
                <a:latin typeface="Arial" panose="020B0604020202020204" pitchFamily="34" charset="0"/>
              </a:rPr>
              <a:t>除了调速回路</a:t>
            </a:r>
            <a:r>
              <a:rPr lang="zh-CN" altLang="en-US" sz="2400" dirty="0">
                <a:latin typeface="Arial" panose="020B0604020202020204" pitchFamily="34" charset="0"/>
              </a:rPr>
              <a:t>（传递动力）</a:t>
            </a:r>
            <a:r>
              <a:rPr kumimoji="0" lang="zh-CN" altLang="zh-CN" sz="2400" b="0" i="0" u="none" strike="noStrike" cap="none" normalizeH="0" baseline="0" dirty="0">
                <a:ln>
                  <a:noFill/>
                </a:ln>
                <a:solidFill>
                  <a:schemeClr val="tx1"/>
                </a:solidFill>
                <a:effectLst/>
                <a:latin typeface="Arial" panose="020B0604020202020204" pitchFamily="34" charset="0"/>
              </a:rPr>
              <a:t>外，液压系统中的其他回路也对系统功能的实现至关重要</a:t>
            </a:r>
            <a:r>
              <a:rPr kumimoji="0" lang="zh-CN" altLang="en-US" sz="2400" b="0" i="0" u="none" strike="noStrike" cap="none" normalizeH="0" baseline="0" dirty="0">
                <a:ln>
                  <a:noFill/>
                </a:ln>
                <a:solidFill>
                  <a:schemeClr val="tx1"/>
                </a:solidFill>
                <a:effectLst/>
                <a:latin typeface="Arial" panose="020B0604020202020204" pitchFamily="34" charset="0"/>
              </a:rPr>
              <a:t>，不从功率、效率角度</a:t>
            </a:r>
            <a:r>
              <a:rPr lang="zh-CN" altLang="en-US" sz="2400" dirty="0">
                <a:latin typeface="Arial" panose="020B0604020202020204" pitchFamily="34" charset="0"/>
              </a:rPr>
              <a:t>判断其优劣</a:t>
            </a:r>
            <a:r>
              <a:rPr kumimoji="0" lang="zh-CN" altLang="zh-CN" sz="2400" b="0" i="0" u="none" strike="noStrike" cap="none" normalizeH="0" baseline="0" dirty="0">
                <a:ln>
                  <a:noFill/>
                </a:ln>
                <a:solidFill>
                  <a:schemeClr val="tx1"/>
                </a:solidFill>
                <a:effectLst/>
                <a:latin typeface="Arial" panose="020B0604020202020204" pitchFamily="34" charset="0"/>
              </a:rPr>
              <a:t>。 </a:t>
            </a:r>
            <a:endParaRPr kumimoji="0" lang="en-US" altLang="zh-CN" sz="24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200000"/>
              </a:lnSpc>
              <a:spcBef>
                <a:spcPct val="0"/>
              </a:spcBef>
              <a:spcAft>
                <a:spcPct val="0"/>
              </a:spcAft>
              <a:buClrTx/>
              <a:buSzTx/>
              <a:buFont typeface="Wingdings" panose="05000000000000000000" pitchFamily="2" charset="2"/>
              <a:buChar char="Ø"/>
              <a:tabLst/>
            </a:pPr>
            <a:r>
              <a:rPr kumimoji="0" lang="zh-CN" altLang="zh-CN" sz="2400" b="0" i="0" u="none" strike="noStrike" cap="none" normalizeH="0" baseline="0" dirty="0">
                <a:ln>
                  <a:noFill/>
                </a:ln>
                <a:solidFill>
                  <a:schemeClr val="tx1"/>
                </a:solidFill>
                <a:effectLst/>
                <a:latin typeface="Arial" panose="020B0604020202020204" pitchFamily="34" charset="0"/>
              </a:rPr>
              <a:t>液压基本回路是由相关液压元件组成的，用于完成特定功能的典型回路。</a:t>
            </a:r>
          </a:p>
          <a:p>
            <a:pPr marL="342900" marR="0" lvl="0" indent="-342900" algn="l" defTabSz="914400" rtl="0" eaLnBrk="0" fontAlgn="base" latinLnBrk="0" hangingPunct="0">
              <a:lnSpc>
                <a:spcPct val="200000"/>
              </a:lnSpc>
              <a:spcBef>
                <a:spcPct val="0"/>
              </a:spcBef>
              <a:spcAft>
                <a:spcPct val="0"/>
              </a:spcAft>
              <a:buClrTx/>
              <a:buSzTx/>
              <a:buFont typeface="Wingdings" panose="05000000000000000000" pitchFamily="2" charset="2"/>
              <a:buChar char="Ø"/>
              <a:tabLst/>
            </a:pPr>
            <a:r>
              <a:rPr kumimoji="0" lang="zh-CN" altLang="zh-CN" sz="2400" b="0" i="0" u="none" strike="noStrike" cap="none" normalizeH="0" baseline="0" dirty="0">
                <a:ln>
                  <a:noFill/>
                </a:ln>
                <a:solidFill>
                  <a:schemeClr val="tx1"/>
                </a:solidFill>
                <a:effectLst/>
                <a:latin typeface="Arial" panose="020B0604020202020204" pitchFamily="34" charset="0"/>
              </a:rPr>
              <a:t>掌握基本回路的组成、工作原理和特点，有助于理解和分析整个液压系统。</a:t>
            </a:r>
          </a:p>
          <a:p>
            <a:pPr marL="342900" marR="0" lvl="0" indent="-342900" algn="l" defTabSz="914400" rtl="0" eaLnBrk="0" fontAlgn="base" latinLnBrk="0" hangingPunct="0">
              <a:lnSpc>
                <a:spcPct val="200000"/>
              </a:lnSpc>
              <a:spcBef>
                <a:spcPct val="0"/>
              </a:spcBef>
              <a:spcAft>
                <a:spcPct val="0"/>
              </a:spcAft>
              <a:buClrTx/>
              <a:buSzTx/>
              <a:buFont typeface="Wingdings" panose="05000000000000000000" pitchFamily="2" charset="2"/>
              <a:buChar char="Ø"/>
              <a:tabLst/>
            </a:pPr>
            <a:r>
              <a:rPr kumimoji="0" lang="zh-CN" altLang="zh-CN" sz="2400" b="0" i="0" u="none" strike="noStrike" cap="none" normalizeH="0" baseline="0" dirty="0">
                <a:ln>
                  <a:noFill/>
                </a:ln>
                <a:solidFill>
                  <a:schemeClr val="tx1"/>
                </a:solidFill>
                <a:effectLst/>
                <a:latin typeface="Arial" panose="020B0604020202020204" pitchFamily="34" charset="0"/>
              </a:rPr>
              <a:t>尽管某些液压系统可能非常复杂，但</a:t>
            </a:r>
            <a:r>
              <a:rPr kumimoji="0" lang="zh-CN" altLang="en-US" sz="2400" b="0" i="0" u="none" strike="noStrike" cap="none" normalizeH="0" baseline="0" dirty="0">
                <a:ln>
                  <a:noFill/>
                </a:ln>
                <a:solidFill>
                  <a:schemeClr val="tx1"/>
                </a:solidFill>
                <a:effectLst/>
                <a:latin typeface="Arial" panose="020B0604020202020204" pitchFamily="34" charset="0"/>
              </a:rPr>
              <a:t>液压系统由</a:t>
            </a:r>
            <a:r>
              <a:rPr kumimoji="0" lang="zh-CN" altLang="en-US" sz="2400" b="0" i="0" u="none" strike="noStrike" cap="none" normalizeH="0" baseline="0" dirty="0">
                <a:ln>
                  <a:noFill/>
                </a:ln>
                <a:solidFill>
                  <a:srgbClr val="FF0000"/>
                </a:solidFill>
                <a:effectLst/>
                <a:latin typeface="Arial" panose="020B0604020202020204" pitchFamily="34" charset="0"/>
              </a:rPr>
              <a:t>一个</a:t>
            </a:r>
            <a:r>
              <a:rPr kumimoji="0" lang="zh-CN" altLang="en-US" sz="2400" b="0" i="0" u="none" strike="noStrike" cap="none" normalizeH="0" baseline="0" dirty="0">
                <a:ln>
                  <a:noFill/>
                </a:ln>
                <a:solidFill>
                  <a:schemeClr val="tx1"/>
                </a:solidFill>
                <a:effectLst/>
                <a:latin typeface="Arial" panose="020B0604020202020204" pitchFamily="34" charset="0"/>
              </a:rPr>
              <a:t>或</a:t>
            </a:r>
            <a:r>
              <a:rPr kumimoji="0" lang="zh-CN" altLang="en-US" sz="2400" b="0" i="0" u="none" strike="noStrike" cap="none" normalizeH="0" baseline="0" dirty="0">
                <a:ln>
                  <a:noFill/>
                </a:ln>
                <a:solidFill>
                  <a:srgbClr val="FF0000"/>
                </a:solidFill>
                <a:effectLst/>
                <a:latin typeface="Arial" panose="020B0604020202020204" pitchFamily="34" charset="0"/>
              </a:rPr>
              <a:t>多个</a:t>
            </a:r>
            <a:r>
              <a:rPr kumimoji="0" lang="zh-CN" altLang="en-US" sz="2400" b="0" i="0" u="none" strike="noStrike" cap="none" normalizeH="0" baseline="0" dirty="0">
                <a:ln>
                  <a:noFill/>
                </a:ln>
                <a:solidFill>
                  <a:schemeClr val="tx1"/>
                </a:solidFill>
                <a:effectLst/>
                <a:latin typeface="Arial" panose="020B0604020202020204" pitchFamily="34" charset="0"/>
              </a:rPr>
              <a:t>液压基本回路组成。</a:t>
            </a:r>
            <a:endParaRPr kumimoji="0" lang="zh-CN" altLang="zh-CN" sz="24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200000"/>
              </a:lnSpc>
              <a:spcBef>
                <a:spcPct val="0"/>
              </a:spcBef>
              <a:spcAft>
                <a:spcPct val="0"/>
              </a:spcAft>
              <a:buClrTx/>
              <a:buSzTx/>
              <a:buFont typeface="Wingdings" panose="05000000000000000000" pitchFamily="2" charset="2"/>
              <a:buChar char="Ø"/>
              <a:tabLst/>
            </a:pPr>
            <a:r>
              <a:rPr kumimoji="0" lang="zh-CN" altLang="zh-CN" sz="2400" b="0" i="0" u="none" strike="noStrike" cap="none" normalizeH="0" baseline="0" dirty="0">
                <a:ln>
                  <a:noFill/>
                </a:ln>
                <a:solidFill>
                  <a:schemeClr val="tx1"/>
                </a:solidFill>
                <a:effectLst/>
                <a:latin typeface="Arial" panose="020B0604020202020204" pitchFamily="34" charset="0"/>
              </a:rPr>
              <a:t>不同行业的液压回路种类繁多，但典型</a:t>
            </a:r>
            <a:r>
              <a:rPr kumimoji="0" lang="zh-CN" altLang="en-US" sz="2400" b="0" i="0" u="none" strike="noStrike" cap="none" normalizeH="0" baseline="0" dirty="0">
                <a:ln>
                  <a:noFill/>
                </a:ln>
                <a:solidFill>
                  <a:schemeClr val="tx1"/>
                </a:solidFill>
                <a:effectLst/>
                <a:latin typeface="Arial" panose="020B0604020202020204" pitchFamily="34" charset="0"/>
              </a:rPr>
              <a:t>基本</a:t>
            </a:r>
            <a:r>
              <a:rPr kumimoji="0" lang="zh-CN" altLang="zh-CN" sz="2400" b="0" i="0" u="none" strike="noStrike" cap="none" normalizeH="0" baseline="0" dirty="0">
                <a:ln>
                  <a:noFill/>
                </a:ln>
                <a:solidFill>
                  <a:schemeClr val="tx1"/>
                </a:solidFill>
                <a:effectLst/>
                <a:latin typeface="Arial" panose="020B0604020202020204" pitchFamily="34" charset="0"/>
              </a:rPr>
              <a:t>回路可以帮助总结分析复杂系统中的问题。</a:t>
            </a:r>
          </a:p>
        </p:txBody>
      </p:sp>
    </p:spTree>
    <p:extLst>
      <p:ext uri="{BB962C8B-B14F-4D97-AF65-F5344CB8AC3E}">
        <p14:creationId xmlns:p14="http://schemas.microsoft.com/office/powerpoint/2010/main" val="10535595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19" name="矩形 18">
            <a:extLst>
              <a:ext uri="{FF2B5EF4-FFF2-40B4-BE49-F238E27FC236}">
                <a16:creationId xmlns:a16="http://schemas.microsoft.com/office/drawing/2014/main" id="{004E913E-16A5-4687-91A8-FD711E92BFF5}"/>
              </a:ext>
            </a:extLst>
          </p:cNvPr>
          <p:cNvSpPr/>
          <p:nvPr/>
        </p:nvSpPr>
        <p:spPr>
          <a:xfrm>
            <a:off x="540000" y="1888883"/>
            <a:ext cx="11139044" cy="3670236"/>
          </a:xfrm>
          <a:prstGeom prst="rect">
            <a:avLst/>
          </a:prstGeom>
        </p:spPr>
        <p:txBody>
          <a:bodyPr wrap="square">
            <a:spAutoFit/>
          </a:bodyPr>
          <a:lstStyle/>
          <a:p>
            <a:pPr marL="342900" indent="-342900">
              <a:lnSpc>
                <a:spcPct val="200000"/>
              </a:lnSpc>
              <a:buFont typeface="Wingdings" panose="05000000000000000000" pitchFamily="2" charset="2"/>
              <a:buChar char="Ø"/>
            </a:pPr>
            <a:r>
              <a:rPr lang="zh-CN" altLang="en-US" sz="2400" dirty="0">
                <a:solidFill>
                  <a:srgbClr val="FF0000"/>
                </a:solidFill>
              </a:rPr>
              <a:t>压力回路</a:t>
            </a:r>
            <a:r>
              <a:rPr lang="zh-CN" altLang="en-US" sz="2400" dirty="0"/>
              <a:t>是通过压力控制阀来调节系统整体或局部压力，以满足</a:t>
            </a:r>
            <a:r>
              <a:rPr lang="zh-CN" altLang="en-US" sz="2400" dirty="0">
                <a:solidFill>
                  <a:srgbClr val="FF0000"/>
                </a:solidFill>
              </a:rPr>
              <a:t>液压执行元件对力或转矩的需求</a:t>
            </a:r>
            <a:r>
              <a:rPr lang="zh-CN" altLang="en-US" sz="2400" dirty="0"/>
              <a:t>。</a:t>
            </a:r>
            <a:endParaRPr lang="en-US" altLang="zh-CN" sz="2400" dirty="0"/>
          </a:p>
          <a:p>
            <a:pPr marL="342900" indent="-342900">
              <a:lnSpc>
                <a:spcPct val="200000"/>
              </a:lnSpc>
              <a:buFont typeface="Wingdings" panose="05000000000000000000" pitchFamily="2" charset="2"/>
              <a:buChar char="Ø"/>
            </a:pPr>
            <a:r>
              <a:rPr lang="zh-CN" altLang="en-US" sz="2400" dirty="0">
                <a:solidFill>
                  <a:srgbClr val="FF0000"/>
                </a:solidFill>
              </a:rPr>
              <a:t>压力回路</a:t>
            </a:r>
            <a:r>
              <a:rPr lang="zh-CN" altLang="en-US" sz="2400" dirty="0"/>
              <a:t>包括</a:t>
            </a:r>
            <a:r>
              <a:rPr lang="zh-CN" altLang="en-US" sz="2400" dirty="0">
                <a:solidFill>
                  <a:srgbClr val="FF0000"/>
                </a:solidFill>
              </a:rPr>
              <a:t>调压、减压、增压、卸荷、平衡、保压、卸压</a:t>
            </a:r>
            <a:r>
              <a:rPr lang="zh-CN" altLang="en-US" sz="2400" dirty="0"/>
              <a:t>等多种形式。</a:t>
            </a:r>
            <a:endParaRPr lang="en-US" altLang="zh-CN" sz="2400" dirty="0"/>
          </a:p>
          <a:p>
            <a:pPr marL="342900" indent="-342900">
              <a:lnSpc>
                <a:spcPct val="200000"/>
              </a:lnSpc>
              <a:buFont typeface="Wingdings" panose="05000000000000000000" pitchFamily="2" charset="2"/>
              <a:buChar char="Ø"/>
            </a:pPr>
            <a:r>
              <a:rPr lang="zh-CN" altLang="en-US" sz="2400" dirty="0"/>
              <a:t>在复杂的液压系统中，压力回路通常与其他回路（如快速运动回路、换向回路、锁紧回路等）</a:t>
            </a:r>
            <a:r>
              <a:rPr lang="zh-CN" altLang="en-US" sz="2400" dirty="0">
                <a:solidFill>
                  <a:srgbClr val="FF0000"/>
                </a:solidFill>
              </a:rPr>
              <a:t>共同作用</a:t>
            </a:r>
            <a:r>
              <a:rPr lang="zh-CN" altLang="en-US" sz="2400" dirty="0"/>
              <a:t>，完成系统的多项功能。</a:t>
            </a:r>
            <a:endParaRPr lang="zh-CN" altLang="en-US" sz="2400" dirty="0">
              <a:latin typeface="宋体" panose="02010600030101010101" pitchFamily="2" charset="-122"/>
              <a:ea typeface="宋体" panose="02010600030101010101" pitchFamily="2" charset="-122"/>
            </a:endParaRP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mn-ea"/>
              </a:rPr>
              <a:t>压力回路概述</a:t>
            </a:r>
          </a:p>
        </p:txBody>
      </p:sp>
    </p:spTree>
    <p:extLst>
      <p:ext uri="{BB962C8B-B14F-4D97-AF65-F5344CB8AC3E}">
        <p14:creationId xmlns:p14="http://schemas.microsoft.com/office/powerpoint/2010/main" val="107748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2.1 </a:t>
            </a:r>
            <a:r>
              <a:rPr lang="zh-CN" altLang="en-US" sz="2800" b="1" dirty="0">
                <a:solidFill>
                  <a:srgbClr val="003F88"/>
                </a:solidFill>
                <a:latin typeface="+mn-ea"/>
              </a:rPr>
              <a:t>调压回路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4" y="1888883"/>
            <a:ext cx="11087101" cy="3361433"/>
          </a:xfrm>
          <a:prstGeom prst="rect">
            <a:avLst/>
          </a:prstGeom>
        </p:spPr>
        <p:txBody>
          <a:bodyPr wrap="square">
            <a:spAutoFit/>
          </a:bodyPr>
          <a:lstStyle/>
          <a:p>
            <a:pPr>
              <a:lnSpc>
                <a:spcPct val="150000"/>
              </a:lnSpc>
            </a:pPr>
            <a:r>
              <a:rPr lang="zh-CN" altLang="en-US" sz="2000" b="1" dirty="0">
                <a:latin typeface="+mn-ea"/>
              </a:rPr>
              <a:t>调压回路的主要功能：</a:t>
            </a:r>
            <a:endParaRPr lang="en-US" altLang="zh-CN" sz="2000" b="1" dirty="0">
              <a:latin typeface="+mn-ea"/>
            </a:endParaRPr>
          </a:p>
          <a:p>
            <a:pPr>
              <a:lnSpc>
                <a:spcPct val="150000"/>
              </a:lnSpc>
            </a:pPr>
            <a:r>
              <a:rPr lang="en-US" altLang="zh-CN" sz="2000" b="1" dirty="0">
                <a:latin typeface="+mn-ea"/>
              </a:rPr>
              <a:t>       </a:t>
            </a:r>
            <a:r>
              <a:rPr lang="zh-CN" altLang="en-US" sz="2000" b="1" dirty="0">
                <a:solidFill>
                  <a:srgbClr val="003F88"/>
                </a:solidFill>
              </a:rPr>
              <a:t>保持液压系统压力恒定或限制其不超过设定值</a:t>
            </a:r>
            <a:r>
              <a:rPr lang="zh-CN" altLang="en-US" sz="2000" dirty="0"/>
              <a:t>。常见功能包括恒压、限压和多级压力转换。定量泵系统通过溢流阀调节压力，变量泵系统则用安全阀限制最高压力。若系统需要多种压力，使用多级调压回路。</a:t>
            </a:r>
          </a:p>
          <a:p>
            <a:pPr>
              <a:lnSpc>
                <a:spcPct val="150000"/>
              </a:lnSpc>
            </a:pPr>
            <a:endParaRPr lang="en-US" altLang="zh-CN" sz="2400" b="1" dirty="0"/>
          </a:p>
          <a:p>
            <a:pPr>
              <a:lnSpc>
                <a:spcPct val="150000"/>
              </a:lnSpc>
            </a:pPr>
            <a:r>
              <a:rPr lang="zh-CN" altLang="en-US" sz="2000" b="1" dirty="0"/>
              <a:t>调压回路的分类：</a:t>
            </a:r>
            <a:endParaRPr lang="en-US" altLang="zh-CN" sz="2000" b="1" dirty="0"/>
          </a:p>
          <a:p>
            <a:pPr>
              <a:lnSpc>
                <a:spcPct val="150000"/>
              </a:lnSpc>
            </a:pPr>
            <a:r>
              <a:rPr lang="en-US" altLang="zh-CN" sz="2000" b="1" dirty="0"/>
              <a:t>       </a:t>
            </a:r>
            <a:r>
              <a:rPr lang="zh-CN" altLang="en-US" sz="2000" dirty="0"/>
              <a:t>单级、二级、多级和比例调压回路。</a:t>
            </a:r>
          </a:p>
        </p:txBody>
      </p:sp>
      <p:sp>
        <p:nvSpPr>
          <p:cNvPr id="2" name="文本框 1">
            <a:extLst>
              <a:ext uri="{FF2B5EF4-FFF2-40B4-BE49-F238E27FC236}">
                <a16:creationId xmlns:a16="http://schemas.microsoft.com/office/drawing/2014/main" id="{F7D43A4E-2D8F-4922-97C2-8AAAEEEBAB51}"/>
              </a:ext>
            </a:extLst>
          </p:cNvPr>
          <p:cNvSpPr txBox="1"/>
          <p:nvPr/>
        </p:nvSpPr>
        <p:spPr>
          <a:xfrm>
            <a:off x="1156699" y="5154970"/>
            <a:ext cx="2441694" cy="1703030"/>
          </a:xfrm>
          <a:prstGeom prst="rect">
            <a:avLst/>
          </a:prstGeom>
          <a:noFill/>
        </p:spPr>
        <p:txBody>
          <a:bodyPr wrap="none" rtlCol="0">
            <a:spAutoFit/>
          </a:bodyPr>
          <a:lstStyle/>
          <a:p>
            <a:pPr>
              <a:lnSpc>
                <a:spcPct val="150000"/>
              </a:lnSpc>
            </a:pPr>
            <a:r>
              <a:rPr lang="zh-CN" altLang="en-US" dirty="0"/>
              <a:t>单级：</a:t>
            </a:r>
            <a:r>
              <a:rPr lang="en-US" altLang="zh-CN" dirty="0"/>
              <a:t>5MPa</a:t>
            </a:r>
          </a:p>
          <a:p>
            <a:pPr>
              <a:lnSpc>
                <a:spcPct val="150000"/>
              </a:lnSpc>
            </a:pPr>
            <a:r>
              <a:rPr lang="zh-CN" altLang="en-US" dirty="0"/>
              <a:t>多级：</a:t>
            </a:r>
            <a:r>
              <a:rPr lang="en-US" altLang="zh-CN" dirty="0"/>
              <a:t>5/10/15/20MPa</a:t>
            </a:r>
          </a:p>
          <a:p>
            <a:pPr>
              <a:lnSpc>
                <a:spcPct val="150000"/>
              </a:lnSpc>
            </a:pPr>
            <a:r>
              <a:rPr lang="zh-CN" altLang="en-US" dirty="0"/>
              <a:t>比例：</a:t>
            </a:r>
            <a:r>
              <a:rPr lang="en-US" altLang="zh-CN" dirty="0"/>
              <a:t>5~20MPa</a:t>
            </a:r>
          </a:p>
          <a:p>
            <a:pPr>
              <a:lnSpc>
                <a:spcPct val="150000"/>
              </a:lnSpc>
            </a:pPr>
            <a:endParaRPr lang="zh-CN" altLang="en-US" dirty="0"/>
          </a:p>
        </p:txBody>
      </p:sp>
    </p:spTree>
    <p:extLst>
      <p:ext uri="{BB962C8B-B14F-4D97-AF65-F5344CB8AC3E}">
        <p14:creationId xmlns:p14="http://schemas.microsoft.com/office/powerpoint/2010/main" val="13556161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2.1 </a:t>
            </a:r>
            <a:r>
              <a:rPr lang="zh-CN" altLang="en-US" sz="2800" b="1" dirty="0">
                <a:solidFill>
                  <a:srgbClr val="003F88"/>
                </a:solidFill>
                <a:latin typeface="+mn-ea"/>
              </a:rPr>
              <a:t>调压回路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3" y="1888883"/>
            <a:ext cx="7988992" cy="4130874"/>
          </a:xfrm>
          <a:prstGeom prst="rect">
            <a:avLst/>
          </a:prstGeom>
        </p:spPr>
        <p:txBody>
          <a:bodyPr wrap="square">
            <a:spAutoFit/>
          </a:bodyPr>
          <a:lstStyle/>
          <a:p>
            <a:pPr>
              <a:lnSpc>
                <a:spcPct val="150000"/>
              </a:lnSpc>
              <a:spcBef>
                <a:spcPts val="600"/>
              </a:spcBef>
              <a:spcAft>
                <a:spcPts val="600"/>
              </a:spcAft>
            </a:pPr>
            <a:r>
              <a:rPr lang="zh-CN" altLang="en-US" sz="2400" b="1" dirty="0"/>
              <a:t>单级调压回路：</a:t>
            </a:r>
            <a:endParaRPr lang="en-US" altLang="zh-CN" sz="2400" b="1" dirty="0"/>
          </a:p>
          <a:p>
            <a:pPr marL="285750" marR="0" lvl="0" indent="-285750" algn="l" defTabSz="914400" rtl="0" eaLnBrk="0" fontAlgn="base" latinLnBrk="0" hangingPunct="0">
              <a:lnSpc>
                <a:spcPct val="150000"/>
              </a:lnSpc>
              <a:spcBef>
                <a:spcPts val="600"/>
              </a:spcBef>
              <a:spcAft>
                <a:spcPts val="60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在液压泵出口处</a:t>
            </a:r>
            <a:r>
              <a:rPr kumimoji="0" lang="zh-CN" altLang="zh-CN" sz="2000" i="0" u="none" strike="noStrike" cap="none" normalizeH="0" baseline="0" dirty="0">
                <a:ln>
                  <a:noFill/>
                </a:ln>
                <a:solidFill>
                  <a:srgbClr val="FF0000"/>
                </a:solidFill>
                <a:effectLst/>
                <a:latin typeface="Arial" panose="020B0604020202020204" pitchFamily="34" charset="0"/>
              </a:rPr>
              <a:t>并联安装溢流阀</a:t>
            </a:r>
            <a:r>
              <a:rPr kumimoji="0" lang="zh-CN" altLang="zh-CN" sz="2000" b="0" i="0" u="none" strike="noStrike" cap="none" normalizeH="0" baseline="0" dirty="0">
                <a:ln>
                  <a:noFill/>
                </a:ln>
                <a:solidFill>
                  <a:schemeClr val="tx1"/>
                </a:solidFill>
                <a:effectLst/>
                <a:latin typeface="Arial" panose="020B0604020202020204" pitchFamily="34" charset="0"/>
              </a:rPr>
              <a:t>即可组成单级调压回路。</a:t>
            </a:r>
          </a:p>
          <a:p>
            <a:pPr marL="285750" marR="0" lvl="0" indent="-285750" algn="l" defTabSz="914400" rtl="0" eaLnBrk="0" fontAlgn="base" latinLnBrk="0" hangingPunct="0">
              <a:lnSpc>
                <a:spcPct val="150000"/>
              </a:lnSpc>
              <a:spcBef>
                <a:spcPts val="600"/>
              </a:spcBef>
              <a:spcAft>
                <a:spcPts val="60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通过调节弹簧来</a:t>
            </a:r>
            <a:r>
              <a:rPr kumimoji="0" lang="zh-CN" altLang="zh-CN" sz="2000" b="0" i="0" u="none" strike="noStrike" cap="none" normalizeH="0" baseline="0" dirty="0">
                <a:ln>
                  <a:noFill/>
                </a:ln>
                <a:solidFill>
                  <a:srgbClr val="FF0000"/>
                </a:solidFill>
                <a:effectLst/>
                <a:latin typeface="Arial" panose="020B0604020202020204" pitchFamily="34" charset="0"/>
              </a:rPr>
              <a:t>设定溢流阀的开启压力</a:t>
            </a:r>
            <a:r>
              <a:rPr kumimoji="0" lang="zh-CN" altLang="zh-CN" sz="2000" b="0" i="0" u="none" strike="noStrike" cap="none" normalizeH="0" baseline="0" dirty="0">
                <a:ln>
                  <a:noFill/>
                </a:ln>
                <a:solidFill>
                  <a:schemeClr val="tx1"/>
                </a:solidFill>
                <a:effectLst/>
                <a:latin typeface="Arial" panose="020B0604020202020204" pitchFamily="34" charset="0"/>
              </a:rPr>
              <a:t>，从而限定系统的</a:t>
            </a:r>
            <a:r>
              <a:rPr kumimoji="0" lang="zh-CN" altLang="zh-CN" sz="2000" b="0" i="0" u="none" strike="noStrike" cap="none" normalizeH="0" baseline="0" dirty="0">
                <a:ln>
                  <a:noFill/>
                </a:ln>
                <a:solidFill>
                  <a:srgbClr val="FF0000"/>
                </a:solidFill>
                <a:effectLst/>
                <a:latin typeface="Arial" panose="020B0604020202020204" pitchFamily="34" charset="0"/>
              </a:rPr>
              <a:t>最高压力</a:t>
            </a:r>
            <a:r>
              <a:rPr kumimoji="0" lang="zh-CN" altLang="zh-CN" sz="2000" b="0" i="0" u="none" strike="noStrike" cap="none" normalizeH="0" baseline="0" dirty="0">
                <a:ln>
                  <a:noFill/>
                </a:ln>
                <a:solidFill>
                  <a:schemeClr val="tx1"/>
                </a:solidFill>
                <a:effectLst/>
                <a:latin typeface="Arial" panose="020B0604020202020204" pitchFamily="34" charset="0"/>
              </a:rPr>
              <a:t>。</a:t>
            </a:r>
          </a:p>
          <a:p>
            <a:pPr marL="285750" marR="0" lvl="0" indent="-285750" algn="l" defTabSz="914400" rtl="0" eaLnBrk="0" fontAlgn="base" latinLnBrk="0" hangingPunct="0">
              <a:lnSpc>
                <a:spcPct val="150000"/>
              </a:lnSpc>
              <a:spcBef>
                <a:spcPts val="600"/>
              </a:spcBef>
              <a:spcAft>
                <a:spcPts val="60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实际工作压力由负载决定，溢流阀仅起到</a:t>
            </a:r>
            <a:r>
              <a:rPr kumimoji="0" lang="zh-CN" altLang="zh-CN" sz="2000" b="0" i="0" u="none" strike="noStrike" cap="none" normalizeH="0" baseline="0" dirty="0">
                <a:ln>
                  <a:noFill/>
                </a:ln>
                <a:solidFill>
                  <a:srgbClr val="FF0000"/>
                </a:solidFill>
                <a:effectLst/>
                <a:latin typeface="Arial" panose="020B0604020202020204" pitchFamily="34" charset="0"/>
              </a:rPr>
              <a:t>保护作用</a:t>
            </a:r>
            <a:r>
              <a:rPr kumimoji="0" lang="zh-CN" altLang="zh-CN" sz="2000" b="0" i="0" u="none" strike="noStrike" cap="none" normalizeH="0" baseline="0" dirty="0">
                <a:ln>
                  <a:noFill/>
                </a:ln>
                <a:solidFill>
                  <a:schemeClr val="tx1"/>
                </a:solidFill>
                <a:effectLst/>
                <a:latin typeface="Arial" panose="020B0604020202020204" pitchFamily="34" charset="0"/>
              </a:rPr>
              <a:t>。</a:t>
            </a:r>
          </a:p>
          <a:p>
            <a:pPr marL="285750" marR="0" lvl="0" indent="-285750" algn="l" defTabSz="914400" rtl="0" eaLnBrk="0" fontAlgn="base" latinLnBrk="0" hangingPunct="0">
              <a:lnSpc>
                <a:spcPct val="150000"/>
              </a:lnSpc>
              <a:spcBef>
                <a:spcPts val="600"/>
              </a:spcBef>
              <a:spcAft>
                <a:spcPts val="60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在一个工作循环中，溢流阀的压力设定无法动态调整。</a:t>
            </a:r>
          </a:p>
          <a:p>
            <a:pPr marL="285750" marR="0" lvl="0" indent="-285750" algn="l" defTabSz="914400" rtl="0" eaLnBrk="0" fontAlgn="base" latinLnBrk="0" hangingPunct="0">
              <a:lnSpc>
                <a:spcPct val="150000"/>
              </a:lnSpc>
              <a:spcBef>
                <a:spcPts val="600"/>
              </a:spcBef>
              <a:spcAft>
                <a:spcPts val="60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由于溢流阀的特性，当系统流量发生变化时，</a:t>
            </a:r>
            <a:r>
              <a:rPr kumimoji="0" lang="zh-CN" altLang="zh-CN" sz="2000" b="1" i="0" u="none" strike="noStrike" cap="none" normalizeH="0" baseline="0" dirty="0">
                <a:ln>
                  <a:noFill/>
                </a:ln>
                <a:solidFill>
                  <a:srgbClr val="003F88"/>
                </a:solidFill>
                <a:effectLst/>
                <a:latin typeface="Arial" panose="020B0604020202020204" pitchFamily="34" charset="0"/>
              </a:rPr>
              <a:t>压力也会随之波动</a:t>
            </a:r>
            <a:r>
              <a:rPr kumimoji="0" lang="zh-CN" altLang="zh-CN" sz="2000" b="0" i="0" u="none" strike="noStrike" cap="none" normalizeH="0" baseline="0" dirty="0">
                <a:ln>
                  <a:noFill/>
                </a:ln>
                <a:solidFill>
                  <a:schemeClr val="tx1"/>
                </a:solidFill>
                <a:effectLst/>
                <a:latin typeface="Arial" panose="020B0604020202020204" pitchFamily="34" charset="0"/>
              </a:rPr>
              <a:t>。 </a:t>
            </a:r>
          </a:p>
        </p:txBody>
      </p:sp>
      <p:pic>
        <p:nvPicPr>
          <p:cNvPr id="3" name="Picture 4" descr="4－16">
            <a:extLst>
              <a:ext uri="{FF2B5EF4-FFF2-40B4-BE49-F238E27FC236}">
                <a16:creationId xmlns:a16="http://schemas.microsoft.com/office/drawing/2014/main" id="{E1B27804-7DC8-856C-DD8A-C136F65125F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62165" b="22464"/>
          <a:stretch/>
        </p:blipFill>
        <p:spPr bwMode="auto">
          <a:xfrm>
            <a:off x="8362542" y="1828971"/>
            <a:ext cx="2664296" cy="3352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文本框 5">
            <a:extLst>
              <a:ext uri="{FF2B5EF4-FFF2-40B4-BE49-F238E27FC236}">
                <a16:creationId xmlns:a16="http://schemas.microsoft.com/office/drawing/2014/main" id="{912B0CE9-3B00-DFCB-449D-C513714F09D8}"/>
              </a:ext>
            </a:extLst>
          </p:cNvPr>
          <p:cNvSpPr txBox="1"/>
          <p:nvPr/>
        </p:nvSpPr>
        <p:spPr>
          <a:xfrm>
            <a:off x="8133890" y="5241881"/>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单级调压回路原理图</a:t>
            </a:r>
            <a:endParaRPr lang="zh-CN" altLang="en-US" sz="2000" dirty="0"/>
          </a:p>
        </p:txBody>
      </p:sp>
    </p:spTree>
    <p:extLst>
      <p:ext uri="{BB962C8B-B14F-4D97-AF65-F5344CB8AC3E}">
        <p14:creationId xmlns:p14="http://schemas.microsoft.com/office/powerpoint/2010/main" val="27979026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2.1 </a:t>
            </a:r>
            <a:r>
              <a:rPr lang="zh-CN" altLang="en-US" sz="2800" b="1" dirty="0">
                <a:solidFill>
                  <a:srgbClr val="003F88"/>
                </a:solidFill>
                <a:latin typeface="+mn-ea"/>
              </a:rPr>
              <a:t>调压回路</a:t>
            </a:r>
          </a:p>
        </p:txBody>
      </p:sp>
      <p:sp>
        <p:nvSpPr>
          <p:cNvPr id="4" name="矩形 18">
            <a:extLst>
              <a:ext uri="{FF2B5EF4-FFF2-40B4-BE49-F238E27FC236}">
                <a16:creationId xmlns:a16="http://schemas.microsoft.com/office/drawing/2014/main" id="{52BC7FE9-CFD5-D7A6-C7FC-5F7EEC35518E}"/>
              </a:ext>
            </a:extLst>
          </p:cNvPr>
          <p:cNvSpPr/>
          <p:nvPr/>
        </p:nvSpPr>
        <p:spPr>
          <a:xfrm>
            <a:off x="429655" y="1901340"/>
            <a:ext cx="7760187" cy="3996735"/>
          </a:xfrm>
          <a:prstGeom prst="rect">
            <a:avLst/>
          </a:prstGeom>
        </p:spPr>
        <p:txBody>
          <a:bodyPr wrap="square">
            <a:spAutoFit/>
          </a:bodyPr>
          <a:lstStyle/>
          <a:p>
            <a:pPr>
              <a:lnSpc>
                <a:spcPct val="150000"/>
              </a:lnSpc>
            </a:pPr>
            <a:r>
              <a:rPr lang="zh-CN" altLang="en-US" sz="2400" b="1" dirty="0"/>
              <a:t>二级调压回路：</a:t>
            </a:r>
            <a:endParaRPr kumimoji="0" lang="zh-CN" altLang="zh-CN" sz="24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lang="zh-CN" altLang="en-US" sz="2000" dirty="0"/>
              <a:t>当电磁阀</a:t>
            </a:r>
            <a:r>
              <a:rPr lang="en-US" altLang="zh-CN" sz="2000" dirty="0"/>
              <a:t>3</a:t>
            </a:r>
            <a:r>
              <a:rPr lang="zh-CN" altLang="en-US" sz="2000" dirty="0"/>
              <a:t>失电处于左位时，系统压力由阀</a:t>
            </a:r>
            <a:r>
              <a:rPr lang="en-US" altLang="zh-CN" sz="2000" dirty="0"/>
              <a:t>2</a:t>
            </a:r>
            <a:r>
              <a:rPr lang="zh-CN" altLang="en-US" sz="2000" dirty="0"/>
              <a:t>设定</a:t>
            </a:r>
            <a:r>
              <a:rPr kumimoji="0" lang="zh-CN" altLang="zh-CN" sz="2000" b="0" i="0" u="none" strike="noStrike" cap="none" normalizeH="0" baseline="0" dirty="0">
                <a:ln>
                  <a:noFill/>
                </a:ln>
                <a:solidFill>
                  <a:schemeClr val="tx1"/>
                </a:solidFill>
                <a:effectLst/>
                <a:latin typeface="Arial" panose="020B0604020202020204" pitchFamily="34" charset="0"/>
              </a:rPr>
              <a:t>，此时回路与单级调压回路相同。</a:t>
            </a: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lang="zh-CN" altLang="en-US" sz="2000" dirty="0"/>
              <a:t>当电磁阀</a:t>
            </a:r>
            <a:r>
              <a:rPr lang="en-US" altLang="zh-CN" sz="2000" dirty="0"/>
              <a:t>3</a:t>
            </a:r>
            <a:r>
              <a:rPr lang="zh-CN" altLang="en-US" sz="2000" dirty="0"/>
              <a:t>得电切换至右位时，系统压力由阀</a:t>
            </a:r>
            <a:r>
              <a:rPr lang="en-US" altLang="zh-CN" sz="2000" dirty="0"/>
              <a:t>4</a:t>
            </a:r>
            <a:r>
              <a:rPr lang="zh-CN" altLang="en-US" sz="2000" dirty="0"/>
              <a:t>设定</a:t>
            </a:r>
            <a:r>
              <a:rPr kumimoji="0" lang="zh-CN" altLang="zh-CN" sz="2000" b="0" i="0" u="none" strike="noStrike" cap="none" normalizeH="0" baseline="0" dirty="0">
                <a:ln>
                  <a:noFill/>
                </a:ln>
                <a:solidFill>
                  <a:schemeClr val="tx1"/>
                </a:solidFill>
                <a:effectLst/>
                <a:latin typeface="Arial" panose="020B0604020202020204" pitchFamily="34" charset="0"/>
              </a:rPr>
              <a:t>，实现远程调压功能。</a:t>
            </a:r>
          </a:p>
          <a:p>
            <a:pPr marR="0" lvl="0" algn="l" defTabSz="914400" rtl="0" eaLnBrk="0" fontAlgn="base" latinLnBrk="0" hangingPunct="0">
              <a:lnSpc>
                <a:spcPct val="150000"/>
              </a:lnSpc>
              <a:spcBef>
                <a:spcPct val="0"/>
              </a:spcBef>
              <a:spcAft>
                <a:spcPct val="0"/>
              </a:spcAft>
              <a:buClrTx/>
              <a:buSzTx/>
              <a:tabLst/>
            </a:pPr>
            <a:endParaRPr kumimoji="0" lang="en-US" altLang="zh-CN" sz="2000" b="0" i="0" u="none" strike="noStrike" cap="none" normalizeH="0" baseline="0" dirty="0">
              <a:ln>
                <a:noFill/>
              </a:ln>
              <a:solidFill>
                <a:srgbClr val="FF0000"/>
              </a:solidFill>
              <a:effectLst/>
              <a:latin typeface="Arial" panose="020B0604020202020204" pitchFamily="34" charset="0"/>
            </a:endParaRPr>
          </a:p>
          <a:p>
            <a:pPr marR="0" lvl="0" algn="l" defTabSz="914400" rtl="0" eaLnBrk="0" fontAlgn="base" latinLnBrk="0" hangingPunct="0">
              <a:lnSpc>
                <a:spcPct val="150000"/>
              </a:lnSpc>
              <a:spcBef>
                <a:spcPct val="0"/>
              </a:spcBef>
              <a:spcAft>
                <a:spcPct val="0"/>
              </a:spcAft>
              <a:buClrTx/>
              <a:buSzTx/>
              <a:tabLst/>
            </a:pPr>
            <a:r>
              <a:rPr kumimoji="0" lang="zh-CN" altLang="zh-CN" sz="2400" b="0" i="0" u="none" strike="noStrike" cap="none" normalizeH="0" baseline="0" dirty="0">
                <a:ln>
                  <a:noFill/>
                </a:ln>
                <a:solidFill>
                  <a:srgbClr val="FF0000"/>
                </a:solidFill>
                <a:effectLst/>
                <a:latin typeface="Arial" panose="020B0604020202020204" pitchFamily="34" charset="0"/>
              </a:rPr>
              <a:t>注意：</a:t>
            </a:r>
            <a:r>
              <a:rPr kumimoji="0" lang="zh-CN" altLang="zh-CN" sz="2400" b="0" i="0" u="none" strike="noStrike" cap="none" normalizeH="0" baseline="0" dirty="0">
                <a:ln>
                  <a:noFill/>
                </a:ln>
                <a:solidFill>
                  <a:schemeClr val="tx1"/>
                </a:solidFill>
                <a:effectLst/>
                <a:latin typeface="Arial" panose="020B0604020202020204" pitchFamily="34" charset="0"/>
              </a:rPr>
              <a:t>阀4的设定压力必须</a:t>
            </a:r>
            <a:r>
              <a:rPr kumimoji="0" lang="zh-CN" altLang="en-US" sz="2400" b="0" i="0" u="none" strike="noStrike" cap="none" normalizeH="0" baseline="0" dirty="0">
                <a:ln>
                  <a:noFill/>
                </a:ln>
                <a:solidFill>
                  <a:srgbClr val="FF0000"/>
                </a:solidFill>
                <a:effectLst/>
                <a:latin typeface="Arial" panose="020B0604020202020204" pitchFamily="34" charset="0"/>
              </a:rPr>
              <a:t>小</a:t>
            </a:r>
            <a:r>
              <a:rPr kumimoji="0" lang="zh-CN" altLang="zh-CN" sz="2400" b="0" i="0" u="none" strike="noStrike" cap="none" normalizeH="0" baseline="0" dirty="0">
                <a:ln>
                  <a:noFill/>
                </a:ln>
                <a:solidFill>
                  <a:srgbClr val="FF0000"/>
                </a:solidFill>
                <a:effectLst/>
                <a:latin typeface="Arial" panose="020B0604020202020204" pitchFamily="34" charset="0"/>
              </a:rPr>
              <a:t>于</a:t>
            </a:r>
            <a:r>
              <a:rPr kumimoji="0" lang="zh-CN" altLang="zh-CN" sz="2400" b="0" i="0" u="none" strike="noStrike" cap="none" normalizeH="0" baseline="0" dirty="0">
                <a:ln>
                  <a:noFill/>
                </a:ln>
                <a:solidFill>
                  <a:schemeClr val="tx1"/>
                </a:solidFill>
                <a:effectLst/>
                <a:latin typeface="Arial" panose="020B0604020202020204" pitchFamily="34" charset="0"/>
              </a:rPr>
              <a:t>阀2，否则无法实现有效切换。</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133890" y="5241881"/>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二级调压回路原理图</a:t>
            </a:r>
            <a:endParaRPr lang="zh-CN" altLang="en-US" sz="2000" dirty="0"/>
          </a:p>
        </p:txBody>
      </p:sp>
      <p:pic>
        <p:nvPicPr>
          <p:cNvPr id="2" name="Picture 5" descr="图5－1">
            <a:extLst>
              <a:ext uri="{FF2B5EF4-FFF2-40B4-BE49-F238E27FC236}">
                <a16:creationId xmlns:a16="http://schemas.microsoft.com/office/drawing/2014/main" id="{4BBD877B-CD00-3B93-BBEE-B2627148AB82}"/>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0956" t="12704" r="64417" b="18460"/>
          <a:stretch>
            <a:fillRect/>
          </a:stretch>
        </p:blipFill>
        <p:spPr bwMode="auto">
          <a:xfrm>
            <a:off x="8440780" y="1057827"/>
            <a:ext cx="2500312" cy="428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584901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2.1 </a:t>
            </a:r>
            <a:r>
              <a:rPr lang="zh-CN" altLang="en-US" sz="2800" b="1" dirty="0">
                <a:solidFill>
                  <a:srgbClr val="003F88"/>
                </a:solidFill>
                <a:latin typeface="+mn-ea"/>
              </a:rPr>
              <a:t>调压回路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4" y="1888883"/>
            <a:ext cx="7449848" cy="4458400"/>
          </a:xfrm>
          <a:prstGeom prst="rect">
            <a:avLst/>
          </a:prstGeom>
        </p:spPr>
        <p:txBody>
          <a:bodyPr wrap="square">
            <a:spAutoFit/>
          </a:bodyPr>
          <a:lstStyle/>
          <a:p>
            <a:pPr>
              <a:lnSpc>
                <a:spcPct val="150000"/>
              </a:lnSpc>
            </a:pPr>
            <a:r>
              <a:rPr lang="zh-CN" altLang="en-US" sz="2400" b="1" dirty="0"/>
              <a:t>多级调压回路：</a:t>
            </a:r>
            <a:endParaRPr kumimoji="0" lang="zh-CN" altLang="zh-CN" sz="24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50000"/>
              </a:lnSpc>
              <a:spcBef>
                <a:spcPct val="0"/>
              </a:spcBef>
              <a:spcAft>
                <a:spcPct val="0"/>
              </a:spcAft>
              <a:buClrTx/>
              <a:buSzTx/>
              <a:tabLst/>
            </a:pPr>
            <a:r>
              <a:rPr lang="zh-CN" altLang="en-US" sz="2000" dirty="0"/>
              <a:t>三级调压回路由溢流阀</a:t>
            </a:r>
            <a:r>
              <a:rPr lang="en-US" altLang="zh-CN" sz="2000" dirty="0"/>
              <a:t>1</a:t>
            </a:r>
            <a:r>
              <a:rPr lang="zh-CN" altLang="en-US" sz="2000" dirty="0"/>
              <a:t>、</a:t>
            </a:r>
            <a:r>
              <a:rPr lang="en-US" altLang="zh-CN" sz="2000" dirty="0"/>
              <a:t>2</a:t>
            </a:r>
            <a:r>
              <a:rPr lang="zh-CN" altLang="en-US" sz="2000" dirty="0"/>
              <a:t>、</a:t>
            </a:r>
            <a:r>
              <a:rPr lang="en-US" altLang="zh-CN" sz="2000" dirty="0"/>
              <a:t>3</a:t>
            </a:r>
            <a:r>
              <a:rPr lang="zh-CN" altLang="en-US" sz="2000" dirty="0"/>
              <a:t>分别控制系统的不同压力，通过一个换向阀实现压力的切换和控制，形成三级压力调节。</a:t>
            </a:r>
            <a:endParaRPr lang="en-US" altLang="zh-CN" sz="2000" dirty="0"/>
          </a:p>
          <a:p>
            <a:pPr marL="342900" indent="-342900" algn="just" eaLnBrk="1" hangingPunct="1">
              <a:lnSpc>
                <a:spcPct val="150000"/>
              </a:lnSpc>
              <a:spcBef>
                <a:spcPct val="0"/>
              </a:spcBef>
              <a:buClrTx/>
              <a:buSzTx/>
              <a:buFont typeface="Wingdings" panose="05000000000000000000" pitchFamily="2" charset="2"/>
              <a:buChar char="Ø"/>
            </a:pPr>
            <a:r>
              <a:rPr lang="en-US" altLang="zh-CN" sz="2000" dirty="0"/>
              <a:t>1YA</a:t>
            </a:r>
            <a:r>
              <a:rPr lang="zh-CN" altLang="en-US" sz="2000" dirty="0"/>
              <a:t>失电 </a:t>
            </a:r>
            <a:r>
              <a:rPr lang="en-US" altLang="zh-CN" sz="2000" dirty="0"/>
              <a:t>/ 2YA</a:t>
            </a:r>
            <a:r>
              <a:rPr lang="zh-CN" altLang="en-US" sz="2000" dirty="0"/>
              <a:t>失电，电磁阀处于中位，系统压力由阀</a:t>
            </a:r>
            <a:r>
              <a:rPr lang="en-US" altLang="zh-CN" sz="2000" dirty="0"/>
              <a:t>1</a:t>
            </a:r>
            <a:r>
              <a:rPr lang="zh-CN" altLang="en-US" sz="2000" dirty="0"/>
              <a:t>设定。</a:t>
            </a:r>
            <a:endParaRPr lang="en-US" altLang="zh-CN" sz="2000" dirty="0"/>
          </a:p>
          <a:p>
            <a:pPr marL="342900" indent="-342900" algn="just" eaLnBrk="1" hangingPunct="1">
              <a:lnSpc>
                <a:spcPct val="150000"/>
              </a:lnSpc>
              <a:spcBef>
                <a:spcPct val="0"/>
              </a:spcBef>
              <a:buClrTx/>
              <a:buSzTx/>
              <a:buFont typeface="Wingdings" panose="05000000000000000000" pitchFamily="2" charset="2"/>
              <a:buChar char="Ø"/>
            </a:pPr>
            <a:r>
              <a:rPr lang="en-US" altLang="zh-CN" sz="2000" dirty="0"/>
              <a:t>1YA</a:t>
            </a:r>
            <a:r>
              <a:rPr lang="zh-CN" altLang="en-US" sz="2000" dirty="0"/>
              <a:t>得电 </a:t>
            </a:r>
            <a:r>
              <a:rPr lang="en-US" altLang="zh-CN" sz="2000" dirty="0"/>
              <a:t>/ 2YA</a:t>
            </a:r>
            <a:r>
              <a:rPr lang="zh-CN" altLang="en-US" sz="2000" dirty="0"/>
              <a:t>失电，电磁阀处于左位，系统压力由阀</a:t>
            </a:r>
            <a:r>
              <a:rPr lang="en-US" altLang="zh-CN" sz="2000" dirty="0"/>
              <a:t>2</a:t>
            </a:r>
            <a:r>
              <a:rPr lang="zh-CN" altLang="en-US" sz="2000" dirty="0"/>
              <a:t>设定。</a:t>
            </a:r>
            <a:endParaRPr lang="en-US" altLang="zh-CN" sz="2000" dirty="0"/>
          </a:p>
          <a:p>
            <a:pPr marL="342900" indent="-342900" algn="just" eaLnBrk="1" hangingPunct="1">
              <a:lnSpc>
                <a:spcPct val="150000"/>
              </a:lnSpc>
              <a:spcBef>
                <a:spcPct val="0"/>
              </a:spcBef>
              <a:buClrTx/>
              <a:buSzTx/>
              <a:buFont typeface="Wingdings" panose="05000000000000000000" pitchFamily="2" charset="2"/>
              <a:buChar char="Ø"/>
            </a:pPr>
            <a:r>
              <a:rPr lang="en-US" altLang="zh-CN" sz="2000" dirty="0"/>
              <a:t>1YA</a:t>
            </a:r>
            <a:r>
              <a:rPr lang="zh-CN" altLang="en-US" sz="2000" dirty="0"/>
              <a:t>失电 </a:t>
            </a:r>
            <a:r>
              <a:rPr lang="en-US" altLang="zh-CN" sz="2000" dirty="0"/>
              <a:t>/ 2YA</a:t>
            </a:r>
            <a:r>
              <a:rPr lang="zh-CN" altLang="en-US" sz="2000" dirty="0"/>
              <a:t>得电，电磁阀处于右位，系统压力由阀</a:t>
            </a:r>
            <a:r>
              <a:rPr lang="en-US" altLang="zh-CN" sz="2000" dirty="0"/>
              <a:t>3</a:t>
            </a:r>
            <a:r>
              <a:rPr lang="zh-CN" altLang="en-US" sz="2000" dirty="0"/>
              <a:t>设定。</a:t>
            </a:r>
            <a:endParaRPr lang="en-US" altLang="zh-CN" sz="2000" dirty="0"/>
          </a:p>
          <a:p>
            <a:pPr marR="0" lvl="0" algn="l" defTabSz="914400" rtl="0" eaLnBrk="0" fontAlgn="base" latinLnBrk="0" hangingPunct="0">
              <a:lnSpc>
                <a:spcPct val="150000"/>
              </a:lnSpc>
              <a:spcBef>
                <a:spcPct val="0"/>
              </a:spcBef>
              <a:spcAft>
                <a:spcPct val="0"/>
              </a:spcAft>
              <a:buClrTx/>
              <a:buSzTx/>
              <a:tabLst/>
            </a:pPr>
            <a:endParaRPr kumimoji="0" lang="en-US" altLang="zh-CN" sz="2000" b="0" i="0" u="none" strike="noStrike" cap="none" normalizeH="0" baseline="0" dirty="0">
              <a:ln>
                <a:noFill/>
              </a:ln>
              <a:solidFill>
                <a:srgbClr val="FF0000"/>
              </a:solidFill>
              <a:effectLst/>
              <a:latin typeface="Arial" panose="020B0604020202020204" pitchFamily="34" charset="0"/>
            </a:endParaRPr>
          </a:p>
          <a:p>
            <a:pPr marR="0" lvl="0" algn="l" defTabSz="914400" rtl="0" eaLnBrk="0" fontAlgn="base" latinLnBrk="0" hangingPunct="0">
              <a:lnSpc>
                <a:spcPct val="150000"/>
              </a:lnSpc>
              <a:spcBef>
                <a:spcPct val="0"/>
              </a:spcBef>
              <a:spcAft>
                <a:spcPct val="0"/>
              </a:spcAft>
              <a:buClrTx/>
              <a:buSzTx/>
              <a:tabLst/>
            </a:pPr>
            <a:r>
              <a:rPr kumimoji="0" lang="zh-CN" altLang="zh-CN" sz="2400" b="0" i="0" u="none" strike="noStrike" cap="none" normalizeH="0" baseline="0" dirty="0">
                <a:ln>
                  <a:noFill/>
                </a:ln>
                <a:solidFill>
                  <a:srgbClr val="FF0000"/>
                </a:solidFill>
                <a:effectLst/>
                <a:latin typeface="Arial" panose="020B0604020202020204" pitchFamily="34" charset="0"/>
              </a:rPr>
              <a:t>注意：</a:t>
            </a:r>
            <a:r>
              <a:rPr kumimoji="0" lang="zh-CN" altLang="zh-CN" sz="2400" b="0" i="0" u="none" strike="noStrike" cap="none" normalizeH="0" baseline="0" dirty="0">
                <a:ln>
                  <a:noFill/>
                </a:ln>
                <a:solidFill>
                  <a:schemeClr val="tx1"/>
                </a:solidFill>
                <a:effectLst/>
                <a:latin typeface="Arial" panose="020B0604020202020204" pitchFamily="34" charset="0"/>
              </a:rPr>
              <a:t>阀</a:t>
            </a:r>
            <a:r>
              <a:rPr kumimoji="0" lang="en-US" altLang="zh-CN" sz="2400" b="0" i="0" u="none" strike="noStrike" cap="none" normalizeH="0" baseline="0" dirty="0">
                <a:ln>
                  <a:noFill/>
                </a:ln>
                <a:solidFill>
                  <a:schemeClr val="tx1"/>
                </a:solidFill>
                <a:effectLst/>
                <a:latin typeface="Arial" panose="020B0604020202020204" pitchFamily="34" charset="0"/>
              </a:rPr>
              <a:t>2</a:t>
            </a:r>
            <a:r>
              <a:rPr kumimoji="0" lang="zh-CN" altLang="en-US" sz="2400" b="0" i="0" u="none" strike="noStrike" cap="none" normalizeH="0" baseline="0" dirty="0">
                <a:ln>
                  <a:noFill/>
                </a:ln>
                <a:solidFill>
                  <a:schemeClr val="tx1"/>
                </a:solidFill>
                <a:effectLst/>
                <a:latin typeface="Arial" panose="020B0604020202020204" pitchFamily="34" charset="0"/>
              </a:rPr>
              <a:t>和阀</a:t>
            </a:r>
            <a:r>
              <a:rPr kumimoji="0" lang="en-US" altLang="zh-CN" sz="2400" b="0" i="0" u="none" strike="noStrike" cap="none" normalizeH="0" baseline="0" dirty="0">
                <a:ln>
                  <a:noFill/>
                </a:ln>
                <a:solidFill>
                  <a:schemeClr val="tx1"/>
                </a:solidFill>
                <a:effectLst/>
                <a:latin typeface="Arial" panose="020B0604020202020204" pitchFamily="34" charset="0"/>
              </a:rPr>
              <a:t>3</a:t>
            </a:r>
            <a:r>
              <a:rPr kumimoji="0" lang="zh-CN" altLang="zh-CN" sz="2400" b="0" i="0" u="none" strike="noStrike" cap="none" normalizeH="0" baseline="0" dirty="0">
                <a:ln>
                  <a:noFill/>
                </a:ln>
                <a:solidFill>
                  <a:schemeClr val="tx1"/>
                </a:solidFill>
                <a:effectLst/>
                <a:latin typeface="Arial" panose="020B0604020202020204" pitchFamily="34" charset="0"/>
              </a:rPr>
              <a:t>的设定压力必须</a:t>
            </a:r>
            <a:r>
              <a:rPr kumimoji="0" lang="zh-CN" altLang="en-US" sz="2400" b="0" i="0" u="none" strike="noStrike" cap="none" normalizeH="0" baseline="0" dirty="0">
                <a:ln>
                  <a:noFill/>
                </a:ln>
                <a:solidFill>
                  <a:schemeClr val="tx1"/>
                </a:solidFill>
                <a:effectLst/>
                <a:latin typeface="Arial" panose="020B0604020202020204" pitchFamily="34" charset="0"/>
              </a:rPr>
              <a:t>都</a:t>
            </a:r>
            <a:r>
              <a:rPr kumimoji="0" lang="zh-CN" altLang="en-US" sz="2400" b="0" i="0" u="none" strike="noStrike" cap="none" normalizeH="0" baseline="0" dirty="0">
                <a:ln>
                  <a:noFill/>
                </a:ln>
                <a:solidFill>
                  <a:srgbClr val="FF0000"/>
                </a:solidFill>
                <a:effectLst/>
                <a:latin typeface="Arial" panose="020B0604020202020204" pitchFamily="34" charset="0"/>
              </a:rPr>
              <a:t>小</a:t>
            </a:r>
            <a:r>
              <a:rPr kumimoji="0" lang="zh-CN" altLang="zh-CN" sz="2400" b="0" i="0" u="none" strike="noStrike" cap="none" normalizeH="0" baseline="0" dirty="0">
                <a:ln>
                  <a:noFill/>
                </a:ln>
                <a:solidFill>
                  <a:srgbClr val="FF0000"/>
                </a:solidFill>
                <a:effectLst/>
                <a:latin typeface="Arial" panose="020B0604020202020204" pitchFamily="34" charset="0"/>
              </a:rPr>
              <a:t>于</a:t>
            </a:r>
            <a:r>
              <a:rPr kumimoji="0" lang="zh-CN" altLang="zh-CN" sz="2400" b="0" i="0" u="none" strike="noStrike" cap="none" normalizeH="0" baseline="0" dirty="0">
                <a:ln>
                  <a:noFill/>
                </a:ln>
                <a:solidFill>
                  <a:schemeClr val="tx1"/>
                </a:solidFill>
                <a:effectLst/>
                <a:latin typeface="Arial" panose="020B0604020202020204" pitchFamily="34" charset="0"/>
              </a:rPr>
              <a:t>阀</a:t>
            </a:r>
            <a:r>
              <a:rPr kumimoji="0" lang="en-US" altLang="zh-CN" sz="2400" b="0" i="0" u="none" strike="noStrike" cap="none" normalizeH="0" baseline="0" dirty="0">
                <a:ln>
                  <a:noFill/>
                </a:ln>
                <a:solidFill>
                  <a:schemeClr val="tx1"/>
                </a:solidFill>
                <a:effectLst/>
                <a:latin typeface="Arial" panose="020B0604020202020204" pitchFamily="34" charset="0"/>
              </a:rPr>
              <a:t>1</a:t>
            </a:r>
            <a:r>
              <a:rPr kumimoji="0" lang="zh-CN" altLang="zh-CN" sz="2400" b="0" i="0" u="none" strike="noStrike" cap="none" normalizeH="0" baseline="0" dirty="0">
                <a:ln>
                  <a:noFill/>
                </a:ln>
                <a:solidFill>
                  <a:schemeClr val="tx1"/>
                </a:solidFill>
                <a:effectLst/>
                <a:latin typeface="Arial" panose="020B0604020202020204" pitchFamily="34" charset="0"/>
              </a:rPr>
              <a:t>，否则无法实现有效切换。</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133890" y="5241881"/>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多级调压回路原理图</a:t>
            </a:r>
            <a:endParaRPr lang="zh-CN" altLang="en-US" sz="2000" dirty="0"/>
          </a:p>
        </p:txBody>
      </p:sp>
      <p:pic>
        <p:nvPicPr>
          <p:cNvPr id="3" name="Picture 5" descr="图5－1">
            <a:extLst>
              <a:ext uri="{FF2B5EF4-FFF2-40B4-BE49-F238E27FC236}">
                <a16:creationId xmlns:a16="http://schemas.microsoft.com/office/drawing/2014/main" id="{45643C7B-8322-23FB-BAE4-525E5502AD22}"/>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9247" r="24168" b="20293"/>
          <a:stretch>
            <a:fillRect/>
          </a:stretch>
        </p:blipFill>
        <p:spPr bwMode="auto">
          <a:xfrm>
            <a:off x="8224630" y="1119740"/>
            <a:ext cx="3143250" cy="4202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18795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2.1 </a:t>
            </a:r>
            <a:r>
              <a:rPr lang="zh-CN" altLang="en-US" sz="2800" b="1" dirty="0">
                <a:solidFill>
                  <a:srgbClr val="003F88"/>
                </a:solidFill>
                <a:latin typeface="+mn-ea"/>
              </a:rPr>
              <a:t>调压回路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4" y="1888883"/>
            <a:ext cx="7495716" cy="1514774"/>
          </a:xfrm>
          <a:prstGeom prst="rect">
            <a:avLst/>
          </a:prstGeom>
        </p:spPr>
        <p:txBody>
          <a:bodyPr wrap="square">
            <a:spAutoFit/>
          </a:bodyPr>
          <a:lstStyle/>
          <a:p>
            <a:pPr>
              <a:lnSpc>
                <a:spcPct val="150000"/>
              </a:lnSpc>
            </a:pPr>
            <a:r>
              <a:rPr lang="zh-CN" altLang="en-US" sz="2400" b="1" dirty="0"/>
              <a:t>比例调压回路：</a:t>
            </a:r>
            <a:endParaRPr kumimoji="0" lang="zh-CN" altLang="zh-CN" sz="24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lang="zh-CN" altLang="en-US" sz="2000" dirty="0"/>
              <a:t>通过调节</a:t>
            </a:r>
            <a:r>
              <a:rPr lang="zh-CN" altLang="en-US" sz="2000" dirty="0">
                <a:solidFill>
                  <a:srgbClr val="FF0000"/>
                </a:solidFill>
              </a:rPr>
              <a:t>先导型比例电磁溢流阀</a:t>
            </a:r>
            <a:r>
              <a:rPr lang="zh-CN" altLang="en-US" sz="2000" dirty="0"/>
              <a:t>的输入电流</a:t>
            </a:r>
            <a:r>
              <a:rPr lang="en-US" altLang="zh-CN" sz="2000" dirty="0"/>
              <a:t>I</a:t>
            </a:r>
            <a:r>
              <a:rPr lang="zh-CN" altLang="en-US" sz="2000" dirty="0"/>
              <a:t>，可以实现系统压力的</a:t>
            </a:r>
            <a:r>
              <a:rPr lang="zh-CN" altLang="en-US" sz="2000" dirty="0">
                <a:solidFill>
                  <a:srgbClr val="FF0000"/>
                </a:solidFill>
              </a:rPr>
              <a:t>无级调节</a:t>
            </a:r>
            <a:r>
              <a:rPr lang="zh-CN" altLang="en-US" sz="2000" dirty="0"/>
              <a:t>。输入电流的大小直接决定了系统的供油压力。</a:t>
            </a:r>
            <a:r>
              <a:rPr kumimoji="0" lang="zh-CN" altLang="zh-CN" sz="2000" b="0" i="0" u="none" strike="noStrike" cap="none" normalizeH="0" baseline="0" dirty="0">
                <a:ln>
                  <a:noFill/>
                </a:ln>
                <a:solidFill>
                  <a:schemeClr val="tx1"/>
                </a:solidFill>
                <a:effectLst/>
                <a:latin typeface="Arial" panose="020B0604020202020204" pitchFamily="34" charset="0"/>
              </a:rPr>
              <a:t> </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133890" y="5241881"/>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比例调压回路原理图</a:t>
            </a:r>
            <a:endParaRPr lang="zh-CN" altLang="en-US" sz="2000" dirty="0"/>
          </a:p>
        </p:txBody>
      </p:sp>
      <p:pic>
        <p:nvPicPr>
          <p:cNvPr id="2" name="Picture 5" descr="图5－1">
            <a:extLst>
              <a:ext uri="{FF2B5EF4-FFF2-40B4-BE49-F238E27FC236}">
                <a16:creationId xmlns:a16="http://schemas.microsoft.com/office/drawing/2014/main" id="{60442148-86B9-2DB3-21B5-74F6185C330E}"/>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5832" t="27026" r="1994" b="18468"/>
          <a:stretch>
            <a:fillRect/>
          </a:stretch>
        </p:blipFill>
        <p:spPr bwMode="auto">
          <a:xfrm>
            <a:off x="8388392" y="1555474"/>
            <a:ext cx="2605087" cy="3929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a:extLst>
              <a:ext uri="{FF2B5EF4-FFF2-40B4-BE49-F238E27FC236}">
                <a16:creationId xmlns:a16="http://schemas.microsoft.com/office/drawing/2014/main" id="{C44F0375-80DA-2BC8-C7EE-7310B0B693CB}"/>
              </a:ext>
            </a:extLst>
          </p:cNvPr>
          <p:cNvSpPr txBox="1"/>
          <p:nvPr/>
        </p:nvSpPr>
        <p:spPr>
          <a:xfrm>
            <a:off x="638174" y="3657915"/>
            <a:ext cx="7558296" cy="1884106"/>
          </a:xfrm>
          <a:prstGeom prst="rect">
            <a:avLst/>
          </a:prstGeom>
          <a:noFill/>
        </p:spPr>
        <p:txBody>
          <a:bodyPr wrap="square" rtlCol="0">
            <a:spAutoFit/>
          </a:bodyPr>
          <a:lstStyle/>
          <a:p>
            <a:pPr marR="0" lvl="0" algn="l" defTabSz="914400" rtl="0" eaLnBrk="0" fontAlgn="base" latinLnBrk="0" hangingPunct="0">
              <a:lnSpc>
                <a:spcPct val="150000"/>
              </a:lnSpc>
              <a:spcBef>
                <a:spcPct val="0"/>
              </a:spcBef>
              <a:spcAft>
                <a:spcPct val="0"/>
              </a:spcAft>
              <a:buClrTx/>
              <a:buSzTx/>
              <a:tabLst/>
            </a:pPr>
            <a:r>
              <a:rPr kumimoji="0" lang="zh-CN" altLang="en-US" sz="2000" b="1" i="0" u="none" strike="noStrike" cap="none" normalizeH="0" baseline="0" dirty="0">
                <a:ln>
                  <a:noFill/>
                </a:ln>
                <a:solidFill>
                  <a:srgbClr val="FF0000"/>
                </a:solidFill>
                <a:effectLst/>
                <a:latin typeface="Arial" panose="020B0604020202020204" pitchFamily="34" charset="0"/>
              </a:rPr>
              <a:t>特点：</a:t>
            </a:r>
            <a:endParaRPr kumimoji="0" lang="en-US" altLang="zh-CN" sz="2000" b="1" i="0" u="none" strike="noStrike" cap="none" normalizeH="0" baseline="0" dirty="0">
              <a:ln>
                <a:noFill/>
              </a:ln>
              <a:solidFill>
                <a:srgbClr val="FF0000"/>
              </a:solidFill>
              <a:effectLst/>
              <a:latin typeface="Arial" panose="020B0604020202020204" pitchFamily="34" charset="0"/>
            </a:endParaRP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结构简单，便于安装和维护。</a:t>
            </a: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压力切换</a:t>
            </a:r>
            <a:r>
              <a:rPr kumimoji="0" lang="zh-CN" altLang="zh-CN" sz="2000" b="0" i="0" u="none" strike="noStrike" cap="none" normalizeH="0" baseline="0" dirty="0">
                <a:ln>
                  <a:noFill/>
                </a:ln>
                <a:effectLst/>
                <a:latin typeface="Arial" panose="020B0604020202020204" pitchFamily="34" charset="0"/>
              </a:rPr>
              <a:t>平稳</a:t>
            </a:r>
            <a:r>
              <a:rPr lang="zh-CN" altLang="en-US" sz="2000" dirty="0">
                <a:latin typeface="Arial" panose="020B0604020202020204" pitchFamily="34" charset="0"/>
              </a:rPr>
              <a:t>、迅速，</a:t>
            </a:r>
            <a:r>
              <a:rPr kumimoji="0" lang="zh-CN" altLang="zh-CN" sz="2000" b="0" i="0" u="none" strike="noStrike" cap="none" normalizeH="0" baseline="0" dirty="0">
                <a:ln>
                  <a:noFill/>
                </a:ln>
                <a:solidFill>
                  <a:schemeClr val="tx1"/>
                </a:solidFill>
                <a:effectLst/>
                <a:latin typeface="Arial" panose="020B0604020202020204" pitchFamily="34" charset="0"/>
              </a:rPr>
              <a:t>能够有效保证系统运行的稳定性。</a:t>
            </a: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zh-CN" altLang="zh-CN" sz="2000" b="0" i="0" u="none" strike="noStrike" cap="none" normalizeH="0" baseline="0" dirty="0">
                <a:ln>
                  <a:noFill/>
                </a:ln>
                <a:solidFill>
                  <a:schemeClr val="tx1"/>
                </a:solidFill>
                <a:effectLst/>
                <a:latin typeface="Arial" panose="020B0604020202020204" pitchFamily="34" charset="0"/>
              </a:rPr>
              <a:t>便于实现远距离控制或程序化控制，适用于复杂自动化系统。</a:t>
            </a:r>
          </a:p>
        </p:txBody>
      </p:sp>
    </p:spTree>
    <p:extLst>
      <p:ext uri="{BB962C8B-B14F-4D97-AF65-F5344CB8AC3E}">
        <p14:creationId xmlns:p14="http://schemas.microsoft.com/office/powerpoint/2010/main" val="297190435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2.2 </a:t>
            </a:r>
            <a:r>
              <a:rPr lang="zh-CN" altLang="en-US" sz="2800" b="1" dirty="0">
                <a:solidFill>
                  <a:srgbClr val="003F88"/>
                </a:solidFill>
                <a:latin typeface="+mn-ea"/>
              </a:rPr>
              <a:t>减压回路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4" y="1888883"/>
            <a:ext cx="7150795" cy="960776"/>
          </a:xfrm>
          <a:prstGeom prst="rect">
            <a:avLst/>
          </a:prstGeom>
        </p:spPr>
        <p:txBody>
          <a:bodyPr wrap="square">
            <a:spAutoFit/>
          </a:bodyPr>
          <a:lstStyle/>
          <a:p>
            <a:pPr marR="0" lvl="0" algn="l" defTabSz="914400" rtl="0" eaLnBrk="0" fontAlgn="base" latinLnBrk="0" hangingPunct="0">
              <a:lnSpc>
                <a:spcPct val="150000"/>
              </a:lnSpc>
              <a:spcBef>
                <a:spcPct val="0"/>
              </a:spcBef>
              <a:spcAft>
                <a:spcPct val="0"/>
              </a:spcAft>
              <a:buClrTx/>
              <a:buSzTx/>
              <a:tabLst/>
            </a:pPr>
            <a:r>
              <a:rPr lang="zh-CN" altLang="en-US" sz="2000" dirty="0">
                <a:solidFill>
                  <a:srgbClr val="FF0000"/>
                </a:solidFill>
              </a:rPr>
              <a:t>减压回路的作用</a:t>
            </a:r>
            <a:r>
              <a:rPr lang="zh-CN" altLang="en-US" sz="2000" dirty="0"/>
              <a:t>是使系统中某一部分油路保持</a:t>
            </a:r>
            <a:r>
              <a:rPr lang="zh-CN" altLang="en-US" sz="2000" dirty="0">
                <a:solidFill>
                  <a:srgbClr val="FF0000"/>
                </a:solidFill>
              </a:rPr>
              <a:t>比主系统压力低</a:t>
            </a:r>
            <a:r>
              <a:rPr lang="zh-CN" altLang="en-US" sz="2000" dirty="0"/>
              <a:t>且</a:t>
            </a:r>
            <a:r>
              <a:rPr lang="zh-CN" altLang="en-US" sz="2000" dirty="0">
                <a:solidFill>
                  <a:srgbClr val="FF0000"/>
                </a:solidFill>
              </a:rPr>
              <a:t>稳定</a:t>
            </a:r>
            <a:r>
              <a:rPr lang="zh-CN" altLang="en-US" sz="2000" dirty="0"/>
              <a:t>的压力。</a:t>
            </a:r>
            <a:endParaRPr lang="en-US" altLang="zh-CN" sz="2000" dirty="0"/>
          </a:p>
        </p:txBody>
      </p:sp>
      <p:sp>
        <p:nvSpPr>
          <p:cNvPr id="6" name="文本框 5">
            <a:extLst>
              <a:ext uri="{FF2B5EF4-FFF2-40B4-BE49-F238E27FC236}">
                <a16:creationId xmlns:a16="http://schemas.microsoft.com/office/drawing/2014/main" id="{912B0CE9-3B00-DFCB-449D-C513714F09D8}"/>
              </a:ext>
            </a:extLst>
          </p:cNvPr>
          <p:cNvSpPr txBox="1"/>
          <p:nvPr/>
        </p:nvSpPr>
        <p:spPr>
          <a:xfrm>
            <a:off x="8673632" y="5603575"/>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减压回路原理图</a:t>
            </a:r>
            <a:endParaRPr lang="zh-CN" altLang="en-US" sz="2000" dirty="0"/>
          </a:p>
        </p:txBody>
      </p:sp>
      <p:sp>
        <p:nvSpPr>
          <p:cNvPr id="17" name="矩形 18">
            <a:extLst>
              <a:ext uri="{FF2B5EF4-FFF2-40B4-BE49-F238E27FC236}">
                <a16:creationId xmlns:a16="http://schemas.microsoft.com/office/drawing/2014/main" id="{3B17B6A6-B7C6-2D2C-53C7-8D4B1523183B}"/>
              </a:ext>
            </a:extLst>
          </p:cNvPr>
          <p:cNvSpPr/>
          <p:nvPr/>
        </p:nvSpPr>
        <p:spPr>
          <a:xfrm>
            <a:off x="638174" y="2969483"/>
            <a:ext cx="7085904" cy="1884618"/>
          </a:xfrm>
          <a:prstGeom prst="rect">
            <a:avLst/>
          </a:prstGeom>
        </p:spPr>
        <p:txBody>
          <a:bodyPr wrap="square">
            <a:spAutoFit/>
          </a:bodyPr>
          <a:lstStyle/>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如图所示，最常见的减压回路通过</a:t>
            </a:r>
            <a:r>
              <a:rPr lang="zh-CN" altLang="en-US" sz="2000" dirty="0">
                <a:solidFill>
                  <a:srgbClr val="FF0000"/>
                </a:solidFill>
              </a:rPr>
              <a:t>定值减压阀</a:t>
            </a:r>
            <a:r>
              <a:rPr lang="zh-CN" altLang="en-US" sz="2000" dirty="0"/>
              <a:t>连接到主油路。当主油路压力下降至低于减压阀设定压力时，回路中的</a:t>
            </a:r>
            <a:r>
              <a:rPr lang="zh-CN" altLang="en-US" sz="2000" dirty="0">
                <a:solidFill>
                  <a:srgbClr val="FF0000"/>
                </a:solidFill>
              </a:rPr>
              <a:t>单向阀可防止油液倒流</a:t>
            </a:r>
            <a:r>
              <a:rPr lang="zh-CN" altLang="en-US" sz="2000" dirty="0"/>
              <a:t>，起到短时保压的作用。需要注意的是，</a:t>
            </a:r>
            <a:r>
              <a:rPr lang="zh-CN" altLang="en-US" sz="2000" dirty="0">
                <a:solidFill>
                  <a:srgbClr val="FF0000"/>
                </a:solidFill>
              </a:rPr>
              <a:t>供油压力不得低于减压阀进口的最低压力要求</a:t>
            </a:r>
            <a:r>
              <a:rPr lang="zh-CN" altLang="en-US" sz="2000" dirty="0"/>
              <a:t>。</a:t>
            </a:r>
            <a:endParaRPr lang="en-US" altLang="zh-CN" sz="2000" kern="0" dirty="0">
              <a:latin typeface="微软雅黑" panose="020B0503020204020204" pitchFamily="34" charset="-122"/>
              <a:ea typeface="微软雅黑" panose="020B0503020204020204" pitchFamily="34" charset="-122"/>
            </a:endParaRPr>
          </a:p>
        </p:txBody>
      </p:sp>
      <p:grpSp>
        <p:nvGrpSpPr>
          <p:cNvPr id="3" name="Group 2">
            <a:extLst>
              <a:ext uri="{FF2B5EF4-FFF2-40B4-BE49-F238E27FC236}">
                <a16:creationId xmlns:a16="http://schemas.microsoft.com/office/drawing/2014/main" id="{8EA8B95F-158D-B71C-34B4-9DB150606C80}"/>
              </a:ext>
            </a:extLst>
          </p:cNvPr>
          <p:cNvGrpSpPr/>
          <p:nvPr/>
        </p:nvGrpSpPr>
        <p:grpSpPr>
          <a:xfrm>
            <a:off x="8311375" y="1590639"/>
            <a:ext cx="3595295" cy="3830459"/>
            <a:chOff x="8428523" y="2040450"/>
            <a:chExt cx="3359201" cy="3559068"/>
          </a:xfrm>
        </p:grpSpPr>
        <p:pic>
          <p:nvPicPr>
            <p:cNvPr id="15" name="Picture 14">
              <a:extLst>
                <a:ext uri="{FF2B5EF4-FFF2-40B4-BE49-F238E27FC236}">
                  <a16:creationId xmlns:a16="http://schemas.microsoft.com/office/drawing/2014/main" id="{81B9F90A-1347-B91C-59A4-45D2E2B50719}"/>
                </a:ext>
              </a:extLst>
            </p:cNvPr>
            <p:cNvPicPr>
              <a:picLocks noChangeAspect="1"/>
            </p:cNvPicPr>
            <p:nvPr/>
          </p:nvPicPr>
          <p:blipFill>
            <a:blip r:embed="rId3"/>
            <a:srcRect r="53267"/>
            <a:stretch/>
          </p:blipFill>
          <p:spPr>
            <a:xfrm>
              <a:off x="8428523" y="2040450"/>
              <a:ext cx="3151421" cy="3559068"/>
            </a:xfrm>
            <a:prstGeom prst="rect">
              <a:avLst/>
            </a:prstGeom>
          </p:spPr>
        </p:pic>
        <p:sp>
          <p:nvSpPr>
            <p:cNvPr id="2" name="Rectangle 1">
              <a:extLst>
                <a:ext uri="{FF2B5EF4-FFF2-40B4-BE49-F238E27FC236}">
                  <a16:creationId xmlns:a16="http://schemas.microsoft.com/office/drawing/2014/main" id="{C3200E19-788D-D23D-2AD3-8AA63EBAE6C8}"/>
                </a:ext>
              </a:extLst>
            </p:cNvPr>
            <p:cNvSpPr/>
            <p:nvPr/>
          </p:nvSpPr>
          <p:spPr>
            <a:xfrm>
              <a:off x="11047141" y="3137212"/>
              <a:ext cx="740583" cy="4906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7246458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2.2 </a:t>
            </a:r>
            <a:r>
              <a:rPr lang="zh-CN" altLang="en-US" sz="2800" b="1" dirty="0">
                <a:solidFill>
                  <a:srgbClr val="003F88"/>
                </a:solidFill>
                <a:latin typeface="+mn-ea"/>
              </a:rPr>
              <a:t>减压回路</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447188" y="5603575"/>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减压回路原理图</a:t>
            </a:r>
            <a:endParaRPr lang="zh-CN" altLang="en-US" sz="2000" dirty="0"/>
          </a:p>
        </p:txBody>
      </p:sp>
      <p:sp>
        <p:nvSpPr>
          <p:cNvPr id="18" name="TextBox 17">
            <a:extLst>
              <a:ext uri="{FF2B5EF4-FFF2-40B4-BE49-F238E27FC236}">
                <a16:creationId xmlns:a16="http://schemas.microsoft.com/office/drawing/2014/main" id="{ACC6B972-A567-CC58-A92B-096AA7BB4AE2}"/>
              </a:ext>
            </a:extLst>
          </p:cNvPr>
          <p:cNvSpPr txBox="1"/>
          <p:nvPr/>
        </p:nvSpPr>
        <p:spPr>
          <a:xfrm>
            <a:off x="540866" y="3523481"/>
            <a:ext cx="7681300" cy="1965410"/>
          </a:xfrm>
          <a:prstGeom prst="rect">
            <a:avLst/>
          </a:prstGeom>
          <a:noFill/>
        </p:spPr>
        <p:txBody>
          <a:bodyPr wrap="square" rtlCol="0">
            <a:spAutoFit/>
          </a:bodyPr>
          <a:lstStyle/>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lang="zh-CN" altLang="en-US" sz="2000" dirty="0"/>
              <a:t>如图所示，通过将先导型减压阀</a:t>
            </a:r>
            <a:r>
              <a:rPr lang="en-US" altLang="zh-CN" sz="2000" dirty="0"/>
              <a:t>1</a:t>
            </a:r>
            <a:r>
              <a:rPr lang="zh-CN" altLang="en-US" sz="2000" dirty="0"/>
              <a:t>的远控口连接至远控溢流阀</a:t>
            </a:r>
            <a:r>
              <a:rPr lang="en-US" altLang="zh-CN" sz="2000" dirty="0"/>
              <a:t>2</a:t>
            </a:r>
            <a:r>
              <a:rPr lang="zh-CN" altLang="en-US" sz="2000" dirty="0"/>
              <a:t>，阀</a:t>
            </a:r>
            <a:r>
              <a:rPr lang="en-US" altLang="zh-CN" sz="2000" dirty="0"/>
              <a:t>1</a:t>
            </a:r>
            <a:r>
              <a:rPr lang="zh-CN" altLang="en-US" sz="2000" dirty="0"/>
              <a:t>和阀</a:t>
            </a:r>
            <a:r>
              <a:rPr lang="en-US" altLang="zh-CN" sz="2000" dirty="0"/>
              <a:t>2</a:t>
            </a:r>
            <a:r>
              <a:rPr lang="zh-CN" altLang="en-US" sz="2000" dirty="0"/>
              <a:t>可分别调节至不同的低压压力，实现二级低压控制。</a:t>
            </a:r>
            <a:endParaRPr lang="en-US" altLang="zh-CN" sz="2000" dirty="0"/>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endParaRPr lang="en-US" altLang="zh-CN" sz="2000" dirty="0"/>
          </a:p>
          <a:p>
            <a:pPr marR="0" lvl="0" algn="l" defTabSz="914400" rtl="0" eaLnBrk="0" fontAlgn="base" latinLnBrk="0" hangingPunct="0">
              <a:lnSpc>
                <a:spcPct val="150000"/>
              </a:lnSpc>
              <a:spcBef>
                <a:spcPct val="0"/>
              </a:spcBef>
              <a:spcAft>
                <a:spcPct val="0"/>
              </a:spcAft>
              <a:buClrTx/>
              <a:buSzTx/>
              <a:tabLst/>
            </a:pPr>
            <a:r>
              <a:rPr kumimoji="0" lang="zh-CN" altLang="en-US" sz="2400" i="0" u="none" strike="noStrike" cap="none" normalizeH="0" baseline="0" dirty="0">
                <a:ln>
                  <a:noFill/>
                </a:ln>
                <a:solidFill>
                  <a:srgbClr val="FF0000"/>
                </a:solidFill>
                <a:effectLst/>
                <a:latin typeface="Arial" panose="020B0604020202020204" pitchFamily="34" charset="0"/>
              </a:rPr>
              <a:t>注意</a:t>
            </a:r>
            <a:r>
              <a:rPr kumimoji="0" lang="zh-CN" altLang="en-US" sz="2400" i="0" u="none" strike="noStrike" cap="none" normalizeH="0" baseline="0" dirty="0">
                <a:ln>
                  <a:noFill/>
                </a:ln>
                <a:effectLst/>
                <a:latin typeface="Arial" panose="020B0604020202020204" pitchFamily="34" charset="0"/>
              </a:rPr>
              <a:t>：阀</a:t>
            </a:r>
            <a:r>
              <a:rPr kumimoji="0" lang="en-US" altLang="zh-CN" sz="2400" i="0" u="none" strike="noStrike" cap="none" normalizeH="0" baseline="0" dirty="0">
                <a:ln>
                  <a:noFill/>
                </a:ln>
                <a:effectLst/>
                <a:latin typeface="Arial" panose="020B0604020202020204" pitchFamily="34" charset="0"/>
              </a:rPr>
              <a:t>2</a:t>
            </a:r>
            <a:r>
              <a:rPr kumimoji="0" lang="zh-CN" altLang="en-US" sz="2400" i="0" u="none" strike="noStrike" cap="none" normalizeH="0" baseline="0" dirty="0">
                <a:ln>
                  <a:noFill/>
                </a:ln>
                <a:effectLst/>
                <a:latin typeface="Arial" panose="020B0604020202020204" pitchFamily="34" charset="0"/>
              </a:rPr>
              <a:t>的设定压力值一定要低于阀</a:t>
            </a:r>
            <a:r>
              <a:rPr kumimoji="0" lang="en-US" altLang="zh-CN" sz="2400" i="0" u="none" strike="noStrike" cap="none" normalizeH="0" baseline="0" dirty="0">
                <a:ln>
                  <a:noFill/>
                </a:ln>
                <a:effectLst/>
                <a:latin typeface="Arial" panose="020B0604020202020204" pitchFamily="34" charset="0"/>
              </a:rPr>
              <a:t>1</a:t>
            </a:r>
            <a:r>
              <a:rPr kumimoji="0" lang="zh-CN" altLang="en-US" sz="2400" i="0" u="none" strike="noStrike" cap="none" normalizeH="0" baseline="0" dirty="0">
                <a:ln>
                  <a:noFill/>
                </a:ln>
                <a:effectLst/>
                <a:latin typeface="Arial" panose="020B0604020202020204" pitchFamily="34" charset="0"/>
              </a:rPr>
              <a:t>的设定压力值。 </a:t>
            </a:r>
          </a:p>
        </p:txBody>
      </p:sp>
      <p:grpSp>
        <p:nvGrpSpPr>
          <p:cNvPr id="3" name="Group 2">
            <a:extLst>
              <a:ext uri="{FF2B5EF4-FFF2-40B4-BE49-F238E27FC236}">
                <a16:creationId xmlns:a16="http://schemas.microsoft.com/office/drawing/2014/main" id="{B074C0F3-F532-23C5-0508-D7333F7580CF}"/>
              </a:ext>
            </a:extLst>
          </p:cNvPr>
          <p:cNvGrpSpPr/>
          <p:nvPr/>
        </p:nvGrpSpPr>
        <p:grpSpPr>
          <a:xfrm>
            <a:off x="7691661" y="1577902"/>
            <a:ext cx="4254221" cy="3979551"/>
            <a:chOff x="8906106" y="3602792"/>
            <a:chExt cx="2849167" cy="2447325"/>
          </a:xfrm>
        </p:grpSpPr>
        <p:pic>
          <p:nvPicPr>
            <p:cNvPr id="15" name="Picture 14">
              <a:extLst>
                <a:ext uri="{FF2B5EF4-FFF2-40B4-BE49-F238E27FC236}">
                  <a16:creationId xmlns:a16="http://schemas.microsoft.com/office/drawing/2014/main" id="{81B9F90A-1347-B91C-59A4-45D2E2B50719}"/>
                </a:ext>
              </a:extLst>
            </p:cNvPr>
            <p:cNvPicPr>
              <a:picLocks noChangeAspect="1"/>
            </p:cNvPicPr>
            <p:nvPr/>
          </p:nvPicPr>
          <p:blipFill>
            <a:blip r:embed="rId3"/>
            <a:srcRect l="38556"/>
            <a:stretch/>
          </p:blipFill>
          <p:spPr>
            <a:xfrm>
              <a:off x="8906107" y="3602792"/>
              <a:ext cx="2849166" cy="2447325"/>
            </a:xfrm>
            <a:prstGeom prst="rect">
              <a:avLst/>
            </a:prstGeom>
          </p:spPr>
        </p:pic>
        <p:sp>
          <p:nvSpPr>
            <p:cNvPr id="2" name="Rectangle 1">
              <a:extLst>
                <a:ext uri="{FF2B5EF4-FFF2-40B4-BE49-F238E27FC236}">
                  <a16:creationId xmlns:a16="http://schemas.microsoft.com/office/drawing/2014/main" id="{C0BAF777-52DB-81AC-623A-D10663206EAE}"/>
                </a:ext>
              </a:extLst>
            </p:cNvPr>
            <p:cNvSpPr/>
            <p:nvPr/>
          </p:nvSpPr>
          <p:spPr>
            <a:xfrm>
              <a:off x="8906106" y="3809285"/>
              <a:ext cx="264799" cy="4906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 name="矩形 18">
            <a:extLst>
              <a:ext uri="{FF2B5EF4-FFF2-40B4-BE49-F238E27FC236}">
                <a16:creationId xmlns:a16="http://schemas.microsoft.com/office/drawing/2014/main" id="{05A2B84C-0D32-C5B1-1B9B-8358AB1122ED}"/>
              </a:ext>
            </a:extLst>
          </p:cNvPr>
          <p:cNvSpPr/>
          <p:nvPr/>
        </p:nvSpPr>
        <p:spPr>
          <a:xfrm>
            <a:off x="638174" y="1888883"/>
            <a:ext cx="7150795" cy="1514774"/>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dirty="0"/>
              <a:t>二级减压回路：</a:t>
            </a:r>
            <a:endParaRPr kumimoji="0" lang="zh-CN" altLang="zh-CN" sz="24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pPr>
            <a:r>
              <a:rPr kumimoji="0" lang="zh-CN" altLang="en-US" sz="2000" i="0" u="none" strike="noStrike" cap="none" normalizeH="0" baseline="0" dirty="0">
                <a:ln>
                  <a:noFill/>
                </a:ln>
                <a:effectLst/>
                <a:latin typeface="Arial" panose="020B0604020202020204" pitchFamily="34" charset="0"/>
              </a:rPr>
              <a:t>减压回路中也可以采用类似二级或多级调压的方法获得二级或多级减压</a:t>
            </a:r>
            <a:r>
              <a:rPr lang="zh-CN" altLang="en-US" sz="2000" dirty="0">
                <a:latin typeface="Arial" panose="020B0604020202020204" pitchFamily="34" charset="0"/>
              </a:rPr>
              <a:t>，</a:t>
            </a:r>
            <a:r>
              <a:rPr lang="zh-CN" altLang="en-US" sz="2000" kern="0" dirty="0">
                <a:latin typeface="微软雅黑" panose="020B0503020204020204" pitchFamily="34" charset="-122"/>
                <a:ea typeface="微软雅黑" panose="020B0503020204020204" pitchFamily="34" charset="-122"/>
              </a:rPr>
              <a:t>也可采用比例减压阀实现无极减压</a:t>
            </a:r>
            <a:r>
              <a:rPr kumimoji="0" lang="zh-CN" altLang="en-US" sz="2000" i="0" u="none" strike="noStrike" cap="none" normalizeH="0" baseline="0" dirty="0">
                <a:ln>
                  <a:noFill/>
                </a:ln>
                <a:effectLst/>
                <a:latin typeface="Arial" panose="020B0604020202020204" pitchFamily="34" charset="0"/>
              </a:rPr>
              <a:t>。</a:t>
            </a:r>
          </a:p>
        </p:txBody>
      </p:sp>
    </p:spTree>
    <p:extLst>
      <p:ext uri="{BB962C8B-B14F-4D97-AF65-F5344CB8AC3E}">
        <p14:creationId xmlns:p14="http://schemas.microsoft.com/office/powerpoint/2010/main" val="239460764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2.3 </a:t>
            </a:r>
            <a:r>
              <a:rPr lang="zh-CN" altLang="en-US" sz="2800" b="1" dirty="0">
                <a:solidFill>
                  <a:srgbClr val="003F88"/>
                </a:solidFill>
                <a:latin typeface="+mn-ea"/>
              </a:rPr>
              <a:t>增压回路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3" y="1888883"/>
            <a:ext cx="11071605" cy="1422441"/>
          </a:xfrm>
          <a:prstGeom prst="rect">
            <a:avLst/>
          </a:prstGeom>
        </p:spPr>
        <p:txBody>
          <a:bodyPr wrap="square">
            <a:spAutoFit/>
          </a:bodyPr>
          <a:lstStyle/>
          <a:p>
            <a:pPr marR="0" lvl="0" algn="l" defTabSz="914400" rtl="0" eaLnBrk="0" fontAlgn="base" latinLnBrk="0" hangingPunct="0">
              <a:lnSpc>
                <a:spcPct val="150000"/>
              </a:lnSpc>
              <a:spcBef>
                <a:spcPct val="0"/>
              </a:spcBef>
              <a:spcAft>
                <a:spcPct val="0"/>
              </a:spcAft>
              <a:buClrTx/>
              <a:buSzTx/>
              <a:tabLst/>
            </a:pPr>
            <a:r>
              <a:rPr kumimoji="0" lang="zh-CN" altLang="en-US" sz="2000" b="0" i="0" u="none" strike="noStrike" cap="none" normalizeH="0" baseline="0" dirty="0">
                <a:ln>
                  <a:noFill/>
                </a:ln>
                <a:solidFill>
                  <a:schemeClr val="tx1"/>
                </a:solidFill>
                <a:effectLst/>
                <a:latin typeface="Arial" panose="020B0604020202020204" pitchFamily="34" charset="0"/>
              </a:rPr>
              <a:t>如果系统或系统的某一支油路需要</a:t>
            </a:r>
            <a:r>
              <a:rPr kumimoji="0" lang="zh-CN" altLang="en-US" sz="2000" b="0" i="0" u="none" strike="noStrike" cap="none" normalizeH="0" baseline="0" dirty="0">
                <a:ln>
                  <a:noFill/>
                </a:ln>
                <a:solidFill>
                  <a:srgbClr val="FF0000"/>
                </a:solidFill>
                <a:effectLst/>
                <a:latin typeface="Arial" panose="020B0604020202020204" pitchFamily="34" charset="0"/>
              </a:rPr>
              <a:t>压力较高</a:t>
            </a:r>
            <a:r>
              <a:rPr kumimoji="0" lang="zh-CN" altLang="en-US" sz="2000" b="0" i="0" u="none" strike="noStrike" cap="none" normalizeH="0" baseline="0" dirty="0">
                <a:ln>
                  <a:noFill/>
                </a:ln>
                <a:solidFill>
                  <a:schemeClr val="tx1"/>
                </a:solidFill>
                <a:effectLst/>
                <a:latin typeface="Arial" panose="020B0604020202020204" pitchFamily="34" charset="0"/>
              </a:rPr>
              <a:t>但</a:t>
            </a:r>
            <a:r>
              <a:rPr kumimoji="0" lang="zh-CN" altLang="en-US" sz="2000" b="0" i="0" u="none" strike="noStrike" cap="none" normalizeH="0" baseline="0" dirty="0">
                <a:ln>
                  <a:noFill/>
                </a:ln>
                <a:solidFill>
                  <a:srgbClr val="FF0000"/>
                </a:solidFill>
                <a:effectLst/>
                <a:latin typeface="Arial" panose="020B0604020202020204" pitchFamily="34" charset="0"/>
              </a:rPr>
              <a:t>流量又不大</a:t>
            </a:r>
            <a:r>
              <a:rPr kumimoji="0" lang="zh-CN" altLang="en-US" sz="2000" b="0" i="0" u="none" strike="noStrike" cap="none" normalizeH="0" baseline="0" dirty="0">
                <a:ln>
                  <a:noFill/>
                </a:ln>
                <a:solidFill>
                  <a:schemeClr val="tx1"/>
                </a:solidFill>
                <a:effectLst/>
                <a:latin typeface="Arial" panose="020B0604020202020204" pitchFamily="34" charset="0"/>
              </a:rPr>
              <a:t>的压力油，而采用高压泵又不经济，或者根本就没有必要增设高压力的液压泵时，就常采用增压回路，这样不仅易于选择液压泵，而且系统工作较可靠，噪声小。增压回路中提高压力的主要元件是</a:t>
            </a:r>
            <a:r>
              <a:rPr kumimoji="0" lang="zh-CN" altLang="en-US" sz="2000" b="0" i="0" u="none" strike="noStrike" cap="none" normalizeH="0" baseline="0" dirty="0">
                <a:ln>
                  <a:noFill/>
                </a:ln>
                <a:solidFill>
                  <a:srgbClr val="FF0000"/>
                </a:solidFill>
                <a:effectLst/>
                <a:latin typeface="Arial" panose="020B0604020202020204" pitchFamily="34" charset="0"/>
              </a:rPr>
              <a:t>增压缸</a:t>
            </a:r>
            <a:r>
              <a:rPr kumimoji="0" lang="zh-CN" altLang="en-US" sz="2000" b="0" i="0" u="none" strike="noStrike" cap="none" normalizeH="0" baseline="0" dirty="0">
                <a:ln>
                  <a:noFill/>
                </a:ln>
                <a:solidFill>
                  <a:schemeClr val="tx1"/>
                </a:solidFill>
                <a:effectLst/>
                <a:latin typeface="Arial" panose="020B0604020202020204" pitchFamily="34" charset="0"/>
              </a:rPr>
              <a:t>或</a:t>
            </a:r>
            <a:r>
              <a:rPr kumimoji="0" lang="zh-CN" altLang="en-US" sz="2000" b="0" i="0" u="none" strike="noStrike" cap="none" normalizeH="0" baseline="0" dirty="0">
                <a:ln>
                  <a:noFill/>
                </a:ln>
                <a:solidFill>
                  <a:srgbClr val="FF0000"/>
                </a:solidFill>
                <a:effectLst/>
                <a:latin typeface="Arial" panose="020B0604020202020204" pitchFamily="34" charset="0"/>
              </a:rPr>
              <a:t>增压器</a:t>
            </a:r>
            <a:r>
              <a:rPr kumimoji="0" lang="zh-CN" altLang="en-US" sz="2000" b="0" i="0" u="none" strike="noStrike" cap="none" normalizeH="0" baseline="0" dirty="0">
                <a:ln>
                  <a:noFill/>
                </a:ln>
                <a:solidFill>
                  <a:schemeClr val="tx1"/>
                </a:solidFill>
                <a:effectLst/>
                <a:latin typeface="Arial" panose="020B0604020202020204" pitchFamily="34" charset="0"/>
              </a:rPr>
              <a:t>。</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163503" y="6327421"/>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单作用增压回路原理图</a:t>
            </a:r>
            <a:endParaRPr lang="zh-CN" altLang="en-US"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44F0375-80DA-2BC8-C7EE-7310B0B693CB}"/>
                  </a:ext>
                </a:extLst>
              </p:cNvPr>
              <p:cNvSpPr txBox="1"/>
              <p:nvPr/>
            </p:nvSpPr>
            <p:spPr>
              <a:xfrm>
                <a:off x="634735" y="3429000"/>
                <a:ext cx="7256727" cy="3151440"/>
              </a:xfrm>
              <a:prstGeom prst="rect">
                <a:avLst/>
              </a:prstGeom>
              <a:noFill/>
            </p:spPr>
            <p:txBody>
              <a:bodyPr wrap="square" rtlCol="0">
                <a:spAutoFit/>
              </a:bodyPr>
              <a:lstStyle/>
              <a:p>
                <a:pPr algn="just">
                  <a:lnSpc>
                    <a:spcPct val="150000"/>
                  </a:lnSpc>
                  <a:spcBef>
                    <a:spcPts val="0"/>
                  </a:spcBef>
                </a:pPr>
                <a:r>
                  <a:rPr lang="zh-CN" altLang="en-US" sz="2400" b="1" kern="0" dirty="0">
                    <a:latin typeface="微软雅黑" panose="020B0503020204020204" pitchFamily="34" charset="-122"/>
                    <a:ea typeface="微软雅黑" panose="020B0503020204020204" pitchFamily="34" charset="-122"/>
                  </a:rPr>
                  <a:t>单作用增压缸：</a:t>
                </a:r>
                <a:endParaRPr lang="en-US" altLang="zh-CN" sz="2400" b="1" kern="0" dirty="0">
                  <a:latin typeface="+mn-ea"/>
                </a:endParaRPr>
              </a:p>
              <a:p>
                <a:pPr marL="342900" indent="-342900" algn="just">
                  <a:lnSpc>
                    <a:spcPct val="150000"/>
                  </a:lnSpc>
                  <a:spcBef>
                    <a:spcPts val="0"/>
                  </a:spcBef>
                  <a:buFont typeface="Wingdings" panose="05000000000000000000" pitchFamily="2" charset="2"/>
                  <a:buChar char="Ø"/>
                </a:pPr>
                <a:r>
                  <a:rPr lang="zh-CN" altLang="en-US" sz="2000" kern="0" dirty="0">
                    <a:latin typeface="+mn-ea"/>
                  </a:rPr>
                  <a:t>换向阀得电，换向阀处于右位，活塞杆</a:t>
                </a:r>
                <a:r>
                  <a:rPr lang="zh-CN" altLang="en-US" sz="2000" kern="0" dirty="0">
                    <a:solidFill>
                      <a:srgbClr val="FF0000"/>
                    </a:solidFill>
                    <a:latin typeface="+mn-ea"/>
                  </a:rPr>
                  <a:t>右移</a:t>
                </a:r>
                <a:r>
                  <a:rPr lang="zh-CN" altLang="en-US" sz="2000" kern="0" dirty="0">
                    <a:latin typeface="+mn-ea"/>
                  </a:rPr>
                  <a:t>，</a:t>
                </a:r>
                <a:r>
                  <a:rPr lang="zh-CN" altLang="en-US" sz="2000" kern="0" dirty="0">
                    <a:solidFill>
                      <a:srgbClr val="FF0000"/>
                    </a:solidFill>
                    <a:latin typeface="+mn-ea"/>
                  </a:rPr>
                  <a:t>有增压作用</a:t>
                </a:r>
                <a:r>
                  <a:rPr lang="zh-CN" altLang="en-US" sz="2000" kern="0" dirty="0">
                    <a:latin typeface="+mn-ea"/>
                  </a:rPr>
                  <a:t>：</a:t>
                </a:r>
                <a:endParaRPr lang="en-US" altLang="zh-CN" sz="2000" kern="0" dirty="0">
                  <a:latin typeface="+mn-ea"/>
                </a:endParaRPr>
              </a:p>
              <a:p>
                <a:pPr algn="just">
                  <a:lnSpc>
                    <a:spcPct val="150000"/>
                  </a:lnSpc>
                </a:pPr>
                <a14:m>
                  <m:oMath xmlns:m="http://schemas.openxmlformats.org/officeDocument/2006/math">
                    <m:sSub>
                      <m:sSubPr>
                        <m:ctrlPr>
                          <a:rPr kumimoji="0" lang="en-US" altLang="zh-CN" sz="2000" b="0" i="1" u="none" strike="noStrike" kern="0" cap="none" spc="0" normalizeH="0" baseline="0" noProof="0" smtClean="0">
                            <a:ln>
                              <a:noFill/>
                            </a:ln>
                            <a:solidFill>
                              <a:srgbClr val="000000"/>
                            </a:solidFill>
                            <a:effectLst/>
                            <a:uLnTx/>
                            <a:uFillTx/>
                            <a:latin typeface="Cambria Math" panose="02040503050406030204" pitchFamily="18" charset="0"/>
                          </a:rPr>
                        </m:ctrlPr>
                      </m:sSubPr>
                      <m:e>
                        <m:r>
                          <a:rPr kumimoji="0" lang="en-US" altLang="zh-CN" sz="2000" b="0" i="1" u="none" strike="noStrike" kern="0" cap="none" spc="0" normalizeH="0" baseline="0" noProof="0" smtClean="0">
                            <a:ln>
                              <a:noFill/>
                            </a:ln>
                            <a:solidFill>
                              <a:srgbClr val="000000"/>
                            </a:solidFill>
                            <a:effectLst/>
                            <a:uLnTx/>
                            <a:uFillTx/>
                            <a:latin typeface="Cambria Math" panose="02040503050406030204" pitchFamily="18" charset="0"/>
                          </a:rPr>
                          <m:t>      </m:t>
                        </m:r>
                        <m:r>
                          <a:rPr kumimoji="0" lang="en-US" altLang="zh-CN" sz="2000" b="0" i="1" u="none" strike="noStrike" kern="0" cap="none" spc="0" normalizeH="0" baseline="0" noProof="0" smtClean="0">
                            <a:ln>
                              <a:noFill/>
                            </a:ln>
                            <a:solidFill>
                              <a:srgbClr val="000000"/>
                            </a:solidFill>
                            <a:effectLst/>
                            <a:uLnTx/>
                            <a:uFillTx/>
                            <a:latin typeface="Cambria Math" panose="02040503050406030204" pitchFamily="18" charset="0"/>
                          </a:rPr>
                          <m:t>𝑝</m:t>
                        </m:r>
                      </m:e>
                      <m:sub>
                        <m:r>
                          <a:rPr kumimoji="0" lang="en-US" altLang="zh-CN" sz="2000" b="0" i="1" u="none" strike="noStrike" kern="0" cap="none" spc="0" normalizeH="0" baseline="0" noProof="0" smtClean="0">
                            <a:ln>
                              <a:noFill/>
                            </a:ln>
                            <a:solidFill>
                              <a:srgbClr val="000000"/>
                            </a:solidFill>
                            <a:effectLst/>
                            <a:uLnTx/>
                            <a:uFillTx/>
                            <a:latin typeface="Cambria Math" panose="02040503050406030204" pitchFamily="18" charset="0"/>
                          </a:rPr>
                          <m:t>2</m:t>
                        </m:r>
                      </m:sub>
                    </m:sSub>
                    <m:r>
                      <a:rPr kumimoji="0" lang="en-US" altLang="zh-CN" sz="2000" b="0" i="1" u="none" strike="noStrike" kern="0" cap="none" spc="0" normalizeH="0" baseline="0" noProof="0">
                        <a:ln>
                          <a:noFill/>
                        </a:ln>
                        <a:solidFill>
                          <a:srgbClr val="000000"/>
                        </a:solidFill>
                        <a:effectLst/>
                        <a:uLnTx/>
                        <a:uFillTx/>
                        <a:latin typeface="Cambria Math" panose="02040503050406030204" pitchFamily="18" charset="0"/>
                      </a:rPr>
                      <m:t>=</m:t>
                    </m:r>
                    <m:f>
                      <m:fPr>
                        <m:ctrlPr>
                          <a:rPr kumimoji="0" lang="en-US" altLang="zh-CN" sz="2000" b="0" i="1" u="none" strike="noStrike" kern="0" cap="none" spc="0" normalizeH="0" baseline="0" noProof="0">
                            <a:ln>
                              <a:noFill/>
                            </a:ln>
                            <a:solidFill>
                              <a:srgbClr val="000000"/>
                            </a:solidFill>
                            <a:effectLst/>
                            <a:uLnTx/>
                            <a:uFillTx/>
                            <a:latin typeface="Cambria Math" panose="02040503050406030204" pitchFamily="18" charset="0"/>
                          </a:rPr>
                        </m:ctrlPr>
                      </m:fPr>
                      <m:num>
                        <m:sSub>
                          <m:sSubPr>
                            <m:ctrlPr>
                              <a:rPr lang="en-US" altLang="zh-CN" sz="2000" i="1" kern="0">
                                <a:solidFill>
                                  <a:srgbClr val="000000"/>
                                </a:solidFill>
                                <a:latin typeface="Cambria Math" panose="02040503050406030204" pitchFamily="18" charset="0"/>
                              </a:rPr>
                            </m:ctrlPr>
                          </m:sSubPr>
                          <m:e>
                            <m:r>
                              <a:rPr lang="en-US" altLang="zh-CN" sz="2000" i="1" kern="0">
                                <a:solidFill>
                                  <a:srgbClr val="000000"/>
                                </a:solidFill>
                                <a:latin typeface="Cambria Math" panose="02040503050406030204" pitchFamily="18" charset="0"/>
                              </a:rPr>
                              <m:t>𝐴</m:t>
                            </m:r>
                          </m:e>
                          <m:sub>
                            <m:r>
                              <a:rPr lang="en-US" altLang="zh-CN" sz="2000" i="1" kern="0">
                                <a:solidFill>
                                  <a:srgbClr val="000000"/>
                                </a:solidFill>
                                <a:latin typeface="Cambria Math" panose="02040503050406030204" pitchFamily="18" charset="0"/>
                              </a:rPr>
                              <m:t>1</m:t>
                            </m:r>
                          </m:sub>
                        </m:sSub>
                      </m:num>
                      <m:den>
                        <m:sSub>
                          <m:sSubPr>
                            <m:ctrlPr>
                              <a:rPr lang="en-US" altLang="zh-CN" sz="2000" i="1" kern="0">
                                <a:solidFill>
                                  <a:srgbClr val="000000"/>
                                </a:solidFill>
                                <a:latin typeface="Cambria Math" panose="02040503050406030204" pitchFamily="18" charset="0"/>
                              </a:rPr>
                            </m:ctrlPr>
                          </m:sSubPr>
                          <m:e>
                            <m:r>
                              <a:rPr lang="en-US" altLang="zh-CN" sz="2000" i="1" kern="0">
                                <a:solidFill>
                                  <a:srgbClr val="000000"/>
                                </a:solidFill>
                                <a:latin typeface="Cambria Math" panose="02040503050406030204" pitchFamily="18" charset="0"/>
                              </a:rPr>
                              <m:t>𝐴</m:t>
                            </m:r>
                          </m:e>
                          <m:sub>
                            <m:r>
                              <a:rPr lang="en-US" altLang="zh-CN" sz="2000" b="0" i="1" kern="0" smtClean="0">
                                <a:solidFill>
                                  <a:srgbClr val="000000"/>
                                </a:solidFill>
                                <a:latin typeface="Cambria Math" panose="02040503050406030204" pitchFamily="18" charset="0"/>
                              </a:rPr>
                              <m:t>2</m:t>
                            </m:r>
                          </m:sub>
                        </m:sSub>
                      </m:den>
                    </m:f>
                    <m:sSub>
                      <m:sSubPr>
                        <m:ctrlPr>
                          <a:rPr kumimoji="0" lang="en-US" altLang="zh-CN" sz="2000" b="0" i="1" u="none" strike="noStrike" kern="0" cap="none" spc="0" normalizeH="0" baseline="0" noProof="0">
                            <a:ln>
                              <a:noFill/>
                            </a:ln>
                            <a:solidFill>
                              <a:srgbClr val="000000"/>
                            </a:solidFill>
                            <a:effectLst/>
                            <a:uLnTx/>
                            <a:uFillTx/>
                            <a:latin typeface="Cambria Math" panose="02040503050406030204" pitchFamily="18" charset="0"/>
                          </a:rPr>
                        </m:ctrlPr>
                      </m:sSubPr>
                      <m:e>
                        <m:r>
                          <a:rPr kumimoji="0" lang="en-US" altLang="zh-CN" sz="2000" b="0" i="1" u="none" strike="noStrike" kern="0" cap="none" spc="0" normalizeH="0" baseline="0" noProof="0" smtClean="0">
                            <a:ln>
                              <a:noFill/>
                            </a:ln>
                            <a:solidFill>
                              <a:srgbClr val="000000"/>
                            </a:solidFill>
                            <a:effectLst/>
                            <a:uLnTx/>
                            <a:uFillTx/>
                            <a:latin typeface="Cambria Math" panose="02040503050406030204" pitchFamily="18" charset="0"/>
                          </a:rPr>
                          <m:t>𝑝</m:t>
                        </m:r>
                      </m:e>
                      <m:sub>
                        <m:r>
                          <a:rPr kumimoji="0" lang="en-US" altLang="zh-CN" sz="2000" b="0" i="1" u="none" strike="noStrike" kern="0" cap="none" spc="0" normalizeH="0" baseline="0" noProof="0" smtClean="0">
                            <a:ln>
                              <a:noFill/>
                            </a:ln>
                            <a:solidFill>
                              <a:srgbClr val="000000"/>
                            </a:solidFill>
                            <a:effectLst/>
                            <a:uLnTx/>
                            <a:uFillTx/>
                            <a:latin typeface="Cambria Math" panose="02040503050406030204" pitchFamily="18" charset="0"/>
                          </a:rPr>
                          <m:t>1</m:t>
                        </m:r>
                      </m:sub>
                    </m:sSub>
                  </m:oMath>
                </a14:m>
                <a:r>
                  <a:rPr lang="en-US" altLang="zh-CN" sz="2000" kern="0" dirty="0">
                    <a:latin typeface="Times New Roman" panose="02020603050405020304" pitchFamily="18" charset="0"/>
                    <a:ea typeface="微软雅黑" panose="020B0503020204020204" pitchFamily="34" charset="-122"/>
                    <a:cs typeface="Times New Roman" panose="02020603050405020304" pitchFamily="18" charset="0"/>
                  </a:rPr>
                  <a:t> </a:t>
                </a:r>
                <a14:m>
                  <m:oMath xmlns:m="http://schemas.openxmlformats.org/officeDocument/2006/math">
                    <m:sSub>
                      <m:sSubPr>
                        <m:ctrlPr>
                          <a:rPr lang="en-US" altLang="zh-CN" sz="2000" i="1" kern="0">
                            <a:solidFill>
                              <a:srgbClr val="000000"/>
                            </a:solidFill>
                            <a:latin typeface="Cambria Math" panose="02040503050406030204" pitchFamily="18" charset="0"/>
                          </a:rPr>
                        </m:ctrlPr>
                      </m:sSubPr>
                      <m:e>
                        <m:r>
                          <a:rPr lang="en-US" altLang="zh-CN" sz="2000" b="0" i="1" kern="0" smtClean="0">
                            <a:solidFill>
                              <a:srgbClr val="000000"/>
                            </a:solidFill>
                            <a:latin typeface="Cambria Math" panose="02040503050406030204" pitchFamily="18" charset="0"/>
                          </a:rPr>
                          <m:t>          </m:t>
                        </m:r>
                        <m:r>
                          <a:rPr lang="en-US" altLang="zh-CN" sz="2000" i="1" kern="0">
                            <a:solidFill>
                              <a:srgbClr val="000000"/>
                            </a:solidFill>
                            <a:latin typeface="Cambria Math" panose="02040503050406030204" pitchFamily="18" charset="0"/>
                          </a:rPr>
                          <m:t>𝐴</m:t>
                        </m:r>
                      </m:e>
                      <m:sub>
                        <m:r>
                          <a:rPr lang="en-US" altLang="zh-CN" sz="2000" i="1" kern="0">
                            <a:solidFill>
                              <a:srgbClr val="000000"/>
                            </a:solidFill>
                            <a:latin typeface="Cambria Math" panose="02040503050406030204" pitchFamily="18" charset="0"/>
                          </a:rPr>
                          <m:t>1</m:t>
                        </m:r>
                        <m:r>
                          <a:rPr lang="en-US" altLang="zh-CN" sz="2000" b="0" i="1" kern="0" smtClean="0">
                            <a:solidFill>
                              <a:srgbClr val="000000"/>
                            </a:solidFill>
                            <a:latin typeface="Cambria Math" panose="02040503050406030204" pitchFamily="18" charset="0"/>
                          </a:rPr>
                          <m:t> </m:t>
                        </m:r>
                      </m:sub>
                    </m:sSub>
                    <m:r>
                      <a:rPr lang="en-US" altLang="zh-CN" sz="2000" kern="0">
                        <a:solidFill>
                          <a:srgbClr val="000000"/>
                        </a:solidFill>
                        <a:latin typeface="Cambria Math" panose="02040503050406030204" pitchFamily="18" charset="0"/>
                      </a:rPr>
                      <m:t>&gt;</m:t>
                    </m:r>
                    <m:sSub>
                      <m:sSubPr>
                        <m:ctrlPr>
                          <a:rPr lang="en-US" altLang="zh-CN" sz="2000" i="1" kern="0">
                            <a:solidFill>
                              <a:srgbClr val="000000"/>
                            </a:solidFill>
                            <a:latin typeface="Cambria Math" panose="02040503050406030204" pitchFamily="18" charset="0"/>
                          </a:rPr>
                        </m:ctrlPr>
                      </m:sSubPr>
                      <m:e>
                        <m:r>
                          <a:rPr lang="en-US" altLang="zh-CN" sz="2000" i="1" kern="0">
                            <a:solidFill>
                              <a:srgbClr val="000000"/>
                            </a:solidFill>
                            <a:latin typeface="Cambria Math" panose="02040503050406030204" pitchFamily="18" charset="0"/>
                          </a:rPr>
                          <m:t>𝐴</m:t>
                        </m:r>
                      </m:e>
                      <m:sub>
                        <m:r>
                          <a:rPr lang="en-US" altLang="zh-CN" sz="2000" i="1" kern="0">
                            <a:solidFill>
                              <a:srgbClr val="000000"/>
                            </a:solidFill>
                            <a:latin typeface="Cambria Math" panose="02040503050406030204" pitchFamily="18" charset="0"/>
                          </a:rPr>
                          <m:t>2</m:t>
                        </m:r>
                      </m:sub>
                    </m:sSub>
                  </m:oMath>
                </a14:m>
                <a:r>
                  <a:rPr lang="en-US" altLang="zh-CN" sz="2000" kern="0" dirty="0">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2000" kern="0" dirty="0">
                    <a:latin typeface="Times New Roman" panose="02020603050405020304" pitchFamily="18" charset="0"/>
                    <a:ea typeface="微软雅黑" panose="020B0503020204020204" pitchFamily="34" charset="-122"/>
                    <a:cs typeface="Times New Roman" panose="02020603050405020304" pitchFamily="18" charset="0"/>
                    <a:sym typeface="Wingdings" panose="05000000000000000000" pitchFamily="2" charset="2"/>
                  </a:rPr>
                  <a:t> </a:t>
                </a:r>
                <a14:m>
                  <m:oMath xmlns:m="http://schemas.openxmlformats.org/officeDocument/2006/math">
                    <m:sSub>
                      <m:sSubPr>
                        <m:ctrlPr>
                          <a:rPr lang="en-US" altLang="zh-CN" sz="2000" i="1" kern="0">
                            <a:solidFill>
                              <a:srgbClr val="000000"/>
                            </a:solidFill>
                            <a:latin typeface="Cambria Math" panose="02040503050406030204" pitchFamily="18" charset="0"/>
                          </a:rPr>
                        </m:ctrlPr>
                      </m:sSubPr>
                      <m:e>
                        <m:r>
                          <a:rPr lang="en-US" altLang="zh-CN" sz="2000" i="1" kern="0">
                            <a:solidFill>
                              <a:srgbClr val="000000"/>
                            </a:solidFill>
                            <a:latin typeface="Cambria Math" panose="02040503050406030204" pitchFamily="18" charset="0"/>
                          </a:rPr>
                          <m:t>      </m:t>
                        </m:r>
                        <m:r>
                          <a:rPr lang="en-US" altLang="zh-CN" sz="2000" i="1" kern="0">
                            <a:solidFill>
                              <a:srgbClr val="000000"/>
                            </a:solidFill>
                            <a:latin typeface="Cambria Math" panose="02040503050406030204" pitchFamily="18" charset="0"/>
                          </a:rPr>
                          <m:t>𝑝</m:t>
                        </m:r>
                      </m:e>
                      <m:sub>
                        <m:r>
                          <a:rPr lang="en-US" altLang="zh-CN" sz="2000" i="1" kern="0">
                            <a:solidFill>
                              <a:srgbClr val="000000"/>
                            </a:solidFill>
                            <a:latin typeface="Cambria Math" panose="02040503050406030204" pitchFamily="18" charset="0"/>
                          </a:rPr>
                          <m:t>2</m:t>
                        </m:r>
                      </m:sub>
                    </m:sSub>
                  </m:oMath>
                </a14:m>
                <a:r>
                  <a:rPr lang="en-US" altLang="zh-CN" sz="2000" kern="0" dirty="0">
                    <a:latin typeface="Times New Roman" panose="02020603050405020304" pitchFamily="18" charset="0"/>
                    <a:ea typeface="微软雅黑" panose="020B0503020204020204" pitchFamily="34" charset="-122"/>
                    <a:cs typeface="Times New Roman" panose="02020603050405020304" pitchFamily="18" charset="0"/>
                  </a:rPr>
                  <a:t> &gt;</a:t>
                </a:r>
                <a:r>
                  <a:rPr lang="en-US" altLang="zh-CN" sz="2000" kern="0" dirty="0">
                    <a:solidFill>
                      <a:srgbClr val="000000"/>
                    </a:solidFill>
                    <a:latin typeface="Times New Roman" panose="02020603050405020304" pitchFamily="18" charset="0"/>
                    <a:cs typeface="Times New Roman" panose="02020603050405020304" pitchFamily="18" charset="0"/>
                  </a:rPr>
                  <a:t> </a:t>
                </a:r>
                <a14:m>
                  <m:oMath xmlns:m="http://schemas.openxmlformats.org/officeDocument/2006/math">
                    <m:sSub>
                      <m:sSubPr>
                        <m:ctrlPr>
                          <a:rPr lang="en-US" altLang="zh-CN" sz="2000" i="1" kern="0" smtClean="0">
                            <a:solidFill>
                              <a:srgbClr val="000000"/>
                            </a:solidFill>
                            <a:latin typeface="Cambria Math" panose="02040503050406030204" pitchFamily="18" charset="0"/>
                          </a:rPr>
                        </m:ctrlPr>
                      </m:sSubPr>
                      <m:e>
                        <m:r>
                          <a:rPr lang="en-US" altLang="zh-CN" sz="2000" i="1" kern="0">
                            <a:solidFill>
                              <a:srgbClr val="000000"/>
                            </a:solidFill>
                            <a:latin typeface="Cambria Math" panose="02040503050406030204" pitchFamily="18" charset="0"/>
                          </a:rPr>
                          <m:t> </m:t>
                        </m:r>
                        <m:r>
                          <a:rPr lang="en-US" altLang="zh-CN" sz="2000" i="1" kern="0">
                            <a:solidFill>
                              <a:srgbClr val="000000"/>
                            </a:solidFill>
                            <a:latin typeface="Cambria Math" panose="02040503050406030204" pitchFamily="18" charset="0"/>
                          </a:rPr>
                          <m:t>𝑝</m:t>
                        </m:r>
                      </m:e>
                      <m:sub>
                        <m:r>
                          <a:rPr lang="en-US" altLang="zh-CN" sz="2000" b="0" i="1" kern="0" smtClean="0">
                            <a:solidFill>
                              <a:srgbClr val="000000"/>
                            </a:solidFill>
                            <a:latin typeface="Cambria Math" panose="02040503050406030204" pitchFamily="18" charset="0"/>
                          </a:rPr>
                          <m:t>1</m:t>
                        </m:r>
                      </m:sub>
                    </m:sSub>
                  </m:oMath>
                </a14:m>
                <a:endParaRPr lang="en-US" altLang="zh-CN" sz="2000" kern="0" dirty="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gn="just">
                  <a:lnSpc>
                    <a:spcPct val="150000"/>
                  </a:lnSpc>
                  <a:spcBef>
                    <a:spcPts val="0"/>
                  </a:spcBef>
                  <a:buFont typeface="Wingdings" panose="05000000000000000000" pitchFamily="2" charset="2"/>
                  <a:buChar char="Ø"/>
                </a:pPr>
                <a:r>
                  <a:rPr lang="zh-CN" altLang="en-US" sz="2000" kern="0" dirty="0">
                    <a:latin typeface="+mn-ea"/>
                  </a:rPr>
                  <a:t>换向阀失电，换向阀处于左位，活塞杆左移时，辅助油箱补油，</a:t>
                </a:r>
                <a:r>
                  <a:rPr lang="zh-CN" altLang="en-US" sz="2000" kern="0" dirty="0">
                    <a:solidFill>
                      <a:srgbClr val="FF0000"/>
                    </a:solidFill>
                    <a:latin typeface="+mn-ea"/>
                  </a:rPr>
                  <a:t>无增压作用</a:t>
                </a:r>
                <a:r>
                  <a:rPr lang="zh-CN" altLang="en-US" sz="2000" kern="0" dirty="0">
                    <a:latin typeface="+mn-ea"/>
                  </a:rPr>
                  <a:t>。</a:t>
                </a:r>
                <a:endParaRPr lang="en-US" altLang="zh-CN" sz="2000" kern="0" dirty="0">
                  <a:latin typeface="+mn-ea"/>
                </a:endParaRPr>
              </a:p>
              <a:p>
                <a:pPr marL="342900" indent="-342900" algn="just">
                  <a:lnSpc>
                    <a:spcPct val="150000"/>
                  </a:lnSpc>
                  <a:spcBef>
                    <a:spcPts val="0"/>
                  </a:spcBef>
                  <a:buFont typeface="Wingdings" panose="05000000000000000000" pitchFamily="2" charset="2"/>
                  <a:buChar char="Ø"/>
                </a:pPr>
                <a:r>
                  <a:rPr lang="zh-CN" altLang="en-US" sz="2000" kern="0" dirty="0">
                    <a:latin typeface="+mn-ea"/>
                  </a:rPr>
                  <a:t>只能</a:t>
                </a:r>
                <a:r>
                  <a:rPr lang="zh-CN" altLang="en-US" sz="2000" b="1" kern="0" dirty="0">
                    <a:solidFill>
                      <a:srgbClr val="FF0000"/>
                    </a:solidFill>
                    <a:latin typeface="+mn-ea"/>
                  </a:rPr>
                  <a:t>间断增压</a:t>
                </a:r>
                <a:r>
                  <a:rPr lang="zh-CN" altLang="en-US" sz="2000" kern="0" dirty="0">
                    <a:latin typeface="+mn-ea"/>
                  </a:rPr>
                  <a:t>。</a:t>
                </a:r>
                <a:endParaRPr lang="en-US" altLang="zh-CN" sz="2000" kern="0" dirty="0">
                  <a:latin typeface="+mn-ea"/>
                </a:endParaRPr>
              </a:p>
            </p:txBody>
          </p:sp>
        </mc:Choice>
        <mc:Fallback xmlns="">
          <p:sp>
            <p:nvSpPr>
              <p:cNvPr id="10" name="TextBox 9">
                <a:extLst>
                  <a:ext uri="{FF2B5EF4-FFF2-40B4-BE49-F238E27FC236}">
                    <a16:creationId xmlns:a16="http://schemas.microsoft.com/office/drawing/2014/main" id="{C44F0375-80DA-2BC8-C7EE-7310B0B693CB}"/>
                  </a:ext>
                </a:extLst>
              </p:cNvPr>
              <p:cNvSpPr txBox="1">
                <a:spLocks noRot="1" noChangeAspect="1" noMove="1" noResize="1" noEditPoints="1" noAdjustHandles="1" noChangeArrowheads="1" noChangeShapeType="1" noTextEdit="1"/>
              </p:cNvSpPr>
              <p:nvPr/>
            </p:nvSpPr>
            <p:spPr>
              <a:xfrm>
                <a:off x="634735" y="3429000"/>
                <a:ext cx="7256727" cy="3151440"/>
              </a:xfrm>
              <a:prstGeom prst="rect">
                <a:avLst/>
              </a:prstGeom>
              <a:blipFill>
                <a:blip r:embed="rId3"/>
                <a:stretch>
                  <a:fillRect l="-1259" r="-840" b="-2519"/>
                </a:stretch>
              </a:blipFill>
            </p:spPr>
            <p:txBody>
              <a:bodyPr/>
              <a:lstStyle/>
              <a:p>
                <a:r>
                  <a:rPr lang="zh-CN" altLang="en-US">
                    <a:noFill/>
                  </a:rPr>
                  <a:t> </a:t>
                </a:r>
              </a:p>
            </p:txBody>
          </p:sp>
        </mc:Fallback>
      </mc:AlternateContent>
      <p:grpSp>
        <p:nvGrpSpPr>
          <p:cNvPr id="3" name="组合 15">
            <a:extLst>
              <a:ext uri="{FF2B5EF4-FFF2-40B4-BE49-F238E27FC236}">
                <a16:creationId xmlns:a16="http://schemas.microsoft.com/office/drawing/2014/main" id="{5BD86776-7D8A-C924-799D-7BA112DAF006}"/>
              </a:ext>
            </a:extLst>
          </p:cNvPr>
          <p:cNvGrpSpPr>
            <a:grpSpLocks noChangeAspect="1"/>
          </p:cNvGrpSpPr>
          <p:nvPr/>
        </p:nvGrpSpPr>
        <p:grpSpPr>
          <a:xfrm>
            <a:off x="8156034" y="3332352"/>
            <a:ext cx="3016931" cy="2996896"/>
            <a:chOff x="4956498" y="1412776"/>
            <a:chExt cx="3943350" cy="3917163"/>
          </a:xfrm>
        </p:grpSpPr>
        <p:grpSp>
          <p:nvGrpSpPr>
            <p:cNvPr id="7" name="组合 13">
              <a:extLst>
                <a:ext uri="{FF2B5EF4-FFF2-40B4-BE49-F238E27FC236}">
                  <a16:creationId xmlns:a16="http://schemas.microsoft.com/office/drawing/2014/main" id="{37A82CC7-F2E8-95D3-0B83-3335D915F7FE}"/>
                </a:ext>
              </a:extLst>
            </p:cNvPr>
            <p:cNvGrpSpPr/>
            <p:nvPr/>
          </p:nvGrpSpPr>
          <p:grpSpPr>
            <a:xfrm>
              <a:off x="4956498" y="1412776"/>
              <a:ext cx="3943350" cy="3917163"/>
              <a:chOff x="4956498" y="1986452"/>
              <a:chExt cx="3943350" cy="3917163"/>
            </a:xfrm>
          </p:grpSpPr>
          <p:pic>
            <p:nvPicPr>
              <p:cNvPr id="12" name="Picture 52">
                <a:extLst>
                  <a:ext uri="{FF2B5EF4-FFF2-40B4-BE49-F238E27FC236}">
                    <a16:creationId xmlns:a16="http://schemas.microsoft.com/office/drawing/2014/main" id="{6BC6CF34-5FD2-86F0-9C42-CDCBE1B321DA}"/>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4956498" y="1988840"/>
                <a:ext cx="3943350" cy="3914775"/>
              </a:xfrm>
              <a:prstGeom prst="rect">
                <a:avLst/>
              </a:prstGeom>
              <a:noFill/>
              <a:extLst>
                <a:ext uri="{909E8E84-426E-40DD-AFC4-6F175D3DCCD1}">
                  <a14:hiddenFill xmlns:a14="http://schemas.microsoft.com/office/drawing/2010/main">
                    <a:solidFill>
                      <a:srgbClr val="FFFFFF"/>
                    </a:solidFill>
                  </a14:hiddenFill>
                </a:ext>
              </a:extLst>
            </p:spPr>
          </p:pic>
          <p:sp>
            <p:nvSpPr>
              <p:cNvPr id="13" name="矩形 12">
                <a:extLst>
                  <a:ext uri="{FF2B5EF4-FFF2-40B4-BE49-F238E27FC236}">
                    <a16:creationId xmlns:a16="http://schemas.microsoft.com/office/drawing/2014/main" id="{54AE7B21-8E46-040F-64BA-07C4003768E1}"/>
                  </a:ext>
                </a:extLst>
              </p:cNvPr>
              <p:cNvSpPr/>
              <p:nvPr/>
            </p:nvSpPr>
            <p:spPr>
              <a:xfrm>
                <a:off x="4956498" y="1986452"/>
                <a:ext cx="1847750" cy="3600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 name="矩形 14">
              <a:extLst>
                <a:ext uri="{FF2B5EF4-FFF2-40B4-BE49-F238E27FC236}">
                  <a16:creationId xmlns:a16="http://schemas.microsoft.com/office/drawing/2014/main" id="{747ED235-2586-9ECB-C44D-FD2C3A00C744}"/>
                </a:ext>
              </a:extLst>
            </p:cNvPr>
            <p:cNvSpPr/>
            <p:nvPr/>
          </p:nvSpPr>
          <p:spPr>
            <a:xfrm>
              <a:off x="7568208" y="1844824"/>
              <a:ext cx="1331640" cy="3600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0568711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2.3 </a:t>
            </a:r>
            <a:r>
              <a:rPr lang="zh-CN" altLang="en-US" sz="2800" b="1" dirty="0">
                <a:solidFill>
                  <a:srgbClr val="003F88"/>
                </a:solidFill>
                <a:latin typeface="+mn-ea"/>
              </a:rPr>
              <a:t>增压回路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4" y="1888883"/>
            <a:ext cx="5695950" cy="3361946"/>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双作用增压缸：</a:t>
            </a:r>
            <a:endParaRPr lang="en-US" altLang="zh-CN" sz="2400" b="1" kern="0" dirty="0">
              <a:latin typeface="+mn-ea"/>
            </a:endParaRPr>
          </a:p>
          <a:p>
            <a:pPr marL="342900" indent="-342900" algn="just">
              <a:lnSpc>
                <a:spcPct val="150000"/>
              </a:lnSpc>
              <a:spcBef>
                <a:spcPts val="0"/>
              </a:spcBef>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换向阀失电，换向阀处于左位，单向阀</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打开</a:t>
            </a:r>
            <a:r>
              <a:rPr lang="en-US" altLang="zh-CN" sz="2000" kern="0" dirty="0">
                <a:latin typeface="微软雅黑" panose="020B0503020204020204" pitchFamily="34" charset="-122"/>
                <a:ea typeface="微软雅黑" panose="020B0503020204020204" pitchFamily="34" charset="-122"/>
              </a:rPr>
              <a:t>(</a:t>
            </a:r>
            <a:r>
              <a:rPr lang="zh-CN" altLang="en-US" sz="2000" kern="0" dirty="0">
                <a:latin typeface="微软雅黑" panose="020B0503020204020204" pitchFamily="34" charset="-122"/>
                <a:ea typeface="微软雅黑" panose="020B0503020204020204" pitchFamily="34" charset="-122"/>
              </a:rPr>
              <a:t>单向阀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关闭</a:t>
            </a:r>
            <a:r>
              <a:rPr lang="en-US" altLang="zh-CN" sz="2000" kern="0" dirty="0">
                <a:latin typeface="微软雅黑" panose="020B0503020204020204" pitchFamily="34" charset="-122"/>
                <a:ea typeface="微软雅黑" panose="020B0503020204020204" pitchFamily="34" charset="-122"/>
              </a:rPr>
              <a:t>)</a:t>
            </a:r>
            <a:r>
              <a:rPr lang="zh-CN" altLang="en-US" sz="2000" kern="0" dirty="0">
                <a:latin typeface="微软雅黑" panose="020B0503020204020204" pitchFamily="34" charset="-122"/>
                <a:ea typeface="微软雅黑" panose="020B0503020204020204" pitchFamily="34" charset="-122"/>
              </a:rPr>
              <a:t>，从单向阀</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输出高压油。</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spcBef>
                <a:spcPts val="0"/>
              </a:spcBef>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换向阀得电，换向阀处于右位，单向阀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打开</a:t>
            </a:r>
            <a:r>
              <a:rPr lang="en-US" altLang="zh-CN" sz="2000" kern="0" dirty="0">
                <a:latin typeface="微软雅黑" panose="020B0503020204020204" pitchFamily="34" charset="-122"/>
                <a:ea typeface="微软雅黑" panose="020B0503020204020204" pitchFamily="34" charset="-122"/>
              </a:rPr>
              <a:t>(</a:t>
            </a:r>
            <a:r>
              <a:rPr lang="zh-CN" altLang="en-US" sz="2000" kern="0" dirty="0">
                <a:latin typeface="微软雅黑" panose="020B0503020204020204" pitchFamily="34" charset="-122"/>
                <a:ea typeface="微软雅黑" panose="020B0503020204020204" pitchFamily="34" charset="-122"/>
              </a:rPr>
              <a:t>单向阀</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关闭</a:t>
            </a:r>
            <a:r>
              <a:rPr lang="en-US" altLang="zh-CN" sz="2000" kern="0" dirty="0">
                <a:latin typeface="微软雅黑" panose="020B0503020204020204" pitchFamily="34" charset="-122"/>
                <a:ea typeface="微软雅黑" panose="020B0503020204020204" pitchFamily="34" charset="-122"/>
              </a:rPr>
              <a:t>)</a:t>
            </a:r>
            <a:r>
              <a:rPr lang="zh-CN" altLang="en-US" sz="2000" kern="0" dirty="0">
                <a:latin typeface="微软雅黑" panose="020B0503020204020204" pitchFamily="34" charset="-122"/>
                <a:ea typeface="微软雅黑" panose="020B0503020204020204" pitchFamily="34" charset="-122"/>
              </a:rPr>
              <a:t>，从单向阀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输出高压油。</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spcBef>
                <a:spcPts val="0"/>
              </a:spcBef>
              <a:buFont typeface="Wingdings" panose="05000000000000000000" pitchFamily="2" charset="2"/>
              <a:buChar char="Ø"/>
            </a:pPr>
            <a:r>
              <a:rPr lang="zh-CN" altLang="en-US" sz="2000" b="1" kern="0" dirty="0">
                <a:solidFill>
                  <a:srgbClr val="FF0000"/>
                </a:solidFill>
                <a:latin typeface="微软雅黑" panose="020B0503020204020204" pitchFamily="34" charset="-122"/>
                <a:ea typeface="微软雅黑" panose="020B0503020204020204" pitchFamily="34" charset="-122"/>
              </a:rPr>
              <a:t>连续增压</a:t>
            </a:r>
            <a:r>
              <a:rPr lang="zh-CN" altLang="en-US" sz="2000" kern="0" dirty="0">
                <a:latin typeface="微软雅黑" panose="020B0503020204020204" pitchFamily="34" charset="-122"/>
                <a:ea typeface="微软雅黑" panose="020B0503020204020204" pitchFamily="34" charset="-122"/>
              </a:rPr>
              <a:t>：增压缸的活塞不断往复运动，两端可交替输出高压油，从而实现连续增压。</a:t>
            </a:r>
            <a:endParaRPr lang="en-US" altLang="zh-CN" sz="2000" kern="0" dirty="0">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912B0CE9-3B00-DFCB-449D-C513714F09D8}"/>
              </a:ext>
            </a:extLst>
          </p:cNvPr>
          <p:cNvSpPr txBox="1"/>
          <p:nvPr/>
        </p:nvSpPr>
        <p:spPr>
          <a:xfrm>
            <a:off x="7444365" y="6146446"/>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双作用增压回路原理图</a:t>
            </a:r>
            <a:endParaRPr lang="zh-CN" altLang="en-US" sz="2000" dirty="0"/>
          </a:p>
        </p:txBody>
      </p:sp>
      <p:pic>
        <p:nvPicPr>
          <p:cNvPr id="2" name="图片 8">
            <a:extLst>
              <a:ext uri="{FF2B5EF4-FFF2-40B4-BE49-F238E27FC236}">
                <a16:creationId xmlns:a16="http://schemas.microsoft.com/office/drawing/2014/main" id="{A0B7E302-1874-A0F9-9E04-3DCB266476DC}"/>
              </a:ext>
            </a:extLst>
          </p:cNvPr>
          <p:cNvPicPr>
            <a:picLocks noChangeAspect="1"/>
          </p:cNvPicPr>
          <p:nvPr/>
        </p:nvPicPr>
        <p:blipFill rotWithShape="1">
          <a:blip r:embed="rId3">
            <a:extLst>
              <a:ext uri="{28A0092B-C50C-407E-A947-70E740481C1C}">
                <a14:useLocalDpi xmlns:a14="http://schemas.microsoft.com/office/drawing/2010/main" val="0"/>
              </a:ext>
            </a:extLst>
          </a:blip>
          <a:srcRect b="4458"/>
          <a:stretch/>
        </p:blipFill>
        <p:spPr>
          <a:xfrm>
            <a:off x="6353493" y="1471720"/>
            <a:ext cx="5695950" cy="4531965"/>
          </a:xfrm>
          <a:prstGeom prst="rect">
            <a:avLst/>
          </a:prstGeom>
        </p:spPr>
      </p:pic>
    </p:spTree>
    <p:extLst>
      <p:ext uri="{BB962C8B-B14F-4D97-AF65-F5344CB8AC3E}">
        <p14:creationId xmlns:p14="http://schemas.microsoft.com/office/powerpoint/2010/main" val="7164295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4" y="1888883"/>
            <a:ext cx="10907980" cy="1422441"/>
          </a:xfrm>
          <a:prstGeom prst="rect">
            <a:avLst/>
          </a:prstGeom>
        </p:spPr>
        <p:txBody>
          <a:bodyPr wrap="square">
            <a:spAutoFit/>
          </a:bodyPr>
          <a:lstStyle/>
          <a:p>
            <a:pPr eaLnBrk="0" fontAlgn="base" hangingPunct="0">
              <a:lnSpc>
                <a:spcPct val="150000"/>
              </a:lnSpc>
              <a:spcBef>
                <a:spcPct val="0"/>
              </a:spcBef>
              <a:spcAft>
                <a:spcPct val="0"/>
              </a:spcAft>
            </a:pPr>
            <a:r>
              <a:rPr lang="zh-CN" altLang="en-US" sz="2000" dirty="0"/>
              <a:t>卸荷回路的作用是在液压泵驱动电动机</a:t>
            </a:r>
            <a:r>
              <a:rPr lang="zh-CN" altLang="en-US" sz="2000" dirty="0">
                <a:solidFill>
                  <a:srgbClr val="FF0000"/>
                </a:solidFill>
              </a:rPr>
              <a:t>无需频繁启停</a:t>
            </a:r>
            <a:r>
              <a:rPr lang="zh-CN" altLang="en-US" sz="2000" dirty="0"/>
              <a:t>的情况下，使液压泵在接近零功率输出的状态下运行，从而</a:t>
            </a:r>
            <a:r>
              <a:rPr lang="zh-CN" altLang="en-US" sz="2000" dirty="0">
                <a:solidFill>
                  <a:srgbClr val="FF0000"/>
                </a:solidFill>
              </a:rPr>
              <a:t>减少功率损耗</a:t>
            </a:r>
            <a:r>
              <a:rPr lang="zh-CN" altLang="en-US" sz="2000" dirty="0"/>
              <a:t>、</a:t>
            </a:r>
            <a:r>
              <a:rPr lang="zh-CN" altLang="en-US" sz="2000" dirty="0">
                <a:solidFill>
                  <a:srgbClr val="FF0000"/>
                </a:solidFill>
              </a:rPr>
              <a:t>降低系统发热</a:t>
            </a:r>
            <a:r>
              <a:rPr lang="zh-CN" altLang="en-US" sz="2000" dirty="0"/>
              <a:t>，并延长泵和电动机的使用寿命。该回路能够有效减少系统待机时的能量消耗，同时减少发热现象，提升整体效率。</a:t>
            </a:r>
            <a:endParaRPr lang="en-US" altLang="zh-CN" sz="2000" dirty="0"/>
          </a:p>
        </p:txBody>
      </p:sp>
      <p:sp>
        <p:nvSpPr>
          <p:cNvPr id="3" name="矩形 18">
            <a:extLst>
              <a:ext uri="{FF2B5EF4-FFF2-40B4-BE49-F238E27FC236}">
                <a16:creationId xmlns:a16="http://schemas.microsoft.com/office/drawing/2014/main" id="{27E4E265-50E9-4CC2-BDE8-E6E5EE4B286C}"/>
              </a:ext>
            </a:extLst>
          </p:cNvPr>
          <p:cNvSpPr/>
          <p:nvPr/>
        </p:nvSpPr>
        <p:spPr>
          <a:xfrm>
            <a:off x="638174" y="3596107"/>
            <a:ext cx="10907980" cy="2899768"/>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dirty="0">
                <a:latin typeface="+mn-ea"/>
              </a:rPr>
              <a:t>分类：</a:t>
            </a:r>
            <a:endParaRPr lang="en-US" altLang="zh-CN" sz="2400" b="1" dirty="0">
              <a:latin typeface="+mn-ea"/>
            </a:endParaRP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换向阀卸荷回路</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二位二通阀旁路卸荷回路</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先导式溢流阀卸荷回路</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插装阀卸荷回路</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复合泵卸荷回路</a:t>
            </a:r>
            <a:endParaRPr lang="en-US" altLang="zh-CN" sz="2000" dirty="0"/>
          </a:p>
        </p:txBody>
      </p:sp>
    </p:spTree>
    <p:extLst>
      <p:ext uri="{BB962C8B-B14F-4D97-AF65-F5344CB8AC3E}">
        <p14:creationId xmlns:p14="http://schemas.microsoft.com/office/powerpoint/2010/main" val="37369545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2">
            <a:extLst>
              <a:ext uri="{FF2B5EF4-FFF2-40B4-BE49-F238E27FC236}">
                <a16:creationId xmlns:a16="http://schemas.microsoft.com/office/drawing/2014/main" id="{54EDBB8C-2E15-8AB7-17FF-DF7FF0F626FB}"/>
              </a:ext>
            </a:extLst>
          </p:cNvPr>
          <p:cNvSpPr>
            <a:spLocks noChangeArrowheads="1"/>
          </p:cNvSpPr>
          <p:nvPr/>
        </p:nvSpPr>
        <p:spPr bwMode="auto">
          <a:xfrm>
            <a:off x="7940842" y="1917032"/>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Rectangle 2">
            <a:extLst>
              <a:ext uri="{FF2B5EF4-FFF2-40B4-BE49-F238E27FC236}">
                <a16:creationId xmlns:a16="http://schemas.microsoft.com/office/drawing/2014/main" id="{D5EE1DBB-E8F5-8BFE-4A87-166D31B8BE51}"/>
              </a:ext>
            </a:extLst>
          </p:cNvPr>
          <p:cNvSpPr>
            <a:spLocks noChangeArrowheads="1"/>
          </p:cNvSpPr>
          <p:nvPr/>
        </p:nvSpPr>
        <p:spPr bwMode="auto">
          <a:xfrm>
            <a:off x="3021420" y="1771425"/>
            <a:ext cx="23671940" cy="609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16" name="Rectangle 4">
            <a:extLst>
              <a:ext uri="{FF2B5EF4-FFF2-40B4-BE49-F238E27FC236}">
                <a16:creationId xmlns:a16="http://schemas.microsoft.com/office/drawing/2014/main" id="{FAAFD7E2-044E-DA5D-6012-66AA496E9E85}"/>
              </a:ext>
            </a:extLst>
          </p:cNvPr>
          <p:cNvSpPr>
            <a:spLocks noChangeArrowheads="1"/>
          </p:cNvSpPr>
          <p:nvPr/>
        </p:nvSpPr>
        <p:spPr bwMode="auto">
          <a:xfrm>
            <a:off x="1655078" y="183239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8" name="Rectangle 6">
            <a:extLst>
              <a:ext uri="{FF2B5EF4-FFF2-40B4-BE49-F238E27FC236}">
                <a16:creationId xmlns:a16="http://schemas.microsoft.com/office/drawing/2014/main" id="{1584081F-9278-B391-C93D-0669A28F4283}"/>
              </a:ext>
            </a:extLst>
          </p:cNvPr>
          <p:cNvSpPr>
            <a:spLocks noChangeArrowheads="1"/>
          </p:cNvSpPr>
          <p:nvPr/>
        </p:nvSpPr>
        <p:spPr bwMode="auto">
          <a:xfrm>
            <a:off x="7093076" y="1771424"/>
            <a:ext cx="1646777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pic>
        <p:nvPicPr>
          <p:cNvPr id="12" name="图片 11">
            <a:extLst>
              <a:ext uri="{FF2B5EF4-FFF2-40B4-BE49-F238E27FC236}">
                <a16:creationId xmlns:a16="http://schemas.microsoft.com/office/drawing/2014/main" id="{546A6198-4A18-BF12-1FDE-524A338D5583}"/>
              </a:ext>
            </a:extLst>
          </p:cNvPr>
          <p:cNvPicPr>
            <a:picLocks noChangeAspect="1"/>
          </p:cNvPicPr>
          <p:nvPr/>
        </p:nvPicPr>
        <p:blipFill>
          <a:blip r:embed="rId3"/>
          <a:srcRect t="182"/>
          <a:stretch/>
        </p:blipFill>
        <p:spPr>
          <a:xfrm>
            <a:off x="1608224" y="1641467"/>
            <a:ext cx="8928698" cy="4939520"/>
          </a:xfrm>
          <a:prstGeom prst="rect">
            <a:avLst/>
          </a:prstGeom>
        </p:spPr>
      </p:pic>
      <p:sp>
        <p:nvSpPr>
          <p:cNvPr id="13" name="文本框 12">
            <a:extLst>
              <a:ext uri="{FF2B5EF4-FFF2-40B4-BE49-F238E27FC236}">
                <a16:creationId xmlns:a16="http://schemas.microsoft.com/office/drawing/2014/main" id="{54266370-AE09-8200-590E-B08E43051AB9}"/>
              </a:ext>
            </a:extLst>
          </p:cNvPr>
          <p:cNvSpPr txBox="1"/>
          <p:nvPr/>
        </p:nvSpPr>
        <p:spPr>
          <a:xfrm>
            <a:off x="895927" y="1129219"/>
            <a:ext cx="11336664" cy="496996"/>
          </a:xfrm>
          <a:prstGeom prst="rect">
            <a:avLst/>
          </a:prstGeom>
          <a:noFill/>
        </p:spPr>
        <p:txBody>
          <a:bodyPr wrap="square" rtlCol="0">
            <a:spAutoFit/>
          </a:bodyPr>
          <a:lstStyle/>
          <a:p>
            <a:pPr algn="just">
              <a:lnSpc>
                <a:spcPct val="150000"/>
              </a:lnSpc>
            </a:pPr>
            <a:r>
              <a:rPr lang="zh-CN" altLang="en-US" sz="2000" dirty="0"/>
              <a:t>工作位置机能：三位换向阀几种常用的滑阀工作位置机能见教材表</a:t>
            </a:r>
            <a:r>
              <a:rPr lang="en-US" altLang="zh-CN" sz="2000" dirty="0"/>
              <a:t>6-5</a:t>
            </a:r>
            <a:endParaRPr lang="zh-CN" altLang="en-US" sz="2000" dirty="0"/>
          </a:p>
        </p:txBody>
      </p:sp>
      <p:cxnSp>
        <p:nvCxnSpPr>
          <p:cNvPr id="7" name="直接连接符 6">
            <a:extLst>
              <a:ext uri="{FF2B5EF4-FFF2-40B4-BE49-F238E27FC236}">
                <a16:creationId xmlns:a16="http://schemas.microsoft.com/office/drawing/2014/main" id="{2062ADC7-5497-D3F4-A8E5-FD1854BE657B}"/>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9" name="图片 8">
            <a:extLst>
              <a:ext uri="{FF2B5EF4-FFF2-40B4-BE49-F238E27FC236}">
                <a16:creationId xmlns:a16="http://schemas.microsoft.com/office/drawing/2014/main" id="{C997C627-CBC4-4375-C356-6C465B12F5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15" name="矩形 14">
            <a:extLst>
              <a:ext uri="{FF2B5EF4-FFF2-40B4-BE49-F238E27FC236}">
                <a16:creationId xmlns:a16="http://schemas.microsoft.com/office/drawing/2014/main" id="{B0462D5A-77BE-02A1-D8BE-E432BE723E84}"/>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781CB596-8513-4569-B57D-D237D2DE589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Tree>
    <p:extLst>
      <p:ext uri="{BB962C8B-B14F-4D97-AF65-F5344CB8AC3E}">
        <p14:creationId xmlns:p14="http://schemas.microsoft.com/office/powerpoint/2010/main" val="4113102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2">
            <a:extLst>
              <a:ext uri="{FF2B5EF4-FFF2-40B4-BE49-F238E27FC236}">
                <a16:creationId xmlns:a16="http://schemas.microsoft.com/office/drawing/2014/main" id="{54EDBB8C-2E15-8AB7-17FF-DF7FF0F626FB}"/>
              </a:ext>
            </a:extLst>
          </p:cNvPr>
          <p:cNvSpPr>
            <a:spLocks noChangeArrowheads="1"/>
          </p:cNvSpPr>
          <p:nvPr/>
        </p:nvSpPr>
        <p:spPr bwMode="auto">
          <a:xfrm>
            <a:off x="7940842" y="1917032"/>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Rectangle 2">
            <a:extLst>
              <a:ext uri="{FF2B5EF4-FFF2-40B4-BE49-F238E27FC236}">
                <a16:creationId xmlns:a16="http://schemas.microsoft.com/office/drawing/2014/main" id="{D5EE1DBB-E8F5-8BFE-4A87-166D31B8BE51}"/>
              </a:ext>
            </a:extLst>
          </p:cNvPr>
          <p:cNvSpPr>
            <a:spLocks noChangeArrowheads="1"/>
          </p:cNvSpPr>
          <p:nvPr/>
        </p:nvSpPr>
        <p:spPr bwMode="auto">
          <a:xfrm>
            <a:off x="3021420" y="1771425"/>
            <a:ext cx="23671940" cy="609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16" name="Rectangle 4">
            <a:extLst>
              <a:ext uri="{FF2B5EF4-FFF2-40B4-BE49-F238E27FC236}">
                <a16:creationId xmlns:a16="http://schemas.microsoft.com/office/drawing/2014/main" id="{FAAFD7E2-044E-DA5D-6012-66AA496E9E85}"/>
              </a:ext>
            </a:extLst>
          </p:cNvPr>
          <p:cNvSpPr>
            <a:spLocks noChangeArrowheads="1"/>
          </p:cNvSpPr>
          <p:nvPr/>
        </p:nvSpPr>
        <p:spPr bwMode="auto">
          <a:xfrm>
            <a:off x="1655078" y="183239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8" name="Rectangle 6">
            <a:extLst>
              <a:ext uri="{FF2B5EF4-FFF2-40B4-BE49-F238E27FC236}">
                <a16:creationId xmlns:a16="http://schemas.microsoft.com/office/drawing/2014/main" id="{1584081F-9278-B391-C93D-0669A28F4283}"/>
              </a:ext>
            </a:extLst>
          </p:cNvPr>
          <p:cNvSpPr>
            <a:spLocks noChangeArrowheads="1"/>
          </p:cNvSpPr>
          <p:nvPr/>
        </p:nvSpPr>
        <p:spPr bwMode="auto">
          <a:xfrm>
            <a:off x="7093076" y="1771424"/>
            <a:ext cx="1646777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13" name="文本框 12">
            <a:extLst>
              <a:ext uri="{FF2B5EF4-FFF2-40B4-BE49-F238E27FC236}">
                <a16:creationId xmlns:a16="http://schemas.microsoft.com/office/drawing/2014/main" id="{54266370-AE09-8200-590E-B08E43051AB9}"/>
              </a:ext>
            </a:extLst>
          </p:cNvPr>
          <p:cNvSpPr txBox="1"/>
          <p:nvPr/>
        </p:nvSpPr>
        <p:spPr>
          <a:xfrm>
            <a:off x="895927" y="1129219"/>
            <a:ext cx="11336664" cy="496996"/>
          </a:xfrm>
          <a:prstGeom prst="rect">
            <a:avLst/>
          </a:prstGeom>
          <a:noFill/>
        </p:spPr>
        <p:txBody>
          <a:bodyPr wrap="square" rtlCol="0">
            <a:spAutoFit/>
          </a:bodyPr>
          <a:lstStyle/>
          <a:p>
            <a:pPr algn="just">
              <a:lnSpc>
                <a:spcPct val="150000"/>
              </a:lnSpc>
            </a:pPr>
            <a:r>
              <a:rPr lang="zh-CN" altLang="en-US" sz="2000" dirty="0"/>
              <a:t>工作位置机能：三位换向阀几种常用的滑阀工作位置机能见教材表</a:t>
            </a:r>
            <a:r>
              <a:rPr lang="en-US" altLang="zh-CN" sz="2000" dirty="0"/>
              <a:t>6-5</a:t>
            </a:r>
            <a:endParaRPr lang="zh-CN" altLang="en-US" sz="2000" dirty="0"/>
          </a:p>
        </p:txBody>
      </p:sp>
      <p:pic>
        <p:nvPicPr>
          <p:cNvPr id="4" name="图片 3">
            <a:extLst>
              <a:ext uri="{FF2B5EF4-FFF2-40B4-BE49-F238E27FC236}">
                <a16:creationId xmlns:a16="http://schemas.microsoft.com/office/drawing/2014/main" id="{356C284E-0DB8-60BA-B7FE-3CC4A28E56AB}"/>
              </a:ext>
            </a:extLst>
          </p:cNvPr>
          <p:cNvPicPr>
            <a:picLocks noChangeAspect="1"/>
          </p:cNvPicPr>
          <p:nvPr/>
        </p:nvPicPr>
        <p:blipFill>
          <a:blip r:embed="rId3"/>
          <a:stretch>
            <a:fillRect/>
          </a:stretch>
        </p:blipFill>
        <p:spPr>
          <a:xfrm>
            <a:off x="1319275" y="1917032"/>
            <a:ext cx="9553450" cy="4630200"/>
          </a:xfrm>
          <a:prstGeom prst="rect">
            <a:avLst/>
          </a:prstGeom>
        </p:spPr>
      </p:pic>
      <p:cxnSp>
        <p:nvCxnSpPr>
          <p:cNvPr id="9" name="直接连接符 8">
            <a:extLst>
              <a:ext uri="{FF2B5EF4-FFF2-40B4-BE49-F238E27FC236}">
                <a16:creationId xmlns:a16="http://schemas.microsoft.com/office/drawing/2014/main" id="{8A48DA29-6984-73B8-295B-F19C3BD6AE54}"/>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11" name="图片 10">
            <a:extLst>
              <a:ext uri="{FF2B5EF4-FFF2-40B4-BE49-F238E27FC236}">
                <a16:creationId xmlns:a16="http://schemas.microsoft.com/office/drawing/2014/main" id="{E2F69266-450B-FED6-B8A1-BB9C0C11A7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15" name="矩形 14">
            <a:extLst>
              <a:ext uri="{FF2B5EF4-FFF2-40B4-BE49-F238E27FC236}">
                <a16:creationId xmlns:a16="http://schemas.microsoft.com/office/drawing/2014/main" id="{A97131F6-5AEC-7402-56FB-C3172FBBE70A}"/>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376EF3BE-74EF-411F-9644-891DDEFEC69F}"/>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Tree>
    <p:extLst>
      <p:ext uri="{BB962C8B-B14F-4D97-AF65-F5344CB8AC3E}">
        <p14:creationId xmlns:p14="http://schemas.microsoft.com/office/powerpoint/2010/main" val="363013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2">
            <a:extLst>
              <a:ext uri="{FF2B5EF4-FFF2-40B4-BE49-F238E27FC236}">
                <a16:creationId xmlns:a16="http://schemas.microsoft.com/office/drawing/2014/main" id="{54EDBB8C-2E15-8AB7-17FF-DF7FF0F626FB}"/>
              </a:ext>
            </a:extLst>
          </p:cNvPr>
          <p:cNvSpPr>
            <a:spLocks noChangeArrowheads="1"/>
          </p:cNvSpPr>
          <p:nvPr/>
        </p:nvSpPr>
        <p:spPr bwMode="auto">
          <a:xfrm>
            <a:off x="7940842" y="1917032"/>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Rectangle 2">
            <a:extLst>
              <a:ext uri="{FF2B5EF4-FFF2-40B4-BE49-F238E27FC236}">
                <a16:creationId xmlns:a16="http://schemas.microsoft.com/office/drawing/2014/main" id="{D5EE1DBB-E8F5-8BFE-4A87-166D31B8BE51}"/>
              </a:ext>
            </a:extLst>
          </p:cNvPr>
          <p:cNvSpPr>
            <a:spLocks noChangeArrowheads="1"/>
          </p:cNvSpPr>
          <p:nvPr/>
        </p:nvSpPr>
        <p:spPr bwMode="auto">
          <a:xfrm>
            <a:off x="3021420" y="1771425"/>
            <a:ext cx="23671940" cy="609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16" name="Rectangle 4">
            <a:extLst>
              <a:ext uri="{FF2B5EF4-FFF2-40B4-BE49-F238E27FC236}">
                <a16:creationId xmlns:a16="http://schemas.microsoft.com/office/drawing/2014/main" id="{FAAFD7E2-044E-DA5D-6012-66AA496E9E85}"/>
              </a:ext>
            </a:extLst>
          </p:cNvPr>
          <p:cNvSpPr>
            <a:spLocks noChangeArrowheads="1"/>
          </p:cNvSpPr>
          <p:nvPr/>
        </p:nvSpPr>
        <p:spPr bwMode="auto">
          <a:xfrm>
            <a:off x="1655078" y="183239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8" name="Rectangle 6">
            <a:extLst>
              <a:ext uri="{FF2B5EF4-FFF2-40B4-BE49-F238E27FC236}">
                <a16:creationId xmlns:a16="http://schemas.microsoft.com/office/drawing/2014/main" id="{1584081F-9278-B391-C93D-0669A28F4283}"/>
              </a:ext>
            </a:extLst>
          </p:cNvPr>
          <p:cNvSpPr>
            <a:spLocks noChangeArrowheads="1"/>
          </p:cNvSpPr>
          <p:nvPr/>
        </p:nvSpPr>
        <p:spPr bwMode="auto">
          <a:xfrm>
            <a:off x="7093076" y="1771424"/>
            <a:ext cx="1646777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22" name="文本框 21">
            <a:extLst>
              <a:ext uri="{FF2B5EF4-FFF2-40B4-BE49-F238E27FC236}">
                <a16:creationId xmlns:a16="http://schemas.microsoft.com/office/drawing/2014/main" id="{3BFFA31C-47DC-A170-A11E-1E0AFB208A06}"/>
              </a:ext>
            </a:extLst>
          </p:cNvPr>
          <p:cNvSpPr txBox="1"/>
          <p:nvPr/>
        </p:nvSpPr>
        <p:spPr>
          <a:xfrm>
            <a:off x="720437" y="1433190"/>
            <a:ext cx="11336664" cy="580415"/>
          </a:xfrm>
          <a:prstGeom prst="rect">
            <a:avLst/>
          </a:prstGeom>
          <a:noFill/>
        </p:spPr>
        <p:txBody>
          <a:bodyPr wrap="square" rtlCol="0">
            <a:spAutoFit/>
          </a:bodyPr>
          <a:lstStyle/>
          <a:p>
            <a:pPr algn="just">
              <a:lnSpc>
                <a:spcPct val="150000"/>
              </a:lnSpc>
            </a:pPr>
            <a:r>
              <a:rPr lang="zh-CN" altLang="en-US" sz="2400" b="1" dirty="0"/>
              <a:t>滑阀机能</a:t>
            </a:r>
          </a:p>
        </p:txBody>
      </p:sp>
      <p:sp>
        <p:nvSpPr>
          <p:cNvPr id="11" name="文本框 10">
            <a:extLst>
              <a:ext uri="{FF2B5EF4-FFF2-40B4-BE49-F238E27FC236}">
                <a16:creationId xmlns:a16="http://schemas.microsoft.com/office/drawing/2014/main" id="{D5B6BB5B-935F-CCBC-E2EF-9F92E792C465}"/>
              </a:ext>
            </a:extLst>
          </p:cNvPr>
          <p:cNvSpPr txBox="1"/>
          <p:nvPr/>
        </p:nvSpPr>
        <p:spPr>
          <a:xfrm>
            <a:off x="895927" y="2042603"/>
            <a:ext cx="10453862" cy="4190314"/>
          </a:xfrm>
          <a:prstGeom prst="rect">
            <a:avLst/>
          </a:prstGeom>
          <a:noFill/>
        </p:spPr>
        <p:txBody>
          <a:bodyPr wrap="square" rtlCol="0">
            <a:spAutoFit/>
          </a:bodyPr>
          <a:lstStyle/>
          <a:p>
            <a:pPr algn="just">
              <a:lnSpc>
                <a:spcPct val="150000"/>
              </a:lnSpc>
            </a:pPr>
            <a:r>
              <a:rPr lang="zh-CN" altLang="en-US" sz="2000" dirty="0"/>
              <a:t>         换向阀的滑阀机能分为</a:t>
            </a:r>
            <a:r>
              <a:rPr lang="zh-CN" altLang="en-US" sz="2000" b="1" dirty="0">
                <a:solidFill>
                  <a:srgbClr val="FF0000"/>
                </a:solidFill>
              </a:rPr>
              <a:t>工作位置机能</a:t>
            </a:r>
            <a:r>
              <a:rPr lang="zh-CN" altLang="en-US" sz="2000" b="1" dirty="0"/>
              <a:t>和</a:t>
            </a:r>
            <a:r>
              <a:rPr lang="zh-CN" altLang="en-US" sz="2000" b="1" dirty="0">
                <a:solidFill>
                  <a:srgbClr val="FF0000"/>
                </a:solidFill>
              </a:rPr>
              <a:t>过渡位置机能</a:t>
            </a:r>
            <a:r>
              <a:rPr lang="zh-CN" altLang="en-US" sz="2000" b="1" dirty="0"/>
              <a:t>。前者是指滑阀处于某个工作位置时</a:t>
            </a:r>
            <a:r>
              <a:rPr lang="en-US" altLang="zh-CN" sz="2000" b="1" dirty="0"/>
              <a:t>,</a:t>
            </a:r>
            <a:r>
              <a:rPr lang="zh-CN" altLang="en-US" sz="2000" b="1" dirty="0"/>
              <a:t>其各个通口的连通关系</a:t>
            </a:r>
            <a:r>
              <a:rPr lang="en-US" altLang="zh-CN" sz="2000" b="1" dirty="0"/>
              <a:t>;</a:t>
            </a:r>
            <a:r>
              <a:rPr lang="zh-CN" altLang="en-US" sz="2000" b="1" dirty="0"/>
              <a:t>后者则指滑阀从一个工作位置变换到另一个工作位置的过渡过程中</a:t>
            </a:r>
            <a:r>
              <a:rPr lang="en-US" altLang="zh-CN" sz="2000" b="1" dirty="0"/>
              <a:t>,</a:t>
            </a:r>
            <a:r>
              <a:rPr lang="zh-CN" altLang="en-US" sz="2000" b="1" dirty="0"/>
              <a:t>它的各个通口的瞬时连通关系</a:t>
            </a:r>
            <a:r>
              <a:rPr lang="zh-CN" altLang="en-US" sz="2000" dirty="0"/>
              <a:t>。不同的滑阀机能对应有不同的功能。滑阀机能对换向阀的换向性能和系统的工作特性有着重要的影响。</a:t>
            </a:r>
            <a:endParaRPr lang="en-US" altLang="zh-CN" sz="2000" dirty="0"/>
          </a:p>
          <a:p>
            <a:pPr algn="just">
              <a:lnSpc>
                <a:spcPct val="150000"/>
              </a:lnSpc>
            </a:pPr>
            <a:r>
              <a:rPr lang="zh-CN" altLang="en-US" sz="2000" dirty="0"/>
              <a:t>        三位的滑阀在中位时各油口的连通方式体现了换向阀的控制机能，称之为滑阀的</a:t>
            </a:r>
            <a:r>
              <a:rPr lang="zh-CN" altLang="en-US" sz="2000" b="1" dirty="0">
                <a:solidFill>
                  <a:srgbClr val="FF0000"/>
                </a:solidFill>
              </a:rPr>
              <a:t>中位机能</a:t>
            </a:r>
            <a:r>
              <a:rPr lang="zh-CN" altLang="en-US" sz="2000" dirty="0"/>
              <a:t>。</a:t>
            </a:r>
          </a:p>
          <a:p>
            <a:pPr algn="just">
              <a:lnSpc>
                <a:spcPct val="150000"/>
              </a:lnSpc>
            </a:pPr>
            <a:r>
              <a:rPr lang="zh-CN" altLang="en-US" sz="2000" dirty="0"/>
              <a:t>        滑阀机能的应用：使泵卸载的有</a:t>
            </a:r>
            <a:r>
              <a:rPr lang="en-US" altLang="zh-CN" sz="2000" dirty="0"/>
              <a:t>H</a:t>
            </a:r>
            <a:r>
              <a:rPr lang="zh-CN" altLang="en-US" sz="2000" dirty="0"/>
              <a:t>、</a:t>
            </a:r>
            <a:r>
              <a:rPr lang="en-US" altLang="zh-CN" sz="2000" dirty="0"/>
              <a:t>K</a:t>
            </a:r>
            <a:r>
              <a:rPr lang="zh-CN" altLang="en-US" sz="2000" dirty="0"/>
              <a:t>、</a:t>
            </a:r>
            <a:r>
              <a:rPr lang="en-US" altLang="zh-CN" sz="2000" dirty="0"/>
              <a:t>M</a:t>
            </a:r>
            <a:r>
              <a:rPr lang="zh-CN" altLang="en-US" sz="2000" dirty="0"/>
              <a:t>型；使执行元件停止的有</a:t>
            </a:r>
            <a:r>
              <a:rPr lang="en-US" altLang="zh-CN" sz="2000" dirty="0"/>
              <a:t>O</a:t>
            </a:r>
            <a:r>
              <a:rPr lang="zh-CN" altLang="en-US" sz="2000" dirty="0"/>
              <a:t>、</a:t>
            </a:r>
            <a:r>
              <a:rPr lang="en-US" altLang="zh-CN" sz="2000" dirty="0"/>
              <a:t>M</a:t>
            </a:r>
            <a:r>
              <a:rPr lang="zh-CN" altLang="en-US" sz="2000" dirty="0"/>
              <a:t>型；使执行元件浮动的有</a:t>
            </a:r>
            <a:r>
              <a:rPr lang="en-US" altLang="zh-CN" sz="2000" dirty="0"/>
              <a:t>H</a:t>
            </a:r>
            <a:r>
              <a:rPr lang="zh-CN" altLang="en-US" sz="2000" dirty="0"/>
              <a:t>、</a:t>
            </a:r>
            <a:r>
              <a:rPr lang="en-US" altLang="zh-CN" sz="2000" dirty="0"/>
              <a:t>Y</a:t>
            </a:r>
            <a:r>
              <a:rPr lang="zh-CN" altLang="en-US" sz="2000" dirty="0"/>
              <a:t>型；使液压缸实现差动的有</a:t>
            </a:r>
            <a:r>
              <a:rPr lang="en-US" altLang="zh-CN" sz="2000" dirty="0"/>
              <a:t>P</a:t>
            </a:r>
            <a:r>
              <a:rPr lang="zh-CN" altLang="en-US" sz="2000" dirty="0"/>
              <a:t>型。</a:t>
            </a:r>
          </a:p>
          <a:p>
            <a:pPr algn="just">
              <a:lnSpc>
                <a:spcPct val="150000"/>
              </a:lnSpc>
            </a:pPr>
            <a:endParaRPr lang="zh-CN" altLang="en-US" sz="2000" dirty="0"/>
          </a:p>
        </p:txBody>
      </p:sp>
      <p:cxnSp>
        <p:nvCxnSpPr>
          <p:cNvPr id="9" name="直接连接符 8">
            <a:extLst>
              <a:ext uri="{FF2B5EF4-FFF2-40B4-BE49-F238E27FC236}">
                <a16:creationId xmlns:a16="http://schemas.microsoft.com/office/drawing/2014/main" id="{AC8023EB-4475-4F9D-EDB7-DFEF7E4B411E}"/>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12" name="图片 11">
            <a:extLst>
              <a:ext uri="{FF2B5EF4-FFF2-40B4-BE49-F238E27FC236}">
                <a16:creationId xmlns:a16="http://schemas.microsoft.com/office/drawing/2014/main" id="{54CD5A5A-8F8E-B547-0FC0-ACC0F0C670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15" name="矩形 14">
            <a:extLst>
              <a:ext uri="{FF2B5EF4-FFF2-40B4-BE49-F238E27FC236}">
                <a16:creationId xmlns:a16="http://schemas.microsoft.com/office/drawing/2014/main" id="{CE5433D5-7831-07E2-E430-0A2368A65ABA}"/>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F5D5BFA8-400E-F33A-A09F-4E34DCAE999B}"/>
              </a:ext>
            </a:extLst>
          </p:cNvPr>
          <p:cNvSpPr/>
          <p:nvPr/>
        </p:nvSpPr>
        <p:spPr>
          <a:xfrm>
            <a:off x="429656" y="887912"/>
            <a:ext cx="7547154" cy="662554"/>
          </a:xfrm>
          <a:prstGeom prst="rect">
            <a:avLst/>
          </a:prstGeom>
          <a:noFill/>
        </p:spPr>
        <p:txBody>
          <a:bodyPr wrap="square">
            <a:spAutoFit/>
          </a:bodyPr>
          <a:lstStyle/>
          <a:p>
            <a:pPr>
              <a:lnSpc>
                <a:spcPct val="150000"/>
              </a:lnSpc>
              <a:buFont typeface="Wingdings" panose="05000000000000000000" pitchFamily="2" charset="2"/>
              <a:buChar char="q"/>
            </a:pPr>
            <a:r>
              <a:rPr lang="en-US" altLang="zh-CN" sz="2800" b="1" dirty="0">
                <a:solidFill>
                  <a:srgbClr val="003F88"/>
                </a:solidFill>
                <a:latin typeface="微软雅黑" panose="020B0503020204020204" pitchFamily="34" charset="-122"/>
                <a:ea typeface="微软雅黑" panose="020B0503020204020204" pitchFamily="34" charset="-122"/>
              </a:rPr>
              <a:t>8.2.3 </a:t>
            </a:r>
            <a:r>
              <a:rPr lang="zh-CN" altLang="en-US" sz="2800" b="1" dirty="0">
                <a:solidFill>
                  <a:srgbClr val="003F88"/>
                </a:solidFill>
                <a:latin typeface="微软雅黑" panose="020B0503020204020204" pitchFamily="34" charset="-122"/>
                <a:ea typeface="微软雅黑" panose="020B0503020204020204" pitchFamily="34" charset="-122"/>
              </a:rPr>
              <a:t>换向阀</a:t>
            </a:r>
          </a:p>
        </p:txBody>
      </p:sp>
      <p:sp>
        <p:nvSpPr>
          <p:cNvPr id="19" name="文本框 18">
            <a:extLst>
              <a:ext uri="{FF2B5EF4-FFF2-40B4-BE49-F238E27FC236}">
                <a16:creationId xmlns:a16="http://schemas.microsoft.com/office/drawing/2014/main" id="{2DF72839-AFAD-4490-9802-3BA91EB84BFE}"/>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Tree>
    <p:extLst>
      <p:ext uri="{BB962C8B-B14F-4D97-AF65-F5344CB8AC3E}">
        <p14:creationId xmlns:p14="http://schemas.microsoft.com/office/powerpoint/2010/main" val="2022352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2" y="1888883"/>
            <a:ext cx="7547155" cy="3453766"/>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换向阀卸荷回路：</a:t>
            </a:r>
            <a:endParaRPr lang="en-US" altLang="zh-CN" sz="2400" b="1" kern="0" dirty="0">
              <a:latin typeface="微软雅黑" panose="020B0503020204020204" pitchFamily="34" charset="-122"/>
              <a:ea typeface="微软雅黑" panose="020B0503020204020204" pitchFamily="34" charset="-122"/>
            </a:endParaRPr>
          </a:p>
          <a:p>
            <a:pPr>
              <a:lnSpc>
                <a:spcPct val="150000"/>
              </a:lnSpc>
            </a:pPr>
            <a:r>
              <a:rPr lang="zh-CN" altLang="en-US" sz="2000" dirty="0"/>
              <a:t>如图所示的回路，采用</a:t>
            </a:r>
            <a:r>
              <a:rPr lang="en-US" altLang="zh-CN" sz="2000" dirty="0">
                <a:solidFill>
                  <a:srgbClr val="FF0000"/>
                </a:solidFill>
              </a:rPr>
              <a:t>M</a:t>
            </a:r>
            <a:r>
              <a:rPr lang="zh-CN" altLang="en-US" sz="2000" dirty="0">
                <a:solidFill>
                  <a:srgbClr val="FF0000"/>
                </a:solidFill>
              </a:rPr>
              <a:t>、</a:t>
            </a:r>
            <a:r>
              <a:rPr lang="en-US" altLang="zh-CN" sz="2000" dirty="0">
                <a:solidFill>
                  <a:srgbClr val="FF0000"/>
                </a:solidFill>
              </a:rPr>
              <a:t>H</a:t>
            </a:r>
            <a:r>
              <a:rPr lang="zh-CN" altLang="en-US" sz="2000" dirty="0">
                <a:solidFill>
                  <a:srgbClr val="FF0000"/>
                </a:solidFill>
              </a:rPr>
              <a:t>和</a:t>
            </a:r>
            <a:r>
              <a:rPr lang="en-US" altLang="zh-CN" sz="2000" dirty="0">
                <a:solidFill>
                  <a:srgbClr val="FF0000"/>
                </a:solidFill>
              </a:rPr>
              <a:t>K</a:t>
            </a:r>
            <a:r>
              <a:rPr lang="zh-CN" altLang="en-US" sz="2000" dirty="0">
                <a:solidFill>
                  <a:srgbClr val="FF0000"/>
                </a:solidFill>
              </a:rPr>
              <a:t>型中位机能</a:t>
            </a:r>
            <a:r>
              <a:rPr lang="zh-CN" altLang="en-US" sz="2000" dirty="0"/>
              <a:t>的三位换向阀。当换向阀处于</a:t>
            </a:r>
            <a:r>
              <a:rPr lang="zh-CN" altLang="en-US" sz="2000" dirty="0">
                <a:solidFill>
                  <a:srgbClr val="FF0000"/>
                </a:solidFill>
              </a:rPr>
              <a:t>中位</a:t>
            </a:r>
            <a:r>
              <a:rPr lang="zh-CN" altLang="en-US" sz="2000" dirty="0"/>
              <a:t>时，液压泵实现卸荷，出口油液直接回流至油箱。切换时冲击力小。</a:t>
            </a:r>
            <a:r>
              <a:rPr lang="zh-CN" altLang="en-US" sz="2000" b="1" dirty="0">
                <a:solidFill>
                  <a:srgbClr val="003F88"/>
                </a:solidFill>
              </a:rPr>
              <a:t>为了维持对执行元件的控制压力</a:t>
            </a:r>
            <a:r>
              <a:rPr lang="zh-CN" altLang="en-US" sz="2000" dirty="0"/>
              <a:t>，泵出口处安装</a:t>
            </a:r>
            <a:r>
              <a:rPr lang="zh-CN" altLang="en-US" sz="2000" dirty="0">
                <a:solidFill>
                  <a:srgbClr val="FF0000"/>
                </a:solidFill>
              </a:rPr>
              <a:t>单向阀</a:t>
            </a:r>
            <a:r>
              <a:rPr lang="zh-CN" altLang="en-US" sz="2000" dirty="0"/>
              <a:t>，确保系统在卸荷时仍能保持必要的控制压力 </a:t>
            </a:r>
            <a:r>
              <a:rPr lang="en-US" altLang="zh-CN" sz="2000" dirty="0"/>
              <a:t>(0.3MPa)</a:t>
            </a:r>
            <a:r>
              <a:rPr lang="zh-CN" altLang="en-US" sz="2000" dirty="0"/>
              <a:t>。</a:t>
            </a:r>
            <a:endParaRPr lang="en-US" altLang="zh-CN" sz="2000" dirty="0"/>
          </a:p>
          <a:p>
            <a:pPr>
              <a:lnSpc>
                <a:spcPct val="150000"/>
              </a:lnSpc>
            </a:pPr>
            <a:r>
              <a:rPr lang="zh-CN" altLang="en-US" sz="2400" b="1" dirty="0"/>
              <a:t>特点：</a:t>
            </a:r>
            <a:endParaRPr lang="en-US" altLang="zh-CN" sz="2400" b="1" dirty="0"/>
          </a:p>
          <a:p>
            <a:pPr>
              <a:lnSpc>
                <a:spcPct val="150000"/>
              </a:lnSpc>
            </a:pPr>
            <a:r>
              <a:rPr lang="zh-CN" altLang="en-US" sz="2000" dirty="0"/>
              <a:t>结构简单，不适用于一个泵驱动多个执行元件的情况。</a:t>
            </a:r>
            <a:endParaRPr lang="en-US" altLang="zh-CN" sz="2000" dirty="0"/>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1" y="564052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换向阀中位机能卸荷回路</a:t>
            </a:r>
            <a:endParaRPr lang="zh-CN" altLang="en-US" sz="2000" dirty="0"/>
          </a:p>
        </p:txBody>
      </p:sp>
      <p:pic>
        <p:nvPicPr>
          <p:cNvPr id="3" name="9Z4.EPS">
            <a:extLst>
              <a:ext uri="{FF2B5EF4-FFF2-40B4-BE49-F238E27FC236}">
                <a16:creationId xmlns:a16="http://schemas.microsoft.com/office/drawing/2014/main" id="{2B5F36B0-D774-C13D-21B9-769961A5D3BC}"/>
              </a:ext>
            </a:extLst>
          </p:cNvPr>
          <p:cNvPicPr>
            <a:picLocks noChangeAspect="1"/>
          </p:cNvPicPr>
          <p:nvPr/>
        </p:nvPicPr>
        <p:blipFill>
          <a:blip r:embed="rId3" cstate="print"/>
          <a:srcRect r="50756" b="15311"/>
          <a:stretch/>
        </p:blipFill>
        <p:spPr>
          <a:xfrm>
            <a:off x="8963794" y="1992680"/>
            <a:ext cx="2631786" cy="3512289"/>
          </a:xfrm>
          <a:prstGeom prst="rect">
            <a:avLst/>
          </a:prstGeom>
        </p:spPr>
      </p:pic>
      <p:sp>
        <p:nvSpPr>
          <p:cNvPr id="2" name="矩形 18">
            <a:extLst>
              <a:ext uri="{FF2B5EF4-FFF2-40B4-BE49-F238E27FC236}">
                <a16:creationId xmlns:a16="http://schemas.microsoft.com/office/drawing/2014/main" id="{826A9269-6AF3-6F7E-81C7-709BEC8B656C}"/>
              </a:ext>
            </a:extLst>
          </p:cNvPr>
          <p:cNvSpPr/>
          <p:nvPr/>
        </p:nvSpPr>
        <p:spPr>
          <a:xfrm>
            <a:off x="638172" y="5840576"/>
            <a:ext cx="7547155" cy="499624"/>
          </a:xfrm>
          <a:prstGeom prst="rect">
            <a:avLst/>
          </a:prstGeom>
        </p:spPr>
        <p:txBody>
          <a:bodyPr wrap="square">
            <a:spAutoFit/>
          </a:bodyPr>
          <a:lstStyle/>
          <a:p>
            <a:pPr>
              <a:lnSpc>
                <a:spcPct val="150000"/>
              </a:lnSpc>
            </a:pPr>
            <a:r>
              <a:rPr lang="zh-CN" altLang="en-US" sz="2000" b="1" dirty="0"/>
              <a:t>注意：</a:t>
            </a:r>
            <a:r>
              <a:rPr lang="zh-CN" altLang="en-US" sz="2000" dirty="0"/>
              <a:t>换向阀的流量必须与液压泵的流量匹配。</a:t>
            </a:r>
            <a:endParaRPr lang="en-US" altLang="zh-CN" sz="2000" kern="0" dirty="0">
              <a:latin typeface="+mn-ea"/>
            </a:endParaRPr>
          </a:p>
        </p:txBody>
      </p:sp>
    </p:spTree>
    <p:extLst>
      <p:ext uri="{BB962C8B-B14F-4D97-AF65-F5344CB8AC3E}">
        <p14:creationId xmlns:p14="http://schemas.microsoft.com/office/powerpoint/2010/main" val="6464856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2" y="1888883"/>
            <a:ext cx="7097157" cy="3361946"/>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二位二通阀旁路卸荷回路：</a:t>
            </a:r>
            <a:endParaRPr lang="en-US" altLang="zh-CN" sz="2400" b="1" kern="0" dirty="0">
              <a:latin typeface="微软雅黑" panose="020B0503020204020204" pitchFamily="34" charset="-122"/>
              <a:ea typeface="微软雅黑" panose="020B0503020204020204" pitchFamily="34" charset="-122"/>
            </a:endParaRPr>
          </a:p>
          <a:p>
            <a:pPr eaLnBrk="0" fontAlgn="base" hangingPunct="0">
              <a:lnSpc>
                <a:spcPct val="150000"/>
              </a:lnSpc>
              <a:spcBef>
                <a:spcPct val="0"/>
              </a:spcBef>
              <a:spcAft>
                <a:spcPct val="0"/>
              </a:spcAft>
            </a:pPr>
            <a:r>
              <a:rPr lang="zh-CN" altLang="en-US" sz="2000" kern="0" dirty="0">
                <a:latin typeface="微软雅黑" panose="020B0503020204020204" pitchFamily="34" charset="-122"/>
                <a:ea typeface="微软雅黑" panose="020B0503020204020204" pitchFamily="34" charset="-122"/>
              </a:rPr>
              <a:t>如图所示，当二位二通阀处于左位工作时，液压泵排出的油液以接近零压的状态流回油箱，从而节省能量并避免油温上升。</a:t>
            </a:r>
            <a:endParaRPr lang="en-US" altLang="zh-CN" sz="2000" kern="0" dirty="0">
              <a:latin typeface="微软雅黑" panose="020B0503020204020204" pitchFamily="34" charset="-122"/>
              <a:ea typeface="微软雅黑" panose="020B0503020204020204" pitchFamily="34" charset="-122"/>
            </a:endParaRPr>
          </a:p>
          <a:p>
            <a:pPr eaLnBrk="0" fontAlgn="base" hangingPunct="0">
              <a:lnSpc>
                <a:spcPct val="150000"/>
              </a:lnSpc>
              <a:spcBef>
                <a:spcPct val="0"/>
              </a:spcBef>
              <a:spcAft>
                <a:spcPct val="0"/>
              </a:spcAft>
            </a:pPr>
            <a:endParaRPr lang="en-US" altLang="zh-CN" sz="2000" kern="0" dirty="0">
              <a:latin typeface="微软雅黑" panose="020B0503020204020204" pitchFamily="34" charset="-122"/>
              <a:ea typeface="微软雅黑" panose="020B0503020204020204" pitchFamily="34" charset="-122"/>
            </a:endParaRPr>
          </a:p>
          <a:p>
            <a:pPr eaLnBrk="0" fontAlgn="base" hangingPunct="0">
              <a:lnSpc>
                <a:spcPct val="150000"/>
              </a:lnSpc>
              <a:spcBef>
                <a:spcPct val="0"/>
              </a:spcBef>
              <a:spcAft>
                <a:spcPct val="0"/>
              </a:spcAft>
            </a:pPr>
            <a:r>
              <a:rPr lang="zh-CN" altLang="en-US" sz="2000" kern="0" dirty="0">
                <a:latin typeface="微软雅黑" panose="020B0503020204020204" pitchFamily="34" charset="-122"/>
                <a:ea typeface="微软雅黑" panose="020B0503020204020204" pitchFamily="34" charset="-122"/>
              </a:rPr>
              <a:t>二位二通阀可以手动操作，也可以选择电磁操作方式。需要注意的是，二位二通阀的额定流量必须与液压泵的流量相</a:t>
            </a:r>
            <a:r>
              <a:rPr lang="zh-CN" altLang="en-US" sz="2000" kern="0" dirty="0">
                <a:solidFill>
                  <a:srgbClr val="FF0000"/>
                </a:solidFill>
                <a:latin typeface="微软雅黑" panose="020B0503020204020204" pitchFamily="34" charset="-122"/>
                <a:ea typeface="微软雅黑" panose="020B0503020204020204" pitchFamily="34" charset="-122"/>
              </a:rPr>
              <a:t>匹配</a:t>
            </a:r>
            <a:r>
              <a:rPr lang="zh-CN" altLang="en-US" sz="2000" kern="0" dirty="0">
                <a:latin typeface="微软雅黑" panose="020B0503020204020204" pitchFamily="34" charset="-122"/>
                <a:ea typeface="微软雅黑" panose="020B0503020204020204" pitchFamily="34" charset="-122"/>
              </a:rPr>
              <a:t>，以确保系统正常运行。</a:t>
            </a:r>
            <a:endParaRPr lang="en-US" altLang="zh-CN" sz="2000" kern="0" dirty="0">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1" y="564052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二位二通阀卸荷回路</a:t>
            </a:r>
            <a:endParaRPr lang="zh-CN" altLang="en-US" sz="2000" dirty="0"/>
          </a:p>
        </p:txBody>
      </p:sp>
      <p:pic>
        <p:nvPicPr>
          <p:cNvPr id="2" name="Picture 3" descr="D:\Backup\我的文档\My Pictures\图片3.png">
            <a:extLst>
              <a:ext uri="{FF2B5EF4-FFF2-40B4-BE49-F238E27FC236}">
                <a16:creationId xmlns:a16="http://schemas.microsoft.com/office/drawing/2014/main" id="{B883ACF2-1715-D315-CC8D-175BD4F1FB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b="13792"/>
          <a:stretch>
            <a:fillRect/>
          </a:stretch>
        </p:blipFill>
        <p:spPr bwMode="auto">
          <a:xfrm>
            <a:off x="8088021" y="2477966"/>
            <a:ext cx="4020513" cy="3211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03476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2" y="1888883"/>
            <a:ext cx="7097157" cy="4377609"/>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先导式溢流阀卸荷回路：</a:t>
            </a:r>
            <a:endParaRPr lang="en-US" altLang="zh-CN" sz="2400" b="1" kern="0" dirty="0">
              <a:latin typeface="微软雅黑" panose="020B0503020204020204" pitchFamily="34" charset="-122"/>
              <a:ea typeface="微软雅黑" panose="020B0503020204020204" pitchFamily="34" charset="-122"/>
            </a:endParaRPr>
          </a:p>
          <a:p>
            <a:pPr eaLnBrk="0" fontAlgn="base" hangingPunct="0">
              <a:lnSpc>
                <a:spcPct val="150000"/>
              </a:lnSpc>
              <a:spcBef>
                <a:spcPct val="0"/>
              </a:spcBef>
              <a:spcAft>
                <a:spcPct val="0"/>
              </a:spcAft>
            </a:pPr>
            <a:r>
              <a:rPr lang="zh-CN" altLang="en-US" sz="2000" kern="0" dirty="0">
                <a:latin typeface="微软雅黑" panose="020B0503020204020204" pitchFamily="34" charset="-122"/>
                <a:ea typeface="微软雅黑" panose="020B0503020204020204" pitchFamily="34" charset="-122"/>
              </a:rPr>
              <a:t>如图所示，在二位二通阀旁路卸荷回路中，二位二通阀支路中增加</a:t>
            </a:r>
            <a:r>
              <a:rPr lang="zh-CN" altLang="en-US" sz="2000" dirty="0">
                <a:latin typeface="微软雅黑" panose="020B0503020204020204" pitchFamily="34" charset="-122"/>
                <a:ea typeface="微软雅黑" panose="020B0503020204020204" pitchFamily="34" charset="-122"/>
              </a:rPr>
              <a:t>先导式溢流阀，当</a:t>
            </a:r>
            <a:r>
              <a:rPr lang="zh-CN" altLang="en-US" sz="2000" kern="0" dirty="0">
                <a:latin typeface="微软雅黑" panose="020B0503020204020204" pitchFamily="34" charset="-122"/>
                <a:ea typeface="微软雅黑" panose="020B0503020204020204" pitchFamily="34" charset="-122"/>
              </a:rPr>
              <a:t>二位二通电磁阀得电，</a:t>
            </a:r>
            <a:r>
              <a:rPr lang="zh-CN" altLang="en-US" sz="2000" dirty="0">
                <a:latin typeface="微软雅黑" panose="020B0503020204020204" pitchFamily="34" charset="-122"/>
                <a:ea typeface="微软雅黑" panose="020B0503020204020204" pitchFamily="34" charset="-122"/>
              </a:rPr>
              <a:t>先导式</a:t>
            </a:r>
            <a:r>
              <a:rPr lang="zh-CN" altLang="en-US" sz="2000" kern="0" dirty="0">
                <a:latin typeface="微软雅黑" panose="020B0503020204020204" pitchFamily="34" charset="-122"/>
                <a:ea typeface="微软雅黑" panose="020B0503020204020204" pitchFamily="34" charset="-122"/>
              </a:rPr>
              <a:t>溢流阀</a:t>
            </a:r>
            <a:r>
              <a:rPr lang="zh-CN" altLang="en-US" sz="2000" kern="0" dirty="0">
                <a:solidFill>
                  <a:srgbClr val="FF0000"/>
                </a:solidFill>
                <a:latin typeface="微软雅黑" panose="020B0503020204020204" pitchFamily="34" charset="-122"/>
                <a:ea typeface="微软雅黑" panose="020B0503020204020204" pitchFamily="34" charset="-122"/>
              </a:rPr>
              <a:t>远程控制</a:t>
            </a:r>
            <a:r>
              <a:rPr lang="zh-CN" altLang="en-US" sz="2000" kern="0" dirty="0">
                <a:latin typeface="微软雅黑" panose="020B0503020204020204" pitchFamily="34" charset="-122"/>
                <a:ea typeface="微软雅黑" panose="020B0503020204020204" pitchFamily="34" charset="-122"/>
              </a:rPr>
              <a:t>口通油箱，</a:t>
            </a:r>
            <a:r>
              <a:rPr lang="zh-CN" altLang="en-US" sz="2000" dirty="0">
                <a:latin typeface="微软雅黑" panose="020B0503020204020204" pitchFamily="34" charset="-122"/>
                <a:ea typeface="微软雅黑" panose="020B0503020204020204" pitchFamily="34" charset="-122"/>
              </a:rPr>
              <a:t>先导式</a:t>
            </a:r>
            <a:r>
              <a:rPr lang="zh-CN" altLang="en-US" sz="2000" kern="0" dirty="0">
                <a:latin typeface="微软雅黑" panose="020B0503020204020204" pitchFamily="34" charset="-122"/>
                <a:ea typeface="微软雅黑" panose="020B0503020204020204" pitchFamily="34" charset="-122"/>
              </a:rPr>
              <a:t>溢流阀的平衡活塞上移，主阀阀口打开，液压泵排出的液压油全部流回油箱，液压泵出口压力几乎是零，故泵卸荷。</a:t>
            </a:r>
            <a:endParaRPr lang="en-US" altLang="zh-CN" sz="2000" kern="0" dirty="0">
              <a:latin typeface="微软雅黑" panose="020B0503020204020204" pitchFamily="34" charset="-122"/>
              <a:ea typeface="微软雅黑" panose="020B0503020204020204" pitchFamily="34" charset="-122"/>
            </a:endParaRPr>
          </a:p>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特点：</a:t>
            </a:r>
            <a:endParaRPr lang="en-US" altLang="zh-CN" sz="2400" b="1" kern="0" dirty="0">
              <a:latin typeface="微软雅黑" panose="020B0503020204020204" pitchFamily="34" charset="-122"/>
              <a:ea typeface="微软雅黑" panose="020B0503020204020204" pitchFamily="34" charset="-122"/>
            </a:endParaRPr>
          </a:p>
          <a:p>
            <a:pPr eaLnBrk="0" fontAlgn="base" hangingPunct="0">
              <a:lnSpc>
                <a:spcPct val="150000"/>
              </a:lnSpc>
              <a:spcBef>
                <a:spcPct val="0"/>
              </a:spcBef>
              <a:spcAft>
                <a:spcPct val="0"/>
              </a:spcAft>
            </a:pPr>
            <a:r>
              <a:rPr lang="zh-CN" altLang="en-US" sz="2000" dirty="0">
                <a:latin typeface="楷体_GB2312" pitchFamily="49" charset="-122"/>
                <a:ea typeface="楷体_GB2312" pitchFamily="49" charset="-122"/>
              </a:rPr>
              <a:t>二位二通电磁阀只通过很少的流量，因此可用于小流量回路</a:t>
            </a:r>
            <a:r>
              <a:rPr lang="zh-CN" altLang="en-US" sz="2000" b="1" dirty="0">
                <a:latin typeface="楷体_GB2312" pitchFamily="49" charset="-122"/>
                <a:ea typeface="楷体_GB2312" pitchFamily="49" charset="-122"/>
              </a:rPr>
              <a:t>；</a:t>
            </a:r>
            <a:r>
              <a:rPr lang="zh-CN" altLang="en-US" sz="2000" kern="0" dirty="0">
                <a:latin typeface="微软雅黑" panose="020B0503020204020204" pitchFamily="34" charset="-122"/>
                <a:ea typeface="微软雅黑" panose="020B0503020204020204" pitchFamily="34" charset="-122"/>
              </a:rPr>
              <a:t>卸荷回路切换时</a:t>
            </a:r>
            <a:r>
              <a:rPr lang="zh-CN" altLang="en-US" sz="2000" kern="0" dirty="0">
                <a:solidFill>
                  <a:srgbClr val="FF0000"/>
                </a:solidFill>
                <a:latin typeface="微软雅黑" panose="020B0503020204020204" pitchFamily="34" charset="-122"/>
                <a:ea typeface="微软雅黑" panose="020B0503020204020204" pitchFamily="34" charset="-122"/>
              </a:rPr>
              <a:t>冲击力小</a:t>
            </a:r>
            <a:r>
              <a:rPr lang="zh-CN" altLang="en-US" sz="2000" kern="0" dirty="0">
                <a:latin typeface="微软雅黑" panose="020B0503020204020204" pitchFamily="34" charset="-122"/>
                <a:ea typeface="微软雅黑" panose="020B0503020204020204" pitchFamily="34" charset="-122"/>
              </a:rPr>
              <a:t>。</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1" y="564052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先导式溢流阀卸荷回路</a:t>
            </a:r>
            <a:endParaRPr lang="zh-CN" altLang="en-US" sz="2000" dirty="0"/>
          </a:p>
        </p:txBody>
      </p:sp>
      <p:pic>
        <p:nvPicPr>
          <p:cNvPr id="7" name="Picture 6">
            <a:extLst>
              <a:ext uri="{FF2B5EF4-FFF2-40B4-BE49-F238E27FC236}">
                <a16:creationId xmlns:a16="http://schemas.microsoft.com/office/drawing/2014/main" id="{99DD3CC0-2DF6-DF5B-A583-97F853035143}"/>
              </a:ext>
            </a:extLst>
          </p:cNvPr>
          <p:cNvPicPr>
            <a:picLocks noChangeAspect="1"/>
          </p:cNvPicPr>
          <p:nvPr/>
        </p:nvPicPr>
        <p:blipFill>
          <a:blip r:embed="rId3"/>
          <a:srcRect b="8948"/>
          <a:stretch/>
        </p:blipFill>
        <p:spPr>
          <a:xfrm>
            <a:off x="8620114" y="1683530"/>
            <a:ext cx="2889754" cy="3680317"/>
          </a:xfrm>
          <a:prstGeom prst="rect">
            <a:avLst/>
          </a:prstGeom>
        </p:spPr>
      </p:pic>
    </p:spTree>
    <p:extLst>
      <p:ext uri="{BB962C8B-B14F-4D97-AF65-F5344CB8AC3E}">
        <p14:creationId xmlns:p14="http://schemas.microsoft.com/office/powerpoint/2010/main" val="38669433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2" y="1888883"/>
            <a:ext cx="7449849" cy="2900281"/>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插装阀卸荷回路：</a:t>
            </a:r>
            <a:endParaRPr lang="en-US" altLang="zh-CN" sz="2400" b="1" kern="0" dirty="0">
              <a:latin typeface="微软雅黑" panose="020B0503020204020204" pitchFamily="34" charset="-122"/>
              <a:ea typeface="微软雅黑" panose="020B0503020204020204" pitchFamily="34" charset="-122"/>
            </a:endParaRP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正常工作时，电磁换向阀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关闭，系统压力由溢流阀</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调定。</a:t>
            </a: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卸荷时，电磁换向阀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得电，电磁换向阀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打开，插装阀上腔接通油箱，主阀口全部打开，泵卸荷。</a:t>
            </a: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电磁换向阀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控制先导油路，阀芯尺寸小，可实现高压</a:t>
            </a:r>
            <a:r>
              <a:rPr lang="zh-CN" altLang="en-US" sz="2000" kern="0" dirty="0">
                <a:solidFill>
                  <a:srgbClr val="FF0000"/>
                </a:solidFill>
                <a:latin typeface="微软雅黑" panose="020B0503020204020204" pitchFamily="34" charset="-122"/>
                <a:ea typeface="微软雅黑" panose="020B0503020204020204" pitchFamily="34" charset="-122"/>
              </a:rPr>
              <a:t>大流量</a:t>
            </a:r>
            <a:r>
              <a:rPr lang="zh-CN" altLang="en-US" sz="2000" kern="0" dirty="0">
                <a:latin typeface="微软雅黑" panose="020B0503020204020204" pitchFamily="34" charset="-122"/>
                <a:ea typeface="微软雅黑" panose="020B0503020204020204" pitchFamily="34" charset="-122"/>
              </a:rPr>
              <a:t>快速卸荷和升压。</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1" y="564052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插装阀卸荷回路</a:t>
            </a:r>
          </a:p>
        </p:txBody>
      </p:sp>
      <p:pic>
        <p:nvPicPr>
          <p:cNvPr id="3" name="图片 6">
            <a:extLst>
              <a:ext uri="{FF2B5EF4-FFF2-40B4-BE49-F238E27FC236}">
                <a16:creationId xmlns:a16="http://schemas.microsoft.com/office/drawing/2014/main" id="{01F5192C-2BF7-C65C-FFBD-F469CA9C43C9}"/>
              </a:ext>
            </a:extLst>
          </p:cNvPr>
          <p:cNvPicPr>
            <a:picLocks noChangeAspect="1"/>
          </p:cNvPicPr>
          <p:nvPr/>
        </p:nvPicPr>
        <p:blipFill>
          <a:blip r:embed="rId3"/>
          <a:stretch>
            <a:fillRect/>
          </a:stretch>
        </p:blipFill>
        <p:spPr>
          <a:xfrm>
            <a:off x="8470709" y="1442476"/>
            <a:ext cx="3067050" cy="4162425"/>
          </a:xfrm>
          <a:prstGeom prst="rect">
            <a:avLst/>
          </a:prstGeom>
        </p:spPr>
      </p:pic>
    </p:spTree>
    <p:extLst>
      <p:ext uri="{BB962C8B-B14F-4D97-AF65-F5344CB8AC3E}">
        <p14:creationId xmlns:p14="http://schemas.microsoft.com/office/powerpoint/2010/main" val="7704003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2" y="1888883"/>
            <a:ext cx="6660000" cy="2900281"/>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复合泵卸荷回路：</a:t>
            </a:r>
            <a:r>
              <a:rPr lang="en-US" altLang="zh-CN" sz="2000" kern="0" dirty="0">
                <a:latin typeface="微软雅黑" panose="020B0503020204020204" pitchFamily="34" charset="-122"/>
                <a:ea typeface="微软雅黑" panose="020B0503020204020204" pitchFamily="34" charset="-122"/>
                <a:sym typeface="Wingdings" panose="05000000000000000000" pitchFamily="2" charset="2"/>
              </a:rPr>
              <a:t>(</a:t>
            </a:r>
            <a:r>
              <a:rPr lang="zh-CN" altLang="en-US" sz="2000" kern="0" dirty="0">
                <a:latin typeface="微软雅黑" panose="020B0503020204020204" pitchFamily="34" charset="-122"/>
                <a:ea typeface="微软雅黑" panose="020B0503020204020204" pitchFamily="34" charset="-122"/>
                <a:sym typeface="Wingdings" panose="05000000000000000000" pitchFamily="2" charset="2"/>
              </a:rPr>
              <a:t>以液压钻床为例</a:t>
            </a:r>
            <a:r>
              <a:rPr lang="en-US" altLang="zh-CN" sz="2000" kern="0" dirty="0">
                <a:latin typeface="微软雅黑" panose="020B0503020204020204" pitchFamily="34" charset="-122"/>
                <a:ea typeface="微软雅黑" panose="020B0503020204020204" pitchFamily="34" charset="-122"/>
                <a:sym typeface="Wingdings" panose="05000000000000000000" pitchFamily="2" charset="2"/>
              </a:rPr>
              <a:t>)</a:t>
            </a:r>
          </a:p>
          <a:p>
            <a:pPr eaLnBrk="0" fontAlgn="base" hangingPunct="0">
              <a:lnSpc>
                <a:spcPct val="150000"/>
              </a:lnSpc>
              <a:spcBef>
                <a:spcPct val="0"/>
              </a:spcBef>
              <a:spcAft>
                <a:spcPct val="0"/>
              </a:spcAft>
            </a:pPr>
            <a:r>
              <a:rPr lang="zh-CN" altLang="en-US" sz="2000" dirty="0"/>
              <a:t>当液压钻床需要快速移动（如快速移动到加工位置）时，推动液压缸活塞前进所需的压力低于左右两侧溢流阀和卸荷阀的设定压力。在这种情况下，低压大排量泵和高压小排量泵的压力油会同时输送至液压缸，合力推动活塞快速前进，缩短工作循环中的非加工时间，从而提升整体加工效率。</a:t>
            </a:r>
            <a:endParaRPr lang="en-US" altLang="zh-CN" sz="2000" kern="0" dirty="0">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912B0CE9-3B00-DFCB-449D-C513714F09D8}"/>
              </a:ext>
            </a:extLst>
          </p:cNvPr>
          <p:cNvSpPr txBox="1"/>
          <p:nvPr/>
        </p:nvSpPr>
        <p:spPr>
          <a:xfrm>
            <a:off x="8088021" y="546399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复合泵卸荷回路</a:t>
            </a:r>
          </a:p>
        </p:txBody>
      </p:sp>
      <p:pic>
        <p:nvPicPr>
          <p:cNvPr id="2" name="Picture 1" descr="D:\Backup\我的文档\My Pictures\图片2.png">
            <a:extLst>
              <a:ext uri="{FF2B5EF4-FFF2-40B4-BE49-F238E27FC236}">
                <a16:creationId xmlns:a16="http://schemas.microsoft.com/office/drawing/2014/main" id="{C4950A83-9E1A-B79B-9146-C13CDA304A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b="8064"/>
          <a:stretch>
            <a:fillRect/>
          </a:stretch>
        </p:blipFill>
        <p:spPr bwMode="auto">
          <a:xfrm>
            <a:off x="7475707" y="1888883"/>
            <a:ext cx="4261498" cy="35387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157295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2.4 </a:t>
            </a:r>
            <a:r>
              <a:rPr lang="zh-CN" altLang="en-US" sz="2800" b="1" dirty="0">
                <a:solidFill>
                  <a:srgbClr val="003F88"/>
                </a:solidFill>
                <a:latin typeface="+mn-ea"/>
              </a:rPr>
              <a:t>卸荷回路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1" y="1888883"/>
            <a:ext cx="6660000" cy="4746428"/>
          </a:xfrm>
          <a:prstGeom prst="rect">
            <a:avLst/>
          </a:prstGeom>
        </p:spPr>
        <p:txBody>
          <a:bodyPr wrap="square">
            <a:spAutoFit/>
          </a:bodyPr>
          <a:lstStyle/>
          <a:p>
            <a:pPr eaLnBrk="0" fontAlgn="base" hangingPunct="0">
              <a:lnSpc>
                <a:spcPct val="150000"/>
              </a:lnSpc>
              <a:spcBef>
                <a:spcPct val="0"/>
              </a:spcBef>
              <a:spcAft>
                <a:spcPct val="0"/>
              </a:spcAft>
            </a:pPr>
            <a:r>
              <a:rPr lang="zh-CN" altLang="en-US" sz="2400" b="1" kern="0" dirty="0">
                <a:latin typeface="微软雅黑" panose="020B0503020204020204" pitchFamily="34" charset="-122"/>
                <a:ea typeface="微软雅黑" panose="020B0503020204020204" pitchFamily="34" charset="-122"/>
              </a:rPr>
              <a:t>复合泵卸荷回路：</a:t>
            </a:r>
            <a:r>
              <a:rPr lang="en-US" altLang="zh-CN" sz="2000" kern="0" dirty="0">
                <a:latin typeface="微软雅黑" panose="020B0503020204020204" pitchFamily="34" charset="-122"/>
                <a:ea typeface="微软雅黑" panose="020B0503020204020204" pitchFamily="34" charset="-122"/>
                <a:sym typeface="Wingdings" panose="05000000000000000000" pitchFamily="2" charset="2"/>
              </a:rPr>
              <a:t>(</a:t>
            </a:r>
            <a:r>
              <a:rPr lang="zh-CN" altLang="en-US" sz="2000" kern="0" dirty="0">
                <a:latin typeface="微软雅黑" panose="020B0503020204020204" pitchFamily="34" charset="-122"/>
                <a:ea typeface="微软雅黑" panose="020B0503020204020204" pitchFamily="34" charset="-122"/>
                <a:sym typeface="Wingdings" panose="05000000000000000000" pitchFamily="2" charset="2"/>
              </a:rPr>
              <a:t>以液压钻床为例</a:t>
            </a:r>
            <a:r>
              <a:rPr lang="en-US" altLang="zh-CN" sz="2000" kern="0" dirty="0">
                <a:latin typeface="微软雅黑" panose="020B0503020204020204" pitchFamily="34" charset="-122"/>
                <a:ea typeface="微软雅黑" panose="020B0503020204020204" pitchFamily="34" charset="-122"/>
                <a:sym typeface="Wingdings" panose="05000000000000000000" pitchFamily="2" charset="2"/>
              </a:rPr>
              <a:t>)</a:t>
            </a:r>
          </a:p>
          <a:p>
            <a:pPr eaLnBrk="0" fontAlgn="base" hangingPunct="0">
              <a:lnSpc>
                <a:spcPct val="150000"/>
              </a:lnSpc>
              <a:spcBef>
                <a:spcPct val="0"/>
              </a:spcBef>
              <a:spcAft>
                <a:spcPct val="0"/>
              </a:spcAft>
            </a:pPr>
            <a:r>
              <a:rPr lang="zh-CN" altLang="en-US" sz="2000" dirty="0"/>
              <a:t>当钻头与工件接触时，液压缸活塞速度减慢，工作压力增加。当油压超过右侧卸荷阀的设定值时，卸荷阀打开，低压大排量泵的油液通过卸荷阀回流至油箱。单向阀受高压油作用，故低压泵所排出的油根本就不会经单向阀流到液压缸。此时液压缸的油液由高压小排量泵供给。因为</a:t>
            </a:r>
            <a:r>
              <a:rPr lang="zh-CN" altLang="en-US" sz="2000" dirty="0">
                <a:solidFill>
                  <a:srgbClr val="FF0000"/>
                </a:solidFill>
              </a:rPr>
              <a:t>这种回路的动力几乎完全是由高压泵在消耗而已，故可达到节约能源的目的</a:t>
            </a:r>
            <a:r>
              <a:rPr lang="zh-CN" altLang="en-US" sz="2000" dirty="0"/>
              <a:t>。卸荷阀的调定压力通常比溢流阀的调定压力要低</a:t>
            </a:r>
            <a:r>
              <a:rPr lang="en-US" altLang="zh-CN" sz="2000" dirty="0"/>
              <a:t>0.5MPa</a:t>
            </a:r>
            <a:r>
              <a:rPr lang="zh-CN" altLang="en-US" sz="2000" dirty="0"/>
              <a:t>以上。</a:t>
            </a:r>
            <a:endParaRPr lang="en-US" altLang="zh-CN" sz="2000" kern="0" dirty="0">
              <a:latin typeface="微软雅黑" panose="020B0503020204020204" pitchFamily="34" charset="-122"/>
              <a:ea typeface="微软雅黑" panose="020B0503020204020204" pitchFamily="34" charset="-122"/>
            </a:endParaRPr>
          </a:p>
        </p:txBody>
      </p:sp>
      <p:sp>
        <p:nvSpPr>
          <p:cNvPr id="3" name="文本框 5">
            <a:extLst>
              <a:ext uri="{FF2B5EF4-FFF2-40B4-BE49-F238E27FC236}">
                <a16:creationId xmlns:a16="http://schemas.microsoft.com/office/drawing/2014/main" id="{149B8225-975A-B454-D2EE-13EA4E0EEF73}"/>
              </a:ext>
            </a:extLst>
          </p:cNvPr>
          <p:cNvSpPr txBox="1"/>
          <p:nvPr/>
        </p:nvSpPr>
        <p:spPr>
          <a:xfrm>
            <a:off x="8088021" y="546399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复合泵卸荷回路</a:t>
            </a:r>
          </a:p>
        </p:txBody>
      </p:sp>
      <p:pic>
        <p:nvPicPr>
          <p:cNvPr id="10" name="Picture 9" descr="D:\Backup\我的文档\My Pictures\图片2.png">
            <a:extLst>
              <a:ext uri="{FF2B5EF4-FFF2-40B4-BE49-F238E27FC236}">
                <a16:creationId xmlns:a16="http://schemas.microsoft.com/office/drawing/2014/main" id="{B554F503-0D08-E98D-9552-D70C51BDBB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b="8064"/>
          <a:stretch>
            <a:fillRect/>
          </a:stretch>
        </p:blipFill>
        <p:spPr bwMode="auto">
          <a:xfrm>
            <a:off x="7475707" y="1888883"/>
            <a:ext cx="4261498" cy="35387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921732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2.5 </a:t>
            </a:r>
            <a:r>
              <a:rPr lang="zh-CN" altLang="en-US" sz="2800" b="1" dirty="0">
                <a:solidFill>
                  <a:srgbClr val="003F88"/>
                </a:solidFill>
                <a:latin typeface="+mn-ea"/>
              </a:rPr>
              <a:t>平衡回路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3" y="1888882"/>
            <a:ext cx="7708659" cy="4654095"/>
          </a:xfrm>
          <a:prstGeom prst="rect">
            <a:avLst/>
          </a:prstGeom>
        </p:spPr>
        <p:txBody>
          <a:bodyPr wrap="square">
            <a:spAutoFit/>
          </a:bodyPr>
          <a:lstStyle/>
          <a:p>
            <a:pPr eaLnBrk="0" fontAlgn="base" hangingPunct="0">
              <a:lnSpc>
                <a:spcPct val="150000"/>
              </a:lnSpc>
              <a:spcBef>
                <a:spcPct val="0"/>
              </a:spcBef>
              <a:spcAft>
                <a:spcPct val="0"/>
              </a:spcAft>
            </a:pPr>
            <a:r>
              <a:rPr lang="zh-CN" altLang="en-US" sz="2000" b="1" kern="0" dirty="0">
                <a:latin typeface="微软雅黑" panose="020B0503020204020204" pitchFamily="34" charset="-122"/>
                <a:ea typeface="微软雅黑" panose="020B0503020204020204" pitchFamily="34" charset="-122"/>
              </a:rPr>
              <a:t>作用：</a:t>
            </a:r>
            <a:r>
              <a:rPr lang="zh-CN" altLang="en-US" sz="2000" kern="0" dirty="0">
                <a:latin typeface="微软雅黑" panose="020B0503020204020204" pitchFamily="34" charset="-122"/>
                <a:ea typeface="微软雅黑" panose="020B0503020204020204" pitchFamily="34" charset="-122"/>
              </a:rPr>
              <a:t>平衡回路是防止垂直或倾斜放置的液压缸及其连接的工作部件因自重而下落。</a:t>
            </a:r>
            <a:endParaRPr lang="en-US" altLang="zh-CN" sz="2000" kern="0" dirty="0">
              <a:latin typeface="微软雅黑" panose="020B0503020204020204" pitchFamily="34" charset="-122"/>
              <a:ea typeface="微软雅黑" panose="020B0503020204020204" pitchFamily="34" charset="-122"/>
            </a:endParaRP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在换向阀处于左位时，</a:t>
            </a:r>
            <a:r>
              <a:rPr lang="zh-CN" altLang="en-US" sz="2000" dirty="0"/>
              <a:t>活塞下行，回油路中会产生一定的背压。只要将顺序阀背压调节至足以支撑活塞及其连接的工作部件的自重，活塞即可实现平稳下降。</a:t>
            </a:r>
            <a:r>
              <a:rPr lang="zh-CN" altLang="en-US" sz="2000" dirty="0">
                <a:solidFill>
                  <a:srgbClr val="FF0000"/>
                </a:solidFill>
              </a:rPr>
              <a:t>只有上腔进油时活塞才下行</a:t>
            </a:r>
            <a:r>
              <a:rPr lang="zh-CN" altLang="en-US" sz="2000" dirty="0"/>
              <a:t>。</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zh-CN" sz="2000" dirty="0"/>
              <a:t>当换向阀处于中位时</a:t>
            </a:r>
            <a:r>
              <a:rPr lang="zh-CN" altLang="en-US" sz="2000" dirty="0"/>
              <a:t>，</a:t>
            </a:r>
            <a:r>
              <a:rPr lang="zh-CN" altLang="zh-CN" sz="2000" dirty="0"/>
              <a:t>活塞就停止运动</a:t>
            </a:r>
            <a:r>
              <a:rPr lang="zh-CN" altLang="en-US" sz="2000" dirty="0"/>
              <a:t>，</a:t>
            </a:r>
            <a:r>
              <a:rPr lang="zh-CN" altLang="zh-CN" sz="2000" dirty="0"/>
              <a:t>不再继续下移。</a:t>
            </a:r>
            <a:r>
              <a:rPr lang="zh-CN" altLang="en-US" sz="2000" dirty="0"/>
              <a:t>但是</a:t>
            </a:r>
            <a:r>
              <a:rPr lang="zh-CN" altLang="zh-CN" sz="2000" dirty="0"/>
              <a:t>活塞和与之相连的工作部件会因单向顺序阀和换向阀的泄漏而缓慢下落</a:t>
            </a:r>
            <a:r>
              <a:rPr lang="zh-CN" altLang="en-US" sz="2000" dirty="0"/>
              <a:t>；</a:t>
            </a:r>
            <a:r>
              <a:rPr lang="zh-CN" altLang="zh-CN" sz="2000" dirty="0"/>
              <a:t>因此</a:t>
            </a:r>
            <a:r>
              <a:rPr lang="zh-CN" altLang="en-US" sz="2000" dirty="0"/>
              <a:t>这种平衡回路</a:t>
            </a:r>
            <a:r>
              <a:rPr lang="zh-CN" altLang="zh-CN" sz="2000" dirty="0"/>
              <a:t>只适用于工作部件自重不大、活塞锁住时定位要求不高的场合。</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zh-CN" sz="2000" dirty="0"/>
              <a:t>活塞向下快速运动时功率损失较大</a:t>
            </a:r>
            <a:r>
              <a:rPr lang="zh-CN" altLang="en-US" sz="2000" dirty="0"/>
              <a:t>。</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1" y="5640521"/>
            <a:ext cx="3114092"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平衡回路原理图</a:t>
            </a:r>
          </a:p>
        </p:txBody>
      </p:sp>
      <p:pic>
        <p:nvPicPr>
          <p:cNvPr id="2" name="Picture 2">
            <a:extLst>
              <a:ext uri="{FF2B5EF4-FFF2-40B4-BE49-F238E27FC236}">
                <a16:creationId xmlns:a16="http://schemas.microsoft.com/office/drawing/2014/main" id="{80B7AD1C-19D0-EAB2-3546-EDAEDBF37A94}"/>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8469422" y="2560321"/>
            <a:ext cx="3631138" cy="29685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33817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2.6 </a:t>
            </a:r>
            <a:r>
              <a:rPr lang="zh-CN" altLang="en-US" sz="2800" b="1" dirty="0">
                <a:solidFill>
                  <a:srgbClr val="003F88"/>
                </a:solidFill>
                <a:latin typeface="+mn-ea"/>
              </a:rPr>
              <a:t>保压回路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3" y="1888882"/>
            <a:ext cx="8084467" cy="1422441"/>
          </a:xfrm>
          <a:prstGeom prst="rect">
            <a:avLst/>
          </a:prstGeom>
        </p:spPr>
        <p:txBody>
          <a:bodyPr wrap="square">
            <a:spAutoFit/>
          </a:bodyPr>
          <a:lstStyle/>
          <a:p>
            <a:pPr eaLnBrk="0" fontAlgn="base" hangingPunct="0">
              <a:lnSpc>
                <a:spcPct val="150000"/>
              </a:lnSpc>
              <a:spcBef>
                <a:spcPct val="0"/>
              </a:spcBef>
              <a:spcAft>
                <a:spcPct val="0"/>
              </a:spcAft>
            </a:pPr>
            <a:r>
              <a:rPr lang="zh-CN" altLang="en-US" sz="2000" b="1" dirty="0"/>
              <a:t>作用：</a:t>
            </a:r>
            <a:r>
              <a:rPr lang="zh-CN" altLang="en-US" sz="2000" dirty="0"/>
              <a:t>使系统在液压缸不动或仅有极微小位移的情况下，稳定地维持压力。最基本的保压回路使用密封性较好的</a:t>
            </a:r>
            <a:r>
              <a:rPr lang="zh-CN" altLang="en-US" sz="2000" b="1" dirty="0">
                <a:solidFill>
                  <a:srgbClr val="FF0000"/>
                </a:solidFill>
              </a:rPr>
              <a:t>液控单向阀</a:t>
            </a:r>
            <a:r>
              <a:rPr lang="zh-CN" altLang="en-US" sz="2000" dirty="0"/>
              <a:t>，但由于阀类元件处的泄漏，保压时间无法长时间维持。</a:t>
            </a:r>
            <a:endParaRPr lang="en-US" altLang="zh-CN" sz="2000" dirty="0"/>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0" y="5640521"/>
            <a:ext cx="3276427"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自动补油式保压回路原理图</a:t>
            </a:r>
          </a:p>
        </p:txBody>
      </p:sp>
      <p:pic>
        <p:nvPicPr>
          <p:cNvPr id="3" name="图片 3">
            <a:extLst>
              <a:ext uri="{FF2B5EF4-FFF2-40B4-BE49-F238E27FC236}">
                <a16:creationId xmlns:a16="http://schemas.microsoft.com/office/drawing/2014/main" id="{5510D1F8-F0A3-0131-251E-4A7676128F17}"/>
              </a:ext>
            </a:extLst>
          </p:cNvPr>
          <p:cNvPicPr>
            <a:picLocks noChangeAspect="1"/>
          </p:cNvPicPr>
          <p:nvPr/>
        </p:nvPicPr>
        <p:blipFill>
          <a:blip r:embed="rId3"/>
          <a:stretch>
            <a:fillRect/>
          </a:stretch>
        </p:blipFill>
        <p:spPr>
          <a:xfrm>
            <a:off x="9010199" y="1817921"/>
            <a:ext cx="2612826" cy="3822600"/>
          </a:xfrm>
          <a:prstGeom prst="rect">
            <a:avLst/>
          </a:prstGeom>
        </p:spPr>
      </p:pic>
      <p:sp>
        <p:nvSpPr>
          <p:cNvPr id="7" name="矩形 18">
            <a:extLst>
              <a:ext uri="{FF2B5EF4-FFF2-40B4-BE49-F238E27FC236}">
                <a16:creationId xmlns:a16="http://schemas.microsoft.com/office/drawing/2014/main" id="{0F6438EB-FF4B-8715-DD72-539102E77F99}"/>
              </a:ext>
            </a:extLst>
          </p:cNvPr>
          <p:cNvSpPr/>
          <p:nvPr/>
        </p:nvSpPr>
        <p:spPr>
          <a:xfrm>
            <a:off x="638173" y="3370638"/>
            <a:ext cx="8084467" cy="3269100"/>
          </a:xfrm>
          <a:prstGeom prst="rect">
            <a:avLst/>
          </a:prstGeom>
        </p:spPr>
        <p:txBody>
          <a:bodyPr wrap="square">
            <a:spAutoFit/>
          </a:bodyPr>
          <a:lstStyle/>
          <a:p>
            <a:pPr eaLnBrk="0" fontAlgn="base" hangingPunct="0">
              <a:lnSpc>
                <a:spcPct val="150000"/>
              </a:lnSpc>
              <a:spcBef>
                <a:spcPct val="0"/>
              </a:spcBef>
              <a:spcAft>
                <a:spcPct val="0"/>
              </a:spcAft>
            </a:pPr>
            <a:r>
              <a:rPr lang="zh-CN" altLang="en-US" sz="2000" b="1" dirty="0"/>
              <a:t>自动补油式保压回路：</a:t>
            </a:r>
            <a:r>
              <a:rPr lang="zh-CN" altLang="en-US" sz="2000" b="1" dirty="0">
                <a:solidFill>
                  <a:srgbClr val="0070C0"/>
                </a:solidFill>
              </a:rPr>
              <a:t>液控单向阀和电接点压力表配合使用</a:t>
            </a:r>
            <a:r>
              <a:rPr lang="zh-CN" altLang="en-US" sz="2000" dirty="0"/>
              <a:t>。</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当换向阀</a:t>
            </a:r>
            <a:r>
              <a:rPr lang="en-US" altLang="zh-CN" sz="2000" dirty="0"/>
              <a:t>2</a:t>
            </a:r>
            <a:r>
              <a:rPr lang="zh-CN" altLang="en-US" sz="2000" dirty="0"/>
              <a:t>的</a:t>
            </a:r>
            <a:r>
              <a:rPr lang="en-US" altLang="zh-CN" sz="2000" dirty="0"/>
              <a:t>2YA</a:t>
            </a:r>
            <a:r>
              <a:rPr lang="zh-CN" altLang="en-US" sz="2000" dirty="0"/>
              <a:t>得电，换向阀处于右位，液压缸上腔成为压力腔。当压力达到上限值时，电接点压力表</a:t>
            </a:r>
            <a:r>
              <a:rPr lang="en-US" altLang="zh-CN" sz="2000" dirty="0"/>
              <a:t>4</a:t>
            </a:r>
            <a:r>
              <a:rPr lang="zh-CN" altLang="en-US" sz="2000" dirty="0"/>
              <a:t>发出信号，使换向阀切换至中位，</a:t>
            </a:r>
            <a:r>
              <a:rPr lang="zh-CN" altLang="en-US" sz="2000" b="1" dirty="0">
                <a:solidFill>
                  <a:srgbClr val="FF0000"/>
                </a:solidFill>
              </a:rPr>
              <a:t>液压泵卸荷</a:t>
            </a:r>
            <a:r>
              <a:rPr lang="zh-CN" altLang="en-US" sz="2000" dirty="0"/>
              <a:t>，液压缸通过液控单向阀</a:t>
            </a:r>
            <a:r>
              <a:rPr lang="en-US" altLang="zh-CN" sz="2000" dirty="0"/>
              <a:t>3</a:t>
            </a:r>
            <a:r>
              <a:rPr lang="zh-CN" altLang="en-US" sz="2000" dirty="0"/>
              <a:t>保持压力。</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当压力下降至下限值时，电接点压力表再次发出信号，换向阀切回右位，</a:t>
            </a:r>
            <a:r>
              <a:rPr lang="zh-CN" altLang="en-US" sz="2000" b="1" dirty="0">
                <a:solidFill>
                  <a:srgbClr val="FF0000"/>
                </a:solidFill>
              </a:rPr>
              <a:t>液压泵为液压缸补油</a:t>
            </a:r>
            <a:r>
              <a:rPr lang="zh-CN" altLang="en-US" sz="2000" dirty="0"/>
              <a:t>，恢复压力。</a:t>
            </a:r>
            <a:endParaRPr lang="en-US" altLang="zh-CN"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换向阀</a:t>
            </a:r>
            <a:r>
              <a:rPr lang="en-US" altLang="zh-CN" sz="2000" dirty="0"/>
              <a:t>2</a:t>
            </a:r>
            <a:r>
              <a:rPr lang="zh-CN" altLang="en-US" sz="2000" dirty="0"/>
              <a:t>的</a:t>
            </a:r>
            <a:r>
              <a:rPr lang="en-US" altLang="zh-CN" sz="2000" dirty="0"/>
              <a:t>1YA</a:t>
            </a:r>
            <a:r>
              <a:rPr lang="zh-CN" altLang="en-US" sz="2000" dirty="0"/>
              <a:t>得电，换向阀处于左位，活塞快速上退回。</a:t>
            </a:r>
          </a:p>
        </p:txBody>
      </p:sp>
      <p:sp>
        <p:nvSpPr>
          <p:cNvPr id="2" name="矩形 1">
            <a:extLst>
              <a:ext uri="{FF2B5EF4-FFF2-40B4-BE49-F238E27FC236}">
                <a16:creationId xmlns:a16="http://schemas.microsoft.com/office/drawing/2014/main" id="{3E43DC1B-7403-43A9-A030-530EE8270C3E}"/>
              </a:ext>
            </a:extLst>
          </p:cNvPr>
          <p:cNvSpPr/>
          <p:nvPr/>
        </p:nvSpPr>
        <p:spPr>
          <a:xfrm>
            <a:off x="3845873" y="1228506"/>
            <a:ext cx="8153194" cy="461665"/>
          </a:xfrm>
          <a:prstGeom prst="rect">
            <a:avLst/>
          </a:prstGeom>
        </p:spPr>
        <p:txBody>
          <a:bodyPr wrap="none">
            <a:spAutoFit/>
          </a:bodyPr>
          <a:lstStyle/>
          <a:p>
            <a:r>
              <a:rPr lang="zh-CN" altLang="en-US" sz="2400" b="1" dirty="0">
                <a:solidFill>
                  <a:srgbClr val="FF0000"/>
                </a:solidFill>
              </a:rPr>
              <a:t>使泵卸载的有</a:t>
            </a:r>
            <a:r>
              <a:rPr lang="en-US" altLang="zh-CN" sz="2400" b="1" dirty="0">
                <a:solidFill>
                  <a:srgbClr val="FF0000"/>
                </a:solidFill>
              </a:rPr>
              <a:t>H</a:t>
            </a:r>
            <a:r>
              <a:rPr lang="zh-CN" altLang="en-US" sz="2400" b="1" dirty="0">
                <a:solidFill>
                  <a:srgbClr val="FF0000"/>
                </a:solidFill>
              </a:rPr>
              <a:t>、</a:t>
            </a:r>
            <a:r>
              <a:rPr lang="en-US" altLang="zh-CN" sz="2400" b="1" dirty="0">
                <a:solidFill>
                  <a:srgbClr val="FF0000"/>
                </a:solidFill>
              </a:rPr>
              <a:t>K</a:t>
            </a:r>
            <a:r>
              <a:rPr lang="zh-CN" altLang="en-US" sz="2400" b="1" dirty="0">
                <a:solidFill>
                  <a:srgbClr val="FF0000"/>
                </a:solidFill>
              </a:rPr>
              <a:t>、</a:t>
            </a:r>
            <a:r>
              <a:rPr lang="en-US" altLang="zh-CN" sz="2400" b="1" dirty="0">
                <a:solidFill>
                  <a:srgbClr val="0070C0"/>
                </a:solidFill>
              </a:rPr>
              <a:t>M</a:t>
            </a:r>
            <a:r>
              <a:rPr lang="zh-CN" altLang="en-US" sz="2400" b="1" dirty="0">
                <a:solidFill>
                  <a:srgbClr val="FF0000"/>
                </a:solidFill>
              </a:rPr>
              <a:t>型；使执行元件停止的有</a:t>
            </a:r>
            <a:r>
              <a:rPr lang="en-US" altLang="zh-CN" sz="2400" b="1" dirty="0">
                <a:solidFill>
                  <a:srgbClr val="FF0000"/>
                </a:solidFill>
              </a:rPr>
              <a:t>O</a:t>
            </a:r>
            <a:r>
              <a:rPr lang="zh-CN" altLang="en-US" sz="2400" b="1" dirty="0">
                <a:solidFill>
                  <a:srgbClr val="FF0000"/>
                </a:solidFill>
              </a:rPr>
              <a:t>、</a:t>
            </a:r>
            <a:r>
              <a:rPr lang="en-US" altLang="zh-CN" sz="2400" b="1" dirty="0">
                <a:solidFill>
                  <a:srgbClr val="0070C0"/>
                </a:solidFill>
              </a:rPr>
              <a:t>M</a:t>
            </a:r>
            <a:r>
              <a:rPr lang="zh-CN" altLang="en-US" sz="2400" b="1" dirty="0">
                <a:solidFill>
                  <a:srgbClr val="FF0000"/>
                </a:solidFill>
              </a:rPr>
              <a:t>型；</a:t>
            </a:r>
          </a:p>
        </p:txBody>
      </p:sp>
      <p:cxnSp>
        <p:nvCxnSpPr>
          <p:cNvPr id="11" name="直接箭头连接符 10">
            <a:extLst>
              <a:ext uri="{FF2B5EF4-FFF2-40B4-BE49-F238E27FC236}">
                <a16:creationId xmlns:a16="http://schemas.microsoft.com/office/drawing/2014/main" id="{6553E848-2489-4752-8C01-087AF1C77B8F}"/>
              </a:ext>
            </a:extLst>
          </p:cNvPr>
          <p:cNvCxnSpPr/>
          <p:nvPr/>
        </p:nvCxnSpPr>
        <p:spPr>
          <a:xfrm flipV="1">
            <a:off x="9265920" y="4104640"/>
            <a:ext cx="0" cy="6604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DD88A8D-6493-4E8A-8588-2438EBCFD2BF}"/>
              </a:ext>
            </a:extLst>
          </p:cNvPr>
          <p:cNvSpPr txBox="1"/>
          <p:nvPr/>
        </p:nvSpPr>
        <p:spPr>
          <a:xfrm>
            <a:off x="8889878" y="4250174"/>
            <a:ext cx="325730" cy="369332"/>
          </a:xfrm>
          <a:prstGeom prst="rect">
            <a:avLst/>
          </a:prstGeom>
          <a:noFill/>
        </p:spPr>
        <p:txBody>
          <a:bodyPr wrap="none" rtlCol="0">
            <a:spAutoFit/>
          </a:bodyPr>
          <a:lstStyle/>
          <a:p>
            <a:r>
              <a:rPr lang="en-US" altLang="zh-CN" b="1" dirty="0">
                <a:solidFill>
                  <a:srgbClr val="FF0000"/>
                </a:solidFill>
              </a:rPr>
              <a:t>F</a:t>
            </a:r>
            <a:endParaRPr lang="zh-CN" altLang="en-US" b="1" dirty="0">
              <a:solidFill>
                <a:srgbClr val="FF0000"/>
              </a:solidFill>
            </a:endParaRPr>
          </a:p>
        </p:txBody>
      </p:sp>
    </p:spTree>
    <p:extLst>
      <p:ext uri="{BB962C8B-B14F-4D97-AF65-F5344CB8AC3E}">
        <p14:creationId xmlns:p14="http://schemas.microsoft.com/office/powerpoint/2010/main" val="37713022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直接连接符 1">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3" name="图片 2">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5" name="矩形 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圆角矩形 5">
            <a:extLst>
              <a:ext uri="{FF2B5EF4-FFF2-40B4-BE49-F238E27FC236}">
                <a16:creationId xmlns:a16="http://schemas.microsoft.com/office/drawing/2014/main" id="{380F0810-6746-49BD-9083-24136C05788F}"/>
              </a:ext>
            </a:extLst>
          </p:cNvPr>
          <p:cNvSpPr/>
          <p:nvPr/>
        </p:nvSpPr>
        <p:spPr>
          <a:xfrm>
            <a:off x="537633" y="5464246"/>
            <a:ext cx="11116733" cy="1355604"/>
          </a:xfrm>
          <a:prstGeom prst="roundRect">
            <a:avLst/>
          </a:prstGeom>
          <a:solidFill>
            <a:schemeClr val="accent1">
              <a:lumMod val="40000"/>
              <a:lumOff val="60000"/>
              <a:alpha val="80000"/>
            </a:schemeClr>
          </a:solidFill>
          <a:ln w="9525" cap="flat" cmpd="sng" algn="ctr">
            <a:noFill/>
            <a:prstDash val="solid"/>
            <a:round/>
            <a:headEnd type="none" w="med" len="med"/>
            <a:tailEnd type="none" w="med" len="med"/>
          </a:ln>
          <a:effectLst>
            <a:outerShdw blurRad="50800" dist="38100" dir="5400000" algn="t" rotWithShape="0">
              <a:prstClr val="black">
                <a:alpha val="40000"/>
              </a:prstClr>
            </a:outerShdw>
          </a:effec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pPr>
            <a:endParaRPr kumimoji="0" lang="es-ES" altLang="en-US" sz="24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p:txBody>
      </p:sp>
      <p:sp>
        <p:nvSpPr>
          <p:cNvPr id="15" name="矩形 14">
            <a:extLst>
              <a:ext uri="{FF2B5EF4-FFF2-40B4-BE49-F238E27FC236}">
                <a16:creationId xmlns:a16="http://schemas.microsoft.com/office/drawing/2014/main" id="{1C0F927F-181E-4597-A753-A84F08A3A902}"/>
              </a:ext>
            </a:extLst>
          </p:cNvPr>
          <p:cNvSpPr/>
          <p:nvPr/>
        </p:nvSpPr>
        <p:spPr>
          <a:xfrm>
            <a:off x="642528" y="5469713"/>
            <a:ext cx="10728288" cy="1435136"/>
          </a:xfrm>
          <a:prstGeom prst="rect">
            <a:avLst/>
          </a:prstGeom>
        </p:spPr>
        <p:txBody>
          <a:bodyPr wrap="square">
            <a:spAutoFit/>
          </a:bodyPr>
          <a:lstStyle/>
          <a:p>
            <a:pPr algn="just">
              <a:lnSpc>
                <a:spcPct val="125000"/>
              </a:lnSpc>
              <a:spcAft>
                <a:spcPts val="0"/>
              </a:spcAft>
            </a:pPr>
            <a:r>
              <a:rPr lang="zh-CN" altLang="zh-CN" sz="2400" dirty="0">
                <a:solidFill>
                  <a:srgbClr val="FF0000"/>
                </a:solidFill>
                <a:latin typeface="+mj-ea"/>
                <a:ea typeface="+mj-ea"/>
                <a:cs typeface="Times New Roman" panose="02020603050405020304" pitchFamily="18" charset="0"/>
              </a:rPr>
              <a:t>调速回路</a:t>
            </a:r>
            <a:r>
              <a:rPr lang="zh-CN" altLang="en-US" sz="2400" dirty="0">
                <a:solidFill>
                  <a:srgbClr val="FF0000"/>
                </a:solidFill>
                <a:latin typeface="+mj-ea"/>
                <a:ea typeface="+mj-ea"/>
                <a:cs typeface="Times New Roman" panose="02020603050405020304" pitchFamily="18" charset="0"/>
              </a:rPr>
              <a:t>是</a:t>
            </a:r>
            <a:r>
              <a:rPr lang="zh-CN" altLang="zh-CN" sz="2400" dirty="0">
                <a:solidFill>
                  <a:srgbClr val="FF0000"/>
                </a:solidFill>
                <a:latin typeface="+mj-ea"/>
                <a:ea typeface="+mj-ea"/>
                <a:cs typeface="Times New Roman" panose="02020603050405020304" pitchFamily="18" charset="0"/>
              </a:rPr>
              <a:t>任何液压传动系统的核心部分。</a:t>
            </a:r>
            <a:r>
              <a:rPr lang="zh-CN" altLang="zh-CN" sz="2400" dirty="0">
                <a:solidFill>
                  <a:schemeClr val="tx1">
                    <a:lumMod val="75000"/>
                    <a:lumOff val="25000"/>
                  </a:schemeClr>
                </a:solidFill>
                <a:latin typeface="+mj-ea"/>
                <a:ea typeface="+mj-ea"/>
                <a:cs typeface="Times New Roman" panose="02020603050405020304" pitchFamily="18" charset="0"/>
              </a:rPr>
              <a:t>这种回路可以通过事先的调整或在工作过程中通过自动调节来改变执行元件的运行速度</a:t>
            </a:r>
            <a:r>
              <a:rPr lang="en-US" altLang="zh-CN" sz="2400" dirty="0">
                <a:solidFill>
                  <a:schemeClr val="tx1">
                    <a:lumMod val="75000"/>
                    <a:lumOff val="25000"/>
                  </a:schemeClr>
                </a:solidFill>
                <a:latin typeface="+mj-ea"/>
                <a:ea typeface="+mj-ea"/>
                <a:cs typeface="Times New Roman" panose="02020603050405020304" pitchFamily="18" charset="0"/>
              </a:rPr>
              <a:t>,</a:t>
            </a:r>
            <a:r>
              <a:rPr lang="zh-CN" altLang="zh-CN" sz="2400" dirty="0">
                <a:solidFill>
                  <a:schemeClr val="tx1">
                    <a:lumMod val="75000"/>
                    <a:lumOff val="25000"/>
                  </a:schemeClr>
                </a:solidFill>
                <a:latin typeface="+mj-ea"/>
                <a:ea typeface="+mj-ea"/>
                <a:cs typeface="Times New Roman" panose="02020603050405020304" pitchFamily="18" charset="0"/>
              </a:rPr>
              <a:t>但是它的主要功能却是在传递动力</a:t>
            </a:r>
            <a:r>
              <a:rPr lang="en-US" altLang="zh-CN" sz="2400" dirty="0">
                <a:solidFill>
                  <a:schemeClr val="tx1">
                    <a:lumMod val="75000"/>
                    <a:lumOff val="25000"/>
                  </a:schemeClr>
                </a:solidFill>
                <a:latin typeface="+mj-ea"/>
                <a:ea typeface="+mj-ea"/>
                <a:cs typeface="Times New Roman" panose="02020603050405020304" pitchFamily="18" charset="0"/>
              </a:rPr>
              <a:t>(</a:t>
            </a:r>
            <a:r>
              <a:rPr lang="zh-CN" altLang="zh-CN" sz="2400" dirty="0">
                <a:solidFill>
                  <a:schemeClr val="tx1">
                    <a:lumMod val="75000"/>
                    <a:lumOff val="25000"/>
                  </a:schemeClr>
                </a:solidFill>
                <a:latin typeface="+mj-ea"/>
                <a:ea typeface="+mj-ea"/>
                <a:cs typeface="Times New Roman" panose="02020603050405020304" pitchFamily="18" charset="0"/>
              </a:rPr>
              <a:t>功率</a:t>
            </a:r>
            <a:r>
              <a:rPr lang="en-US" altLang="zh-CN" sz="2400" dirty="0">
                <a:solidFill>
                  <a:schemeClr val="tx1">
                    <a:lumMod val="75000"/>
                    <a:lumOff val="25000"/>
                  </a:schemeClr>
                </a:solidFill>
                <a:latin typeface="+mj-ea"/>
                <a:ea typeface="+mj-ea"/>
                <a:cs typeface="Times New Roman" panose="02020603050405020304" pitchFamily="18" charset="0"/>
              </a:rPr>
              <a:t>)</a:t>
            </a:r>
            <a:endParaRPr lang="zh-CN" altLang="zh-CN" sz="2400" dirty="0">
              <a:solidFill>
                <a:schemeClr val="tx1">
                  <a:lumMod val="75000"/>
                  <a:lumOff val="25000"/>
                </a:schemeClr>
              </a:solidFill>
              <a:latin typeface="+mj-ea"/>
              <a:ea typeface="+mj-ea"/>
              <a:cs typeface="Times New Roman" panose="02020603050405020304" pitchFamily="18" charset="0"/>
            </a:endParaRPr>
          </a:p>
        </p:txBody>
      </p:sp>
      <p:grpSp>
        <p:nvGrpSpPr>
          <p:cNvPr id="4" name="组合 3">
            <a:extLst>
              <a:ext uri="{FF2B5EF4-FFF2-40B4-BE49-F238E27FC236}">
                <a16:creationId xmlns:a16="http://schemas.microsoft.com/office/drawing/2014/main" id="{F18E5DB5-A2DB-8FD4-5A10-37CAC4661A6B}"/>
              </a:ext>
            </a:extLst>
          </p:cNvPr>
          <p:cNvGrpSpPr>
            <a:grpSpLocks noChangeAspect="1"/>
          </p:cNvGrpSpPr>
          <p:nvPr/>
        </p:nvGrpSpPr>
        <p:grpSpPr>
          <a:xfrm>
            <a:off x="1275815" y="938623"/>
            <a:ext cx="1556871" cy="3880442"/>
            <a:chOff x="6950035" y="1019805"/>
            <a:chExt cx="2072527" cy="5165696"/>
          </a:xfrm>
        </p:grpSpPr>
        <p:sp>
          <p:nvSpPr>
            <p:cNvPr id="6" name="Rectangle 78">
              <a:extLst>
                <a:ext uri="{FF2B5EF4-FFF2-40B4-BE49-F238E27FC236}">
                  <a16:creationId xmlns:a16="http://schemas.microsoft.com/office/drawing/2014/main" id="{D0E371B3-053A-1FEA-7BA2-101A85FE7D0C}"/>
                </a:ext>
              </a:extLst>
            </p:cNvPr>
            <p:cNvSpPr>
              <a:spLocks noChangeArrowheads="1"/>
            </p:cNvSpPr>
            <p:nvPr/>
          </p:nvSpPr>
          <p:spPr bwMode="auto">
            <a:xfrm>
              <a:off x="7064597" y="1686346"/>
              <a:ext cx="249953" cy="4082566"/>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7" name="Rectangle 79">
              <a:extLst>
                <a:ext uri="{FF2B5EF4-FFF2-40B4-BE49-F238E27FC236}">
                  <a16:creationId xmlns:a16="http://schemas.microsoft.com/office/drawing/2014/main" id="{66033325-EF60-1288-5D5F-67A8014C5A27}"/>
                </a:ext>
              </a:extLst>
            </p:cNvPr>
            <p:cNvSpPr>
              <a:spLocks noChangeArrowheads="1"/>
            </p:cNvSpPr>
            <p:nvPr/>
          </p:nvSpPr>
          <p:spPr bwMode="auto">
            <a:xfrm>
              <a:off x="8647633" y="1686346"/>
              <a:ext cx="249953" cy="4082566"/>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8" name="Rectangle 80">
              <a:extLst>
                <a:ext uri="{FF2B5EF4-FFF2-40B4-BE49-F238E27FC236}">
                  <a16:creationId xmlns:a16="http://schemas.microsoft.com/office/drawing/2014/main" id="{A0A216E3-075E-9052-2A81-1BCC26821F44}"/>
                </a:ext>
              </a:extLst>
            </p:cNvPr>
            <p:cNvSpPr>
              <a:spLocks noChangeArrowheads="1"/>
            </p:cNvSpPr>
            <p:nvPr/>
          </p:nvSpPr>
          <p:spPr bwMode="auto">
            <a:xfrm>
              <a:off x="6981279" y="1353076"/>
              <a:ext cx="1999624" cy="416588"/>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9" name="Freeform 81">
              <a:extLst>
                <a:ext uri="{FF2B5EF4-FFF2-40B4-BE49-F238E27FC236}">
                  <a16:creationId xmlns:a16="http://schemas.microsoft.com/office/drawing/2014/main" id="{D059357B-A1EC-5BB2-C6AB-2ADD8EB014FB}"/>
                </a:ext>
              </a:extLst>
            </p:cNvPr>
            <p:cNvSpPr>
              <a:spLocks/>
            </p:cNvSpPr>
            <p:nvPr/>
          </p:nvSpPr>
          <p:spPr bwMode="auto">
            <a:xfrm>
              <a:off x="6981279" y="5435642"/>
              <a:ext cx="1999624" cy="749859"/>
            </a:xfrm>
            <a:custGeom>
              <a:avLst/>
              <a:gdLst>
                <a:gd name="T0" fmla="*/ 0 w 1152"/>
                <a:gd name="T1" fmla="*/ 0 h 432"/>
                <a:gd name="T2" fmla="*/ 533400 w 1152"/>
                <a:gd name="T3" fmla="*/ 0 h 432"/>
                <a:gd name="T4" fmla="*/ 708025 w 1152"/>
                <a:gd name="T5" fmla="*/ 336550 h 432"/>
                <a:gd name="T6" fmla="*/ 1123950 w 1152"/>
                <a:gd name="T7" fmla="*/ 336550 h 432"/>
                <a:gd name="T8" fmla="*/ 1295400 w 1152"/>
                <a:gd name="T9" fmla="*/ 0 h 432"/>
                <a:gd name="T10" fmla="*/ 1828800 w 1152"/>
                <a:gd name="T11" fmla="*/ 0 h 432"/>
                <a:gd name="T12" fmla="*/ 1828800 w 1152"/>
                <a:gd name="T13" fmla="*/ 685800 h 432"/>
                <a:gd name="T14" fmla="*/ 0 w 1152"/>
                <a:gd name="T15" fmla="*/ 685800 h 432"/>
                <a:gd name="T16" fmla="*/ 0 w 1152"/>
                <a:gd name="T17" fmla="*/ 0 h 4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432">
                  <a:moveTo>
                    <a:pt x="0" y="0"/>
                  </a:moveTo>
                  <a:lnTo>
                    <a:pt x="336" y="0"/>
                  </a:lnTo>
                  <a:lnTo>
                    <a:pt x="446" y="212"/>
                  </a:lnTo>
                  <a:lnTo>
                    <a:pt x="708" y="212"/>
                  </a:lnTo>
                  <a:lnTo>
                    <a:pt x="816" y="0"/>
                  </a:lnTo>
                  <a:lnTo>
                    <a:pt x="1152" y="0"/>
                  </a:lnTo>
                  <a:lnTo>
                    <a:pt x="1152" y="432"/>
                  </a:lnTo>
                  <a:lnTo>
                    <a:pt x="0" y="432"/>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11" name="Group 82">
              <a:extLst>
                <a:ext uri="{FF2B5EF4-FFF2-40B4-BE49-F238E27FC236}">
                  <a16:creationId xmlns:a16="http://schemas.microsoft.com/office/drawing/2014/main" id="{ED470703-DDA8-FA84-B264-6F073B636AE5}"/>
                </a:ext>
              </a:extLst>
            </p:cNvPr>
            <p:cNvGrpSpPr>
              <a:grpSpLocks/>
            </p:cNvGrpSpPr>
            <p:nvPr/>
          </p:nvGrpSpPr>
          <p:grpSpPr bwMode="auto">
            <a:xfrm>
              <a:off x="6981279" y="3519335"/>
              <a:ext cx="1999624" cy="1666353"/>
              <a:chOff x="1152" y="2064"/>
              <a:chExt cx="1152" cy="960"/>
            </a:xfrm>
          </p:grpSpPr>
          <p:sp>
            <p:nvSpPr>
              <p:cNvPr id="44" name="Freeform 83">
                <a:extLst>
                  <a:ext uri="{FF2B5EF4-FFF2-40B4-BE49-F238E27FC236}">
                    <a16:creationId xmlns:a16="http://schemas.microsoft.com/office/drawing/2014/main" id="{643034E0-91FD-B07B-1F0B-F89BD844DE8A}"/>
                  </a:ext>
                </a:extLst>
              </p:cNvPr>
              <p:cNvSpPr>
                <a:spLocks/>
              </p:cNvSpPr>
              <p:nvPr/>
            </p:nvSpPr>
            <p:spPr bwMode="auto">
              <a:xfrm>
                <a:off x="1152" y="2736"/>
                <a:ext cx="1152" cy="288"/>
              </a:xfrm>
              <a:custGeom>
                <a:avLst/>
                <a:gdLst>
                  <a:gd name="T0" fmla="*/ 0 w 1152"/>
                  <a:gd name="T1" fmla="*/ 0 h 288"/>
                  <a:gd name="T2" fmla="*/ 1152 w 1152"/>
                  <a:gd name="T3" fmla="*/ 0 h 288"/>
                  <a:gd name="T4" fmla="*/ 1152 w 1152"/>
                  <a:gd name="T5" fmla="*/ 96 h 288"/>
                  <a:gd name="T6" fmla="*/ 768 w 1152"/>
                  <a:gd name="T7" fmla="*/ 96 h 288"/>
                  <a:gd name="T8" fmla="*/ 672 w 1152"/>
                  <a:gd name="T9" fmla="*/ 288 h 288"/>
                  <a:gd name="T10" fmla="*/ 480 w 1152"/>
                  <a:gd name="T11" fmla="*/ 288 h 288"/>
                  <a:gd name="T12" fmla="*/ 384 w 1152"/>
                  <a:gd name="T13" fmla="*/ 96 h 288"/>
                  <a:gd name="T14" fmla="*/ 0 w 1152"/>
                  <a:gd name="T15" fmla="*/ 96 h 288"/>
                  <a:gd name="T16" fmla="*/ 0 w 1152"/>
                  <a:gd name="T17" fmla="*/ 0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288">
                    <a:moveTo>
                      <a:pt x="0" y="0"/>
                    </a:moveTo>
                    <a:lnTo>
                      <a:pt x="1152" y="0"/>
                    </a:lnTo>
                    <a:lnTo>
                      <a:pt x="1152" y="96"/>
                    </a:lnTo>
                    <a:lnTo>
                      <a:pt x="768" y="96"/>
                    </a:lnTo>
                    <a:lnTo>
                      <a:pt x="672" y="288"/>
                    </a:lnTo>
                    <a:lnTo>
                      <a:pt x="480" y="288"/>
                    </a:lnTo>
                    <a:lnTo>
                      <a:pt x="384" y="96"/>
                    </a:lnTo>
                    <a:lnTo>
                      <a:pt x="0" y="96"/>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45" name="Group 84">
                <a:extLst>
                  <a:ext uri="{FF2B5EF4-FFF2-40B4-BE49-F238E27FC236}">
                    <a16:creationId xmlns:a16="http://schemas.microsoft.com/office/drawing/2014/main" id="{0C05EB8E-0EF1-C446-3D11-687E8D973A87}"/>
                  </a:ext>
                </a:extLst>
              </p:cNvPr>
              <p:cNvGrpSpPr>
                <a:grpSpLocks/>
              </p:cNvGrpSpPr>
              <p:nvPr/>
            </p:nvGrpSpPr>
            <p:grpSpPr bwMode="auto">
              <a:xfrm>
                <a:off x="1680" y="2064"/>
                <a:ext cx="96" cy="672"/>
                <a:chOff x="1680" y="2064"/>
                <a:chExt cx="96" cy="672"/>
              </a:xfrm>
            </p:grpSpPr>
            <p:sp>
              <p:nvSpPr>
                <p:cNvPr id="46" name="Rectangle 85">
                  <a:extLst>
                    <a:ext uri="{FF2B5EF4-FFF2-40B4-BE49-F238E27FC236}">
                      <a16:creationId xmlns:a16="http://schemas.microsoft.com/office/drawing/2014/main" id="{341F77EC-2D25-DC84-4A8E-B07B92FCEE9B}"/>
                    </a:ext>
                  </a:extLst>
                </p:cNvPr>
                <p:cNvSpPr>
                  <a:spLocks noChangeArrowheads="1"/>
                </p:cNvSpPr>
                <p:nvPr/>
              </p:nvSpPr>
              <p:spPr bwMode="auto">
                <a:xfrm>
                  <a:off x="1680" y="2064"/>
                  <a:ext cx="96" cy="67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47" name="Line 86">
                  <a:extLst>
                    <a:ext uri="{FF2B5EF4-FFF2-40B4-BE49-F238E27FC236}">
                      <a16:creationId xmlns:a16="http://schemas.microsoft.com/office/drawing/2014/main" id="{FBBE3DA6-1B46-3B77-066B-34013BFF3EB9}"/>
                    </a:ext>
                  </a:extLst>
                </p:cNvPr>
                <p:cNvSpPr>
                  <a:spLocks noChangeShapeType="1"/>
                </p:cNvSpPr>
                <p:nvPr/>
              </p:nvSpPr>
              <p:spPr bwMode="auto">
                <a:xfrm flipV="1">
                  <a:off x="1704" y="2064"/>
                  <a:ext cx="0" cy="6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sp>
          <p:nvSpPr>
            <p:cNvPr id="13" name="Rectangle 87">
              <a:extLst>
                <a:ext uri="{FF2B5EF4-FFF2-40B4-BE49-F238E27FC236}">
                  <a16:creationId xmlns:a16="http://schemas.microsoft.com/office/drawing/2014/main" id="{904DF050-7ED7-3B50-EBAA-58B70132E3B8}"/>
                </a:ext>
              </a:extLst>
            </p:cNvPr>
            <p:cNvSpPr>
              <a:spLocks noChangeArrowheads="1"/>
            </p:cNvSpPr>
            <p:nvPr/>
          </p:nvSpPr>
          <p:spPr bwMode="auto">
            <a:xfrm rot="5400000">
              <a:off x="7950715" y="3943735"/>
              <a:ext cx="65960" cy="324592"/>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 name="Rectangle 88">
              <a:extLst>
                <a:ext uri="{FF2B5EF4-FFF2-40B4-BE49-F238E27FC236}">
                  <a16:creationId xmlns:a16="http://schemas.microsoft.com/office/drawing/2014/main" id="{A2385745-ACB5-5CC0-B81A-578DD2E66C2D}"/>
                </a:ext>
              </a:extLst>
            </p:cNvPr>
            <p:cNvSpPr>
              <a:spLocks noChangeArrowheads="1"/>
            </p:cNvSpPr>
            <p:nvPr/>
          </p:nvSpPr>
          <p:spPr bwMode="auto">
            <a:xfrm rot="5400000">
              <a:off x="7113200" y="2753853"/>
              <a:ext cx="1735785" cy="322856"/>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6" name="Rectangle 89">
              <a:extLst>
                <a:ext uri="{FF2B5EF4-FFF2-40B4-BE49-F238E27FC236}">
                  <a16:creationId xmlns:a16="http://schemas.microsoft.com/office/drawing/2014/main" id="{E2A16D48-8EA2-F338-0BE3-632BDF259F6F}"/>
                </a:ext>
              </a:extLst>
            </p:cNvPr>
            <p:cNvSpPr>
              <a:spLocks noChangeArrowheads="1"/>
            </p:cNvSpPr>
            <p:nvPr/>
          </p:nvSpPr>
          <p:spPr bwMode="auto">
            <a:xfrm rot="5400000">
              <a:off x="7290249" y="2890981"/>
              <a:ext cx="1735785" cy="48602"/>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7" name="Rectangle 90">
              <a:extLst>
                <a:ext uri="{FF2B5EF4-FFF2-40B4-BE49-F238E27FC236}">
                  <a16:creationId xmlns:a16="http://schemas.microsoft.com/office/drawing/2014/main" id="{AF6DC5D1-8564-D1F0-0721-9C874A64DAC0}"/>
                </a:ext>
              </a:extLst>
            </p:cNvPr>
            <p:cNvSpPr>
              <a:spLocks noChangeArrowheads="1"/>
            </p:cNvSpPr>
            <p:nvPr/>
          </p:nvSpPr>
          <p:spPr bwMode="auto">
            <a:xfrm rot="5400000">
              <a:off x="6934414" y="2890981"/>
              <a:ext cx="1735785" cy="48602"/>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8" name="Rectangle 91">
              <a:extLst>
                <a:ext uri="{FF2B5EF4-FFF2-40B4-BE49-F238E27FC236}">
                  <a16:creationId xmlns:a16="http://schemas.microsoft.com/office/drawing/2014/main" id="{252C3EF1-8267-0C19-48DF-3EB18F987953}"/>
                </a:ext>
              </a:extLst>
            </p:cNvPr>
            <p:cNvSpPr>
              <a:spLocks noChangeArrowheads="1"/>
            </p:cNvSpPr>
            <p:nvPr/>
          </p:nvSpPr>
          <p:spPr bwMode="auto">
            <a:xfrm rot="5400000">
              <a:off x="7834418" y="1688950"/>
              <a:ext cx="291612" cy="453039"/>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 name="Rectangle 92">
              <a:extLst>
                <a:ext uri="{FF2B5EF4-FFF2-40B4-BE49-F238E27FC236}">
                  <a16:creationId xmlns:a16="http://schemas.microsoft.com/office/drawing/2014/main" id="{42A42FEB-75BF-CDEA-3996-299A2802DA6D}"/>
                </a:ext>
              </a:extLst>
            </p:cNvPr>
            <p:cNvSpPr>
              <a:spLocks noChangeArrowheads="1"/>
            </p:cNvSpPr>
            <p:nvPr/>
          </p:nvSpPr>
          <p:spPr bwMode="auto">
            <a:xfrm rot="5400000">
              <a:off x="7770194" y="3639973"/>
              <a:ext cx="420060" cy="453039"/>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0" name="Rectangle 93">
              <a:extLst>
                <a:ext uri="{FF2B5EF4-FFF2-40B4-BE49-F238E27FC236}">
                  <a16:creationId xmlns:a16="http://schemas.microsoft.com/office/drawing/2014/main" id="{B11061AE-1ECE-85B4-F186-5E620DE3C42F}"/>
                </a:ext>
              </a:extLst>
            </p:cNvPr>
            <p:cNvSpPr>
              <a:spLocks noChangeArrowheads="1"/>
            </p:cNvSpPr>
            <p:nvPr/>
          </p:nvSpPr>
          <p:spPr bwMode="auto">
            <a:xfrm rot="10800000">
              <a:off x="7533259" y="1769664"/>
              <a:ext cx="893930" cy="642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grpSp>
          <p:nvGrpSpPr>
            <p:cNvPr id="21" name="Group 94">
              <a:extLst>
                <a:ext uri="{FF2B5EF4-FFF2-40B4-BE49-F238E27FC236}">
                  <a16:creationId xmlns:a16="http://schemas.microsoft.com/office/drawing/2014/main" id="{81CFAEF4-6D36-0C2D-B7BD-78C312ABCE68}"/>
                </a:ext>
              </a:extLst>
            </p:cNvPr>
            <p:cNvGrpSpPr>
              <a:grpSpLocks/>
            </p:cNvGrpSpPr>
            <p:nvPr/>
          </p:nvGrpSpPr>
          <p:grpSpPr bwMode="auto">
            <a:xfrm rot="10800000">
              <a:off x="7564503" y="1833889"/>
              <a:ext cx="138863" cy="62488"/>
              <a:chOff x="2203" y="3103"/>
              <a:chExt cx="73" cy="33"/>
            </a:xfrm>
          </p:grpSpPr>
          <p:sp>
            <p:nvSpPr>
              <p:cNvPr id="40" name="Rectangle 95">
                <a:extLst>
                  <a:ext uri="{FF2B5EF4-FFF2-40B4-BE49-F238E27FC236}">
                    <a16:creationId xmlns:a16="http://schemas.microsoft.com/office/drawing/2014/main" id="{2C49BDBF-2468-9A68-2F36-6E57DDE4FA98}"/>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41" name="Freeform 96">
                <a:extLst>
                  <a:ext uri="{FF2B5EF4-FFF2-40B4-BE49-F238E27FC236}">
                    <a16:creationId xmlns:a16="http://schemas.microsoft.com/office/drawing/2014/main" id="{22126C7F-68A6-E4E3-33D7-24FA7055811D}"/>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2" name="Freeform 97">
                <a:extLst>
                  <a:ext uri="{FF2B5EF4-FFF2-40B4-BE49-F238E27FC236}">
                    <a16:creationId xmlns:a16="http://schemas.microsoft.com/office/drawing/2014/main" id="{660A5D8B-90D9-5247-4BAF-6BB320F0CA60}"/>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3" name="Freeform 98">
                <a:extLst>
                  <a:ext uri="{FF2B5EF4-FFF2-40B4-BE49-F238E27FC236}">
                    <a16:creationId xmlns:a16="http://schemas.microsoft.com/office/drawing/2014/main" id="{2F136E8E-73A1-2DDB-2E9B-C98850928C54}"/>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22" name="Group 99">
              <a:extLst>
                <a:ext uri="{FF2B5EF4-FFF2-40B4-BE49-F238E27FC236}">
                  <a16:creationId xmlns:a16="http://schemas.microsoft.com/office/drawing/2014/main" id="{AAFFEF62-7AB2-5393-1E31-AA0BE6584BD2}"/>
                </a:ext>
              </a:extLst>
            </p:cNvPr>
            <p:cNvGrpSpPr>
              <a:grpSpLocks/>
            </p:cNvGrpSpPr>
            <p:nvPr/>
          </p:nvGrpSpPr>
          <p:grpSpPr bwMode="auto">
            <a:xfrm rot="10800000">
              <a:off x="8265760" y="1835624"/>
              <a:ext cx="137128" cy="62488"/>
              <a:chOff x="2203" y="3103"/>
              <a:chExt cx="73" cy="33"/>
            </a:xfrm>
          </p:grpSpPr>
          <p:sp>
            <p:nvSpPr>
              <p:cNvPr id="36" name="Rectangle 100">
                <a:extLst>
                  <a:ext uri="{FF2B5EF4-FFF2-40B4-BE49-F238E27FC236}">
                    <a16:creationId xmlns:a16="http://schemas.microsoft.com/office/drawing/2014/main" id="{F6126D01-87FC-38A5-EE55-AFC871E9F23E}"/>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37" name="Freeform 101">
                <a:extLst>
                  <a:ext uri="{FF2B5EF4-FFF2-40B4-BE49-F238E27FC236}">
                    <a16:creationId xmlns:a16="http://schemas.microsoft.com/office/drawing/2014/main" id="{B5DCDCD5-6757-A669-CDE1-021BB23863F0}"/>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Freeform 102">
                <a:extLst>
                  <a:ext uri="{FF2B5EF4-FFF2-40B4-BE49-F238E27FC236}">
                    <a16:creationId xmlns:a16="http://schemas.microsoft.com/office/drawing/2014/main" id="{7473194F-34FB-BE9F-9263-27A26D528AE0}"/>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9" name="Freeform 103">
                <a:extLst>
                  <a:ext uri="{FF2B5EF4-FFF2-40B4-BE49-F238E27FC236}">
                    <a16:creationId xmlns:a16="http://schemas.microsoft.com/office/drawing/2014/main" id="{B62B1D21-6DE7-D252-5D9B-F04A28811BF6}"/>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23" name="Group 104">
              <a:extLst>
                <a:ext uri="{FF2B5EF4-FFF2-40B4-BE49-F238E27FC236}">
                  <a16:creationId xmlns:a16="http://schemas.microsoft.com/office/drawing/2014/main" id="{3B1F629C-593C-C00F-9EF3-A13A78A0C5D5}"/>
                </a:ext>
              </a:extLst>
            </p:cNvPr>
            <p:cNvGrpSpPr>
              <a:grpSpLocks/>
            </p:cNvGrpSpPr>
            <p:nvPr/>
          </p:nvGrpSpPr>
          <p:grpSpPr bwMode="auto">
            <a:xfrm rot="10800000">
              <a:off x="8522656" y="1127424"/>
              <a:ext cx="499906" cy="227388"/>
              <a:chOff x="2203" y="3103"/>
              <a:chExt cx="73" cy="33"/>
            </a:xfrm>
          </p:grpSpPr>
          <p:sp>
            <p:nvSpPr>
              <p:cNvPr id="32" name="Rectangle 105">
                <a:extLst>
                  <a:ext uri="{FF2B5EF4-FFF2-40B4-BE49-F238E27FC236}">
                    <a16:creationId xmlns:a16="http://schemas.microsoft.com/office/drawing/2014/main" id="{0C82270A-741A-7C16-72BF-5871653587BC}"/>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33" name="Freeform 106">
                <a:extLst>
                  <a:ext uri="{FF2B5EF4-FFF2-40B4-BE49-F238E27FC236}">
                    <a16:creationId xmlns:a16="http://schemas.microsoft.com/office/drawing/2014/main" id="{944B4697-3C1F-8916-F48F-E0338CE1EE9B}"/>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Freeform 107">
                <a:extLst>
                  <a:ext uri="{FF2B5EF4-FFF2-40B4-BE49-F238E27FC236}">
                    <a16:creationId xmlns:a16="http://schemas.microsoft.com/office/drawing/2014/main" id="{56939DB8-B0FE-F049-C073-235ABEC2D198}"/>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Freeform 108">
                <a:extLst>
                  <a:ext uri="{FF2B5EF4-FFF2-40B4-BE49-F238E27FC236}">
                    <a16:creationId xmlns:a16="http://schemas.microsoft.com/office/drawing/2014/main" id="{2611FFCA-4B5B-EB81-6AC0-A83A999E2B98}"/>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24" name="Freeform 109">
              <a:extLst>
                <a:ext uri="{FF2B5EF4-FFF2-40B4-BE49-F238E27FC236}">
                  <a16:creationId xmlns:a16="http://schemas.microsoft.com/office/drawing/2014/main" id="{77E3A58B-B135-A62A-5D40-817310422F29}"/>
                </a:ext>
              </a:extLst>
            </p:cNvPr>
            <p:cNvSpPr>
              <a:spLocks/>
            </p:cNvSpPr>
            <p:nvPr/>
          </p:nvSpPr>
          <p:spPr bwMode="auto">
            <a:xfrm>
              <a:off x="8647633" y="1019805"/>
              <a:ext cx="249953" cy="104147"/>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grpSp>
          <p:nvGrpSpPr>
            <p:cNvPr id="25" name="Group 110">
              <a:extLst>
                <a:ext uri="{FF2B5EF4-FFF2-40B4-BE49-F238E27FC236}">
                  <a16:creationId xmlns:a16="http://schemas.microsoft.com/office/drawing/2014/main" id="{2143EA6E-5414-9E4A-132A-391441CA2055}"/>
                </a:ext>
              </a:extLst>
            </p:cNvPr>
            <p:cNvGrpSpPr>
              <a:grpSpLocks/>
            </p:cNvGrpSpPr>
            <p:nvPr/>
          </p:nvGrpSpPr>
          <p:grpSpPr bwMode="auto">
            <a:xfrm rot="10800000">
              <a:off x="6950035" y="1127424"/>
              <a:ext cx="499906" cy="227388"/>
              <a:chOff x="2203" y="3103"/>
              <a:chExt cx="73" cy="33"/>
            </a:xfrm>
          </p:grpSpPr>
          <p:sp>
            <p:nvSpPr>
              <p:cNvPr id="28" name="Rectangle 111">
                <a:extLst>
                  <a:ext uri="{FF2B5EF4-FFF2-40B4-BE49-F238E27FC236}">
                    <a16:creationId xmlns:a16="http://schemas.microsoft.com/office/drawing/2014/main" id="{9E713A21-828C-44B6-CADE-4A0C61EF7679}"/>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9" name="Freeform 112">
                <a:extLst>
                  <a:ext uri="{FF2B5EF4-FFF2-40B4-BE49-F238E27FC236}">
                    <a16:creationId xmlns:a16="http://schemas.microsoft.com/office/drawing/2014/main" id="{1D7681B6-0C54-6078-73A4-F202AD3B38A5}"/>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Freeform 113">
                <a:extLst>
                  <a:ext uri="{FF2B5EF4-FFF2-40B4-BE49-F238E27FC236}">
                    <a16:creationId xmlns:a16="http://schemas.microsoft.com/office/drawing/2014/main" id="{A17C588D-D9D7-3ABB-7C2F-41D2B7424167}"/>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Freeform 114">
                <a:extLst>
                  <a:ext uri="{FF2B5EF4-FFF2-40B4-BE49-F238E27FC236}">
                    <a16:creationId xmlns:a16="http://schemas.microsoft.com/office/drawing/2014/main" id="{3D976134-BB66-7D81-276E-BB219F4EA3F9}"/>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26" name="Freeform 115">
              <a:extLst>
                <a:ext uri="{FF2B5EF4-FFF2-40B4-BE49-F238E27FC236}">
                  <a16:creationId xmlns:a16="http://schemas.microsoft.com/office/drawing/2014/main" id="{CE8992E8-5ADC-FC4B-2489-2F48D3598E81}"/>
                </a:ext>
              </a:extLst>
            </p:cNvPr>
            <p:cNvSpPr>
              <a:spLocks/>
            </p:cNvSpPr>
            <p:nvPr/>
          </p:nvSpPr>
          <p:spPr bwMode="auto">
            <a:xfrm>
              <a:off x="7075012" y="1019805"/>
              <a:ext cx="249953" cy="104147"/>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sp>
          <p:nvSpPr>
            <p:cNvPr id="27" name="Rectangle 116">
              <a:extLst>
                <a:ext uri="{FF2B5EF4-FFF2-40B4-BE49-F238E27FC236}">
                  <a16:creationId xmlns:a16="http://schemas.microsoft.com/office/drawing/2014/main" id="{6370D35C-940C-F030-2800-76780FFB8ADE}"/>
                </a:ext>
              </a:extLst>
            </p:cNvPr>
            <p:cNvSpPr>
              <a:spLocks noChangeArrowheads="1"/>
            </p:cNvSpPr>
            <p:nvPr/>
          </p:nvSpPr>
          <p:spPr bwMode="auto">
            <a:xfrm>
              <a:off x="7352737" y="5352324"/>
              <a:ext cx="1249765" cy="83318"/>
            </a:xfrm>
            <a:prstGeom prst="rect">
              <a:avLst/>
            </a:prstGeom>
            <a:solidFill>
              <a:srgbClr val="FF99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grpSp>
      <p:sp>
        <p:nvSpPr>
          <p:cNvPr id="48" name="TextBox 43">
            <a:extLst>
              <a:ext uri="{FF2B5EF4-FFF2-40B4-BE49-F238E27FC236}">
                <a16:creationId xmlns:a16="http://schemas.microsoft.com/office/drawing/2014/main" id="{18AE5A49-60C0-6215-BE7E-199015F558FF}"/>
              </a:ext>
            </a:extLst>
          </p:cNvPr>
          <p:cNvSpPr txBox="1"/>
          <p:nvPr/>
        </p:nvSpPr>
        <p:spPr>
          <a:xfrm>
            <a:off x="1385414" y="4962580"/>
            <a:ext cx="1333206" cy="430887"/>
          </a:xfrm>
          <a:prstGeom prst="rect">
            <a:avLst/>
          </a:prstGeom>
          <a:noFill/>
        </p:spPr>
        <p:txBody>
          <a:bodyPr wrap="square" rtlCol="0">
            <a:spAutoFit/>
          </a:bodyPr>
          <a:lstStyle/>
          <a:p>
            <a:pPr algn="ctr"/>
            <a:r>
              <a:rPr lang="zh-CN" altLang="en-US" sz="2200" b="1" dirty="0">
                <a:latin typeface="华文中宋" panose="02010600040101010101" pitchFamily="2" charset="-122"/>
                <a:ea typeface="华文中宋" panose="02010600040101010101" pitchFamily="2" charset="-122"/>
              </a:rPr>
              <a:t>初始</a:t>
            </a:r>
          </a:p>
        </p:txBody>
      </p:sp>
      <p:grpSp>
        <p:nvGrpSpPr>
          <p:cNvPr id="49" name="组合 48">
            <a:extLst>
              <a:ext uri="{FF2B5EF4-FFF2-40B4-BE49-F238E27FC236}">
                <a16:creationId xmlns:a16="http://schemas.microsoft.com/office/drawing/2014/main" id="{FFAB3391-1900-4F72-4E7C-407EC482F0A1}"/>
              </a:ext>
            </a:extLst>
          </p:cNvPr>
          <p:cNvGrpSpPr/>
          <p:nvPr/>
        </p:nvGrpSpPr>
        <p:grpSpPr>
          <a:xfrm>
            <a:off x="2826550" y="938623"/>
            <a:ext cx="2001553" cy="4452499"/>
            <a:chOff x="1696250" y="1673458"/>
            <a:chExt cx="2001553" cy="4452499"/>
          </a:xfrm>
        </p:grpSpPr>
        <p:grpSp>
          <p:nvGrpSpPr>
            <p:cNvPr id="50" name="组合 49">
              <a:extLst>
                <a:ext uri="{FF2B5EF4-FFF2-40B4-BE49-F238E27FC236}">
                  <a16:creationId xmlns:a16="http://schemas.microsoft.com/office/drawing/2014/main" id="{EC887EF2-FA09-D2BB-22E6-4BE406287C11}"/>
                </a:ext>
              </a:extLst>
            </p:cNvPr>
            <p:cNvGrpSpPr/>
            <p:nvPr/>
          </p:nvGrpSpPr>
          <p:grpSpPr>
            <a:xfrm>
              <a:off x="1696250" y="1673458"/>
              <a:ext cx="2001553" cy="3880442"/>
              <a:chOff x="2069795" y="1674259"/>
              <a:chExt cx="2371272" cy="4597224"/>
            </a:xfrm>
          </p:grpSpPr>
          <p:sp>
            <p:nvSpPr>
              <p:cNvPr id="52" name="右箭头 47">
                <a:extLst>
                  <a:ext uri="{FF2B5EF4-FFF2-40B4-BE49-F238E27FC236}">
                    <a16:creationId xmlns:a16="http://schemas.microsoft.com/office/drawing/2014/main" id="{580D5659-2511-F8EA-06F0-E94D90DB6149}"/>
                  </a:ext>
                </a:extLst>
              </p:cNvPr>
              <p:cNvSpPr/>
              <p:nvPr/>
            </p:nvSpPr>
            <p:spPr bwMode="auto">
              <a:xfrm>
                <a:off x="2069795" y="3295727"/>
                <a:ext cx="477837" cy="1223634"/>
              </a:xfrm>
              <a:prstGeom prst="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zh-CN" altLang="en-US" sz="2400" b="0" i="0" u="none" strike="noStrike" cap="none" normalizeH="0" baseline="0">
                  <a:ln>
                    <a:noFill/>
                  </a:ln>
                  <a:solidFill>
                    <a:schemeClr val="tx1"/>
                  </a:solidFill>
                  <a:effectLst/>
                  <a:latin typeface="Arial" pitchFamily="34" charset="0"/>
                  <a:ea typeface="宋体" pitchFamily="2" charset="-122"/>
                </a:endParaRPr>
              </a:p>
            </p:txBody>
          </p:sp>
          <p:sp>
            <p:nvSpPr>
              <p:cNvPr id="53" name="Rectangle 78">
                <a:extLst>
                  <a:ext uri="{FF2B5EF4-FFF2-40B4-BE49-F238E27FC236}">
                    <a16:creationId xmlns:a16="http://schemas.microsoft.com/office/drawing/2014/main" id="{996C3984-989B-699A-8374-D1E01D419E52}"/>
                  </a:ext>
                </a:extLst>
              </p:cNvPr>
              <p:cNvSpPr>
                <a:spLocks noChangeArrowheads="1"/>
              </p:cNvSpPr>
              <p:nvPr/>
            </p:nvSpPr>
            <p:spPr bwMode="auto">
              <a:xfrm>
                <a:off x="2698571" y="2267449"/>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54" name="Rectangle 79">
                <a:extLst>
                  <a:ext uri="{FF2B5EF4-FFF2-40B4-BE49-F238E27FC236}">
                    <a16:creationId xmlns:a16="http://schemas.microsoft.com/office/drawing/2014/main" id="{8F98AA35-0906-D8E7-E89A-B4A6ED862A9D}"/>
                  </a:ext>
                </a:extLst>
              </p:cNvPr>
              <p:cNvSpPr>
                <a:spLocks noChangeArrowheads="1"/>
              </p:cNvSpPr>
              <p:nvPr/>
            </p:nvSpPr>
            <p:spPr bwMode="auto">
              <a:xfrm>
                <a:off x="4107398" y="2267449"/>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55" name="Rectangle 80">
                <a:extLst>
                  <a:ext uri="{FF2B5EF4-FFF2-40B4-BE49-F238E27FC236}">
                    <a16:creationId xmlns:a16="http://schemas.microsoft.com/office/drawing/2014/main" id="{75ADE5A8-5E7E-1A5F-E751-C42DE1802DD1}"/>
                  </a:ext>
                </a:extLst>
              </p:cNvPr>
              <p:cNvSpPr>
                <a:spLocks noChangeArrowheads="1"/>
              </p:cNvSpPr>
              <p:nvPr/>
            </p:nvSpPr>
            <p:spPr bwMode="auto">
              <a:xfrm>
                <a:off x="2624422" y="1970854"/>
                <a:ext cx="1779571" cy="370744"/>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56" name="Freeform 81">
                <a:extLst>
                  <a:ext uri="{FF2B5EF4-FFF2-40B4-BE49-F238E27FC236}">
                    <a16:creationId xmlns:a16="http://schemas.microsoft.com/office/drawing/2014/main" id="{9F2AACC4-09AB-2FFB-F8F2-4DE61E8DB453}"/>
                  </a:ext>
                </a:extLst>
              </p:cNvPr>
              <p:cNvSpPr>
                <a:spLocks/>
              </p:cNvSpPr>
              <p:nvPr/>
            </p:nvSpPr>
            <p:spPr bwMode="auto">
              <a:xfrm>
                <a:off x="2624422" y="5604144"/>
                <a:ext cx="1779571" cy="667339"/>
              </a:xfrm>
              <a:custGeom>
                <a:avLst/>
                <a:gdLst>
                  <a:gd name="T0" fmla="*/ 0 w 1152"/>
                  <a:gd name="T1" fmla="*/ 0 h 432"/>
                  <a:gd name="T2" fmla="*/ 533400 w 1152"/>
                  <a:gd name="T3" fmla="*/ 0 h 432"/>
                  <a:gd name="T4" fmla="*/ 708025 w 1152"/>
                  <a:gd name="T5" fmla="*/ 336550 h 432"/>
                  <a:gd name="T6" fmla="*/ 1123950 w 1152"/>
                  <a:gd name="T7" fmla="*/ 336550 h 432"/>
                  <a:gd name="T8" fmla="*/ 1295400 w 1152"/>
                  <a:gd name="T9" fmla="*/ 0 h 432"/>
                  <a:gd name="T10" fmla="*/ 1828800 w 1152"/>
                  <a:gd name="T11" fmla="*/ 0 h 432"/>
                  <a:gd name="T12" fmla="*/ 1828800 w 1152"/>
                  <a:gd name="T13" fmla="*/ 685800 h 432"/>
                  <a:gd name="T14" fmla="*/ 0 w 1152"/>
                  <a:gd name="T15" fmla="*/ 685800 h 432"/>
                  <a:gd name="T16" fmla="*/ 0 w 1152"/>
                  <a:gd name="T17" fmla="*/ 0 h 4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432">
                    <a:moveTo>
                      <a:pt x="0" y="0"/>
                    </a:moveTo>
                    <a:lnTo>
                      <a:pt x="336" y="0"/>
                    </a:lnTo>
                    <a:lnTo>
                      <a:pt x="446" y="212"/>
                    </a:lnTo>
                    <a:lnTo>
                      <a:pt x="708" y="212"/>
                    </a:lnTo>
                    <a:lnTo>
                      <a:pt x="816" y="0"/>
                    </a:lnTo>
                    <a:lnTo>
                      <a:pt x="1152" y="0"/>
                    </a:lnTo>
                    <a:lnTo>
                      <a:pt x="1152" y="432"/>
                    </a:lnTo>
                    <a:lnTo>
                      <a:pt x="0" y="432"/>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7" name="Group 82">
                <a:extLst>
                  <a:ext uri="{FF2B5EF4-FFF2-40B4-BE49-F238E27FC236}">
                    <a16:creationId xmlns:a16="http://schemas.microsoft.com/office/drawing/2014/main" id="{F703B329-DEEF-B937-909E-1A91A2513F74}"/>
                  </a:ext>
                </a:extLst>
              </p:cNvPr>
              <p:cNvGrpSpPr>
                <a:grpSpLocks/>
              </p:cNvGrpSpPr>
              <p:nvPr/>
            </p:nvGrpSpPr>
            <p:grpSpPr bwMode="auto">
              <a:xfrm>
                <a:off x="2624422" y="4041597"/>
                <a:ext cx="1779571" cy="1482975"/>
                <a:chOff x="1152" y="2064"/>
                <a:chExt cx="1152" cy="960"/>
              </a:xfrm>
            </p:grpSpPr>
            <p:sp>
              <p:nvSpPr>
                <p:cNvPr id="89" name="Freeform 83">
                  <a:extLst>
                    <a:ext uri="{FF2B5EF4-FFF2-40B4-BE49-F238E27FC236}">
                      <a16:creationId xmlns:a16="http://schemas.microsoft.com/office/drawing/2014/main" id="{A4C77CD1-C7AC-DEE3-8516-82E93551FECD}"/>
                    </a:ext>
                  </a:extLst>
                </p:cNvPr>
                <p:cNvSpPr>
                  <a:spLocks/>
                </p:cNvSpPr>
                <p:nvPr/>
              </p:nvSpPr>
              <p:spPr bwMode="auto">
                <a:xfrm>
                  <a:off x="1152" y="2736"/>
                  <a:ext cx="1152" cy="288"/>
                </a:xfrm>
                <a:custGeom>
                  <a:avLst/>
                  <a:gdLst>
                    <a:gd name="T0" fmla="*/ 0 w 1152"/>
                    <a:gd name="T1" fmla="*/ 0 h 288"/>
                    <a:gd name="T2" fmla="*/ 1152 w 1152"/>
                    <a:gd name="T3" fmla="*/ 0 h 288"/>
                    <a:gd name="T4" fmla="*/ 1152 w 1152"/>
                    <a:gd name="T5" fmla="*/ 96 h 288"/>
                    <a:gd name="T6" fmla="*/ 768 w 1152"/>
                    <a:gd name="T7" fmla="*/ 96 h 288"/>
                    <a:gd name="T8" fmla="*/ 672 w 1152"/>
                    <a:gd name="T9" fmla="*/ 288 h 288"/>
                    <a:gd name="T10" fmla="*/ 480 w 1152"/>
                    <a:gd name="T11" fmla="*/ 288 h 288"/>
                    <a:gd name="T12" fmla="*/ 384 w 1152"/>
                    <a:gd name="T13" fmla="*/ 96 h 288"/>
                    <a:gd name="T14" fmla="*/ 0 w 1152"/>
                    <a:gd name="T15" fmla="*/ 96 h 288"/>
                    <a:gd name="T16" fmla="*/ 0 w 1152"/>
                    <a:gd name="T17" fmla="*/ 0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288">
                      <a:moveTo>
                        <a:pt x="0" y="0"/>
                      </a:moveTo>
                      <a:lnTo>
                        <a:pt x="1152" y="0"/>
                      </a:lnTo>
                      <a:lnTo>
                        <a:pt x="1152" y="96"/>
                      </a:lnTo>
                      <a:lnTo>
                        <a:pt x="768" y="96"/>
                      </a:lnTo>
                      <a:lnTo>
                        <a:pt x="672" y="288"/>
                      </a:lnTo>
                      <a:lnTo>
                        <a:pt x="480" y="288"/>
                      </a:lnTo>
                      <a:lnTo>
                        <a:pt x="384" y="96"/>
                      </a:lnTo>
                      <a:lnTo>
                        <a:pt x="0" y="96"/>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0" name="Group 84">
                  <a:extLst>
                    <a:ext uri="{FF2B5EF4-FFF2-40B4-BE49-F238E27FC236}">
                      <a16:creationId xmlns:a16="http://schemas.microsoft.com/office/drawing/2014/main" id="{CCFFEB78-478D-7749-167E-16EBBEE6A50D}"/>
                    </a:ext>
                  </a:extLst>
                </p:cNvPr>
                <p:cNvGrpSpPr>
                  <a:grpSpLocks/>
                </p:cNvGrpSpPr>
                <p:nvPr/>
              </p:nvGrpSpPr>
              <p:grpSpPr bwMode="auto">
                <a:xfrm>
                  <a:off x="1680" y="2064"/>
                  <a:ext cx="96" cy="672"/>
                  <a:chOff x="1680" y="2064"/>
                  <a:chExt cx="96" cy="672"/>
                </a:xfrm>
              </p:grpSpPr>
              <p:sp>
                <p:nvSpPr>
                  <p:cNvPr id="91" name="Rectangle 85">
                    <a:extLst>
                      <a:ext uri="{FF2B5EF4-FFF2-40B4-BE49-F238E27FC236}">
                        <a16:creationId xmlns:a16="http://schemas.microsoft.com/office/drawing/2014/main" id="{56D49300-9A2F-6683-7C18-D053CBDEEB25}"/>
                      </a:ext>
                    </a:extLst>
                  </p:cNvPr>
                  <p:cNvSpPr>
                    <a:spLocks noChangeArrowheads="1"/>
                  </p:cNvSpPr>
                  <p:nvPr/>
                </p:nvSpPr>
                <p:spPr bwMode="auto">
                  <a:xfrm>
                    <a:off x="1680" y="2064"/>
                    <a:ext cx="96" cy="67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92" name="Line 86">
                    <a:extLst>
                      <a:ext uri="{FF2B5EF4-FFF2-40B4-BE49-F238E27FC236}">
                        <a16:creationId xmlns:a16="http://schemas.microsoft.com/office/drawing/2014/main" id="{D4144D74-EA36-168B-09A7-66222A6AE9EA}"/>
                      </a:ext>
                    </a:extLst>
                  </p:cNvPr>
                  <p:cNvSpPr>
                    <a:spLocks noChangeShapeType="1"/>
                  </p:cNvSpPr>
                  <p:nvPr/>
                </p:nvSpPr>
                <p:spPr bwMode="auto">
                  <a:xfrm flipV="1">
                    <a:off x="1704" y="2064"/>
                    <a:ext cx="0" cy="6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sp>
            <p:nvSpPr>
              <p:cNvPr id="58" name="Rectangle 87">
                <a:extLst>
                  <a:ext uri="{FF2B5EF4-FFF2-40B4-BE49-F238E27FC236}">
                    <a16:creationId xmlns:a16="http://schemas.microsoft.com/office/drawing/2014/main" id="{380E690D-2B1A-0D97-860A-D48EACEEEF5F}"/>
                  </a:ext>
                </a:extLst>
              </p:cNvPr>
              <p:cNvSpPr>
                <a:spLocks noChangeArrowheads="1"/>
              </p:cNvSpPr>
              <p:nvPr/>
            </p:nvSpPr>
            <p:spPr bwMode="auto">
              <a:xfrm rot="5400000">
                <a:off x="3487174" y="4276418"/>
                <a:ext cx="58701" cy="288872"/>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59" name="Rectangle 88">
                <a:extLst>
                  <a:ext uri="{FF2B5EF4-FFF2-40B4-BE49-F238E27FC236}">
                    <a16:creationId xmlns:a16="http://schemas.microsoft.com/office/drawing/2014/main" id="{F99070C9-67EB-CC17-C884-93ABB638CB86}"/>
                  </a:ext>
                </a:extLst>
              </p:cNvPr>
              <p:cNvSpPr>
                <a:spLocks noChangeArrowheads="1"/>
              </p:cNvSpPr>
              <p:nvPr/>
            </p:nvSpPr>
            <p:spPr bwMode="auto">
              <a:xfrm rot="5400000">
                <a:off x="2741825" y="3217479"/>
                <a:ext cx="1544766" cy="287327"/>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60" name="Rectangle 89">
                <a:extLst>
                  <a:ext uri="{FF2B5EF4-FFF2-40B4-BE49-F238E27FC236}">
                    <a16:creationId xmlns:a16="http://schemas.microsoft.com/office/drawing/2014/main" id="{26345DB6-935E-2669-0E9D-08ACB0664CCA}"/>
                  </a:ext>
                </a:extLst>
              </p:cNvPr>
              <p:cNvSpPr>
                <a:spLocks noChangeArrowheads="1"/>
              </p:cNvSpPr>
              <p:nvPr/>
            </p:nvSpPr>
            <p:spPr bwMode="auto">
              <a:xfrm rot="5400000">
                <a:off x="2899391" y="3339517"/>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61" name="Rectangle 90">
                <a:extLst>
                  <a:ext uri="{FF2B5EF4-FFF2-40B4-BE49-F238E27FC236}">
                    <a16:creationId xmlns:a16="http://schemas.microsoft.com/office/drawing/2014/main" id="{2CFC9F16-3851-1A63-FBD0-7EF396DEBA7A}"/>
                  </a:ext>
                </a:extLst>
              </p:cNvPr>
              <p:cNvSpPr>
                <a:spLocks noChangeArrowheads="1"/>
              </p:cNvSpPr>
              <p:nvPr/>
            </p:nvSpPr>
            <p:spPr bwMode="auto">
              <a:xfrm rot="5400000">
                <a:off x="2582714" y="3339517"/>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62" name="Rectangle 91">
                <a:extLst>
                  <a:ext uri="{FF2B5EF4-FFF2-40B4-BE49-F238E27FC236}">
                    <a16:creationId xmlns:a16="http://schemas.microsoft.com/office/drawing/2014/main" id="{446CD55A-EA3E-6579-5C7E-099BA96D6AD4}"/>
                  </a:ext>
                </a:extLst>
              </p:cNvPr>
              <p:cNvSpPr>
                <a:spLocks noChangeArrowheads="1"/>
              </p:cNvSpPr>
              <p:nvPr/>
            </p:nvSpPr>
            <p:spPr bwMode="auto">
              <a:xfrm rot="5400000">
                <a:off x="3383675" y="2269766"/>
                <a:ext cx="259521"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63" name="Rectangle 92">
                <a:extLst>
                  <a:ext uri="{FF2B5EF4-FFF2-40B4-BE49-F238E27FC236}">
                    <a16:creationId xmlns:a16="http://schemas.microsoft.com/office/drawing/2014/main" id="{9099373F-86E4-095C-A764-6903FF90C410}"/>
                  </a:ext>
                </a:extLst>
              </p:cNvPr>
              <p:cNvSpPr>
                <a:spLocks noChangeArrowheads="1"/>
              </p:cNvSpPr>
              <p:nvPr/>
            </p:nvSpPr>
            <p:spPr bwMode="auto">
              <a:xfrm rot="5400000">
                <a:off x="3326519" y="4006084"/>
                <a:ext cx="373833"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64" name="Rectangle 93">
                <a:extLst>
                  <a:ext uri="{FF2B5EF4-FFF2-40B4-BE49-F238E27FC236}">
                    <a16:creationId xmlns:a16="http://schemas.microsoft.com/office/drawing/2014/main" id="{02A93229-C627-6886-411A-B34787AD7770}"/>
                  </a:ext>
                </a:extLst>
              </p:cNvPr>
              <p:cNvSpPr>
                <a:spLocks noChangeArrowheads="1"/>
              </p:cNvSpPr>
              <p:nvPr/>
            </p:nvSpPr>
            <p:spPr bwMode="auto">
              <a:xfrm rot="10800000">
                <a:off x="3115658" y="2341598"/>
                <a:ext cx="795555" cy="5715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grpSp>
            <p:nvGrpSpPr>
              <p:cNvPr id="65" name="Group 94">
                <a:extLst>
                  <a:ext uri="{FF2B5EF4-FFF2-40B4-BE49-F238E27FC236}">
                    <a16:creationId xmlns:a16="http://schemas.microsoft.com/office/drawing/2014/main" id="{B655D2E1-F595-FD9B-D47D-882302F8DBBC}"/>
                  </a:ext>
                </a:extLst>
              </p:cNvPr>
              <p:cNvGrpSpPr>
                <a:grpSpLocks/>
              </p:cNvGrpSpPr>
              <p:nvPr/>
            </p:nvGrpSpPr>
            <p:grpSpPr bwMode="auto">
              <a:xfrm rot="10800000">
                <a:off x="3143463" y="2398755"/>
                <a:ext cx="123582" cy="55611"/>
                <a:chOff x="2203" y="3103"/>
                <a:chExt cx="73" cy="33"/>
              </a:xfrm>
            </p:grpSpPr>
            <p:sp>
              <p:nvSpPr>
                <p:cNvPr id="85" name="Rectangle 95">
                  <a:extLst>
                    <a:ext uri="{FF2B5EF4-FFF2-40B4-BE49-F238E27FC236}">
                      <a16:creationId xmlns:a16="http://schemas.microsoft.com/office/drawing/2014/main" id="{97D081F0-29A9-C0EC-76CD-127EF4D534E0}"/>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86" name="Freeform 96">
                  <a:extLst>
                    <a:ext uri="{FF2B5EF4-FFF2-40B4-BE49-F238E27FC236}">
                      <a16:creationId xmlns:a16="http://schemas.microsoft.com/office/drawing/2014/main" id="{F266BB19-33DD-62A1-FE8A-7B3926AD2607}"/>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Freeform 97">
                  <a:extLst>
                    <a:ext uri="{FF2B5EF4-FFF2-40B4-BE49-F238E27FC236}">
                      <a16:creationId xmlns:a16="http://schemas.microsoft.com/office/drawing/2014/main" id="{41A01B6D-4003-CEDE-9C94-3400A6B389E5}"/>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8" name="Freeform 98">
                  <a:extLst>
                    <a:ext uri="{FF2B5EF4-FFF2-40B4-BE49-F238E27FC236}">
                      <a16:creationId xmlns:a16="http://schemas.microsoft.com/office/drawing/2014/main" id="{66D528EC-AB58-2039-CFA6-3EF831EBB3E8}"/>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 name="Group 99">
                <a:extLst>
                  <a:ext uri="{FF2B5EF4-FFF2-40B4-BE49-F238E27FC236}">
                    <a16:creationId xmlns:a16="http://schemas.microsoft.com/office/drawing/2014/main" id="{E9D92029-0C38-121B-E49E-0B0050D6CCFB}"/>
                  </a:ext>
                </a:extLst>
              </p:cNvPr>
              <p:cNvGrpSpPr>
                <a:grpSpLocks/>
              </p:cNvGrpSpPr>
              <p:nvPr/>
            </p:nvGrpSpPr>
            <p:grpSpPr bwMode="auto">
              <a:xfrm rot="10800000">
                <a:off x="3767549" y="2400299"/>
                <a:ext cx="122037" cy="55611"/>
                <a:chOff x="2203" y="3103"/>
                <a:chExt cx="73" cy="33"/>
              </a:xfrm>
            </p:grpSpPr>
            <p:sp>
              <p:nvSpPr>
                <p:cNvPr id="81" name="Rectangle 100">
                  <a:extLst>
                    <a:ext uri="{FF2B5EF4-FFF2-40B4-BE49-F238E27FC236}">
                      <a16:creationId xmlns:a16="http://schemas.microsoft.com/office/drawing/2014/main" id="{CC3702B3-61AB-1220-01AC-785A28E9A695}"/>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82" name="Freeform 101">
                  <a:extLst>
                    <a:ext uri="{FF2B5EF4-FFF2-40B4-BE49-F238E27FC236}">
                      <a16:creationId xmlns:a16="http://schemas.microsoft.com/office/drawing/2014/main" id="{19519F58-B981-25CC-E317-E9A1E4EE3FD1}"/>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 name="Freeform 102">
                  <a:extLst>
                    <a:ext uri="{FF2B5EF4-FFF2-40B4-BE49-F238E27FC236}">
                      <a16:creationId xmlns:a16="http://schemas.microsoft.com/office/drawing/2014/main" id="{15E9FDEA-D095-9E7C-34FD-A5F9967BC9FC}"/>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Freeform 103">
                  <a:extLst>
                    <a:ext uri="{FF2B5EF4-FFF2-40B4-BE49-F238E27FC236}">
                      <a16:creationId xmlns:a16="http://schemas.microsoft.com/office/drawing/2014/main" id="{D5928F41-CF27-897A-CB1F-63A5D898ACD7}"/>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7" name="Group 104">
                <a:extLst>
                  <a:ext uri="{FF2B5EF4-FFF2-40B4-BE49-F238E27FC236}">
                    <a16:creationId xmlns:a16="http://schemas.microsoft.com/office/drawing/2014/main" id="{FBF0F57B-5E7A-4C21-9214-9EC39D174B15}"/>
                  </a:ext>
                </a:extLst>
              </p:cNvPr>
              <p:cNvGrpSpPr>
                <a:grpSpLocks/>
              </p:cNvGrpSpPr>
              <p:nvPr/>
            </p:nvGrpSpPr>
            <p:grpSpPr bwMode="auto">
              <a:xfrm rot="10800000">
                <a:off x="3996174" y="1770035"/>
                <a:ext cx="444893" cy="202365"/>
                <a:chOff x="2203" y="3103"/>
                <a:chExt cx="73" cy="33"/>
              </a:xfrm>
            </p:grpSpPr>
            <p:sp>
              <p:nvSpPr>
                <p:cNvPr id="77" name="Rectangle 105">
                  <a:extLst>
                    <a:ext uri="{FF2B5EF4-FFF2-40B4-BE49-F238E27FC236}">
                      <a16:creationId xmlns:a16="http://schemas.microsoft.com/office/drawing/2014/main" id="{2953B6DA-A943-CE97-5271-E84C7BA3ED07}"/>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78" name="Freeform 106">
                  <a:extLst>
                    <a:ext uri="{FF2B5EF4-FFF2-40B4-BE49-F238E27FC236}">
                      <a16:creationId xmlns:a16="http://schemas.microsoft.com/office/drawing/2014/main" id="{DD054D74-CAD9-C437-3027-482983074F4F}"/>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Freeform 107">
                  <a:extLst>
                    <a:ext uri="{FF2B5EF4-FFF2-40B4-BE49-F238E27FC236}">
                      <a16:creationId xmlns:a16="http://schemas.microsoft.com/office/drawing/2014/main" id="{81C587DC-B7AE-0B07-18A4-F1AA2C5348C5}"/>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0" name="Freeform 108">
                  <a:extLst>
                    <a:ext uri="{FF2B5EF4-FFF2-40B4-BE49-F238E27FC236}">
                      <a16:creationId xmlns:a16="http://schemas.microsoft.com/office/drawing/2014/main" id="{BE1E5373-BAC1-8DF7-3A7A-199AE71F7CAA}"/>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8" name="Freeform 109">
                <a:extLst>
                  <a:ext uri="{FF2B5EF4-FFF2-40B4-BE49-F238E27FC236}">
                    <a16:creationId xmlns:a16="http://schemas.microsoft.com/office/drawing/2014/main" id="{B8FD6B86-4204-0B3C-A8C8-03B6F066937F}"/>
                  </a:ext>
                </a:extLst>
              </p:cNvPr>
              <p:cNvSpPr>
                <a:spLocks/>
              </p:cNvSpPr>
              <p:nvPr/>
            </p:nvSpPr>
            <p:spPr bwMode="auto">
              <a:xfrm>
                <a:off x="4107398" y="1674259"/>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grpSp>
            <p:nvGrpSpPr>
              <p:cNvPr id="69" name="Group 110">
                <a:extLst>
                  <a:ext uri="{FF2B5EF4-FFF2-40B4-BE49-F238E27FC236}">
                    <a16:creationId xmlns:a16="http://schemas.microsoft.com/office/drawing/2014/main" id="{BA01A5D5-E50B-6BD8-4F07-72C6326CB7AF}"/>
                  </a:ext>
                </a:extLst>
              </p:cNvPr>
              <p:cNvGrpSpPr>
                <a:grpSpLocks/>
              </p:cNvGrpSpPr>
              <p:nvPr/>
            </p:nvGrpSpPr>
            <p:grpSpPr bwMode="auto">
              <a:xfrm rot="10800000">
                <a:off x="2596616" y="1770035"/>
                <a:ext cx="444893" cy="202365"/>
                <a:chOff x="2203" y="3103"/>
                <a:chExt cx="73" cy="33"/>
              </a:xfrm>
            </p:grpSpPr>
            <p:sp>
              <p:nvSpPr>
                <p:cNvPr id="73" name="Rectangle 111">
                  <a:extLst>
                    <a:ext uri="{FF2B5EF4-FFF2-40B4-BE49-F238E27FC236}">
                      <a16:creationId xmlns:a16="http://schemas.microsoft.com/office/drawing/2014/main" id="{9053FABB-279C-A183-0F71-B4007E5A6838}"/>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74" name="Freeform 112">
                  <a:extLst>
                    <a:ext uri="{FF2B5EF4-FFF2-40B4-BE49-F238E27FC236}">
                      <a16:creationId xmlns:a16="http://schemas.microsoft.com/office/drawing/2014/main" id="{C353464D-F4E8-34F6-A46B-076CC1EAF926}"/>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Freeform 113">
                  <a:extLst>
                    <a:ext uri="{FF2B5EF4-FFF2-40B4-BE49-F238E27FC236}">
                      <a16:creationId xmlns:a16="http://schemas.microsoft.com/office/drawing/2014/main" id="{16557051-2D5E-C76F-36EC-E5942BDD6135}"/>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Freeform 114">
                  <a:extLst>
                    <a:ext uri="{FF2B5EF4-FFF2-40B4-BE49-F238E27FC236}">
                      <a16:creationId xmlns:a16="http://schemas.microsoft.com/office/drawing/2014/main" id="{7C3B60F4-361B-65A4-85D6-4E014F6722F7}"/>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0" name="Freeform 115">
                <a:extLst>
                  <a:ext uri="{FF2B5EF4-FFF2-40B4-BE49-F238E27FC236}">
                    <a16:creationId xmlns:a16="http://schemas.microsoft.com/office/drawing/2014/main" id="{C9A5DB76-696F-6B7C-D0DB-A932B4031821}"/>
                  </a:ext>
                </a:extLst>
              </p:cNvPr>
              <p:cNvSpPr>
                <a:spLocks/>
              </p:cNvSpPr>
              <p:nvPr/>
            </p:nvSpPr>
            <p:spPr bwMode="auto">
              <a:xfrm>
                <a:off x="2707840" y="1674259"/>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sp>
            <p:nvSpPr>
              <p:cNvPr id="71" name="Rectangle 116">
                <a:extLst>
                  <a:ext uri="{FF2B5EF4-FFF2-40B4-BE49-F238E27FC236}">
                    <a16:creationId xmlns:a16="http://schemas.microsoft.com/office/drawing/2014/main" id="{ED23D757-C588-555A-D833-94347A5CD9E1}"/>
                  </a:ext>
                </a:extLst>
              </p:cNvPr>
              <p:cNvSpPr>
                <a:spLocks noChangeArrowheads="1"/>
              </p:cNvSpPr>
              <p:nvPr/>
            </p:nvSpPr>
            <p:spPr bwMode="auto">
              <a:xfrm>
                <a:off x="2955002" y="5529995"/>
                <a:ext cx="1112232" cy="74149"/>
              </a:xfrm>
              <a:prstGeom prst="rect">
                <a:avLst/>
              </a:prstGeom>
              <a:solidFill>
                <a:srgbClr val="FF99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cxnSp>
            <p:nvCxnSpPr>
              <p:cNvPr id="72" name="直接箭头连接符 71">
                <a:extLst>
                  <a:ext uri="{FF2B5EF4-FFF2-40B4-BE49-F238E27FC236}">
                    <a16:creationId xmlns:a16="http://schemas.microsoft.com/office/drawing/2014/main" id="{10CE1DF7-6FDD-2B7D-61E9-D0463BA55F7D}"/>
                  </a:ext>
                </a:extLst>
              </p:cNvPr>
              <p:cNvCxnSpPr/>
              <p:nvPr/>
            </p:nvCxnSpPr>
            <p:spPr bwMode="auto">
              <a:xfrm>
                <a:off x="3861166" y="3194129"/>
                <a:ext cx="0" cy="1197374"/>
              </a:xfrm>
              <a:prstGeom prst="straightConnector1">
                <a:avLst/>
              </a:prstGeom>
              <a:solidFill>
                <a:schemeClr val="accent1"/>
              </a:solidFill>
              <a:ln w="254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1" name="TextBox 46">
              <a:extLst>
                <a:ext uri="{FF2B5EF4-FFF2-40B4-BE49-F238E27FC236}">
                  <a16:creationId xmlns:a16="http://schemas.microsoft.com/office/drawing/2014/main" id="{B415064B-01D6-4B22-D089-EE22D43EE0D7}"/>
                </a:ext>
              </a:extLst>
            </p:cNvPr>
            <p:cNvSpPr txBox="1"/>
            <p:nvPr/>
          </p:nvSpPr>
          <p:spPr>
            <a:xfrm>
              <a:off x="2236099" y="5695070"/>
              <a:ext cx="1461704" cy="430887"/>
            </a:xfrm>
            <a:prstGeom prst="rect">
              <a:avLst/>
            </a:prstGeom>
            <a:noFill/>
          </p:spPr>
          <p:txBody>
            <a:bodyPr wrap="square" rtlCol="0">
              <a:spAutoFit/>
            </a:bodyPr>
            <a:lstStyle/>
            <a:p>
              <a:pPr algn="ctr"/>
              <a:r>
                <a:rPr lang="zh-CN" altLang="en-US" sz="2200" b="1" dirty="0">
                  <a:latin typeface="华文中宋" panose="02010600040101010101" pitchFamily="2" charset="-122"/>
                  <a:ea typeface="华文中宋" panose="02010600040101010101" pitchFamily="2" charset="-122"/>
                </a:rPr>
                <a:t>快速下行</a:t>
              </a:r>
            </a:p>
          </p:txBody>
        </p:sp>
      </p:grpSp>
      <p:grpSp>
        <p:nvGrpSpPr>
          <p:cNvPr id="93" name="组合 92">
            <a:extLst>
              <a:ext uri="{FF2B5EF4-FFF2-40B4-BE49-F238E27FC236}">
                <a16:creationId xmlns:a16="http://schemas.microsoft.com/office/drawing/2014/main" id="{1A2D35BA-A5DF-0DBB-D95D-8D7D69B77376}"/>
              </a:ext>
            </a:extLst>
          </p:cNvPr>
          <p:cNvGrpSpPr/>
          <p:nvPr/>
        </p:nvGrpSpPr>
        <p:grpSpPr>
          <a:xfrm>
            <a:off x="4811726" y="934295"/>
            <a:ext cx="1975338" cy="4456826"/>
            <a:chOff x="3681426" y="1669130"/>
            <a:chExt cx="1975338" cy="4456826"/>
          </a:xfrm>
        </p:grpSpPr>
        <p:grpSp>
          <p:nvGrpSpPr>
            <p:cNvPr id="94" name="组合 93">
              <a:extLst>
                <a:ext uri="{FF2B5EF4-FFF2-40B4-BE49-F238E27FC236}">
                  <a16:creationId xmlns:a16="http://schemas.microsoft.com/office/drawing/2014/main" id="{0AD88E4D-C63B-AAFC-3551-B6A5047E0C61}"/>
                </a:ext>
              </a:extLst>
            </p:cNvPr>
            <p:cNvGrpSpPr/>
            <p:nvPr/>
          </p:nvGrpSpPr>
          <p:grpSpPr>
            <a:xfrm>
              <a:off x="3681426" y="1669130"/>
              <a:ext cx="1975338" cy="3880442"/>
              <a:chOff x="4561023" y="1669131"/>
              <a:chExt cx="2340215" cy="4597224"/>
            </a:xfrm>
          </p:grpSpPr>
          <p:sp>
            <p:nvSpPr>
              <p:cNvPr id="96" name="右箭头 91">
                <a:extLst>
                  <a:ext uri="{FF2B5EF4-FFF2-40B4-BE49-F238E27FC236}">
                    <a16:creationId xmlns:a16="http://schemas.microsoft.com/office/drawing/2014/main" id="{6021B971-C74F-0D0D-D423-BB7938CEA258}"/>
                  </a:ext>
                </a:extLst>
              </p:cNvPr>
              <p:cNvSpPr/>
              <p:nvPr/>
            </p:nvSpPr>
            <p:spPr bwMode="auto">
              <a:xfrm>
                <a:off x="4561023" y="3264222"/>
                <a:ext cx="477837" cy="1223634"/>
              </a:xfrm>
              <a:prstGeom prst="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zh-CN" altLang="en-US" sz="2400" b="0" i="0" u="none" strike="noStrike" cap="none" normalizeH="0" baseline="0">
                  <a:ln>
                    <a:noFill/>
                  </a:ln>
                  <a:solidFill>
                    <a:schemeClr val="tx1"/>
                  </a:solidFill>
                  <a:effectLst/>
                  <a:latin typeface="Arial" pitchFamily="34" charset="0"/>
                  <a:ea typeface="宋体" pitchFamily="2" charset="-122"/>
                </a:endParaRPr>
              </a:p>
            </p:txBody>
          </p:sp>
          <p:sp>
            <p:nvSpPr>
              <p:cNvPr id="97" name="Rectangle 78">
                <a:extLst>
                  <a:ext uri="{FF2B5EF4-FFF2-40B4-BE49-F238E27FC236}">
                    <a16:creationId xmlns:a16="http://schemas.microsoft.com/office/drawing/2014/main" id="{610C24DC-F26D-3B75-5E3A-9B4EDF945608}"/>
                  </a:ext>
                </a:extLst>
              </p:cNvPr>
              <p:cNvSpPr>
                <a:spLocks noChangeArrowheads="1"/>
              </p:cNvSpPr>
              <p:nvPr/>
            </p:nvSpPr>
            <p:spPr bwMode="auto">
              <a:xfrm>
                <a:off x="5158742" y="2262321"/>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98" name="Rectangle 79">
                <a:extLst>
                  <a:ext uri="{FF2B5EF4-FFF2-40B4-BE49-F238E27FC236}">
                    <a16:creationId xmlns:a16="http://schemas.microsoft.com/office/drawing/2014/main" id="{AF048C7E-33CB-38A4-C8FB-C9452B448425}"/>
                  </a:ext>
                </a:extLst>
              </p:cNvPr>
              <p:cNvSpPr>
                <a:spLocks noChangeArrowheads="1"/>
              </p:cNvSpPr>
              <p:nvPr/>
            </p:nvSpPr>
            <p:spPr bwMode="auto">
              <a:xfrm>
                <a:off x="6567569" y="2262321"/>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99" name="Rectangle 80">
                <a:extLst>
                  <a:ext uri="{FF2B5EF4-FFF2-40B4-BE49-F238E27FC236}">
                    <a16:creationId xmlns:a16="http://schemas.microsoft.com/office/drawing/2014/main" id="{6D09AEAE-BCA2-72FE-DA9C-8AA49097193E}"/>
                  </a:ext>
                </a:extLst>
              </p:cNvPr>
              <p:cNvSpPr>
                <a:spLocks noChangeArrowheads="1"/>
              </p:cNvSpPr>
              <p:nvPr/>
            </p:nvSpPr>
            <p:spPr bwMode="auto">
              <a:xfrm>
                <a:off x="5084593" y="1965726"/>
                <a:ext cx="1779571" cy="370744"/>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0" name="Freeform 81">
                <a:extLst>
                  <a:ext uri="{FF2B5EF4-FFF2-40B4-BE49-F238E27FC236}">
                    <a16:creationId xmlns:a16="http://schemas.microsoft.com/office/drawing/2014/main" id="{156A76DC-C7C6-48AD-BC93-ED533A0813A0}"/>
                  </a:ext>
                </a:extLst>
              </p:cNvPr>
              <p:cNvSpPr>
                <a:spLocks/>
              </p:cNvSpPr>
              <p:nvPr/>
            </p:nvSpPr>
            <p:spPr bwMode="auto">
              <a:xfrm>
                <a:off x="5084593" y="5599016"/>
                <a:ext cx="1779571" cy="667339"/>
              </a:xfrm>
              <a:custGeom>
                <a:avLst/>
                <a:gdLst>
                  <a:gd name="T0" fmla="*/ 0 w 1152"/>
                  <a:gd name="T1" fmla="*/ 0 h 432"/>
                  <a:gd name="T2" fmla="*/ 533400 w 1152"/>
                  <a:gd name="T3" fmla="*/ 0 h 432"/>
                  <a:gd name="T4" fmla="*/ 708025 w 1152"/>
                  <a:gd name="T5" fmla="*/ 336550 h 432"/>
                  <a:gd name="T6" fmla="*/ 1123950 w 1152"/>
                  <a:gd name="T7" fmla="*/ 336550 h 432"/>
                  <a:gd name="T8" fmla="*/ 1295400 w 1152"/>
                  <a:gd name="T9" fmla="*/ 0 h 432"/>
                  <a:gd name="T10" fmla="*/ 1828800 w 1152"/>
                  <a:gd name="T11" fmla="*/ 0 h 432"/>
                  <a:gd name="T12" fmla="*/ 1828800 w 1152"/>
                  <a:gd name="T13" fmla="*/ 685800 h 432"/>
                  <a:gd name="T14" fmla="*/ 0 w 1152"/>
                  <a:gd name="T15" fmla="*/ 685800 h 432"/>
                  <a:gd name="T16" fmla="*/ 0 w 1152"/>
                  <a:gd name="T17" fmla="*/ 0 h 4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432">
                    <a:moveTo>
                      <a:pt x="0" y="0"/>
                    </a:moveTo>
                    <a:lnTo>
                      <a:pt x="336" y="0"/>
                    </a:lnTo>
                    <a:lnTo>
                      <a:pt x="446" y="212"/>
                    </a:lnTo>
                    <a:lnTo>
                      <a:pt x="708" y="212"/>
                    </a:lnTo>
                    <a:lnTo>
                      <a:pt x="816" y="0"/>
                    </a:lnTo>
                    <a:lnTo>
                      <a:pt x="1152" y="0"/>
                    </a:lnTo>
                    <a:lnTo>
                      <a:pt x="1152" y="432"/>
                    </a:lnTo>
                    <a:lnTo>
                      <a:pt x="0" y="432"/>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101" name="Group 82">
                <a:extLst>
                  <a:ext uri="{FF2B5EF4-FFF2-40B4-BE49-F238E27FC236}">
                    <a16:creationId xmlns:a16="http://schemas.microsoft.com/office/drawing/2014/main" id="{F39B1565-29A1-D1E6-05BD-8BF06CA3FBD9}"/>
                  </a:ext>
                </a:extLst>
              </p:cNvPr>
              <p:cNvGrpSpPr>
                <a:grpSpLocks/>
              </p:cNvGrpSpPr>
              <p:nvPr/>
            </p:nvGrpSpPr>
            <p:grpSpPr bwMode="auto">
              <a:xfrm>
                <a:off x="5084593" y="4188869"/>
                <a:ext cx="1779571" cy="1482975"/>
                <a:chOff x="1152" y="2064"/>
                <a:chExt cx="1152" cy="960"/>
              </a:xfrm>
            </p:grpSpPr>
            <p:sp>
              <p:nvSpPr>
                <p:cNvPr id="133" name="Freeform 83">
                  <a:extLst>
                    <a:ext uri="{FF2B5EF4-FFF2-40B4-BE49-F238E27FC236}">
                      <a16:creationId xmlns:a16="http://schemas.microsoft.com/office/drawing/2014/main" id="{FA11D18B-CA8F-CF12-80AC-4E6D56198FBD}"/>
                    </a:ext>
                  </a:extLst>
                </p:cNvPr>
                <p:cNvSpPr>
                  <a:spLocks/>
                </p:cNvSpPr>
                <p:nvPr/>
              </p:nvSpPr>
              <p:spPr bwMode="auto">
                <a:xfrm>
                  <a:off x="1152" y="2736"/>
                  <a:ext cx="1152" cy="288"/>
                </a:xfrm>
                <a:custGeom>
                  <a:avLst/>
                  <a:gdLst>
                    <a:gd name="T0" fmla="*/ 0 w 1152"/>
                    <a:gd name="T1" fmla="*/ 0 h 288"/>
                    <a:gd name="T2" fmla="*/ 1152 w 1152"/>
                    <a:gd name="T3" fmla="*/ 0 h 288"/>
                    <a:gd name="T4" fmla="*/ 1152 w 1152"/>
                    <a:gd name="T5" fmla="*/ 96 h 288"/>
                    <a:gd name="T6" fmla="*/ 768 w 1152"/>
                    <a:gd name="T7" fmla="*/ 96 h 288"/>
                    <a:gd name="T8" fmla="*/ 672 w 1152"/>
                    <a:gd name="T9" fmla="*/ 288 h 288"/>
                    <a:gd name="T10" fmla="*/ 480 w 1152"/>
                    <a:gd name="T11" fmla="*/ 288 h 288"/>
                    <a:gd name="T12" fmla="*/ 384 w 1152"/>
                    <a:gd name="T13" fmla="*/ 96 h 288"/>
                    <a:gd name="T14" fmla="*/ 0 w 1152"/>
                    <a:gd name="T15" fmla="*/ 96 h 288"/>
                    <a:gd name="T16" fmla="*/ 0 w 1152"/>
                    <a:gd name="T17" fmla="*/ 0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288">
                      <a:moveTo>
                        <a:pt x="0" y="0"/>
                      </a:moveTo>
                      <a:lnTo>
                        <a:pt x="1152" y="0"/>
                      </a:lnTo>
                      <a:lnTo>
                        <a:pt x="1152" y="96"/>
                      </a:lnTo>
                      <a:lnTo>
                        <a:pt x="768" y="96"/>
                      </a:lnTo>
                      <a:lnTo>
                        <a:pt x="672" y="288"/>
                      </a:lnTo>
                      <a:lnTo>
                        <a:pt x="480" y="288"/>
                      </a:lnTo>
                      <a:lnTo>
                        <a:pt x="384" y="96"/>
                      </a:lnTo>
                      <a:lnTo>
                        <a:pt x="0" y="96"/>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134" name="Group 84">
                  <a:extLst>
                    <a:ext uri="{FF2B5EF4-FFF2-40B4-BE49-F238E27FC236}">
                      <a16:creationId xmlns:a16="http://schemas.microsoft.com/office/drawing/2014/main" id="{525970F8-F689-F6D9-C437-ABCEA7BF7A9F}"/>
                    </a:ext>
                  </a:extLst>
                </p:cNvPr>
                <p:cNvGrpSpPr>
                  <a:grpSpLocks/>
                </p:cNvGrpSpPr>
                <p:nvPr/>
              </p:nvGrpSpPr>
              <p:grpSpPr bwMode="auto">
                <a:xfrm>
                  <a:off x="1680" y="2064"/>
                  <a:ext cx="96" cy="672"/>
                  <a:chOff x="1680" y="2064"/>
                  <a:chExt cx="96" cy="672"/>
                </a:xfrm>
              </p:grpSpPr>
              <p:sp>
                <p:nvSpPr>
                  <p:cNvPr id="135" name="Rectangle 85">
                    <a:extLst>
                      <a:ext uri="{FF2B5EF4-FFF2-40B4-BE49-F238E27FC236}">
                        <a16:creationId xmlns:a16="http://schemas.microsoft.com/office/drawing/2014/main" id="{C6AA090D-3895-6C04-1280-3170A2944561}"/>
                      </a:ext>
                    </a:extLst>
                  </p:cNvPr>
                  <p:cNvSpPr>
                    <a:spLocks noChangeArrowheads="1"/>
                  </p:cNvSpPr>
                  <p:nvPr/>
                </p:nvSpPr>
                <p:spPr bwMode="auto">
                  <a:xfrm>
                    <a:off x="1680" y="2064"/>
                    <a:ext cx="96" cy="67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36" name="Line 86">
                    <a:extLst>
                      <a:ext uri="{FF2B5EF4-FFF2-40B4-BE49-F238E27FC236}">
                        <a16:creationId xmlns:a16="http://schemas.microsoft.com/office/drawing/2014/main" id="{1079EDF7-BA3F-1D62-172C-0DAB332D9169}"/>
                      </a:ext>
                    </a:extLst>
                  </p:cNvPr>
                  <p:cNvSpPr>
                    <a:spLocks noChangeShapeType="1"/>
                  </p:cNvSpPr>
                  <p:nvPr/>
                </p:nvSpPr>
                <p:spPr bwMode="auto">
                  <a:xfrm flipV="1">
                    <a:off x="1704" y="2064"/>
                    <a:ext cx="0" cy="6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sp>
            <p:nvSpPr>
              <p:cNvPr id="102" name="Rectangle 87">
                <a:extLst>
                  <a:ext uri="{FF2B5EF4-FFF2-40B4-BE49-F238E27FC236}">
                    <a16:creationId xmlns:a16="http://schemas.microsoft.com/office/drawing/2014/main" id="{8E539F82-093B-7336-9232-8298BF448A91}"/>
                  </a:ext>
                </a:extLst>
              </p:cNvPr>
              <p:cNvSpPr>
                <a:spLocks noChangeArrowheads="1"/>
              </p:cNvSpPr>
              <p:nvPr/>
            </p:nvSpPr>
            <p:spPr bwMode="auto">
              <a:xfrm rot="5400000">
                <a:off x="5947345" y="4271290"/>
                <a:ext cx="58701" cy="288872"/>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3" name="Rectangle 88">
                <a:extLst>
                  <a:ext uri="{FF2B5EF4-FFF2-40B4-BE49-F238E27FC236}">
                    <a16:creationId xmlns:a16="http://schemas.microsoft.com/office/drawing/2014/main" id="{93B11DEB-CB53-23E3-9A89-7401F05DF111}"/>
                  </a:ext>
                </a:extLst>
              </p:cNvPr>
              <p:cNvSpPr>
                <a:spLocks noChangeArrowheads="1"/>
              </p:cNvSpPr>
              <p:nvPr/>
            </p:nvSpPr>
            <p:spPr bwMode="auto">
              <a:xfrm rot="5400000">
                <a:off x="5201996" y="3212351"/>
                <a:ext cx="1544766" cy="287327"/>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4" name="Rectangle 89">
                <a:extLst>
                  <a:ext uri="{FF2B5EF4-FFF2-40B4-BE49-F238E27FC236}">
                    <a16:creationId xmlns:a16="http://schemas.microsoft.com/office/drawing/2014/main" id="{7D25E4EF-2AD6-D1AD-6340-245F838383C2}"/>
                  </a:ext>
                </a:extLst>
              </p:cNvPr>
              <p:cNvSpPr>
                <a:spLocks noChangeArrowheads="1"/>
              </p:cNvSpPr>
              <p:nvPr/>
            </p:nvSpPr>
            <p:spPr bwMode="auto">
              <a:xfrm rot="5400000">
                <a:off x="5359562" y="3334389"/>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5" name="Rectangle 90">
                <a:extLst>
                  <a:ext uri="{FF2B5EF4-FFF2-40B4-BE49-F238E27FC236}">
                    <a16:creationId xmlns:a16="http://schemas.microsoft.com/office/drawing/2014/main" id="{AEC48F35-9DB5-0992-4022-11692242181C}"/>
                  </a:ext>
                </a:extLst>
              </p:cNvPr>
              <p:cNvSpPr>
                <a:spLocks noChangeArrowheads="1"/>
              </p:cNvSpPr>
              <p:nvPr/>
            </p:nvSpPr>
            <p:spPr bwMode="auto">
              <a:xfrm rot="5400000">
                <a:off x="5042885" y="3334389"/>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6" name="Rectangle 91">
                <a:extLst>
                  <a:ext uri="{FF2B5EF4-FFF2-40B4-BE49-F238E27FC236}">
                    <a16:creationId xmlns:a16="http://schemas.microsoft.com/office/drawing/2014/main" id="{6F001B8B-123B-9C9A-1264-19100E3B1ACC}"/>
                  </a:ext>
                </a:extLst>
              </p:cNvPr>
              <p:cNvSpPr>
                <a:spLocks noChangeArrowheads="1"/>
              </p:cNvSpPr>
              <p:nvPr/>
            </p:nvSpPr>
            <p:spPr bwMode="auto">
              <a:xfrm rot="5400000">
                <a:off x="5843846" y="2264638"/>
                <a:ext cx="259521"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7" name="Rectangle 92">
                <a:extLst>
                  <a:ext uri="{FF2B5EF4-FFF2-40B4-BE49-F238E27FC236}">
                    <a16:creationId xmlns:a16="http://schemas.microsoft.com/office/drawing/2014/main" id="{F30FD873-3ED4-F808-FCC1-33662FAF231B}"/>
                  </a:ext>
                </a:extLst>
              </p:cNvPr>
              <p:cNvSpPr>
                <a:spLocks noChangeArrowheads="1"/>
              </p:cNvSpPr>
              <p:nvPr/>
            </p:nvSpPr>
            <p:spPr bwMode="auto">
              <a:xfrm rot="5400000">
                <a:off x="5786690" y="4000956"/>
                <a:ext cx="373833"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08" name="Rectangle 93">
                <a:extLst>
                  <a:ext uri="{FF2B5EF4-FFF2-40B4-BE49-F238E27FC236}">
                    <a16:creationId xmlns:a16="http://schemas.microsoft.com/office/drawing/2014/main" id="{A448674C-BFEA-066F-6265-C6424F1E5FE8}"/>
                  </a:ext>
                </a:extLst>
              </p:cNvPr>
              <p:cNvSpPr>
                <a:spLocks noChangeArrowheads="1"/>
              </p:cNvSpPr>
              <p:nvPr/>
            </p:nvSpPr>
            <p:spPr bwMode="auto">
              <a:xfrm rot="10800000">
                <a:off x="5575829" y="2336470"/>
                <a:ext cx="795555" cy="5715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grpSp>
            <p:nvGrpSpPr>
              <p:cNvPr id="109" name="Group 94">
                <a:extLst>
                  <a:ext uri="{FF2B5EF4-FFF2-40B4-BE49-F238E27FC236}">
                    <a16:creationId xmlns:a16="http://schemas.microsoft.com/office/drawing/2014/main" id="{DA7E0D30-10FB-12F9-6CCF-0FD40E4DFFFA}"/>
                  </a:ext>
                </a:extLst>
              </p:cNvPr>
              <p:cNvGrpSpPr>
                <a:grpSpLocks/>
              </p:cNvGrpSpPr>
              <p:nvPr/>
            </p:nvGrpSpPr>
            <p:grpSpPr bwMode="auto">
              <a:xfrm rot="10800000">
                <a:off x="5603634" y="2393627"/>
                <a:ext cx="123582" cy="55611"/>
                <a:chOff x="2203" y="3103"/>
                <a:chExt cx="73" cy="33"/>
              </a:xfrm>
            </p:grpSpPr>
            <p:sp>
              <p:nvSpPr>
                <p:cNvPr id="129" name="Rectangle 95">
                  <a:extLst>
                    <a:ext uri="{FF2B5EF4-FFF2-40B4-BE49-F238E27FC236}">
                      <a16:creationId xmlns:a16="http://schemas.microsoft.com/office/drawing/2014/main" id="{A52D5FA8-8B45-19B5-C3B4-59C3CC55DF33}"/>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30" name="Freeform 96">
                  <a:extLst>
                    <a:ext uri="{FF2B5EF4-FFF2-40B4-BE49-F238E27FC236}">
                      <a16:creationId xmlns:a16="http://schemas.microsoft.com/office/drawing/2014/main" id="{35360D6D-D19B-2F2E-C0AF-EDAEBF1CF5A6}"/>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1" name="Freeform 97">
                  <a:extLst>
                    <a:ext uri="{FF2B5EF4-FFF2-40B4-BE49-F238E27FC236}">
                      <a16:creationId xmlns:a16="http://schemas.microsoft.com/office/drawing/2014/main" id="{614BFCE5-6A26-1BF4-7FFB-63B6FAFA137B}"/>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2" name="Freeform 98">
                  <a:extLst>
                    <a:ext uri="{FF2B5EF4-FFF2-40B4-BE49-F238E27FC236}">
                      <a16:creationId xmlns:a16="http://schemas.microsoft.com/office/drawing/2014/main" id="{12506E4B-9482-0BE6-4E27-C021C560A283}"/>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0" name="Group 99">
                <a:extLst>
                  <a:ext uri="{FF2B5EF4-FFF2-40B4-BE49-F238E27FC236}">
                    <a16:creationId xmlns:a16="http://schemas.microsoft.com/office/drawing/2014/main" id="{F12E087B-006A-AC61-A6B1-992926967DFE}"/>
                  </a:ext>
                </a:extLst>
              </p:cNvPr>
              <p:cNvGrpSpPr>
                <a:grpSpLocks/>
              </p:cNvGrpSpPr>
              <p:nvPr/>
            </p:nvGrpSpPr>
            <p:grpSpPr bwMode="auto">
              <a:xfrm rot="10800000">
                <a:off x="6227720" y="2395171"/>
                <a:ext cx="122037" cy="55611"/>
                <a:chOff x="2203" y="3103"/>
                <a:chExt cx="73" cy="33"/>
              </a:xfrm>
            </p:grpSpPr>
            <p:sp>
              <p:nvSpPr>
                <p:cNvPr id="125" name="Rectangle 100">
                  <a:extLst>
                    <a:ext uri="{FF2B5EF4-FFF2-40B4-BE49-F238E27FC236}">
                      <a16:creationId xmlns:a16="http://schemas.microsoft.com/office/drawing/2014/main" id="{1F57FA38-B543-3DF4-5CA7-67477995E746}"/>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26" name="Freeform 101">
                  <a:extLst>
                    <a:ext uri="{FF2B5EF4-FFF2-40B4-BE49-F238E27FC236}">
                      <a16:creationId xmlns:a16="http://schemas.microsoft.com/office/drawing/2014/main" id="{3F83406C-B72E-08BB-B268-CC4E7ABC58F4}"/>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Freeform 102">
                  <a:extLst>
                    <a:ext uri="{FF2B5EF4-FFF2-40B4-BE49-F238E27FC236}">
                      <a16:creationId xmlns:a16="http://schemas.microsoft.com/office/drawing/2014/main" id="{41834C00-4E17-2D93-6AAE-4ECA0DCFB878}"/>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8" name="Freeform 103">
                  <a:extLst>
                    <a:ext uri="{FF2B5EF4-FFF2-40B4-BE49-F238E27FC236}">
                      <a16:creationId xmlns:a16="http://schemas.microsoft.com/office/drawing/2014/main" id="{319F511D-182F-6E0E-C68A-7B83DA6DFA21}"/>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1" name="Group 104">
                <a:extLst>
                  <a:ext uri="{FF2B5EF4-FFF2-40B4-BE49-F238E27FC236}">
                    <a16:creationId xmlns:a16="http://schemas.microsoft.com/office/drawing/2014/main" id="{F790034A-2469-10CA-EA58-CA8CE9307460}"/>
                  </a:ext>
                </a:extLst>
              </p:cNvPr>
              <p:cNvGrpSpPr>
                <a:grpSpLocks/>
              </p:cNvGrpSpPr>
              <p:nvPr/>
            </p:nvGrpSpPr>
            <p:grpSpPr bwMode="auto">
              <a:xfrm rot="10800000">
                <a:off x="6456345" y="1764907"/>
                <a:ext cx="444893" cy="202365"/>
                <a:chOff x="2203" y="3103"/>
                <a:chExt cx="73" cy="33"/>
              </a:xfrm>
            </p:grpSpPr>
            <p:sp>
              <p:nvSpPr>
                <p:cNvPr id="121" name="Rectangle 105">
                  <a:extLst>
                    <a:ext uri="{FF2B5EF4-FFF2-40B4-BE49-F238E27FC236}">
                      <a16:creationId xmlns:a16="http://schemas.microsoft.com/office/drawing/2014/main" id="{F5F270A7-4E87-2D02-64A9-25D195DBD49B}"/>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22" name="Freeform 106">
                  <a:extLst>
                    <a:ext uri="{FF2B5EF4-FFF2-40B4-BE49-F238E27FC236}">
                      <a16:creationId xmlns:a16="http://schemas.microsoft.com/office/drawing/2014/main" id="{1A8BBFF4-E45F-9E0B-C828-80C26AC80DE9}"/>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Freeform 107">
                  <a:extLst>
                    <a:ext uri="{FF2B5EF4-FFF2-40B4-BE49-F238E27FC236}">
                      <a16:creationId xmlns:a16="http://schemas.microsoft.com/office/drawing/2014/main" id="{1E754467-F4AF-3245-356F-B0444F86CFB1}"/>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Freeform 108">
                  <a:extLst>
                    <a:ext uri="{FF2B5EF4-FFF2-40B4-BE49-F238E27FC236}">
                      <a16:creationId xmlns:a16="http://schemas.microsoft.com/office/drawing/2014/main" id="{20B4F3F8-6846-7D94-A46D-5921C5F24C96}"/>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12" name="Freeform 109">
                <a:extLst>
                  <a:ext uri="{FF2B5EF4-FFF2-40B4-BE49-F238E27FC236}">
                    <a16:creationId xmlns:a16="http://schemas.microsoft.com/office/drawing/2014/main" id="{4A7CF65E-2BE5-081F-61D2-3263768F1E4A}"/>
                  </a:ext>
                </a:extLst>
              </p:cNvPr>
              <p:cNvSpPr>
                <a:spLocks/>
              </p:cNvSpPr>
              <p:nvPr/>
            </p:nvSpPr>
            <p:spPr bwMode="auto">
              <a:xfrm>
                <a:off x="6567569" y="1669131"/>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grpSp>
            <p:nvGrpSpPr>
              <p:cNvPr id="113" name="Group 110">
                <a:extLst>
                  <a:ext uri="{FF2B5EF4-FFF2-40B4-BE49-F238E27FC236}">
                    <a16:creationId xmlns:a16="http://schemas.microsoft.com/office/drawing/2014/main" id="{24ED7EDA-C79E-558F-31CA-B7AA31371102}"/>
                  </a:ext>
                </a:extLst>
              </p:cNvPr>
              <p:cNvGrpSpPr>
                <a:grpSpLocks/>
              </p:cNvGrpSpPr>
              <p:nvPr/>
            </p:nvGrpSpPr>
            <p:grpSpPr bwMode="auto">
              <a:xfrm rot="10800000">
                <a:off x="5056787" y="1764907"/>
                <a:ext cx="444893" cy="202365"/>
                <a:chOff x="2203" y="3103"/>
                <a:chExt cx="73" cy="33"/>
              </a:xfrm>
            </p:grpSpPr>
            <p:sp>
              <p:nvSpPr>
                <p:cNvPr id="117" name="Rectangle 111">
                  <a:extLst>
                    <a:ext uri="{FF2B5EF4-FFF2-40B4-BE49-F238E27FC236}">
                      <a16:creationId xmlns:a16="http://schemas.microsoft.com/office/drawing/2014/main" id="{B3354AD9-0963-C613-E328-B383D2AAA2FF}"/>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18" name="Freeform 112">
                  <a:extLst>
                    <a:ext uri="{FF2B5EF4-FFF2-40B4-BE49-F238E27FC236}">
                      <a16:creationId xmlns:a16="http://schemas.microsoft.com/office/drawing/2014/main" id="{FD9EF41E-7A3B-A782-3282-4CD0B8035A1F}"/>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9" name="Freeform 113">
                  <a:extLst>
                    <a:ext uri="{FF2B5EF4-FFF2-40B4-BE49-F238E27FC236}">
                      <a16:creationId xmlns:a16="http://schemas.microsoft.com/office/drawing/2014/main" id="{C9CB05EA-D769-539E-6CF5-300C2B637CA7}"/>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Freeform 114">
                  <a:extLst>
                    <a:ext uri="{FF2B5EF4-FFF2-40B4-BE49-F238E27FC236}">
                      <a16:creationId xmlns:a16="http://schemas.microsoft.com/office/drawing/2014/main" id="{0DEC8031-1899-96F5-84C2-E7AB0EA37AF6}"/>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14" name="Freeform 115">
                <a:extLst>
                  <a:ext uri="{FF2B5EF4-FFF2-40B4-BE49-F238E27FC236}">
                    <a16:creationId xmlns:a16="http://schemas.microsoft.com/office/drawing/2014/main" id="{AA409EC1-2766-14F6-CC33-7FA0471F3101}"/>
                  </a:ext>
                </a:extLst>
              </p:cNvPr>
              <p:cNvSpPr>
                <a:spLocks/>
              </p:cNvSpPr>
              <p:nvPr/>
            </p:nvSpPr>
            <p:spPr bwMode="auto">
              <a:xfrm>
                <a:off x="5168011" y="1669131"/>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cxnSp>
            <p:nvCxnSpPr>
              <p:cNvPr id="115" name="直接箭头连接符 114">
                <a:extLst>
                  <a:ext uri="{FF2B5EF4-FFF2-40B4-BE49-F238E27FC236}">
                    <a16:creationId xmlns:a16="http://schemas.microsoft.com/office/drawing/2014/main" id="{DE04A21D-6D12-7D77-ABF4-E966240D5F04}"/>
                  </a:ext>
                </a:extLst>
              </p:cNvPr>
              <p:cNvCxnSpPr/>
              <p:nvPr/>
            </p:nvCxnSpPr>
            <p:spPr bwMode="auto">
              <a:xfrm>
                <a:off x="6321337" y="3682113"/>
                <a:ext cx="0" cy="704262"/>
              </a:xfrm>
              <a:prstGeom prst="straightConnector1">
                <a:avLst/>
              </a:prstGeom>
              <a:solidFill>
                <a:schemeClr val="accent1"/>
              </a:solidFill>
              <a:ln w="254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16" name="Freeform 122">
                <a:extLst>
                  <a:ext uri="{FF2B5EF4-FFF2-40B4-BE49-F238E27FC236}">
                    <a16:creationId xmlns:a16="http://schemas.microsoft.com/office/drawing/2014/main" id="{4A91217A-7E23-9818-3969-2CB84C4BC491}"/>
                  </a:ext>
                </a:extLst>
              </p:cNvPr>
              <p:cNvSpPr>
                <a:spLocks/>
              </p:cNvSpPr>
              <p:nvPr/>
            </p:nvSpPr>
            <p:spPr bwMode="auto">
              <a:xfrm>
                <a:off x="5419030" y="5515049"/>
                <a:ext cx="1135590" cy="231775"/>
              </a:xfrm>
              <a:custGeom>
                <a:avLst/>
                <a:gdLst>
                  <a:gd name="T0" fmla="*/ 0 w 720"/>
                  <a:gd name="T1" fmla="*/ 3175 h 146"/>
                  <a:gd name="T2" fmla="*/ 228600 w 720"/>
                  <a:gd name="T3" fmla="*/ 3175 h 146"/>
                  <a:gd name="T4" fmla="*/ 419100 w 720"/>
                  <a:gd name="T5" fmla="*/ 158750 h 146"/>
                  <a:gd name="T6" fmla="*/ 723900 w 720"/>
                  <a:gd name="T7" fmla="*/ 158750 h 146"/>
                  <a:gd name="T8" fmla="*/ 876300 w 720"/>
                  <a:gd name="T9" fmla="*/ 0 h 146"/>
                  <a:gd name="T10" fmla="*/ 1143000 w 720"/>
                  <a:gd name="T11" fmla="*/ 3175 h 146"/>
                  <a:gd name="T12" fmla="*/ 1143000 w 720"/>
                  <a:gd name="T13" fmla="*/ 79375 h 146"/>
                  <a:gd name="T14" fmla="*/ 901700 w 720"/>
                  <a:gd name="T15" fmla="*/ 79375 h 146"/>
                  <a:gd name="T16" fmla="*/ 746125 w 720"/>
                  <a:gd name="T17" fmla="*/ 231775 h 146"/>
                  <a:gd name="T18" fmla="*/ 381000 w 720"/>
                  <a:gd name="T19" fmla="*/ 231775 h 146"/>
                  <a:gd name="T20" fmla="*/ 206375 w 720"/>
                  <a:gd name="T21" fmla="*/ 79375 h 146"/>
                  <a:gd name="T22" fmla="*/ 0 w 720"/>
                  <a:gd name="T23" fmla="*/ 79375 h 146"/>
                  <a:gd name="T24" fmla="*/ 0 w 720"/>
                  <a:gd name="T25" fmla="*/ 3175 h 14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20" h="146">
                    <a:moveTo>
                      <a:pt x="0" y="2"/>
                    </a:moveTo>
                    <a:lnTo>
                      <a:pt x="144" y="2"/>
                    </a:lnTo>
                    <a:lnTo>
                      <a:pt x="264" y="100"/>
                    </a:lnTo>
                    <a:lnTo>
                      <a:pt x="456" y="100"/>
                    </a:lnTo>
                    <a:lnTo>
                      <a:pt x="552" y="0"/>
                    </a:lnTo>
                    <a:lnTo>
                      <a:pt x="720" y="2"/>
                    </a:lnTo>
                    <a:lnTo>
                      <a:pt x="720" y="50"/>
                    </a:lnTo>
                    <a:lnTo>
                      <a:pt x="568" y="50"/>
                    </a:lnTo>
                    <a:lnTo>
                      <a:pt x="470" y="146"/>
                    </a:lnTo>
                    <a:lnTo>
                      <a:pt x="240" y="146"/>
                    </a:lnTo>
                    <a:lnTo>
                      <a:pt x="130" y="50"/>
                    </a:lnTo>
                    <a:lnTo>
                      <a:pt x="0" y="50"/>
                    </a:lnTo>
                    <a:lnTo>
                      <a:pt x="0" y="2"/>
                    </a:lnTo>
                    <a:close/>
                  </a:path>
                </a:pathLst>
              </a:custGeom>
              <a:solidFill>
                <a:srgbClr val="FF99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95" name="TextBox 90">
              <a:extLst>
                <a:ext uri="{FF2B5EF4-FFF2-40B4-BE49-F238E27FC236}">
                  <a16:creationId xmlns:a16="http://schemas.microsoft.com/office/drawing/2014/main" id="{BA280046-B2ED-6B94-9298-1902D579136C}"/>
                </a:ext>
              </a:extLst>
            </p:cNvPr>
            <p:cNvSpPr txBox="1"/>
            <p:nvPr/>
          </p:nvSpPr>
          <p:spPr>
            <a:xfrm>
              <a:off x="4145520" y="5695069"/>
              <a:ext cx="1461704" cy="430887"/>
            </a:xfrm>
            <a:prstGeom prst="rect">
              <a:avLst/>
            </a:prstGeom>
            <a:noFill/>
          </p:spPr>
          <p:txBody>
            <a:bodyPr wrap="square" rtlCol="0">
              <a:spAutoFit/>
            </a:bodyPr>
            <a:lstStyle/>
            <a:p>
              <a:pPr algn="ctr"/>
              <a:r>
                <a:rPr lang="zh-CN" altLang="en-US" sz="2200" b="1" dirty="0">
                  <a:latin typeface="华文中宋" panose="02010600040101010101" pitchFamily="2" charset="-122"/>
                  <a:ea typeface="华文中宋" panose="02010600040101010101" pitchFamily="2" charset="-122"/>
                </a:rPr>
                <a:t>慢速下压</a:t>
              </a:r>
            </a:p>
          </p:txBody>
        </p:sp>
      </p:grpSp>
      <p:grpSp>
        <p:nvGrpSpPr>
          <p:cNvPr id="137" name="组合 136">
            <a:extLst>
              <a:ext uri="{FF2B5EF4-FFF2-40B4-BE49-F238E27FC236}">
                <a16:creationId xmlns:a16="http://schemas.microsoft.com/office/drawing/2014/main" id="{1C0A2E91-7A6F-EACB-D50B-A2B7BF1CC739}"/>
              </a:ext>
            </a:extLst>
          </p:cNvPr>
          <p:cNvGrpSpPr/>
          <p:nvPr/>
        </p:nvGrpSpPr>
        <p:grpSpPr>
          <a:xfrm>
            <a:off x="6772148" y="938623"/>
            <a:ext cx="2058724" cy="4452497"/>
            <a:chOff x="5641848" y="1673458"/>
            <a:chExt cx="2058724" cy="4452497"/>
          </a:xfrm>
        </p:grpSpPr>
        <p:grpSp>
          <p:nvGrpSpPr>
            <p:cNvPr id="138" name="组合 137">
              <a:extLst>
                <a:ext uri="{FF2B5EF4-FFF2-40B4-BE49-F238E27FC236}">
                  <a16:creationId xmlns:a16="http://schemas.microsoft.com/office/drawing/2014/main" id="{AB3E45AB-612C-C60F-A9FF-DF727FF7AACE}"/>
                </a:ext>
              </a:extLst>
            </p:cNvPr>
            <p:cNvGrpSpPr/>
            <p:nvPr/>
          </p:nvGrpSpPr>
          <p:grpSpPr>
            <a:xfrm>
              <a:off x="5641848" y="1673458"/>
              <a:ext cx="2058724" cy="3880442"/>
              <a:chOff x="7022923" y="1674259"/>
              <a:chExt cx="2439005" cy="4597224"/>
            </a:xfrm>
          </p:grpSpPr>
          <p:sp>
            <p:nvSpPr>
              <p:cNvPr id="140" name="右箭头 135">
                <a:extLst>
                  <a:ext uri="{FF2B5EF4-FFF2-40B4-BE49-F238E27FC236}">
                    <a16:creationId xmlns:a16="http://schemas.microsoft.com/office/drawing/2014/main" id="{B56C5A34-116E-3362-B06C-F98BCA35AFA4}"/>
                  </a:ext>
                </a:extLst>
              </p:cNvPr>
              <p:cNvSpPr/>
              <p:nvPr/>
            </p:nvSpPr>
            <p:spPr bwMode="auto">
              <a:xfrm>
                <a:off x="7022923" y="3270516"/>
                <a:ext cx="477837" cy="1223634"/>
              </a:xfrm>
              <a:prstGeom prst="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zh-CN" altLang="en-US" sz="2400" b="0" i="0" u="none" strike="noStrike" cap="none" normalizeH="0" baseline="0">
                  <a:ln>
                    <a:noFill/>
                  </a:ln>
                  <a:solidFill>
                    <a:schemeClr val="tx1"/>
                  </a:solidFill>
                  <a:effectLst/>
                  <a:latin typeface="Arial" pitchFamily="34" charset="0"/>
                  <a:ea typeface="宋体" pitchFamily="2" charset="-122"/>
                </a:endParaRPr>
              </a:p>
            </p:txBody>
          </p:sp>
          <p:sp>
            <p:nvSpPr>
              <p:cNvPr id="141" name="Rectangle 78">
                <a:extLst>
                  <a:ext uri="{FF2B5EF4-FFF2-40B4-BE49-F238E27FC236}">
                    <a16:creationId xmlns:a16="http://schemas.microsoft.com/office/drawing/2014/main" id="{5B09DF34-98C1-5725-FE73-AC9EF049B019}"/>
                  </a:ext>
                </a:extLst>
              </p:cNvPr>
              <p:cNvSpPr>
                <a:spLocks noChangeArrowheads="1"/>
              </p:cNvSpPr>
              <p:nvPr/>
            </p:nvSpPr>
            <p:spPr bwMode="auto">
              <a:xfrm>
                <a:off x="7719432" y="2267449"/>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2" name="Rectangle 79">
                <a:extLst>
                  <a:ext uri="{FF2B5EF4-FFF2-40B4-BE49-F238E27FC236}">
                    <a16:creationId xmlns:a16="http://schemas.microsoft.com/office/drawing/2014/main" id="{03BAFB44-1BBE-7312-614A-9C76483FBA41}"/>
                  </a:ext>
                </a:extLst>
              </p:cNvPr>
              <p:cNvSpPr>
                <a:spLocks noChangeArrowheads="1"/>
              </p:cNvSpPr>
              <p:nvPr/>
            </p:nvSpPr>
            <p:spPr bwMode="auto">
              <a:xfrm>
                <a:off x="9128259" y="2267449"/>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3" name="Rectangle 80">
                <a:extLst>
                  <a:ext uri="{FF2B5EF4-FFF2-40B4-BE49-F238E27FC236}">
                    <a16:creationId xmlns:a16="http://schemas.microsoft.com/office/drawing/2014/main" id="{53A4952E-FBDF-B3E1-F29F-F6B9FD1B14AC}"/>
                  </a:ext>
                </a:extLst>
              </p:cNvPr>
              <p:cNvSpPr>
                <a:spLocks noChangeArrowheads="1"/>
              </p:cNvSpPr>
              <p:nvPr/>
            </p:nvSpPr>
            <p:spPr bwMode="auto">
              <a:xfrm>
                <a:off x="7645283" y="1970854"/>
                <a:ext cx="1779571" cy="370744"/>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4" name="Freeform 81">
                <a:extLst>
                  <a:ext uri="{FF2B5EF4-FFF2-40B4-BE49-F238E27FC236}">
                    <a16:creationId xmlns:a16="http://schemas.microsoft.com/office/drawing/2014/main" id="{124D38A7-1F1C-DBF1-84E2-34D8D8717CB3}"/>
                  </a:ext>
                </a:extLst>
              </p:cNvPr>
              <p:cNvSpPr>
                <a:spLocks/>
              </p:cNvSpPr>
              <p:nvPr/>
            </p:nvSpPr>
            <p:spPr bwMode="auto">
              <a:xfrm>
                <a:off x="7645283" y="5604144"/>
                <a:ext cx="1779571" cy="667339"/>
              </a:xfrm>
              <a:custGeom>
                <a:avLst/>
                <a:gdLst>
                  <a:gd name="T0" fmla="*/ 0 w 1152"/>
                  <a:gd name="T1" fmla="*/ 0 h 432"/>
                  <a:gd name="T2" fmla="*/ 533400 w 1152"/>
                  <a:gd name="T3" fmla="*/ 0 h 432"/>
                  <a:gd name="T4" fmla="*/ 708025 w 1152"/>
                  <a:gd name="T5" fmla="*/ 336550 h 432"/>
                  <a:gd name="T6" fmla="*/ 1123950 w 1152"/>
                  <a:gd name="T7" fmla="*/ 336550 h 432"/>
                  <a:gd name="T8" fmla="*/ 1295400 w 1152"/>
                  <a:gd name="T9" fmla="*/ 0 h 432"/>
                  <a:gd name="T10" fmla="*/ 1828800 w 1152"/>
                  <a:gd name="T11" fmla="*/ 0 h 432"/>
                  <a:gd name="T12" fmla="*/ 1828800 w 1152"/>
                  <a:gd name="T13" fmla="*/ 685800 h 432"/>
                  <a:gd name="T14" fmla="*/ 0 w 1152"/>
                  <a:gd name="T15" fmla="*/ 685800 h 432"/>
                  <a:gd name="T16" fmla="*/ 0 w 1152"/>
                  <a:gd name="T17" fmla="*/ 0 h 4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432">
                    <a:moveTo>
                      <a:pt x="0" y="0"/>
                    </a:moveTo>
                    <a:lnTo>
                      <a:pt x="336" y="0"/>
                    </a:lnTo>
                    <a:lnTo>
                      <a:pt x="446" y="212"/>
                    </a:lnTo>
                    <a:lnTo>
                      <a:pt x="708" y="212"/>
                    </a:lnTo>
                    <a:lnTo>
                      <a:pt x="816" y="0"/>
                    </a:lnTo>
                    <a:lnTo>
                      <a:pt x="1152" y="0"/>
                    </a:lnTo>
                    <a:lnTo>
                      <a:pt x="1152" y="432"/>
                    </a:lnTo>
                    <a:lnTo>
                      <a:pt x="0" y="432"/>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145" name="Group 82">
                <a:extLst>
                  <a:ext uri="{FF2B5EF4-FFF2-40B4-BE49-F238E27FC236}">
                    <a16:creationId xmlns:a16="http://schemas.microsoft.com/office/drawing/2014/main" id="{612A9C49-657C-E728-5DB0-3C9161531E52}"/>
                  </a:ext>
                </a:extLst>
              </p:cNvPr>
              <p:cNvGrpSpPr>
                <a:grpSpLocks/>
              </p:cNvGrpSpPr>
              <p:nvPr/>
            </p:nvGrpSpPr>
            <p:grpSpPr bwMode="auto">
              <a:xfrm>
                <a:off x="7651633" y="4346397"/>
                <a:ext cx="1779571" cy="1482975"/>
                <a:chOff x="1152" y="2064"/>
                <a:chExt cx="1152" cy="960"/>
              </a:xfrm>
            </p:grpSpPr>
            <p:sp>
              <p:nvSpPr>
                <p:cNvPr id="176" name="Freeform 83">
                  <a:extLst>
                    <a:ext uri="{FF2B5EF4-FFF2-40B4-BE49-F238E27FC236}">
                      <a16:creationId xmlns:a16="http://schemas.microsoft.com/office/drawing/2014/main" id="{A2B560FC-0236-4AA7-7B57-966CFC0F33B2}"/>
                    </a:ext>
                  </a:extLst>
                </p:cNvPr>
                <p:cNvSpPr>
                  <a:spLocks/>
                </p:cNvSpPr>
                <p:nvPr/>
              </p:nvSpPr>
              <p:spPr bwMode="auto">
                <a:xfrm>
                  <a:off x="1152" y="2736"/>
                  <a:ext cx="1152" cy="288"/>
                </a:xfrm>
                <a:custGeom>
                  <a:avLst/>
                  <a:gdLst>
                    <a:gd name="T0" fmla="*/ 0 w 1152"/>
                    <a:gd name="T1" fmla="*/ 0 h 288"/>
                    <a:gd name="T2" fmla="*/ 1152 w 1152"/>
                    <a:gd name="T3" fmla="*/ 0 h 288"/>
                    <a:gd name="T4" fmla="*/ 1152 w 1152"/>
                    <a:gd name="T5" fmla="*/ 96 h 288"/>
                    <a:gd name="T6" fmla="*/ 768 w 1152"/>
                    <a:gd name="T7" fmla="*/ 96 h 288"/>
                    <a:gd name="T8" fmla="*/ 672 w 1152"/>
                    <a:gd name="T9" fmla="*/ 288 h 288"/>
                    <a:gd name="T10" fmla="*/ 480 w 1152"/>
                    <a:gd name="T11" fmla="*/ 288 h 288"/>
                    <a:gd name="T12" fmla="*/ 384 w 1152"/>
                    <a:gd name="T13" fmla="*/ 96 h 288"/>
                    <a:gd name="T14" fmla="*/ 0 w 1152"/>
                    <a:gd name="T15" fmla="*/ 96 h 288"/>
                    <a:gd name="T16" fmla="*/ 0 w 1152"/>
                    <a:gd name="T17" fmla="*/ 0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288">
                      <a:moveTo>
                        <a:pt x="0" y="0"/>
                      </a:moveTo>
                      <a:lnTo>
                        <a:pt x="1152" y="0"/>
                      </a:lnTo>
                      <a:lnTo>
                        <a:pt x="1152" y="96"/>
                      </a:lnTo>
                      <a:lnTo>
                        <a:pt x="768" y="96"/>
                      </a:lnTo>
                      <a:lnTo>
                        <a:pt x="672" y="288"/>
                      </a:lnTo>
                      <a:lnTo>
                        <a:pt x="480" y="288"/>
                      </a:lnTo>
                      <a:lnTo>
                        <a:pt x="384" y="96"/>
                      </a:lnTo>
                      <a:lnTo>
                        <a:pt x="0" y="96"/>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177" name="Group 84">
                  <a:extLst>
                    <a:ext uri="{FF2B5EF4-FFF2-40B4-BE49-F238E27FC236}">
                      <a16:creationId xmlns:a16="http://schemas.microsoft.com/office/drawing/2014/main" id="{2D18D1B7-8019-027B-013A-06D0D65771FB}"/>
                    </a:ext>
                  </a:extLst>
                </p:cNvPr>
                <p:cNvGrpSpPr>
                  <a:grpSpLocks/>
                </p:cNvGrpSpPr>
                <p:nvPr/>
              </p:nvGrpSpPr>
              <p:grpSpPr bwMode="auto">
                <a:xfrm>
                  <a:off x="1680" y="2064"/>
                  <a:ext cx="96" cy="672"/>
                  <a:chOff x="1680" y="2064"/>
                  <a:chExt cx="96" cy="672"/>
                </a:xfrm>
              </p:grpSpPr>
              <p:sp>
                <p:nvSpPr>
                  <p:cNvPr id="178" name="Rectangle 85">
                    <a:extLst>
                      <a:ext uri="{FF2B5EF4-FFF2-40B4-BE49-F238E27FC236}">
                        <a16:creationId xmlns:a16="http://schemas.microsoft.com/office/drawing/2014/main" id="{D3203C14-AB65-EA9A-CF83-4D48DC14BF68}"/>
                      </a:ext>
                    </a:extLst>
                  </p:cNvPr>
                  <p:cNvSpPr>
                    <a:spLocks noChangeArrowheads="1"/>
                  </p:cNvSpPr>
                  <p:nvPr/>
                </p:nvSpPr>
                <p:spPr bwMode="auto">
                  <a:xfrm>
                    <a:off x="1680" y="2064"/>
                    <a:ext cx="96" cy="67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79" name="Line 86">
                    <a:extLst>
                      <a:ext uri="{FF2B5EF4-FFF2-40B4-BE49-F238E27FC236}">
                        <a16:creationId xmlns:a16="http://schemas.microsoft.com/office/drawing/2014/main" id="{390BAF4C-A724-F3E1-0534-CBF5988EA51B}"/>
                      </a:ext>
                    </a:extLst>
                  </p:cNvPr>
                  <p:cNvSpPr>
                    <a:spLocks noChangeShapeType="1"/>
                  </p:cNvSpPr>
                  <p:nvPr/>
                </p:nvSpPr>
                <p:spPr bwMode="auto">
                  <a:xfrm flipV="1">
                    <a:off x="1704" y="2064"/>
                    <a:ext cx="0" cy="6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sp>
            <p:nvSpPr>
              <p:cNvPr id="146" name="Rectangle 87">
                <a:extLst>
                  <a:ext uri="{FF2B5EF4-FFF2-40B4-BE49-F238E27FC236}">
                    <a16:creationId xmlns:a16="http://schemas.microsoft.com/office/drawing/2014/main" id="{C5026EE4-AFB8-9814-9DD4-3AC08CA2F0EA}"/>
                  </a:ext>
                </a:extLst>
              </p:cNvPr>
              <p:cNvSpPr>
                <a:spLocks noChangeArrowheads="1"/>
              </p:cNvSpPr>
              <p:nvPr/>
            </p:nvSpPr>
            <p:spPr bwMode="auto">
              <a:xfrm rot="5400000">
                <a:off x="8508035" y="4276418"/>
                <a:ext cx="58701" cy="288872"/>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7" name="Rectangle 88">
                <a:extLst>
                  <a:ext uri="{FF2B5EF4-FFF2-40B4-BE49-F238E27FC236}">
                    <a16:creationId xmlns:a16="http://schemas.microsoft.com/office/drawing/2014/main" id="{D19F1754-AD71-D102-0D66-523A1D769C9C}"/>
                  </a:ext>
                </a:extLst>
              </p:cNvPr>
              <p:cNvSpPr>
                <a:spLocks noChangeArrowheads="1"/>
              </p:cNvSpPr>
              <p:nvPr/>
            </p:nvSpPr>
            <p:spPr bwMode="auto">
              <a:xfrm rot="5400000">
                <a:off x="7762686" y="3217479"/>
                <a:ext cx="1544766" cy="287327"/>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8" name="Rectangle 89">
                <a:extLst>
                  <a:ext uri="{FF2B5EF4-FFF2-40B4-BE49-F238E27FC236}">
                    <a16:creationId xmlns:a16="http://schemas.microsoft.com/office/drawing/2014/main" id="{7788ECE0-5590-10CF-EDB1-178170981075}"/>
                  </a:ext>
                </a:extLst>
              </p:cNvPr>
              <p:cNvSpPr>
                <a:spLocks noChangeArrowheads="1"/>
              </p:cNvSpPr>
              <p:nvPr/>
            </p:nvSpPr>
            <p:spPr bwMode="auto">
              <a:xfrm rot="5400000">
                <a:off x="7920252" y="3339517"/>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49" name="Rectangle 90">
                <a:extLst>
                  <a:ext uri="{FF2B5EF4-FFF2-40B4-BE49-F238E27FC236}">
                    <a16:creationId xmlns:a16="http://schemas.microsoft.com/office/drawing/2014/main" id="{0B9B2C70-6E92-F039-B76C-4AEAF9C6E706}"/>
                  </a:ext>
                </a:extLst>
              </p:cNvPr>
              <p:cNvSpPr>
                <a:spLocks noChangeArrowheads="1"/>
              </p:cNvSpPr>
              <p:nvPr/>
            </p:nvSpPr>
            <p:spPr bwMode="auto">
              <a:xfrm rot="5400000">
                <a:off x="7603575" y="3339517"/>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50" name="Rectangle 91">
                <a:extLst>
                  <a:ext uri="{FF2B5EF4-FFF2-40B4-BE49-F238E27FC236}">
                    <a16:creationId xmlns:a16="http://schemas.microsoft.com/office/drawing/2014/main" id="{49855533-F8B1-D458-D1FE-2D71C8173719}"/>
                  </a:ext>
                </a:extLst>
              </p:cNvPr>
              <p:cNvSpPr>
                <a:spLocks noChangeArrowheads="1"/>
              </p:cNvSpPr>
              <p:nvPr/>
            </p:nvSpPr>
            <p:spPr bwMode="auto">
              <a:xfrm rot="5400000">
                <a:off x="8404536" y="2269766"/>
                <a:ext cx="259521"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51" name="Rectangle 92">
                <a:extLst>
                  <a:ext uri="{FF2B5EF4-FFF2-40B4-BE49-F238E27FC236}">
                    <a16:creationId xmlns:a16="http://schemas.microsoft.com/office/drawing/2014/main" id="{6E1CAC78-1216-2CB4-0674-3A6E45DBC7E2}"/>
                  </a:ext>
                </a:extLst>
              </p:cNvPr>
              <p:cNvSpPr>
                <a:spLocks noChangeArrowheads="1"/>
              </p:cNvSpPr>
              <p:nvPr/>
            </p:nvSpPr>
            <p:spPr bwMode="auto">
              <a:xfrm rot="5400000">
                <a:off x="8347380" y="4006084"/>
                <a:ext cx="373833"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52" name="Rectangle 93">
                <a:extLst>
                  <a:ext uri="{FF2B5EF4-FFF2-40B4-BE49-F238E27FC236}">
                    <a16:creationId xmlns:a16="http://schemas.microsoft.com/office/drawing/2014/main" id="{18BE81F0-093D-1463-6281-9B65C27A55F3}"/>
                  </a:ext>
                </a:extLst>
              </p:cNvPr>
              <p:cNvSpPr>
                <a:spLocks noChangeArrowheads="1"/>
              </p:cNvSpPr>
              <p:nvPr/>
            </p:nvSpPr>
            <p:spPr bwMode="auto">
              <a:xfrm rot="10800000">
                <a:off x="8136519" y="2341598"/>
                <a:ext cx="795555" cy="5715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grpSp>
            <p:nvGrpSpPr>
              <p:cNvPr id="153" name="Group 94">
                <a:extLst>
                  <a:ext uri="{FF2B5EF4-FFF2-40B4-BE49-F238E27FC236}">
                    <a16:creationId xmlns:a16="http://schemas.microsoft.com/office/drawing/2014/main" id="{9BF04DA2-39D8-5061-E614-1F2970930654}"/>
                  </a:ext>
                </a:extLst>
              </p:cNvPr>
              <p:cNvGrpSpPr>
                <a:grpSpLocks/>
              </p:cNvGrpSpPr>
              <p:nvPr/>
            </p:nvGrpSpPr>
            <p:grpSpPr bwMode="auto">
              <a:xfrm rot="10800000">
                <a:off x="8164324" y="2398755"/>
                <a:ext cx="123582" cy="55611"/>
                <a:chOff x="2203" y="3103"/>
                <a:chExt cx="73" cy="33"/>
              </a:xfrm>
            </p:grpSpPr>
            <p:sp>
              <p:nvSpPr>
                <p:cNvPr id="172" name="Rectangle 95">
                  <a:extLst>
                    <a:ext uri="{FF2B5EF4-FFF2-40B4-BE49-F238E27FC236}">
                      <a16:creationId xmlns:a16="http://schemas.microsoft.com/office/drawing/2014/main" id="{7EA7CC89-B452-FD53-B772-6BC5A3CC9199}"/>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73" name="Freeform 96">
                  <a:extLst>
                    <a:ext uri="{FF2B5EF4-FFF2-40B4-BE49-F238E27FC236}">
                      <a16:creationId xmlns:a16="http://schemas.microsoft.com/office/drawing/2014/main" id="{D1535713-4227-1D79-FCB8-4C7BC40809AB}"/>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4" name="Freeform 97">
                  <a:extLst>
                    <a:ext uri="{FF2B5EF4-FFF2-40B4-BE49-F238E27FC236}">
                      <a16:creationId xmlns:a16="http://schemas.microsoft.com/office/drawing/2014/main" id="{2A2B5C2E-94F4-8C91-DA48-E3604669DCAB}"/>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5" name="Freeform 98">
                  <a:extLst>
                    <a:ext uri="{FF2B5EF4-FFF2-40B4-BE49-F238E27FC236}">
                      <a16:creationId xmlns:a16="http://schemas.microsoft.com/office/drawing/2014/main" id="{56C9231B-6622-EF3B-F551-CC45F7A61FE7}"/>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54" name="Group 99">
                <a:extLst>
                  <a:ext uri="{FF2B5EF4-FFF2-40B4-BE49-F238E27FC236}">
                    <a16:creationId xmlns:a16="http://schemas.microsoft.com/office/drawing/2014/main" id="{B19B1E27-5B02-4E74-A28E-FAE98F0C4CAA}"/>
                  </a:ext>
                </a:extLst>
              </p:cNvPr>
              <p:cNvGrpSpPr>
                <a:grpSpLocks/>
              </p:cNvGrpSpPr>
              <p:nvPr/>
            </p:nvGrpSpPr>
            <p:grpSpPr bwMode="auto">
              <a:xfrm rot="10800000">
                <a:off x="8788410" y="2400299"/>
                <a:ext cx="122037" cy="55611"/>
                <a:chOff x="2203" y="3103"/>
                <a:chExt cx="73" cy="33"/>
              </a:xfrm>
            </p:grpSpPr>
            <p:sp>
              <p:nvSpPr>
                <p:cNvPr id="168" name="Rectangle 100">
                  <a:extLst>
                    <a:ext uri="{FF2B5EF4-FFF2-40B4-BE49-F238E27FC236}">
                      <a16:creationId xmlns:a16="http://schemas.microsoft.com/office/drawing/2014/main" id="{BEDB13C0-DD1D-B3F6-D0BD-342A49748284}"/>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69" name="Freeform 101">
                  <a:extLst>
                    <a:ext uri="{FF2B5EF4-FFF2-40B4-BE49-F238E27FC236}">
                      <a16:creationId xmlns:a16="http://schemas.microsoft.com/office/drawing/2014/main" id="{0821DC96-E1CF-F448-7F97-761C89A696F2}"/>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0" name="Freeform 102">
                  <a:extLst>
                    <a:ext uri="{FF2B5EF4-FFF2-40B4-BE49-F238E27FC236}">
                      <a16:creationId xmlns:a16="http://schemas.microsoft.com/office/drawing/2014/main" id="{24A2B04E-2BB5-D445-C1EA-1B05D47FFCDD}"/>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1" name="Freeform 103">
                  <a:extLst>
                    <a:ext uri="{FF2B5EF4-FFF2-40B4-BE49-F238E27FC236}">
                      <a16:creationId xmlns:a16="http://schemas.microsoft.com/office/drawing/2014/main" id="{D24EFBA5-4E05-765F-A986-4E2B31F2A08E}"/>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55" name="Group 104">
                <a:extLst>
                  <a:ext uri="{FF2B5EF4-FFF2-40B4-BE49-F238E27FC236}">
                    <a16:creationId xmlns:a16="http://schemas.microsoft.com/office/drawing/2014/main" id="{D0A315A4-5FC5-9346-D7F9-9DB740FF7E43}"/>
                  </a:ext>
                </a:extLst>
              </p:cNvPr>
              <p:cNvGrpSpPr>
                <a:grpSpLocks/>
              </p:cNvGrpSpPr>
              <p:nvPr/>
            </p:nvGrpSpPr>
            <p:grpSpPr bwMode="auto">
              <a:xfrm rot="10800000">
                <a:off x="9017035" y="1770035"/>
                <a:ext cx="444893" cy="202365"/>
                <a:chOff x="2203" y="3103"/>
                <a:chExt cx="73" cy="33"/>
              </a:xfrm>
            </p:grpSpPr>
            <p:sp>
              <p:nvSpPr>
                <p:cNvPr id="164" name="Rectangle 105">
                  <a:extLst>
                    <a:ext uri="{FF2B5EF4-FFF2-40B4-BE49-F238E27FC236}">
                      <a16:creationId xmlns:a16="http://schemas.microsoft.com/office/drawing/2014/main" id="{7FC5B5DB-C016-440D-0069-2506099B3B8B}"/>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65" name="Freeform 106">
                  <a:extLst>
                    <a:ext uri="{FF2B5EF4-FFF2-40B4-BE49-F238E27FC236}">
                      <a16:creationId xmlns:a16="http://schemas.microsoft.com/office/drawing/2014/main" id="{D0BBC0AC-1880-B595-8485-619B8395285B}"/>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6" name="Freeform 107">
                  <a:extLst>
                    <a:ext uri="{FF2B5EF4-FFF2-40B4-BE49-F238E27FC236}">
                      <a16:creationId xmlns:a16="http://schemas.microsoft.com/office/drawing/2014/main" id="{D0666F6C-4BA2-9F7F-08C5-94B35064BFFF}"/>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7" name="Freeform 108">
                  <a:extLst>
                    <a:ext uri="{FF2B5EF4-FFF2-40B4-BE49-F238E27FC236}">
                      <a16:creationId xmlns:a16="http://schemas.microsoft.com/office/drawing/2014/main" id="{ABA8027C-5EF1-3DBE-BDDB-8894BFDA9957}"/>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56" name="Freeform 109">
                <a:extLst>
                  <a:ext uri="{FF2B5EF4-FFF2-40B4-BE49-F238E27FC236}">
                    <a16:creationId xmlns:a16="http://schemas.microsoft.com/office/drawing/2014/main" id="{77E54CFF-5A8B-2B82-8B40-EAD32217B340}"/>
                  </a:ext>
                </a:extLst>
              </p:cNvPr>
              <p:cNvSpPr>
                <a:spLocks/>
              </p:cNvSpPr>
              <p:nvPr/>
            </p:nvSpPr>
            <p:spPr bwMode="auto">
              <a:xfrm>
                <a:off x="9128259" y="1674259"/>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grpSp>
            <p:nvGrpSpPr>
              <p:cNvPr id="157" name="Group 110">
                <a:extLst>
                  <a:ext uri="{FF2B5EF4-FFF2-40B4-BE49-F238E27FC236}">
                    <a16:creationId xmlns:a16="http://schemas.microsoft.com/office/drawing/2014/main" id="{81EEC4A1-D36A-0423-6915-18AAD84505D8}"/>
                  </a:ext>
                </a:extLst>
              </p:cNvPr>
              <p:cNvGrpSpPr>
                <a:grpSpLocks/>
              </p:cNvGrpSpPr>
              <p:nvPr/>
            </p:nvGrpSpPr>
            <p:grpSpPr bwMode="auto">
              <a:xfrm rot="10800000">
                <a:off x="7617477" y="1770035"/>
                <a:ext cx="444893" cy="202365"/>
                <a:chOff x="2203" y="3103"/>
                <a:chExt cx="73" cy="33"/>
              </a:xfrm>
            </p:grpSpPr>
            <p:sp>
              <p:nvSpPr>
                <p:cNvPr id="160" name="Rectangle 111">
                  <a:extLst>
                    <a:ext uri="{FF2B5EF4-FFF2-40B4-BE49-F238E27FC236}">
                      <a16:creationId xmlns:a16="http://schemas.microsoft.com/office/drawing/2014/main" id="{3701FE90-5A45-31A4-DF4C-DAA5288BEB5B}"/>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61" name="Freeform 112">
                  <a:extLst>
                    <a:ext uri="{FF2B5EF4-FFF2-40B4-BE49-F238E27FC236}">
                      <a16:creationId xmlns:a16="http://schemas.microsoft.com/office/drawing/2014/main" id="{52853B05-1673-6240-5D9E-068F28EE137D}"/>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2" name="Freeform 113">
                  <a:extLst>
                    <a:ext uri="{FF2B5EF4-FFF2-40B4-BE49-F238E27FC236}">
                      <a16:creationId xmlns:a16="http://schemas.microsoft.com/office/drawing/2014/main" id="{323DEB4F-E327-EC2D-6126-5025AA2CC265}"/>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3" name="Freeform 114">
                  <a:extLst>
                    <a:ext uri="{FF2B5EF4-FFF2-40B4-BE49-F238E27FC236}">
                      <a16:creationId xmlns:a16="http://schemas.microsoft.com/office/drawing/2014/main" id="{9D98CC57-8B28-F663-8AE8-309DF4310601}"/>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58" name="Freeform 115">
                <a:extLst>
                  <a:ext uri="{FF2B5EF4-FFF2-40B4-BE49-F238E27FC236}">
                    <a16:creationId xmlns:a16="http://schemas.microsoft.com/office/drawing/2014/main" id="{B3330D65-E888-3A5F-AF33-F02B30EDDFA8}"/>
                  </a:ext>
                </a:extLst>
              </p:cNvPr>
              <p:cNvSpPr>
                <a:spLocks/>
              </p:cNvSpPr>
              <p:nvPr/>
            </p:nvSpPr>
            <p:spPr bwMode="auto">
              <a:xfrm>
                <a:off x="7728701" y="1674259"/>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sp>
            <p:nvSpPr>
              <p:cNvPr id="159" name="Freeform 78">
                <a:extLst>
                  <a:ext uri="{FF2B5EF4-FFF2-40B4-BE49-F238E27FC236}">
                    <a16:creationId xmlns:a16="http://schemas.microsoft.com/office/drawing/2014/main" id="{D14277C3-AFF9-154A-D4E6-7C1B5FDB858A}"/>
                  </a:ext>
                </a:extLst>
              </p:cNvPr>
              <p:cNvSpPr>
                <a:spLocks/>
              </p:cNvSpPr>
              <p:nvPr/>
            </p:nvSpPr>
            <p:spPr bwMode="auto">
              <a:xfrm>
                <a:off x="7974769" y="5524136"/>
                <a:ext cx="1143000" cy="409575"/>
              </a:xfrm>
              <a:custGeom>
                <a:avLst/>
                <a:gdLst>
                  <a:gd name="T0" fmla="*/ 0 w 720"/>
                  <a:gd name="T1" fmla="*/ 0 h 258"/>
                  <a:gd name="T2" fmla="*/ 266700 w 720"/>
                  <a:gd name="T3" fmla="*/ 0 h 258"/>
                  <a:gd name="T4" fmla="*/ 415925 w 720"/>
                  <a:gd name="T5" fmla="*/ 304800 h 258"/>
                  <a:gd name="T6" fmla="*/ 720725 w 720"/>
                  <a:gd name="T7" fmla="*/ 304800 h 258"/>
                  <a:gd name="T8" fmla="*/ 876300 w 720"/>
                  <a:gd name="T9" fmla="*/ 0 h 258"/>
                  <a:gd name="T10" fmla="*/ 1143000 w 720"/>
                  <a:gd name="T11" fmla="*/ 0 h 258"/>
                  <a:gd name="T12" fmla="*/ 1143000 w 720"/>
                  <a:gd name="T13" fmla="*/ 76200 h 258"/>
                  <a:gd name="T14" fmla="*/ 949325 w 720"/>
                  <a:gd name="T15" fmla="*/ 76200 h 258"/>
                  <a:gd name="T16" fmla="*/ 781050 w 720"/>
                  <a:gd name="T17" fmla="*/ 409575 h 258"/>
                  <a:gd name="T18" fmla="*/ 361950 w 720"/>
                  <a:gd name="T19" fmla="*/ 409575 h 258"/>
                  <a:gd name="T20" fmla="*/ 190500 w 720"/>
                  <a:gd name="T21" fmla="*/ 76200 h 258"/>
                  <a:gd name="T22" fmla="*/ 0 w 720"/>
                  <a:gd name="T23" fmla="*/ 76200 h 258"/>
                  <a:gd name="T24" fmla="*/ 0 w 720"/>
                  <a:gd name="T25" fmla="*/ 0 h 25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20" h="258">
                    <a:moveTo>
                      <a:pt x="0" y="0"/>
                    </a:moveTo>
                    <a:lnTo>
                      <a:pt x="168" y="0"/>
                    </a:lnTo>
                    <a:lnTo>
                      <a:pt x="262" y="192"/>
                    </a:lnTo>
                    <a:lnTo>
                      <a:pt x="454" y="192"/>
                    </a:lnTo>
                    <a:lnTo>
                      <a:pt x="552" y="0"/>
                    </a:lnTo>
                    <a:lnTo>
                      <a:pt x="720" y="0"/>
                    </a:lnTo>
                    <a:lnTo>
                      <a:pt x="720" y="48"/>
                    </a:lnTo>
                    <a:lnTo>
                      <a:pt x="598" y="48"/>
                    </a:lnTo>
                    <a:lnTo>
                      <a:pt x="492" y="258"/>
                    </a:lnTo>
                    <a:lnTo>
                      <a:pt x="228" y="258"/>
                    </a:lnTo>
                    <a:lnTo>
                      <a:pt x="120" y="48"/>
                    </a:lnTo>
                    <a:lnTo>
                      <a:pt x="0" y="48"/>
                    </a:lnTo>
                    <a:lnTo>
                      <a:pt x="0" y="0"/>
                    </a:lnTo>
                    <a:close/>
                  </a:path>
                </a:pathLst>
              </a:custGeom>
              <a:solidFill>
                <a:srgbClr val="FF99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39" name="TextBox 134">
              <a:extLst>
                <a:ext uri="{FF2B5EF4-FFF2-40B4-BE49-F238E27FC236}">
                  <a16:creationId xmlns:a16="http://schemas.microsoft.com/office/drawing/2014/main" id="{7B301C01-1597-ECD3-BB0A-5CE092DC5F3E}"/>
                </a:ext>
              </a:extLst>
            </p:cNvPr>
            <p:cNvSpPr txBox="1"/>
            <p:nvPr/>
          </p:nvSpPr>
          <p:spPr>
            <a:xfrm>
              <a:off x="6151417" y="5695068"/>
              <a:ext cx="1461704" cy="430887"/>
            </a:xfrm>
            <a:prstGeom prst="rect">
              <a:avLst/>
            </a:prstGeom>
            <a:noFill/>
          </p:spPr>
          <p:txBody>
            <a:bodyPr wrap="square" rtlCol="0">
              <a:spAutoFit/>
            </a:bodyPr>
            <a:lstStyle/>
            <a:p>
              <a:pPr algn="ctr"/>
              <a:r>
                <a:rPr lang="zh-CN" altLang="en-US" sz="2200" b="1" dirty="0">
                  <a:solidFill>
                    <a:srgbClr val="FF0000"/>
                  </a:solidFill>
                  <a:latin typeface="华文中宋" panose="02010600040101010101" pitchFamily="2" charset="-122"/>
                  <a:ea typeface="华文中宋" panose="02010600040101010101" pitchFamily="2" charset="-122"/>
                </a:rPr>
                <a:t>保压</a:t>
              </a:r>
            </a:p>
          </p:txBody>
        </p:sp>
      </p:grpSp>
      <p:grpSp>
        <p:nvGrpSpPr>
          <p:cNvPr id="180" name="组合 179">
            <a:extLst>
              <a:ext uri="{FF2B5EF4-FFF2-40B4-BE49-F238E27FC236}">
                <a16:creationId xmlns:a16="http://schemas.microsoft.com/office/drawing/2014/main" id="{77CFBC77-47C9-C7B9-B491-06D0BB6C91D5}"/>
              </a:ext>
            </a:extLst>
          </p:cNvPr>
          <p:cNvGrpSpPr/>
          <p:nvPr/>
        </p:nvGrpSpPr>
        <p:grpSpPr>
          <a:xfrm>
            <a:off x="8826995" y="941460"/>
            <a:ext cx="2030295" cy="4449659"/>
            <a:chOff x="7696695" y="1676295"/>
            <a:chExt cx="2030295" cy="4449659"/>
          </a:xfrm>
        </p:grpSpPr>
        <p:grpSp>
          <p:nvGrpSpPr>
            <p:cNvPr id="181" name="组合 180">
              <a:extLst>
                <a:ext uri="{FF2B5EF4-FFF2-40B4-BE49-F238E27FC236}">
                  <a16:creationId xmlns:a16="http://schemas.microsoft.com/office/drawing/2014/main" id="{7886EB3C-27C0-D3A3-AE86-DECE293839B1}"/>
                </a:ext>
              </a:extLst>
            </p:cNvPr>
            <p:cNvGrpSpPr/>
            <p:nvPr/>
          </p:nvGrpSpPr>
          <p:grpSpPr>
            <a:xfrm>
              <a:off x="7696695" y="1676295"/>
              <a:ext cx="2030295" cy="3880442"/>
              <a:chOff x="9561852" y="1677619"/>
              <a:chExt cx="2405324" cy="4597224"/>
            </a:xfrm>
          </p:grpSpPr>
          <p:sp>
            <p:nvSpPr>
              <p:cNvPr id="183" name="右箭头 178">
                <a:extLst>
                  <a:ext uri="{FF2B5EF4-FFF2-40B4-BE49-F238E27FC236}">
                    <a16:creationId xmlns:a16="http://schemas.microsoft.com/office/drawing/2014/main" id="{8A5D2EA3-7F82-6396-8AF7-76612600BC3B}"/>
                  </a:ext>
                </a:extLst>
              </p:cNvPr>
              <p:cNvSpPr/>
              <p:nvPr/>
            </p:nvSpPr>
            <p:spPr bwMode="auto">
              <a:xfrm>
                <a:off x="9561852" y="3270516"/>
                <a:ext cx="477837" cy="1223634"/>
              </a:xfrm>
              <a:prstGeom prst="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zh-CN" altLang="en-US" sz="2400" b="0" i="0" u="none" strike="noStrike" cap="none" normalizeH="0" baseline="0">
                  <a:ln>
                    <a:noFill/>
                  </a:ln>
                  <a:solidFill>
                    <a:schemeClr val="tx1"/>
                  </a:solidFill>
                  <a:effectLst/>
                  <a:latin typeface="Arial" pitchFamily="34" charset="0"/>
                  <a:ea typeface="宋体" pitchFamily="2" charset="-122"/>
                </a:endParaRPr>
              </a:p>
            </p:txBody>
          </p:sp>
          <p:sp>
            <p:nvSpPr>
              <p:cNvPr id="184" name="Rectangle 78">
                <a:extLst>
                  <a:ext uri="{FF2B5EF4-FFF2-40B4-BE49-F238E27FC236}">
                    <a16:creationId xmlns:a16="http://schemas.microsoft.com/office/drawing/2014/main" id="{FAE624ED-5FAB-7CC6-9568-3BA6EA8FFB39}"/>
                  </a:ext>
                </a:extLst>
              </p:cNvPr>
              <p:cNvSpPr>
                <a:spLocks noChangeArrowheads="1"/>
              </p:cNvSpPr>
              <p:nvPr/>
            </p:nvSpPr>
            <p:spPr bwMode="auto">
              <a:xfrm>
                <a:off x="10224680" y="2270809"/>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85" name="Rectangle 79">
                <a:extLst>
                  <a:ext uri="{FF2B5EF4-FFF2-40B4-BE49-F238E27FC236}">
                    <a16:creationId xmlns:a16="http://schemas.microsoft.com/office/drawing/2014/main" id="{EBDCFA8A-85DD-3241-909C-221764E3B221}"/>
                  </a:ext>
                </a:extLst>
              </p:cNvPr>
              <p:cNvSpPr>
                <a:spLocks noChangeArrowheads="1"/>
              </p:cNvSpPr>
              <p:nvPr/>
            </p:nvSpPr>
            <p:spPr bwMode="auto">
              <a:xfrm>
                <a:off x="11633507" y="2270809"/>
                <a:ext cx="222446" cy="3633290"/>
              </a:xfrm>
              <a:prstGeom prst="rect">
                <a:avLst/>
              </a:pr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86" name="Rectangle 80">
                <a:extLst>
                  <a:ext uri="{FF2B5EF4-FFF2-40B4-BE49-F238E27FC236}">
                    <a16:creationId xmlns:a16="http://schemas.microsoft.com/office/drawing/2014/main" id="{2D6E4E52-3D82-48B4-0723-62145502C6EC}"/>
                  </a:ext>
                </a:extLst>
              </p:cNvPr>
              <p:cNvSpPr>
                <a:spLocks noChangeArrowheads="1"/>
              </p:cNvSpPr>
              <p:nvPr/>
            </p:nvSpPr>
            <p:spPr bwMode="auto">
              <a:xfrm>
                <a:off x="10150531" y="1974214"/>
                <a:ext cx="1779571" cy="370744"/>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87" name="Freeform 81">
                <a:extLst>
                  <a:ext uri="{FF2B5EF4-FFF2-40B4-BE49-F238E27FC236}">
                    <a16:creationId xmlns:a16="http://schemas.microsoft.com/office/drawing/2014/main" id="{CB251355-3ACE-242D-6374-DBDC15900898}"/>
                  </a:ext>
                </a:extLst>
              </p:cNvPr>
              <p:cNvSpPr>
                <a:spLocks/>
              </p:cNvSpPr>
              <p:nvPr/>
            </p:nvSpPr>
            <p:spPr bwMode="auto">
              <a:xfrm>
                <a:off x="10150531" y="5607504"/>
                <a:ext cx="1779571" cy="667339"/>
              </a:xfrm>
              <a:custGeom>
                <a:avLst/>
                <a:gdLst>
                  <a:gd name="T0" fmla="*/ 0 w 1152"/>
                  <a:gd name="T1" fmla="*/ 0 h 432"/>
                  <a:gd name="T2" fmla="*/ 533400 w 1152"/>
                  <a:gd name="T3" fmla="*/ 0 h 432"/>
                  <a:gd name="T4" fmla="*/ 708025 w 1152"/>
                  <a:gd name="T5" fmla="*/ 336550 h 432"/>
                  <a:gd name="T6" fmla="*/ 1123950 w 1152"/>
                  <a:gd name="T7" fmla="*/ 336550 h 432"/>
                  <a:gd name="T8" fmla="*/ 1295400 w 1152"/>
                  <a:gd name="T9" fmla="*/ 0 h 432"/>
                  <a:gd name="T10" fmla="*/ 1828800 w 1152"/>
                  <a:gd name="T11" fmla="*/ 0 h 432"/>
                  <a:gd name="T12" fmla="*/ 1828800 w 1152"/>
                  <a:gd name="T13" fmla="*/ 685800 h 432"/>
                  <a:gd name="T14" fmla="*/ 0 w 1152"/>
                  <a:gd name="T15" fmla="*/ 685800 h 432"/>
                  <a:gd name="T16" fmla="*/ 0 w 1152"/>
                  <a:gd name="T17" fmla="*/ 0 h 4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432">
                    <a:moveTo>
                      <a:pt x="0" y="0"/>
                    </a:moveTo>
                    <a:lnTo>
                      <a:pt x="336" y="0"/>
                    </a:lnTo>
                    <a:lnTo>
                      <a:pt x="446" y="212"/>
                    </a:lnTo>
                    <a:lnTo>
                      <a:pt x="708" y="212"/>
                    </a:lnTo>
                    <a:lnTo>
                      <a:pt x="816" y="0"/>
                    </a:lnTo>
                    <a:lnTo>
                      <a:pt x="1152" y="0"/>
                    </a:lnTo>
                    <a:lnTo>
                      <a:pt x="1152" y="432"/>
                    </a:lnTo>
                    <a:lnTo>
                      <a:pt x="0" y="432"/>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188" name="Group 82">
                <a:extLst>
                  <a:ext uri="{FF2B5EF4-FFF2-40B4-BE49-F238E27FC236}">
                    <a16:creationId xmlns:a16="http://schemas.microsoft.com/office/drawing/2014/main" id="{1B3487EE-7586-EF88-1B9D-F404D85144CA}"/>
                  </a:ext>
                </a:extLst>
              </p:cNvPr>
              <p:cNvGrpSpPr>
                <a:grpSpLocks/>
              </p:cNvGrpSpPr>
              <p:nvPr/>
            </p:nvGrpSpPr>
            <p:grpSpPr bwMode="auto">
              <a:xfrm>
                <a:off x="10156881" y="3682113"/>
                <a:ext cx="1779571" cy="1482975"/>
                <a:chOff x="1152" y="2064"/>
                <a:chExt cx="1152" cy="960"/>
              </a:xfrm>
            </p:grpSpPr>
            <p:sp>
              <p:nvSpPr>
                <p:cNvPr id="220" name="Freeform 83">
                  <a:extLst>
                    <a:ext uri="{FF2B5EF4-FFF2-40B4-BE49-F238E27FC236}">
                      <a16:creationId xmlns:a16="http://schemas.microsoft.com/office/drawing/2014/main" id="{ED59CD92-F6D2-4969-CDAD-2D8EAB34F020}"/>
                    </a:ext>
                  </a:extLst>
                </p:cNvPr>
                <p:cNvSpPr>
                  <a:spLocks/>
                </p:cNvSpPr>
                <p:nvPr/>
              </p:nvSpPr>
              <p:spPr bwMode="auto">
                <a:xfrm>
                  <a:off x="1152" y="2736"/>
                  <a:ext cx="1152" cy="288"/>
                </a:xfrm>
                <a:custGeom>
                  <a:avLst/>
                  <a:gdLst>
                    <a:gd name="T0" fmla="*/ 0 w 1152"/>
                    <a:gd name="T1" fmla="*/ 0 h 288"/>
                    <a:gd name="T2" fmla="*/ 1152 w 1152"/>
                    <a:gd name="T3" fmla="*/ 0 h 288"/>
                    <a:gd name="T4" fmla="*/ 1152 w 1152"/>
                    <a:gd name="T5" fmla="*/ 96 h 288"/>
                    <a:gd name="T6" fmla="*/ 768 w 1152"/>
                    <a:gd name="T7" fmla="*/ 96 h 288"/>
                    <a:gd name="T8" fmla="*/ 672 w 1152"/>
                    <a:gd name="T9" fmla="*/ 288 h 288"/>
                    <a:gd name="T10" fmla="*/ 480 w 1152"/>
                    <a:gd name="T11" fmla="*/ 288 h 288"/>
                    <a:gd name="T12" fmla="*/ 384 w 1152"/>
                    <a:gd name="T13" fmla="*/ 96 h 288"/>
                    <a:gd name="T14" fmla="*/ 0 w 1152"/>
                    <a:gd name="T15" fmla="*/ 96 h 288"/>
                    <a:gd name="T16" fmla="*/ 0 w 1152"/>
                    <a:gd name="T17" fmla="*/ 0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52" h="288">
                      <a:moveTo>
                        <a:pt x="0" y="0"/>
                      </a:moveTo>
                      <a:lnTo>
                        <a:pt x="1152" y="0"/>
                      </a:lnTo>
                      <a:lnTo>
                        <a:pt x="1152" y="96"/>
                      </a:lnTo>
                      <a:lnTo>
                        <a:pt x="768" y="96"/>
                      </a:lnTo>
                      <a:lnTo>
                        <a:pt x="672" y="288"/>
                      </a:lnTo>
                      <a:lnTo>
                        <a:pt x="480" y="288"/>
                      </a:lnTo>
                      <a:lnTo>
                        <a:pt x="384" y="96"/>
                      </a:lnTo>
                      <a:lnTo>
                        <a:pt x="0" y="96"/>
                      </a:lnTo>
                      <a:lnTo>
                        <a:pt x="0" y="0"/>
                      </a:lnTo>
                      <a:close/>
                    </a:path>
                  </a:pathLst>
                </a:custGeom>
                <a:solidFill>
                  <a:schemeClr val="bg2"/>
                </a:solidFill>
                <a:ln w="9525" cap="flat"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21" name="Group 84">
                  <a:extLst>
                    <a:ext uri="{FF2B5EF4-FFF2-40B4-BE49-F238E27FC236}">
                      <a16:creationId xmlns:a16="http://schemas.microsoft.com/office/drawing/2014/main" id="{39CC1096-E1A0-B93E-10D1-717697EEA8DF}"/>
                    </a:ext>
                  </a:extLst>
                </p:cNvPr>
                <p:cNvGrpSpPr>
                  <a:grpSpLocks/>
                </p:cNvGrpSpPr>
                <p:nvPr/>
              </p:nvGrpSpPr>
              <p:grpSpPr bwMode="auto">
                <a:xfrm>
                  <a:off x="1680" y="2064"/>
                  <a:ext cx="96" cy="672"/>
                  <a:chOff x="1680" y="2064"/>
                  <a:chExt cx="96" cy="672"/>
                </a:xfrm>
              </p:grpSpPr>
              <p:sp>
                <p:nvSpPr>
                  <p:cNvPr id="222" name="Rectangle 85">
                    <a:extLst>
                      <a:ext uri="{FF2B5EF4-FFF2-40B4-BE49-F238E27FC236}">
                        <a16:creationId xmlns:a16="http://schemas.microsoft.com/office/drawing/2014/main" id="{465A9B57-4A42-05C2-985F-121A73F555CA}"/>
                      </a:ext>
                    </a:extLst>
                  </p:cNvPr>
                  <p:cNvSpPr>
                    <a:spLocks noChangeArrowheads="1"/>
                  </p:cNvSpPr>
                  <p:nvPr/>
                </p:nvSpPr>
                <p:spPr bwMode="auto">
                  <a:xfrm>
                    <a:off x="1680" y="2064"/>
                    <a:ext cx="96" cy="67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23" name="Line 86">
                    <a:extLst>
                      <a:ext uri="{FF2B5EF4-FFF2-40B4-BE49-F238E27FC236}">
                        <a16:creationId xmlns:a16="http://schemas.microsoft.com/office/drawing/2014/main" id="{46B6AF3F-38CB-7A28-23C8-CDCFB0B23D96}"/>
                      </a:ext>
                    </a:extLst>
                  </p:cNvPr>
                  <p:cNvSpPr>
                    <a:spLocks noChangeShapeType="1"/>
                  </p:cNvSpPr>
                  <p:nvPr/>
                </p:nvSpPr>
                <p:spPr bwMode="auto">
                  <a:xfrm flipV="1">
                    <a:off x="1704" y="2064"/>
                    <a:ext cx="0" cy="6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sp>
            <p:nvSpPr>
              <p:cNvPr id="189" name="Rectangle 87">
                <a:extLst>
                  <a:ext uri="{FF2B5EF4-FFF2-40B4-BE49-F238E27FC236}">
                    <a16:creationId xmlns:a16="http://schemas.microsoft.com/office/drawing/2014/main" id="{CD2D2BDB-D8BE-2D38-A85C-91363F0AA1F2}"/>
                  </a:ext>
                </a:extLst>
              </p:cNvPr>
              <p:cNvSpPr>
                <a:spLocks noChangeArrowheads="1"/>
              </p:cNvSpPr>
              <p:nvPr/>
            </p:nvSpPr>
            <p:spPr bwMode="auto">
              <a:xfrm rot="5400000">
                <a:off x="11013283" y="4279778"/>
                <a:ext cx="58701" cy="288872"/>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0" name="Rectangle 88">
                <a:extLst>
                  <a:ext uri="{FF2B5EF4-FFF2-40B4-BE49-F238E27FC236}">
                    <a16:creationId xmlns:a16="http://schemas.microsoft.com/office/drawing/2014/main" id="{CD125D2D-4C24-8DEE-69EB-078F27B1EEA3}"/>
                  </a:ext>
                </a:extLst>
              </p:cNvPr>
              <p:cNvSpPr>
                <a:spLocks noChangeArrowheads="1"/>
              </p:cNvSpPr>
              <p:nvPr/>
            </p:nvSpPr>
            <p:spPr bwMode="auto">
              <a:xfrm rot="5400000">
                <a:off x="10267934" y="3220839"/>
                <a:ext cx="1544766" cy="287327"/>
              </a:xfrm>
              <a:prstGeom prst="rect">
                <a:avLst/>
              </a:prstGeom>
              <a:gradFill rotWithShape="0">
                <a:gsLst>
                  <a:gs pos="0">
                    <a:srgbClr val="0066FF"/>
                  </a:gs>
                  <a:gs pos="50000">
                    <a:srgbClr val="8FBCFF"/>
                  </a:gs>
                  <a:gs pos="100000">
                    <a:srgbClr val="0066FF"/>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1" name="Rectangle 89">
                <a:extLst>
                  <a:ext uri="{FF2B5EF4-FFF2-40B4-BE49-F238E27FC236}">
                    <a16:creationId xmlns:a16="http://schemas.microsoft.com/office/drawing/2014/main" id="{67140410-5F2C-9387-BDF1-BD21EC3D5BBC}"/>
                  </a:ext>
                </a:extLst>
              </p:cNvPr>
              <p:cNvSpPr>
                <a:spLocks noChangeArrowheads="1"/>
              </p:cNvSpPr>
              <p:nvPr/>
            </p:nvSpPr>
            <p:spPr bwMode="auto">
              <a:xfrm rot="5400000">
                <a:off x="10425500" y="3342877"/>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2" name="Rectangle 90">
                <a:extLst>
                  <a:ext uri="{FF2B5EF4-FFF2-40B4-BE49-F238E27FC236}">
                    <a16:creationId xmlns:a16="http://schemas.microsoft.com/office/drawing/2014/main" id="{0B7B5318-D5CD-0CBC-E2F3-7C87DA984ABA}"/>
                  </a:ext>
                </a:extLst>
              </p:cNvPr>
              <p:cNvSpPr>
                <a:spLocks noChangeArrowheads="1"/>
              </p:cNvSpPr>
              <p:nvPr/>
            </p:nvSpPr>
            <p:spPr bwMode="auto">
              <a:xfrm rot="5400000">
                <a:off x="10108823" y="3342877"/>
                <a:ext cx="1544766" cy="43253"/>
              </a:xfrm>
              <a:prstGeom prst="rect">
                <a:avLst/>
              </a:prstGeom>
              <a:gradFill rotWithShape="0">
                <a:gsLst>
                  <a:gs pos="0">
                    <a:schemeClr val="tx1"/>
                  </a:gs>
                  <a:gs pos="50000">
                    <a:schemeClr val="tx1">
                      <a:gamma/>
                      <a:tint val="23922"/>
                      <a:invGamma/>
                    </a:schemeClr>
                  </a:gs>
                  <a:gs pos="100000">
                    <a:schemeClr val="tx1"/>
                  </a:gs>
                </a:gsLst>
                <a:lin ang="0" scaled="1"/>
              </a:gra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3" name="Rectangle 91">
                <a:extLst>
                  <a:ext uri="{FF2B5EF4-FFF2-40B4-BE49-F238E27FC236}">
                    <a16:creationId xmlns:a16="http://schemas.microsoft.com/office/drawing/2014/main" id="{4C166B94-AC92-0F62-0DB2-AAEA78BC873A}"/>
                  </a:ext>
                </a:extLst>
              </p:cNvPr>
              <p:cNvSpPr>
                <a:spLocks noChangeArrowheads="1"/>
              </p:cNvSpPr>
              <p:nvPr/>
            </p:nvSpPr>
            <p:spPr bwMode="auto">
              <a:xfrm rot="5400000">
                <a:off x="10909784" y="2273126"/>
                <a:ext cx="259521"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4" name="Rectangle 92">
                <a:extLst>
                  <a:ext uri="{FF2B5EF4-FFF2-40B4-BE49-F238E27FC236}">
                    <a16:creationId xmlns:a16="http://schemas.microsoft.com/office/drawing/2014/main" id="{27F875EF-4189-AA8F-25E5-A390FB048CF9}"/>
                  </a:ext>
                </a:extLst>
              </p:cNvPr>
              <p:cNvSpPr>
                <a:spLocks noChangeArrowheads="1"/>
              </p:cNvSpPr>
              <p:nvPr/>
            </p:nvSpPr>
            <p:spPr bwMode="auto">
              <a:xfrm rot="5400000">
                <a:off x="10852628" y="4009444"/>
                <a:ext cx="373833" cy="403183"/>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195" name="Rectangle 93">
                <a:extLst>
                  <a:ext uri="{FF2B5EF4-FFF2-40B4-BE49-F238E27FC236}">
                    <a16:creationId xmlns:a16="http://schemas.microsoft.com/office/drawing/2014/main" id="{45F7A1AC-8E36-1366-4072-57F43FB827C7}"/>
                  </a:ext>
                </a:extLst>
              </p:cNvPr>
              <p:cNvSpPr>
                <a:spLocks noChangeArrowheads="1"/>
              </p:cNvSpPr>
              <p:nvPr/>
            </p:nvSpPr>
            <p:spPr bwMode="auto">
              <a:xfrm rot="10800000">
                <a:off x="10641767" y="2344958"/>
                <a:ext cx="795555" cy="5715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grpSp>
            <p:nvGrpSpPr>
              <p:cNvPr id="196" name="Group 94">
                <a:extLst>
                  <a:ext uri="{FF2B5EF4-FFF2-40B4-BE49-F238E27FC236}">
                    <a16:creationId xmlns:a16="http://schemas.microsoft.com/office/drawing/2014/main" id="{A49C75E8-6555-71CA-575A-27E855267503}"/>
                  </a:ext>
                </a:extLst>
              </p:cNvPr>
              <p:cNvGrpSpPr>
                <a:grpSpLocks/>
              </p:cNvGrpSpPr>
              <p:nvPr/>
            </p:nvGrpSpPr>
            <p:grpSpPr bwMode="auto">
              <a:xfrm rot="10800000">
                <a:off x="10669572" y="2402115"/>
                <a:ext cx="123582" cy="55611"/>
                <a:chOff x="2203" y="3103"/>
                <a:chExt cx="73" cy="33"/>
              </a:xfrm>
            </p:grpSpPr>
            <p:sp>
              <p:nvSpPr>
                <p:cNvPr id="216" name="Rectangle 95">
                  <a:extLst>
                    <a:ext uri="{FF2B5EF4-FFF2-40B4-BE49-F238E27FC236}">
                      <a16:creationId xmlns:a16="http://schemas.microsoft.com/office/drawing/2014/main" id="{8E9FCAC8-17FC-D063-89D6-5A57BC637EB2}"/>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17" name="Freeform 96">
                  <a:extLst>
                    <a:ext uri="{FF2B5EF4-FFF2-40B4-BE49-F238E27FC236}">
                      <a16:creationId xmlns:a16="http://schemas.microsoft.com/office/drawing/2014/main" id="{E8AA91FB-B3D3-9017-DD48-74031933CD68}"/>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8" name="Freeform 97">
                  <a:extLst>
                    <a:ext uri="{FF2B5EF4-FFF2-40B4-BE49-F238E27FC236}">
                      <a16:creationId xmlns:a16="http://schemas.microsoft.com/office/drawing/2014/main" id="{3644EC5C-9CCC-29BD-B769-D7984D4DF1A6}"/>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9" name="Freeform 98">
                  <a:extLst>
                    <a:ext uri="{FF2B5EF4-FFF2-40B4-BE49-F238E27FC236}">
                      <a16:creationId xmlns:a16="http://schemas.microsoft.com/office/drawing/2014/main" id="{15B33C86-05DE-1D09-76E2-CB7A126E5BA5}"/>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97" name="Group 99">
                <a:extLst>
                  <a:ext uri="{FF2B5EF4-FFF2-40B4-BE49-F238E27FC236}">
                    <a16:creationId xmlns:a16="http://schemas.microsoft.com/office/drawing/2014/main" id="{858C1245-647B-18AE-6B5B-AC9260B671F6}"/>
                  </a:ext>
                </a:extLst>
              </p:cNvPr>
              <p:cNvGrpSpPr>
                <a:grpSpLocks/>
              </p:cNvGrpSpPr>
              <p:nvPr/>
            </p:nvGrpSpPr>
            <p:grpSpPr bwMode="auto">
              <a:xfrm rot="10800000">
                <a:off x="11293658" y="2403659"/>
                <a:ext cx="122037" cy="55611"/>
                <a:chOff x="2203" y="3103"/>
                <a:chExt cx="73" cy="33"/>
              </a:xfrm>
            </p:grpSpPr>
            <p:sp>
              <p:nvSpPr>
                <p:cNvPr id="212" name="Rectangle 100">
                  <a:extLst>
                    <a:ext uri="{FF2B5EF4-FFF2-40B4-BE49-F238E27FC236}">
                      <a16:creationId xmlns:a16="http://schemas.microsoft.com/office/drawing/2014/main" id="{E47C412F-178C-88E0-E226-A66990037006}"/>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13" name="Freeform 101">
                  <a:extLst>
                    <a:ext uri="{FF2B5EF4-FFF2-40B4-BE49-F238E27FC236}">
                      <a16:creationId xmlns:a16="http://schemas.microsoft.com/office/drawing/2014/main" id="{C69CD36E-5543-F6D0-29E7-3ECB8088D158}"/>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4" name="Freeform 102">
                  <a:extLst>
                    <a:ext uri="{FF2B5EF4-FFF2-40B4-BE49-F238E27FC236}">
                      <a16:creationId xmlns:a16="http://schemas.microsoft.com/office/drawing/2014/main" id="{FAF5B5B0-91B5-841F-4D1F-30483C6F229B}"/>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5" name="Freeform 103">
                  <a:extLst>
                    <a:ext uri="{FF2B5EF4-FFF2-40B4-BE49-F238E27FC236}">
                      <a16:creationId xmlns:a16="http://schemas.microsoft.com/office/drawing/2014/main" id="{4A62EF8D-1AD7-790C-C9C8-8F8C2057E912}"/>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98" name="Group 104">
                <a:extLst>
                  <a:ext uri="{FF2B5EF4-FFF2-40B4-BE49-F238E27FC236}">
                    <a16:creationId xmlns:a16="http://schemas.microsoft.com/office/drawing/2014/main" id="{2BCB9936-BCF0-8A98-0D2D-44DD367172D2}"/>
                  </a:ext>
                </a:extLst>
              </p:cNvPr>
              <p:cNvGrpSpPr>
                <a:grpSpLocks/>
              </p:cNvGrpSpPr>
              <p:nvPr/>
            </p:nvGrpSpPr>
            <p:grpSpPr bwMode="auto">
              <a:xfrm rot="10800000">
                <a:off x="11522283" y="1773395"/>
                <a:ext cx="444893" cy="202365"/>
                <a:chOff x="2203" y="3103"/>
                <a:chExt cx="73" cy="33"/>
              </a:xfrm>
            </p:grpSpPr>
            <p:sp>
              <p:nvSpPr>
                <p:cNvPr id="208" name="Rectangle 105">
                  <a:extLst>
                    <a:ext uri="{FF2B5EF4-FFF2-40B4-BE49-F238E27FC236}">
                      <a16:creationId xmlns:a16="http://schemas.microsoft.com/office/drawing/2014/main" id="{02BE4AF8-549E-67C8-A6AA-135C697C0DB7}"/>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09" name="Freeform 106">
                  <a:extLst>
                    <a:ext uri="{FF2B5EF4-FFF2-40B4-BE49-F238E27FC236}">
                      <a16:creationId xmlns:a16="http://schemas.microsoft.com/office/drawing/2014/main" id="{C30E3C67-F334-E2BB-D244-8911E7953210}"/>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0" name="Freeform 107">
                  <a:extLst>
                    <a:ext uri="{FF2B5EF4-FFF2-40B4-BE49-F238E27FC236}">
                      <a16:creationId xmlns:a16="http://schemas.microsoft.com/office/drawing/2014/main" id="{4B9DC944-5732-B6A8-8DAF-50DB262903CD}"/>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1" name="Freeform 108">
                  <a:extLst>
                    <a:ext uri="{FF2B5EF4-FFF2-40B4-BE49-F238E27FC236}">
                      <a16:creationId xmlns:a16="http://schemas.microsoft.com/office/drawing/2014/main" id="{F8E95EE9-F826-4118-4204-17CC639E771B}"/>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99" name="Freeform 109">
                <a:extLst>
                  <a:ext uri="{FF2B5EF4-FFF2-40B4-BE49-F238E27FC236}">
                    <a16:creationId xmlns:a16="http://schemas.microsoft.com/office/drawing/2014/main" id="{BA05F62C-A470-0314-3AC1-C7FA0DFF25C5}"/>
                  </a:ext>
                </a:extLst>
              </p:cNvPr>
              <p:cNvSpPr>
                <a:spLocks/>
              </p:cNvSpPr>
              <p:nvPr/>
            </p:nvSpPr>
            <p:spPr bwMode="auto">
              <a:xfrm>
                <a:off x="11633507" y="1677619"/>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grpSp>
            <p:nvGrpSpPr>
              <p:cNvPr id="200" name="Group 110">
                <a:extLst>
                  <a:ext uri="{FF2B5EF4-FFF2-40B4-BE49-F238E27FC236}">
                    <a16:creationId xmlns:a16="http://schemas.microsoft.com/office/drawing/2014/main" id="{A99C658F-14FB-F259-A4D8-F34D691C6963}"/>
                  </a:ext>
                </a:extLst>
              </p:cNvPr>
              <p:cNvGrpSpPr>
                <a:grpSpLocks/>
              </p:cNvGrpSpPr>
              <p:nvPr/>
            </p:nvGrpSpPr>
            <p:grpSpPr bwMode="auto">
              <a:xfrm rot="10800000">
                <a:off x="10122725" y="1773395"/>
                <a:ext cx="444893" cy="202365"/>
                <a:chOff x="2203" y="3103"/>
                <a:chExt cx="73" cy="33"/>
              </a:xfrm>
            </p:grpSpPr>
            <p:sp>
              <p:nvSpPr>
                <p:cNvPr id="204" name="Rectangle 111">
                  <a:extLst>
                    <a:ext uri="{FF2B5EF4-FFF2-40B4-BE49-F238E27FC236}">
                      <a16:creationId xmlns:a16="http://schemas.microsoft.com/office/drawing/2014/main" id="{8C5A5998-BC08-F950-3EA3-845B1979D899}"/>
                    </a:ext>
                  </a:extLst>
                </p:cNvPr>
                <p:cNvSpPr>
                  <a:spLocks noChangeArrowheads="1"/>
                </p:cNvSpPr>
                <p:nvPr/>
              </p:nvSpPr>
              <p:spPr bwMode="auto">
                <a:xfrm rot="5400000">
                  <a:off x="2221" y="3094"/>
                  <a:ext cx="33" cy="51"/>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1200" b="1">
                      <a:solidFill>
                        <a:schemeClr val="hlink"/>
                      </a:solidFill>
                      <a:latin typeface="Comic Sans MS" pitchFamily="66" charset="0"/>
                    </a:defRPr>
                  </a:lvl1pPr>
                  <a:lvl2pPr marL="742950" indent="-285750">
                    <a:defRPr sz="1200" b="1">
                      <a:solidFill>
                        <a:schemeClr val="hlink"/>
                      </a:solidFill>
                      <a:latin typeface="Comic Sans MS" pitchFamily="66" charset="0"/>
                    </a:defRPr>
                  </a:lvl2pPr>
                  <a:lvl3pPr marL="1143000" indent="-228600">
                    <a:defRPr sz="1200" b="1">
                      <a:solidFill>
                        <a:schemeClr val="hlink"/>
                      </a:solidFill>
                      <a:latin typeface="Comic Sans MS" pitchFamily="66" charset="0"/>
                    </a:defRPr>
                  </a:lvl3pPr>
                  <a:lvl4pPr marL="1600200" indent="-228600">
                    <a:defRPr sz="1200" b="1">
                      <a:solidFill>
                        <a:schemeClr val="hlink"/>
                      </a:solidFill>
                      <a:latin typeface="Comic Sans MS" pitchFamily="66" charset="0"/>
                    </a:defRPr>
                  </a:lvl4pPr>
                  <a:lvl5pPr marL="2057400" indent="-228600">
                    <a:defRPr sz="1200" b="1">
                      <a:solidFill>
                        <a:schemeClr val="hlink"/>
                      </a:solidFill>
                      <a:latin typeface="Comic Sans MS" pitchFamily="66" charset="0"/>
                    </a:defRPr>
                  </a:lvl5pPr>
                  <a:lvl6pPr marL="2514600" indent="-228600" eaLnBrk="0" fontAlgn="base" hangingPunct="0">
                    <a:spcBef>
                      <a:spcPct val="0"/>
                    </a:spcBef>
                    <a:spcAft>
                      <a:spcPct val="0"/>
                    </a:spcAft>
                    <a:defRPr sz="1200" b="1">
                      <a:solidFill>
                        <a:schemeClr val="hlink"/>
                      </a:solidFill>
                      <a:latin typeface="Comic Sans MS" pitchFamily="66" charset="0"/>
                    </a:defRPr>
                  </a:lvl6pPr>
                  <a:lvl7pPr marL="2971800" indent="-228600" eaLnBrk="0" fontAlgn="base" hangingPunct="0">
                    <a:spcBef>
                      <a:spcPct val="0"/>
                    </a:spcBef>
                    <a:spcAft>
                      <a:spcPct val="0"/>
                    </a:spcAft>
                    <a:defRPr sz="1200" b="1">
                      <a:solidFill>
                        <a:schemeClr val="hlink"/>
                      </a:solidFill>
                      <a:latin typeface="Comic Sans MS" pitchFamily="66" charset="0"/>
                    </a:defRPr>
                  </a:lvl7pPr>
                  <a:lvl8pPr marL="3429000" indent="-228600" eaLnBrk="0" fontAlgn="base" hangingPunct="0">
                    <a:spcBef>
                      <a:spcPct val="0"/>
                    </a:spcBef>
                    <a:spcAft>
                      <a:spcPct val="0"/>
                    </a:spcAft>
                    <a:defRPr sz="1200" b="1">
                      <a:solidFill>
                        <a:schemeClr val="hlink"/>
                      </a:solidFill>
                      <a:latin typeface="Comic Sans MS" pitchFamily="66" charset="0"/>
                    </a:defRPr>
                  </a:lvl8pPr>
                  <a:lvl9pPr marL="3886200" indent="-228600" eaLnBrk="0" fontAlgn="base" hangingPunct="0">
                    <a:spcBef>
                      <a:spcPct val="0"/>
                    </a:spcBef>
                    <a:spcAft>
                      <a:spcPct val="0"/>
                    </a:spcAft>
                    <a:defRPr sz="1200" b="1">
                      <a:solidFill>
                        <a:schemeClr val="hlink"/>
                      </a:solidFill>
                      <a:latin typeface="Comic Sans MS" pitchFamily="66" charset="0"/>
                    </a:defRPr>
                  </a:lvl9pPr>
                </a:lstStyle>
                <a:p>
                  <a:endParaRPr lang="zh-CN" altLang="en-US">
                    <a:ea typeface="宋体" pitchFamily="2" charset="-122"/>
                  </a:endParaRPr>
                </a:p>
              </p:txBody>
            </p:sp>
            <p:sp>
              <p:nvSpPr>
                <p:cNvPr id="205" name="Freeform 112">
                  <a:extLst>
                    <a:ext uri="{FF2B5EF4-FFF2-40B4-BE49-F238E27FC236}">
                      <a16:creationId xmlns:a16="http://schemas.microsoft.com/office/drawing/2014/main" id="{8D2E2270-E1A1-1673-438A-FCB811430C2B}"/>
                    </a:ext>
                  </a:extLst>
                </p:cNvPr>
                <p:cNvSpPr>
                  <a:spLocks/>
                </p:cNvSpPr>
                <p:nvPr/>
              </p:nvSpPr>
              <p:spPr bwMode="auto">
                <a:xfrm rot="5400000">
                  <a:off x="2222" y="3101"/>
                  <a:ext cx="33" cy="37"/>
                </a:xfrm>
                <a:custGeom>
                  <a:avLst/>
                  <a:gdLst>
                    <a:gd name="T0" fmla="*/ 7 w 432"/>
                    <a:gd name="T1" fmla="*/ 37 h 576"/>
                    <a:gd name="T2" fmla="*/ 0 w 432"/>
                    <a:gd name="T3" fmla="*/ 28 h 576"/>
                    <a:gd name="T4" fmla="*/ 0 w 432"/>
                    <a:gd name="T5" fmla="*/ 9 h 576"/>
                    <a:gd name="T6" fmla="*/ 7 w 432"/>
                    <a:gd name="T7" fmla="*/ 0 h 576"/>
                    <a:gd name="T8" fmla="*/ 26 w 432"/>
                    <a:gd name="T9" fmla="*/ 0 h 576"/>
                    <a:gd name="T10" fmla="*/ 33 w 432"/>
                    <a:gd name="T11" fmla="*/ 9 h 576"/>
                    <a:gd name="T12" fmla="*/ 33 w 432"/>
                    <a:gd name="T13" fmla="*/ 28 h 576"/>
                    <a:gd name="T14" fmla="*/ 26 w 432"/>
                    <a:gd name="T15" fmla="*/ 37 h 576"/>
                    <a:gd name="T16" fmla="*/ 7 w 432"/>
                    <a:gd name="T17" fmla="*/ 37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576">
                      <a:moveTo>
                        <a:pt x="96" y="576"/>
                      </a:moveTo>
                      <a:lnTo>
                        <a:pt x="0" y="432"/>
                      </a:lnTo>
                      <a:lnTo>
                        <a:pt x="0" y="144"/>
                      </a:lnTo>
                      <a:lnTo>
                        <a:pt x="96" y="0"/>
                      </a:lnTo>
                      <a:lnTo>
                        <a:pt x="336" y="0"/>
                      </a:lnTo>
                      <a:lnTo>
                        <a:pt x="432" y="144"/>
                      </a:lnTo>
                      <a:lnTo>
                        <a:pt x="432" y="432"/>
                      </a:lnTo>
                      <a:lnTo>
                        <a:pt x="336" y="576"/>
                      </a:lnTo>
                      <a:lnTo>
                        <a:pt x="96" y="576"/>
                      </a:lnTo>
                      <a:close/>
                    </a:path>
                  </a:pathLst>
                </a:custGeom>
                <a:solidFill>
                  <a:schemeClr val="folHlink"/>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6" name="Freeform 113">
                  <a:extLst>
                    <a:ext uri="{FF2B5EF4-FFF2-40B4-BE49-F238E27FC236}">
                      <a16:creationId xmlns:a16="http://schemas.microsoft.com/office/drawing/2014/main" id="{2D810894-3003-4DF0-BA32-3980F710F07D}"/>
                    </a:ext>
                  </a:extLst>
                </p:cNvPr>
                <p:cNvSpPr>
                  <a:spLocks/>
                </p:cNvSpPr>
                <p:nvPr/>
              </p:nvSpPr>
              <p:spPr bwMode="auto">
                <a:xfrm rot="5400000">
                  <a:off x="2250" y="3111"/>
                  <a:ext cx="33" cy="18"/>
                </a:xfrm>
                <a:custGeom>
                  <a:avLst/>
                  <a:gdLst>
                    <a:gd name="T0" fmla="*/ 7 w 432"/>
                    <a:gd name="T1" fmla="*/ 18 h 288"/>
                    <a:gd name="T2" fmla="*/ 26 w 432"/>
                    <a:gd name="T3" fmla="*/ 18 h 288"/>
                    <a:gd name="T4" fmla="*/ 33 w 432"/>
                    <a:gd name="T5" fmla="*/ 12 h 288"/>
                    <a:gd name="T6" fmla="*/ 33 w 432"/>
                    <a:gd name="T7" fmla="*/ 6 h 288"/>
                    <a:gd name="T8" fmla="*/ 26 w 432"/>
                    <a:gd name="T9" fmla="*/ 0 h 288"/>
                    <a:gd name="T10" fmla="*/ 7 w 432"/>
                    <a:gd name="T11" fmla="*/ 0 h 288"/>
                    <a:gd name="T12" fmla="*/ 0 w 432"/>
                    <a:gd name="T13" fmla="*/ 6 h 288"/>
                    <a:gd name="T14" fmla="*/ 0 w 432"/>
                    <a:gd name="T15" fmla="*/ 12 h 288"/>
                    <a:gd name="T16" fmla="*/ 7 w 432"/>
                    <a:gd name="T17" fmla="*/ 18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7" name="Freeform 114">
                  <a:extLst>
                    <a:ext uri="{FF2B5EF4-FFF2-40B4-BE49-F238E27FC236}">
                      <a16:creationId xmlns:a16="http://schemas.microsoft.com/office/drawing/2014/main" id="{B9F2BBB0-806A-CE18-0F53-FE0E56521F95}"/>
                    </a:ext>
                  </a:extLst>
                </p:cNvPr>
                <p:cNvSpPr>
                  <a:spLocks/>
                </p:cNvSpPr>
                <p:nvPr/>
              </p:nvSpPr>
              <p:spPr bwMode="auto">
                <a:xfrm rot="5400000">
                  <a:off x="2195" y="3111"/>
                  <a:ext cx="33" cy="17"/>
                </a:xfrm>
                <a:custGeom>
                  <a:avLst/>
                  <a:gdLst>
                    <a:gd name="T0" fmla="*/ 7 w 432"/>
                    <a:gd name="T1" fmla="*/ 17 h 288"/>
                    <a:gd name="T2" fmla="*/ 26 w 432"/>
                    <a:gd name="T3" fmla="*/ 17 h 288"/>
                    <a:gd name="T4" fmla="*/ 33 w 432"/>
                    <a:gd name="T5" fmla="*/ 11 h 288"/>
                    <a:gd name="T6" fmla="*/ 33 w 432"/>
                    <a:gd name="T7" fmla="*/ 6 h 288"/>
                    <a:gd name="T8" fmla="*/ 26 w 432"/>
                    <a:gd name="T9" fmla="*/ 0 h 288"/>
                    <a:gd name="T10" fmla="*/ 7 w 432"/>
                    <a:gd name="T11" fmla="*/ 0 h 288"/>
                    <a:gd name="T12" fmla="*/ 0 w 432"/>
                    <a:gd name="T13" fmla="*/ 6 h 288"/>
                    <a:gd name="T14" fmla="*/ 0 w 432"/>
                    <a:gd name="T15" fmla="*/ 11 h 288"/>
                    <a:gd name="T16" fmla="*/ 7 w 432"/>
                    <a:gd name="T17" fmla="*/ 17 h 2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32" h="288">
                      <a:moveTo>
                        <a:pt x="96" y="288"/>
                      </a:moveTo>
                      <a:lnTo>
                        <a:pt x="336" y="288"/>
                      </a:lnTo>
                      <a:lnTo>
                        <a:pt x="432" y="192"/>
                      </a:lnTo>
                      <a:lnTo>
                        <a:pt x="432" y="96"/>
                      </a:lnTo>
                      <a:lnTo>
                        <a:pt x="336" y="0"/>
                      </a:lnTo>
                      <a:lnTo>
                        <a:pt x="96" y="0"/>
                      </a:lnTo>
                      <a:lnTo>
                        <a:pt x="0" y="96"/>
                      </a:lnTo>
                      <a:lnTo>
                        <a:pt x="0" y="192"/>
                      </a:lnTo>
                      <a:lnTo>
                        <a:pt x="96" y="288"/>
                      </a:lnTo>
                      <a:close/>
                    </a:path>
                  </a:pathLst>
                </a:custGeom>
                <a:solidFill>
                  <a:schemeClr val="bg2"/>
                </a:soli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201" name="Freeform 115">
                <a:extLst>
                  <a:ext uri="{FF2B5EF4-FFF2-40B4-BE49-F238E27FC236}">
                    <a16:creationId xmlns:a16="http://schemas.microsoft.com/office/drawing/2014/main" id="{52E8202C-4AFA-D6FF-C450-F034B8C3222D}"/>
                  </a:ext>
                </a:extLst>
              </p:cNvPr>
              <p:cNvSpPr>
                <a:spLocks/>
              </p:cNvSpPr>
              <p:nvPr/>
            </p:nvSpPr>
            <p:spPr bwMode="auto">
              <a:xfrm>
                <a:off x="10233949" y="1677619"/>
                <a:ext cx="222446" cy="92686"/>
              </a:xfrm>
              <a:custGeom>
                <a:avLst/>
                <a:gdLst>
                  <a:gd name="T0" fmla="*/ 0 w 144"/>
                  <a:gd name="T1" fmla="*/ 48 h 96"/>
                  <a:gd name="T2" fmla="*/ 48 w 144"/>
                  <a:gd name="T3" fmla="*/ 0 h 96"/>
                  <a:gd name="T4" fmla="*/ 96 w 144"/>
                  <a:gd name="T5" fmla="*/ 0 h 96"/>
                  <a:gd name="T6" fmla="*/ 144 w 144"/>
                  <a:gd name="T7" fmla="*/ 48 h 96"/>
                  <a:gd name="T8" fmla="*/ 144 w 144"/>
                  <a:gd name="T9" fmla="*/ 96 h 96"/>
                  <a:gd name="T10" fmla="*/ 0 w 144"/>
                  <a:gd name="T11" fmla="*/ 96 h 96"/>
                  <a:gd name="T12" fmla="*/ 0 w 144"/>
                  <a:gd name="T13" fmla="*/ 48 h 96"/>
                </a:gdLst>
                <a:ahLst/>
                <a:cxnLst>
                  <a:cxn ang="0">
                    <a:pos x="T0" y="T1"/>
                  </a:cxn>
                  <a:cxn ang="0">
                    <a:pos x="T2" y="T3"/>
                  </a:cxn>
                  <a:cxn ang="0">
                    <a:pos x="T4" y="T5"/>
                  </a:cxn>
                  <a:cxn ang="0">
                    <a:pos x="T6" y="T7"/>
                  </a:cxn>
                  <a:cxn ang="0">
                    <a:pos x="T8" y="T9"/>
                  </a:cxn>
                  <a:cxn ang="0">
                    <a:pos x="T10" y="T11"/>
                  </a:cxn>
                  <a:cxn ang="0">
                    <a:pos x="T12" y="T13"/>
                  </a:cxn>
                </a:cxnLst>
                <a:rect l="0" t="0" r="r" b="b"/>
                <a:pathLst>
                  <a:path w="144" h="96">
                    <a:moveTo>
                      <a:pt x="0" y="48"/>
                    </a:moveTo>
                    <a:lnTo>
                      <a:pt x="48" y="0"/>
                    </a:lnTo>
                    <a:lnTo>
                      <a:pt x="96" y="0"/>
                    </a:lnTo>
                    <a:lnTo>
                      <a:pt x="144" y="48"/>
                    </a:lnTo>
                    <a:lnTo>
                      <a:pt x="144" y="96"/>
                    </a:lnTo>
                    <a:lnTo>
                      <a:pt x="0" y="96"/>
                    </a:lnTo>
                    <a:lnTo>
                      <a:pt x="0" y="48"/>
                    </a:lnTo>
                    <a:close/>
                  </a:path>
                </a:pathLst>
              </a:custGeom>
              <a:gradFill rotWithShape="0">
                <a:gsLst>
                  <a:gs pos="0">
                    <a:schemeClr val="bg1">
                      <a:gamma/>
                      <a:shade val="46275"/>
                      <a:invGamma/>
                    </a:schemeClr>
                  </a:gs>
                  <a:gs pos="50000">
                    <a:schemeClr val="bg1"/>
                  </a:gs>
                  <a:gs pos="100000">
                    <a:schemeClr val="bg1">
                      <a:gamma/>
                      <a:shade val="46275"/>
                      <a:invGamma/>
                    </a:schemeClr>
                  </a:gs>
                </a:gsLst>
                <a:lin ang="0" scaled="1"/>
              </a:gradFill>
              <a:ln w="9525" cap="flat"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zh-CN" altLang="en-US"/>
              </a:p>
            </p:txBody>
          </p:sp>
          <p:cxnSp>
            <p:nvCxnSpPr>
              <p:cNvPr id="202" name="直接箭头连接符 201">
                <a:extLst>
                  <a:ext uri="{FF2B5EF4-FFF2-40B4-BE49-F238E27FC236}">
                    <a16:creationId xmlns:a16="http://schemas.microsoft.com/office/drawing/2014/main" id="{0BA2871B-4965-C802-EE40-61A2B56BD21C}"/>
                  </a:ext>
                </a:extLst>
              </p:cNvPr>
              <p:cNvCxnSpPr/>
              <p:nvPr/>
            </p:nvCxnSpPr>
            <p:spPr bwMode="auto">
              <a:xfrm flipV="1">
                <a:off x="11387275" y="3197489"/>
                <a:ext cx="0" cy="1197374"/>
              </a:xfrm>
              <a:prstGeom prst="straightConnector1">
                <a:avLst/>
              </a:prstGeom>
              <a:solidFill>
                <a:schemeClr val="accent1"/>
              </a:solidFill>
              <a:ln w="254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3" name="Freeform 78">
                <a:extLst>
                  <a:ext uri="{FF2B5EF4-FFF2-40B4-BE49-F238E27FC236}">
                    <a16:creationId xmlns:a16="http://schemas.microsoft.com/office/drawing/2014/main" id="{2FDC3995-8D5C-551D-5ADA-5DF10325B0EA}"/>
                  </a:ext>
                </a:extLst>
              </p:cNvPr>
              <p:cNvSpPr>
                <a:spLocks/>
              </p:cNvSpPr>
              <p:nvPr/>
            </p:nvSpPr>
            <p:spPr bwMode="auto">
              <a:xfrm>
                <a:off x="10480017" y="5527496"/>
                <a:ext cx="1143000" cy="409575"/>
              </a:xfrm>
              <a:custGeom>
                <a:avLst/>
                <a:gdLst>
                  <a:gd name="T0" fmla="*/ 0 w 720"/>
                  <a:gd name="T1" fmla="*/ 0 h 258"/>
                  <a:gd name="T2" fmla="*/ 266700 w 720"/>
                  <a:gd name="T3" fmla="*/ 0 h 258"/>
                  <a:gd name="T4" fmla="*/ 415925 w 720"/>
                  <a:gd name="T5" fmla="*/ 304800 h 258"/>
                  <a:gd name="T6" fmla="*/ 720725 w 720"/>
                  <a:gd name="T7" fmla="*/ 304800 h 258"/>
                  <a:gd name="T8" fmla="*/ 876300 w 720"/>
                  <a:gd name="T9" fmla="*/ 0 h 258"/>
                  <a:gd name="T10" fmla="*/ 1143000 w 720"/>
                  <a:gd name="T11" fmla="*/ 0 h 258"/>
                  <a:gd name="T12" fmla="*/ 1143000 w 720"/>
                  <a:gd name="T13" fmla="*/ 76200 h 258"/>
                  <a:gd name="T14" fmla="*/ 949325 w 720"/>
                  <a:gd name="T15" fmla="*/ 76200 h 258"/>
                  <a:gd name="T16" fmla="*/ 781050 w 720"/>
                  <a:gd name="T17" fmla="*/ 409575 h 258"/>
                  <a:gd name="T18" fmla="*/ 361950 w 720"/>
                  <a:gd name="T19" fmla="*/ 409575 h 258"/>
                  <a:gd name="T20" fmla="*/ 190500 w 720"/>
                  <a:gd name="T21" fmla="*/ 76200 h 258"/>
                  <a:gd name="T22" fmla="*/ 0 w 720"/>
                  <a:gd name="T23" fmla="*/ 76200 h 258"/>
                  <a:gd name="T24" fmla="*/ 0 w 720"/>
                  <a:gd name="T25" fmla="*/ 0 h 25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20" h="258">
                    <a:moveTo>
                      <a:pt x="0" y="0"/>
                    </a:moveTo>
                    <a:lnTo>
                      <a:pt x="168" y="0"/>
                    </a:lnTo>
                    <a:lnTo>
                      <a:pt x="262" y="192"/>
                    </a:lnTo>
                    <a:lnTo>
                      <a:pt x="454" y="192"/>
                    </a:lnTo>
                    <a:lnTo>
                      <a:pt x="552" y="0"/>
                    </a:lnTo>
                    <a:lnTo>
                      <a:pt x="720" y="0"/>
                    </a:lnTo>
                    <a:lnTo>
                      <a:pt x="720" y="48"/>
                    </a:lnTo>
                    <a:lnTo>
                      <a:pt x="598" y="48"/>
                    </a:lnTo>
                    <a:lnTo>
                      <a:pt x="492" y="258"/>
                    </a:lnTo>
                    <a:lnTo>
                      <a:pt x="228" y="258"/>
                    </a:lnTo>
                    <a:lnTo>
                      <a:pt x="120" y="48"/>
                    </a:lnTo>
                    <a:lnTo>
                      <a:pt x="0" y="48"/>
                    </a:lnTo>
                    <a:lnTo>
                      <a:pt x="0" y="0"/>
                    </a:lnTo>
                    <a:close/>
                  </a:path>
                </a:pathLst>
              </a:custGeom>
              <a:solidFill>
                <a:srgbClr val="FF99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82" name="TextBox 177">
              <a:extLst>
                <a:ext uri="{FF2B5EF4-FFF2-40B4-BE49-F238E27FC236}">
                  <a16:creationId xmlns:a16="http://schemas.microsoft.com/office/drawing/2014/main" id="{D76146F4-CED0-C7CE-9667-94184EE012E5}"/>
                </a:ext>
              </a:extLst>
            </p:cNvPr>
            <p:cNvSpPr txBox="1"/>
            <p:nvPr/>
          </p:nvSpPr>
          <p:spPr>
            <a:xfrm>
              <a:off x="8203232" y="5695067"/>
              <a:ext cx="1461704" cy="430887"/>
            </a:xfrm>
            <a:prstGeom prst="rect">
              <a:avLst/>
            </a:prstGeom>
            <a:noFill/>
          </p:spPr>
          <p:txBody>
            <a:bodyPr wrap="square" rtlCol="0">
              <a:spAutoFit/>
            </a:bodyPr>
            <a:lstStyle/>
            <a:p>
              <a:pPr algn="ctr"/>
              <a:r>
                <a:rPr lang="zh-CN" altLang="en-US" sz="2200" b="1" dirty="0">
                  <a:latin typeface="华文中宋" panose="02010600040101010101" pitchFamily="2" charset="-122"/>
                  <a:ea typeface="华文中宋" panose="02010600040101010101" pitchFamily="2" charset="-122"/>
                </a:rPr>
                <a:t>快速退回</a:t>
              </a:r>
            </a:p>
          </p:txBody>
        </p:sp>
      </p:grpSp>
      <p:sp>
        <p:nvSpPr>
          <p:cNvPr id="224" name="文本框 223">
            <a:extLst>
              <a:ext uri="{FF2B5EF4-FFF2-40B4-BE49-F238E27FC236}">
                <a16:creationId xmlns:a16="http://schemas.microsoft.com/office/drawing/2014/main" id="{FE53940C-3849-483A-B87E-9C5634082390}"/>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Tree>
    <p:extLst>
      <p:ext uri="{BB962C8B-B14F-4D97-AF65-F5344CB8AC3E}">
        <p14:creationId xmlns:p14="http://schemas.microsoft.com/office/powerpoint/2010/main" val="706226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mod="1">
    <p:ext uri="{6950BFC3-D8DA-4A85-94F7-54DA5524770B}">
      <p188:commentRel xmlns="" xmlns:p188="http://schemas.microsoft.com/office/powerpoint/2018/8/main" r:id="rId3"/>
    </p:ext>
  </p:extLs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压力回路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2.7 </a:t>
            </a:r>
            <a:r>
              <a:rPr lang="zh-CN" altLang="en-US" sz="2800" b="1" dirty="0">
                <a:solidFill>
                  <a:srgbClr val="003F88"/>
                </a:solidFill>
                <a:latin typeface="+mn-ea"/>
              </a:rPr>
              <a:t>卸压回路</a:t>
            </a:r>
          </a:p>
        </p:txBody>
      </p:sp>
      <p:sp>
        <p:nvSpPr>
          <p:cNvPr id="4" name="矩形 18">
            <a:extLst>
              <a:ext uri="{FF2B5EF4-FFF2-40B4-BE49-F238E27FC236}">
                <a16:creationId xmlns:a16="http://schemas.microsoft.com/office/drawing/2014/main" id="{52BC7FE9-CFD5-D7A6-C7FC-5F7EEC35518E}"/>
              </a:ext>
            </a:extLst>
          </p:cNvPr>
          <p:cNvSpPr/>
          <p:nvPr/>
        </p:nvSpPr>
        <p:spPr>
          <a:xfrm>
            <a:off x="638173" y="1888882"/>
            <a:ext cx="7616827" cy="4192430"/>
          </a:xfrm>
          <a:prstGeom prst="rect">
            <a:avLst/>
          </a:prstGeom>
        </p:spPr>
        <p:txBody>
          <a:bodyPr wrap="square">
            <a:spAutoFit/>
          </a:bodyPr>
          <a:lstStyle/>
          <a:p>
            <a:pPr eaLnBrk="0" fontAlgn="base" hangingPunct="0">
              <a:lnSpc>
                <a:spcPct val="150000"/>
              </a:lnSpc>
              <a:spcBef>
                <a:spcPct val="0"/>
              </a:spcBef>
              <a:spcAft>
                <a:spcPct val="0"/>
              </a:spcAft>
            </a:pPr>
            <a:r>
              <a:rPr lang="zh-CN" altLang="en-US" sz="2000" b="1" dirty="0"/>
              <a:t>作用：</a:t>
            </a:r>
            <a:r>
              <a:rPr lang="zh-CN" altLang="en-US" sz="2000" dirty="0"/>
              <a:t>使高压大容量液压缸中存储的能量缓缓释放，</a:t>
            </a:r>
            <a:r>
              <a:rPr lang="zh-CN" altLang="en-US" sz="2000" dirty="0">
                <a:solidFill>
                  <a:srgbClr val="FF0000"/>
                </a:solidFill>
              </a:rPr>
              <a:t>避免产生液压冲击</a:t>
            </a:r>
            <a:r>
              <a:rPr lang="zh-CN" altLang="en-US" sz="2000" dirty="0"/>
              <a:t>。</a:t>
            </a:r>
            <a:endParaRPr lang="en-US" altLang="zh-CN" sz="2000" dirty="0"/>
          </a:p>
          <a:p>
            <a:pPr eaLnBrk="0" fontAlgn="base" hangingPunct="0">
              <a:lnSpc>
                <a:spcPct val="150000"/>
              </a:lnSpc>
              <a:spcBef>
                <a:spcPct val="0"/>
              </a:spcBef>
              <a:spcAft>
                <a:spcPct val="0"/>
              </a:spcAft>
            </a:pPr>
            <a:endParaRPr lang="zh-CN" altLang="en-US" sz="2000" dirty="0"/>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dirty="0"/>
              <a:t>换向阀处于中位（液压泵卸荷），液压缸上腔的高压油通过节流阀</a:t>
            </a:r>
            <a:r>
              <a:rPr lang="en-US" altLang="zh-CN" sz="2000" dirty="0"/>
              <a:t>6</a:t>
            </a:r>
            <a:r>
              <a:rPr lang="zh-CN" altLang="en-US" sz="2000" dirty="0"/>
              <a:t>、单向阀</a:t>
            </a:r>
            <a:r>
              <a:rPr lang="en-US" altLang="zh-CN" sz="2000" dirty="0"/>
              <a:t>7</a:t>
            </a:r>
            <a:r>
              <a:rPr lang="zh-CN" altLang="en-US" sz="2000" dirty="0"/>
              <a:t>、换向阀</a:t>
            </a:r>
            <a:r>
              <a:rPr lang="en-US" altLang="zh-CN" sz="2000" dirty="0"/>
              <a:t>5</a:t>
            </a:r>
            <a:r>
              <a:rPr lang="zh-CN" altLang="en-US" sz="2000" dirty="0"/>
              <a:t>卸压。</a:t>
            </a: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b="1" dirty="0">
                <a:solidFill>
                  <a:srgbClr val="FF0000"/>
                </a:solidFill>
              </a:rPr>
              <a:t>卸压快慢由节流阀</a:t>
            </a:r>
            <a:r>
              <a:rPr lang="en-US" altLang="zh-CN" sz="2000" b="1" dirty="0">
                <a:solidFill>
                  <a:srgbClr val="FF0000"/>
                </a:solidFill>
              </a:rPr>
              <a:t>6</a:t>
            </a:r>
            <a:r>
              <a:rPr lang="zh-CN" altLang="en-US" sz="2000" b="1" dirty="0">
                <a:solidFill>
                  <a:srgbClr val="FF0000"/>
                </a:solidFill>
              </a:rPr>
              <a:t>调节</a:t>
            </a:r>
            <a:r>
              <a:rPr lang="zh-CN" altLang="en-US" sz="2000" dirty="0"/>
              <a:t>。</a:t>
            </a:r>
          </a:p>
          <a:p>
            <a:pPr marL="342900" indent="-342900" eaLnBrk="0" fontAlgn="base" hangingPunct="0">
              <a:lnSpc>
                <a:spcPct val="150000"/>
              </a:lnSpc>
              <a:spcBef>
                <a:spcPct val="0"/>
              </a:spcBef>
              <a:spcAft>
                <a:spcPct val="0"/>
              </a:spcAft>
              <a:buFont typeface="Wingdings" panose="05000000000000000000" pitchFamily="2" charset="2"/>
              <a:buChar char="Ø"/>
            </a:pPr>
            <a:r>
              <a:rPr lang="zh-CN" altLang="en-US" sz="2000" b="1" dirty="0">
                <a:solidFill>
                  <a:srgbClr val="0070C0"/>
                </a:solidFill>
              </a:rPr>
              <a:t>压力降到压力继电器</a:t>
            </a:r>
            <a:r>
              <a:rPr lang="en-US" altLang="zh-CN" sz="2000" b="1" dirty="0">
                <a:solidFill>
                  <a:srgbClr val="0070C0"/>
                </a:solidFill>
              </a:rPr>
              <a:t>4</a:t>
            </a:r>
            <a:r>
              <a:rPr lang="zh-CN" altLang="en-US" sz="2000" b="1" dirty="0">
                <a:solidFill>
                  <a:srgbClr val="0070C0"/>
                </a:solidFill>
              </a:rPr>
              <a:t>的设定值后</a:t>
            </a:r>
            <a:r>
              <a:rPr lang="zh-CN" altLang="en-US" sz="2000" dirty="0"/>
              <a:t>，换向阀</a:t>
            </a:r>
            <a:r>
              <a:rPr lang="en-US" altLang="zh-CN" sz="2000" dirty="0"/>
              <a:t>5</a:t>
            </a:r>
            <a:r>
              <a:rPr lang="zh-CN" altLang="en-US" sz="2000" dirty="0"/>
              <a:t>切换左位，液控单向阀</a:t>
            </a:r>
            <a:r>
              <a:rPr lang="en-US" altLang="zh-CN" sz="2000" dirty="0"/>
              <a:t>2</a:t>
            </a:r>
            <a:r>
              <a:rPr lang="zh-CN" altLang="en-US" sz="2000" dirty="0"/>
              <a:t>打开，液压缸上腔的油通过液控单向阀</a:t>
            </a:r>
            <a:r>
              <a:rPr lang="en-US" altLang="zh-CN" sz="2000" dirty="0"/>
              <a:t>2</a:t>
            </a:r>
            <a:r>
              <a:rPr lang="zh-CN" altLang="en-US" sz="2000" dirty="0"/>
              <a:t>排到顶部的副油箱</a:t>
            </a:r>
            <a:r>
              <a:rPr lang="en-US" altLang="zh-CN" sz="2000" dirty="0"/>
              <a:t>3</a:t>
            </a:r>
            <a:r>
              <a:rPr lang="zh-CN" altLang="en-US" sz="2000" dirty="0"/>
              <a:t>中，活塞向上退回。</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722640" y="5640521"/>
            <a:ext cx="3276427" cy="400110"/>
          </a:xfrm>
          <a:prstGeom prst="rect">
            <a:avLst/>
          </a:prstGeom>
          <a:noFill/>
        </p:spPr>
        <p:txBody>
          <a:bodyPr wrap="square">
            <a:spAutoFit/>
          </a:bodyPr>
          <a:lstStyle/>
          <a:p>
            <a:pPr algn="ctr"/>
            <a:r>
              <a:rPr lang="zh-CN" altLang="en-US" sz="2000" dirty="0">
                <a:latin typeface="微软雅黑" panose="020B0503020204020204" pitchFamily="34" charset="-122"/>
                <a:ea typeface="微软雅黑" panose="020B0503020204020204" pitchFamily="34" charset="-122"/>
              </a:rPr>
              <a:t>节流阀卸压回路</a:t>
            </a:r>
          </a:p>
        </p:txBody>
      </p:sp>
      <p:pic>
        <p:nvPicPr>
          <p:cNvPr id="10" name="图片 6">
            <a:extLst>
              <a:ext uri="{FF2B5EF4-FFF2-40B4-BE49-F238E27FC236}">
                <a16:creationId xmlns:a16="http://schemas.microsoft.com/office/drawing/2014/main" id="{32BD680A-7650-EFF0-EEA5-E9B762D2B168}"/>
              </a:ext>
            </a:extLst>
          </p:cNvPr>
          <p:cNvPicPr>
            <a:picLocks noChangeAspect="1"/>
          </p:cNvPicPr>
          <p:nvPr/>
        </p:nvPicPr>
        <p:blipFill>
          <a:blip r:embed="rId3"/>
          <a:stretch>
            <a:fillRect/>
          </a:stretch>
        </p:blipFill>
        <p:spPr>
          <a:xfrm>
            <a:off x="8397178" y="1888882"/>
            <a:ext cx="3414316" cy="3555403"/>
          </a:xfrm>
          <a:prstGeom prst="rect">
            <a:avLst/>
          </a:prstGeom>
        </p:spPr>
      </p:pic>
    </p:spTree>
    <p:extLst>
      <p:ext uri="{BB962C8B-B14F-4D97-AF65-F5344CB8AC3E}">
        <p14:creationId xmlns:p14="http://schemas.microsoft.com/office/powerpoint/2010/main" val="23056811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888971FF-38D5-43EF-AEAB-1FCD8FCDA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7318" y="487688"/>
            <a:ext cx="3377364" cy="938156"/>
          </a:xfrm>
          <a:prstGeom prst="rect">
            <a:avLst/>
          </a:prstGeom>
        </p:spPr>
      </p:pic>
      <p:sp>
        <p:nvSpPr>
          <p:cNvPr id="10" name="矩形 9">
            <a:extLst>
              <a:ext uri="{FF2B5EF4-FFF2-40B4-BE49-F238E27FC236}">
                <a16:creationId xmlns:a16="http://schemas.microsoft.com/office/drawing/2014/main" id="{0F56DD7F-8255-476B-9EC6-C53321F92149}"/>
              </a:ext>
            </a:extLst>
          </p:cNvPr>
          <p:cNvSpPr/>
          <p:nvPr/>
        </p:nvSpPr>
        <p:spPr>
          <a:xfrm>
            <a:off x="0" y="2279259"/>
            <a:ext cx="12192000" cy="2299792"/>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6000" spc="300" dirty="0">
              <a:latin typeface="黑体" panose="02010609060101010101" pitchFamily="49" charset="-122"/>
              <a:ea typeface="黑体" panose="02010609060101010101" pitchFamily="49" charset="-122"/>
            </a:endParaRPr>
          </a:p>
        </p:txBody>
      </p:sp>
      <p:sp>
        <p:nvSpPr>
          <p:cNvPr id="15" name="平行四边形 14">
            <a:extLst>
              <a:ext uri="{FF2B5EF4-FFF2-40B4-BE49-F238E27FC236}">
                <a16:creationId xmlns:a16="http://schemas.microsoft.com/office/drawing/2014/main" id="{D7F0E690-6592-4097-BF51-75E7C382F258}"/>
              </a:ext>
            </a:extLst>
          </p:cNvPr>
          <p:cNvSpPr/>
          <p:nvPr/>
        </p:nvSpPr>
        <p:spPr>
          <a:xfrm>
            <a:off x="-185979" y="2032990"/>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a:extLst>
              <a:ext uri="{FF2B5EF4-FFF2-40B4-BE49-F238E27FC236}">
                <a16:creationId xmlns:a16="http://schemas.microsoft.com/office/drawing/2014/main" id="{A094E650-D683-4077-B8CC-8A016732BD2B}"/>
              </a:ext>
            </a:extLst>
          </p:cNvPr>
          <p:cNvSpPr/>
          <p:nvPr/>
        </p:nvSpPr>
        <p:spPr>
          <a:xfrm>
            <a:off x="7421105" y="4703038"/>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1B61AB4E-87B5-41B4-9759-DE4CE9B4F88B}"/>
              </a:ext>
            </a:extLst>
          </p:cNvPr>
          <p:cNvSpPr/>
          <p:nvPr/>
        </p:nvSpPr>
        <p:spPr>
          <a:xfrm>
            <a:off x="5192548" y="2921168"/>
            <a:ext cx="1806905" cy="1015663"/>
          </a:xfrm>
          <a:prstGeom prst="rect">
            <a:avLst/>
          </a:prstGeom>
        </p:spPr>
        <p:txBody>
          <a:bodyPr wrap="none">
            <a:spAutoFit/>
          </a:bodyPr>
          <a:lstStyle/>
          <a:p>
            <a:pPr algn="ctr"/>
            <a:r>
              <a:rPr lang="zh-CN" altLang="en-US" sz="6000" b="1" spc="300" dirty="0">
                <a:solidFill>
                  <a:schemeClr val="bg1"/>
                </a:solidFill>
                <a:latin typeface="黑体" panose="02010609060101010101" pitchFamily="49" charset="-122"/>
                <a:ea typeface="黑体" panose="02010609060101010101" pitchFamily="49" charset="-122"/>
              </a:rPr>
              <a:t>谢谢</a:t>
            </a:r>
            <a:endParaRPr lang="en-US" altLang="zh-CN" sz="6000" b="1" spc="300" dirty="0">
              <a:solidFill>
                <a:schemeClr val="bg1"/>
              </a:solidFill>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9890505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微arial">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2173</TotalTime>
  <Words>2705</Words>
  <Application>Microsoft Office PowerPoint</Application>
  <PresentationFormat>宽屏</PresentationFormat>
  <Paragraphs>194</Paragraphs>
  <Slides>27</Slides>
  <Notes>4</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27</vt:i4>
      </vt:variant>
    </vt:vector>
  </HeadingPairs>
  <TitlesOfParts>
    <vt:vector size="39" baseType="lpstr">
      <vt:lpstr>等线</vt:lpstr>
      <vt:lpstr>黑体</vt:lpstr>
      <vt:lpstr>华文中宋</vt:lpstr>
      <vt:lpstr>楷体_GB2312</vt:lpstr>
      <vt:lpstr>宋体</vt:lpstr>
      <vt:lpstr>微软雅黑</vt:lpstr>
      <vt:lpstr>Arial</vt:lpstr>
      <vt:lpstr>Cambria Math</vt:lpstr>
      <vt:lpstr>Comic Sans MS</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dc:creator>
  <cp:lastModifiedBy>dell</cp:lastModifiedBy>
  <cp:revision>75</cp:revision>
  <dcterms:created xsi:type="dcterms:W3CDTF">2024-06-04T23:12:24Z</dcterms:created>
  <dcterms:modified xsi:type="dcterms:W3CDTF">2025-12-21T08:29:16Z</dcterms:modified>
</cp:coreProperties>
</file>