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377" r:id="rId2"/>
    <p:sldId id="379" r:id="rId3"/>
    <p:sldId id="381" r:id="rId4"/>
    <p:sldId id="347" r:id="rId5"/>
    <p:sldId id="380" r:id="rId6"/>
    <p:sldId id="378" r:id="rId7"/>
    <p:sldId id="348" r:id="rId8"/>
    <p:sldId id="349" r:id="rId9"/>
    <p:sldId id="350" r:id="rId10"/>
    <p:sldId id="359" r:id="rId11"/>
    <p:sldId id="360" r:id="rId12"/>
    <p:sldId id="361" r:id="rId13"/>
    <p:sldId id="353" r:id="rId14"/>
    <p:sldId id="354" r:id="rId15"/>
    <p:sldId id="355" r:id="rId16"/>
    <p:sldId id="389" r:id="rId17"/>
    <p:sldId id="356" r:id="rId18"/>
    <p:sldId id="357" r:id="rId19"/>
    <p:sldId id="358" r:id="rId20"/>
    <p:sldId id="383" r:id="rId21"/>
    <p:sldId id="362" r:id="rId22"/>
    <p:sldId id="363" r:id="rId23"/>
    <p:sldId id="364" r:id="rId24"/>
    <p:sldId id="365" r:id="rId25"/>
    <p:sldId id="367" r:id="rId26"/>
    <p:sldId id="371" r:id="rId27"/>
    <p:sldId id="372" r:id="rId28"/>
    <p:sldId id="373" r:id="rId29"/>
    <p:sldId id="376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涛 汪" initials="涛" lastIdx="3" clrIdx="0">
    <p:extLst>
      <p:ext uri="{19B8F6BF-5375-455C-9EA6-DF929625EA0E}">
        <p15:presenceInfo xmlns:p15="http://schemas.microsoft.com/office/powerpoint/2012/main" userId="641e6ae85b12e6f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8"/>
    <a:srgbClr val="0000FF"/>
    <a:srgbClr val="3A68BC"/>
    <a:srgbClr val="8994BD"/>
    <a:srgbClr val="96A2D0"/>
    <a:srgbClr val="93BFF5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25" autoAdjust="0"/>
    <p:restoredTop sz="94660"/>
  </p:normalViewPr>
  <p:slideViewPr>
    <p:cSldViewPr snapToGrid="0">
      <p:cViewPr varScale="1">
        <p:scale>
          <a:sx n="141" d="100"/>
          <a:sy n="141" d="100"/>
        </p:scale>
        <p:origin x="11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Relationship Id="rId4" Type="http://schemas.openxmlformats.org/officeDocument/2006/relationships/image" Target="../media/image19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image" Target="../media/image22.wmf"/><Relationship Id="rId7" Type="http://schemas.openxmlformats.org/officeDocument/2006/relationships/image" Target="../media/image26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Relationship Id="rId6" Type="http://schemas.openxmlformats.org/officeDocument/2006/relationships/image" Target="../media/image25.wmf"/><Relationship Id="rId5" Type="http://schemas.openxmlformats.org/officeDocument/2006/relationships/image" Target="../media/image24.wmf"/><Relationship Id="rId4" Type="http://schemas.openxmlformats.org/officeDocument/2006/relationships/image" Target="../media/image23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3" Type="http://schemas.openxmlformats.org/officeDocument/2006/relationships/image" Target="../media/image30.wmf"/><Relationship Id="rId7" Type="http://schemas.openxmlformats.org/officeDocument/2006/relationships/image" Target="../media/image34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Relationship Id="rId6" Type="http://schemas.openxmlformats.org/officeDocument/2006/relationships/image" Target="../media/image33.wmf"/><Relationship Id="rId11" Type="http://schemas.openxmlformats.org/officeDocument/2006/relationships/image" Target="../media/image38.wmf"/><Relationship Id="rId5" Type="http://schemas.openxmlformats.org/officeDocument/2006/relationships/image" Target="../media/image32.wmf"/><Relationship Id="rId10" Type="http://schemas.openxmlformats.org/officeDocument/2006/relationships/image" Target="../media/image37.wmf"/><Relationship Id="rId4" Type="http://schemas.openxmlformats.org/officeDocument/2006/relationships/image" Target="../media/image31.wmf"/><Relationship Id="rId9" Type="http://schemas.openxmlformats.org/officeDocument/2006/relationships/image" Target="../media/image36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image" Target="../media/image41.wmf"/><Relationship Id="rId1" Type="http://schemas.openxmlformats.org/officeDocument/2006/relationships/image" Target="../media/image40.wmf"/><Relationship Id="rId5" Type="http://schemas.openxmlformats.org/officeDocument/2006/relationships/image" Target="../media/image44.wmf"/><Relationship Id="rId4" Type="http://schemas.openxmlformats.org/officeDocument/2006/relationships/image" Target="../media/image43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3" Type="http://schemas.openxmlformats.org/officeDocument/2006/relationships/image" Target="../media/image47.wmf"/><Relationship Id="rId7" Type="http://schemas.openxmlformats.org/officeDocument/2006/relationships/image" Target="../media/image50.wmf"/><Relationship Id="rId2" Type="http://schemas.openxmlformats.org/officeDocument/2006/relationships/image" Target="../media/image46.wmf"/><Relationship Id="rId1" Type="http://schemas.openxmlformats.org/officeDocument/2006/relationships/image" Target="../media/image45.wmf"/><Relationship Id="rId6" Type="http://schemas.openxmlformats.org/officeDocument/2006/relationships/image" Target="../media/image49.wmf"/><Relationship Id="rId11" Type="http://schemas.openxmlformats.org/officeDocument/2006/relationships/image" Target="../media/image54.wmf"/><Relationship Id="rId5" Type="http://schemas.openxmlformats.org/officeDocument/2006/relationships/image" Target="../media/image48.wmf"/><Relationship Id="rId10" Type="http://schemas.openxmlformats.org/officeDocument/2006/relationships/image" Target="../media/image53.wmf"/><Relationship Id="rId4" Type="http://schemas.openxmlformats.org/officeDocument/2006/relationships/image" Target="../media/image41.wmf"/><Relationship Id="rId9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55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A72E5AC-2192-4030-97A2-53594B17BD4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849B9F5-AB33-4E09-A3B9-5F0D37957E2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7C35B-3EB2-4824-AF4C-03CFF0193FD3}" type="datetimeFigureOut">
              <a:rPr lang="zh-CN" altLang="en-US" smtClean="0"/>
              <a:t>2025-12-29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88E8FC4-0A1E-43EB-ACDB-AC81794184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210EE4F-BA98-4DCD-B7F5-93EE14D90E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768E90-EDB1-4D80-B44D-9949F864D3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8264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EBC71-470F-4178-8939-B7F43C998C3E}" type="datetimeFigureOut">
              <a:rPr lang="zh-CN" altLang="en-US" smtClean="0"/>
              <a:t>2025-12-29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F53EF-5364-44E3-BFA2-84231755F7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964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9304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3F88"/>
                </a:solidFill>
              </a:rPr>
              <a:t>容积调速回路介绍和分类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4212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3F88"/>
                </a:solidFill>
              </a:rPr>
              <a:t>容积调速回路介绍和分类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4129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3F88"/>
                </a:solidFill>
              </a:rPr>
              <a:t>容积调速回路介绍和分类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253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3F88"/>
                </a:solidFill>
              </a:rPr>
              <a:t>容积调速回路介绍和分类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5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3F88"/>
                </a:solidFill>
              </a:rPr>
              <a:t>容积调速回路介绍和分类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9437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3F88"/>
                </a:solidFill>
              </a:rPr>
              <a:t>容积调速回路分类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0648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3F88"/>
                </a:solidFill>
              </a:rPr>
              <a:t>容积调速回路分类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59644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泵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缸式开式调速特性和泵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缸式闭式容积调速回路介绍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2494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泵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缸式闭式容积调速回路换向过程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0342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+mj-ea"/>
                <a:ea typeface="+mj-ea"/>
              </a:rPr>
              <a:t>泵</a:t>
            </a:r>
            <a:r>
              <a:rPr lang="en-US" altLang="zh-CN" sz="1200" dirty="0">
                <a:latin typeface="+mj-ea"/>
                <a:ea typeface="+mj-ea"/>
              </a:rPr>
              <a:t>-</a:t>
            </a:r>
            <a:r>
              <a:rPr lang="zh-CN" altLang="en-US" sz="1200" dirty="0">
                <a:latin typeface="+mj-ea"/>
                <a:ea typeface="+mj-ea"/>
              </a:rPr>
              <a:t>马达式容积调速回路分类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+mn-ea"/>
              </a:rPr>
              <a:t>变量泵</a:t>
            </a:r>
            <a:r>
              <a:rPr lang="en-US" altLang="zh-CN" sz="1200" dirty="0">
                <a:latin typeface="+mn-ea"/>
              </a:rPr>
              <a:t>-</a:t>
            </a:r>
            <a:r>
              <a:rPr lang="zh-CN" altLang="en-US" sz="1200" dirty="0">
                <a:latin typeface="+mn-ea"/>
              </a:rPr>
              <a:t>定量马达原理和特点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2185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变量泵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定量马达工作特性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84547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+mn-ea"/>
              </a:rPr>
              <a:t>定量泵</a:t>
            </a:r>
            <a:r>
              <a:rPr lang="en-US" altLang="zh-CN" sz="1200" dirty="0">
                <a:latin typeface="+mn-ea"/>
              </a:rPr>
              <a:t>-</a:t>
            </a:r>
            <a:r>
              <a:rPr lang="zh-CN" altLang="en-US" sz="1200" dirty="0">
                <a:latin typeface="+mn-ea"/>
              </a:rPr>
              <a:t>变量马达介绍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52823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+mn-ea"/>
              </a:rPr>
              <a:t>定量泵</a:t>
            </a:r>
            <a:r>
              <a:rPr lang="en-US" altLang="zh-CN" sz="1200" dirty="0">
                <a:latin typeface="+mn-ea"/>
              </a:rPr>
              <a:t>-</a:t>
            </a:r>
            <a:r>
              <a:rPr lang="zh-CN" altLang="en-US" sz="1200" dirty="0">
                <a:latin typeface="+mn-ea"/>
              </a:rPr>
              <a:t>变量马达工作特性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7574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+mn-ea"/>
              </a:rPr>
              <a:t>变量泵</a:t>
            </a:r>
            <a:r>
              <a:rPr lang="en-US" altLang="zh-CN" sz="1200" dirty="0">
                <a:latin typeface="+mn-ea"/>
              </a:rPr>
              <a:t>-</a:t>
            </a:r>
            <a:r>
              <a:rPr lang="zh-CN" altLang="en-US" sz="1200" dirty="0">
                <a:latin typeface="+mn-ea"/>
              </a:rPr>
              <a:t>变量马达调速方式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83493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+mn-ea"/>
              </a:rPr>
              <a:t>变量泵</a:t>
            </a:r>
            <a:r>
              <a:rPr lang="en-US" altLang="zh-CN" sz="1200" dirty="0">
                <a:latin typeface="+mn-ea"/>
              </a:rPr>
              <a:t>-</a:t>
            </a:r>
            <a:r>
              <a:rPr lang="zh-CN" altLang="en-US" sz="1200" dirty="0">
                <a:latin typeface="+mn-ea"/>
              </a:rPr>
              <a:t>变量马达调速方式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16543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1" dirty="0">
                <a:solidFill>
                  <a:srgbClr val="003F88"/>
                </a:solidFill>
              </a:rPr>
              <a:t>容积节流调速回路原理和特点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75234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定压式容积节流调速工作原理和机械特性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28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73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D4560CC-7CE4-4A70-BA8E-FCC3D7A7F2D1}"/>
              </a:ext>
            </a:extLst>
          </p:cNvPr>
          <p:cNvSpPr txBox="1"/>
          <p:nvPr userDrawn="1"/>
        </p:nvSpPr>
        <p:spPr>
          <a:xfrm>
            <a:off x="429656" y="135415"/>
            <a:ext cx="5534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003F88"/>
                </a:solidFill>
                <a:latin typeface="+mn-ea"/>
              </a:rPr>
              <a:t>13.1 </a:t>
            </a:r>
            <a:r>
              <a:rPr lang="zh-CN" altLang="en-US" sz="3600" b="1" dirty="0">
                <a:solidFill>
                  <a:srgbClr val="003F88"/>
                </a:solidFill>
                <a:latin typeface="+mn-ea"/>
              </a:rPr>
              <a:t>容积调速回路</a:t>
            </a:r>
          </a:p>
        </p:txBody>
      </p:sp>
    </p:spTree>
    <p:extLst>
      <p:ext uri="{BB962C8B-B14F-4D97-AF65-F5344CB8AC3E}">
        <p14:creationId xmlns:p14="http://schemas.microsoft.com/office/powerpoint/2010/main" val="4232478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ED2C534-3D42-4CB4-8F50-A14259C6FF00}"/>
              </a:ext>
            </a:extLst>
          </p:cNvPr>
          <p:cNvSpPr txBox="1"/>
          <p:nvPr userDrawn="1"/>
        </p:nvSpPr>
        <p:spPr>
          <a:xfrm>
            <a:off x="429656" y="135415"/>
            <a:ext cx="5534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003F88"/>
                </a:solidFill>
                <a:latin typeface="+mn-ea"/>
              </a:rPr>
              <a:t>13.2 </a:t>
            </a:r>
            <a:r>
              <a:rPr lang="zh-CN" altLang="en-US" sz="3600" b="1" dirty="0">
                <a:solidFill>
                  <a:srgbClr val="003F88"/>
                </a:solidFill>
                <a:latin typeface="+mn-ea"/>
              </a:rPr>
              <a:t>容积节流调速回路</a:t>
            </a:r>
          </a:p>
        </p:txBody>
      </p:sp>
    </p:spTree>
    <p:extLst>
      <p:ext uri="{BB962C8B-B14F-4D97-AF65-F5344CB8AC3E}">
        <p14:creationId xmlns:p14="http://schemas.microsoft.com/office/powerpoint/2010/main" val="263800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FBE322-D358-4D65-A825-9FFDCE9F371B}"/>
              </a:ext>
            </a:extLst>
          </p:cNvPr>
          <p:cNvSpPr txBox="1"/>
          <p:nvPr userDrawn="1"/>
        </p:nvSpPr>
        <p:spPr>
          <a:xfrm>
            <a:off x="429655" y="135415"/>
            <a:ext cx="74224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003F88"/>
                </a:solidFill>
                <a:latin typeface="+mn-ea"/>
              </a:rPr>
              <a:t>13.3 </a:t>
            </a:r>
            <a:r>
              <a:rPr lang="zh-CN" altLang="en-US" sz="3600" b="1" dirty="0">
                <a:solidFill>
                  <a:srgbClr val="003F88"/>
                </a:solidFill>
                <a:latin typeface="+mn-ea"/>
              </a:rPr>
              <a:t>三种调速回路的比较和选用</a:t>
            </a:r>
          </a:p>
        </p:txBody>
      </p:sp>
    </p:spTree>
    <p:extLst>
      <p:ext uri="{BB962C8B-B14F-4D97-AF65-F5344CB8AC3E}">
        <p14:creationId xmlns:p14="http://schemas.microsoft.com/office/powerpoint/2010/main" val="3276197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018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9023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8672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5821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9652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9054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63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C0FD67-D584-4C62-AD49-0A546D33FD2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69794E1E-10A2-47A6-B7CB-DDDAEB3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8E01514-413E-465A-A772-FE91A8F2B6A2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2913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B86BAA8-73FE-4F17-AF63-0E1EC62CADC4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177E689D-6B54-44A2-A6AC-4C881241B00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2172B2B9-9870-4F12-A5EA-C38CFBAB1DE9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8293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08D63C4-F3BF-47AE-BF48-374821BC584C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>
            <a:extLst>
              <a:ext uri="{FF2B5EF4-FFF2-40B4-BE49-F238E27FC236}">
                <a16:creationId xmlns:a16="http://schemas.microsoft.com/office/drawing/2014/main" id="{19EDC021-4A38-48D5-918E-A81A880E2A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95512C91-8CAE-4B2C-A1C9-E26E8C670F40}"/>
              </a:ext>
            </a:extLst>
          </p:cNvPr>
          <p:cNvSpPr/>
          <p:nvPr userDrawn="1"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764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4916B93-2D4B-4C34-A8CE-A28E44485E4A}"/>
              </a:ext>
            </a:extLst>
          </p:cNvPr>
          <p:cNvCxnSpPr>
            <a:cxnSpLocks/>
          </p:cNvCxnSpPr>
          <p:nvPr userDrawn="1"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45E1B65E-7CA9-4C93-995E-2E00100F553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3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55" r:id="rId13"/>
    <p:sldLayoutId id="2147483660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17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19.wmf"/><Relationship Id="rId5" Type="http://schemas.openxmlformats.org/officeDocument/2006/relationships/image" Target="../media/image16.wmf"/><Relationship Id="rId10" Type="http://schemas.openxmlformats.org/officeDocument/2006/relationships/oleObject" Target="../embeddings/oleObject4.bin"/><Relationship Id="rId4" Type="http://schemas.openxmlformats.org/officeDocument/2006/relationships/oleObject" Target="../embeddings/oleObject1.bin"/><Relationship Id="rId9" Type="http://schemas.openxmlformats.org/officeDocument/2006/relationships/image" Target="../media/image18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13" Type="http://schemas.openxmlformats.org/officeDocument/2006/relationships/image" Target="../media/image24.wmf"/><Relationship Id="rId18" Type="http://schemas.openxmlformats.org/officeDocument/2006/relationships/oleObject" Target="../embeddings/oleObject12.bin"/><Relationship Id="rId3" Type="http://schemas.openxmlformats.org/officeDocument/2006/relationships/notesSlide" Target="../notesSlides/notesSlide12.xml"/><Relationship Id="rId21" Type="http://schemas.openxmlformats.org/officeDocument/2006/relationships/image" Target="../media/image16.png"/><Relationship Id="rId7" Type="http://schemas.openxmlformats.org/officeDocument/2006/relationships/image" Target="../media/image21.wmf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6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image" Target="../media/image28.png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Relationship Id="rId11" Type="http://schemas.openxmlformats.org/officeDocument/2006/relationships/image" Target="../media/image23.wmf"/><Relationship Id="rId5" Type="http://schemas.openxmlformats.org/officeDocument/2006/relationships/image" Target="../media/image20.wmf"/><Relationship Id="rId15" Type="http://schemas.openxmlformats.org/officeDocument/2006/relationships/image" Target="../media/image25.wmf"/><Relationship Id="rId23" Type="http://schemas.openxmlformats.org/officeDocument/2006/relationships/image" Target="../media/image18.png"/><Relationship Id="rId10" Type="http://schemas.openxmlformats.org/officeDocument/2006/relationships/oleObject" Target="../embeddings/oleObject8.bin"/><Relationship Id="rId19" Type="http://schemas.openxmlformats.org/officeDocument/2006/relationships/image" Target="../media/image27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22.wmf"/><Relationship Id="rId14" Type="http://schemas.openxmlformats.org/officeDocument/2006/relationships/oleObject" Target="../embeddings/oleObject10.bin"/><Relationship Id="rId22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13" Type="http://schemas.openxmlformats.org/officeDocument/2006/relationships/image" Target="../media/image32.wmf"/><Relationship Id="rId18" Type="http://schemas.openxmlformats.org/officeDocument/2006/relationships/oleObject" Target="../embeddings/oleObject20.bin"/><Relationship Id="rId3" Type="http://schemas.openxmlformats.org/officeDocument/2006/relationships/notesSlide" Target="../notesSlides/notesSlide13.xml"/><Relationship Id="rId21" Type="http://schemas.openxmlformats.org/officeDocument/2006/relationships/image" Target="../media/image36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7.bin"/><Relationship Id="rId17" Type="http://schemas.openxmlformats.org/officeDocument/2006/relationships/image" Target="../media/image34.wmf"/><Relationship Id="rId25" Type="http://schemas.openxmlformats.org/officeDocument/2006/relationships/image" Target="../media/image38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9.bin"/><Relationship Id="rId20" Type="http://schemas.openxmlformats.org/officeDocument/2006/relationships/oleObject" Target="../embeddings/oleObject21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14.bin"/><Relationship Id="rId11" Type="http://schemas.openxmlformats.org/officeDocument/2006/relationships/image" Target="../media/image31.wmf"/><Relationship Id="rId24" Type="http://schemas.openxmlformats.org/officeDocument/2006/relationships/oleObject" Target="../embeddings/oleObject23.bin"/><Relationship Id="rId5" Type="http://schemas.openxmlformats.org/officeDocument/2006/relationships/image" Target="../media/image28.wmf"/><Relationship Id="rId15" Type="http://schemas.openxmlformats.org/officeDocument/2006/relationships/image" Target="../media/image33.wmf"/><Relationship Id="rId23" Type="http://schemas.openxmlformats.org/officeDocument/2006/relationships/image" Target="../media/image37.wmf"/><Relationship Id="rId10" Type="http://schemas.openxmlformats.org/officeDocument/2006/relationships/oleObject" Target="../embeddings/oleObject16.bin"/><Relationship Id="rId19" Type="http://schemas.openxmlformats.org/officeDocument/2006/relationships/image" Target="../media/image35.wmf"/><Relationship Id="rId4" Type="http://schemas.openxmlformats.org/officeDocument/2006/relationships/oleObject" Target="../embeddings/oleObject13.bin"/><Relationship Id="rId9" Type="http://schemas.openxmlformats.org/officeDocument/2006/relationships/image" Target="../media/image30.wmf"/><Relationship Id="rId14" Type="http://schemas.openxmlformats.org/officeDocument/2006/relationships/oleObject" Target="../embeddings/oleObject18.bin"/><Relationship Id="rId22" Type="http://schemas.openxmlformats.org/officeDocument/2006/relationships/oleObject" Target="../embeddings/oleObject22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6.bin"/><Relationship Id="rId13" Type="http://schemas.openxmlformats.org/officeDocument/2006/relationships/image" Target="../media/image44.wmf"/><Relationship Id="rId3" Type="http://schemas.openxmlformats.org/officeDocument/2006/relationships/notesSlide" Target="../notesSlides/notesSlide14.xml"/><Relationship Id="rId7" Type="http://schemas.openxmlformats.org/officeDocument/2006/relationships/image" Target="../media/image41.wmf"/><Relationship Id="rId12" Type="http://schemas.openxmlformats.org/officeDocument/2006/relationships/oleObject" Target="../embeddings/oleObject2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25.bin"/><Relationship Id="rId11" Type="http://schemas.openxmlformats.org/officeDocument/2006/relationships/image" Target="../media/image43.wmf"/><Relationship Id="rId5" Type="http://schemas.openxmlformats.org/officeDocument/2006/relationships/image" Target="../media/image40.wmf"/><Relationship Id="rId10" Type="http://schemas.openxmlformats.org/officeDocument/2006/relationships/oleObject" Target="../embeddings/oleObject27.bin"/><Relationship Id="rId4" Type="http://schemas.openxmlformats.org/officeDocument/2006/relationships/oleObject" Target="../embeddings/oleObject24.bin"/><Relationship Id="rId9" Type="http://schemas.openxmlformats.org/officeDocument/2006/relationships/image" Target="../media/image42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.bin"/><Relationship Id="rId13" Type="http://schemas.openxmlformats.org/officeDocument/2006/relationships/image" Target="../media/image48.wmf"/><Relationship Id="rId18" Type="http://schemas.openxmlformats.org/officeDocument/2006/relationships/oleObject" Target="../embeddings/oleObject36.bin"/><Relationship Id="rId26" Type="http://schemas.openxmlformats.org/officeDocument/2006/relationships/image" Target="../media/image55.png"/><Relationship Id="rId3" Type="http://schemas.openxmlformats.org/officeDocument/2006/relationships/notesSlide" Target="../notesSlides/notesSlide15.xml"/><Relationship Id="rId21" Type="http://schemas.openxmlformats.org/officeDocument/2006/relationships/image" Target="../media/image52.wmf"/><Relationship Id="rId7" Type="http://schemas.openxmlformats.org/officeDocument/2006/relationships/image" Target="../media/image46.wmf"/><Relationship Id="rId12" Type="http://schemas.openxmlformats.org/officeDocument/2006/relationships/oleObject" Target="../embeddings/oleObject33.bin"/><Relationship Id="rId17" Type="http://schemas.openxmlformats.org/officeDocument/2006/relationships/image" Target="../media/image50.wmf"/><Relationship Id="rId25" Type="http://schemas.openxmlformats.org/officeDocument/2006/relationships/image" Target="../media/image54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35.bin"/><Relationship Id="rId20" Type="http://schemas.openxmlformats.org/officeDocument/2006/relationships/oleObject" Target="../embeddings/oleObject37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0.bin"/><Relationship Id="rId11" Type="http://schemas.openxmlformats.org/officeDocument/2006/relationships/image" Target="../media/image41.wmf"/><Relationship Id="rId24" Type="http://schemas.openxmlformats.org/officeDocument/2006/relationships/oleObject" Target="../embeddings/oleObject39.bin"/><Relationship Id="rId5" Type="http://schemas.openxmlformats.org/officeDocument/2006/relationships/image" Target="../media/image45.wmf"/><Relationship Id="rId15" Type="http://schemas.openxmlformats.org/officeDocument/2006/relationships/image" Target="../media/image49.wmf"/><Relationship Id="rId23" Type="http://schemas.openxmlformats.org/officeDocument/2006/relationships/image" Target="../media/image53.wmf"/><Relationship Id="rId28" Type="http://schemas.openxmlformats.org/officeDocument/2006/relationships/image" Target="../media/image57.png"/><Relationship Id="rId10" Type="http://schemas.openxmlformats.org/officeDocument/2006/relationships/oleObject" Target="../embeddings/oleObject32.bin"/><Relationship Id="rId19" Type="http://schemas.openxmlformats.org/officeDocument/2006/relationships/image" Target="../media/image51.wmf"/><Relationship Id="rId4" Type="http://schemas.openxmlformats.org/officeDocument/2006/relationships/oleObject" Target="../embeddings/oleObject29.bin"/><Relationship Id="rId9" Type="http://schemas.openxmlformats.org/officeDocument/2006/relationships/image" Target="../media/image47.wmf"/><Relationship Id="rId14" Type="http://schemas.openxmlformats.org/officeDocument/2006/relationships/oleObject" Target="../embeddings/oleObject34.bin"/><Relationship Id="rId22" Type="http://schemas.openxmlformats.org/officeDocument/2006/relationships/oleObject" Target="../embeddings/oleObject38.bin"/><Relationship Id="rId27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55.wmf"/><Relationship Id="rId4" Type="http://schemas.openxmlformats.org/officeDocument/2006/relationships/oleObject" Target="../embeddings/oleObject40.bin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6.jp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microsoft.com/office/2007/relationships/hdphoto" Target="../media/hdphoto4.wdp"/><Relationship Id="rId5" Type="http://schemas.openxmlformats.org/officeDocument/2006/relationships/image" Target="../media/image64.png"/><Relationship Id="rId4" Type="http://schemas.microsoft.com/office/2007/relationships/hdphoto" Target="../media/hdphoto3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microsoft.com/office/2007/relationships/hdphoto" Target="../media/hdphoto5.wdp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microsoft.com/office/2007/relationships/hdphoto" Target="../media/hdphoto6.wdp"/><Relationship Id="rId7" Type="http://schemas.openxmlformats.org/officeDocument/2006/relationships/image" Target="../media/image59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9" Type="http://schemas.openxmlformats.org/officeDocument/2006/relationships/image" Target="../media/image6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8.png"/><Relationship Id="rId5" Type="http://schemas.openxmlformats.org/officeDocument/2006/relationships/image" Target="../media/image67.jpeg"/><Relationship Id="rId4" Type="http://schemas.openxmlformats.org/officeDocument/2006/relationships/image" Target="../media/image640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660.png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图片 43">
            <a:extLst>
              <a:ext uri="{FF2B5EF4-FFF2-40B4-BE49-F238E27FC236}">
                <a16:creationId xmlns:a16="http://schemas.microsoft.com/office/drawing/2014/main" id="{070CC29F-EA08-4A06-BDBF-1A95FC03986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tretch>
            <a:fillRect/>
          </a:stretch>
        </p:blipFill>
        <p:spPr>
          <a:xfrm>
            <a:off x="9525" y="4543425"/>
            <a:ext cx="12182475" cy="2314575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F5F8934E-6CAF-4F75-9A96-2ADBDFD7C2D8}"/>
              </a:ext>
            </a:extLst>
          </p:cNvPr>
          <p:cNvSpPr txBox="1"/>
          <p:nvPr/>
        </p:nvSpPr>
        <p:spPr>
          <a:xfrm>
            <a:off x="3753048" y="174524"/>
            <a:ext cx="4685898" cy="646331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zh-CN"/>
            </a:defPPr>
            <a:lvl1pPr algn="ctr">
              <a:defRPr sz="6000" b="1" spc="300">
                <a:solidFill>
                  <a:srgbClr val="003F88"/>
                </a:solidFill>
                <a:latin typeface="+mn-ea"/>
              </a:defRPr>
            </a:lvl1pPr>
          </a:lstStyle>
          <a:p>
            <a:r>
              <a:rPr lang="en-US" altLang="zh-CN" sz="3600" dirty="0"/>
              <a:t>《</a:t>
            </a:r>
            <a:r>
              <a:rPr lang="zh-CN" altLang="en-US" sz="3600" dirty="0"/>
              <a:t>液压传动及控制</a:t>
            </a:r>
            <a:r>
              <a:rPr lang="en-US" altLang="zh-CN" sz="3600" dirty="0"/>
              <a:t>》</a:t>
            </a:r>
            <a:endParaRPr lang="zh-CN" altLang="en-US" sz="3600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3331D23-ACF9-4E53-8F13-F876D7C312EB}"/>
              </a:ext>
            </a:extLst>
          </p:cNvPr>
          <p:cNvSpPr/>
          <p:nvPr/>
        </p:nvSpPr>
        <p:spPr>
          <a:xfrm>
            <a:off x="2483473" y="2184569"/>
            <a:ext cx="7225056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6000" b="1" spc="300" dirty="0">
                <a:solidFill>
                  <a:srgbClr val="003F88"/>
                </a:solidFill>
                <a:latin typeface="+mn-ea"/>
              </a:rPr>
              <a:t>第十二讲 调速回路 </a:t>
            </a:r>
            <a:endParaRPr lang="en-US" altLang="zh-CN" sz="6000" b="1" spc="300" dirty="0">
              <a:solidFill>
                <a:srgbClr val="003F88"/>
              </a:solidFill>
              <a:latin typeface="+mn-ea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D7BD61E-14B6-4FE2-8261-87597607A0C0}"/>
              </a:ext>
            </a:extLst>
          </p:cNvPr>
          <p:cNvCxnSpPr>
            <a:cxnSpLocks/>
          </p:cNvCxnSpPr>
          <p:nvPr/>
        </p:nvCxnSpPr>
        <p:spPr>
          <a:xfrm>
            <a:off x="0" y="854315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图片 32">
            <a:extLst>
              <a:ext uri="{FF2B5EF4-FFF2-40B4-BE49-F238E27FC236}">
                <a16:creationId xmlns:a16="http://schemas.microsoft.com/office/drawing/2014/main" id="{9C7D28D0-DFA2-44D6-BFC1-A9BFCE662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2018CECA-3EEF-4ABB-9577-8A3542C76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395519"/>
              </p:ext>
            </p:extLst>
          </p:nvPr>
        </p:nvGraphicFramePr>
        <p:xfrm>
          <a:off x="3277523" y="3429000"/>
          <a:ext cx="5636948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8879">
                  <a:extLst>
                    <a:ext uri="{9D8B030D-6E8A-4147-A177-3AD203B41FA5}">
                      <a16:colId xmlns:a16="http://schemas.microsoft.com/office/drawing/2014/main" val="894149382"/>
                    </a:ext>
                  </a:extLst>
                </a:gridCol>
                <a:gridCol w="4458069">
                  <a:extLst>
                    <a:ext uri="{9D8B030D-6E8A-4147-A177-3AD203B41FA5}">
                      <a16:colId xmlns:a16="http://schemas.microsoft.com/office/drawing/2014/main" val="1594605288"/>
                    </a:ext>
                  </a:extLst>
                </a:gridCol>
              </a:tblGrid>
              <a:tr h="418052">
                <a:tc>
                  <a:txBody>
                    <a:bodyPr/>
                    <a:lstStyle/>
                    <a:p>
                      <a:r>
                        <a:rPr lang="en-US" altLang="zh-CN" sz="2400" spc="3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13.1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di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400" spc="3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容积调速回路</a:t>
                      </a:r>
                      <a:endParaRPr lang="en-US" altLang="zh-CN" sz="2400" spc="3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418932"/>
                  </a:ext>
                </a:extLst>
              </a:tr>
              <a:tr h="418052">
                <a:tc>
                  <a:txBody>
                    <a:bodyPr/>
                    <a:lstStyle/>
                    <a:p>
                      <a:r>
                        <a:rPr lang="en-US" altLang="zh-CN" sz="2400" spc="3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13.2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dist"/>
                      <a:r>
                        <a:rPr lang="zh-CN" altLang="en-US" sz="2400" spc="3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容积节流调速回路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058922"/>
                  </a:ext>
                </a:extLst>
              </a:tr>
              <a:tr h="418052">
                <a:tc>
                  <a:txBody>
                    <a:bodyPr/>
                    <a:lstStyle/>
                    <a:p>
                      <a:r>
                        <a:rPr lang="en-US" altLang="zh-CN" sz="2400" spc="3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13.3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dist"/>
                      <a:r>
                        <a:rPr lang="zh-CN" altLang="en-US" sz="2400" spc="3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三类调速回路的比较和选用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800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6218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628DCD3-CA4C-5141-8F66-0B81043EE4B6}"/>
              </a:ext>
            </a:extLst>
          </p:cNvPr>
          <p:cNvSpPr txBox="1"/>
          <p:nvPr/>
        </p:nvSpPr>
        <p:spPr>
          <a:xfrm>
            <a:off x="454980" y="989341"/>
            <a:ext cx="11050480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zh-CN" altLang="en-US" sz="2800" b="1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节流调速回路回顾：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05891783-1033-4607-9891-0BC8E82A8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36" y="1680075"/>
            <a:ext cx="5169411" cy="3962118"/>
          </a:xfrm>
          <a:prstGeom prst="rect">
            <a:avLst/>
          </a:prstGeom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E48A9B88-F5FD-4E3A-AAA1-8302C67EFF0F}"/>
              </a:ext>
            </a:extLst>
          </p:cNvPr>
          <p:cNvSpPr txBox="1"/>
          <p:nvPr/>
        </p:nvSpPr>
        <p:spPr>
          <a:xfrm>
            <a:off x="958366" y="5709867"/>
            <a:ext cx="14451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b="1" dirty="0">
                <a:latin typeface="+mj-ea"/>
                <a:ea typeface="+mj-ea"/>
              </a:rPr>
              <a:t>进口节流式</a:t>
            </a:r>
            <a:endParaRPr lang="zh-CN" altLang="en-US" b="1" dirty="0">
              <a:latin typeface="+mj-ea"/>
              <a:ea typeface="+mj-ea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7BCF83F-A1FD-4ED1-8E3B-06C8F3150249}"/>
              </a:ext>
            </a:extLst>
          </p:cNvPr>
          <p:cNvSpPr txBox="1"/>
          <p:nvPr/>
        </p:nvSpPr>
        <p:spPr>
          <a:xfrm>
            <a:off x="3960852" y="5724905"/>
            <a:ext cx="1344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b="1">
                <a:latin typeface="+mj-ea"/>
                <a:ea typeface="+mj-ea"/>
              </a:defRPr>
            </a:lvl1pPr>
          </a:lstStyle>
          <a:p>
            <a:r>
              <a:rPr lang="zh-CN" altLang="en-US" dirty="0"/>
              <a:t>出口节流式</a:t>
            </a:r>
          </a:p>
        </p:txBody>
      </p:sp>
      <p:pic>
        <p:nvPicPr>
          <p:cNvPr id="24" name="8T6.EPS">
            <a:extLst>
              <a:ext uri="{FF2B5EF4-FFF2-40B4-BE49-F238E27FC236}">
                <a16:creationId xmlns:a16="http://schemas.microsoft.com/office/drawing/2014/main" id="{4B517EE7-B154-4F58-A1DE-4F5656D485F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19145" y="1760751"/>
            <a:ext cx="3062929" cy="380076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EFE82C7-5339-4D69-9299-5F55B9E6472F}"/>
              </a:ext>
            </a:extLst>
          </p:cNvPr>
          <p:cNvSpPr txBox="1"/>
          <p:nvPr/>
        </p:nvSpPr>
        <p:spPr>
          <a:xfrm>
            <a:off x="8273416" y="5836850"/>
            <a:ext cx="1344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b="1">
                <a:latin typeface="+mj-ea"/>
                <a:ea typeface="+mj-ea"/>
              </a:defRPr>
            </a:lvl1pPr>
          </a:lstStyle>
          <a:p>
            <a:r>
              <a:rPr lang="zh-CN" altLang="en-US" dirty="0"/>
              <a:t>旁路节流式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A665243-8672-4989-9551-41E960BD31AB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2908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628DCD3-CA4C-5141-8F66-0B81043EE4B6}"/>
              </a:ext>
            </a:extLst>
          </p:cNvPr>
          <p:cNvSpPr txBox="1"/>
          <p:nvPr/>
        </p:nvSpPr>
        <p:spPr>
          <a:xfrm>
            <a:off x="454980" y="989341"/>
            <a:ext cx="11050480" cy="4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工作原理：通过改变变量泵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供给侧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)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或变量马达（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需求侧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）的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排量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来调节执行元件的运动速度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A6DBA38-7A2A-4FB0-B972-5E378BEEEB9E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486016" y="2261833"/>
            <a:ext cx="5455613" cy="3770872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27E414EA-D45C-4B5B-8F70-58611952D40D}"/>
              </a:ext>
            </a:extLst>
          </p:cNvPr>
          <p:cNvGrpSpPr/>
          <p:nvPr/>
        </p:nvGrpSpPr>
        <p:grpSpPr>
          <a:xfrm>
            <a:off x="805543" y="2425879"/>
            <a:ext cx="5620716" cy="3606826"/>
            <a:chOff x="-152336" y="2514223"/>
            <a:chExt cx="6773075" cy="4200556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8A817453-D219-4882-944E-1EFD5E48C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7544" y="2514223"/>
              <a:ext cx="6153195" cy="4200556"/>
            </a:xfrm>
            <a:prstGeom prst="rect">
              <a:avLst/>
            </a:prstGeom>
          </p:spPr>
        </p:pic>
        <p:sp>
          <p:nvSpPr>
            <p:cNvPr id="11" name="TextBox 29">
              <a:extLst>
                <a:ext uri="{FF2B5EF4-FFF2-40B4-BE49-F238E27FC236}">
                  <a16:creationId xmlns:a16="http://schemas.microsoft.com/office/drawing/2014/main" id="{F7CA643D-9DA9-42C3-A270-66EFB2FCC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52336" y="3424940"/>
              <a:ext cx="1507915" cy="6463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弹簧预紧力调节螺钉</a:t>
              </a:r>
            </a:p>
          </p:txBody>
        </p:sp>
        <p:sp>
          <p:nvSpPr>
            <p:cNvPr id="12" name="TextBox 29">
              <a:extLst>
                <a:ext uri="{FF2B5EF4-FFF2-40B4-BE49-F238E27FC236}">
                  <a16:creationId xmlns:a16="http://schemas.microsoft.com/office/drawing/2014/main" id="{5DF60130-84EE-4D34-BBCF-ACC4C6D95D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5536" y="2656494"/>
              <a:ext cx="1640251" cy="394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滑块滚针支承</a:t>
              </a:r>
            </a:p>
          </p:txBody>
        </p:sp>
        <p:sp>
          <p:nvSpPr>
            <p:cNvPr id="13" name="TextBox 29">
              <a:extLst>
                <a:ext uri="{FF2B5EF4-FFF2-40B4-BE49-F238E27FC236}">
                  <a16:creationId xmlns:a16="http://schemas.microsoft.com/office/drawing/2014/main" id="{01D8F09B-3B1A-4882-9949-8569085491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7789" y="3647509"/>
              <a:ext cx="695626" cy="394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弹簧</a:t>
              </a:r>
            </a:p>
          </p:txBody>
        </p:sp>
        <p:sp>
          <p:nvSpPr>
            <p:cNvPr id="14" name="TextBox 29">
              <a:extLst>
                <a:ext uri="{FF2B5EF4-FFF2-40B4-BE49-F238E27FC236}">
                  <a16:creationId xmlns:a16="http://schemas.microsoft.com/office/drawing/2014/main" id="{80E27F0E-2A24-4F18-B654-8A8F97DF64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7430" y="3553637"/>
              <a:ext cx="228082" cy="394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TextBox 29">
              <a:extLst>
                <a:ext uri="{FF2B5EF4-FFF2-40B4-BE49-F238E27FC236}">
                  <a16:creationId xmlns:a16="http://schemas.microsoft.com/office/drawing/2014/main" id="{1141ABEA-D09E-47CC-B62D-7184E253C4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10230" y="3372369"/>
              <a:ext cx="695626" cy="3943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定子</a:t>
              </a:r>
            </a:p>
          </p:txBody>
        </p:sp>
        <p:sp>
          <p:nvSpPr>
            <p:cNvPr id="16" name="TextBox 29">
              <a:extLst>
                <a:ext uri="{FF2B5EF4-FFF2-40B4-BE49-F238E27FC236}">
                  <a16:creationId xmlns:a16="http://schemas.microsoft.com/office/drawing/2014/main" id="{D5C20B9D-459C-402F-A1CC-52AABB065E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62418" y="5166658"/>
              <a:ext cx="695626" cy="394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转子</a:t>
              </a:r>
            </a:p>
          </p:txBody>
        </p:sp>
        <p:sp>
          <p:nvSpPr>
            <p:cNvPr id="17" name="TextBox 29">
              <a:extLst>
                <a:ext uri="{FF2B5EF4-FFF2-40B4-BE49-F238E27FC236}">
                  <a16:creationId xmlns:a16="http://schemas.microsoft.com/office/drawing/2014/main" id="{0C9FB155-B6D8-40B9-8C52-E65FCFF708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91928" y="3456373"/>
              <a:ext cx="228082" cy="394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TextBox 29">
              <a:extLst>
                <a:ext uri="{FF2B5EF4-FFF2-40B4-BE49-F238E27FC236}">
                  <a16:creationId xmlns:a16="http://schemas.microsoft.com/office/drawing/2014/main" id="{22F5AE00-AF4D-4083-8EEC-F21DD460B0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76826" y="3520025"/>
              <a:ext cx="1236114" cy="3943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反馈柱塞</a:t>
              </a:r>
            </a:p>
          </p:txBody>
        </p:sp>
        <p:sp>
          <p:nvSpPr>
            <p:cNvPr id="19" name="TextBox 29">
              <a:extLst>
                <a:ext uri="{FF2B5EF4-FFF2-40B4-BE49-F238E27FC236}">
                  <a16:creationId xmlns:a16="http://schemas.microsoft.com/office/drawing/2014/main" id="{9941F850-55F3-41C6-86B9-7582A4B324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2040" y="5269665"/>
              <a:ext cx="1640253" cy="394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流量调节螺钉</a:t>
              </a:r>
            </a:p>
          </p:txBody>
        </p: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BAFCA258-4077-41B0-851F-5EFC941D7B84}"/>
              </a:ext>
            </a:extLst>
          </p:cNvPr>
          <p:cNvSpPr txBox="1"/>
          <p:nvPr/>
        </p:nvSpPr>
        <p:spPr>
          <a:xfrm>
            <a:off x="4106025" y="6054066"/>
            <a:ext cx="3212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流量 </a:t>
            </a:r>
            <a:r>
              <a:rPr lang="en-US" altLang="zh-CN" sz="2800" dirty="0"/>
              <a:t>= </a:t>
            </a:r>
            <a:r>
              <a:rPr lang="zh-CN" altLang="en-US" sz="2800" dirty="0"/>
              <a:t>转速 </a:t>
            </a:r>
            <a:r>
              <a:rPr lang="en-US" altLang="zh-CN" sz="2800" dirty="0"/>
              <a:t>× </a:t>
            </a:r>
            <a:r>
              <a:rPr lang="zh-CN" altLang="en-US" sz="2800" dirty="0"/>
              <a:t>排量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0439606-D04F-4728-B273-1D8DE67F6EA5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1284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组合 63">
            <a:extLst>
              <a:ext uri="{FF2B5EF4-FFF2-40B4-BE49-F238E27FC236}">
                <a16:creationId xmlns:a16="http://schemas.microsoft.com/office/drawing/2014/main" id="{3A3AEB92-6208-4F6D-88FB-B77EA6BBBD7B}"/>
              </a:ext>
            </a:extLst>
          </p:cNvPr>
          <p:cNvGrpSpPr/>
          <p:nvPr/>
        </p:nvGrpSpPr>
        <p:grpSpPr>
          <a:xfrm>
            <a:off x="968829" y="1740363"/>
            <a:ext cx="6573937" cy="4910807"/>
            <a:chOff x="5966107" y="1696822"/>
            <a:chExt cx="6268402" cy="4703258"/>
          </a:xfrm>
        </p:grpSpPr>
        <p:pic>
          <p:nvPicPr>
            <p:cNvPr id="65" name="Picture 4" descr="Vane Pump Gif">
              <a:extLst>
                <a:ext uri="{FF2B5EF4-FFF2-40B4-BE49-F238E27FC236}">
                  <a16:creationId xmlns:a16="http://schemas.microsoft.com/office/drawing/2014/main" id="{E729BE9B-1317-45C9-BAF8-50E04F2C08C9}"/>
                </a:ext>
              </a:extLst>
            </p:cNvPr>
            <p:cNvPicPr>
              <a:picLocks noChangeAspect="1" noChangeArrowheads="1" noCrop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66107" y="1696822"/>
              <a:ext cx="6268402" cy="4703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F00E0921-097F-4A75-B7AD-824852B88CE7}"/>
                </a:ext>
              </a:extLst>
            </p:cNvPr>
            <p:cNvSpPr/>
            <p:nvPr/>
          </p:nvSpPr>
          <p:spPr>
            <a:xfrm>
              <a:off x="7132320" y="5679440"/>
              <a:ext cx="4145280" cy="5791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6EC342E3-26BF-4774-9CE2-FCB637EF8F0E}"/>
              </a:ext>
            </a:extLst>
          </p:cNvPr>
          <p:cNvSpPr txBox="1"/>
          <p:nvPr/>
        </p:nvSpPr>
        <p:spPr>
          <a:xfrm>
            <a:off x="4106025" y="6054066"/>
            <a:ext cx="3212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流量 </a:t>
            </a:r>
            <a:r>
              <a:rPr lang="en-US" altLang="zh-CN" sz="2800" dirty="0"/>
              <a:t>= </a:t>
            </a:r>
            <a:r>
              <a:rPr lang="zh-CN" altLang="en-US" sz="2800" dirty="0"/>
              <a:t>转速 </a:t>
            </a:r>
            <a:r>
              <a:rPr lang="en-US" altLang="zh-CN" sz="2800" dirty="0"/>
              <a:t>× </a:t>
            </a:r>
            <a:r>
              <a:rPr lang="zh-CN" altLang="en-US" sz="2800" dirty="0"/>
              <a:t>排量</a:t>
            </a:r>
          </a:p>
        </p:txBody>
      </p:sp>
      <p:pic>
        <p:nvPicPr>
          <p:cNvPr id="19458" name="Picture 2" descr="Reciprocating Pump Gif">
            <a:extLst>
              <a:ext uri="{FF2B5EF4-FFF2-40B4-BE49-F238E27FC236}">
                <a16:creationId xmlns:a16="http://schemas.microsoft.com/office/drawing/2014/main" id="{8BED2C97-9802-4C2D-B6AF-0AD9AA06C0C3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660" y="2255631"/>
            <a:ext cx="5095511" cy="339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36A81D1-C158-47FE-99CF-A3CA4448146E}"/>
              </a:ext>
            </a:extLst>
          </p:cNvPr>
          <p:cNvSpPr txBox="1"/>
          <p:nvPr/>
        </p:nvSpPr>
        <p:spPr>
          <a:xfrm>
            <a:off x="454980" y="989341"/>
            <a:ext cx="11050480" cy="4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工作原理：通过改变变量泵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供给侧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)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或变量马达（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需求侧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）的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排量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来调节执行元件的运动速度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8CA18D-0245-4F9C-A245-2D1F97167471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3/35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55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EC342E3-26BF-4774-9CE2-FCB637EF8F0E}"/>
              </a:ext>
            </a:extLst>
          </p:cNvPr>
          <p:cNvSpPr txBox="1"/>
          <p:nvPr/>
        </p:nvSpPr>
        <p:spPr>
          <a:xfrm>
            <a:off x="4106025" y="6054066"/>
            <a:ext cx="3212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流量 </a:t>
            </a:r>
            <a:r>
              <a:rPr lang="en-US" altLang="zh-CN" sz="2800" dirty="0"/>
              <a:t>= </a:t>
            </a:r>
            <a:r>
              <a:rPr lang="zh-CN" altLang="en-US" sz="2800" dirty="0"/>
              <a:t>转速 </a:t>
            </a:r>
            <a:r>
              <a:rPr lang="en-US" altLang="zh-CN" sz="2800" dirty="0"/>
              <a:t>× </a:t>
            </a:r>
            <a:r>
              <a:rPr lang="zh-CN" altLang="en-US" sz="2800" dirty="0"/>
              <a:t>排量</a:t>
            </a:r>
          </a:p>
        </p:txBody>
      </p:sp>
      <p:pic>
        <p:nvPicPr>
          <p:cNvPr id="9" name="图片 8" descr="v4.gif">
            <a:extLst>
              <a:ext uri="{FF2B5EF4-FFF2-40B4-BE49-F238E27FC236}">
                <a16:creationId xmlns:a16="http://schemas.microsoft.com/office/drawing/2014/main" id="{58E130D7-F102-4652-AF68-FA17E12AFD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4424" y="1698980"/>
            <a:ext cx="7823152" cy="41696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B852CC8A-1117-42AD-B44B-CC8C7A7A53B2}"/>
              </a:ext>
            </a:extLst>
          </p:cNvPr>
          <p:cNvSpPr txBox="1"/>
          <p:nvPr/>
        </p:nvSpPr>
        <p:spPr>
          <a:xfrm>
            <a:off x="454980" y="989341"/>
            <a:ext cx="11050480" cy="4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工作原理：通过改变变量泵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供给侧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)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或变量马达（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需求侧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）的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排量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来调节执行元件的运动速度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6B7CC3E-3128-4767-B54E-D919B9AE1E50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4/35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5667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628DCD3-CA4C-5141-8F66-0B81043EE4B6}"/>
              </a:ext>
            </a:extLst>
          </p:cNvPr>
          <p:cNvSpPr txBox="1"/>
          <p:nvPr/>
        </p:nvSpPr>
        <p:spPr>
          <a:xfrm>
            <a:off x="454980" y="989341"/>
            <a:ext cx="11050480" cy="511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工作原理：通过改变变量泵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(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供给侧</a:t>
            </a:r>
            <a:r>
              <a:rPr lang="en-US" altLang="zh-CN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)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或变量马达（需求侧）的排量来调节执行元件的运动速度</a:t>
            </a: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特点：液压泵输出的油液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直接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进入执行元件，</a:t>
            </a:r>
            <a:r>
              <a:rPr lang="zh-CN" altLang="en-US" sz="2000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工作压力随负载变化而变化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cs typeface="Times New Roman" panose="02020603050405020304" pitchFamily="18" charset="0"/>
              </a:rPr>
              <a:t>，没有溢流损失和节流损失，效率高，发热少</a:t>
            </a: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l"/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endParaRPr lang="en-US" altLang="zh-CN" sz="2000" dirty="0">
              <a:solidFill>
                <a:srgbClr val="000000"/>
              </a:solidFill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94AE9E65-9318-4001-8310-4C337960AF4D}"/>
              </a:ext>
            </a:extLst>
          </p:cNvPr>
          <p:cNvGrpSpPr/>
          <p:nvPr/>
        </p:nvGrpSpPr>
        <p:grpSpPr>
          <a:xfrm>
            <a:off x="1356945" y="3057137"/>
            <a:ext cx="3514350" cy="2809955"/>
            <a:chOff x="291057" y="4328428"/>
            <a:chExt cx="2722790" cy="2177050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C4CFB86B-07C3-4B72-AAFC-24D9D4843225}"/>
                </a:ext>
              </a:extLst>
            </p:cNvPr>
            <p:cNvGrpSpPr/>
            <p:nvPr/>
          </p:nvGrpSpPr>
          <p:grpSpPr>
            <a:xfrm>
              <a:off x="291057" y="4815052"/>
              <a:ext cx="1088177" cy="687681"/>
              <a:chOff x="556731" y="4837723"/>
              <a:chExt cx="1482104" cy="936627"/>
            </a:xfrm>
            <a:solidFill>
              <a:schemeClr val="bg1">
                <a:lumMod val="95000"/>
              </a:schemeClr>
            </a:solidFill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C35D6323-FB20-477E-B5B9-F84659950810}"/>
                  </a:ext>
                </a:extLst>
              </p:cNvPr>
              <p:cNvSpPr/>
              <p:nvPr/>
            </p:nvSpPr>
            <p:spPr>
              <a:xfrm>
                <a:off x="556731" y="5197084"/>
                <a:ext cx="618787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28575">
                    <a:solidFill>
                      <a:schemeClr val="tx1"/>
                    </a:solidFill>
                  </a:ln>
                  <a:latin typeface="+mn-ea"/>
                </a:endParaRPr>
              </a:p>
            </p:txBody>
          </p: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FE87A0F2-4CC2-46A1-819D-F78F6556518E}"/>
                  </a:ext>
                </a:extLst>
              </p:cNvPr>
              <p:cNvGrpSpPr/>
              <p:nvPr/>
            </p:nvGrpSpPr>
            <p:grpSpPr>
              <a:xfrm>
                <a:off x="1124151" y="4837723"/>
                <a:ext cx="914684" cy="936627"/>
                <a:chOff x="1475656" y="3890442"/>
                <a:chExt cx="864096" cy="884827"/>
              </a:xfrm>
              <a:grpFill/>
            </p:grpSpPr>
            <p:sp>
              <p:nvSpPr>
                <p:cNvPr id="36" name="椭圆 35">
                  <a:extLst>
                    <a:ext uri="{FF2B5EF4-FFF2-40B4-BE49-F238E27FC236}">
                      <a16:creationId xmlns:a16="http://schemas.microsoft.com/office/drawing/2014/main" id="{12B6332B-E05F-4655-B3DD-506A85AE0F68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  <p:sp>
              <p:nvSpPr>
                <p:cNvPr id="37" name="等腰三角形 36">
                  <a:extLst>
                    <a:ext uri="{FF2B5EF4-FFF2-40B4-BE49-F238E27FC236}">
                      <a16:creationId xmlns:a16="http://schemas.microsoft.com/office/drawing/2014/main" id="{53B5E0A0-72DA-4679-9A35-A6EC90A0003A}"/>
                    </a:ext>
                  </a:extLst>
                </p:cNvPr>
                <p:cNvSpPr/>
                <p:nvPr/>
              </p:nvSpPr>
              <p:spPr>
                <a:xfrm>
                  <a:off x="1778041" y="3890442"/>
                  <a:ext cx="259326" cy="184758"/>
                </a:xfrm>
                <a:prstGeom prst="triangle">
                  <a:avLst/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</p:grp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1C186841-5565-45BA-8E35-DD6E71517CAC}"/>
                </a:ext>
              </a:extLst>
            </p:cNvPr>
            <p:cNvGrpSpPr/>
            <p:nvPr/>
          </p:nvGrpSpPr>
          <p:grpSpPr>
            <a:xfrm>
              <a:off x="1936846" y="4831178"/>
              <a:ext cx="1046531" cy="671571"/>
              <a:chOff x="1124151" y="4859672"/>
              <a:chExt cx="1425382" cy="914683"/>
            </a:xfrm>
            <a:solidFill>
              <a:schemeClr val="bg1">
                <a:lumMod val="95000"/>
              </a:schemeClr>
            </a:solidFill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BE8F1C99-2724-4969-826D-F87A4A0B3E9C}"/>
                  </a:ext>
                </a:extLst>
              </p:cNvPr>
              <p:cNvSpPr/>
              <p:nvPr/>
            </p:nvSpPr>
            <p:spPr>
              <a:xfrm>
                <a:off x="1930746" y="5197084"/>
                <a:ext cx="618787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28575">
                    <a:solidFill>
                      <a:schemeClr val="tx1"/>
                    </a:solidFill>
                  </a:ln>
                  <a:latin typeface="+mn-ea"/>
                </a:endParaRPr>
              </a:p>
            </p:txBody>
          </p: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FC12ACD7-78EA-4150-B63F-A752C1919C97}"/>
                  </a:ext>
                </a:extLst>
              </p:cNvPr>
              <p:cNvGrpSpPr/>
              <p:nvPr/>
            </p:nvGrpSpPr>
            <p:grpSpPr>
              <a:xfrm>
                <a:off x="1124151" y="4859672"/>
                <a:ext cx="914684" cy="914683"/>
                <a:chOff x="1475656" y="3911173"/>
                <a:chExt cx="864096" cy="864096"/>
              </a:xfrm>
              <a:grpFill/>
            </p:grpSpPr>
            <p:sp>
              <p:nvSpPr>
                <p:cNvPr id="32" name="椭圆 31">
                  <a:extLst>
                    <a:ext uri="{FF2B5EF4-FFF2-40B4-BE49-F238E27FC236}">
                      <a16:creationId xmlns:a16="http://schemas.microsoft.com/office/drawing/2014/main" id="{514834A2-34E6-4B1C-9DC0-C1E68B463E67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  <p:sp>
              <p:nvSpPr>
                <p:cNvPr id="33" name="等腰三角形 32">
                  <a:extLst>
                    <a:ext uri="{FF2B5EF4-FFF2-40B4-BE49-F238E27FC236}">
                      <a16:creationId xmlns:a16="http://schemas.microsoft.com/office/drawing/2014/main" id="{2309C32E-EB92-480F-97AB-B6862143FAAD}"/>
                    </a:ext>
                  </a:extLst>
                </p:cNvPr>
                <p:cNvSpPr/>
                <p:nvPr/>
              </p:nvSpPr>
              <p:spPr>
                <a:xfrm flipV="1">
                  <a:off x="1799306" y="3930872"/>
                  <a:ext cx="207476" cy="167021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</p:grpSp>
        </p:grp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EA0DA6AF-A0E7-4841-AB2C-2B2155B8CE2C}"/>
                </a:ext>
              </a:extLst>
            </p:cNvPr>
            <p:cNvSpPr/>
            <p:nvPr/>
          </p:nvSpPr>
          <p:spPr>
            <a:xfrm>
              <a:off x="1043448" y="4342059"/>
              <a:ext cx="1233630" cy="504056"/>
            </a:xfrm>
            <a:custGeom>
              <a:avLst/>
              <a:gdLst>
                <a:gd name="connsiteX0" fmla="*/ 0 w 3925824"/>
                <a:gd name="connsiteY0" fmla="*/ 707136 h 719328"/>
                <a:gd name="connsiteX1" fmla="*/ 0 w 3925824"/>
                <a:gd name="connsiteY1" fmla="*/ 0 h 719328"/>
                <a:gd name="connsiteX2" fmla="*/ 3925824 w 3925824"/>
                <a:gd name="connsiteY2" fmla="*/ 0 h 719328"/>
                <a:gd name="connsiteX3" fmla="*/ 3925824 w 3925824"/>
                <a:gd name="connsiteY3" fmla="*/ 719328 h 719328"/>
                <a:gd name="connsiteX4" fmla="*/ 3925824 w 3925824"/>
                <a:gd name="connsiteY4" fmla="*/ 719328 h 7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25824" h="719328">
                  <a:moveTo>
                    <a:pt x="0" y="707136"/>
                  </a:moveTo>
                  <a:lnTo>
                    <a:pt x="0" y="0"/>
                  </a:lnTo>
                  <a:lnTo>
                    <a:pt x="3925824" y="0"/>
                  </a:lnTo>
                  <a:lnTo>
                    <a:pt x="3925824" y="719328"/>
                  </a:lnTo>
                  <a:lnTo>
                    <a:pt x="3925824" y="719328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84D42B51-9891-4B39-AAD5-1C5F8783F98D}"/>
                </a:ext>
              </a:extLst>
            </p:cNvPr>
            <p:cNvCxnSpPr/>
            <p:nvPr/>
          </p:nvCxnSpPr>
          <p:spPr>
            <a:xfrm flipV="1">
              <a:off x="770308" y="4727182"/>
              <a:ext cx="621708" cy="87953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B0EDFE56-6488-4FC2-8425-37D453DAB1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8243" y="4727183"/>
              <a:ext cx="592956" cy="879532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3140CC00-18C7-4B86-82E4-1A4A30CB40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9925" y="4342059"/>
              <a:ext cx="0" cy="452664"/>
            </a:xfrm>
            <a:prstGeom prst="straightConnector1">
              <a:avLst/>
            </a:prstGeom>
            <a:ln>
              <a:solidFill>
                <a:srgbClr val="3387C0"/>
              </a:solidFill>
              <a:prstDash val="sys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2CF575CF-6A23-4C2C-B749-CF0C294580FA}"/>
                </a:ext>
              </a:extLst>
            </p:cNvPr>
            <p:cNvCxnSpPr>
              <a:cxnSpLocks/>
            </p:cNvCxnSpPr>
            <p:nvPr/>
          </p:nvCxnSpPr>
          <p:spPr>
            <a:xfrm>
              <a:off x="2451732" y="4328428"/>
              <a:ext cx="0" cy="422242"/>
            </a:xfrm>
            <a:prstGeom prst="straightConnector1">
              <a:avLst/>
            </a:prstGeom>
            <a:ln>
              <a:solidFill>
                <a:srgbClr val="3387C0"/>
              </a:solidFill>
              <a:prstDash val="sys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774CBF3F-0613-4394-8F1D-F365E172E0D9}"/>
                </a:ext>
              </a:extLst>
            </p:cNvPr>
            <p:cNvSpPr/>
            <p:nvPr/>
          </p:nvSpPr>
          <p:spPr>
            <a:xfrm flipV="1">
              <a:off x="1043448" y="5495868"/>
              <a:ext cx="1233630" cy="397246"/>
            </a:xfrm>
            <a:custGeom>
              <a:avLst/>
              <a:gdLst>
                <a:gd name="connsiteX0" fmla="*/ 0 w 3925824"/>
                <a:gd name="connsiteY0" fmla="*/ 707136 h 719328"/>
                <a:gd name="connsiteX1" fmla="*/ 0 w 3925824"/>
                <a:gd name="connsiteY1" fmla="*/ 0 h 719328"/>
                <a:gd name="connsiteX2" fmla="*/ 3925824 w 3925824"/>
                <a:gd name="connsiteY2" fmla="*/ 0 h 719328"/>
                <a:gd name="connsiteX3" fmla="*/ 3925824 w 3925824"/>
                <a:gd name="connsiteY3" fmla="*/ 719328 h 719328"/>
                <a:gd name="connsiteX4" fmla="*/ 3925824 w 3925824"/>
                <a:gd name="connsiteY4" fmla="*/ 719328 h 7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25824" h="719328">
                  <a:moveTo>
                    <a:pt x="0" y="707136"/>
                  </a:moveTo>
                  <a:lnTo>
                    <a:pt x="0" y="0"/>
                  </a:lnTo>
                  <a:lnTo>
                    <a:pt x="3925824" y="0"/>
                  </a:lnTo>
                  <a:lnTo>
                    <a:pt x="3925824" y="719328"/>
                  </a:lnTo>
                  <a:lnTo>
                    <a:pt x="3925824" y="719328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sp>
          <p:nvSpPr>
            <p:cNvPr id="29" name="Content Placeholder 2">
              <a:extLst>
                <a:ext uri="{FF2B5EF4-FFF2-40B4-BE49-F238E27FC236}">
                  <a16:creationId xmlns:a16="http://schemas.microsoft.com/office/drawing/2014/main" id="{0903EC14-1BC0-40FC-9B10-CB2C23790642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06679" y="6143939"/>
              <a:ext cx="2707168" cy="3615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9pPr>
            </a:lstStyle>
            <a:p>
              <a:pPr marL="0" indent="0" algn="ctr">
                <a:buNone/>
              </a:pPr>
              <a:r>
                <a:rPr lang="zh-CN" altLang="en-US" sz="1800" kern="0" dirty="0">
                  <a:latin typeface="+mn-ea"/>
                </a:rPr>
                <a:t>泵</a:t>
              </a:r>
              <a:r>
                <a:rPr lang="en-US" altLang="zh-CN" sz="1800" kern="0" dirty="0">
                  <a:latin typeface="+mn-ea"/>
                </a:rPr>
                <a:t>-</a:t>
              </a:r>
              <a:r>
                <a:rPr lang="zh-CN" altLang="en-US" sz="1800" kern="0" dirty="0">
                  <a:latin typeface="+mn-ea"/>
                </a:rPr>
                <a:t>马达式容积调速回路</a:t>
              </a:r>
              <a:endParaRPr lang="en-US" altLang="zh-CN" sz="1800" kern="0" dirty="0">
                <a:latin typeface="+mn-ea"/>
              </a:endParaRP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B2A3769A-AF3D-4E09-987F-BB7E323D9D07}"/>
              </a:ext>
            </a:extLst>
          </p:cNvPr>
          <p:cNvGrpSpPr/>
          <p:nvPr/>
        </p:nvGrpSpPr>
        <p:grpSpPr>
          <a:xfrm>
            <a:off x="6771236" y="2725541"/>
            <a:ext cx="3786183" cy="3638540"/>
            <a:chOff x="4174027" y="3261055"/>
            <a:chExt cx="3087377" cy="2966984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341E9DF1-7775-4A5A-8815-6731401B9FEB}"/>
                </a:ext>
              </a:extLst>
            </p:cNvPr>
            <p:cNvGrpSpPr/>
            <p:nvPr/>
          </p:nvGrpSpPr>
          <p:grpSpPr>
            <a:xfrm>
              <a:off x="4174027" y="4593338"/>
              <a:ext cx="1088177" cy="671568"/>
              <a:chOff x="556731" y="4859660"/>
              <a:chExt cx="1482104" cy="914681"/>
            </a:xfrm>
            <a:solidFill>
              <a:schemeClr val="bg1">
                <a:lumMod val="95000"/>
              </a:schemeClr>
            </a:solidFill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E6BAEF22-E781-45C4-9077-51D1FBFE8130}"/>
                  </a:ext>
                </a:extLst>
              </p:cNvPr>
              <p:cNvSpPr/>
              <p:nvPr/>
            </p:nvSpPr>
            <p:spPr>
              <a:xfrm>
                <a:off x="556731" y="5197084"/>
                <a:ext cx="618787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28575">
                    <a:solidFill>
                      <a:schemeClr val="tx1"/>
                    </a:solidFill>
                  </a:ln>
                  <a:latin typeface="+mn-ea"/>
                </a:endParaRPr>
              </a:p>
            </p:txBody>
          </p:sp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D7C1182F-A966-4C2F-BE16-6EDDB97702BA}"/>
                  </a:ext>
                </a:extLst>
              </p:cNvPr>
              <p:cNvGrpSpPr/>
              <p:nvPr/>
            </p:nvGrpSpPr>
            <p:grpSpPr>
              <a:xfrm>
                <a:off x="1124151" y="4859660"/>
                <a:ext cx="914684" cy="914681"/>
                <a:chOff x="1475656" y="3911173"/>
                <a:chExt cx="864096" cy="864096"/>
              </a:xfrm>
              <a:grpFill/>
            </p:grpSpPr>
            <p:sp>
              <p:nvSpPr>
                <p:cNvPr id="56" name="椭圆 55">
                  <a:extLst>
                    <a:ext uri="{FF2B5EF4-FFF2-40B4-BE49-F238E27FC236}">
                      <a16:creationId xmlns:a16="http://schemas.microsoft.com/office/drawing/2014/main" id="{44AD2250-2333-423C-B8AE-F4281974DD15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  <p:sp>
              <p:nvSpPr>
                <p:cNvPr id="57" name="等腰三角形 56">
                  <a:extLst>
                    <a:ext uri="{FF2B5EF4-FFF2-40B4-BE49-F238E27FC236}">
                      <a16:creationId xmlns:a16="http://schemas.microsoft.com/office/drawing/2014/main" id="{9A9CD773-EA8A-434F-89D3-16B432E373FC}"/>
                    </a:ext>
                  </a:extLst>
                </p:cNvPr>
                <p:cNvSpPr/>
                <p:nvPr/>
              </p:nvSpPr>
              <p:spPr>
                <a:xfrm>
                  <a:off x="1778042" y="3976947"/>
                  <a:ext cx="259327" cy="167961"/>
                </a:xfrm>
                <a:prstGeom prst="triangle">
                  <a:avLst/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</p:grpSp>
        </p:grp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DDA835D3-4795-4BDF-B24B-1070489B5DFA}"/>
                </a:ext>
              </a:extLst>
            </p:cNvPr>
            <p:cNvSpPr/>
            <p:nvPr/>
          </p:nvSpPr>
          <p:spPr>
            <a:xfrm>
              <a:off x="4682030" y="5537103"/>
              <a:ext cx="488778" cy="222173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5CAB51BA-DEA7-4847-BB91-1D6EC2727F78}"/>
                </a:ext>
              </a:extLst>
            </p:cNvPr>
            <p:cNvCxnSpPr>
              <a:cxnSpLocks/>
              <a:stCxn id="56" idx="4"/>
            </p:cNvCxnSpPr>
            <p:nvPr/>
          </p:nvCxnSpPr>
          <p:spPr>
            <a:xfrm>
              <a:off x="4926419" y="5264915"/>
              <a:ext cx="0" cy="3984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A49B1F1E-6674-4805-ABCA-641A5464FCA0}"/>
                </a:ext>
              </a:extLst>
            </p:cNvPr>
            <p:cNvSpPr/>
            <p:nvPr/>
          </p:nvSpPr>
          <p:spPr>
            <a:xfrm>
              <a:off x="5792879" y="4515280"/>
              <a:ext cx="488778" cy="222173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9DD192F0-8518-44C1-8455-8E6A241905B3}"/>
                </a:ext>
              </a:extLst>
            </p:cNvPr>
            <p:cNvCxnSpPr>
              <a:cxnSpLocks/>
            </p:cNvCxnSpPr>
            <p:nvPr/>
          </p:nvCxnSpPr>
          <p:spPr>
            <a:xfrm>
              <a:off x="6037268" y="3758285"/>
              <a:ext cx="0" cy="868081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8DFDB0BD-52C0-4487-9EAC-31330DF48C68}"/>
                </a:ext>
              </a:extLst>
            </p:cNvPr>
            <p:cNvCxnSpPr/>
            <p:nvPr/>
          </p:nvCxnSpPr>
          <p:spPr>
            <a:xfrm flipV="1">
              <a:off x="4616026" y="4500552"/>
              <a:ext cx="688530" cy="856166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6263180-1CF4-4EAE-ADE8-B43D919250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2030" y="3901449"/>
              <a:ext cx="0" cy="504056"/>
            </a:xfrm>
            <a:prstGeom prst="straightConnector1">
              <a:avLst/>
            </a:prstGeom>
            <a:ln>
              <a:solidFill>
                <a:srgbClr val="3387C0"/>
              </a:solidFill>
              <a:prstDash val="sys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37052E2E-CA45-4086-AB21-01F18ADFEAA7}"/>
                </a:ext>
              </a:extLst>
            </p:cNvPr>
            <p:cNvGrpSpPr/>
            <p:nvPr/>
          </p:nvGrpSpPr>
          <p:grpSpPr>
            <a:xfrm>
              <a:off x="4529905" y="3261055"/>
              <a:ext cx="2082781" cy="489303"/>
              <a:chOff x="5451252" y="3420194"/>
              <a:chExt cx="1785898" cy="419557"/>
            </a:xfrm>
          </p:grpSpPr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75E1C1E0-FA32-452D-84D8-4F4F2DA2A3F2}"/>
                  </a:ext>
                </a:extLst>
              </p:cNvPr>
              <p:cNvSpPr/>
              <p:nvPr/>
            </p:nvSpPr>
            <p:spPr>
              <a:xfrm>
                <a:off x="6029710" y="3420194"/>
                <a:ext cx="170443" cy="410117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+mn-ea"/>
                </a:endParaRPr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E45EF1D1-9F8C-4EF0-91BD-6678772306D8}"/>
                  </a:ext>
                </a:extLst>
              </p:cNvPr>
              <p:cNvSpPr/>
              <p:nvPr/>
            </p:nvSpPr>
            <p:spPr>
              <a:xfrm>
                <a:off x="5451252" y="3422756"/>
                <a:ext cx="1620304" cy="416995"/>
              </a:xfrm>
              <a:prstGeom prst="rect">
                <a:avLst/>
              </a:prstGeom>
              <a:noFill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+mn-ea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E976B09A-6F2E-41EA-BA17-95066A74C4F0}"/>
                  </a:ext>
                </a:extLst>
              </p:cNvPr>
              <p:cNvSpPr/>
              <p:nvPr/>
            </p:nvSpPr>
            <p:spPr>
              <a:xfrm>
                <a:off x="6199907" y="3591724"/>
                <a:ext cx="1037243" cy="67058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+mn-ea"/>
                </a:endParaRPr>
              </a:p>
            </p:txBody>
          </p:sp>
        </p:grp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949FCF5A-1042-40E1-B90D-59D9518E134B}"/>
                </a:ext>
              </a:extLst>
            </p:cNvPr>
            <p:cNvCxnSpPr>
              <a:cxnSpLocks/>
              <a:endCxn id="57" idx="0"/>
            </p:cNvCxnSpPr>
            <p:nvPr/>
          </p:nvCxnSpPr>
          <p:spPr>
            <a:xfrm>
              <a:off x="4926419" y="3756946"/>
              <a:ext cx="0" cy="887511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9D8CF253-CED9-4287-A867-0CE746AA6C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57348" y="3500202"/>
              <a:ext cx="504056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stealth" w="lg" len="lg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5347F85F-B320-4CB8-A351-A334506B5A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2326" y="3919045"/>
              <a:ext cx="0" cy="468864"/>
            </a:xfrm>
            <a:prstGeom prst="straightConnector1">
              <a:avLst/>
            </a:prstGeom>
            <a:ln>
              <a:solidFill>
                <a:srgbClr val="3387C0"/>
              </a:solidFill>
              <a:prstDash val="sys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50" name="Content Placeholder 2">
              <a:extLst>
                <a:ext uri="{FF2B5EF4-FFF2-40B4-BE49-F238E27FC236}">
                  <a16:creationId xmlns:a16="http://schemas.microsoft.com/office/drawing/2014/main" id="{B17D6FA3-2428-47FE-92D5-4249D880521E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4400603" y="5866500"/>
              <a:ext cx="2724200" cy="3615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9pPr>
            </a:lstStyle>
            <a:p>
              <a:pPr marL="0" indent="0" algn="ctr">
                <a:buNone/>
              </a:pPr>
              <a:r>
                <a:rPr lang="zh-CN" altLang="en-US" sz="1800" kern="0" dirty="0">
                  <a:latin typeface="+mn-ea"/>
                </a:rPr>
                <a:t>泵</a:t>
              </a:r>
              <a:r>
                <a:rPr lang="en-US" altLang="zh-CN" sz="1800" kern="0" dirty="0">
                  <a:latin typeface="+mn-ea"/>
                </a:rPr>
                <a:t>-</a:t>
              </a:r>
              <a:r>
                <a:rPr lang="zh-CN" altLang="en-US" sz="1800" kern="0" dirty="0">
                  <a:latin typeface="+mn-ea"/>
                </a:rPr>
                <a:t>缸式容积调速回路</a:t>
              </a:r>
              <a:endParaRPr lang="en-US" altLang="zh-CN" sz="1800" kern="0" dirty="0">
                <a:latin typeface="+mn-ea"/>
              </a:endParaRPr>
            </a:p>
          </p:txBody>
        </p:sp>
      </p:grp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F4EA019F-A4F3-4F8A-8CC3-6B500BCB795E}"/>
              </a:ext>
            </a:extLst>
          </p:cNvPr>
          <p:cNvCxnSpPr>
            <a:cxnSpLocks/>
          </p:cNvCxnSpPr>
          <p:nvPr/>
        </p:nvCxnSpPr>
        <p:spPr>
          <a:xfrm>
            <a:off x="8930367" y="5164823"/>
            <a:ext cx="729058" cy="0"/>
          </a:xfrm>
          <a:prstGeom prst="straightConnector1">
            <a:avLst/>
          </a:prstGeom>
          <a:ln>
            <a:solidFill>
              <a:srgbClr val="3387C0"/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416A821-AB78-4DE3-97FE-F0918638A533}"/>
              </a:ext>
            </a:extLst>
          </p:cNvPr>
          <p:cNvCxnSpPr>
            <a:cxnSpLocks/>
          </p:cNvCxnSpPr>
          <p:nvPr/>
        </p:nvCxnSpPr>
        <p:spPr>
          <a:xfrm flipV="1">
            <a:off x="8930367" y="4768437"/>
            <a:ext cx="729058" cy="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0" name="Content Placeholder 2">
            <a:extLst>
              <a:ext uri="{FF2B5EF4-FFF2-40B4-BE49-F238E27FC236}">
                <a16:creationId xmlns:a16="http://schemas.microsoft.com/office/drawing/2014/main" id="{C47B6C3B-41FA-456E-8377-D1144ECA2216}"/>
              </a:ext>
            </a:extLst>
          </p:cNvPr>
          <p:cNvSpPr txBox="1">
            <a:spLocks/>
          </p:cNvSpPr>
          <p:nvPr/>
        </p:nvSpPr>
        <p:spPr bwMode="auto">
          <a:xfrm>
            <a:off x="9682128" y="4571111"/>
            <a:ext cx="1152927" cy="361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2000" kern="0" dirty="0">
                <a:latin typeface="+mn-ea"/>
              </a:rPr>
              <a:t>控制量</a:t>
            </a:r>
            <a:endParaRPr lang="en-US" altLang="zh-CN" sz="2000" kern="0" dirty="0">
              <a:latin typeface="+mn-ea"/>
            </a:endParaRPr>
          </a:p>
        </p:txBody>
      </p:sp>
      <p:sp>
        <p:nvSpPr>
          <p:cNvPr id="61" name="Content Placeholder 2">
            <a:extLst>
              <a:ext uri="{FF2B5EF4-FFF2-40B4-BE49-F238E27FC236}">
                <a16:creationId xmlns:a16="http://schemas.microsoft.com/office/drawing/2014/main" id="{CAA01D4A-372E-45A4-896E-86F14FC5F50A}"/>
              </a:ext>
            </a:extLst>
          </p:cNvPr>
          <p:cNvSpPr txBox="1">
            <a:spLocks/>
          </p:cNvSpPr>
          <p:nvPr/>
        </p:nvSpPr>
        <p:spPr bwMode="auto">
          <a:xfrm>
            <a:off x="9622003" y="4984053"/>
            <a:ext cx="1381939" cy="361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2000" kern="0" dirty="0">
                <a:latin typeface="+mn-ea"/>
              </a:rPr>
              <a:t>油液流量</a:t>
            </a:r>
            <a:endParaRPr lang="en-US" altLang="zh-CN" sz="2000" kern="0" dirty="0">
              <a:latin typeface="+mn-ea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35E6CBB-7D2F-417E-A621-7A14A645D4E9}"/>
              </a:ext>
            </a:extLst>
          </p:cNvPr>
          <p:cNvCxnSpPr>
            <a:cxnSpLocks/>
            <a:stCxn id="63" idx="1"/>
          </p:cNvCxnSpPr>
          <p:nvPr/>
        </p:nvCxnSpPr>
        <p:spPr>
          <a:xfrm flipH="1">
            <a:off x="8949742" y="5589338"/>
            <a:ext cx="720078" cy="0"/>
          </a:xfrm>
          <a:prstGeom prst="straightConnector1">
            <a:avLst/>
          </a:prstGeom>
          <a:ln w="38100">
            <a:solidFill>
              <a:srgbClr val="C00000"/>
            </a:solidFill>
            <a:headEnd type="stealth" w="lg" len="lg"/>
            <a:tailEnd type="non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69A38C20-C5BA-4E3D-8485-28278E51ACD7}"/>
              </a:ext>
            </a:extLst>
          </p:cNvPr>
          <p:cNvSpPr txBox="1">
            <a:spLocks/>
          </p:cNvSpPr>
          <p:nvPr/>
        </p:nvSpPr>
        <p:spPr bwMode="auto">
          <a:xfrm>
            <a:off x="9669820" y="5408568"/>
            <a:ext cx="1296143" cy="361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2000" kern="0" dirty="0">
                <a:latin typeface="+mn-ea"/>
              </a:rPr>
              <a:t>运动方向</a:t>
            </a:r>
            <a:endParaRPr lang="en-US" altLang="zh-CN" sz="2000" kern="0" dirty="0">
              <a:latin typeface="+mn-ea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EE75C56-34E1-42BA-A061-8517DFC156C5}"/>
              </a:ext>
            </a:extLst>
          </p:cNvPr>
          <p:cNvCxnSpPr>
            <a:cxnSpLocks/>
          </p:cNvCxnSpPr>
          <p:nvPr/>
        </p:nvCxnSpPr>
        <p:spPr>
          <a:xfrm rot="5400000">
            <a:off x="3208694" y="4695917"/>
            <a:ext cx="0" cy="544995"/>
          </a:xfrm>
          <a:prstGeom prst="straightConnector1">
            <a:avLst/>
          </a:prstGeom>
          <a:ln>
            <a:solidFill>
              <a:srgbClr val="3387C0"/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868524B1-4431-4D1D-8A3F-C5C1006BE001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5/35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14602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E1D67-182D-7015-D5BD-D6033414F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9705F4E1-CD81-4A6A-A0A9-F6B6C8B19270}"/>
              </a:ext>
            </a:extLst>
          </p:cNvPr>
          <p:cNvGrpSpPr/>
          <p:nvPr/>
        </p:nvGrpSpPr>
        <p:grpSpPr>
          <a:xfrm>
            <a:off x="7384908" y="2666604"/>
            <a:ext cx="3724665" cy="2616882"/>
            <a:chOff x="5239823" y="2397538"/>
            <a:chExt cx="3724665" cy="2616882"/>
          </a:xfrm>
        </p:grpSpPr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56522E30-BF8B-4DA4-B289-1497A45E3909}"/>
                </a:ext>
              </a:extLst>
            </p:cNvPr>
            <p:cNvGrpSpPr/>
            <p:nvPr/>
          </p:nvGrpSpPr>
          <p:grpSpPr>
            <a:xfrm>
              <a:off x="5239823" y="3294874"/>
              <a:ext cx="1321491" cy="931905"/>
              <a:chOff x="731964" y="4852752"/>
              <a:chExt cx="1306871" cy="921595"/>
            </a:xfrm>
            <a:solidFill>
              <a:schemeClr val="bg1">
                <a:lumMod val="95000"/>
              </a:schemeClr>
            </a:solidFill>
          </p:grpSpPr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993DC349-D38E-453F-86F6-1C34DB800766}"/>
                  </a:ext>
                </a:extLst>
              </p:cNvPr>
              <p:cNvSpPr/>
              <p:nvPr/>
            </p:nvSpPr>
            <p:spPr>
              <a:xfrm>
                <a:off x="731964" y="5197084"/>
                <a:ext cx="443554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93653667-9F66-4703-9C0A-17D9195F0627}"/>
                  </a:ext>
                </a:extLst>
              </p:cNvPr>
              <p:cNvGrpSpPr/>
              <p:nvPr/>
            </p:nvGrpSpPr>
            <p:grpSpPr>
              <a:xfrm>
                <a:off x="1124151" y="4852752"/>
                <a:ext cx="914684" cy="921595"/>
                <a:chOff x="1475656" y="3904642"/>
                <a:chExt cx="864096" cy="870627"/>
              </a:xfrm>
              <a:grpFill/>
            </p:grpSpPr>
            <p:sp>
              <p:nvSpPr>
                <p:cNvPr id="39" name="椭圆 38">
                  <a:extLst>
                    <a:ext uri="{FF2B5EF4-FFF2-40B4-BE49-F238E27FC236}">
                      <a16:creationId xmlns:a16="http://schemas.microsoft.com/office/drawing/2014/main" id="{2CFAF961-3D7B-45A6-B4F7-680390B3F575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0" name="等腰三角形 39">
                  <a:extLst>
                    <a:ext uri="{FF2B5EF4-FFF2-40B4-BE49-F238E27FC236}">
                      <a16:creationId xmlns:a16="http://schemas.microsoft.com/office/drawing/2014/main" id="{9B75E091-BD79-40F9-957D-E62EBDCD86B1}"/>
                    </a:ext>
                  </a:extLst>
                </p:cNvPr>
                <p:cNvSpPr/>
                <p:nvPr/>
              </p:nvSpPr>
              <p:spPr>
                <a:xfrm>
                  <a:off x="1778041" y="3904642"/>
                  <a:ext cx="259326" cy="184758"/>
                </a:xfrm>
                <a:prstGeom prst="triangle">
                  <a:avLst/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264D776B-20A1-47D5-AE13-5FFA7B1025F3}"/>
                </a:ext>
              </a:extLst>
            </p:cNvPr>
            <p:cNvGrpSpPr/>
            <p:nvPr/>
          </p:nvGrpSpPr>
          <p:grpSpPr>
            <a:xfrm>
              <a:off x="7610175" y="3301866"/>
              <a:ext cx="1354313" cy="924914"/>
              <a:chOff x="1124151" y="4859667"/>
              <a:chExt cx="1339330" cy="914682"/>
            </a:xfrm>
            <a:solidFill>
              <a:schemeClr val="bg1">
                <a:lumMod val="95000"/>
              </a:schemeClr>
            </a:solidFill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BEC861B1-A0C5-4367-BC3C-E8BED91F8995}"/>
                  </a:ext>
                </a:extLst>
              </p:cNvPr>
              <p:cNvSpPr/>
              <p:nvPr/>
            </p:nvSpPr>
            <p:spPr>
              <a:xfrm>
                <a:off x="1930746" y="5197084"/>
                <a:ext cx="532735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49DF87AA-DE97-42E6-9625-5193A10CE9DC}"/>
                  </a:ext>
                </a:extLst>
              </p:cNvPr>
              <p:cNvGrpSpPr/>
              <p:nvPr/>
            </p:nvGrpSpPr>
            <p:grpSpPr>
              <a:xfrm>
                <a:off x="1124151" y="4859667"/>
                <a:ext cx="914684" cy="914682"/>
                <a:chOff x="1475656" y="3911173"/>
                <a:chExt cx="864096" cy="864096"/>
              </a:xfrm>
              <a:grpFill/>
            </p:grpSpPr>
            <p:sp>
              <p:nvSpPr>
                <p:cNvPr id="35" name="椭圆 34">
                  <a:extLst>
                    <a:ext uri="{FF2B5EF4-FFF2-40B4-BE49-F238E27FC236}">
                      <a16:creationId xmlns:a16="http://schemas.microsoft.com/office/drawing/2014/main" id="{EF09B012-36C6-4776-AFDC-A039ACBA9725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6" name="等腰三角形 35">
                  <a:extLst>
                    <a:ext uri="{FF2B5EF4-FFF2-40B4-BE49-F238E27FC236}">
                      <a16:creationId xmlns:a16="http://schemas.microsoft.com/office/drawing/2014/main" id="{E46408C3-383B-4E6F-B9D9-8B1A5E57A1BB}"/>
                    </a:ext>
                  </a:extLst>
                </p:cNvPr>
                <p:cNvSpPr/>
                <p:nvPr/>
              </p:nvSpPr>
              <p:spPr>
                <a:xfrm flipV="1">
                  <a:off x="1799306" y="3950618"/>
                  <a:ext cx="207476" cy="167021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8C99FB17-CFA5-4969-A34F-5D1936EC1D8D}"/>
                </a:ext>
              </a:extLst>
            </p:cNvPr>
            <p:cNvSpPr/>
            <p:nvPr/>
          </p:nvSpPr>
          <p:spPr>
            <a:xfrm>
              <a:off x="6098853" y="2397538"/>
              <a:ext cx="1973780" cy="924914"/>
            </a:xfrm>
            <a:custGeom>
              <a:avLst/>
              <a:gdLst>
                <a:gd name="connsiteX0" fmla="*/ 0 w 3925824"/>
                <a:gd name="connsiteY0" fmla="*/ 707136 h 719328"/>
                <a:gd name="connsiteX1" fmla="*/ 0 w 3925824"/>
                <a:gd name="connsiteY1" fmla="*/ 0 h 719328"/>
                <a:gd name="connsiteX2" fmla="*/ 3925824 w 3925824"/>
                <a:gd name="connsiteY2" fmla="*/ 0 h 719328"/>
                <a:gd name="connsiteX3" fmla="*/ 3925824 w 3925824"/>
                <a:gd name="connsiteY3" fmla="*/ 719328 h 719328"/>
                <a:gd name="connsiteX4" fmla="*/ 3925824 w 3925824"/>
                <a:gd name="connsiteY4" fmla="*/ 719328 h 7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25824" h="719328">
                  <a:moveTo>
                    <a:pt x="0" y="707136"/>
                  </a:moveTo>
                  <a:lnTo>
                    <a:pt x="0" y="0"/>
                  </a:lnTo>
                  <a:lnTo>
                    <a:pt x="3925824" y="0"/>
                  </a:lnTo>
                  <a:lnTo>
                    <a:pt x="3925824" y="719328"/>
                  </a:lnTo>
                  <a:lnTo>
                    <a:pt x="3925824" y="719328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170D0226-0C7E-44E4-ABC1-2FB89773CAB2}"/>
                </a:ext>
              </a:extLst>
            </p:cNvPr>
            <p:cNvCxnSpPr/>
            <p:nvPr/>
          </p:nvCxnSpPr>
          <p:spPr>
            <a:xfrm flipV="1">
              <a:off x="5722675" y="3158653"/>
              <a:ext cx="856243" cy="12113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42896D4B-0BBB-45BB-8FCD-A23EC028CF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4825" y="3158655"/>
              <a:ext cx="816644" cy="12113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F7F1C749-48D9-4925-B3E4-D83C9404DFD5}"/>
                </a:ext>
              </a:extLst>
            </p:cNvPr>
            <p:cNvSpPr/>
            <p:nvPr/>
          </p:nvSpPr>
          <p:spPr>
            <a:xfrm>
              <a:off x="5854597" y="4792367"/>
              <a:ext cx="488514" cy="222053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32EF912F-B38E-429B-8FCC-F999294D9E47}"/>
                </a:ext>
              </a:extLst>
            </p:cNvPr>
            <p:cNvCxnSpPr>
              <a:cxnSpLocks/>
            </p:cNvCxnSpPr>
            <p:nvPr/>
          </p:nvCxnSpPr>
          <p:spPr>
            <a:xfrm>
              <a:off x="6108315" y="4231892"/>
              <a:ext cx="0" cy="71266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AB3D1115-C509-4E4E-848F-4D07009EB7C5}"/>
                </a:ext>
              </a:extLst>
            </p:cNvPr>
            <p:cNvSpPr/>
            <p:nvPr/>
          </p:nvSpPr>
          <p:spPr>
            <a:xfrm>
              <a:off x="7827679" y="4776211"/>
              <a:ext cx="488514" cy="222053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9B6B697-AE09-4CA8-9B7B-420F8C6D720C}"/>
                </a:ext>
              </a:extLst>
            </p:cNvPr>
            <p:cNvCxnSpPr>
              <a:cxnSpLocks/>
              <a:stCxn id="35" idx="4"/>
            </p:cNvCxnSpPr>
            <p:nvPr/>
          </p:nvCxnSpPr>
          <p:spPr>
            <a:xfrm>
              <a:off x="8072634" y="4226780"/>
              <a:ext cx="8763" cy="676613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B0F61F3E-7B1A-438D-AEFB-DD78E5218F84}"/>
              </a:ext>
            </a:extLst>
          </p:cNvPr>
          <p:cNvSpPr txBox="1">
            <a:spLocks/>
          </p:cNvSpPr>
          <p:nvPr/>
        </p:nvSpPr>
        <p:spPr bwMode="auto">
          <a:xfrm>
            <a:off x="8013229" y="1479824"/>
            <a:ext cx="2165487" cy="497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2400" b="1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开式回路</a:t>
            </a:r>
            <a:endParaRPr lang="en-US" altLang="zh-CN" sz="2400" b="1" kern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67363B-4433-4234-BE7B-918B2D18C65F}"/>
              </a:ext>
            </a:extLst>
          </p:cNvPr>
          <p:cNvSpPr txBox="1"/>
          <p:nvPr/>
        </p:nvSpPr>
        <p:spPr>
          <a:xfrm>
            <a:off x="608231" y="4833220"/>
            <a:ext cx="207633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2000" kern="0" baseline="30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zh-CN" altLang="en-US" sz="2000" b="1" kern="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补油泵</a:t>
            </a:r>
            <a:r>
              <a:rPr lang="zh-CN" altLang="en-US" sz="20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流量一般为主泵流量的</a:t>
            </a:r>
            <a:r>
              <a:rPr lang="en-US" altLang="zh-CN" sz="20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10%-15%</a:t>
            </a:r>
            <a:r>
              <a:rPr lang="zh-CN" altLang="en-US" sz="20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，压力通常为</a:t>
            </a:r>
            <a:r>
              <a:rPr lang="en-US" altLang="zh-CN" sz="20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0.3-1.0MPa</a:t>
            </a:r>
            <a:endParaRPr lang="zh-CN" altLang="en-US" sz="2000" kern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4CC98ACB-1E14-41C9-9A54-1D3C159C3172}"/>
              </a:ext>
            </a:extLst>
          </p:cNvPr>
          <p:cNvSpPr txBox="1">
            <a:spLocks/>
          </p:cNvSpPr>
          <p:nvPr/>
        </p:nvSpPr>
        <p:spPr bwMode="auto">
          <a:xfrm>
            <a:off x="3548072" y="1496829"/>
            <a:ext cx="2017572" cy="46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2400" b="1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闭式回路</a:t>
            </a:r>
            <a:endParaRPr lang="en-US" altLang="zh-CN" sz="2400" b="1" kern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5F5EE4B0-6FA0-45FB-B8E2-79CD72773AB5}"/>
              </a:ext>
            </a:extLst>
          </p:cNvPr>
          <p:cNvGrpSpPr/>
          <p:nvPr/>
        </p:nvGrpSpPr>
        <p:grpSpPr>
          <a:xfrm>
            <a:off x="2278129" y="2714824"/>
            <a:ext cx="4588691" cy="2567418"/>
            <a:chOff x="133044" y="2445758"/>
            <a:chExt cx="4588691" cy="2567418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F68866F-7493-4D7F-AF89-5B09D935D66F}"/>
                </a:ext>
              </a:extLst>
            </p:cNvPr>
            <p:cNvSpPr/>
            <p:nvPr/>
          </p:nvSpPr>
          <p:spPr>
            <a:xfrm>
              <a:off x="1179376" y="3808220"/>
              <a:ext cx="582969" cy="2259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C872AF4E-A73B-4B11-B7D1-B645ABF9B48D}"/>
                </a:ext>
              </a:extLst>
            </p:cNvPr>
            <p:cNvGrpSpPr/>
            <p:nvPr/>
          </p:nvGrpSpPr>
          <p:grpSpPr>
            <a:xfrm>
              <a:off x="133044" y="3499120"/>
              <a:ext cx="1231225" cy="861736"/>
              <a:chOff x="731964" y="4859666"/>
              <a:chExt cx="1306871" cy="914682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780F59DA-CB3C-4EA3-89C0-D90C9EEFEE44}"/>
                  </a:ext>
                </a:extLst>
              </p:cNvPr>
              <p:cNvSpPr/>
              <p:nvPr/>
            </p:nvSpPr>
            <p:spPr>
              <a:xfrm>
                <a:off x="731964" y="5197084"/>
                <a:ext cx="443554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7" name="组合 66">
                <a:extLst>
                  <a:ext uri="{FF2B5EF4-FFF2-40B4-BE49-F238E27FC236}">
                    <a16:creationId xmlns:a16="http://schemas.microsoft.com/office/drawing/2014/main" id="{F5DC9834-70E5-4377-9CB4-F75AFAADF2DB}"/>
                  </a:ext>
                </a:extLst>
              </p:cNvPr>
              <p:cNvGrpSpPr/>
              <p:nvPr/>
            </p:nvGrpSpPr>
            <p:grpSpPr>
              <a:xfrm>
                <a:off x="1124151" y="4859666"/>
                <a:ext cx="914684" cy="914682"/>
                <a:chOff x="1475656" y="3911173"/>
                <a:chExt cx="864096" cy="864096"/>
              </a:xfrm>
              <a:grpFill/>
            </p:grpSpPr>
            <p:sp>
              <p:nvSpPr>
                <p:cNvPr id="68" name="椭圆 67">
                  <a:extLst>
                    <a:ext uri="{FF2B5EF4-FFF2-40B4-BE49-F238E27FC236}">
                      <a16:creationId xmlns:a16="http://schemas.microsoft.com/office/drawing/2014/main" id="{FA6A6FE6-334A-4582-919D-5496BA881A9A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69" name="等腰三角形 68">
                  <a:extLst>
                    <a:ext uri="{FF2B5EF4-FFF2-40B4-BE49-F238E27FC236}">
                      <a16:creationId xmlns:a16="http://schemas.microsoft.com/office/drawing/2014/main" id="{A557D6B8-B702-43E2-8484-BA2BF9852A8E}"/>
                    </a:ext>
                  </a:extLst>
                </p:cNvPr>
                <p:cNvSpPr/>
                <p:nvPr/>
              </p:nvSpPr>
              <p:spPr>
                <a:xfrm>
                  <a:off x="1778042" y="3944924"/>
                  <a:ext cx="259326" cy="184758"/>
                </a:xfrm>
                <a:prstGeom prst="triangle">
                  <a:avLst/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501C64A5-7F8B-41EF-B87C-9E62F6512C7B}"/>
                </a:ext>
              </a:extLst>
            </p:cNvPr>
            <p:cNvGrpSpPr/>
            <p:nvPr/>
          </p:nvGrpSpPr>
          <p:grpSpPr>
            <a:xfrm>
              <a:off x="3459929" y="3499124"/>
              <a:ext cx="1261806" cy="861736"/>
              <a:chOff x="1124151" y="4859667"/>
              <a:chExt cx="1339330" cy="914682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07CB766-2E07-4C37-8E24-5DAF7CCE6BE7}"/>
                  </a:ext>
                </a:extLst>
              </p:cNvPr>
              <p:cNvSpPr/>
              <p:nvPr/>
            </p:nvSpPr>
            <p:spPr>
              <a:xfrm>
                <a:off x="1930746" y="5197084"/>
                <a:ext cx="532735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2276607-6E51-4215-971E-EE768E61D711}"/>
                  </a:ext>
                </a:extLst>
              </p:cNvPr>
              <p:cNvGrpSpPr/>
              <p:nvPr/>
            </p:nvGrpSpPr>
            <p:grpSpPr>
              <a:xfrm>
                <a:off x="1124151" y="4859667"/>
                <a:ext cx="914684" cy="914682"/>
                <a:chOff x="1475656" y="3911173"/>
                <a:chExt cx="864096" cy="864096"/>
              </a:xfrm>
              <a:grpFill/>
            </p:grpSpPr>
            <p:sp>
              <p:nvSpPr>
                <p:cNvPr id="64" name="椭圆 63">
                  <a:extLst>
                    <a:ext uri="{FF2B5EF4-FFF2-40B4-BE49-F238E27FC236}">
                      <a16:creationId xmlns:a16="http://schemas.microsoft.com/office/drawing/2014/main" id="{997B6E8C-A212-429C-B136-DB22318022FD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65" name="等腰三角形 64">
                  <a:extLst>
                    <a:ext uri="{FF2B5EF4-FFF2-40B4-BE49-F238E27FC236}">
                      <a16:creationId xmlns:a16="http://schemas.microsoft.com/office/drawing/2014/main" id="{47BE2404-7540-4D05-86F0-567C33DA213F}"/>
                    </a:ext>
                  </a:extLst>
                </p:cNvPr>
                <p:cNvSpPr/>
                <p:nvPr/>
              </p:nvSpPr>
              <p:spPr>
                <a:xfrm flipV="1">
                  <a:off x="1799306" y="3950618"/>
                  <a:ext cx="207476" cy="167021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sp>
          <p:nvSpPr>
            <p:cNvPr id="48" name="任意多边形: 形状 47">
              <a:extLst>
                <a:ext uri="{FF2B5EF4-FFF2-40B4-BE49-F238E27FC236}">
                  <a16:creationId xmlns:a16="http://schemas.microsoft.com/office/drawing/2014/main" id="{AB86065A-55F1-4F24-B91E-996FA022D838}"/>
                </a:ext>
              </a:extLst>
            </p:cNvPr>
            <p:cNvSpPr/>
            <p:nvPr/>
          </p:nvSpPr>
          <p:spPr>
            <a:xfrm>
              <a:off x="933398" y="2445758"/>
              <a:ext cx="2956751" cy="1072547"/>
            </a:xfrm>
            <a:custGeom>
              <a:avLst/>
              <a:gdLst>
                <a:gd name="connsiteX0" fmla="*/ 0 w 3925824"/>
                <a:gd name="connsiteY0" fmla="*/ 707136 h 719328"/>
                <a:gd name="connsiteX1" fmla="*/ 0 w 3925824"/>
                <a:gd name="connsiteY1" fmla="*/ 0 h 719328"/>
                <a:gd name="connsiteX2" fmla="*/ 3925824 w 3925824"/>
                <a:gd name="connsiteY2" fmla="*/ 0 h 719328"/>
                <a:gd name="connsiteX3" fmla="*/ 3925824 w 3925824"/>
                <a:gd name="connsiteY3" fmla="*/ 719328 h 719328"/>
                <a:gd name="connsiteX4" fmla="*/ 3925824 w 3925824"/>
                <a:gd name="connsiteY4" fmla="*/ 719328 h 7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25824" h="719328">
                  <a:moveTo>
                    <a:pt x="0" y="707136"/>
                  </a:moveTo>
                  <a:lnTo>
                    <a:pt x="0" y="0"/>
                  </a:lnTo>
                  <a:lnTo>
                    <a:pt x="3925824" y="0"/>
                  </a:lnTo>
                  <a:lnTo>
                    <a:pt x="3925824" y="719328"/>
                  </a:lnTo>
                  <a:lnTo>
                    <a:pt x="3925824" y="719328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F8D8C7B9-F3F1-41B6-87DA-24EDCC2BEA0F}"/>
                </a:ext>
              </a:extLst>
            </p:cNvPr>
            <p:cNvCxnSpPr/>
            <p:nvPr/>
          </p:nvCxnSpPr>
          <p:spPr>
            <a:xfrm flipV="1">
              <a:off x="582914" y="3365694"/>
              <a:ext cx="797756" cy="112858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79B37B87-79D3-4B23-8EF9-316761705E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0164" y="3429000"/>
              <a:ext cx="907820" cy="1065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任意多边形: 形状 50">
              <a:extLst>
                <a:ext uri="{FF2B5EF4-FFF2-40B4-BE49-F238E27FC236}">
                  <a16:creationId xmlns:a16="http://schemas.microsoft.com/office/drawing/2014/main" id="{E93EF07E-6463-4EEB-B24D-D4D6E042EF3F}"/>
                </a:ext>
              </a:extLst>
            </p:cNvPr>
            <p:cNvSpPr/>
            <p:nvPr/>
          </p:nvSpPr>
          <p:spPr>
            <a:xfrm flipV="1">
              <a:off x="933398" y="4352046"/>
              <a:ext cx="2956751" cy="620755"/>
            </a:xfrm>
            <a:custGeom>
              <a:avLst/>
              <a:gdLst>
                <a:gd name="connsiteX0" fmla="*/ 0 w 3925824"/>
                <a:gd name="connsiteY0" fmla="*/ 707136 h 719328"/>
                <a:gd name="connsiteX1" fmla="*/ 0 w 3925824"/>
                <a:gd name="connsiteY1" fmla="*/ 0 h 719328"/>
                <a:gd name="connsiteX2" fmla="*/ 3925824 w 3925824"/>
                <a:gd name="connsiteY2" fmla="*/ 0 h 719328"/>
                <a:gd name="connsiteX3" fmla="*/ 3925824 w 3925824"/>
                <a:gd name="connsiteY3" fmla="*/ 719328 h 719328"/>
                <a:gd name="connsiteX4" fmla="*/ 3925824 w 3925824"/>
                <a:gd name="connsiteY4" fmla="*/ 719328 h 7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25824" h="719328">
                  <a:moveTo>
                    <a:pt x="0" y="707136"/>
                  </a:moveTo>
                  <a:lnTo>
                    <a:pt x="0" y="0"/>
                  </a:lnTo>
                  <a:lnTo>
                    <a:pt x="3925824" y="0"/>
                  </a:lnTo>
                  <a:lnTo>
                    <a:pt x="3925824" y="719328"/>
                  </a:lnTo>
                  <a:lnTo>
                    <a:pt x="3925824" y="719328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任意多边形: 形状 51">
              <a:extLst>
                <a:ext uri="{FF2B5EF4-FFF2-40B4-BE49-F238E27FC236}">
                  <a16:creationId xmlns:a16="http://schemas.microsoft.com/office/drawing/2014/main" id="{B9F784F9-1BC0-4304-B834-5DC2CC1AB47B}"/>
                </a:ext>
              </a:extLst>
            </p:cNvPr>
            <p:cNvSpPr/>
            <p:nvPr/>
          </p:nvSpPr>
          <p:spPr>
            <a:xfrm>
              <a:off x="1955795" y="2781276"/>
              <a:ext cx="518037" cy="2179970"/>
            </a:xfrm>
            <a:custGeom>
              <a:avLst/>
              <a:gdLst>
                <a:gd name="connsiteX0" fmla="*/ 0 w 403411"/>
                <a:gd name="connsiteY0" fmla="*/ 251012 h 1201271"/>
                <a:gd name="connsiteX1" fmla="*/ 0 w 403411"/>
                <a:gd name="connsiteY1" fmla="*/ 0 h 1201271"/>
                <a:gd name="connsiteX2" fmla="*/ 403411 w 403411"/>
                <a:gd name="connsiteY2" fmla="*/ 0 h 1201271"/>
                <a:gd name="connsiteX3" fmla="*/ 403411 w 403411"/>
                <a:gd name="connsiteY3" fmla="*/ 1201271 h 1201271"/>
                <a:gd name="connsiteX0" fmla="*/ 3175 w 403411"/>
                <a:gd name="connsiteY0" fmla="*/ 167105 h 1201271"/>
                <a:gd name="connsiteX1" fmla="*/ 0 w 403411"/>
                <a:gd name="connsiteY1" fmla="*/ 0 h 1201271"/>
                <a:gd name="connsiteX2" fmla="*/ 403411 w 403411"/>
                <a:gd name="connsiteY2" fmla="*/ 0 h 1201271"/>
                <a:gd name="connsiteX3" fmla="*/ 403411 w 403411"/>
                <a:gd name="connsiteY3" fmla="*/ 1201271 h 1201271"/>
                <a:gd name="connsiteX0" fmla="*/ 140 w 406726"/>
                <a:gd name="connsiteY0" fmla="*/ 169502 h 1201271"/>
                <a:gd name="connsiteX1" fmla="*/ 3315 w 406726"/>
                <a:gd name="connsiteY1" fmla="*/ 0 h 1201271"/>
                <a:gd name="connsiteX2" fmla="*/ 406726 w 406726"/>
                <a:gd name="connsiteY2" fmla="*/ 0 h 1201271"/>
                <a:gd name="connsiteX3" fmla="*/ 406726 w 406726"/>
                <a:gd name="connsiteY3" fmla="*/ 1201271 h 1201271"/>
                <a:gd name="connsiteX0" fmla="*/ 3175 w 403411"/>
                <a:gd name="connsiteY0" fmla="*/ 169502 h 1201271"/>
                <a:gd name="connsiteX1" fmla="*/ 0 w 403411"/>
                <a:gd name="connsiteY1" fmla="*/ 0 h 1201271"/>
                <a:gd name="connsiteX2" fmla="*/ 403411 w 403411"/>
                <a:gd name="connsiteY2" fmla="*/ 0 h 1201271"/>
                <a:gd name="connsiteX3" fmla="*/ 403411 w 403411"/>
                <a:gd name="connsiteY3" fmla="*/ 1201271 h 1201271"/>
                <a:gd name="connsiteX0" fmla="*/ 3175 w 403411"/>
                <a:gd name="connsiteY0" fmla="*/ 169502 h 1201271"/>
                <a:gd name="connsiteX1" fmla="*/ 0 w 403411"/>
                <a:gd name="connsiteY1" fmla="*/ 0 h 1201271"/>
                <a:gd name="connsiteX2" fmla="*/ 403411 w 403411"/>
                <a:gd name="connsiteY2" fmla="*/ 0 h 1201271"/>
                <a:gd name="connsiteX3" fmla="*/ 403411 w 403411"/>
                <a:gd name="connsiteY3" fmla="*/ 1201271 h 1201271"/>
                <a:gd name="connsiteX0" fmla="*/ 91 w 409852"/>
                <a:gd name="connsiteY0" fmla="*/ 169502 h 1201271"/>
                <a:gd name="connsiteX1" fmla="*/ 6441 w 409852"/>
                <a:gd name="connsiteY1" fmla="*/ 0 h 1201271"/>
                <a:gd name="connsiteX2" fmla="*/ 409852 w 409852"/>
                <a:gd name="connsiteY2" fmla="*/ 0 h 1201271"/>
                <a:gd name="connsiteX3" fmla="*/ 409852 w 409852"/>
                <a:gd name="connsiteY3" fmla="*/ 1201271 h 1201271"/>
                <a:gd name="connsiteX0" fmla="*/ 306 w 403717"/>
                <a:gd name="connsiteY0" fmla="*/ 169502 h 1201271"/>
                <a:gd name="connsiteX1" fmla="*/ 306 w 403717"/>
                <a:gd name="connsiteY1" fmla="*/ 0 h 1201271"/>
                <a:gd name="connsiteX2" fmla="*/ 403717 w 403717"/>
                <a:gd name="connsiteY2" fmla="*/ 0 h 1201271"/>
                <a:gd name="connsiteX3" fmla="*/ 403717 w 403717"/>
                <a:gd name="connsiteY3" fmla="*/ 1201271 h 1201271"/>
                <a:gd name="connsiteX0" fmla="*/ 306 w 403717"/>
                <a:gd name="connsiteY0" fmla="*/ 169502 h 1282781"/>
                <a:gd name="connsiteX1" fmla="*/ 306 w 403717"/>
                <a:gd name="connsiteY1" fmla="*/ 0 h 1282781"/>
                <a:gd name="connsiteX2" fmla="*/ 403717 w 403717"/>
                <a:gd name="connsiteY2" fmla="*/ 0 h 1282781"/>
                <a:gd name="connsiteX3" fmla="*/ 403717 w 403717"/>
                <a:gd name="connsiteY3" fmla="*/ 1282781 h 1282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3717" h="1282781">
                  <a:moveTo>
                    <a:pt x="306" y="169502"/>
                  </a:moveTo>
                  <a:cubicBezTo>
                    <a:pt x="-752" y="113800"/>
                    <a:pt x="1364" y="55702"/>
                    <a:pt x="306" y="0"/>
                  </a:cubicBezTo>
                  <a:lnTo>
                    <a:pt x="403717" y="0"/>
                  </a:lnTo>
                  <a:lnTo>
                    <a:pt x="403717" y="1282781"/>
                  </a:lnTo>
                </a:path>
              </a:pathLst>
            </a:custGeom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任意多边形: 形状 52">
              <a:extLst>
                <a:ext uri="{FF2B5EF4-FFF2-40B4-BE49-F238E27FC236}">
                  <a16:creationId xmlns:a16="http://schemas.microsoft.com/office/drawing/2014/main" id="{4486FA4E-149B-4385-9FF5-874DAAA71F56}"/>
                </a:ext>
              </a:extLst>
            </p:cNvPr>
            <p:cNvSpPr/>
            <p:nvPr/>
          </p:nvSpPr>
          <p:spPr>
            <a:xfrm>
              <a:off x="1719799" y="4460712"/>
              <a:ext cx="455145" cy="206885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D8C6FE1E-627C-4570-A6D6-3C21B8691CF0}"/>
                </a:ext>
              </a:extLst>
            </p:cNvPr>
            <p:cNvCxnSpPr>
              <a:cxnSpLocks/>
            </p:cNvCxnSpPr>
            <p:nvPr/>
          </p:nvCxnSpPr>
          <p:spPr>
            <a:xfrm>
              <a:off x="1956187" y="4250698"/>
              <a:ext cx="0" cy="37854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39C9F267-0EA7-4FCA-AB47-F3F07FDD3B71}"/>
                </a:ext>
              </a:extLst>
            </p:cNvPr>
            <p:cNvGrpSpPr/>
            <p:nvPr/>
          </p:nvGrpSpPr>
          <p:grpSpPr>
            <a:xfrm>
              <a:off x="1620191" y="3620025"/>
              <a:ext cx="667682" cy="667679"/>
              <a:chOff x="1475656" y="3911173"/>
              <a:chExt cx="864096" cy="864096"/>
            </a:xfrm>
            <a:solidFill>
              <a:schemeClr val="bg1">
                <a:lumMod val="95000"/>
              </a:schemeClr>
            </a:solidFill>
          </p:grpSpPr>
          <p:sp>
            <p:nvSpPr>
              <p:cNvPr id="60" name="椭圆 59">
                <a:extLst>
                  <a:ext uri="{FF2B5EF4-FFF2-40B4-BE49-F238E27FC236}">
                    <a16:creationId xmlns:a16="http://schemas.microsoft.com/office/drawing/2014/main" id="{C332ECBE-AC18-4401-9F2A-0909673F70A3}"/>
                  </a:ext>
                </a:extLst>
              </p:cNvPr>
              <p:cNvSpPr/>
              <p:nvPr/>
            </p:nvSpPr>
            <p:spPr>
              <a:xfrm>
                <a:off x="1475656" y="3911173"/>
                <a:ext cx="864096" cy="864096"/>
              </a:xfrm>
              <a:prstGeom prst="ellipse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 dirty="0">
                  <a:ln w="28575">
                    <a:solidFill>
                      <a:schemeClr val="tx1"/>
                    </a:solidFill>
                  </a:ln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1" name="等腰三角形 60">
                <a:extLst>
                  <a:ext uri="{FF2B5EF4-FFF2-40B4-BE49-F238E27FC236}">
                    <a16:creationId xmlns:a16="http://schemas.microsoft.com/office/drawing/2014/main" id="{ED9AB545-0115-4B52-AFC6-2656C21ECDB8}"/>
                  </a:ext>
                </a:extLst>
              </p:cNvPr>
              <p:cNvSpPr/>
              <p:nvPr/>
            </p:nvSpPr>
            <p:spPr>
              <a:xfrm>
                <a:off x="1765075" y="3922351"/>
                <a:ext cx="285259" cy="223557"/>
              </a:xfrm>
              <a:prstGeom prst="triangle">
                <a:avLst/>
              </a:prstGeom>
              <a:solidFill>
                <a:schemeClr val="tx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311DD79E-1FA1-4A4E-ABDA-2AD2A7BF94DF}"/>
                </a:ext>
              </a:extLst>
            </p:cNvPr>
            <p:cNvSpPr/>
            <p:nvPr/>
          </p:nvSpPr>
          <p:spPr>
            <a:xfrm>
              <a:off x="1828633" y="2956685"/>
              <a:ext cx="255107" cy="255107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任意多边形: 形状 56">
              <a:extLst>
                <a:ext uri="{FF2B5EF4-FFF2-40B4-BE49-F238E27FC236}">
                  <a16:creationId xmlns:a16="http://schemas.microsoft.com/office/drawing/2014/main" id="{63756B55-CF11-458E-A99F-BC2E8F4648AF}"/>
                </a:ext>
              </a:extLst>
            </p:cNvPr>
            <p:cNvSpPr/>
            <p:nvPr/>
          </p:nvSpPr>
          <p:spPr>
            <a:xfrm>
              <a:off x="1736187" y="3082950"/>
              <a:ext cx="439999" cy="236296"/>
            </a:xfrm>
            <a:custGeom>
              <a:avLst/>
              <a:gdLst>
                <a:gd name="connsiteX0" fmla="*/ 0 w 336550"/>
                <a:gd name="connsiteY0" fmla="*/ 0 h 177800"/>
                <a:gd name="connsiteX1" fmla="*/ 177800 w 336550"/>
                <a:gd name="connsiteY1" fmla="*/ 177800 h 177800"/>
                <a:gd name="connsiteX2" fmla="*/ 336550 w 336550"/>
                <a:gd name="connsiteY2" fmla="*/ 19050 h 177800"/>
                <a:gd name="connsiteX0" fmla="*/ 0 w 381000"/>
                <a:gd name="connsiteY0" fmla="*/ 44450 h 222250"/>
                <a:gd name="connsiteX1" fmla="*/ 177800 w 381000"/>
                <a:gd name="connsiteY1" fmla="*/ 222250 h 222250"/>
                <a:gd name="connsiteX2" fmla="*/ 381000 w 381000"/>
                <a:gd name="connsiteY2" fmla="*/ 0 h 222250"/>
                <a:gd name="connsiteX0" fmla="*/ 0 w 323850"/>
                <a:gd name="connsiteY0" fmla="*/ 0 h 177800"/>
                <a:gd name="connsiteX1" fmla="*/ 177800 w 323850"/>
                <a:gd name="connsiteY1" fmla="*/ 177800 h 177800"/>
                <a:gd name="connsiteX2" fmla="*/ 323850 w 323850"/>
                <a:gd name="connsiteY2" fmla="*/ 19050 h 177800"/>
                <a:gd name="connsiteX0" fmla="*/ 0 w 342900"/>
                <a:gd name="connsiteY0" fmla="*/ 6350 h 184150"/>
                <a:gd name="connsiteX1" fmla="*/ 177800 w 342900"/>
                <a:gd name="connsiteY1" fmla="*/ 184150 h 184150"/>
                <a:gd name="connsiteX2" fmla="*/ 342900 w 342900"/>
                <a:gd name="connsiteY2" fmla="*/ 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" h="184150">
                  <a:moveTo>
                    <a:pt x="0" y="6350"/>
                  </a:moveTo>
                  <a:lnTo>
                    <a:pt x="177800" y="184150"/>
                  </a:lnTo>
                  <a:lnTo>
                    <a:pt x="342900" y="0"/>
                  </a:lnTo>
                </a:path>
              </a:pathLst>
            </a:cu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386DF3E4-7D7F-4D81-BD01-8C9F76D397EC}"/>
                </a:ext>
              </a:extLst>
            </p:cNvPr>
            <p:cNvCxnSpPr>
              <a:cxnSpLocks/>
              <a:stCxn id="57" idx="1"/>
            </p:cNvCxnSpPr>
            <p:nvPr/>
          </p:nvCxnSpPr>
          <p:spPr>
            <a:xfrm flipH="1">
              <a:off x="1956186" y="3319246"/>
              <a:ext cx="8148" cy="30941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8FD779FD-0559-48EB-9C9B-FDDDC83EFAB8}"/>
                </a:ext>
              </a:extLst>
            </p:cNvPr>
            <p:cNvSpPr/>
            <p:nvPr/>
          </p:nvSpPr>
          <p:spPr>
            <a:xfrm>
              <a:off x="2419283" y="4904080"/>
              <a:ext cx="109096" cy="10909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93B775E0-6F17-4749-BAA0-60749D8FB7D4}"/>
              </a:ext>
            </a:extLst>
          </p:cNvPr>
          <p:cNvCxnSpPr>
            <a:cxnSpLocks/>
          </p:cNvCxnSpPr>
          <p:nvPr/>
        </p:nvCxnSpPr>
        <p:spPr>
          <a:xfrm flipH="1" flipV="1">
            <a:off x="5276926" y="5210235"/>
            <a:ext cx="223894" cy="464696"/>
          </a:xfrm>
          <a:prstGeom prst="straightConnector1">
            <a:avLst/>
          </a:prstGeom>
          <a:ln w="44450">
            <a:solidFill>
              <a:srgbClr val="3387C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D581C71D-FA1F-4FA6-B85C-CEEF59E63A43}"/>
              </a:ext>
            </a:extLst>
          </p:cNvPr>
          <p:cNvSpPr/>
          <p:nvPr/>
        </p:nvSpPr>
        <p:spPr>
          <a:xfrm>
            <a:off x="4626839" y="5637347"/>
            <a:ext cx="20768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回油直接与泵的吸油腔相连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46487184-5F7A-4C29-AFFB-A50B63D47C9E}"/>
              </a:ext>
            </a:extLst>
          </p:cNvPr>
          <p:cNvSpPr/>
          <p:nvPr/>
        </p:nvSpPr>
        <p:spPr>
          <a:xfrm>
            <a:off x="6866820" y="5648828"/>
            <a:ext cx="15714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液压泵从油箱吸油</a:t>
            </a: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7EE7EB6A-D564-44EE-8D87-3FFB43D16AFE}"/>
              </a:ext>
            </a:extLst>
          </p:cNvPr>
          <p:cNvCxnSpPr>
            <a:cxnSpLocks/>
          </p:cNvCxnSpPr>
          <p:nvPr/>
        </p:nvCxnSpPr>
        <p:spPr>
          <a:xfrm flipV="1">
            <a:off x="7528950" y="5011855"/>
            <a:ext cx="300563" cy="622787"/>
          </a:xfrm>
          <a:prstGeom prst="straightConnector1">
            <a:avLst/>
          </a:prstGeom>
          <a:ln w="44450">
            <a:solidFill>
              <a:srgbClr val="3387C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 73">
            <a:extLst>
              <a:ext uri="{FF2B5EF4-FFF2-40B4-BE49-F238E27FC236}">
                <a16:creationId xmlns:a16="http://schemas.microsoft.com/office/drawing/2014/main" id="{01A728A7-1F9B-491E-9B1A-EA82B7DBC08D}"/>
              </a:ext>
            </a:extLst>
          </p:cNvPr>
          <p:cNvSpPr/>
          <p:nvPr/>
        </p:nvSpPr>
        <p:spPr>
          <a:xfrm>
            <a:off x="8892841" y="5637347"/>
            <a:ext cx="16780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回油直接进入油箱</a:t>
            </a: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2A204E68-5C4D-4A12-9016-184DB67AABF5}"/>
              </a:ext>
            </a:extLst>
          </p:cNvPr>
          <p:cNvCxnSpPr>
            <a:cxnSpLocks/>
          </p:cNvCxnSpPr>
          <p:nvPr/>
        </p:nvCxnSpPr>
        <p:spPr>
          <a:xfrm flipV="1">
            <a:off x="9569692" y="4952540"/>
            <a:ext cx="224139" cy="634938"/>
          </a:xfrm>
          <a:prstGeom prst="straightConnector1">
            <a:avLst/>
          </a:prstGeom>
          <a:ln w="44450">
            <a:solidFill>
              <a:srgbClr val="3387C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4ECDD7BE-69D0-4E81-9BF7-9916F0E62CC9}"/>
              </a:ext>
            </a:extLst>
          </p:cNvPr>
          <p:cNvSpPr/>
          <p:nvPr/>
        </p:nvSpPr>
        <p:spPr>
          <a:xfrm>
            <a:off x="3541195" y="2280289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结构紧凑、抗污染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F100FDA1-F221-435D-9B81-4E02E150EDB6}"/>
              </a:ext>
            </a:extLst>
          </p:cNvPr>
          <p:cNvSpPr/>
          <p:nvPr/>
        </p:nvSpPr>
        <p:spPr>
          <a:xfrm>
            <a:off x="7999682" y="2311754"/>
            <a:ext cx="24929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结构简单、冷却性能好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CD0F690-F40B-4603-8E4B-1C28DAF107C3}"/>
              </a:ext>
            </a:extLst>
          </p:cNvPr>
          <p:cNvSpPr/>
          <p:nvPr/>
        </p:nvSpPr>
        <p:spPr>
          <a:xfrm>
            <a:off x="1134045" y="2187005"/>
            <a:ext cx="17769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需要增加补油泵补偿泄漏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3826FED1-AA9B-4BE5-BC60-C92A9ECD8C05}"/>
              </a:ext>
            </a:extLst>
          </p:cNvPr>
          <p:cNvCxnSpPr>
            <a:cxnSpLocks/>
          </p:cNvCxnSpPr>
          <p:nvPr/>
        </p:nvCxnSpPr>
        <p:spPr>
          <a:xfrm>
            <a:off x="2644835" y="2708192"/>
            <a:ext cx="1300934" cy="1229449"/>
          </a:xfrm>
          <a:prstGeom prst="straightConnector1">
            <a:avLst/>
          </a:prstGeom>
          <a:ln w="44450">
            <a:solidFill>
              <a:srgbClr val="3387C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5415FC82-2D27-4BA4-A4AA-850818C8D134}"/>
              </a:ext>
            </a:extLst>
          </p:cNvPr>
          <p:cNvSpPr/>
          <p:nvPr/>
        </p:nvSpPr>
        <p:spPr>
          <a:xfrm>
            <a:off x="818443" y="836106"/>
            <a:ext cx="3877985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按油路循环方式分类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AD1D287D-1528-474B-B35A-B4A6D1649E97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6/35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9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407134D9-987E-402F-80C9-D8615141D4D5}"/>
              </a:ext>
            </a:extLst>
          </p:cNvPr>
          <p:cNvGrpSpPr/>
          <p:nvPr/>
        </p:nvGrpSpPr>
        <p:grpSpPr>
          <a:xfrm>
            <a:off x="963257" y="2433899"/>
            <a:ext cx="4275202" cy="2462959"/>
            <a:chOff x="871865" y="3610019"/>
            <a:chExt cx="2692320" cy="1551055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84CDF211-D388-42DD-8E6D-CDE9628F76F9}"/>
                </a:ext>
              </a:extLst>
            </p:cNvPr>
            <p:cNvGrpSpPr/>
            <p:nvPr/>
          </p:nvGrpSpPr>
          <p:grpSpPr>
            <a:xfrm>
              <a:off x="871865" y="4099124"/>
              <a:ext cx="1088177" cy="671569"/>
              <a:chOff x="556731" y="4859666"/>
              <a:chExt cx="1482104" cy="914682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8CD4B7DE-9045-4753-8B43-EA1A661304F8}"/>
                  </a:ext>
                </a:extLst>
              </p:cNvPr>
              <p:cNvSpPr/>
              <p:nvPr/>
            </p:nvSpPr>
            <p:spPr>
              <a:xfrm>
                <a:off x="556731" y="5197084"/>
                <a:ext cx="618787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+mn-ea"/>
                </a:endParaRPr>
              </a:p>
            </p:txBody>
          </p: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F872B386-E423-4907-9C09-6BB8DA873CFA}"/>
                  </a:ext>
                </a:extLst>
              </p:cNvPr>
              <p:cNvGrpSpPr/>
              <p:nvPr/>
            </p:nvGrpSpPr>
            <p:grpSpPr>
              <a:xfrm>
                <a:off x="1124151" y="4859666"/>
                <a:ext cx="914684" cy="914682"/>
                <a:chOff x="1475656" y="3911173"/>
                <a:chExt cx="864096" cy="864096"/>
              </a:xfrm>
              <a:grpFill/>
            </p:grpSpPr>
            <p:sp>
              <p:nvSpPr>
                <p:cNvPr id="30" name="椭圆 29">
                  <a:extLst>
                    <a:ext uri="{FF2B5EF4-FFF2-40B4-BE49-F238E27FC236}">
                      <a16:creationId xmlns:a16="http://schemas.microsoft.com/office/drawing/2014/main" id="{76AAAAC9-5C81-4B0D-9CAE-8FE0DA066EC4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  <p:sp>
              <p:nvSpPr>
                <p:cNvPr id="31" name="等腰三角形 30">
                  <a:extLst>
                    <a:ext uri="{FF2B5EF4-FFF2-40B4-BE49-F238E27FC236}">
                      <a16:creationId xmlns:a16="http://schemas.microsoft.com/office/drawing/2014/main" id="{838A3E29-7533-4641-B95A-E236BA1DF4DC}"/>
                    </a:ext>
                  </a:extLst>
                </p:cNvPr>
                <p:cNvSpPr/>
                <p:nvPr/>
              </p:nvSpPr>
              <p:spPr>
                <a:xfrm>
                  <a:off x="1765075" y="3922351"/>
                  <a:ext cx="285259" cy="223557"/>
                </a:xfrm>
                <a:prstGeom prst="triangle">
                  <a:avLst/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</p:grp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6F31A6F-E76D-41E6-92DA-E890477159C1}"/>
                </a:ext>
              </a:extLst>
            </p:cNvPr>
            <p:cNvGrpSpPr/>
            <p:nvPr/>
          </p:nvGrpSpPr>
          <p:grpSpPr>
            <a:xfrm>
              <a:off x="2517654" y="4099127"/>
              <a:ext cx="1046531" cy="671569"/>
              <a:chOff x="1124151" y="4859667"/>
              <a:chExt cx="1425382" cy="914682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4CE6BC9-238A-43FA-BF33-41D671F53798}"/>
                  </a:ext>
                </a:extLst>
              </p:cNvPr>
              <p:cNvSpPr/>
              <p:nvPr/>
            </p:nvSpPr>
            <p:spPr>
              <a:xfrm>
                <a:off x="1930746" y="5197084"/>
                <a:ext cx="618787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+mn-ea"/>
                </a:endParaRPr>
              </a:p>
            </p:txBody>
          </p: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5019340E-7BF3-4529-89A1-C4E1D6982866}"/>
                  </a:ext>
                </a:extLst>
              </p:cNvPr>
              <p:cNvGrpSpPr/>
              <p:nvPr/>
            </p:nvGrpSpPr>
            <p:grpSpPr>
              <a:xfrm>
                <a:off x="1124151" y="4859667"/>
                <a:ext cx="914684" cy="914682"/>
                <a:chOff x="1475656" y="3911173"/>
                <a:chExt cx="864096" cy="864096"/>
              </a:xfrm>
              <a:grpFill/>
            </p:grpSpPr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55184959-96BE-42DD-9450-2951222C1463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  <p:sp>
              <p:nvSpPr>
                <p:cNvPr id="27" name="等腰三角形 26">
                  <a:extLst>
                    <a:ext uri="{FF2B5EF4-FFF2-40B4-BE49-F238E27FC236}">
                      <a16:creationId xmlns:a16="http://schemas.microsoft.com/office/drawing/2014/main" id="{8AF49D0A-C850-43AF-88CF-4193B9F13F3C}"/>
                    </a:ext>
                  </a:extLst>
                </p:cNvPr>
                <p:cNvSpPr/>
                <p:nvPr/>
              </p:nvSpPr>
              <p:spPr>
                <a:xfrm flipV="1">
                  <a:off x="1808841" y="3922347"/>
                  <a:ext cx="207476" cy="167021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</p:grpSp>
        </p:grp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7BDB5211-9A3B-41BD-813D-2E3D90C437DB}"/>
                </a:ext>
              </a:extLst>
            </p:cNvPr>
            <p:cNvSpPr/>
            <p:nvPr/>
          </p:nvSpPr>
          <p:spPr>
            <a:xfrm>
              <a:off x="1624256" y="3610019"/>
              <a:ext cx="1233630" cy="504056"/>
            </a:xfrm>
            <a:custGeom>
              <a:avLst/>
              <a:gdLst>
                <a:gd name="connsiteX0" fmla="*/ 0 w 3925824"/>
                <a:gd name="connsiteY0" fmla="*/ 707136 h 719328"/>
                <a:gd name="connsiteX1" fmla="*/ 0 w 3925824"/>
                <a:gd name="connsiteY1" fmla="*/ 0 h 719328"/>
                <a:gd name="connsiteX2" fmla="*/ 3925824 w 3925824"/>
                <a:gd name="connsiteY2" fmla="*/ 0 h 719328"/>
                <a:gd name="connsiteX3" fmla="*/ 3925824 w 3925824"/>
                <a:gd name="connsiteY3" fmla="*/ 719328 h 719328"/>
                <a:gd name="connsiteX4" fmla="*/ 3925824 w 3925824"/>
                <a:gd name="connsiteY4" fmla="*/ 719328 h 7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25824" h="719328">
                  <a:moveTo>
                    <a:pt x="0" y="707136"/>
                  </a:moveTo>
                  <a:lnTo>
                    <a:pt x="0" y="0"/>
                  </a:lnTo>
                  <a:lnTo>
                    <a:pt x="3925824" y="0"/>
                  </a:lnTo>
                  <a:lnTo>
                    <a:pt x="3925824" y="719328"/>
                  </a:lnTo>
                  <a:lnTo>
                    <a:pt x="3925824" y="719328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8F0BDFE-16D3-4CC1-A606-B85E38EDC7AE}"/>
                </a:ext>
              </a:extLst>
            </p:cNvPr>
            <p:cNvCxnSpPr/>
            <p:nvPr/>
          </p:nvCxnSpPr>
          <p:spPr>
            <a:xfrm flipV="1">
              <a:off x="1351116" y="3995142"/>
              <a:ext cx="621708" cy="8795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FF62593F-CF0F-4F48-B1F1-529BB8CFE2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9051" y="3995143"/>
              <a:ext cx="592956" cy="87953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2D089D6C-F6C9-4E15-BC0E-66D512CBD93D}"/>
                </a:ext>
              </a:extLst>
            </p:cNvPr>
            <p:cNvSpPr/>
            <p:nvPr/>
          </p:nvSpPr>
          <p:spPr>
            <a:xfrm flipV="1">
              <a:off x="1624256" y="4763828"/>
              <a:ext cx="1233630" cy="397246"/>
            </a:xfrm>
            <a:custGeom>
              <a:avLst/>
              <a:gdLst>
                <a:gd name="connsiteX0" fmla="*/ 0 w 3925824"/>
                <a:gd name="connsiteY0" fmla="*/ 707136 h 719328"/>
                <a:gd name="connsiteX1" fmla="*/ 0 w 3925824"/>
                <a:gd name="connsiteY1" fmla="*/ 0 h 719328"/>
                <a:gd name="connsiteX2" fmla="*/ 3925824 w 3925824"/>
                <a:gd name="connsiteY2" fmla="*/ 0 h 719328"/>
                <a:gd name="connsiteX3" fmla="*/ 3925824 w 3925824"/>
                <a:gd name="connsiteY3" fmla="*/ 719328 h 719328"/>
                <a:gd name="connsiteX4" fmla="*/ 3925824 w 3925824"/>
                <a:gd name="connsiteY4" fmla="*/ 719328 h 7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25824" h="719328">
                  <a:moveTo>
                    <a:pt x="0" y="707136"/>
                  </a:moveTo>
                  <a:lnTo>
                    <a:pt x="0" y="0"/>
                  </a:lnTo>
                  <a:lnTo>
                    <a:pt x="3925824" y="0"/>
                  </a:lnTo>
                  <a:lnTo>
                    <a:pt x="3925824" y="719328"/>
                  </a:lnTo>
                  <a:lnTo>
                    <a:pt x="3925824" y="719328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0D225002-54D7-43DF-BA3E-53C599693BB8}"/>
              </a:ext>
            </a:extLst>
          </p:cNvPr>
          <p:cNvSpPr txBox="1">
            <a:spLocks/>
          </p:cNvSpPr>
          <p:nvPr/>
        </p:nvSpPr>
        <p:spPr bwMode="auto">
          <a:xfrm>
            <a:off x="1674910" y="5507347"/>
            <a:ext cx="2925085" cy="361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泵</a:t>
            </a:r>
            <a:r>
              <a:rPr lang="en-US" altLang="zh-CN" sz="1800" kern="0" dirty="0">
                <a:latin typeface="+mn-ea"/>
              </a:rPr>
              <a:t>-</a:t>
            </a:r>
            <a:r>
              <a:rPr lang="zh-CN" altLang="en-US" sz="1800" kern="0" dirty="0">
                <a:latin typeface="+mn-ea"/>
              </a:rPr>
              <a:t>马达式容积调速回路</a:t>
            </a:r>
            <a:endParaRPr lang="en-US" altLang="zh-CN" sz="1800" kern="0" dirty="0">
              <a:latin typeface="+mn-ea"/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81554158-92C9-4A45-8C61-7C010B7FD978}"/>
              </a:ext>
            </a:extLst>
          </p:cNvPr>
          <p:cNvSpPr txBox="1">
            <a:spLocks/>
          </p:cNvSpPr>
          <p:nvPr/>
        </p:nvSpPr>
        <p:spPr bwMode="auto">
          <a:xfrm>
            <a:off x="6412122" y="5973842"/>
            <a:ext cx="2987046" cy="361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泵</a:t>
            </a:r>
            <a:r>
              <a:rPr lang="en-US" altLang="zh-CN" sz="1800" kern="0" dirty="0">
                <a:latin typeface="+mn-ea"/>
              </a:rPr>
              <a:t>-</a:t>
            </a:r>
            <a:r>
              <a:rPr lang="zh-CN" altLang="en-US" sz="1800" kern="0" dirty="0">
                <a:latin typeface="+mn-ea"/>
              </a:rPr>
              <a:t>缸式容积调速回路</a:t>
            </a:r>
            <a:endParaRPr lang="en-US" altLang="zh-CN" sz="1800" kern="0" dirty="0">
              <a:latin typeface="+mn-ea"/>
            </a:endParaRPr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09572A42-808C-448D-9EDA-60CBFD0ACCA0}"/>
              </a:ext>
            </a:extLst>
          </p:cNvPr>
          <p:cNvGrpSpPr/>
          <p:nvPr/>
        </p:nvGrpSpPr>
        <p:grpSpPr>
          <a:xfrm>
            <a:off x="5766987" y="1691179"/>
            <a:ext cx="3778933" cy="4141248"/>
            <a:chOff x="5260139" y="2579706"/>
            <a:chExt cx="2582681" cy="2830302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9DF724B-98A8-4121-8829-34976D4570CC}"/>
                </a:ext>
              </a:extLst>
            </p:cNvPr>
            <p:cNvGrpSpPr/>
            <p:nvPr/>
          </p:nvGrpSpPr>
          <p:grpSpPr>
            <a:xfrm>
              <a:off x="5260139" y="4244076"/>
              <a:ext cx="1088177" cy="671569"/>
              <a:chOff x="556731" y="4859666"/>
              <a:chExt cx="1482104" cy="914682"/>
            </a:xfrm>
            <a:solidFill>
              <a:schemeClr val="bg1">
                <a:lumMod val="95000"/>
              </a:schemeClr>
            </a:solidFill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BEF1853B-7C49-4AD2-A845-508138B6A549}"/>
                  </a:ext>
                </a:extLst>
              </p:cNvPr>
              <p:cNvSpPr/>
              <p:nvPr/>
            </p:nvSpPr>
            <p:spPr>
              <a:xfrm>
                <a:off x="556731" y="5197084"/>
                <a:ext cx="618787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+mn-ea"/>
                </a:endParaRPr>
              </a:p>
            </p:txBody>
          </p:sp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988DC2E6-3E95-4E37-8DD6-BAA2359BCE04}"/>
                  </a:ext>
                </a:extLst>
              </p:cNvPr>
              <p:cNvGrpSpPr/>
              <p:nvPr/>
            </p:nvGrpSpPr>
            <p:grpSpPr>
              <a:xfrm>
                <a:off x="1124151" y="4859666"/>
                <a:ext cx="914684" cy="914682"/>
                <a:chOff x="1475656" y="3911173"/>
                <a:chExt cx="864096" cy="864096"/>
              </a:xfrm>
              <a:grpFill/>
            </p:grpSpPr>
            <p:sp>
              <p:nvSpPr>
                <p:cNvPr id="56" name="椭圆 55">
                  <a:extLst>
                    <a:ext uri="{FF2B5EF4-FFF2-40B4-BE49-F238E27FC236}">
                      <a16:creationId xmlns:a16="http://schemas.microsoft.com/office/drawing/2014/main" id="{9E908EFF-20D1-4586-B9B7-2356C854F01D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  <p:sp>
              <p:nvSpPr>
                <p:cNvPr id="57" name="等腰三角形 56">
                  <a:extLst>
                    <a:ext uri="{FF2B5EF4-FFF2-40B4-BE49-F238E27FC236}">
                      <a16:creationId xmlns:a16="http://schemas.microsoft.com/office/drawing/2014/main" id="{FAE8343A-74E9-4B8F-8C12-1C47360F259F}"/>
                    </a:ext>
                  </a:extLst>
                </p:cNvPr>
                <p:cNvSpPr/>
                <p:nvPr/>
              </p:nvSpPr>
              <p:spPr>
                <a:xfrm>
                  <a:off x="1765075" y="3922351"/>
                  <a:ext cx="285259" cy="223557"/>
                </a:xfrm>
                <a:prstGeom prst="triangle">
                  <a:avLst/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</p:grpSp>
        </p:grp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FCDC9778-139B-42EE-912C-79AA0313B1FD}"/>
                </a:ext>
              </a:extLst>
            </p:cNvPr>
            <p:cNvSpPr/>
            <p:nvPr/>
          </p:nvSpPr>
          <p:spPr>
            <a:xfrm>
              <a:off x="5768142" y="5187835"/>
              <a:ext cx="488778" cy="222173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34AB165A-2293-4A4E-BD65-7EA69A01323D}"/>
                </a:ext>
              </a:extLst>
            </p:cNvPr>
            <p:cNvCxnSpPr>
              <a:cxnSpLocks/>
              <a:stCxn id="56" idx="4"/>
            </p:cNvCxnSpPr>
            <p:nvPr/>
          </p:nvCxnSpPr>
          <p:spPr>
            <a:xfrm>
              <a:off x="6012531" y="4915647"/>
              <a:ext cx="0" cy="3984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CDB87C4E-D798-4767-A22F-A670FE8616A1}"/>
                </a:ext>
              </a:extLst>
            </p:cNvPr>
            <p:cNvSpPr/>
            <p:nvPr/>
          </p:nvSpPr>
          <p:spPr>
            <a:xfrm>
              <a:off x="7159976" y="4127751"/>
              <a:ext cx="488778" cy="222173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3EC99D72-51AC-49ED-A754-44B7FEF0FFCA}"/>
                </a:ext>
              </a:extLst>
            </p:cNvPr>
            <p:cNvCxnSpPr>
              <a:cxnSpLocks/>
            </p:cNvCxnSpPr>
            <p:nvPr/>
          </p:nvCxnSpPr>
          <p:spPr>
            <a:xfrm>
              <a:off x="7409903" y="3067105"/>
              <a:ext cx="0" cy="1209993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57022ED5-69BA-468D-AE91-972F0E62C5E4}"/>
                </a:ext>
              </a:extLst>
            </p:cNvPr>
            <p:cNvCxnSpPr/>
            <p:nvPr/>
          </p:nvCxnSpPr>
          <p:spPr>
            <a:xfrm flipV="1">
              <a:off x="5739390" y="4140094"/>
              <a:ext cx="621708" cy="8795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DD93CDE3-89A8-4E5E-84F6-2CE3D7031022}"/>
                </a:ext>
              </a:extLst>
            </p:cNvPr>
            <p:cNvGrpSpPr/>
            <p:nvPr/>
          </p:nvGrpSpPr>
          <p:grpSpPr>
            <a:xfrm>
              <a:off x="5768143" y="2579706"/>
              <a:ext cx="2074677" cy="487399"/>
              <a:chOff x="5451252" y="3420194"/>
              <a:chExt cx="1785898" cy="419557"/>
            </a:xfrm>
          </p:grpSpPr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BFEC33A5-BD2E-4683-AA86-55D48361C279}"/>
                  </a:ext>
                </a:extLst>
              </p:cNvPr>
              <p:cNvSpPr/>
              <p:nvPr/>
            </p:nvSpPr>
            <p:spPr>
              <a:xfrm>
                <a:off x="6029710" y="3420194"/>
                <a:ext cx="170443" cy="410117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atin typeface="+mn-ea"/>
                </a:endParaRPr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377076AD-E2D7-4732-9F02-34725A95569E}"/>
                  </a:ext>
                </a:extLst>
              </p:cNvPr>
              <p:cNvSpPr/>
              <p:nvPr/>
            </p:nvSpPr>
            <p:spPr>
              <a:xfrm>
                <a:off x="5451252" y="3422756"/>
                <a:ext cx="1620304" cy="416995"/>
              </a:xfrm>
              <a:prstGeom prst="rect">
                <a:avLst/>
              </a:prstGeom>
              <a:noFill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atin typeface="+mn-ea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2F269BC9-8B32-4A93-8584-047AFB16BAE4}"/>
                  </a:ext>
                </a:extLst>
              </p:cNvPr>
              <p:cNvSpPr/>
              <p:nvPr/>
            </p:nvSpPr>
            <p:spPr>
              <a:xfrm>
                <a:off x="6199907" y="3591724"/>
                <a:ext cx="1037243" cy="67058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atin typeface="+mn-ea"/>
                </a:endParaRPr>
              </a:p>
            </p:txBody>
          </p:sp>
        </p:grp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B7E2446A-6108-4FE7-9E29-D0DE87328A2B}"/>
                </a:ext>
              </a:extLst>
            </p:cNvPr>
            <p:cNvCxnSpPr>
              <a:cxnSpLocks/>
              <a:endCxn id="57" idx="0"/>
            </p:cNvCxnSpPr>
            <p:nvPr/>
          </p:nvCxnSpPr>
          <p:spPr>
            <a:xfrm>
              <a:off x="6012531" y="3067105"/>
              <a:ext cx="0" cy="1185658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BCAAD269-DD8B-40DF-9C0D-E7AEF3C6B79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71497" y="3309544"/>
              <a:ext cx="277466" cy="7751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09F2C202-BF47-4DC2-A31B-6AE9F633D1AA}"/>
                </a:ext>
              </a:extLst>
            </p:cNvPr>
            <p:cNvCxnSpPr>
              <a:cxnSpLocks/>
              <a:endCxn id="45" idx="6"/>
            </p:cNvCxnSpPr>
            <p:nvPr/>
          </p:nvCxnSpPr>
          <p:spPr>
            <a:xfrm flipH="1">
              <a:off x="6046330" y="3656488"/>
              <a:ext cx="1358035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277A9C2D-9529-423F-A45B-DBF358A446FB}"/>
                </a:ext>
              </a:extLst>
            </p:cNvPr>
            <p:cNvSpPr/>
            <p:nvPr/>
          </p:nvSpPr>
          <p:spPr>
            <a:xfrm>
              <a:off x="5961309" y="3613977"/>
              <a:ext cx="85021" cy="8502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39424818-F930-472A-B5EC-B8330A4AC73B}"/>
                </a:ext>
              </a:extLst>
            </p:cNvPr>
            <p:cNvSpPr/>
            <p:nvPr/>
          </p:nvSpPr>
          <p:spPr>
            <a:xfrm>
              <a:off x="6520308" y="3445753"/>
              <a:ext cx="425116" cy="42511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AEE99F70-7C9D-4035-A15B-96D582072B4D}"/>
                </a:ext>
              </a:extLst>
            </p:cNvPr>
            <p:cNvCxnSpPr>
              <a:cxnSpLocks/>
            </p:cNvCxnSpPr>
            <p:nvPr/>
          </p:nvCxnSpPr>
          <p:spPr>
            <a:xfrm>
              <a:off x="6520308" y="3790482"/>
              <a:ext cx="42511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sp>
          <p:nvSpPr>
            <p:cNvPr id="48" name="任意多边形: 形状 47">
              <a:extLst>
                <a:ext uri="{FF2B5EF4-FFF2-40B4-BE49-F238E27FC236}">
                  <a16:creationId xmlns:a16="http://schemas.microsoft.com/office/drawing/2014/main" id="{27C0FA6C-DA86-48F9-9273-F710F27C261E}"/>
                </a:ext>
              </a:extLst>
            </p:cNvPr>
            <p:cNvSpPr/>
            <p:nvPr/>
          </p:nvSpPr>
          <p:spPr>
            <a:xfrm>
              <a:off x="6301556" y="3662947"/>
              <a:ext cx="437012" cy="411304"/>
            </a:xfrm>
            <a:custGeom>
              <a:avLst/>
              <a:gdLst>
                <a:gd name="connsiteX0" fmla="*/ 333829 w 740229"/>
                <a:gd name="connsiteY0" fmla="*/ 0 h 696685"/>
                <a:gd name="connsiteX1" fmla="*/ 0 w 740229"/>
                <a:gd name="connsiteY1" fmla="*/ 333829 h 696685"/>
                <a:gd name="connsiteX2" fmla="*/ 0 w 740229"/>
                <a:gd name="connsiteY2" fmla="*/ 696685 h 696685"/>
                <a:gd name="connsiteX3" fmla="*/ 740229 w 740229"/>
                <a:gd name="connsiteY3" fmla="*/ 696685 h 696685"/>
                <a:gd name="connsiteX4" fmla="*/ 740229 w 740229"/>
                <a:gd name="connsiteY4" fmla="*/ 464457 h 696685"/>
                <a:gd name="connsiteX0" fmla="*/ 333829 w 740229"/>
                <a:gd name="connsiteY0" fmla="*/ 0 h 696685"/>
                <a:gd name="connsiteX1" fmla="*/ 0 w 740229"/>
                <a:gd name="connsiteY1" fmla="*/ 333829 h 696685"/>
                <a:gd name="connsiteX2" fmla="*/ 0 w 740229"/>
                <a:gd name="connsiteY2" fmla="*/ 696685 h 696685"/>
                <a:gd name="connsiteX3" fmla="*/ 740229 w 740229"/>
                <a:gd name="connsiteY3" fmla="*/ 696685 h 696685"/>
                <a:gd name="connsiteX4" fmla="*/ 737848 w 740229"/>
                <a:gd name="connsiteY4" fmla="*/ 381113 h 69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0229" h="696685">
                  <a:moveTo>
                    <a:pt x="333829" y="0"/>
                  </a:moveTo>
                  <a:lnTo>
                    <a:pt x="0" y="333829"/>
                  </a:lnTo>
                  <a:lnTo>
                    <a:pt x="0" y="696685"/>
                  </a:lnTo>
                  <a:lnTo>
                    <a:pt x="740229" y="696685"/>
                  </a:lnTo>
                  <a:cubicBezTo>
                    <a:pt x="739435" y="591494"/>
                    <a:pt x="738642" y="486304"/>
                    <a:pt x="737848" y="381113"/>
                  </a:cubicBezTo>
                </a:path>
              </a:pathLst>
            </a:cu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49" name="任意多边形: 形状 48">
              <a:extLst>
                <a:ext uri="{FF2B5EF4-FFF2-40B4-BE49-F238E27FC236}">
                  <a16:creationId xmlns:a16="http://schemas.microsoft.com/office/drawing/2014/main" id="{70C943FF-7DBB-4F8F-ABDE-B550F1983E94}"/>
                </a:ext>
              </a:extLst>
            </p:cNvPr>
            <p:cNvSpPr/>
            <p:nvPr/>
          </p:nvSpPr>
          <p:spPr>
            <a:xfrm>
              <a:off x="6646465" y="3240986"/>
              <a:ext cx="127529" cy="194004"/>
            </a:xfrm>
            <a:custGeom>
              <a:avLst/>
              <a:gdLst>
                <a:gd name="connsiteX0" fmla="*/ 152400 w 266700"/>
                <a:gd name="connsiteY0" fmla="*/ 342900 h 342900"/>
                <a:gd name="connsiteX1" fmla="*/ 0 w 266700"/>
                <a:gd name="connsiteY1" fmla="*/ 295275 h 342900"/>
                <a:gd name="connsiteX2" fmla="*/ 238125 w 266700"/>
                <a:gd name="connsiteY2" fmla="*/ 247650 h 342900"/>
                <a:gd name="connsiteX3" fmla="*/ 9525 w 266700"/>
                <a:gd name="connsiteY3" fmla="*/ 209550 h 342900"/>
                <a:gd name="connsiteX4" fmla="*/ 257175 w 266700"/>
                <a:gd name="connsiteY4" fmla="*/ 161925 h 342900"/>
                <a:gd name="connsiteX5" fmla="*/ 9525 w 266700"/>
                <a:gd name="connsiteY5" fmla="*/ 104775 h 342900"/>
                <a:gd name="connsiteX6" fmla="*/ 266700 w 266700"/>
                <a:gd name="connsiteY6" fmla="*/ 66675 h 342900"/>
                <a:gd name="connsiteX7" fmla="*/ 9525 w 266700"/>
                <a:gd name="connsiteY7" fmla="*/ 0 h 342900"/>
                <a:gd name="connsiteX0" fmla="*/ 150019 w 264319"/>
                <a:gd name="connsiteY0" fmla="*/ 342900 h 342900"/>
                <a:gd name="connsiteX1" fmla="*/ 0 w 264319"/>
                <a:gd name="connsiteY1" fmla="*/ 290513 h 342900"/>
                <a:gd name="connsiteX2" fmla="*/ 235744 w 264319"/>
                <a:gd name="connsiteY2" fmla="*/ 247650 h 342900"/>
                <a:gd name="connsiteX3" fmla="*/ 7144 w 264319"/>
                <a:gd name="connsiteY3" fmla="*/ 209550 h 342900"/>
                <a:gd name="connsiteX4" fmla="*/ 254794 w 264319"/>
                <a:gd name="connsiteY4" fmla="*/ 161925 h 342900"/>
                <a:gd name="connsiteX5" fmla="*/ 7144 w 264319"/>
                <a:gd name="connsiteY5" fmla="*/ 104775 h 342900"/>
                <a:gd name="connsiteX6" fmla="*/ 264319 w 264319"/>
                <a:gd name="connsiteY6" fmla="*/ 66675 h 342900"/>
                <a:gd name="connsiteX7" fmla="*/ 7144 w 264319"/>
                <a:gd name="connsiteY7" fmla="*/ 0 h 342900"/>
                <a:gd name="connsiteX0" fmla="*/ 150019 w 264319"/>
                <a:gd name="connsiteY0" fmla="*/ 342900 h 342900"/>
                <a:gd name="connsiteX1" fmla="*/ 0 w 264319"/>
                <a:gd name="connsiteY1" fmla="*/ 290513 h 342900"/>
                <a:gd name="connsiteX2" fmla="*/ 257175 w 264319"/>
                <a:gd name="connsiteY2" fmla="*/ 247650 h 342900"/>
                <a:gd name="connsiteX3" fmla="*/ 7144 w 264319"/>
                <a:gd name="connsiteY3" fmla="*/ 209550 h 342900"/>
                <a:gd name="connsiteX4" fmla="*/ 254794 w 264319"/>
                <a:gd name="connsiteY4" fmla="*/ 161925 h 342900"/>
                <a:gd name="connsiteX5" fmla="*/ 7144 w 264319"/>
                <a:gd name="connsiteY5" fmla="*/ 104775 h 342900"/>
                <a:gd name="connsiteX6" fmla="*/ 264319 w 264319"/>
                <a:gd name="connsiteY6" fmla="*/ 66675 h 342900"/>
                <a:gd name="connsiteX7" fmla="*/ 7144 w 264319"/>
                <a:gd name="connsiteY7" fmla="*/ 0 h 342900"/>
                <a:gd name="connsiteX0" fmla="*/ 150019 w 266700"/>
                <a:gd name="connsiteY0" fmla="*/ 342900 h 342900"/>
                <a:gd name="connsiteX1" fmla="*/ 0 w 266700"/>
                <a:gd name="connsiteY1" fmla="*/ 290513 h 342900"/>
                <a:gd name="connsiteX2" fmla="*/ 257175 w 266700"/>
                <a:gd name="connsiteY2" fmla="*/ 247650 h 342900"/>
                <a:gd name="connsiteX3" fmla="*/ 7144 w 266700"/>
                <a:gd name="connsiteY3" fmla="*/ 209550 h 342900"/>
                <a:gd name="connsiteX4" fmla="*/ 254794 w 266700"/>
                <a:gd name="connsiteY4" fmla="*/ 161925 h 342900"/>
                <a:gd name="connsiteX5" fmla="*/ 7144 w 266700"/>
                <a:gd name="connsiteY5" fmla="*/ 104775 h 342900"/>
                <a:gd name="connsiteX6" fmla="*/ 266700 w 266700"/>
                <a:gd name="connsiteY6" fmla="*/ 57150 h 342900"/>
                <a:gd name="connsiteX7" fmla="*/ 7144 w 266700"/>
                <a:gd name="connsiteY7" fmla="*/ 0 h 342900"/>
                <a:gd name="connsiteX0" fmla="*/ 150019 w 261937"/>
                <a:gd name="connsiteY0" fmla="*/ 342900 h 342900"/>
                <a:gd name="connsiteX1" fmla="*/ 0 w 261937"/>
                <a:gd name="connsiteY1" fmla="*/ 290513 h 342900"/>
                <a:gd name="connsiteX2" fmla="*/ 257175 w 261937"/>
                <a:gd name="connsiteY2" fmla="*/ 247650 h 342900"/>
                <a:gd name="connsiteX3" fmla="*/ 7144 w 261937"/>
                <a:gd name="connsiteY3" fmla="*/ 209550 h 342900"/>
                <a:gd name="connsiteX4" fmla="*/ 254794 w 261937"/>
                <a:gd name="connsiteY4" fmla="*/ 161925 h 342900"/>
                <a:gd name="connsiteX5" fmla="*/ 7144 w 261937"/>
                <a:gd name="connsiteY5" fmla="*/ 104775 h 342900"/>
                <a:gd name="connsiteX6" fmla="*/ 261937 w 261937"/>
                <a:gd name="connsiteY6" fmla="*/ 69057 h 342900"/>
                <a:gd name="connsiteX7" fmla="*/ 7144 w 261937"/>
                <a:gd name="connsiteY7" fmla="*/ 0 h 342900"/>
                <a:gd name="connsiteX0" fmla="*/ 154781 w 266699"/>
                <a:gd name="connsiteY0" fmla="*/ 345281 h 345281"/>
                <a:gd name="connsiteX1" fmla="*/ 4762 w 266699"/>
                <a:gd name="connsiteY1" fmla="*/ 292894 h 345281"/>
                <a:gd name="connsiteX2" fmla="*/ 261937 w 266699"/>
                <a:gd name="connsiteY2" fmla="*/ 250031 h 345281"/>
                <a:gd name="connsiteX3" fmla="*/ 11906 w 266699"/>
                <a:gd name="connsiteY3" fmla="*/ 211931 h 345281"/>
                <a:gd name="connsiteX4" fmla="*/ 259556 w 266699"/>
                <a:gd name="connsiteY4" fmla="*/ 164306 h 345281"/>
                <a:gd name="connsiteX5" fmla="*/ 11906 w 266699"/>
                <a:gd name="connsiteY5" fmla="*/ 107156 h 345281"/>
                <a:gd name="connsiteX6" fmla="*/ 266699 w 266699"/>
                <a:gd name="connsiteY6" fmla="*/ 71438 h 345281"/>
                <a:gd name="connsiteX7" fmla="*/ 0 w 266699"/>
                <a:gd name="connsiteY7" fmla="*/ 0 h 345281"/>
                <a:gd name="connsiteX0" fmla="*/ 154782 w 266700"/>
                <a:gd name="connsiteY0" fmla="*/ 345281 h 345281"/>
                <a:gd name="connsiteX1" fmla="*/ 4763 w 266700"/>
                <a:gd name="connsiteY1" fmla="*/ 292894 h 345281"/>
                <a:gd name="connsiteX2" fmla="*/ 261938 w 266700"/>
                <a:gd name="connsiteY2" fmla="*/ 250031 h 345281"/>
                <a:gd name="connsiteX3" fmla="*/ 0 w 266700"/>
                <a:gd name="connsiteY3" fmla="*/ 204787 h 345281"/>
                <a:gd name="connsiteX4" fmla="*/ 259557 w 266700"/>
                <a:gd name="connsiteY4" fmla="*/ 164306 h 345281"/>
                <a:gd name="connsiteX5" fmla="*/ 11907 w 266700"/>
                <a:gd name="connsiteY5" fmla="*/ 107156 h 345281"/>
                <a:gd name="connsiteX6" fmla="*/ 266700 w 266700"/>
                <a:gd name="connsiteY6" fmla="*/ 71438 h 345281"/>
                <a:gd name="connsiteX7" fmla="*/ 1 w 266700"/>
                <a:gd name="connsiteY7" fmla="*/ 0 h 345281"/>
                <a:gd name="connsiteX0" fmla="*/ 157162 w 269080"/>
                <a:gd name="connsiteY0" fmla="*/ 345281 h 345281"/>
                <a:gd name="connsiteX1" fmla="*/ 7143 w 269080"/>
                <a:gd name="connsiteY1" fmla="*/ 292894 h 345281"/>
                <a:gd name="connsiteX2" fmla="*/ 264318 w 269080"/>
                <a:gd name="connsiteY2" fmla="*/ 250031 h 345281"/>
                <a:gd name="connsiteX3" fmla="*/ 2380 w 269080"/>
                <a:gd name="connsiteY3" fmla="*/ 204787 h 345281"/>
                <a:gd name="connsiteX4" fmla="*/ 261937 w 269080"/>
                <a:gd name="connsiteY4" fmla="*/ 164306 h 345281"/>
                <a:gd name="connsiteX5" fmla="*/ 0 w 269080"/>
                <a:gd name="connsiteY5" fmla="*/ 104775 h 345281"/>
                <a:gd name="connsiteX6" fmla="*/ 269080 w 269080"/>
                <a:gd name="connsiteY6" fmla="*/ 71438 h 345281"/>
                <a:gd name="connsiteX7" fmla="*/ 2381 w 269080"/>
                <a:gd name="connsiteY7" fmla="*/ 0 h 345281"/>
                <a:gd name="connsiteX0" fmla="*/ 164305 w 269080"/>
                <a:gd name="connsiteY0" fmla="*/ 328612 h 328612"/>
                <a:gd name="connsiteX1" fmla="*/ 7143 w 269080"/>
                <a:gd name="connsiteY1" fmla="*/ 292894 h 328612"/>
                <a:gd name="connsiteX2" fmla="*/ 264318 w 269080"/>
                <a:gd name="connsiteY2" fmla="*/ 250031 h 328612"/>
                <a:gd name="connsiteX3" fmla="*/ 2380 w 269080"/>
                <a:gd name="connsiteY3" fmla="*/ 204787 h 328612"/>
                <a:gd name="connsiteX4" fmla="*/ 261937 w 269080"/>
                <a:gd name="connsiteY4" fmla="*/ 164306 h 328612"/>
                <a:gd name="connsiteX5" fmla="*/ 0 w 269080"/>
                <a:gd name="connsiteY5" fmla="*/ 104775 h 328612"/>
                <a:gd name="connsiteX6" fmla="*/ 269080 w 269080"/>
                <a:gd name="connsiteY6" fmla="*/ 71438 h 328612"/>
                <a:gd name="connsiteX7" fmla="*/ 2381 w 269080"/>
                <a:gd name="connsiteY7" fmla="*/ 0 h 328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080" h="328612">
                  <a:moveTo>
                    <a:pt x="164305" y="328612"/>
                  </a:moveTo>
                  <a:lnTo>
                    <a:pt x="7143" y="292894"/>
                  </a:lnTo>
                  <a:lnTo>
                    <a:pt x="264318" y="250031"/>
                  </a:lnTo>
                  <a:lnTo>
                    <a:pt x="2380" y="204787"/>
                  </a:lnTo>
                  <a:lnTo>
                    <a:pt x="261937" y="164306"/>
                  </a:lnTo>
                  <a:lnTo>
                    <a:pt x="0" y="104775"/>
                  </a:lnTo>
                  <a:lnTo>
                    <a:pt x="269080" y="71438"/>
                  </a:lnTo>
                  <a:lnTo>
                    <a:pt x="2381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CCA883D3-1DFA-4E8F-AD79-2AD2A2A4641D}"/>
                </a:ext>
              </a:extLst>
            </p:cNvPr>
            <p:cNvSpPr/>
            <p:nvPr/>
          </p:nvSpPr>
          <p:spPr>
            <a:xfrm>
              <a:off x="7371246" y="3613977"/>
              <a:ext cx="85021" cy="8502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</p:grpSp>
      <p:sp>
        <p:nvSpPr>
          <p:cNvPr id="59" name="矩形 58">
            <a:extLst>
              <a:ext uri="{FF2B5EF4-FFF2-40B4-BE49-F238E27FC236}">
                <a16:creationId xmlns:a16="http://schemas.microsoft.com/office/drawing/2014/main" id="{D7D9AA2C-0561-431E-A0DE-2A8B3A7E790A}"/>
              </a:ext>
            </a:extLst>
          </p:cNvPr>
          <p:cNvSpPr/>
          <p:nvPr/>
        </p:nvSpPr>
        <p:spPr>
          <a:xfrm>
            <a:off x="818443" y="836106"/>
            <a:ext cx="3518912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按执行器类型分类</a:t>
            </a:r>
            <a:endParaRPr lang="en-US" altLang="zh-CN" sz="2800" dirty="0">
              <a:latin typeface="+mn-ea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C150317-BA5C-443A-BE36-279B4D75000B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7/35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05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>
            <a:extLst>
              <a:ext uri="{FF2B5EF4-FFF2-40B4-BE49-F238E27FC236}">
                <a16:creationId xmlns:a16="http://schemas.microsoft.com/office/drawing/2014/main" id="{28CEA079-BE41-40A1-BCDF-60DBA2EA1A55}"/>
              </a:ext>
            </a:extLst>
          </p:cNvPr>
          <p:cNvGrpSpPr/>
          <p:nvPr/>
        </p:nvGrpSpPr>
        <p:grpSpPr>
          <a:xfrm>
            <a:off x="5911521" y="1081498"/>
            <a:ext cx="4770719" cy="5564808"/>
            <a:chOff x="5582429" y="2511959"/>
            <a:chExt cx="3407598" cy="3974794"/>
          </a:xfrm>
        </p:grpSpPr>
        <p:sp>
          <p:nvSpPr>
            <p:cNvPr id="62" name="任意多边形: 形状 61">
              <a:extLst>
                <a:ext uri="{FF2B5EF4-FFF2-40B4-BE49-F238E27FC236}">
                  <a16:creationId xmlns:a16="http://schemas.microsoft.com/office/drawing/2014/main" id="{6BD3028F-B914-4430-9A4E-87FEB790D768}"/>
                </a:ext>
              </a:extLst>
            </p:cNvPr>
            <p:cNvSpPr/>
            <p:nvPr/>
          </p:nvSpPr>
          <p:spPr>
            <a:xfrm>
              <a:off x="7739352" y="4637524"/>
              <a:ext cx="554919" cy="252237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F9C6426B-CBA1-445B-80C8-A459A8A89B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737" y="3443852"/>
              <a:ext cx="2147" cy="1365667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DA673426-F6E5-4620-885F-1F87A128A9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1680" y="3416201"/>
              <a:ext cx="0" cy="1353388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ABB85443-A6BB-4883-B5E9-E18772ABFD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30905" y="4102490"/>
              <a:ext cx="7156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4BEB8E94-3244-4020-A5DD-4043E2E05897}"/>
                </a:ext>
              </a:extLst>
            </p:cNvPr>
            <p:cNvGrpSpPr/>
            <p:nvPr/>
          </p:nvGrpSpPr>
          <p:grpSpPr>
            <a:xfrm>
              <a:off x="5582429" y="4769590"/>
              <a:ext cx="1235429" cy="762446"/>
              <a:chOff x="556731" y="4859666"/>
              <a:chExt cx="1482104" cy="914682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1BA4536D-DBFA-410C-8C94-51CDAD050B53}"/>
                  </a:ext>
                </a:extLst>
              </p:cNvPr>
              <p:cNvSpPr/>
              <p:nvPr/>
            </p:nvSpPr>
            <p:spPr>
              <a:xfrm>
                <a:off x="556731" y="5197084"/>
                <a:ext cx="618787" cy="239843"/>
              </a:xfrm>
              <a:prstGeom prst="rect">
                <a:avLst/>
              </a:prstGeom>
              <a:grp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n w="28575">
                    <a:solidFill>
                      <a:schemeClr val="tx1"/>
                    </a:solidFill>
                  </a:ln>
                  <a:latin typeface="+mn-ea"/>
                </a:endParaRPr>
              </a:p>
            </p:txBody>
          </p:sp>
          <p:grpSp>
            <p:nvGrpSpPr>
              <p:cNvPr id="113" name="组合 112">
                <a:extLst>
                  <a:ext uri="{FF2B5EF4-FFF2-40B4-BE49-F238E27FC236}">
                    <a16:creationId xmlns:a16="http://schemas.microsoft.com/office/drawing/2014/main" id="{36EB2CDF-EF2D-4B1C-914B-A88364FC097A}"/>
                  </a:ext>
                </a:extLst>
              </p:cNvPr>
              <p:cNvGrpSpPr/>
              <p:nvPr/>
            </p:nvGrpSpPr>
            <p:grpSpPr>
              <a:xfrm>
                <a:off x="1124151" y="4859666"/>
                <a:ext cx="914684" cy="914682"/>
                <a:chOff x="1475656" y="3911173"/>
                <a:chExt cx="864096" cy="864096"/>
              </a:xfrm>
              <a:grpFill/>
            </p:grpSpPr>
            <p:sp>
              <p:nvSpPr>
                <p:cNvPr id="114" name="椭圆 113">
                  <a:extLst>
                    <a:ext uri="{FF2B5EF4-FFF2-40B4-BE49-F238E27FC236}">
                      <a16:creationId xmlns:a16="http://schemas.microsoft.com/office/drawing/2014/main" id="{594CEA38-8CB0-44E9-9D94-C258A10AD846}"/>
                    </a:ext>
                  </a:extLst>
                </p:cNvPr>
                <p:cNvSpPr/>
                <p:nvPr/>
              </p:nvSpPr>
              <p:spPr>
                <a:xfrm>
                  <a:off x="1475656" y="3911173"/>
                  <a:ext cx="864096" cy="864096"/>
                </a:xfrm>
                <a:prstGeom prst="ellipse">
                  <a:avLst/>
                </a:prstGeom>
                <a:grpFill/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  <p:sp>
              <p:nvSpPr>
                <p:cNvPr id="115" name="等腰三角形 114">
                  <a:extLst>
                    <a:ext uri="{FF2B5EF4-FFF2-40B4-BE49-F238E27FC236}">
                      <a16:creationId xmlns:a16="http://schemas.microsoft.com/office/drawing/2014/main" id="{2ACFFB40-8740-4A36-88C1-7A61844A76FA}"/>
                    </a:ext>
                  </a:extLst>
                </p:cNvPr>
                <p:cNvSpPr/>
                <p:nvPr/>
              </p:nvSpPr>
              <p:spPr>
                <a:xfrm>
                  <a:off x="1765074" y="3922352"/>
                  <a:ext cx="285260" cy="223557"/>
                </a:xfrm>
                <a:prstGeom prst="triangle">
                  <a:avLst/>
                </a:prstGeom>
                <a:solidFill>
                  <a:schemeClr val="tx1"/>
                </a:solidFill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>
                    <a:ln w="28575">
                      <a:solidFill>
                        <a:schemeClr val="tx1"/>
                      </a:solidFill>
                    </a:ln>
                    <a:latin typeface="+mn-ea"/>
                  </a:endParaRPr>
                </a:p>
              </p:txBody>
            </p:sp>
          </p:grpSp>
        </p:grpSp>
        <p:sp>
          <p:nvSpPr>
            <p:cNvPr id="67" name="任意多边形: 形状 66">
              <a:extLst>
                <a:ext uri="{FF2B5EF4-FFF2-40B4-BE49-F238E27FC236}">
                  <a16:creationId xmlns:a16="http://schemas.microsoft.com/office/drawing/2014/main" id="{DC91AED4-842E-4C98-8C4A-ACD0B57D4AC7}"/>
                </a:ext>
              </a:extLst>
            </p:cNvPr>
            <p:cNvSpPr/>
            <p:nvPr/>
          </p:nvSpPr>
          <p:spPr>
            <a:xfrm>
              <a:off x="6159175" y="5841059"/>
              <a:ext cx="554919" cy="252237"/>
            </a:xfrm>
            <a:custGeom>
              <a:avLst/>
              <a:gdLst>
                <a:gd name="connsiteX0" fmla="*/ 0 w 798285"/>
                <a:gd name="connsiteY0" fmla="*/ 0 h 362857"/>
                <a:gd name="connsiteX1" fmla="*/ 0 w 798285"/>
                <a:gd name="connsiteY1" fmla="*/ 362857 h 362857"/>
                <a:gd name="connsiteX2" fmla="*/ 798285 w 798285"/>
                <a:gd name="connsiteY2" fmla="*/ 362857 h 362857"/>
                <a:gd name="connsiteX3" fmla="*/ 798285 w 798285"/>
                <a:gd name="connsiteY3" fmla="*/ 0 h 36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8285" h="362857">
                  <a:moveTo>
                    <a:pt x="0" y="0"/>
                  </a:moveTo>
                  <a:lnTo>
                    <a:pt x="0" y="362857"/>
                  </a:lnTo>
                  <a:lnTo>
                    <a:pt x="798285" y="362857"/>
                  </a:lnTo>
                  <a:lnTo>
                    <a:pt x="798285" y="0"/>
                  </a:lnTo>
                </a:path>
              </a:pathLst>
            </a:custGeom>
            <a:solidFill>
              <a:schemeClr val="bg1">
                <a:lumMod val="85000"/>
              </a:schemeClr>
            </a:solidFill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cxnSp>
          <p:nvCxnSpPr>
            <p:cNvPr id="68" name="直接连接符 67">
              <a:extLst>
                <a:ext uri="{FF2B5EF4-FFF2-40B4-BE49-F238E27FC236}">
                  <a16:creationId xmlns:a16="http://schemas.microsoft.com/office/drawing/2014/main" id="{D37B579B-6907-4E57-96FB-C95D7658B7FB}"/>
                </a:ext>
              </a:extLst>
            </p:cNvPr>
            <p:cNvCxnSpPr>
              <a:cxnSpLocks/>
              <a:stCxn id="114" idx="4"/>
            </p:cNvCxnSpPr>
            <p:nvPr/>
          </p:nvCxnSpPr>
          <p:spPr>
            <a:xfrm>
              <a:off x="6436635" y="5532038"/>
              <a:ext cx="0" cy="452351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5F143A7E-A692-4A5E-8FE5-CC1A3FDA60A0}"/>
                </a:ext>
              </a:extLst>
            </p:cNvPr>
            <p:cNvCxnSpPr/>
            <p:nvPr/>
          </p:nvCxnSpPr>
          <p:spPr>
            <a:xfrm flipV="1">
              <a:off x="6126532" y="4651537"/>
              <a:ext cx="705838" cy="99855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CADDA2A-F88D-485A-BDEF-B09F14E141FE}"/>
                </a:ext>
              </a:extLst>
            </p:cNvPr>
            <p:cNvGrpSpPr/>
            <p:nvPr/>
          </p:nvGrpSpPr>
          <p:grpSpPr>
            <a:xfrm>
              <a:off x="6159176" y="2879998"/>
              <a:ext cx="2355422" cy="553354"/>
              <a:chOff x="5451252" y="3420194"/>
              <a:chExt cx="1785898" cy="419557"/>
            </a:xfrm>
          </p:grpSpPr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29DED1DD-F0BE-4886-8B7B-86F9F45AA2AD}"/>
                  </a:ext>
                </a:extLst>
              </p:cNvPr>
              <p:cNvSpPr/>
              <p:nvPr/>
            </p:nvSpPr>
            <p:spPr>
              <a:xfrm>
                <a:off x="6029710" y="3420194"/>
                <a:ext cx="170443" cy="410117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atin typeface="+mn-ea"/>
                </a:endParaRPr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F18FAA39-290E-40BC-8E42-10E72F827A2D}"/>
                  </a:ext>
                </a:extLst>
              </p:cNvPr>
              <p:cNvSpPr/>
              <p:nvPr/>
            </p:nvSpPr>
            <p:spPr>
              <a:xfrm>
                <a:off x="5451252" y="3422756"/>
                <a:ext cx="1620304" cy="416995"/>
              </a:xfrm>
              <a:prstGeom prst="rect">
                <a:avLst/>
              </a:prstGeom>
              <a:noFill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atin typeface="+mn-ea"/>
                </a:endParaRPr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2EE7ABD3-BBF1-4BF0-8AAD-91D77741A52A}"/>
                  </a:ext>
                </a:extLst>
              </p:cNvPr>
              <p:cNvSpPr/>
              <p:nvPr/>
            </p:nvSpPr>
            <p:spPr>
              <a:xfrm>
                <a:off x="6199907" y="3591724"/>
                <a:ext cx="1037243" cy="67058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latin typeface="+mn-ea"/>
                </a:endParaRPr>
              </a:p>
            </p:txBody>
          </p:sp>
        </p:grpSp>
        <p:sp>
          <p:nvSpPr>
            <p:cNvPr id="71" name="弧形 70">
              <a:extLst>
                <a:ext uri="{FF2B5EF4-FFF2-40B4-BE49-F238E27FC236}">
                  <a16:creationId xmlns:a16="http://schemas.microsoft.com/office/drawing/2014/main" id="{40A70AD2-5786-43F2-9AFD-15052BD2394C}"/>
                </a:ext>
              </a:extLst>
            </p:cNvPr>
            <p:cNvSpPr/>
            <p:nvPr/>
          </p:nvSpPr>
          <p:spPr>
            <a:xfrm>
              <a:off x="6463197" y="4779452"/>
              <a:ext cx="515799" cy="762447"/>
            </a:xfrm>
            <a:prstGeom prst="arc">
              <a:avLst>
                <a:gd name="adj1" fmla="val 17283902"/>
                <a:gd name="adj2" fmla="val 4390572"/>
              </a:avLst>
            </a:prstGeom>
            <a:ln w="38100">
              <a:solidFill>
                <a:srgbClr val="C00000"/>
              </a:solidFill>
              <a:headEnd type="stealth" w="lg" len="lg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ln w="28575">
                  <a:solidFill>
                    <a:schemeClr val="tx1"/>
                  </a:solidFill>
                </a:ln>
                <a:latin typeface="+mn-ea"/>
              </a:endParaRPr>
            </a:p>
          </p:txBody>
        </p:sp>
        <p:sp>
          <p:nvSpPr>
            <p:cNvPr id="72" name="Content Placeholder 2">
              <a:extLst>
                <a:ext uri="{FF2B5EF4-FFF2-40B4-BE49-F238E27FC236}">
                  <a16:creationId xmlns:a16="http://schemas.microsoft.com/office/drawing/2014/main" id="{2FEE67C4-ECEA-4E5A-A02A-6DAD18313DAF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6026597" y="6200964"/>
              <a:ext cx="2488007" cy="28578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9pPr>
            </a:lstStyle>
            <a:p>
              <a:pPr marL="0" indent="0" algn="ctr">
                <a:buNone/>
              </a:pPr>
              <a:r>
                <a:rPr lang="zh-CN" altLang="en-US" sz="1800" kern="0" dirty="0">
                  <a:latin typeface="+mn-ea"/>
                </a:rPr>
                <a:t>泵</a:t>
              </a:r>
              <a:r>
                <a:rPr lang="en-US" altLang="zh-CN" sz="1800" kern="0" dirty="0">
                  <a:latin typeface="+mn-ea"/>
                </a:rPr>
                <a:t>-</a:t>
              </a:r>
              <a:r>
                <a:rPr lang="zh-CN" altLang="en-US" sz="1800" kern="0" dirty="0">
                  <a:latin typeface="+mn-ea"/>
                </a:rPr>
                <a:t>缸式开式容积调速回路</a:t>
              </a:r>
              <a:endParaRPr lang="en-US" altLang="zh-CN" sz="1800" kern="0" dirty="0">
                <a:latin typeface="+mn-ea"/>
              </a:endParaRPr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0753F50C-0F24-4B4E-A595-D7AC37F12BB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71240" y="3708598"/>
              <a:ext cx="315013" cy="8800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4" name="直接连接符 73">
              <a:extLst>
                <a:ext uri="{FF2B5EF4-FFF2-40B4-BE49-F238E27FC236}">
                  <a16:creationId xmlns:a16="http://schemas.microsoft.com/office/drawing/2014/main" id="{65CFB0C5-223B-4E0D-9027-ED903857DD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01138" y="4102490"/>
              <a:ext cx="7156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A4CA1D45-6BD5-4C6F-BEA5-384E41EF684C}"/>
                </a:ext>
              </a:extLst>
            </p:cNvPr>
            <p:cNvSpPr/>
            <p:nvPr/>
          </p:nvSpPr>
          <p:spPr>
            <a:xfrm>
              <a:off x="6378481" y="4054226"/>
              <a:ext cx="96526" cy="9652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1989EF16-C74B-4136-AFC7-6E016E2CC060}"/>
                </a:ext>
              </a:extLst>
            </p:cNvPr>
            <p:cNvSpPr/>
            <p:nvPr/>
          </p:nvSpPr>
          <p:spPr>
            <a:xfrm>
              <a:off x="7013124" y="3863238"/>
              <a:ext cx="482643" cy="4826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A77914DE-F88D-4892-86DA-EF825EC9FF02}"/>
                </a:ext>
              </a:extLst>
            </p:cNvPr>
            <p:cNvCxnSpPr>
              <a:cxnSpLocks/>
            </p:cNvCxnSpPr>
            <p:nvPr/>
          </p:nvCxnSpPr>
          <p:spPr>
            <a:xfrm>
              <a:off x="7013124" y="4254616"/>
              <a:ext cx="482643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sp>
          <p:nvSpPr>
            <p:cNvPr id="78" name="任意多边形: 形状 77">
              <a:extLst>
                <a:ext uri="{FF2B5EF4-FFF2-40B4-BE49-F238E27FC236}">
                  <a16:creationId xmlns:a16="http://schemas.microsoft.com/office/drawing/2014/main" id="{23F71112-2D9F-420F-8507-0EAC5BE93DB4}"/>
                </a:ext>
              </a:extLst>
            </p:cNvPr>
            <p:cNvSpPr/>
            <p:nvPr/>
          </p:nvSpPr>
          <p:spPr>
            <a:xfrm>
              <a:off x="6764771" y="4109823"/>
              <a:ext cx="496148" cy="466962"/>
            </a:xfrm>
            <a:custGeom>
              <a:avLst/>
              <a:gdLst>
                <a:gd name="connsiteX0" fmla="*/ 333829 w 740229"/>
                <a:gd name="connsiteY0" fmla="*/ 0 h 696685"/>
                <a:gd name="connsiteX1" fmla="*/ 0 w 740229"/>
                <a:gd name="connsiteY1" fmla="*/ 333829 h 696685"/>
                <a:gd name="connsiteX2" fmla="*/ 0 w 740229"/>
                <a:gd name="connsiteY2" fmla="*/ 696685 h 696685"/>
                <a:gd name="connsiteX3" fmla="*/ 740229 w 740229"/>
                <a:gd name="connsiteY3" fmla="*/ 696685 h 696685"/>
                <a:gd name="connsiteX4" fmla="*/ 740229 w 740229"/>
                <a:gd name="connsiteY4" fmla="*/ 464457 h 696685"/>
                <a:gd name="connsiteX0" fmla="*/ 333829 w 740229"/>
                <a:gd name="connsiteY0" fmla="*/ 0 h 696685"/>
                <a:gd name="connsiteX1" fmla="*/ 0 w 740229"/>
                <a:gd name="connsiteY1" fmla="*/ 333829 h 696685"/>
                <a:gd name="connsiteX2" fmla="*/ 0 w 740229"/>
                <a:gd name="connsiteY2" fmla="*/ 696685 h 696685"/>
                <a:gd name="connsiteX3" fmla="*/ 740229 w 740229"/>
                <a:gd name="connsiteY3" fmla="*/ 696685 h 696685"/>
                <a:gd name="connsiteX4" fmla="*/ 737848 w 740229"/>
                <a:gd name="connsiteY4" fmla="*/ 381113 h 69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0229" h="696685">
                  <a:moveTo>
                    <a:pt x="333829" y="0"/>
                  </a:moveTo>
                  <a:lnTo>
                    <a:pt x="0" y="333829"/>
                  </a:lnTo>
                  <a:lnTo>
                    <a:pt x="0" y="696685"/>
                  </a:lnTo>
                  <a:lnTo>
                    <a:pt x="740229" y="696685"/>
                  </a:lnTo>
                  <a:cubicBezTo>
                    <a:pt x="739435" y="591494"/>
                    <a:pt x="738642" y="486304"/>
                    <a:pt x="737848" y="381113"/>
                  </a:cubicBezTo>
                </a:path>
              </a:pathLst>
            </a:cu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79" name="任意多边形: 形状 78">
              <a:extLst>
                <a:ext uri="{FF2B5EF4-FFF2-40B4-BE49-F238E27FC236}">
                  <a16:creationId xmlns:a16="http://schemas.microsoft.com/office/drawing/2014/main" id="{3FC65001-283A-47A6-A654-AB84168308CA}"/>
                </a:ext>
              </a:extLst>
            </p:cNvPr>
            <p:cNvSpPr/>
            <p:nvPr/>
          </p:nvSpPr>
          <p:spPr>
            <a:xfrm>
              <a:off x="7156353" y="3630762"/>
              <a:ext cx="144786" cy="220257"/>
            </a:xfrm>
            <a:custGeom>
              <a:avLst/>
              <a:gdLst>
                <a:gd name="connsiteX0" fmla="*/ 152400 w 266700"/>
                <a:gd name="connsiteY0" fmla="*/ 342900 h 342900"/>
                <a:gd name="connsiteX1" fmla="*/ 0 w 266700"/>
                <a:gd name="connsiteY1" fmla="*/ 295275 h 342900"/>
                <a:gd name="connsiteX2" fmla="*/ 238125 w 266700"/>
                <a:gd name="connsiteY2" fmla="*/ 247650 h 342900"/>
                <a:gd name="connsiteX3" fmla="*/ 9525 w 266700"/>
                <a:gd name="connsiteY3" fmla="*/ 209550 h 342900"/>
                <a:gd name="connsiteX4" fmla="*/ 257175 w 266700"/>
                <a:gd name="connsiteY4" fmla="*/ 161925 h 342900"/>
                <a:gd name="connsiteX5" fmla="*/ 9525 w 266700"/>
                <a:gd name="connsiteY5" fmla="*/ 104775 h 342900"/>
                <a:gd name="connsiteX6" fmla="*/ 266700 w 266700"/>
                <a:gd name="connsiteY6" fmla="*/ 66675 h 342900"/>
                <a:gd name="connsiteX7" fmla="*/ 9525 w 266700"/>
                <a:gd name="connsiteY7" fmla="*/ 0 h 342900"/>
                <a:gd name="connsiteX0" fmla="*/ 150019 w 264319"/>
                <a:gd name="connsiteY0" fmla="*/ 342900 h 342900"/>
                <a:gd name="connsiteX1" fmla="*/ 0 w 264319"/>
                <a:gd name="connsiteY1" fmla="*/ 290513 h 342900"/>
                <a:gd name="connsiteX2" fmla="*/ 235744 w 264319"/>
                <a:gd name="connsiteY2" fmla="*/ 247650 h 342900"/>
                <a:gd name="connsiteX3" fmla="*/ 7144 w 264319"/>
                <a:gd name="connsiteY3" fmla="*/ 209550 h 342900"/>
                <a:gd name="connsiteX4" fmla="*/ 254794 w 264319"/>
                <a:gd name="connsiteY4" fmla="*/ 161925 h 342900"/>
                <a:gd name="connsiteX5" fmla="*/ 7144 w 264319"/>
                <a:gd name="connsiteY5" fmla="*/ 104775 h 342900"/>
                <a:gd name="connsiteX6" fmla="*/ 264319 w 264319"/>
                <a:gd name="connsiteY6" fmla="*/ 66675 h 342900"/>
                <a:gd name="connsiteX7" fmla="*/ 7144 w 264319"/>
                <a:gd name="connsiteY7" fmla="*/ 0 h 342900"/>
                <a:gd name="connsiteX0" fmla="*/ 150019 w 264319"/>
                <a:gd name="connsiteY0" fmla="*/ 342900 h 342900"/>
                <a:gd name="connsiteX1" fmla="*/ 0 w 264319"/>
                <a:gd name="connsiteY1" fmla="*/ 290513 h 342900"/>
                <a:gd name="connsiteX2" fmla="*/ 257175 w 264319"/>
                <a:gd name="connsiteY2" fmla="*/ 247650 h 342900"/>
                <a:gd name="connsiteX3" fmla="*/ 7144 w 264319"/>
                <a:gd name="connsiteY3" fmla="*/ 209550 h 342900"/>
                <a:gd name="connsiteX4" fmla="*/ 254794 w 264319"/>
                <a:gd name="connsiteY4" fmla="*/ 161925 h 342900"/>
                <a:gd name="connsiteX5" fmla="*/ 7144 w 264319"/>
                <a:gd name="connsiteY5" fmla="*/ 104775 h 342900"/>
                <a:gd name="connsiteX6" fmla="*/ 264319 w 264319"/>
                <a:gd name="connsiteY6" fmla="*/ 66675 h 342900"/>
                <a:gd name="connsiteX7" fmla="*/ 7144 w 264319"/>
                <a:gd name="connsiteY7" fmla="*/ 0 h 342900"/>
                <a:gd name="connsiteX0" fmla="*/ 150019 w 266700"/>
                <a:gd name="connsiteY0" fmla="*/ 342900 h 342900"/>
                <a:gd name="connsiteX1" fmla="*/ 0 w 266700"/>
                <a:gd name="connsiteY1" fmla="*/ 290513 h 342900"/>
                <a:gd name="connsiteX2" fmla="*/ 257175 w 266700"/>
                <a:gd name="connsiteY2" fmla="*/ 247650 h 342900"/>
                <a:gd name="connsiteX3" fmla="*/ 7144 w 266700"/>
                <a:gd name="connsiteY3" fmla="*/ 209550 h 342900"/>
                <a:gd name="connsiteX4" fmla="*/ 254794 w 266700"/>
                <a:gd name="connsiteY4" fmla="*/ 161925 h 342900"/>
                <a:gd name="connsiteX5" fmla="*/ 7144 w 266700"/>
                <a:gd name="connsiteY5" fmla="*/ 104775 h 342900"/>
                <a:gd name="connsiteX6" fmla="*/ 266700 w 266700"/>
                <a:gd name="connsiteY6" fmla="*/ 57150 h 342900"/>
                <a:gd name="connsiteX7" fmla="*/ 7144 w 266700"/>
                <a:gd name="connsiteY7" fmla="*/ 0 h 342900"/>
                <a:gd name="connsiteX0" fmla="*/ 150019 w 261937"/>
                <a:gd name="connsiteY0" fmla="*/ 342900 h 342900"/>
                <a:gd name="connsiteX1" fmla="*/ 0 w 261937"/>
                <a:gd name="connsiteY1" fmla="*/ 290513 h 342900"/>
                <a:gd name="connsiteX2" fmla="*/ 257175 w 261937"/>
                <a:gd name="connsiteY2" fmla="*/ 247650 h 342900"/>
                <a:gd name="connsiteX3" fmla="*/ 7144 w 261937"/>
                <a:gd name="connsiteY3" fmla="*/ 209550 h 342900"/>
                <a:gd name="connsiteX4" fmla="*/ 254794 w 261937"/>
                <a:gd name="connsiteY4" fmla="*/ 161925 h 342900"/>
                <a:gd name="connsiteX5" fmla="*/ 7144 w 261937"/>
                <a:gd name="connsiteY5" fmla="*/ 104775 h 342900"/>
                <a:gd name="connsiteX6" fmla="*/ 261937 w 261937"/>
                <a:gd name="connsiteY6" fmla="*/ 69057 h 342900"/>
                <a:gd name="connsiteX7" fmla="*/ 7144 w 261937"/>
                <a:gd name="connsiteY7" fmla="*/ 0 h 342900"/>
                <a:gd name="connsiteX0" fmla="*/ 154781 w 266699"/>
                <a:gd name="connsiteY0" fmla="*/ 345281 h 345281"/>
                <a:gd name="connsiteX1" fmla="*/ 4762 w 266699"/>
                <a:gd name="connsiteY1" fmla="*/ 292894 h 345281"/>
                <a:gd name="connsiteX2" fmla="*/ 261937 w 266699"/>
                <a:gd name="connsiteY2" fmla="*/ 250031 h 345281"/>
                <a:gd name="connsiteX3" fmla="*/ 11906 w 266699"/>
                <a:gd name="connsiteY3" fmla="*/ 211931 h 345281"/>
                <a:gd name="connsiteX4" fmla="*/ 259556 w 266699"/>
                <a:gd name="connsiteY4" fmla="*/ 164306 h 345281"/>
                <a:gd name="connsiteX5" fmla="*/ 11906 w 266699"/>
                <a:gd name="connsiteY5" fmla="*/ 107156 h 345281"/>
                <a:gd name="connsiteX6" fmla="*/ 266699 w 266699"/>
                <a:gd name="connsiteY6" fmla="*/ 71438 h 345281"/>
                <a:gd name="connsiteX7" fmla="*/ 0 w 266699"/>
                <a:gd name="connsiteY7" fmla="*/ 0 h 345281"/>
                <a:gd name="connsiteX0" fmla="*/ 154782 w 266700"/>
                <a:gd name="connsiteY0" fmla="*/ 345281 h 345281"/>
                <a:gd name="connsiteX1" fmla="*/ 4763 w 266700"/>
                <a:gd name="connsiteY1" fmla="*/ 292894 h 345281"/>
                <a:gd name="connsiteX2" fmla="*/ 261938 w 266700"/>
                <a:gd name="connsiteY2" fmla="*/ 250031 h 345281"/>
                <a:gd name="connsiteX3" fmla="*/ 0 w 266700"/>
                <a:gd name="connsiteY3" fmla="*/ 204787 h 345281"/>
                <a:gd name="connsiteX4" fmla="*/ 259557 w 266700"/>
                <a:gd name="connsiteY4" fmla="*/ 164306 h 345281"/>
                <a:gd name="connsiteX5" fmla="*/ 11907 w 266700"/>
                <a:gd name="connsiteY5" fmla="*/ 107156 h 345281"/>
                <a:gd name="connsiteX6" fmla="*/ 266700 w 266700"/>
                <a:gd name="connsiteY6" fmla="*/ 71438 h 345281"/>
                <a:gd name="connsiteX7" fmla="*/ 1 w 266700"/>
                <a:gd name="connsiteY7" fmla="*/ 0 h 345281"/>
                <a:gd name="connsiteX0" fmla="*/ 157162 w 269080"/>
                <a:gd name="connsiteY0" fmla="*/ 345281 h 345281"/>
                <a:gd name="connsiteX1" fmla="*/ 7143 w 269080"/>
                <a:gd name="connsiteY1" fmla="*/ 292894 h 345281"/>
                <a:gd name="connsiteX2" fmla="*/ 264318 w 269080"/>
                <a:gd name="connsiteY2" fmla="*/ 250031 h 345281"/>
                <a:gd name="connsiteX3" fmla="*/ 2380 w 269080"/>
                <a:gd name="connsiteY3" fmla="*/ 204787 h 345281"/>
                <a:gd name="connsiteX4" fmla="*/ 261937 w 269080"/>
                <a:gd name="connsiteY4" fmla="*/ 164306 h 345281"/>
                <a:gd name="connsiteX5" fmla="*/ 0 w 269080"/>
                <a:gd name="connsiteY5" fmla="*/ 104775 h 345281"/>
                <a:gd name="connsiteX6" fmla="*/ 269080 w 269080"/>
                <a:gd name="connsiteY6" fmla="*/ 71438 h 345281"/>
                <a:gd name="connsiteX7" fmla="*/ 2381 w 269080"/>
                <a:gd name="connsiteY7" fmla="*/ 0 h 345281"/>
                <a:gd name="connsiteX0" fmla="*/ 164305 w 269080"/>
                <a:gd name="connsiteY0" fmla="*/ 328612 h 328612"/>
                <a:gd name="connsiteX1" fmla="*/ 7143 w 269080"/>
                <a:gd name="connsiteY1" fmla="*/ 292894 h 328612"/>
                <a:gd name="connsiteX2" fmla="*/ 264318 w 269080"/>
                <a:gd name="connsiteY2" fmla="*/ 250031 h 328612"/>
                <a:gd name="connsiteX3" fmla="*/ 2380 w 269080"/>
                <a:gd name="connsiteY3" fmla="*/ 204787 h 328612"/>
                <a:gd name="connsiteX4" fmla="*/ 261937 w 269080"/>
                <a:gd name="connsiteY4" fmla="*/ 164306 h 328612"/>
                <a:gd name="connsiteX5" fmla="*/ 0 w 269080"/>
                <a:gd name="connsiteY5" fmla="*/ 104775 h 328612"/>
                <a:gd name="connsiteX6" fmla="*/ 269080 w 269080"/>
                <a:gd name="connsiteY6" fmla="*/ 71438 h 328612"/>
                <a:gd name="connsiteX7" fmla="*/ 2381 w 269080"/>
                <a:gd name="connsiteY7" fmla="*/ 0 h 328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080" h="328612">
                  <a:moveTo>
                    <a:pt x="164305" y="328612"/>
                  </a:moveTo>
                  <a:lnTo>
                    <a:pt x="7143" y="292894"/>
                  </a:lnTo>
                  <a:lnTo>
                    <a:pt x="264318" y="250031"/>
                  </a:lnTo>
                  <a:lnTo>
                    <a:pt x="2380" y="204787"/>
                  </a:lnTo>
                  <a:lnTo>
                    <a:pt x="261937" y="164306"/>
                  </a:lnTo>
                  <a:lnTo>
                    <a:pt x="0" y="104775"/>
                  </a:lnTo>
                  <a:lnTo>
                    <a:pt x="269080" y="71438"/>
                  </a:lnTo>
                  <a:lnTo>
                    <a:pt x="2381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80" name="椭圆 79">
              <a:extLst>
                <a:ext uri="{FF2B5EF4-FFF2-40B4-BE49-F238E27FC236}">
                  <a16:creationId xmlns:a16="http://schemas.microsoft.com/office/drawing/2014/main" id="{8F2A3F4E-CA19-4631-8275-6A890C69749A}"/>
                </a:ext>
              </a:extLst>
            </p:cNvPr>
            <p:cNvSpPr/>
            <p:nvPr/>
          </p:nvSpPr>
          <p:spPr>
            <a:xfrm>
              <a:off x="7979211" y="4054226"/>
              <a:ext cx="96526" cy="9652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DB37109F-738F-4EB8-BDB7-EB66C5301E0D}"/>
                </a:ext>
              </a:extLst>
            </p:cNvPr>
            <p:cNvSpPr txBox="1"/>
            <p:nvPr/>
          </p:nvSpPr>
          <p:spPr>
            <a:xfrm>
              <a:off x="8687396" y="3262313"/>
              <a:ext cx="229226" cy="285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+mn-ea"/>
                </a:rPr>
                <a:t>F</a:t>
              </a:r>
              <a:endParaRPr lang="zh-CN" altLang="en-US" sz="2000" dirty="0">
                <a:latin typeface="+mn-ea"/>
              </a:endParaRPr>
            </a:p>
          </p:txBody>
        </p: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0274F25F-2160-47A6-B607-48C463BD5D49}"/>
                </a:ext>
              </a:extLst>
            </p:cNvPr>
            <p:cNvCxnSpPr>
              <a:cxnSpLocks/>
            </p:cNvCxnSpPr>
            <p:nvPr/>
          </p:nvCxnSpPr>
          <p:spPr>
            <a:xfrm>
              <a:off x="8620389" y="3035473"/>
              <a:ext cx="369638" cy="0"/>
            </a:xfrm>
            <a:prstGeom prst="straightConnector1">
              <a:avLst/>
            </a:prstGeom>
            <a:ln w="3175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36664E91-9E82-421A-8324-CEA7F9EEC09D}"/>
                </a:ext>
              </a:extLst>
            </p:cNvPr>
            <p:cNvSpPr txBox="1"/>
            <p:nvPr/>
          </p:nvSpPr>
          <p:spPr>
            <a:xfrm>
              <a:off x="8667991" y="2692342"/>
              <a:ext cx="228080" cy="285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+mn-ea"/>
                </a:rPr>
                <a:t>v</a:t>
              </a:r>
              <a:endParaRPr lang="zh-CN" altLang="en-US" sz="2000" dirty="0">
                <a:latin typeface="+mn-ea"/>
              </a:endParaRP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6D93609-8061-4610-95FA-15E0BAA8AEF2}"/>
                </a:ext>
              </a:extLst>
            </p:cNvPr>
            <p:cNvGrpSpPr/>
            <p:nvPr/>
          </p:nvGrpSpPr>
          <p:grpSpPr>
            <a:xfrm>
              <a:off x="5656066" y="2520412"/>
              <a:ext cx="386310" cy="433670"/>
              <a:chOff x="764801" y="3368488"/>
              <a:chExt cx="386310" cy="433670"/>
            </a:xfrm>
          </p:grpSpPr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17A8314E-2993-4811-8F41-C2555894730D}"/>
                  </a:ext>
                </a:extLst>
              </p:cNvPr>
              <p:cNvSpPr txBox="1"/>
              <p:nvPr/>
            </p:nvSpPr>
            <p:spPr>
              <a:xfrm>
                <a:off x="764801" y="3368488"/>
                <a:ext cx="248690" cy="285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p</a:t>
                </a:r>
                <a:endParaRPr lang="zh-CN" altLang="en-US" sz="2000" dirty="0">
                  <a:latin typeface="+mn-ea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AD587190-10A3-4F6C-9D60-AB01AE6E15D6}"/>
                  </a:ext>
                </a:extLst>
              </p:cNvPr>
              <p:cNvSpPr txBox="1"/>
              <p:nvPr/>
            </p:nvSpPr>
            <p:spPr>
              <a:xfrm>
                <a:off x="893300" y="3516370"/>
                <a:ext cx="257811" cy="285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1</a:t>
                </a:r>
                <a:endParaRPr lang="zh-CN" altLang="en-US" sz="2000" dirty="0">
                  <a:latin typeface="+mn-ea"/>
                </a:endParaRPr>
              </a:p>
            </p:txBody>
          </p:sp>
        </p:grp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D081B706-88E9-40A4-A379-AE509DB0697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>
              <a:off x="6026598" y="2851153"/>
              <a:ext cx="277512" cy="163861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grpSp>
          <p:nvGrpSpPr>
            <p:cNvPr id="86" name="组合 85">
              <a:extLst>
                <a:ext uri="{FF2B5EF4-FFF2-40B4-BE49-F238E27FC236}">
                  <a16:creationId xmlns:a16="http://schemas.microsoft.com/office/drawing/2014/main" id="{F95B8E2F-0158-48A3-90E7-8DC18650501A}"/>
                </a:ext>
              </a:extLst>
            </p:cNvPr>
            <p:cNvGrpSpPr/>
            <p:nvPr/>
          </p:nvGrpSpPr>
          <p:grpSpPr>
            <a:xfrm>
              <a:off x="7340179" y="3331080"/>
              <a:ext cx="618616" cy="517502"/>
              <a:chOff x="7340179" y="3331080"/>
              <a:chExt cx="618616" cy="517502"/>
            </a:xfrm>
          </p:grpSpPr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106D1B6D-9A43-456B-A477-DF138A6A271E}"/>
                  </a:ext>
                </a:extLst>
              </p:cNvPr>
              <p:cNvGrpSpPr/>
              <p:nvPr/>
            </p:nvGrpSpPr>
            <p:grpSpPr>
              <a:xfrm>
                <a:off x="7340179" y="3435502"/>
                <a:ext cx="363999" cy="413080"/>
                <a:chOff x="736419" y="3368773"/>
                <a:chExt cx="363999" cy="413080"/>
              </a:xfrm>
            </p:grpSpPr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FCA7755E-7385-4B58-9613-5EA9C4C83954}"/>
                    </a:ext>
                  </a:extLst>
                </p:cNvPr>
                <p:cNvSpPr txBox="1"/>
                <p:nvPr/>
              </p:nvSpPr>
              <p:spPr>
                <a:xfrm>
                  <a:off x="736419" y="3368773"/>
                  <a:ext cx="248690" cy="2857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dirty="0">
                      <a:latin typeface="+mn-ea"/>
                    </a:rPr>
                    <a:t>p</a:t>
                  </a:r>
                  <a:endParaRPr lang="zh-CN" altLang="en-US" sz="2000" dirty="0">
                    <a:latin typeface="+mn-ea"/>
                  </a:endParaRPr>
                </a:p>
              </p:txBody>
            </p:sp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C0FAB70-6D73-4CA5-817E-FC1615C9DB9E}"/>
                    </a:ext>
                  </a:extLst>
                </p:cNvPr>
                <p:cNvSpPr txBox="1"/>
                <p:nvPr/>
              </p:nvSpPr>
              <p:spPr>
                <a:xfrm>
                  <a:off x="842607" y="3496065"/>
                  <a:ext cx="257811" cy="285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+mn-ea"/>
                    </a:rPr>
                    <a:t>2</a:t>
                  </a:r>
                  <a:endParaRPr lang="zh-CN" altLang="en-US" sz="2000" dirty="0">
                    <a:latin typeface="+mn-ea"/>
                  </a:endParaRPr>
                </a:p>
              </p:txBody>
            </p:sp>
          </p:grpSp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75D0FB76-72F9-45A6-8832-1EC1743FF386}"/>
                  </a:ext>
                </a:extLst>
              </p:cNvPr>
              <p:cNvSpPr/>
              <p:nvPr/>
            </p:nvSpPr>
            <p:spPr>
              <a:xfrm>
                <a:off x="7529198" y="3474859"/>
                <a:ext cx="429597" cy="2857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= 0</a:t>
                </a:r>
                <a:endParaRPr lang="zh-CN" altLang="en-US" sz="2000" dirty="0">
                  <a:latin typeface="+mn-ea"/>
                </a:endParaRPr>
              </a:p>
            </p:txBody>
          </p:sp>
          <p:cxnSp>
            <p:nvCxnSpPr>
              <p:cNvPr id="104" name="直接连接符 103">
                <a:extLst>
                  <a:ext uri="{FF2B5EF4-FFF2-40B4-BE49-F238E27FC236}">
                    <a16:creationId xmlns:a16="http://schemas.microsoft.com/office/drawing/2014/main" id="{0506D14F-D968-4DA1-B232-934E564A3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635521" y="3331080"/>
                <a:ext cx="75556" cy="196334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grpSp>
          <p:nvGrpSpPr>
            <p:cNvPr id="87" name="组合 86">
              <a:extLst>
                <a:ext uri="{FF2B5EF4-FFF2-40B4-BE49-F238E27FC236}">
                  <a16:creationId xmlns:a16="http://schemas.microsoft.com/office/drawing/2014/main" id="{1F369C07-A176-48DC-BAE4-1A3257AC098F}"/>
                </a:ext>
              </a:extLst>
            </p:cNvPr>
            <p:cNvGrpSpPr/>
            <p:nvPr/>
          </p:nvGrpSpPr>
          <p:grpSpPr>
            <a:xfrm>
              <a:off x="6536426" y="2517856"/>
              <a:ext cx="407856" cy="406347"/>
              <a:chOff x="764801" y="3368488"/>
              <a:chExt cx="407856" cy="406347"/>
            </a:xfrm>
          </p:grpSpPr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7B6E10F6-3E04-411D-A543-955E58069FB3}"/>
                  </a:ext>
                </a:extLst>
              </p:cNvPr>
              <p:cNvSpPr txBox="1"/>
              <p:nvPr/>
            </p:nvSpPr>
            <p:spPr>
              <a:xfrm>
                <a:off x="764801" y="3368488"/>
                <a:ext cx="261286" cy="285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A</a:t>
                </a:r>
                <a:endParaRPr lang="zh-CN" altLang="en-US" sz="2000" dirty="0">
                  <a:latin typeface="+mn-ea"/>
                </a:endParaRPr>
              </a:p>
            </p:txBody>
          </p: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2EA14932-A232-48FB-93E5-760CE373BB86}"/>
                  </a:ext>
                </a:extLst>
              </p:cNvPr>
              <p:cNvSpPr txBox="1"/>
              <p:nvPr/>
            </p:nvSpPr>
            <p:spPr>
              <a:xfrm>
                <a:off x="914846" y="3489047"/>
                <a:ext cx="257811" cy="285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1</a:t>
                </a:r>
                <a:endParaRPr lang="zh-CN" altLang="en-US" sz="2000" dirty="0">
                  <a:latin typeface="+mn-ea"/>
                </a:endParaRPr>
              </a:p>
            </p:txBody>
          </p:sp>
        </p:grp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FE4C6F64-AE74-40C4-A3CE-6CDD73CAB1C2}"/>
                </a:ext>
              </a:extLst>
            </p:cNvPr>
            <p:cNvCxnSpPr>
              <a:cxnSpLocks/>
              <a:stCxn id="101" idx="2"/>
            </p:cNvCxnSpPr>
            <p:nvPr/>
          </p:nvCxnSpPr>
          <p:spPr>
            <a:xfrm>
              <a:off x="6815377" y="2924203"/>
              <a:ext cx="94707" cy="126699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grpSp>
          <p:nvGrpSpPr>
            <p:cNvPr id="89" name="组合 88">
              <a:extLst>
                <a:ext uri="{FF2B5EF4-FFF2-40B4-BE49-F238E27FC236}">
                  <a16:creationId xmlns:a16="http://schemas.microsoft.com/office/drawing/2014/main" id="{184EBBDF-2755-4CCF-BDBD-E8CCF3935CA6}"/>
                </a:ext>
              </a:extLst>
            </p:cNvPr>
            <p:cNvGrpSpPr/>
            <p:nvPr/>
          </p:nvGrpSpPr>
          <p:grpSpPr>
            <a:xfrm>
              <a:off x="5985338" y="4397237"/>
              <a:ext cx="368330" cy="396945"/>
              <a:chOff x="764801" y="3368488"/>
              <a:chExt cx="368330" cy="396945"/>
            </a:xfrm>
          </p:grpSpPr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051028DA-3F2F-4274-8E84-6C447F3CC15A}"/>
                  </a:ext>
                </a:extLst>
              </p:cNvPr>
              <p:cNvSpPr txBox="1"/>
              <p:nvPr/>
            </p:nvSpPr>
            <p:spPr>
              <a:xfrm>
                <a:off x="764801" y="3368488"/>
                <a:ext cx="248690" cy="285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p</a:t>
                </a:r>
                <a:endParaRPr lang="zh-CN" altLang="en-US" sz="2000" dirty="0">
                  <a:latin typeface="+mn-ea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3AE4AAC2-4BA0-434C-81A7-8111D6CFABD7}"/>
                  </a:ext>
                </a:extLst>
              </p:cNvPr>
              <p:cNvSpPr txBox="1"/>
              <p:nvPr/>
            </p:nvSpPr>
            <p:spPr>
              <a:xfrm>
                <a:off x="875320" y="3479645"/>
                <a:ext cx="257811" cy="285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p</a:t>
                </a:r>
                <a:endParaRPr lang="zh-CN" altLang="en-US" sz="2000" dirty="0">
                  <a:latin typeface="+mn-ea"/>
                </a:endParaRPr>
              </a:p>
            </p:txBody>
          </p:sp>
        </p:grp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412185FB-D515-4C60-AF3D-37A8D50FC838}"/>
                </a:ext>
              </a:extLst>
            </p:cNvPr>
            <p:cNvCxnSpPr>
              <a:cxnSpLocks/>
            </p:cNvCxnSpPr>
            <p:nvPr/>
          </p:nvCxnSpPr>
          <p:spPr>
            <a:xfrm>
              <a:off x="8620389" y="3262313"/>
              <a:ext cx="369638" cy="0"/>
            </a:xfrm>
            <a:prstGeom prst="straightConnector1">
              <a:avLst/>
            </a:prstGeom>
            <a:ln w="31750">
              <a:solidFill>
                <a:srgbClr val="0070C0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8333B212-A0C7-4E95-B07B-C9B8F4060CBB}"/>
                </a:ext>
              </a:extLst>
            </p:cNvPr>
            <p:cNvGrpSpPr/>
            <p:nvPr/>
          </p:nvGrpSpPr>
          <p:grpSpPr>
            <a:xfrm>
              <a:off x="6417001" y="4390225"/>
              <a:ext cx="368330" cy="396945"/>
              <a:chOff x="764801" y="3368488"/>
              <a:chExt cx="368330" cy="396945"/>
            </a:xfrm>
          </p:grpSpPr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6074D931-895D-4102-B16A-27280E4145D2}"/>
                  </a:ext>
                </a:extLst>
              </p:cNvPr>
              <p:cNvSpPr txBox="1"/>
              <p:nvPr/>
            </p:nvSpPr>
            <p:spPr>
              <a:xfrm>
                <a:off x="764801" y="3368488"/>
                <a:ext cx="248690" cy="285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q</a:t>
                </a:r>
                <a:endParaRPr lang="zh-CN" altLang="en-US" sz="2000" dirty="0">
                  <a:latin typeface="+mn-ea"/>
                </a:endParaRPr>
              </a:p>
            </p:txBody>
          </p:sp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B2B2E267-79E7-4FB5-91B5-4A3BAD0D2425}"/>
                  </a:ext>
                </a:extLst>
              </p:cNvPr>
              <p:cNvSpPr txBox="1"/>
              <p:nvPr/>
            </p:nvSpPr>
            <p:spPr>
              <a:xfrm>
                <a:off x="875320" y="3479645"/>
                <a:ext cx="257811" cy="285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p</a:t>
                </a:r>
                <a:endParaRPr lang="zh-CN" altLang="en-US" sz="2000" dirty="0">
                  <a:latin typeface="+mn-ea"/>
                </a:endParaRPr>
              </a:p>
            </p:txBody>
          </p:sp>
        </p:grp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41FA156C-4FCE-4E65-B8FB-A4BF2B7F71BE}"/>
                </a:ext>
              </a:extLst>
            </p:cNvPr>
            <p:cNvGrpSpPr/>
            <p:nvPr/>
          </p:nvGrpSpPr>
          <p:grpSpPr>
            <a:xfrm>
              <a:off x="6074200" y="2511959"/>
              <a:ext cx="387203" cy="412244"/>
              <a:chOff x="764801" y="3368488"/>
              <a:chExt cx="387203" cy="412244"/>
            </a:xfrm>
          </p:grpSpPr>
          <p:sp>
            <p:nvSpPr>
              <p:cNvPr id="94" name="文本框 93">
                <a:extLst>
                  <a:ext uri="{FF2B5EF4-FFF2-40B4-BE49-F238E27FC236}">
                    <a16:creationId xmlns:a16="http://schemas.microsoft.com/office/drawing/2014/main" id="{9EBBF827-8047-4948-B046-3110D35925CE}"/>
                  </a:ext>
                </a:extLst>
              </p:cNvPr>
              <p:cNvSpPr txBox="1"/>
              <p:nvPr/>
            </p:nvSpPr>
            <p:spPr>
              <a:xfrm>
                <a:off x="764801" y="3368488"/>
                <a:ext cx="248690" cy="285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p</a:t>
                </a:r>
                <a:endParaRPr lang="zh-CN" altLang="en-US" sz="2000" dirty="0">
                  <a:latin typeface="+mn-ea"/>
                </a:endParaRPr>
              </a:p>
            </p:txBody>
          </p:sp>
          <p:sp>
            <p:nvSpPr>
              <p:cNvPr id="95" name="文本框 94">
                <a:extLst>
                  <a:ext uri="{FF2B5EF4-FFF2-40B4-BE49-F238E27FC236}">
                    <a16:creationId xmlns:a16="http://schemas.microsoft.com/office/drawing/2014/main" id="{BF46E6CC-6AB2-411A-8F7D-BDD77A47CB3F}"/>
                  </a:ext>
                </a:extLst>
              </p:cNvPr>
              <p:cNvSpPr txBox="1"/>
              <p:nvPr/>
            </p:nvSpPr>
            <p:spPr>
              <a:xfrm>
                <a:off x="894193" y="3494944"/>
                <a:ext cx="257811" cy="285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+mn-ea"/>
                  </a:rPr>
                  <a:t>p</a:t>
                </a:r>
                <a:endParaRPr lang="zh-CN" altLang="en-US" sz="2000" dirty="0">
                  <a:latin typeface="+mn-ea"/>
                </a:endParaRPr>
              </a:p>
            </p:txBody>
          </p:sp>
        </p:grp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2937217D-F7B6-4EEB-ACE1-F77917B0DD6F}"/>
                </a:ext>
              </a:extLst>
            </p:cNvPr>
            <p:cNvSpPr/>
            <p:nvPr/>
          </p:nvSpPr>
          <p:spPr>
            <a:xfrm>
              <a:off x="5892520" y="2565365"/>
              <a:ext cx="268155" cy="28578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+mn-ea"/>
                </a:rPr>
                <a:t>=</a:t>
              </a:r>
              <a:endParaRPr lang="zh-CN" altLang="en-US" sz="2000" dirty="0">
                <a:latin typeface="+mn-ea"/>
              </a:endParaRPr>
            </a:p>
          </p:txBody>
        </p:sp>
      </p:grpSp>
      <p:sp>
        <p:nvSpPr>
          <p:cNvPr id="116" name="矩形 115">
            <a:extLst>
              <a:ext uri="{FF2B5EF4-FFF2-40B4-BE49-F238E27FC236}">
                <a16:creationId xmlns:a16="http://schemas.microsoft.com/office/drawing/2014/main" id="{092CBA3B-C915-4C82-9D69-DB74B50CA371}"/>
              </a:ext>
            </a:extLst>
          </p:cNvPr>
          <p:cNvSpPr/>
          <p:nvPr/>
        </p:nvSpPr>
        <p:spPr>
          <a:xfrm>
            <a:off x="2901071" y="5409682"/>
            <a:ext cx="28851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通过改变变量泵的排量，调节活塞运动速度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06D87C94-1769-45FD-8F4D-6A38B89342DC}"/>
              </a:ext>
            </a:extLst>
          </p:cNvPr>
          <p:cNvSpPr/>
          <p:nvPr/>
        </p:nvSpPr>
        <p:spPr>
          <a:xfrm>
            <a:off x="8055789" y="4674758"/>
            <a:ext cx="21089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溢流阀作为安全阀</a:t>
            </a:r>
          </a:p>
        </p:txBody>
      </p: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95D51558-FB8B-4962-9DD6-CD7FF70C8F07}"/>
              </a:ext>
            </a:extLst>
          </p:cNvPr>
          <p:cNvCxnSpPr>
            <a:cxnSpLocks/>
          </p:cNvCxnSpPr>
          <p:nvPr/>
        </p:nvCxnSpPr>
        <p:spPr>
          <a:xfrm flipH="1" flipV="1">
            <a:off x="8440451" y="3842286"/>
            <a:ext cx="134107" cy="830997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E6182928-F614-4960-B083-1891F3F31533}"/>
              </a:ext>
            </a:extLst>
          </p:cNvPr>
          <p:cNvCxnSpPr>
            <a:cxnSpLocks/>
          </p:cNvCxnSpPr>
          <p:nvPr/>
        </p:nvCxnSpPr>
        <p:spPr>
          <a:xfrm flipV="1">
            <a:off x="2806234" y="3636301"/>
            <a:ext cx="313610" cy="601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内容占位符 2">
                <a:extLst>
                  <a:ext uri="{FF2B5EF4-FFF2-40B4-BE49-F238E27FC236}">
                    <a16:creationId xmlns:a16="http://schemas.microsoft.com/office/drawing/2014/main" id="{D49664C6-382E-4E11-B8FA-ED2983196A5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1176384" y="1452282"/>
                <a:ext cx="3833628" cy="23490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anose="05000000000000000000" pitchFamily="2" charset="2"/>
                  <a:buChar char=""/>
                  <a:defRPr lang="en-US" sz="2400" dirty="0" smtClean="0">
                    <a:solidFill>
                      <a:schemeClr val="tx1"/>
                    </a:solidFill>
                    <a:latin typeface="黑体" panose="02010609060101010101" pitchFamily="49" charset="-122"/>
                    <a:ea typeface="黑体" panose="02010609060101010101" pitchFamily="49" charset="-122"/>
                    <a:cs typeface="+mn-cs"/>
                  </a:defRPr>
                </a:lvl1pPr>
                <a:lvl2pPr marL="3420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lang="en-US" sz="2000" dirty="0" smtClean="0">
                    <a:solidFill>
                      <a:schemeClr val="tx1"/>
                    </a:solidFill>
                    <a:latin typeface="黑体" panose="02010609060101010101" pitchFamily="49" charset="-122"/>
                    <a:ea typeface="黑体" panose="02010609060101010101" pitchFamily="49" charset="-122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anose="05000000000000000000" pitchFamily="2" charset="2"/>
                  <a:buChar char="Ø"/>
                  <a:defRPr sz="1800">
                    <a:solidFill>
                      <a:schemeClr val="tx1"/>
                    </a:solidFill>
                    <a:latin typeface="+mn-lt"/>
                    <a:ea typeface="+mn-ea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9pPr>
              </a:lstStyle>
              <a:p>
                <a:pPr marL="0" lvl="1" indent="0">
                  <a:lnSpc>
                    <a:spcPct val="150000"/>
                  </a:lnSpc>
                  <a:buNone/>
                </a:pPr>
                <a:r>
                  <a:rPr lang="zh-CN" altLang="en-US" sz="2400" kern="0" dirty="0">
                    <a:latin typeface="+mn-ea"/>
                    <a:ea typeface="+mn-ea"/>
                  </a:rPr>
                  <a:t>活塞运动速度：</a:t>
                </a:r>
              </a:p>
              <a:p>
                <a:pPr marL="0" lvl="1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kern="0" smtClean="0">
                          <a:latin typeface="Cambria Math" panose="02040503050406030204" pitchFamily="18" charset="0"/>
                          <a:ea typeface="+mn-ea"/>
                        </a:rPr>
                        <m:t>𝑣</m:t>
                      </m:r>
                      <m:r>
                        <a:rPr lang="en-US" altLang="zh-CN" sz="2400" b="0" i="1" kern="0" smtClean="0"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kern="0" smtClean="0"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CN" sz="2400" b="0" i="1" kern="0" smtClean="0"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kern="0" smtClean="0"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CN" sz="2400" b="0" i="1" kern="0" smtClean="0">
                              <a:latin typeface="Cambria Math" panose="02040503050406030204" pitchFamily="18" charset="0"/>
                              <a:ea typeface="+mn-ea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1</m:t>
                              </m:r>
                            </m:sub>
                          </m:sSub>
                          <m:f>
                            <m:fPr>
                              <m:ctrlP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</m:ctrlPr>
                            </m:fPr>
                            <m:num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𝐹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2400" b="0" i="1" kern="0" smtClean="0">
                                      <a:latin typeface="Cambria Math" panose="02040503050406030204" pitchFamily="18" charset="0"/>
                                      <a:ea typeface="+mn-ea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kern="0" smtClean="0">
                                      <a:latin typeface="Cambria Math" panose="02040503050406030204" pitchFamily="18" charset="0"/>
                                      <a:ea typeface="+mn-ea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2400" b="0" i="1" kern="0" smtClean="0">
                                      <a:latin typeface="Cambria Math" panose="02040503050406030204" pitchFamily="18" charset="0"/>
                                      <a:ea typeface="+mn-ea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2400" b="0" i="1" kern="0" smtClean="0">
                                  <a:latin typeface="Cambria Math" panose="02040503050406030204" pitchFamily="18" charset="0"/>
                                  <a:ea typeface="+mn-ea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kern="0" dirty="0">
                  <a:latin typeface="+mn-ea"/>
                  <a:ea typeface="+mn-ea"/>
                </a:endParaRPr>
              </a:p>
            </p:txBody>
          </p:sp>
        </mc:Choice>
        <mc:Fallback xmlns="">
          <p:sp>
            <p:nvSpPr>
              <p:cNvPr id="120" name="内容占位符 2">
                <a:extLst>
                  <a:ext uri="{FF2B5EF4-FFF2-40B4-BE49-F238E27FC236}">
                    <a16:creationId xmlns:a16="http://schemas.microsoft.com/office/drawing/2014/main" id="{D49664C6-382E-4E11-B8FA-ED2983196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76384" y="1452282"/>
                <a:ext cx="3833628" cy="2349010"/>
              </a:xfrm>
              <a:prstGeom prst="rect">
                <a:avLst/>
              </a:prstGeom>
              <a:blipFill>
                <a:blip r:embed="rId2"/>
                <a:stretch>
                  <a:fillRect l="-254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矩形 120">
            <a:extLst>
              <a:ext uri="{FF2B5EF4-FFF2-40B4-BE49-F238E27FC236}">
                <a16:creationId xmlns:a16="http://schemas.microsoft.com/office/drawing/2014/main" id="{3B9D7082-900B-42DB-B2EC-9EC2C5686DFE}"/>
              </a:ext>
            </a:extLst>
          </p:cNvPr>
          <p:cNvSpPr/>
          <p:nvPr/>
        </p:nvSpPr>
        <p:spPr>
          <a:xfrm>
            <a:off x="1539536" y="4255023"/>
            <a:ext cx="30534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+mn-ea"/>
              </a:rPr>
              <a:t>泵泄漏</a:t>
            </a:r>
            <a:r>
              <a:rPr lang="zh-CN" altLang="en-US" dirty="0">
                <a:latin typeface="+mn-ea"/>
              </a:rPr>
              <a:t>对运动速度影响较大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671D814D-3F64-4B1F-81C5-3360DEC5CDD3}"/>
              </a:ext>
            </a:extLst>
          </p:cNvPr>
          <p:cNvCxnSpPr>
            <a:cxnSpLocks/>
          </p:cNvCxnSpPr>
          <p:nvPr/>
        </p:nvCxnSpPr>
        <p:spPr>
          <a:xfrm flipV="1">
            <a:off x="4533716" y="4832673"/>
            <a:ext cx="1438337" cy="5367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椭圆 122">
            <a:extLst>
              <a:ext uri="{FF2B5EF4-FFF2-40B4-BE49-F238E27FC236}">
                <a16:creationId xmlns:a16="http://schemas.microsoft.com/office/drawing/2014/main" id="{09955BEF-793B-484E-BB44-BB2B83534F35}"/>
              </a:ext>
            </a:extLst>
          </p:cNvPr>
          <p:cNvSpPr/>
          <p:nvPr/>
        </p:nvSpPr>
        <p:spPr>
          <a:xfrm>
            <a:off x="3636610" y="2314301"/>
            <a:ext cx="1030031" cy="893251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4636206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缸式开式容积调速回路</a:t>
            </a:r>
            <a:endParaRPr lang="en-US" altLang="zh-CN" sz="2800" dirty="0">
              <a:latin typeface="+mn-ea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7FD762-567C-4103-B8AD-90FD325AFA30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8/35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6574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6072496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缸式开式容积调速回路</a:t>
            </a:r>
            <a:r>
              <a:rPr lang="zh-CN" altLang="en-US" sz="2800" b="1" dirty="0">
                <a:solidFill>
                  <a:srgbClr val="0000FF"/>
                </a:solidFill>
                <a:latin typeface="+mn-ea"/>
              </a:rPr>
              <a:t>机械特性</a:t>
            </a:r>
            <a:endParaRPr lang="en-US" altLang="zh-CN" sz="2800" b="1" dirty="0">
              <a:solidFill>
                <a:srgbClr val="0000FF"/>
              </a:solidFill>
              <a:latin typeface="+mn-ea"/>
            </a:endParaRPr>
          </a:p>
        </p:txBody>
      </p:sp>
      <p:pic>
        <p:nvPicPr>
          <p:cNvPr id="125" name="图片 124">
            <a:extLst>
              <a:ext uri="{FF2B5EF4-FFF2-40B4-BE49-F238E27FC236}">
                <a16:creationId xmlns:a16="http://schemas.microsoft.com/office/drawing/2014/main" id="{331DF068-5508-459D-A3E6-1D5FDDDD9F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97" y="1344316"/>
            <a:ext cx="6017663" cy="4874438"/>
          </a:xfrm>
          <a:prstGeom prst="rect">
            <a:avLst/>
          </a:prstGeom>
        </p:spPr>
      </p:pic>
      <p:sp>
        <p:nvSpPr>
          <p:cNvPr id="127" name="Content Placeholder 2">
            <a:extLst>
              <a:ext uri="{FF2B5EF4-FFF2-40B4-BE49-F238E27FC236}">
                <a16:creationId xmlns:a16="http://schemas.microsoft.com/office/drawing/2014/main" id="{6B0444DB-3503-431B-8B85-CFBE6811305A}"/>
              </a:ext>
            </a:extLst>
          </p:cNvPr>
          <p:cNvSpPr txBox="1">
            <a:spLocks/>
          </p:cNvSpPr>
          <p:nvPr/>
        </p:nvSpPr>
        <p:spPr bwMode="auto">
          <a:xfrm>
            <a:off x="695065" y="6218754"/>
            <a:ext cx="5584948" cy="410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泵</a:t>
            </a:r>
            <a:r>
              <a:rPr lang="en-US" altLang="zh-CN" sz="1800" kern="0" dirty="0">
                <a:latin typeface="+mn-ea"/>
              </a:rPr>
              <a:t>-</a:t>
            </a:r>
            <a:r>
              <a:rPr lang="zh-CN" altLang="en-US" sz="1800" kern="0" dirty="0">
                <a:latin typeface="+mn-ea"/>
              </a:rPr>
              <a:t>缸式容积调速回路的机械特性</a:t>
            </a:r>
            <a:endParaRPr lang="en-US" altLang="zh-CN" sz="1800" kern="0" dirty="0">
              <a:latin typeface="+mn-ea"/>
            </a:endParaRPr>
          </a:p>
        </p:txBody>
      </p:sp>
      <p:pic>
        <p:nvPicPr>
          <p:cNvPr id="128" name="图片 127">
            <a:extLst>
              <a:ext uri="{FF2B5EF4-FFF2-40B4-BE49-F238E27FC236}">
                <a16:creationId xmlns:a16="http://schemas.microsoft.com/office/drawing/2014/main" id="{F555C3E0-6450-4B64-9CB7-549204E6D3E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9859"/>
          <a:stretch/>
        </p:blipFill>
        <p:spPr>
          <a:xfrm>
            <a:off x="7809149" y="1944069"/>
            <a:ext cx="3090155" cy="3193242"/>
          </a:xfrm>
          <a:prstGeom prst="rect">
            <a:avLst/>
          </a:prstGeom>
        </p:spPr>
      </p:pic>
      <p:sp>
        <p:nvSpPr>
          <p:cNvPr id="129" name="内容占位符 2">
            <a:extLst>
              <a:ext uri="{FF2B5EF4-FFF2-40B4-BE49-F238E27FC236}">
                <a16:creationId xmlns:a16="http://schemas.microsoft.com/office/drawing/2014/main" id="{3FCAAE91-DBED-42AB-AC86-6101D982E78F}"/>
              </a:ext>
            </a:extLst>
          </p:cNvPr>
          <p:cNvSpPr txBox="1">
            <a:spLocks/>
          </p:cNvSpPr>
          <p:nvPr/>
        </p:nvSpPr>
        <p:spPr bwMode="auto">
          <a:xfrm>
            <a:off x="930652" y="1429537"/>
            <a:ext cx="6816255" cy="620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"/>
              <a:defRPr lang="en-US" sz="2400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3420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lvl="1" indent="0">
              <a:lnSpc>
                <a:spcPct val="150000"/>
              </a:lnSpc>
              <a:buNone/>
            </a:pPr>
            <a:r>
              <a:rPr lang="zh-CN" altLang="en-US" dirty="0">
                <a:latin typeface="+mn-ea"/>
                <a:ea typeface="+mn-ea"/>
              </a:rPr>
              <a:t>泵</a:t>
            </a:r>
            <a:r>
              <a:rPr lang="en-US" altLang="zh-CN" dirty="0">
                <a:latin typeface="+mn-ea"/>
                <a:ea typeface="+mn-ea"/>
              </a:rPr>
              <a:t>-</a:t>
            </a:r>
            <a:r>
              <a:rPr lang="zh-CN" altLang="en-US" dirty="0">
                <a:latin typeface="+mn-ea"/>
                <a:ea typeface="+mn-ea"/>
              </a:rPr>
              <a:t>缸式开式容积调速</a:t>
            </a:r>
            <a:r>
              <a:rPr lang="zh-CN" altLang="en-US" kern="0" dirty="0">
                <a:latin typeface="+mn-ea"/>
                <a:ea typeface="+mn-ea"/>
              </a:rPr>
              <a:t>回路机械特性曲线为一组平行直线</a:t>
            </a: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60E6AC2-C469-4058-A7C7-1D5E6C065D10}"/>
              </a:ext>
            </a:extLst>
          </p:cNvPr>
          <p:cNvSpPr/>
          <p:nvPr/>
        </p:nvSpPr>
        <p:spPr>
          <a:xfrm>
            <a:off x="1871776" y="2156990"/>
            <a:ext cx="4572000" cy="4001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CN" altLang="en-US" sz="2000" dirty="0">
                <a:latin typeface="+mn-ea"/>
              </a:rPr>
              <a:t>负载加大，泵泄漏加大，活塞速度减小</a:t>
            </a:r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75FB4B30-7AC1-48B9-BD81-B5E9E7A843FC}"/>
              </a:ext>
            </a:extLst>
          </p:cNvPr>
          <p:cNvCxnSpPr>
            <a:cxnSpLocks/>
          </p:cNvCxnSpPr>
          <p:nvPr/>
        </p:nvCxnSpPr>
        <p:spPr>
          <a:xfrm>
            <a:off x="2735872" y="2739852"/>
            <a:ext cx="165618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>
            <a:extLst>
              <a:ext uri="{FF2B5EF4-FFF2-40B4-BE49-F238E27FC236}">
                <a16:creationId xmlns:a16="http://schemas.microsoft.com/office/drawing/2014/main" id="{217D55E5-EF3B-4E4B-87C9-DB2FB3A0BB84}"/>
              </a:ext>
            </a:extLst>
          </p:cNvPr>
          <p:cNvSpPr/>
          <p:nvPr/>
        </p:nvSpPr>
        <p:spPr>
          <a:xfrm>
            <a:off x="4707631" y="4710687"/>
            <a:ext cx="196306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回路在低速下的</a:t>
            </a:r>
            <a:endParaRPr lang="en-US" altLang="zh-CN" sz="2000" b="1" dirty="0">
              <a:solidFill>
                <a:srgbClr val="0000FF"/>
              </a:solidFill>
              <a:latin typeface="+mn-ea"/>
            </a:endParaRPr>
          </a:p>
          <a:p>
            <a:pPr algn="ctr"/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承载能力很差</a:t>
            </a:r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76FBE7D7-8EDC-4C6E-B37E-873CEC48B077}"/>
              </a:ext>
            </a:extLst>
          </p:cNvPr>
          <p:cNvCxnSpPr>
            <a:cxnSpLocks/>
          </p:cNvCxnSpPr>
          <p:nvPr/>
        </p:nvCxnSpPr>
        <p:spPr>
          <a:xfrm>
            <a:off x="4735328" y="3840278"/>
            <a:ext cx="0" cy="15638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椭圆 133">
            <a:extLst>
              <a:ext uri="{FF2B5EF4-FFF2-40B4-BE49-F238E27FC236}">
                <a16:creationId xmlns:a16="http://schemas.microsoft.com/office/drawing/2014/main" id="{CC4B2FDA-17F9-4CE5-AF76-23058E60A2F2}"/>
              </a:ext>
            </a:extLst>
          </p:cNvPr>
          <p:cNvSpPr/>
          <p:nvPr/>
        </p:nvSpPr>
        <p:spPr>
          <a:xfrm>
            <a:off x="4254769" y="5418140"/>
            <a:ext cx="961117" cy="81460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AD19520D-7259-4AD1-9243-B85E000E5AFB}"/>
                  </a:ext>
                </a:extLst>
              </p:cNvPr>
              <p:cNvSpPr/>
              <p:nvPr/>
            </p:nvSpPr>
            <p:spPr>
              <a:xfrm>
                <a:off x="4392056" y="2908928"/>
                <a:ext cx="3011722" cy="49962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+mn-ea"/>
                  </a:rPr>
                  <a:t>速度刚性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+mn-ea"/>
                  </a:rPr>
                  <a:t>不受负载影响</a:t>
                </a:r>
                <a:endParaRPr lang="en-US" altLang="zh-CN" sz="2000" dirty="0">
                  <a:latin typeface="+mn-ea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AD19520D-7259-4AD1-9243-B85E000E5A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2056" y="2908928"/>
                <a:ext cx="3011722" cy="499624"/>
              </a:xfrm>
              <a:prstGeom prst="rect">
                <a:avLst/>
              </a:prstGeom>
              <a:blipFill>
                <a:blip r:embed="rId5"/>
                <a:stretch>
                  <a:fillRect l="-2020" r="-1818" b="-207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组合 3">
            <a:extLst>
              <a:ext uri="{FF2B5EF4-FFF2-40B4-BE49-F238E27FC236}">
                <a16:creationId xmlns:a16="http://schemas.microsoft.com/office/drawing/2014/main" id="{E002B1D2-0144-4054-AA3B-FAABF504B6D2}"/>
              </a:ext>
            </a:extLst>
          </p:cNvPr>
          <p:cNvGrpSpPr/>
          <p:nvPr/>
        </p:nvGrpSpPr>
        <p:grpSpPr>
          <a:xfrm>
            <a:off x="7144208" y="4973754"/>
            <a:ext cx="4417692" cy="1759532"/>
            <a:chOff x="8489456" y="5490184"/>
            <a:chExt cx="4417692" cy="17595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内容占位符 2">
                  <a:extLst>
                    <a:ext uri="{FF2B5EF4-FFF2-40B4-BE49-F238E27FC236}">
                      <a16:creationId xmlns:a16="http://schemas.microsoft.com/office/drawing/2014/main" id="{A2D7FCFD-7BE2-40AE-9A6C-BC12556D12F8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8489456" y="5490184"/>
                  <a:ext cx="3287869" cy="15906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anose="05000000000000000000" pitchFamily="2" charset="2"/>
                    <a:buChar char=""/>
                    <a:defRPr lang="en-US" sz="2400" dirty="0" smtClean="0">
                      <a:solidFill>
                        <a:schemeClr val="tx1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+mn-cs"/>
                    </a:defRPr>
                  </a:lvl1pPr>
                  <a:lvl2pPr marL="3420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lang="en-US" sz="2000" dirty="0" smtClean="0">
                      <a:solidFill>
                        <a:schemeClr val="tx1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anose="05000000000000000000" pitchFamily="2" charset="2"/>
                    <a:buChar char="Ø"/>
                    <a:defRPr sz="18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–"/>
                    <a:defRPr sz="20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lvl5pPr>
                  <a:lvl6pPr marL="2514600" indent="-228600" algn="l" rtl="0" fontAlgn="base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lvl6pPr>
                  <a:lvl7pPr marL="2971800" indent="-228600" algn="l" rtl="0" fontAlgn="base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lvl7pPr>
                  <a:lvl8pPr marL="3429000" indent="-228600" algn="l" rtl="0" fontAlgn="base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lvl8pPr>
                  <a:lvl9pPr marL="3886200" indent="-228600" algn="l" rtl="0" fontAlgn="base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lvl9pPr>
                </a:lstStyle>
                <a:p>
                  <a:pPr lvl="1" algn="ctr">
                    <a:lnSpc>
                      <a:spcPct val="150000"/>
                    </a:lnSpc>
                  </a:pPr>
                  <a:r>
                    <a:rPr lang="zh-CN" altLang="en-US" kern="0" dirty="0">
                      <a:latin typeface="+mn-ea"/>
                      <a:ea typeface="+mn-ea"/>
                    </a:rPr>
                    <a:t>回路的速度刚性：</a:t>
                  </a:r>
                </a:p>
                <a:p>
                  <a:pPr marL="0" lvl="1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ar-AE" altLang="zh-CN" i="1" kern="0">
                                <a:latin typeface="Cambria Math" panose="02040503050406030204" pitchFamily="18" charset="0"/>
                                <a:ea typeface="+mn-ea"/>
                              </a:rPr>
                            </m:ctrlPr>
                          </m:sSubPr>
                          <m:e>
                            <m:r>
                              <a:rPr lang="zh-CN" altLang="ar-AE" i="1" kern="0">
                                <a:latin typeface="Cambria Math" panose="02040503050406030204" pitchFamily="18" charset="0"/>
                                <a:ea typeface="+mn-ea"/>
                              </a:rPr>
                              <m:t>𝑘</m:t>
                            </m:r>
                          </m:e>
                          <m:sub>
                            <m:r>
                              <a:rPr lang="zh-CN" altLang="ar-AE" i="1" kern="0">
                                <a:latin typeface="Cambria Math" panose="02040503050406030204" pitchFamily="18" charset="0"/>
                                <a:ea typeface="+mn-ea"/>
                              </a:rPr>
                              <m:t>𝑣</m:t>
                            </m:r>
                          </m:sub>
                        </m:sSub>
                        <m:r>
                          <a:rPr lang="ar-AE" altLang="zh-CN" i="1" kern="0">
                            <a:latin typeface="Cambria Math" panose="02040503050406030204" pitchFamily="18" charset="0"/>
                            <a:ea typeface="+mn-ea"/>
                          </a:rPr>
                          <m:t>=</m:t>
                        </m:r>
                        <m:f>
                          <m:fPr>
                            <m:ctrlPr>
                              <a:rPr lang="ar-AE" altLang="zh-CN" i="1" kern="0">
                                <a:latin typeface="Cambria Math" panose="02040503050406030204" pitchFamily="18" charset="0"/>
                                <a:ea typeface="+mn-ea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ar-AE" altLang="zh-CN" i="1" kern="0">
                                    <a:latin typeface="Cambria Math" panose="02040503050406030204" pitchFamily="18" charset="0"/>
                                    <a:ea typeface="+mn-ea"/>
                                  </a:rPr>
                                </m:ctrlPr>
                              </m:sSubSupPr>
                              <m:e>
                                <m:r>
                                  <a:rPr lang="zh-CN" altLang="ar-AE" i="1" kern="0">
                                    <a:latin typeface="Cambria Math" panose="02040503050406030204" pitchFamily="18" charset="0"/>
                                    <a:ea typeface="+mn-ea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ar-AE" altLang="zh-CN" i="1" kern="0">
                                    <a:latin typeface="Cambria Math" panose="02040503050406030204" pitchFamily="18" charset="0"/>
                                    <a:ea typeface="+mn-ea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altLang="zh-CN" i="1" kern="0">
                                    <a:latin typeface="Cambria Math" panose="02040503050406030204" pitchFamily="18" charset="0"/>
                                    <a:ea typeface="+mn-ea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ar-AE" altLang="zh-CN" i="1" kern="0">
                                    <a:latin typeface="Cambria Math" panose="02040503050406030204" pitchFamily="18" charset="0"/>
                                    <a:ea typeface="+mn-ea"/>
                                  </a:rPr>
                                </m:ctrlPr>
                              </m:sSubPr>
                              <m:e>
                                <m:r>
                                  <a:rPr lang="zh-CN" altLang="ar-AE" i="1" kern="0">
                                    <a:latin typeface="Cambria Math" panose="02040503050406030204" pitchFamily="18" charset="0"/>
                                    <a:ea typeface="+mn-ea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ar-AE" altLang="zh-CN" i="1" kern="0">
                                    <a:latin typeface="Cambria Math" panose="02040503050406030204" pitchFamily="18" charset="0"/>
                                    <a:ea typeface="+mn-ea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ar-AE" altLang="zh-CN" kern="0" dirty="0">
                    <a:latin typeface="+mn-ea"/>
                    <a:ea typeface="+mn-ea"/>
                  </a:endParaRPr>
                </a:p>
              </p:txBody>
            </p:sp>
          </mc:Choice>
          <mc:Fallback xmlns="">
            <p:sp>
              <p:nvSpPr>
                <p:cNvPr id="135" name="内容占位符 2">
                  <a:extLst>
                    <a:ext uri="{FF2B5EF4-FFF2-40B4-BE49-F238E27FC236}">
                      <a16:creationId xmlns:a16="http://schemas.microsoft.com/office/drawing/2014/main" id="{A2D7FCFD-7BE2-40AE-9A6C-BC12556D1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89456" y="5490184"/>
                  <a:ext cx="3287869" cy="159065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80B8B852-A18C-43AE-8CA8-17491CCA9DA6}"/>
                </a:ext>
              </a:extLst>
            </p:cNvPr>
            <p:cNvSpPr/>
            <p:nvPr/>
          </p:nvSpPr>
          <p:spPr>
            <a:xfrm>
              <a:off x="11183599" y="5823139"/>
              <a:ext cx="1723549" cy="707886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txBody>
            <a:bodyPr wrap="none">
              <a:spAutoFit/>
            </a:bodyPr>
            <a:lstStyle/>
            <a:p>
              <a:r>
                <a:rPr lang="zh-CN" altLang="en-US" sz="2000" dirty="0">
                  <a:latin typeface="+mn-ea"/>
                </a:rPr>
                <a:t>加大液压缸的</a:t>
              </a:r>
              <a:endParaRPr lang="en-US" altLang="zh-CN" sz="2000" dirty="0">
                <a:latin typeface="+mn-ea"/>
              </a:endParaRPr>
            </a:p>
            <a:p>
              <a:r>
                <a:rPr lang="zh-CN" altLang="en-US" sz="2000" dirty="0">
                  <a:latin typeface="+mn-ea"/>
                </a:rPr>
                <a:t>有效工作面积</a:t>
              </a:r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F02DD00-6757-4745-B7AD-C37A2E5677D4}"/>
                </a:ext>
              </a:extLst>
            </p:cNvPr>
            <p:cNvSpPr/>
            <p:nvPr/>
          </p:nvSpPr>
          <p:spPr>
            <a:xfrm>
              <a:off x="11005810" y="6849606"/>
              <a:ext cx="1723549" cy="400110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txBody>
            <a:bodyPr wrap="none">
              <a:spAutoFit/>
            </a:bodyPr>
            <a:lstStyle/>
            <a:p>
              <a:r>
                <a:rPr lang="zh-CN" altLang="en-US" sz="2000" dirty="0">
                  <a:latin typeface="+mn-ea"/>
                </a:rPr>
                <a:t>减小泵的泄漏</a:t>
              </a:r>
            </a:p>
          </p:txBody>
        </p:sp>
        <p:sp>
          <p:nvSpPr>
            <p:cNvPr id="139" name="椭圆 138">
              <a:extLst>
                <a:ext uri="{FF2B5EF4-FFF2-40B4-BE49-F238E27FC236}">
                  <a16:creationId xmlns:a16="http://schemas.microsoft.com/office/drawing/2014/main" id="{74FF4DA3-462C-4C07-B00C-6D880E8C2980}"/>
                </a:ext>
              </a:extLst>
            </p:cNvPr>
            <p:cNvSpPr/>
            <p:nvPr/>
          </p:nvSpPr>
          <p:spPr>
            <a:xfrm>
              <a:off x="10183887" y="5948895"/>
              <a:ext cx="486235" cy="38633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140" name="椭圆 139">
              <a:extLst>
                <a:ext uri="{FF2B5EF4-FFF2-40B4-BE49-F238E27FC236}">
                  <a16:creationId xmlns:a16="http://schemas.microsoft.com/office/drawing/2014/main" id="{F5D3C8DD-08E9-4C0E-A3AB-038832B0AA4F}"/>
                </a:ext>
              </a:extLst>
            </p:cNvPr>
            <p:cNvSpPr/>
            <p:nvPr/>
          </p:nvSpPr>
          <p:spPr>
            <a:xfrm>
              <a:off x="10210507" y="6389389"/>
              <a:ext cx="430670" cy="34579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cxnSp>
          <p:nvCxnSpPr>
            <p:cNvPr id="141" name="直接箭头连接符 140">
              <a:extLst>
                <a:ext uri="{FF2B5EF4-FFF2-40B4-BE49-F238E27FC236}">
                  <a16:creationId xmlns:a16="http://schemas.microsoft.com/office/drawing/2014/main" id="{531FBBC6-B659-4A01-A6BE-4AA3B4E4FFDF}"/>
                </a:ext>
              </a:extLst>
            </p:cNvPr>
            <p:cNvCxnSpPr>
              <a:cxnSpLocks/>
              <a:stCxn id="136" idx="1"/>
            </p:cNvCxnSpPr>
            <p:nvPr/>
          </p:nvCxnSpPr>
          <p:spPr>
            <a:xfrm flipH="1" flipV="1">
              <a:off x="10666639" y="6137376"/>
              <a:ext cx="516960" cy="3970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接箭头连接符 141">
              <a:extLst>
                <a:ext uri="{FF2B5EF4-FFF2-40B4-BE49-F238E27FC236}">
                  <a16:creationId xmlns:a16="http://schemas.microsoft.com/office/drawing/2014/main" id="{38520AA3-A19F-4548-8F5E-8AFBDB32F6E2}"/>
                </a:ext>
              </a:extLst>
            </p:cNvPr>
            <p:cNvCxnSpPr>
              <a:cxnSpLocks/>
              <a:stCxn id="137" idx="1"/>
              <a:endCxn id="140" idx="5"/>
            </p:cNvCxnSpPr>
            <p:nvPr/>
          </p:nvCxnSpPr>
          <p:spPr>
            <a:xfrm flipH="1" flipV="1">
              <a:off x="10578107" y="6684543"/>
              <a:ext cx="427703" cy="36511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文本框 20">
            <a:extLst>
              <a:ext uri="{FF2B5EF4-FFF2-40B4-BE49-F238E27FC236}">
                <a16:creationId xmlns:a16="http://schemas.microsoft.com/office/drawing/2014/main" id="{CB4331D2-42CC-44FB-9BC4-FA42FA6ADA56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9/35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0109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4D1629D7-F278-69B1-4BC7-B30CE091BE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895927" y="751419"/>
            <a:ext cx="3918060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缸式</a:t>
            </a:r>
            <a:r>
              <a:rPr lang="zh-CN" altLang="en-US" sz="2800" b="1" dirty="0">
                <a:solidFill>
                  <a:srgbClr val="0000FF"/>
                </a:solidFill>
                <a:latin typeface="+mn-ea"/>
              </a:rPr>
              <a:t>开式</a:t>
            </a:r>
            <a:r>
              <a:rPr lang="zh-CN" altLang="en-US" sz="2800" dirty="0">
                <a:latin typeface="+mn-ea"/>
              </a:rPr>
              <a:t>调速特性</a:t>
            </a:r>
            <a:endParaRPr lang="en-US" altLang="zh-CN" sz="2800" dirty="0">
              <a:latin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40225F49-475F-4052-B0DD-42F287B43E8C}"/>
              </a:ext>
            </a:extLst>
          </p:cNvPr>
          <p:cNvGrpSpPr/>
          <p:nvPr/>
        </p:nvGrpSpPr>
        <p:grpSpPr>
          <a:xfrm>
            <a:off x="575224" y="1495100"/>
            <a:ext cx="5884297" cy="4142108"/>
            <a:chOff x="821853" y="1413973"/>
            <a:chExt cx="5884297" cy="41421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69F4C919-FA30-44EC-A5BF-F51D9241C903}"/>
                    </a:ext>
                  </a:extLst>
                </p:cNvPr>
                <p:cNvSpPr/>
                <p:nvPr/>
              </p:nvSpPr>
              <p:spPr>
                <a:xfrm>
                  <a:off x="821853" y="3600417"/>
                  <a:ext cx="5884297" cy="195566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lvl="1" indent="0">
                    <a:lnSpc>
                      <a:spcPct val="150000"/>
                    </a:lnSpc>
                    <a:buNone/>
                  </a:pPr>
                  <a:r>
                    <a:rPr lang="zh-CN" altLang="en-US" sz="2000" dirty="0">
                      <a:latin typeface="+mn-ea"/>
                    </a:rPr>
                    <a:t>式中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a14:m>
                  <a:r>
                    <a:rPr lang="en-US" altLang="zh-CN" sz="2000" dirty="0">
                      <a:latin typeface="+mn-ea"/>
                    </a:rPr>
                    <a:t>——</a:t>
                  </a:r>
                  <a:r>
                    <a:rPr lang="zh-CN" altLang="en-US" sz="2000" dirty="0">
                      <a:latin typeface="+mn-ea"/>
                    </a:rPr>
                    <a:t>变量泵变量机构的调节范围，</a:t>
                  </a:r>
                  <a:endParaRPr lang="en-US" altLang="zh-CN" sz="2000" dirty="0">
                    <a:latin typeface="+mn-ea"/>
                  </a:endParaRPr>
                </a:p>
                <a:p>
                  <a:pPr marL="0" lvl="1" indent="0">
                    <a:lnSpc>
                      <a:spcPct val="150000"/>
                    </a:lnSpc>
                    <a:buNone/>
                  </a:pPr>
                  <a:r>
                    <a:rPr lang="en-US" altLang="zh-CN" sz="2000" dirty="0">
                      <a:latin typeface="+mn-ea"/>
                    </a:rPr>
                    <a:t>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000" i="0">
                              <a:latin typeface="Cambria Math" panose="02040503050406030204" pitchFamily="18" charset="0"/>
                            </a:rPr>
                            <m:t>tmax</m:t>
                          </m:r>
                        </m:sub>
                      </m:sSub>
                      <m:r>
                        <m:rPr>
                          <m:lit/>
                        </m:rPr>
                        <a:rPr lang="en-US" altLang="zh-CN" sz="200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000" i="0">
                              <a:latin typeface="Cambria Math" panose="02040503050406030204" pitchFamily="18" charset="0"/>
                            </a:rPr>
                            <m:t>tmin</m:t>
                          </m:r>
                        </m:sub>
                      </m:sSub>
                    </m:oMath>
                  </a14:m>
                  <a:r>
                    <a:rPr lang="zh-CN" altLang="en-US" sz="2000" dirty="0">
                      <a:latin typeface="+mn-ea"/>
                    </a:rPr>
                    <a:t>；</a:t>
                  </a:r>
                  <a:endParaRPr lang="en-US" altLang="zh-CN" sz="2000" dirty="0">
                    <a:latin typeface="+mn-ea"/>
                  </a:endParaRPr>
                </a:p>
                <a:p>
                  <a:pPr marL="0" lvl="1" indent="0">
                    <a:lnSpc>
                      <a:spcPct val="150000"/>
                    </a:lnSpc>
                    <a:buNone/>
                  </a:pPr>
                  <a:r>
                    <a:rPr lang="en-US" altLang="zh-CN" sz="2000" dirty="0">
                      <a:latin typeface="+mn-ea"/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000" i="0">
                              <a:latin typeface="Cambria Math" panose="02040503050406030204" pitchFamily="18" charset="0"/>
                            </a:rPr>
                            <m:t>tmax</m:t>
                          </m:r>
                        </m:sub>
                      </m:sSub>
                      <m:r>
                        <a:rPr lang="zh-CN" altLang="en-US" sz="2000" dirty="0">
                          <a:latin typeface="Cambria Math" panose="02040503050406030204" pitchFamily="18" charset="0"/>
                        </a:rPr>
                        <m:t>、</m:t>
                      </m:r>
                      <m:sSub>
                        <m:sSubPr>
                          <m:ctrlPr>
                            <a:rPr lang="en-US" altLang="zh-CN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000" i="0" dirty="0">
                              <a:latin typeface="Cambria Math" panose="02040503050406030204" pitchFamily="18" charset="0"/>
                            </a:rPr>
                            <m:t>tmin</m:t>
                          </m:r>
                        </m:sub>
                      </m:sSub>
                    </m:oMath>
                  </a14:m>
                  <a:r>
                    <a:rPr lang="en-US" altLang="zh-CN" sz="2000" dirty="0">
                      <a:latin typeface="+mn-ea"/>
                    </a:rPr>
                    <a:t>——</a:t>
                  </a:r>
                  <a:r>
                    <a:rPr lang="zh-CN" altLang="en-US" sz="2000" dirty="0">
                      <a:latin typeface="+mn-ea"/>
                    </a:rPr>
                    <a:t>变量泵最大和最小理论流量；</a:t>
                  </a:r>
                  <a:endParaRPr lang="en-US" altLang="zh-CN" sz="2000" dirty="0">
                    <a:latin typeface="+mn-ea"/>
                  </a:endParaRPr>
                </a:p>
                <a:p>
                  <a:pPr marL="0" lvl="1" indent="0">
                    <a:lnSpc>
                      <a:spcPct val="150000"/>
                    </a:lnSpc>
                    <a:buNone/>
                  </a:pPr>
                  <a:r>
                    <a:rPr lang="en-US" altLang="zh-CN" sz="2000" dirty="0">
                      <a:latin typeface="+mn-ea"/>
                    </a:rPr>
                    <a:t>     </a:t>
                  </a:r>
                  <a:r>
                    <a:rPr lang="zh-CN" altLang="en-US" sz="2000" dirty="0">
                      <a:latin typeface="+mn-ea"/>
                    </a:rPr>
                    <a:t>其他符号意义同前。</a:t>
                  </a:r>
                  <a:endParaRPr lang="en-US" altLang="zh-CN" sz="2000" dirty="0">
                    <a:latin typeface="+mn-ea"/>
                  </a:endParaRPr>
                </a:p>
              </p:txBody>
            </p:sp>
          </mc:Choice>
          <mc:Fallback xmlns=""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69F4C919-FA30-44EC-A5BF-F51D9241C9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853" y="3600417"/>
                  <a:ext cx="5884297" cy="1955664"/>
                </a:xfrm>
                <a:prstGeom prst="rect">
                  <a:avLst/>
                </a:prstGeom>
                <a:blipFill>
                  <a:blip r:embed="rId4"/>
                  <a:stretch>
                    <a:fillRect l="-1035" r="-5280" b="-46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423A8ED-F234-491B-9EA5-EC981B81B072}"/>
                </a:ext>
              </a:extLst>
            </p:cNvPr>
            <p:cNvSpPr/>
            <p:nvPr/>
          </p:nvSpPr>
          <p:spPr>
            <a:xfrm>
              <a:off x="4503256" y="2335993"/>
              <a:ext cx="1800493" cy="8744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 indent="0">
                <a:lnSpc>
                  <a:spcPct val="150000"/>
                </a:lnSpc>
                <a:buNone/>
              </a:pPr>
              <a:r>
                <a:rPr lang="zh-CN" altLang="en-US" dirty="0">
                  <a:latin typeface="+mn-ea"/>
                </a:rPr>
                <a:t>与泵的变量机构</a:t>
              </a:r>
              <a:endParaRPr lang="en-US" altLang="zh-CN" dirty="0">
                <a:latin typeface="+mn-ea"/>
              </a:endParaRPr>
            </a:p>
            <a:p>
              <a:pPr marL="0" lvl="1" indent="0">
                <a:lnSpc>
                  <a:spcPct val="150000"/>
                </a:lnSpc>
                <a:buNone/>
              </a:pPr>
              <a:r>
                <a:rPr lang="zh-CN" altLang="en-US" dirty="0">
                  <a:latin typeface="+mn-ea"/>
                </a:rPr>
                <a:t>调节范围有关</a:t>
              </a:r>
              <a:endParaRPr lang="en-US" altLang="zh-CN" dirty="0">
                <a:latin typeface="+mn-ea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31580F48-8E67-4985-8991-D3C5605F5102}"/>
                </a:ext>
              </a:extLst>
            </p:cNvPr>
            <p:cNvCxnSpPr/>
            <p:nvPr/>
          </p:nvCxnSpPr>
          <p:spPr>
            <a:xfrm flipH="1" flipV="1">
              <a:off x="4077311" y="2212947"/>
              <a:ext cx="425945" cy="24804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CE0F8B4-9B51-4002-AB3E-6CFD9C098558}"/>
                </a:ext>
              </a:extLst>
            </p:cNvPr>
            <p:cNvSpPr/>
            <p:nvPr/>
          </p:nvSpPr>
          <p:spPr>
            <a:xfrm>
              <a:off x="1274681" y="2507460"/>
              <a:ext cx="1487970" cy="874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与泵的泄漏</a:t>
              </a:r>
              <a:endParaRPr lang="en-US" altLang="zh-CN" dirty="0">
                <a:latin typeface="+mn-ea"/>
              </a:endParaRPr>
            </a:p>
            <a:p>
              <a:pPr marL="0" lvl="1" algn="ctr"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系数有关</a:t>
              </a:r>
              <a:endParaRPr lang="en-US" altLang="zh-CN" dirty="0">
                <a:latin typeface="+mn-ea"/>
              </a:endParaRP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09B45F7-C623-4EA7-ADAF-A88B193E26C2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V="1">
              <a:off x="2420318" y="2148159"/>
              <a:ext cx="702875" cy="37860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31BE46AA-3A89-4147-BA4B-A3C67355288A}"/>
                </a:ext>
              </a:extLst>
            </p:cNvPr>
            <p:cNvSpPr/>
            <p:nvPr/>
          </p:nvSpPr>
          <p:spPr>
            <a:xfrm>
              <a:off x="4503256" y="1413973"/>
              <a:ext cx="1458107" cy="4589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lvl="1"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与负载有关</a:t>
              </a:r>
              <a:endParaRPr lang="en-US" altLang="zh-CN" dirty="0">
                <a:latin typeface="+mn-ea"/>
              </a:endParaRP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48F2B151-AAEF-4B92-A232-8AD0F83C3F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71056" y="1740737"/>
              <a:ext cx="629972" cy="20350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DF3230EA-33A9-4C27-8162-461817F644D0}"/>
                    </a:ext>
                  </a:extLst>
                </p:cNvPr>
                <p:cNvSpPr/>
                <p:nvPr/>
              </p:nvSpPr>
              <p:spPr>
                <a:xfrm>
                  <a:off x="1091588" y="1506163"/>
                  <a:ext cx="2657459" cy="102060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2000" i="0">
                                        <a:latin typeface="Cambria Math" panose="02040503050406030204" pitchFamily="18" charset="0"/>
                                      </a:rPr>
                                      <m:t>ma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sub>
                                </m:sSub>
                              </m:den>
                            </m:f>
                          </m:den>
                        </m:f>
                      </m:oMath>
                    </m:oMathPara>
                  </a14:m>
                  <a:endParaRPr lang="zh-CN" altLang="en-US" sz="2000" dirty="0">
                    <a:latin typeface="+mn-ea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DF3230EA-33A9-4C27-8162-461817F644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1588" y="1506163"/>
                  <a:ext cx="2657459" cy="10206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4CFE6E0C-B2D6-48C3-A637-05A4A9EA3152}"/>
              </a:ext>
            </a:extLst>
          </p:cNvPr>
          <p:cNvGrpSpPr/>
          <p:nvPr/>
        </p:nvGrpSpPr>
        <p:grpSpPr>
          <a:xfrm>
            <a:off x="6623271" y="1740086"/>
            <a:ext cx="5343053" cy="3829391"/>
            <a:chOff x="3960671" y="826654"/>
            <a:chExt cx="6602117" cy="4731768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9874F340-240B-41D7-B3D7-DD1855122B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4199"/>
            <a:stretch/>
          </p:blipFill>
          <p:spPr>
            <a:xfrm>
              <a:off x="3960671" y="826654"/>
              <a:ext cx="3820820" cy="4731768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0E0649-D388-414A-BDF2-AB5DC402A6A4}"/>
                </a:ext>
              </a:extLst>
            </p:cNvPr>
            <p:cNvSpPr/>
            <p:nvPr/>
          </p:nvSpPr>
          <p:spPr>
            <a:xfrm>
              <a:off x="4882157" y="2613960"/>
              <a:ext cx="2040466" cy="2858344"/>
            </a:xfrm>
            <a:prstGeom prst="rect">
              <a:avLst/>
            </a:prstGeom>
            <a:noFill/>
            <a:ln w="19050" cap="flat" cmpd="sng" algn="ctr">
              <a:solidFill>
                <a:srgbClr val="3387C0"/>
              </a:solidFill>
              <a:prstDash val="lg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+mn-ea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84055DA-927C-4FA2-AAB0-5DC386FD87F8}"/>
                </a:ext>
              </a:extLst>
            </p:cNvPr>
            <p:cNvSpPr/>
            <p:nvPr/>
          </p:nvSpPr>
          <p:spPr>
            <a:xfrm>
              <a:off x="7197952" y="976980"/>
              <a:ext cx="2854020" cy="108045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双向变量泵可使液</a:t>
              </a:r>
              <a:endParaRPr lang="en-US" altLang="zh-CN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压缸平稳换向</a:t>
              </a:r>
            </a:p>
          </p:txBody>
        </p: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383F9ACD-477E-430D-8DB2-63EFFEF3FF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64929" y="1596617"/>
              <a:ext cx="941234" cy="41452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03EB12A-E736-406B-ACCF-F0E7C04BDD31}"/>
                </a:ext>
              </a:extLst>
            </p:cNvPr>
            <p:cNvSpPr/>
            <p:nvPr/>
          </p:nvSpPr>
          <p:spPr>
            <a:xfrm>
              <a:off x="7902293" y="2768785"/>
              <a:ext cx="2521780" cy="108045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安全阀</a:t>
              </a:r>
              <a:r>
                <a:rPr lang="en-US" altLang="zh-CN" dirty="0">
                  <a:latin typeface="+mn-ea"/>
                </a:rPr>
                <a:t>6</a:t>
              </a:r>
              <a:r>
                <a:rPr lang="zh-CN" altLang="en-US" dirty="0">
                  <a:latin typeface="+mn-ea"/>
                </a:rPr>
                <a:t>和</a:t>
              </a:r>
              <a:r>
                <a:rPr lang="en-US" altLang="zh-CN" dirty="0">
                  <a:latin typeface="+mn-ea"/>
                </a:rPr>
                <a:t>8</a:t>
              </a:r>
              <a:r>
                <a:rPr lang="zh-CN" altLang="en-US" dirty="0">
                  <a:latin typeface="+mn-ea"/>
                </a:rPr>
                <a:t>限制</a:t>
              </a:r>
              <a:endParaRPr lang="en-US" altLang="zh-CN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了回路压力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7751BFD8-97EB-4787-AF0C-4AE6B12135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56458" y="3110887"/>
              <a:ext cx="521132" cy="1654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36172E68-6BC1-4D70-9893-25555BC9FBB0}"/>
                </a:ext>
              </a:extLst>
            </p:cNvPr>
            <p:cNvSpPr/>
            <p:nvPr/>
          </p:nvSpPr>
          <p:spPr>
            <a:xfrm>
              <a:off x="7763580" y="4374185"/>
              <a:ext cx="2799208" cy="108045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用于补偿泄漏及</a:t>
              </a:r>
              <a:endParaRPr lang="en-US" altLang="zh-CN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dirty="0">
                  <a:latin typeface="+mn-ea"/>
                </a:rPr>
                <a:t>液压缸两腔流量差</a:t>
              </a: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7811B77C-6A0E-4E7A-8E39-285D50C7764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12421" y="4541558"/>
              <a:ext cx="769071" cy="310763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005FB33B-0543-455D-B86C-874096197E3D}"/>
              </a:ext>
            </a:extLst>
          </p:cNvPr>
          <p:cNvSpPr/>
          <p:nvPr/>
        </p:nvSpPr>
        <p:spPr>
          <a:xfrm>
            <a:off x="6548920" y="5569477"/>
            <a:ext cx="752319" cy="263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86522E-C1EF-4E42-86C3-3E0384AC9A6F}"/>
              </a:ext>
            </a:extLst>
          </p:cNvPr>
          <p:cNvSpPr/>
          <p:nvPr/>
        </p:nvSpPr>
        <p:spPr>
          <a:xfrm>
            <a:off x="6925080" y="794755"/>
            <a:ext cx="4636206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缸式</a:t>
            </a:r>
            <a:r>
              <a:rPr lang="zh-CN" altLang="en-US" sz="2800" b="1" dirty="0">
                <a:solidFill>
                  <a:srgbClr val="0000FF"/>
                </a:solidFill>
                <a:latin typeface="+mn-ea"/>
              </a:rPr>
              <a:t>闭式</a:t>
            </a:r>
            <a:r>
              <a:rPr lang="zh-CN" altLang="en-US" sz="2800" dirty="0">
                <a:latin typeface="+mn-ea"/>
              </a:rPr>
              <a:t>容积调速回路</a:t>
            </a:r>
            <a:endParaRPr lang="en-US" altLang="zh-CN" sz="2800" dirty="0">
              <a:latin typeface="+mn-ea"/>
            </a:endParaRPr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1D8B9B7-3190-4B01-A7BB-2F953CD9344F}"/>
              </a:ext>
            </a:extLst>
          </p:cNvPr>
          <p:cNvCxnSpPr/>
          <p:nvPr/>
        </p:nvCxnSpPr>
        <p:spPr>
          <a:xfrm>
            <a:off x="6540968" y="960435"/>
            <a:ext cx="0" cy="5788404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C644CFF8-3877-408C-A825-584600EDD035}"/>
              </a:ext>
            </a:extLst>
          </p:cNvPr>
          <p:cNvSpPr txBox="1">
            <a:spLocks/>
          </p:cNvSpPr>
          <p:nvPr/>
        </p:nvSpPr>
        <p:spPr bwMode="auto">
          <a:xfrm>
            <a:off x="6642043" y="5635236"/>
            <a:ext cx="3040902" cy="92071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泵</a:t>
            </a:r>
            <a:r>
              <a:rPr lang="en-US" altLang="zh-CN" sz="1800" kern="0" dirty="0">
                <a:latin typeface="+mn-ea"/>
              </a:rPr>
              <a:t>-</a:t>
            </a:r>
            <a:r>
              <a:rPr lang="zh-CN" altLang="en-US" sz="1800" kern="0" dirty="0">
                <a:latin typeface="+mn-ea"/>
              </a:rPr>
              <a:t>缸式容积调速回路</a:t>
            </a:r>
            <a:endParaRPr lang="en-US" altLang="zh-CN" sz="1800" kern="0" dirty="0">
              <a:latin typeface="+mn-ea"/>
            </a:endParaRPr>
          </a:p>
          <a:p>
            <a:pPr marL="0" indent="0" algn="ctr">
              <a:buNone/>
            </a:pPr>
            <a:r>
              <a:rPr lang="en-US" altLang="zh-CN" sz="1400" kern="0" dirty="0">
                <a:latin typeface="+mn-ea"/>
              </a:rPr>
              <a:t>1-</a:t>
            </a:r>
            <a:r>
              <a:rPr lang="zh-CN" altLang="en-US" sz="1400" kern="0" dirty="0">
                <a:latin typeface="+mn-ea"/>
              </a:rPr>
              <a:t>辅助泵  </a:t>
            </a:r>
            <a:r>
              <a:rPr lang="en-US" altLang="zh-CN" sz="1400" kern="0" dirty="0">
                <a:latin typeface="+mn-ea"/>
              </a:rPr>
              <a:t>4-</a:t>
            </a:r>
            <a:r>
              <a:rPr lang="zh-CN" altLang="en-US" sz="1400" kern="0" dirty="0">
                <a:latin typeface="+mn-ea"/>
              </a:rPr>
              <a:t>液动阀  </a:t>
            </a:r>
            <a:r>
              <a:rPr lang="en-US" altLang="zh-CN" sz="1400" kern="0" dirty="0">
                <a:latin typeface="+mn-ea"/>
              </a:rPr>
              <a:t>5</a:t>
            </a:r>
            <a:r>
              <a:rPr lang="zh-CN" altLang="en-US" sz="1400" kern="0" dirty="0">
                <a:latin typeface="+mn-ea"/>
              </a:rPr>
              <a:t>、</a:t>
            </a:r>
            <a:r>
              <a:rPr lang="en-US" altLang="zh-CN" sz="1400" kern="0" dirty="0">
                <a:latin typeface="+mn-ea"/>
              </a:rPr>
              <a:t>9-</a:t>
            </a:r>
            <a:r>
              <a:rPr lang="zh-CN" altLang="en-US" sz="1400" kern="0" dirty="0">
                <a:latin typeface="+mn-ea"/>
              </a:rPr>
              <a:t>单向阀</a:t>
            </a:r>
            <a:endParaRPr lang="en-US" altLang="zh-CN" sz="1400" kern="0" dirty="0">
              <a:latin typeface="+mn-ea"/>
            </a:endParaRPr>
          </a:p>
          <a:p>
            <a:pPr marL="0" indent="0" algn="ctr">
              <a:buNone/>
            </a:pPr>
            <a:r>
              <a:rPr lang="en-US" altLang="zh-CN" sz="1400" kern="0" dirty="0">
                <a:latin typeface="+mn-ea"/>
              </a:rPr>
              <a:t>6</a:t>
            </a:r>
            <a:r>
              <a:rPr lang="zh-CN" altLang="en-US" sz="1400" kern="0" dirty="0">
                <a:latin typeface="+mn-ea"/>
              </a:rPr>
              <a:t>、</a:t>
            </a:r>
            <a:r>
              <a:rPr lang="en-US" altLang="zh-CN" sz="1400" kern="0" dirty="0">
                <a:latin typeface="+mn-ea"/>
              </a:rPr>
              <a:t>8-</a:t>
            </a:r>
            <a:r>
              <a:rPr lang="zh-CN" altLang="en-US" sz="1400" kern="0" dirty="0">
                <a:latin typeface="+mn-ea"/>
              </a:rPr>
              <a:t>安全阀  </a:t>
            </a:r>
            <a:r>
              <a:rPr lang="en-US" altLang="zh-CN" sz="1400" kern="0" dirty="0">
                <a:latin typeface="+mn-ea"/>
              </a:rPr>
              <a:t>7</a:t>
            </a:r>
            <a:r>
              <a:rPr lang="zh-CN" altLang="en-US" sz="1400" kern="0" dirty="0">
                <a:latin typeface="+mn-ea"/>
              </a:rPr>
              <a:t>变量泵</a:t>
            </a:r>
            <a:endParaRPr lang="en-US" altLang="zh-CN" sz="1400" kern="0" dirty="0">
              <a:latin typeface="+mn-ea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8E21423-05EF-4A0D-BC8B-E2A39FEA6726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10/35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83766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4636206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缸式闭式容积调速回路</a:t>
            </a:r>
            <a:endParaRPr lang="en-US" altLang="zh-CN" sz="2800" dirty="0">
              <a:latin typeface="+mn-ea"/>
            </a:endParaRPr>
          </a:p>
        </p:txBody>
      </p:sp>
      <p:sp>
        <p:nvSpPr>
          <p:cNvPr id="25" name="内容占位符 2">
            <a:extLst>
              <a:ext uri="{FF2B5EF4-FFF2-40B4-BE49-F238E27FC236}">
                <a16:creationId xmlns:a16="http://schemas.microsoft.com/office/drawing/2014/main" id="{5D1F881E-34D2-4976-B206-10634666C8E7}"/>
              </a:ext>
            </a:extLst>
          </p:cNvPr>
          <p:cNvSpPr txBox="1">
            <a:spLocks/>
          </p:cNvSpPr>
          <p:nvPr/>
        </p:nvSpPr>
        <p:spPr>
          <a:xfrm>
            <a:off x="1009082" y="1571824"/>
            <a:ext cx="4058313" cy="518457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</a:pPr>
            <a:r>
              <a:rPr lang="zh-CN" altLang="en-US" sz="2000" dirty="0">
                <a:latin typeface="+mn-ea"/>
              </a:rPr>
              <a:t>换向过程：</a:t>
            </a:r>
            <a:endParaRPr lang="en-US" altLang="zh-CN" sz="2000" dirty="0">
              <a:latin typeface="+mn-ea"/>
            </a:endParaRPr>
          </a:p>
          <a:p>
            <a:pPr marL="456300" lvl="1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latin typeface="+mn-ea"/>
              </a:rPr>
              <a:t>换向阀</a:t>
            </a:r>
            <a:r>
              <a:rPr lang="en-US" altLang="zh-CN" sz="2000" dirty="0">
                <a:latin typeface="+mn-ea"/>
              </a:rPr>
              <a:t>3</a:t>
            </a:r>
            <a:r>
              <a:rPr lang="zh-CN" altLang="en-US" sz="2000" dirty="0">
                <a:latin typeface="+mn-ea"/>
              </a:rPr>
              <a:t>变换工作位置</a:t>
            </a:r>
            <a:endParaRPr lang="en-US" altLang="zh-CN" sz="2000" dirty="0">
              <a:latin typeface="+mn-ea"/>
            </a:endParaRPr>
          </a:p>
          <a:p>
            <a:pPr marL="456300" lvl="1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latin typeface="+mn-ea"/>
              </a:rPr>
              <a:t>辅助泵</a:t>
            </a:r>
            <a:r>
              <a:rPr lang="en-US" altLang="zh-CN" sz="2000" dirty="0">
                <a:latin typeface="+mn-ea"/>
              </a:rPr>
              <a:t>1</a:t>
            </a:r>
            <a:r>
              <a:rPr lang="zh-CN" altLang="en-US" sz="2000" dirty="0">
                <a:latin typeface="+mn-ea"/>
              </a:rPr>
              <a:t>改变换向阀</a:t>
            </a:r>
            <a:r>
              <a:rPr lang="en-US" altLang="zh-CN" sz="2000" dirty="0">
                <a:latin typeface="+mn-ea"/>
              </a:rPr>
              <a:t>4</a:t>
            </a:r>
            <a:r>
              <a:rPr lang="zh-CN" altLang="en-US" sz="2000" dirty="0">
                <a:latin typeface="+mn-ea"/>
              </a:rPr>
              <a:t>的工作位置，并使变量泵改变输油方向</a:t>
            </a:r>
            <a:endParaRPr lang="en-US" altLang="zh-CN" sz="2000" dirty="0">
              <a:latin typeface="+mn-ea"/>
            </a:endParaRPr>
          </a:p>
          <a:p>
            <a:pPr marL="456300" lvl="1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000" dirty="0">
                <a:latin typeface="+mn-ea"/>
              </a:rPr>
              <a:t>换向阀</a:t>
            </a:r>
            <a:r>
              <a:rPr lang="en-US" altLang="zh-CN" sz="2000" dirty="0">
                <a:latin typeface="+mn-ea"/>
              </a:rPr>
              <a:t>4</a:t>
            </a:r>
            <a:r>
              <a:rPr lang="zh-CN" altLang="en-US" sz="2000" dirty="0">
                <a:latin typeface="+mn-ea"/>
              </a:rPr>
              <a:t>接通，辅助泵接通变量泵吸油路，进行补油。</a:t>
            </a:r>
            <a:endParaRPr lang="en-US" altLang="zh-CN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zh-CN" altLang="en-US" sz="2000" dirty="0">
                <a:latin typeface="+mn-ea"/>
              </a:rPr>
              <a:t>工作特性：与开式回路完全相同。</a:t>
            </a:r>
          </a:p>
          <a:p>
            <a:pPr marL="456300" lvl="1" indent="-457200">
              <a:lnSpc>
                <a:spcPct val="150000"/>
              </a:lnSpc>
              <a:buFont typeface="+mj-lt"/>
              <a:buAutoNum type="arabicPeriod"/>
            </a:pPr>
            <a:endParaRPr lang="en-US" altLang="zh-CN" dirty="0">
              <a:latin typeface="+mn-ea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5FF933C2-E87E-4FBA-A261-0B1EA4524EAA}"/>
              </a:ext>
            </a:extLst>
          </p:cNvPr>
          <p:cNvGrpSpPr/>
          <p:nvPr/>
        </p:nvGrpSpPr>
        <p:grpSpPr>
          <a:xfrm>
            <a:off x="5479374" y="1112398"/>
            <a:ext cx="5412772" cy="5644002"/>
            <a:chOff x="3709077" y="554017"/>
            <a:chExt cx="5412772" cy="5644002"/>
          </a:xfrm>
        </p:grpSpPr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20D1BDDD-8455-489E-9FF5-1C8822033C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500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6747"/>
            <a:stretch/>
          </p:blipFill>
          <p:spPr>
            <a:xfrm>
              <a:off x="4405833" y="554017"/>
              <a:ext cx="4716016" cy="5644002"/>
            </a:xfrm>
            <a:prstGeom prst="rect">
              <a:avLst/>
            </a:prstGeom>
          </p:spPr>
        </p:pic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8636EE3D-6515-4AED-B638-FC5F2748CB39}"/>
                </a:ext>
              </a:extLst>
            </p:cNvPr>
            <p:cNvSpPr/>
            <p:nvPr/>
          </p:nvSpPr>
          <p:spPr>
            <a:xfrm>
              <a:off x="6952659" y="2123140"/>
              <a:ext cx="868540" cy="3141171"/>
            </a:xfrm>
            <a:custGeom>
              <a:avLst/>
              <a:gdLst>
                <a:gd name="connsiteX0" fmla="*/ 0 w 638175"/>
                <a:gd name="connsiteY0" fmla="*/ 3019425 h 3019425"/>
                <a:gd name="connsiteX1" fmla="*/ 0 w 638175"/>
                <a:gd name="connsiteY1" fmla="*/ 2581275 h 3019425"/>
                <a:gd name="connsiteX2" fmla="*/ 95250 w 638175"/>
                <a:gd name="connsiteY2" fmla="*/ 2276475 h 3019425"/>
                <a:gd name="connsiteX3" fmla="*/ 95250 w 638175"/>
                <a:gd name="connsiteY3" fmla="*/ 1238250 h 3019425"/>
                <a:gd name="connsiteX4" fmla="*/ 638175 w 638175"/>
                <a:gd name="connsiteY4" fmla="*/ 1228725 h 3019425"/>
                <a:gd name="connsiteX5" fmla="*/ 628650 w 638175"/>
                <a:gd name="connsiteY5" fmla="*/ 0 h 3019425"/>
                <a:gd name="connsiteX0" fmla="*/ 0 w 638175"/>
                <a:gd name="connsiteY0" fmla="*/ 2308031 h 2308031"/>
                <a:gd name="connsiteX1" fmla="*/ 0 w 638175"/>
                <a:gd name="connsiteY1" fmla="*/ 1869881 h 2308031"/>
                <a:gd name="connsiteX2" fmla="*/ 95250 w 638175"/>
                <a:gd name="connsiteY2" fmla="*/ 1565081 h 2308031"/>
                <a:gd name="connsiteX3" fmla="*/ 95250 w 638175"/>
                <a:gd name="connsiteY3" fmla="*/ 526856 h 2308031"/>
                <a:gd name="connsiteX4" fmla="*/ 638175 w 638175"/>
                <a:gd name="connsiteY4" fmla="*/ 517331 h 2308031"/>
                <a:gd name="connsiteX5" fmla="*/ 635237 w 638175"/>
                <a:gd name="connsiteY5" fmla="*/ 0 h 230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8175" h="2308031">
                  <a:moveTo>
                    <a:pt x="0" y="2308031"/>
                  </a:moveTo>
                  <a:lnTo>
                    <a:pt x="0" y="1869881"/>
                  </a:lnTo>
                  <a:lnTo>
                    <a:pt x="95250" y="1565081"/>
                  </a:lnTo>
                  <a:lnTo>
                    <a:pt x="95250" y="526856"/>
                  </a:lnTo>
                  <a:lnTo>
                    <a:pt x="638175" y="517331"/>
                  </a:lnTo>
                  <a:cubicBezTo>
                    <a:pt x="635000" y="107756"/>
                    <a:pt x="638412" y="409575"/>
                    <a:pt x="635237" y="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+mn-ea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C1051512-0DBB-4152-99A5-D2A76BBF3E00}"/>
                </a:ext>
              </a:extLst>
            </p:cNvPr>
            <p:cNvSpPr/>
            <p:nvPr/>
          </p:nvSpPr>
          <p:spPr>
            <a:xfrm>
              <a:off x="5725469" y="1163594"/>
              <a:ext cx="795081" cy="985209"/>
            </a:xfrm>
            <a:custGeom>
              <a:avLst/>
              <a:gdLst>
                <a:gd name="connsiteX0" fmla="*/ 0 w 584200"/>
                <a:gd name="connsiteY0" fmla="*/ 0 h 723900"/>
                <a:gd name="connsiteX1" fmla="*/ 6350 w 584200"/>
                <a:gd name="connsiteY1" fmla="*/ 723900 h 723900"/>
                <a:gd name="connsiteX2" fmla="*/ 584200 w 584200"/>
                <a:gd name="connsiteY2" fmla="*/ 71755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4200" h="723900">
                  <a:moveTo>
                    <a:pt x="0" y="0"/>
                  </a:moveTo>
                  <a:cubicBezTo>
                    <a:pt x="2117" y="241300"/>
                    <a:pt x="4233" y="482600"/>
                    <a:pt x="6350" y="723900"/>
                  </a:cubicBezTo>
                  <a:lnTo>
                    <a:pt x="584200" y="717550"/>
                  </a:lnTo>
                </a:path>
              </a:pathLst>
            </a:custGeom>
            <a:noFill/>
            <a:ln w="38100">
              <a:solidFill>
                <a:srgbClr val="C00000"/>
              </a:solidFill>
              <a:headEnd type="triangle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+mn-ea"/>
              </a:endParaRPr>
            </a:p>
          </p:txBody>
        </p: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924D38D8-E79C-45A0-9C77-74FFEBFDD8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83653" y="2148803"/>
              <a:ext cx="737546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AB70F682-7E59-410F-9362-30B0896F5188}"/>
                </a:ext>
              </a:extLst>
            </p:cNvPr>
            <p:cNvSpPr/>
            <p:nvPr/>
          </p:nvSpPr>
          <p:spPr>
            <a:xfrm>
              <a:off x="7112540" y="2514037"/>
              <a:ext cx="392983" cy="1376164"/>
            </a:xfrm>
            <a:custGeom>
              <a:avLst/>
              <a:gdLst>
                <a:gd name="connsiteX0" fmla="*/ 0 w 314325"/>
                <a:gd name="connsiteY0" fmla="*/ 1019175 h 1028700"/>
                <a:gd name="connsiteX1" fmla="*/ 314325 w 314325"/>
                <a:gd name="connsiteY1" fmla="*/ 1028700 h 1028700"/>
                <a:gd name="connsiteX2" fmla="*/ 314325 w 314325"/>
                <a:gd name="connsiteY2" fmla="*/ 0 h 1028700"/>
                <a:gd name="connsiteX3" fmla="*/ 66675 w 314325"/>
                <a:gd name="connsiteY3" fmla="*/ 0 h 1028700"/>
                <a:gd name="connsiteX0" fmla="*/ 0 w 314325"/>
                <a:gd name="connsiteY0" fmla="*/ 1019175 h 1028700"/>
                <a:gd name="connsiteX1" fmla="*/ 314325 w 314325"/>
                <a:gd name="connsiteY1" fmla="*/ 1028700 h 1028700"/>
                <a:gd name="connsiteX2" fmla="*/ 314325 w 314325"/>
                <a:gd name="connsiteY2" fmla="*/ 0 h 1028700"/>
                <a:gd name="connsiteX3" fmla="*/ 25200 w 314325"/>
                <a:gd name="connsiteY3" fmla="*/ 2422 h 1028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325" h="1028700">
                  <a:moveTo>
                    <a:pt x="0" y="1019175"/>
                  </a:moveTo>
                  <a:lnTo>
                    <a:pt x="314325" y="1028700"/>
                  </a:lnTo>
                  <a:lnTo>
                    <a:pt x="314325" y="0"/>
                  </a:lnTo>
                  <a:lnTo>
                    <a:pt x="25200" y="2422"/>
                  </a:lnTo>
                </a:path>
              </a:pathLst>
            </a:custGeom>
            <a:noFill/>
            <a:ln>
              <a:solidFill>
                <a:schemeClr val="accent2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+mn-ea"/>
              </a:endParaRPr>
            </a:p>
          </p:txBody>
        </p: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A3A8FABB-107C-430E-A9B0-1E52567D93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1520" y="3396046"/>
              <a:ext cx="294003" cy="0"/>
            </a:xfrm>
            <a:prstGeom prst="straightConnector1">
              <a:avLst/>
            </a:prstGeom>
            <a:noFill/>
            <a:ln>
              <a:solidFill>
                <a:schemeClr val="accent2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3F78BA16-353C-4203-A314-53C6489F8A65}"/>
                </a:ext>
              </a:extLst>
            </p:cNvPr>
            <p:cNvCxnSpPr>
              <a:cxnSpLocks/>
            </p:cNvCxnSpPr>
            <p:nvPr/>
          </p:nvCxnSpPr>
          <p:spPr>
            <a:xfrm>
              <a:off x="7821199" y="1163594"/>
              <a:ext cx="0" cy="95954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F206EF4D-B976-4291-A57D-859AD8A55723}"/>
                </a:ext>
              </a:extLst>
            </p:cNvPr>
            <p:cNvSpPr/>
            <p:nvPr/>
          </p:nvSpPr>
          <p:spPr>
            <a:xfrm>
              <a:off x="3709077" y="1246245"/>
              <a:ext cx="1873647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latin typeface="+mn-ea"/>
                </a:rPr>
                <a:t>此时安全阀</a:t>
              </a:r>
              <a:r>
                <a:rPr lang="en-US" altLang="zh-CN" dirty="0">
                  <a:latin typeface="+mn-ea"/>
                </a:rPr>
                <a:t>6</a:t>
              </a:r>
              <a:r>
                <a:rPr lang="zh-CN" altLang="en-US" dirty="0">
                  <a:latin typeface="+mn-ea"/>
                </a:rPr>
                <a:t>限制回路最高压力</a:t>
              </a: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8968D20F-417E-425C-A5C3-AD4E8253A9C6}"/>
                </a:ext>
              </a:extLst>
            </p:cNvPr>
            <p:cNvCxnSpPr>
              <a:cxnSpLocks/>
            </p:cNvCxnSpPr>
            <p:nvPr/>
          </p:nvCxnSpPr>
          <p:spPr>
            <a:xfrm>
              <a:off x="4790371" y="1954131"/>
              <a:ext cx="116293" cy="559906"/>
            </a:xfrm>
            <a:prstGeom prst="straightConnector1">
              <a:avLst/>
            </a:prstGeom>
            <a:ln w="28575">
              <a:solidFill>
                <a:srgbClr val="3387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89542F4A-3FBA-4F0C-AB64-931E6B4D6A58}"/>
                </a:ext>
              </a:extLst>
            </p:cNvPr>
            <p:cNvCxnSpPr>
              <a:cxnSpLocks/>
            </p:cNvCxnSpPr>
            <p:nvPr/>
          </p:nvCxnSpPr>
          <p:spPr>
            <a:xfrm>
              <a:off x="8085757" y="717641"/>
              <a:ext cx="7200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24E8BC74-B88F-4121-B1BF-4BD33EF42E43}"/>
                </a:ext>
              </a:extLst>
            </p:cNvPr>
            <p:cNvSpPr/>
            <p:nvPr/>
          </p:nvSpPr>
          <p:spPr>
            <a:xfrm flipV="1">
              <a:off x="6084119" y="4797131"/>
              <a:ext cx="868539" cy="360061"/>
            </a:xfrm>
            <a:custGeom>
              <a:avLst/>
              <a:gdLst>
                <a:gd name="connsiteX0" fmla="*/ 0 w 584200"/>
                <a:gd name="connsiteY0" fmla="*/ 0 h 723900"/>
                <a:gd name="connsiteX1" fmla="*/ 6350 w 584200"/>
                <a:gd name="connsiteY1" fmla="*/ 723900 h 723900"/>
                <a:gd name="connsiteX2" fmla="*/ 584200 w 584200"/>
                <a:gd name="connsiteY2" fmla="*/ 71755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4200" h="723900">
                  <a:moveTo>
                    <a:pt x="0" y="0"/>
                  </a:moveTo>
                  <a:cubicBezTo>
                    <a:pt x="2117" y="241300"/>
                    <a:pt x="4233" y="482600"/>
                    <a:pt x="6350" y="723900"/>
                  </a:cubicBezTo>
                  <a:lnTo>
                    <a:pt x="584200" y="717550"/>
                  </a:lnTo>
                </a:path>
              </a:pathLst>
            </a:custGeom>
            <a:noFill/>
            <a:ln w="38100">
              <a:solidFill>
                <a:srgbClr val="C00000"/>
              </a:solidFill>
              <a:headEnd type="triangle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+mn-ea"/>
              </a:endParaRPr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FA5C872B-3036-4B75-B923-F8D920DA8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1199" y="3175808"/>
              <a:ext cx="0" cy="96182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83465576-94B4-4915-B767-C1827A4357E8}"/>
              </a:ext>
            </a:extLst>
          </p:cNvPr>
          <p:cNvSpPr/>
          <p:nvPr/>
        </p:nvSpPr>
        <p:spPr>
          <a:xfrm>
            <a:off x="9663464" y="882641"/>
            <a:ext cx="13411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运动方向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45C7497-CB43-468A-88C2-9F2F3041F740}"/>
              </a:ext>
            </a:extLst>
          </p:cNvPr>
          <p:cNvSpPr/>
          <p:nvPr/>
        </p:nvSpPr>
        <p:spPr>
          <a:xfrm>
            <a:off x="5457269" y="5017351"/>
            <a:ext cx="213524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辅助泵输出的多余油液经溢流阀</a:t>
            </a:r>
            <a:r>
              <a:rPr lang="en-US" altLang="zh-CN" dirty="0">
                <a:latin typeface="+mn-ea"/>
              </a:rPr>
              <a:t>2</a:t>
            </a:r>
            <a:r>
              <a:rPr lang="zh-CN" altLang="en-US" dirty="0">
                <a:latin typeface="+mn-ea"/>
              </a:rPr>
              <a:t>到回油箱</a:t>
            </a:r>
          </a:p>
        </p:txBody>
      </p:sp>
      <p:sp>
        <p:nvSpPr>
          <p:cNvPr id="41" name="内容占位符 2">
            <a:extLst>
              <a:ext uri="{FF2B5EF4-FFF2-40B4-BE49-F238E27FC236}">
                <a16:creationId xmlns:a16="http://schemas.microsoft.com/office/drawing/2014/main" id="{F60569CB-3E0E-45B2-AFAD-91FCE035C381}"/>
              </a:ext>
            </a:extLst>
          </p:cNvPr>
          <p:cNvSpPr txBox="1">
            <a:spLocks/>
          </p:cNvSpPr>
          <p:nvPr/>
        </p:nvSpPr>
        <p:spPr bwMode="auto">
          <a:xfrm>
            <a:off x="9275820" y="4729503"/>
            <a:ext cx="2336901" cy="866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"/>
              <a:defRPr lang="en-US" sz="2400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3420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lvl="1" indent="0">
              <a:buFont typeface="Arial" panose="020B0604020202020204" pitchFamily="34" charset="0"/>
              <a:buNone/>
            </a:pPr>
            <a:r>
              <a:rPr lang="zh-CN" altLang="en-US" sz="1800" kern="0" dirty="0">
                <a:latin typeface="+mn-ea"/>
                <a:ea typeface="+mn-ea"/>
              </a:rPr>
              <a:t>变量泵只在换向过程中通过单向阀直接从油箱吸油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zh-CN" altLang="en-US" sz="1800" kern="0" dirty="0">
              <a:latin typeface="+mn-ea"/>
              <a:ea typeface="+mn-ea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33947E5-CE93-472C-B201-B6523557239D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11/35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47027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>
            <a:extLst>
              <a:ext uri="{FF2B5EF4-FFF2-40B4-BE49-F238E27FC236}">
                <a16:creationId xmlns:a16="http://schemas.microsoft.com/office/drawing/2014/main" id="{D7D9AA2C-0561-431E-A0DE-2A8B3A7E790A}"/>
              </a:ext>
            </a:extLst>
          </p:cNvPr>
          <p:cNvSpPr/>
          <p:nvPr/>
        </p:nvSpPr>
        <p:spPr>
          <a:xfrm>
            <a:off x="818443" y="836106"/>
            <a:ext cx="4392549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马达式容积调速回路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F61E3D45-C2E5-44F3-9C91-BB337DFAED0F}"/>
              </a:ext>
            </a:extLst>
          </p:cNvPr>
          <p:cNvGrpSpPr/>
          <p:nvPr/>
        </p:nvGrpSpPr>
        <p:grpSpPr>
          <a:xfrm>
            <a:off x="4304851" y="2051448"/>
            <a:ext cx="803913" cy="777033"/>
            <a:chOff x="7148937" y="5261303"/>
            <a:chExt cx="803913" cy="777033"/>
          </a:xfrm>
        </p:grpSpPr>
        <p:sp>
          <p:nvSpPr>
            <p:cNvPr id="62" name="椭圆 61">
              <a:extLst>
                <a:ext uri="{FF2B5EF4-FFF2-40B4-BE49-F238E27FC236}">
                  <a16:creationId xmlns:a16="http://schemas.microsoft.com/office/drawing/2014/main" id="{0B22C03B-F55C-4019-A423-BB055ED7074B}"/>
                </a:ext>
              </a:extLst>
            </p:cNvPr>
            <p:cNvSpPr/>
            <p:nvPr/>
          </p:nvSpPr>
          <p:spPr bwMode="auto">
            <a:xfrm>
              <a:off x="7148937" y="526130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63" name="等腰三角形 62">
              <a:extLst>
                <a:ext uri="{FF2B5EF4-FFF2-40B4-BE49-F238E27FC236}">
                  <a16:creationId xmlns:a16="http://schemas.microsoft.com/office/drawing/2014/main" id="{8AAC5709-B5C5-45C2-80DD-7E31917A179B}"/>
                </a:ext>
              </a:extLst>
            </p:cNvPr>
            <p:cNvSpPr/>
            <p:nvPr/>
          </p:nvSpPr>
          <p:spPr bwMode="auto">
            <a:xfrm>
              <a:off x="7422367" y="5261303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90C7BD93-E993-47BB-BB7D-4C698DBC76F2}"/>
              </a:ext>
            </a:extLst>
          </p:cNvPr>
          <p:cNvCxnSpPr>
            <a:stCxn id="62" idx="4"/>
          </p:cNvCxnSpPr>
          <p:nvPr/>
        </p:nvCxnSpPr>
        <p:spPr bwMode="auto">
          <a:xfrm>
            <a:off x="4706808" y="2828481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Line 33">
            <a:extLst>
              <a:ext uri="{FF2B5EF4-FFF2-40B4-BE49-F238E27FC236}">
                <a16:creationId xmlns:a16="http://schemas.microsoft.com/office/drawing/2014/main" id="{EF31A1F4-0393-47CF-8BAC-91AA521404D5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758730" y="2980240"/>
            <a:ext cx="577248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66" name="Line 29">
            <a:extLst>
              <a:ext uri="{FF2B5EF4-FFF2-40B4-BE49-F238E27FC236}">
                <a16:creationId xmlns:a16="http://schemas.microsoft.com/office/drawing/2014/main" id="{183B00D8-DDEA-4915-8DCD-DF1D1207E8D4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384755" y="2341573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67" name="Line 26">
            <a:extLst>
              <a:ext uri="{FF2B5EF4-FFF2-40B4-BE49-F238E27FC236}">
                <a16:creationId xmlns:a16="http://schemas.microsoft.com/office/drawing/2014/main" id="{275BF139-C534-46C3-BB00-4814A55BBEF0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8081542" y="2668598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68" name="Line 27">
            <a:extLst>
              <a:ext uri="{FF2B5EF4-FFF2-40B4-BE49-F238E27FC236}">
                <a16:creationId xmlns:a16="http://schemas.microsoft.com/office/drawing/2014/main" id="{43017F73-7E14-4F77-BB24-56A7DC749DB2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8399042" y="2794010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69" name="Rectangle 16">
            <a:extLst>
              <a:ext uri="{FF2B5EF4-FFF2-40B4-BE49-F238E27FC236}">
                <a16:creationId xmlns:a16="http://schemas.microsoft.com/office/drawing/2014/main" id="{A0432188-299B-40EA-AFBD-1DED6E502A4E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802141" y="2252672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70" name="Line 21">
            <a:extLst>
              <a:ext uri="{FF2B5EF4-FFF2-40B4-BE49-F238E27FC236}">
                <a16:creationId xmlns:a16="http://schemas.microsoft.com/office/drawing/2014/main" id="{801D797F-DAD4-4135-A442-96D5F17F7F2D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906917" y="2463810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1" name="Line 22">
            <a:extLst>
              <a:ext uri="{FF2B5EF4-FFF2-40B4-BE49-F238E27FC236}">
                <a16:creationId xmlns:a16="http://schemas.microsoft.com/office/drawing/2014/main" id="{C6DFB799-50BE-412F-B536-9291A47FB288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7718004" y="2435235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2" name="Line 23">
            <a:extLst>
              <a:ext uri="{FF2B5EF4-FFF2-40B4-BE49-F238E27FC236}">
                <a16:creationId xmlns:a16="http://schemas.microsoft.com/office/drawing/2014/main" id="{29D90F9F-551E-440E-85DD-A992F961C09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648948" y="2434441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3" name="Line 24">
            <a:extLst>
              <a:ext uri="{FF2B5EF4-FFF2-40B4-BE49-F238E27FC236}">
                <a16:creationId xmlns:a16="http://schemas.microsoft.com/office/drawing/2014/main" id="{950930DD-AA74-4009-AA42-6FCF03413731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7584654" y="2439998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4" name="Line 25">
            <a:extLst>
              <a:ext uri="{FF2B5EF4-FFF2-40B4-BE49-F238E27FC236}">
                <a16:creationId xmlns:a16="http://schemas.microsoft.com/office/drawing/2014/main" id="{73D22284-4E77-4D20-9832-5535A7DDAD4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515598" y="2439204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5" name="Line 30">
            <a:extLst>
              <a:ext uri="{FF2B5EF4-FFF2-40B4-BE49-F238E27FC236}">
                <a16:creationId xmlns:a16="http://schemas.microsoft.com/office/drawing/2014/main" id="{53B14060-9710-43EE-B19A-82EFE663CFE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771336" y="1959987"/>
            <a:ext cx="552033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76" name="Line 28">
            <a:extLst>
              <a:ext uri="{FF2B5EF4-FFF2-40B4-BE49-F238E27FC236}">
                <a16:creationId xmlns:a16="http://schemas.microsoft.com/office/drawing/2014/main" id="{E8C57167-7157-4120-9F92-8F7C4B9A0647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290989" y="2677433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BCCA619-2EC7-4492-BE99-27E3529B73AE}"/>
              </a:ext>
            </a:extLst>
          </p:cNvPr>
          <p:cNvCxnSpPr/>
          <p:nvPr/>
        </p:nvCxnSpPr>
        <p:spPr bwMode="auto">
          <a:xfrm>
            <a:off x="4706808" y="1686598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520135D-F465-4808-8BC1-177E8B390006}"/>
              </a:ext>
            </a:extLst>
          </p:cNvPr>
          <p:cNvCxnSpPr/>
          <p:nvPr/>
        </p:nvCxnSpPr>
        <p:spPr bwMode="auto">
          <a:xfrm flipH="1">
            <a:off x="4692839" y="1679732"/>
            <a:ext cx="4405581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70A93841-8487-4212-830D-EEE05A338BC8}"/>
              </a:ext>
            </a:extLst>
          </p:cNvPr>
          <p:cNvCxnSpPr/>
          <p:nvPr/>
        </p:nvCxnSpPr>
        <p:spPr bwMode="auto">
          <a:xfrm flipH="1">
            <a:off x="4706809" y="3265382"/>
            <a:ext cx="4391611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0" name="等腰三角形 79">
            <a:extLst>
              <a:ext uri="{FF2B5EF4-FFF2-40B4-BE49-F238E27FC236}">
                <a16:creationId xmlns:a16="http://schemas.microsoft.com/office/drawing/2014/main" id="{8C2E758A-A983-45B6-B7F6-84BC227D61DC}"/>
              </a:ext>
            </a:extLst>
          </p:cNvPr>
          <p:cNvSpPr/>
          <p:nvPr/>
        </p:nvSpPr>
        <p:spPr bwMode="auto">
          <a:xfrm rot="10800000">
            <a:off x="4592251" y="2630939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sp>
        <p:nvSpPr>
          <p:cNvPr id="81" name="Line 33">
            <a:extLst>
              <a:ext uri="{FF2B5EF4-FFF2-40B4-BE49-F238E27FC236}">
                <a16:creationId xmlns:a16="http://schemas.microsoft.com/office/drawing/2014/main" id="{C6479754-1277-4B21-BE6B-796E266DB754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669705" y="1969112"/>
            <a:ext cx="577248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82" name="Line 29">
            <a:extLst>
              <a:ext uri="{FF2B5EF4-FFF2-40B4-BE49-F238E27FC236}">
                <a16:creationId xmlns:a16="http://schemas.microsoft.com/office/drawing/2014/main" id="{0B7BE0DE-1A7B-4B1D-8109-EBD643D69F18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7295730" y="2374417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3" name="Line 26">
            <a:extLst>
              <a:ext uri="{FF2B5EF4-FFF2-40B4-BE49-F238E27FC236}">
                <a16:creationId xmlns:a16="http://schemas.microsoft.com/office/drawing/2014/main" id="{6895584D-06DA-4EF4-9F58-48F42D3F28C0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6992517" y="2021992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4" name="Line 27">
            <a:extLst>
              <a:ext uri="{FF2B5EF4-FFF2-40B4-BE49-F238E27FC236}">
                <a16:creationId xmlns:a16="http://schemas.microsoft.com/office/drawing/2014/main" id="{C9DCA19F-8CBA-46BC-8BE5-723794B1D5DB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7310017" y="1963254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5" name="Rectangle 16">
            <a:extLst>
              <a:ext uri="{FF2B5EF4-FFF2-40B4-BE49-F238E27FC236}">
                <a16:creationId xmlns:a16="http://schemas.microsoft.com/office/drawing/2014/main" id="{2F8CE9D2-EC80-4A10-9A88-E22731DEE8E4}"/>
              </a:ext>
            </a:extLst>
          </p:cNvPr>
          <p:cNvSpPr>
            <a:spLocks noChangeArrowheads="1"/>
          </p:cNvSpPr>
          <p:nvPr/>
        </p:nvSpPr>
        <p:spPr bwMode="auto">
          <a:xfrm rot="16200000" flipV="1">
            <a:off x="6713116" y="2268055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86" name="Line 21">
            <a:extLst>
              <a:ext uri="{FF2B5EF4-FFF2-40B4-BE49-F238E27FC236}">
                <a16:creationId xmlns:a16="http://schemas.microsoft.com/office/drawing/2014/main" id="{7A0ECFEE-8ACB-4A72-933C-C21F28644874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817892" y="2485543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7" name="Line 22">
            <a:extLst>
              <a:ext uri="{FF2B5EF4-FFF2-40B4-BE49-F238E27FC236}">
                <a16:creationId xmlns:a16="http://schemas.microsoft.com/office/drawing/2014/main" id="{78970349-5DA3-4304-8D22-06361A5C4B8F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6628979" y="2453793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8" name="Line 23">
            <a:extLst>
              <a:ext uri="{FF2B5EF4-FFF2-40B4-BE49-F238E27FC236}">
                <a16:creationId xmlns:a16="http://schemas.microsoft.com/office/drawing/2014/main" id="{C380D159-5DA0-46AE-967A-FC5E09EC2974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559923" y="2449824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9" name="Line 24">
            <a:extLst>
              <a:ext uri="{FF2B5EF4-FFF2-40B4-BE49-F238E27FC236}">
                <a16:creationId xmlns:a16="http://schemas.microsoft.com/office/drawing/2014/main" id="{BCB3DA67-4610-4B03-9083-124766D56B1D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6495629" y="2449030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0" name="Line 25">
            <a:extLst>
              <a:ext uri="{FF2B5EF4-FFF2-40B4-BE49-F238E27FC236}">
                <a16:creationId xmlns:a16="http://schemas.microsoft.com/office/drawing/2014/main" id="{88A75055-583B-4566-BAA9-453C130AA000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426573" y="2445061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1" name="Line 30">
            <a:extLst>
              <a:ext uri="{FF2B5EF4-FFF2-40B4-BE49-F238E27FC236}">
                <a16:creationId xmlns:a16="http://schemas.microsoft.com/office/drawing/2014/main" id="{C1C66A8C-4DB3-42DE-93E4-1FB662154765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682311" y="2989366"/>
            <a:ext cx="552033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2" name="Line 28">
            <a:extLst>
              <a:ext uri="{FF2B5EF4-FFF2-40B4-BE49-F238E27FC236}">
                <a16:creationId xmlns:a16="http://schemas.microsoft.com/office/drawing/2014/main" id="{206CF70E-5866-48A4-B0F6-C6D6900C50B9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7201964" y="2271920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A7AE71BC-13D4-4A62-836F-2EAC09CC80FE}"/>
              </a:ext>
            </a:extLst>
          </p:cNvPr>
          <p:cNvSpPr/>
          <p:nvPr/>
        </p:nvSpPr>
        <p:spPr bwMode="auto">
          <a:xfrm>
            <a:off x="8696463" y="2040248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94" name="等腰三角形 93">
            <a:extLst>
              <a:ext uri="{FF2B5EF4-FFF2-40B4-BE49-F238E27FC236}">
                <a16:creationId xmlns:a16="http://schemas.microsoft.com/office/drawing/2014/main" id="{8C0B7598-6DD4-4CB4-B7FC-7DBEA9436310}"/>
              </a:ext>
            </a:extLst>
          </p:cNvPr>
          <p:cNvSpPr/>
          <p:nvPr/>
        </p:nvSpPr>
        <p:spPr bwMode="auto">
          <a:xfrm flipV="1">
            <a:off x="8969893" y="2049773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CF140925-B05F-4718-BEA9-E2243D4AD1AB}"/>
              </a:ext>
            </a:extLst>
          </p:cNvPr>
          <p:cNvCxnSpPr>
            <a:stCxn id="93" idx="4"/>
          </p:cNvCxnSpPr>
          <p:nvPr/>
        </p:nvCxnSpPr>
        <p:spPr bwMode="auto">
          <a:xfrm>
            <a:off x="9098420" y="2817281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5056AED9-C94B-4DEF-B6FF-5D63EEDD62A3}"/>
              </a:ext>
            </a:extLst>
          </p:cNvPr>
          <p:cNvCxnSpPr/>
          <p:nvPr/>
        </p:nvCxnSpPr>
        <p:spPr bwMode="auto">
          <a:xfrm>
            <a:off x="9098420" y="1675398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7" name="等腰三角形 96">
            <a:extLst>
              <a:ext uri="{FF2B5EF4-FFF2-40B4-BE49-F238E27FC236}">
                <a16:creationId xmlns:a16="http://schemas.microsoft.com/office/drawing/2014/main" id="{A8AAC42C-88DE-4333-ACA6-192D97A8D1A3}"/>
              </a:ext>
            </a:extLst>
          </p:cNvPr>
          <p:cNvSpPr/>
          <p:nvPr/>
        </p:nvSpPr>
        <p:spPr bwMode="auto">
          <a:xfrm rot="10800000" flipV="1">
            <a:off x="8983863" y="2605053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sp>
        <p:nvSpPr>
          <p:cNvPr id="98" name="TextBox 65">
            <a:extLst>
              <a:ext uri="{FF2B5EF4-FFF2-40B4-BE49-F238E27FC236}">
                <a16:creationId xmlns:a16="http://schemas.microsoft.com/office/drawing/2014/main" id="{FC6E8FCF-CA0C-4AE7-903C-FC04B0FD4B04}"/>
              </a:ext>
            </a:extLst>
          </p:cNvPr>
          <p:cNvSpPr txBox="1"/>
          <p:nvPr/>
        </p:nvSpPr>
        <p:spPr>
          <a:xfrm>
            <a:off x="2218075" y="3088402"/>
            <a:ext cx="5154838" cy="351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32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+mn-ea"/>
              </a:rPr>
              <a:t>变量泵</a:t>
            </a:r>
            <a:r>
              <a:rPr lang="en-US" altLang="zh-CN" sz="2400" b="1" dirty="0">
                <a:latin typeface="+mn-ea"/>
              </a:rPr>
              <a:t>+</a:t>
            </a:r>
            <a:r>
              <a:rPr lang="zh-CN" altLang="en-US" sz="2400" b="1" dirty="0">
                <a:latin typeface="+mn-ea"/>
              </a:rPr>
              <a:t>定量马达</a:t>
            </a:r>
            <a:endParaRPr lang="en-US" altLang="zh-CN" sz="2400" b="1" dirty="0">
              <a:latin typeface="+mn-ea"/>
            </a:endParaRPr>
          </a:p>
          <a:p>
            <a:pPr marL="342900" indent="-342900">
              <a:lnSpc>
                <a:spcPct val="32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+mn-ea"/>
              </a:rPr>
              <a:t>定量泵</a:t>
            </a:r>
            <a:r>
              <a:rPr lang="en-US" altLang="zh-CN" sz="2400" b="1" dirty="0">
                <a:latin typeface="+mn-ea"/>
              </a:rPr>
              <a:t>+</a:t>
            </a:r>
            <a:r>
              <a:rPr lang="zh-CN" altLang="en-US" sz="2400" b="1" dirty="0">
                <a:latin typeface="+mn-ea"/>
              </a:rPr>
              <a:t>变量马达</a:t>
            </a:r>
            <a:endParaRPr lang="en-US" altLang="zh-CN" sz="2400" b="1" dirty="0">
              <a:latin typeface="+mn-ea"/>
            </a:endParaRPr>
          </a:p>
          <a:p>
            <a:pPr marL="342900" indent="-342900">
              <a:lnSpc>
                <a:spcPct val="32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+mn-ea"/>
              </a:rPr>
              <a:t>变量泵</a:t>
            </a:r>
            <a:r>
              <a:rPr lang="en-US" altLang="zh-CN" sz="2400" b="1" dirty="0">
                <a:latin typeface="+mn-ea"/>
              </a:rPr>
              <a:t>+</a:t>
            </a:r>
            <a:r>
              <a:rPr lang="zh-CN" altLang="en-US" sz="2400" b="1" dirty="0">
                <a:latin typeface="+mn-ea"/>
              </a:rPr>
              <a:t>变量马达</a:t>
            </a:r>
          </a:p>
        </p:txBody>
      </p: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3F41AE1C-EC83-4B4A-ADFD-B4B9F532F968}"/>
              </a:ext>
            </a:extLst>
          </p:cNvPr>
          <p:cNvCxnSpPr/>
          <p:nvPr/>
        </p:nvCxnSpPr>
        <p:spPr bwMode="auto">
          <a:xfrm flipV="1">
            <a:off x="4122016" y="2062803"/>
            <a:ext cx="1135363" cy="735176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0F3844F1-574A-4454-9AF8-1018C576DFE5}"/>
              </a:ext>
            </a:extLst>
          </p:cNvPr>
          <p:cNvGrpSpPr/>
          <p:nvPr/>
        </p:nvGrpSpPr>
        <p:grpSpPr>
          <a:xfrm>
            <a:off x="3818157" y="2326134"/>
            <a:ext cx="509090" cy="183114"/>
            <a:chOff x="1841215" y="2732753"/>
            <a:chExt cx="536987" cy="183114"/>
          </a:xfrm>
        </p:grpSpPr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62D51E33-7864-4EED-A7B9-B03F96F31655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36987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9AC014AE-CB20-442A-8F8F-8069D32AC030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03" name="椭圆 102">
            <a:extLst>
              <a:ext uri="{FF2B5EF4-FFF2-40B4-BE49-F238E27FC236}">
                <a16:creationId xmlns:a16="http://schemas.microsoft.com/office/drawing/2014/main" id="{4E308418-6BCE-4F1A-B184-7C5559EF5E09}"/>
              </a:ext>
            </a:extLst>
          </p:cNvPr>
          <p:cNvSpPr/>
          <p:nvPr/>
        </p:nvSpPr>
        <p:spPr bwMode="auto">
          <a:xfrm>
            <a:off x="3021863" y="2021181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M</a:t>
            </a:r>
            <a:endParaRPr kumimoji="0" lang="zh-CN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75C750D7-C5A9-4275-910B-CF7C0E432DEE}"/>
              </a:ext>
            </a:extLst>
          </p:cNvPr>
          <p:cNvGrpSpPr/>
          <p:nvPr/>
        </p:nvGrpSpPr>
        <p:grpSpPr>
          <a:xfrm>
            <a:off x="9500376" y="2337207"/>
            <a:ext cx="513365" cy="183114"/>
            <a:chOff x="1841215" y="2732753"/>
            <a:chExt cx="513365" cy="183114"/>
          </a:xfrm>
        </p:grpSpPr>
        <p:cxnSp>
          <p:nvCxnSpPr>
            <p:cNvPr id="105" name="直接连接符 104">
              <a:extLst>
                <a:ext uri="{FF2B5EF4-FFF2-40B4-BE49-F238E27FC236}">
                  <a16:creationId xmlns:a16="http://schemas.microsoft.com/office/drawing/2014/main" id="{A6DBAFAC-425D-40B5-AC82-3C4A05C35A37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2F81F693-1108-4DD9-9BFB-08D8016DD209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07" name="矩形 106">
            <a:extLst>
              <a:ext uri="{FF2B5EF4-FFF2-40B4-BE49-F238E27FC236}">
                <a16:creationId xmlns:a16="http://schemas.microsoft.com/office/drawing/2014/main" id="{E404C913-A6D3-4F44-B9AC-922A7313738A}"/>
              </a:ext>
            </a:extLst>
          </p:cNvPr>
          <p:cNvSpPr/>
          <p:nvPr/>
        </p:nvSpPr>
        <p:spPr bwMode="auto">
          <a:xfrm>
            <a:off x="10013741" y="2126784"/>
            <a:ext cx="332850" cy="59247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08" name="弧形 107">
            <a:extLst>
              <a:ext uri="{FF2B5EF4-FFF2-40B4-BE49-F238E27FC236}">
                <a16:creationId xmlns:a16="http://schemas.microsoft.com/office/drawing/2014/main" id="{83B607A8-CB66-474D-B51D-B07254753A40}"/>
              </a:ext>
            </a:extLst>
          </p:cNvPr>
          <p:cNvSpPr/>
          <p:nvPr/>
        </p:nvSpPr>
        <p:spPr bwMode="auto">
          <a:xfrm>
            <a:off x="9518036" y="2151373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109" name="对象 108">
            <a:extLst>
              <a:ext uri="{FF2B5EF4-FFF2-40B4-BE49-F238E27FC236}">
                <a16:creationId xmlns:a16="http://schemas.microsoft.com/office/drawing/2014/main" id="{DB70BE94-CFCD-4DDC-AE75-24732991D77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2431621"/>
              </p:ext>
            </p:extLst>
          </p:nvPr>
        </p:nvGraphicFramePr>
        <p:xfrm>
          <a:off x="9506482" y="1488375"/>
          <a:ext cx="479425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574" name="Equation" r:id="rId4" imgW="266400" imgH="279360" progId="Equation.DSMT4">
                  <p:embed/>
                </p:oleObj>
              </mc:Choice>
              <mc:Fallback>
                <p:oleObj name="Equation" r:id="rId4" imgW="266400" imgH="279360" progId="Equation.DSMT4">
                  <p:embed/>
                  <p:pic>
                    <p:nvPicPr>
                      <p:cNvPr id="84" name="对象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6482" y="1488375"/>
                        <a:ext cx="479425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" name="Oval 7">
            <a:extLst>
              <a:ext uri="{FF2B5EF4-FFF2-40B4-BE49-F238E27FC236}">
                <a16:creationId xmlns:a16="http://schemas.microsoft.com/office/drawing/2014/main" id="{BBCCB46C-4EB8-4C8F-9001-B3024A4320DC}"/>
              </a:ext>
            </a:extLst>
          </p:cNvPr>
          <p:cNvSpPr>
            <a:spLocks noChangeArrowheads="1"/>
          </p:cNvSpPr>
          <p:nvPr/>
        </p:nvSpPr>
        <p:spPr bwMode="auto">
          <a:xfrm rot="16200000" flipH="1" flipV="1">
            <a:off x="6051399" y="2011846"/>
            <a:ext cx="198262" cy="216933"/>
          </a:xfrm>
          <a:prstGeom prst="ellipse">
            <a:avLst/>
          </a:prstGeom>
          <a:noFill/>
          <a:ln w="31750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charset="-122"/>
              </a:defRPr>
            </a:lvl9pPr>
          </a:lstStyle>
          <a:p>
            <a:pPr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111" name="Line 10">
            <a:extLst>
              <a:ext uri="{FF2B5EF4-FFF2-40B4-BE49-F238E27FC236}">
                <a16:creationId xmlns:a16="http://schemas.microsoft.com/office/drawing/2014/main" id="{0F375E72-4C30-4EBE-BF5A-D4836D796FFC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6162014" y="2117949"/>
            <a:ext cx="159662" cy="169652"/>
          </a:xfrm>
          <a:prstGeom prst="line">
            <a:avLst/>
          </a:prstGeom>
          <a:noFill/>
          <a:ln w="31750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112" name="Line 11">
            <a:extLst>
              <a:ext uri="{FF2B5EF4-FFF2-40B4-BE49-F238E27FC236}">
                <a16:creationId xmlns:a16="http://schemas.microsoft.com/office/drawing/2014/main" id="{3FD8888A-A1AE-4675-9D66-1C873199D8BC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5988654" y="2122335"/>
            <a:ext cx="159662" cy="169652"/>
          </a:xfrm>
          <a:prstGeom prst="line">
            <a:avLst/>
          </a:prstGeom>
          <a:noFill/>
          <a:ln w="31750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113" name="Line 10">
            <a:extLst>
              <a:ext uri="{FF2B5EF4-FFF2-40B4-BE49-F238E27FC236}">
                <a16:creationId xmlns:a16="http://schemas.microsoft.com/office/drawing/2014/main" id="{2BB98F69-73DE-416E-9707-43C46704A845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989728" y="1853889"/>
            <a:ext cx="334584" cy="2"/>
          </a:xfrm>
          <a:prstGeom prst="line">
            <a:avLst/>
          </a:prstGeom>
          <a:noFill/>
          <a:ln w="31750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0E6B2689-5783-4B61-BE99-A194AD122F1C}"/>
              </a:ext>
            </a:extLst>
          </p:cNvPr>
          <p:cNvGrpSpPr/>
          <p:nvPr/>
        </p:nvGrpSpPr>
        <p:grpSpPr>
          <a:xfrm flipV="1">
            <a:off x="5985389" y="2643517"/>
            <a:ext cx="343012" cy="600394"/>
            <a:chOff x="6077386" y="3393276"/>
            <a:chExt cx="343012" cy="600394"/>
          </a:xfrm>
        </p:grpSpPr>
        <p:sp>
          <p:nvSpPr>
            <p:cNvPr id="115" name="Oval 7">
              <a:extLst>
                <a:ext uri="{FF2B5EF4-FFF2-40B4-BE49-F238E27FC236}">
                  <a16:creationId xmlns:a16="http://schemas.microsoft.com/office/drawing/2014/main" id="{B49EF57E-E9B6-4545-A85A-CE21285DDE5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 flipH="1" flipV="1">
              <a:off x="6145126" y="3718524"/>
              <a:ext cx="198262" cy="216933"/>
            </a:xfrm>
            <a:prstGeom prst="ellipse">
              <a:avLst/>
            </a:prstGeom>
            <a:noFill/>
            <a:ln w="3175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2"/>
                  </a:solidFill>
                  <a:latin typeface="Tahoma" pitchFamily="34" charset="0"/>
                  <a:ea typeface="宋体" charset="-122"/>
                </a:defRPr>
              </a:lvl9pPr>
            </a:lstStyle>
            <a:p>
              <a:pPr eaLnBrk="1" hangingPunct="1"/>
              <a:endParaRPr lang="zh-CN" altLang="en-US">
                <a:latin typeface="+mn-ea"/>
                <a:ea typeface="+mn-ea"/>
              </a:endParaRPr>
            </a:p>
          </p:txBody>
        </p:sp>
        <p:sp>
          <p:nvSpPr>
            <p:cNvPr id="116" name="Line 10">
              <a:extLst>
                <a:ext uri="{FF2B5EF4-FFF2-40B4-BE49-F238E27FC236}">
                  <a16:creationId xmlns:a16="http://schemas.microsoft.com/office/drawing/2014/main" id="{4B5FDE8F-84CC-4525-B13E-6CA50E0792D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6255741" y="3824627"/>
              <a:ext cx="159662" cy="169652"/>
            </a:xfrm>
            <a:prstGeom prst="line">
              <a:avLst/>
            </a:prstGeom>
            <a:noFill/>
            <a:ln w="3175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>
                <a:latin typeface="+mn-ea"/>
              </a:endParaRPr>
            </a:p>
          </p:txBody>
        </p:sp>
        <p:sp>
          <p:nvSpPr>
            <p:cNvPr id="117" name="Line 11">
              <a:extLst>
                <a:ext uri="{FF2B5EF4-FFF2-40B4-BE49-F238E27FC236}">
                  <a16:creationId xmlns:a16="http://schemas.microsoft.com/office/drawing/2014/main" id="{3E3847FB-1928-4A6F-897E-E12CD3DB76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V="1">
              <a:off x="6082381" y="3829013"/>
              <a:ext cx="159662" cy="169652"/>
            </a:xfrm>
            <a:prstGeom prst="line">
              <a:avLst/>
            </a:prstGeom>
            <a:noFill/>
            <a:ln w="3175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>
                <a:latin typeface="+mn-ea"/>
              </a:endParaRPr>
            </a:p>
          </p:txBody>
        </p:sp>
        <p:sp>
          <p:nvSpPr>
            <p:cNvPr id="118" name="Line 10">
              <a:extLst>
                <a:ext uri="{FF2B5EF4-FFF2-40B4-BE49-F238E27FC236}">
                  <a16:creationId xmlns:a16="http://schemas.microsoft.com/office/drawing/2014/main" id="{F34E1382-D8BB-47C4-B31A-1AE6B882E70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 flipV="1">
              <a:off x="6083455" y="3560567"/>
              <a:ext cx="334584" cy="2"/>
            </a:xfrm>
            <a:prstGeom prst="line">
              <a:avLst/>
            </a:prstGeom>
            <a:noFill/>
            <a:ln w="3175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>
                <a:latin typeface="+mn-ea"/>
              </a:endParaRPr>
            </a:p>
          </p:txBody>
        </p:sp>
      </p:grp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23FB3A9C-07B1-419C-904E-C37ADB629D4B}"/>
              </a:ext>
            </a:extLst>
          </p:cNvPr>
          <p:cNvGrpSpPr/>
          <p:nvPr/>
        </p:nvGrpSpPr>
        <p:grpSpPr>
          <a:xfrm>
            <a:off x="5322796" y="2274890"/>
            <a:ext cx="381379" cy="368627"/>
            <a:chOff x="7148937" y="5261303"/>
            <a:chExt cx="803913" cy="777033"/>
          </a:xfrm>
        </p:grpSpPr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0069EA46-A668-4F05-AC87-ECDE874C71D1}"/>
                </a:ext>
              </a:extLst>
            </p:cNvPr>
            <p:cNvSpPr/>
            <p:nvPr/>
          </p:nvSpPr>
          <p:spPr bwMode="auto">
            <a:xfrm>
              <a:off x="7148937" y="526130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121" name="等腰三角形 120">
              <a:extLst>
                <a:ext uri="{FF2B5EF4-FFF2-40B4-BE49-F238E27FC236}">
                  <a16:creationId xmlns:a16="http://schemas.microsoft.com/office/drawing/2014/main" id="{839AEF3B-A311-456C-84EA-C10026665D20}"/>
                </a:ext>
              </a:extLst>
            </p:cNvPr>
            <p:cNvSpPr/>
            <p:nvPr/>
          </p:nvSpPr>
          <p:spPr bwMode="auto">
            <a:xfrm>
              <a:off x="7422367" y="5261303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grpSp>
        <p:nvGrpSpPr>
          <p:cNvPr id="122" name="组合 121">
            <a:extLst>
              <a:ext uri="{FF2B5EF4-FFF2-40B4-BE49-F238E27FC236}">
                <a16:creationId xmlns:a16="http://schemas.microsoft.com/office/drawing/2014/main" id="{39C99842-4E35-483F-923B-C8E1C375984F}"/>
              </a:ext>
            </a:extLst>
          </p:cNvPr>
          <p:cNvGrpSpPr/>
          <p:nvPr/>
        </p:nvGrpSpPr>
        <p:grpSpPr>
          <a:xfrm>
            <a:off x="5088678" y="2357672"/>
            <a:ext cx="254545" cy="183114"/>
            <a:chOff x="1841215" y="2732753"/>
            <a:chExt cx="536987" cy="183114"/>
          </a:xfrm>
        </p:grpSpPr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B6497999-29ED-428C-ABAE-1F639843B53B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36987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5FEC62FA-4F91-4881-A037-017D77FEB1AA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36987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D5EF7066-3987-4102-94C0-A133A1EC204E}"/>
              </a:ext>
            </a:extLst>
          </p:cNvPr>
          <p:cNvCxnSpPr>
            <a:stCxn id="117" idx="0"/>
            <a:endCxn id="112" idx="0"/>
          </p:cNvCxnSpPr>
          <p:nvPr/>
        </p:nvCxnSpPr>
        <p:spPr bwMode="auto">
          <a:xfrm flipH="1" flipV="1">
            <a:off x="6153311" y="2286992"/>
            <a:ext cx="1730" cy="35652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6" name="肘形连接符 29">
            <a:extLst>
              <a:ext uri="{FF2B5EF4-FFF2-40B4-BE49-F238E27FC236}">
                <a16:creationId xmlns:a16="http://schemas.microsoft.com/office/drawing/2014/main" id="{AD06801A-51A9-4800-AAAE-23728763CDD4}"/>
              </a:ext>
            </a:extLst>
          </p:cNvPr>
          <p:cNvCxnSpPr>
            <a:endCxn id="120" idx="0"/>
          </p:cNvCxnSpPr>
          <p:nvPr/>
        </p:nvCxnSpPr>
        <p:spPr bwMode="auto">
          <a:xfrm rot="10800000">
            <a:off x="5513486" y="2274890"/>
            <a:ext cx="637044" cy="165074"/>
          </a:xfrm>
          <a:prstGeom prst="bentConnector4">
            <a:avLst>
              <a:gd name="adj1" fmla="val 51979"/>
              <a:gd name="adj2" fmla="val 238483"/>
            </a:avLst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oval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127" name="Group 12">
            <a:extLst>
              <a:ext uri="{FF2B5EF4-FFF2-40B4-BE49-F238E27FC236}">
                <a16:creationId xmlns:a16="http://schemas.microsoft.com/office/drawing/2014/main" id="{C4267CA2-8EF9-45E3-81E9-1C7CEE60828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378480" y="2828482"/>
            <a:ext cx="256754" cy="47394"/>
            <a:chOff x="677" y="3855"/>
            <a:chExt cx="183" cy="52"/>
          </a:xfrm>
        </p:grpSpPr>
        <p:sp>
          <p:nvSpPr>
            <p:cNvPr id="128" name="Line 13">
              <a:extLst>
                <a:ext uri="{FF2B5EF4-FFF2-40B4-BE49-F238E27FC236}">
                  <a16:creationId xmlns:a16="http://schemas.microsoft.com/office/drawing/2014/main" id="{282E7ED2-375F-4525-BD9C-9D07F7417D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7" y="3907"/>
              <a:ext cx="182" cy="0"/>
            </a:xfrm>
            <a:prstGeom prst="line">
              <a:avLst/>
            </a:prstGeom>
            <a:noFill/>
            <a:ln w="28575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>
                <a:latin typeface="+mn-ea"/>
              </a:endParaRPr>
            </a:p>
          </p:txBody>
        </p:sp>
        <p:sp>
          <p:nvSpPr>
            <p:cNvPr id="129" name="Line 14">
              <a:extLst>
                <a:ext uri="{FF2B5EF4-FFF2-40B4-BE49-F238E27FC236}">
                  <a16:creationId xmlns:a16="http://schemas.microsoft.com/office/drawing/2014/main" id="{00150A90-F1BA-4101-96FE-09A6CEBA37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60" y="3855"/>
              <a:ext cx="0" cy="47"/>
            </a:xfrm>
            <a:prstGeom prst="line">
              <a:avLst/>
            </a:prstGeom>
            <a:noFill/>
            <a:ln w="28575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>
                <a:latin typeface="+mn-ea"/>
              </a:endParaRPr>
            </a:p>
          </p:txBody>
        </p:sp>
        <p:sp>
          <p:nvSpPr>
            <p:cNvPr id="130" name="Line 15">
              <a:extLst>
                <a:ext uri="{FF2B5EF4-FFF2-40B4-BE49-F238E27FC236}">
                  <a16:creationId xmlns:a16="http://schemas.microsoft.com/office/drawing/2014/main" id="{A0D192ED-B5C2-47E4-A9AB-057BF744C2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7" y="3860"/>
              <a:ext cx="0" cy="47"/>
            </a:xfrm>
            <a:prstGeom prst="line">
              <a:avLst/>
            </a:prstGeom>
            <a:noFill/>
            <a:ln w="28575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>
                <a:latin typeface="+mn-ea"/>
              </a:endParaRPr>
            </a:p>
          </p:txBody>
        </p:sp>
      </p:grpSp>
      <p:sp>
        <p:nvSpPr>
          <p:cNvPr id="131" name="Line 13">
            <a:extLst>
              <a:ext uri="{FF2B5EF4-FFF2-40B4-BE49-F238E27FC236}">
                <a16:creationId xmlns:a16="http://schemas.microsoft.com/office/drawing/2014/main" id="{36F56BD4-7541-4FF9-8E74-80785BCE7D9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06857" y="2647903"/>
            <a:ext cx="0" cy="150076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32953747-9966-49AB-9350-6D9CBF45BD66}"/>
              </a:ext>
            </a:extLst>
          </p:cNvPr>
          <p:cNvGrpSpPr/>
          <p:nvPr/>
        </p:nvGrpSpPr>
        <p:grpSpPr>
          <a:xfrm>
            <a:off x="5231979" y="4609777"/>
            <a:ext cx="4054263" cy="986405"/>
            <a:chOff x="6771163" y="5925407"/>
            <a:chExt cx="5133978" cy="1249100"/>
          </a:xfrm>
        </p:grpSpPr>
        <p:grpSp>
          <p:nvGrpSpPr>
            <p:cNvPr id="133" name="组合 132">
              <a:extLst>
                <a:ext uri="{FF2B5EF4-FFF2-40B4-BE49-F238E27FC236}">
                  <a16:creationId xmlns:a16="http://schemas.microsoft.com/office/drawing/2014/main" id="{D2FEAC5D-62F1-422C-AD22-D132F1DC044F}"/>
                </a:ext>
              </a:extLst>
            </p:cNvPr>
            <p:cNvGrpSpPr/>
            <p:nvPr/>
          </p:nvGrpSpPr>
          <p:grpSpPr>
            <a:xfrm>
              <a:off x="8054151" y="6132023"/>
              <a:ext cx="803913" cy="777033"/>
              <a:chOff x="7148937" y="5261303"/>
              <a:chExt cx="803913" cy="777033"/>
            </a:xfrm>
          </p:grpSpPr>
          <p:sp>
            <p:nvSpPr>
              <p:cNvPr id="154" name="椭圆 153">
                <a:extLst>
                  <a:ext uri="{FF2B5EF4-FFF2-40B4-BE49-F238E27FC236}">
                    <a16:creationId xmlns:a16="http://schemas.microsoft.com/office/drawing/2014/main" id="{F5E02BCE-8B7D-4669-BEFD-C810B4928C8B}"/>
                  </a:ext>
                </a:extLst>
              </p:cNvPr>
              <p:cNvSpPr/>
              <p:nvPr/>
            </p:nvSpPr>
            <p:spPr bwMode="auto">
              <a:xfrm>
                <a:off x="7148937" y="5261303"/>
                <a:ext cx="803913" cy="777033"/>
              </a:xfrm>
              <a:prstGeom prst="ellipse">
                <a:avLst/>
              </a:prstGeom>
              <a:noFill/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zh-CN" alt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55" name="等腰三角形 154">
                <a:extLst>
                  <a:ext uri="{FF2B5EF4-FFF2-40B4-BE49-F238E27FC236}">
                    <a16:creationId xmlns:a16="http://schemas.microsoft.com/office/drawing/2014/main" id="{2495F54D-954B-4950-8489-0A6AA9F10FEE}"/>
                  </a:ext>
                </a:extLst>
              </p:cNvPr>
              <p:cNvSpPr/>
              <p:nvPr/>
            </p:nvSpPr>
            <p:spPr bwMode="auto">
              <a:xfrm>
                <a:off x="7422367" y="5261303"/>
                <a:ext cx="229113" cy="197542"/>
              </a:xfrm>
              <a:prstGeom prst="triangle">
                <a:avLst/>
              </a:prstGeom>
              <a:solidFill>
                <a:srgbClr val="7030A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r"/>
                <a:endParaRPr lang="zh-CN" altLang="en-US">
                  <a:latin typeface="+mn-ea"/>
                </a:endParaRPr>
              </a:p>
            </p:txBody>
          </p:sp>
        </p:grpSp>
        <p:cxnSp>
          <p:nvCxnSpPr>
            <p:cNvPr id="134" name="直接连接符 133">
              <a:extLst>
                <a:ext uri="{FF2B5EF4-FFF2-40B4-BE49-F238E27FC236}">
                  <a16:creationId xmlns:a16="http://schemas.microsoft.com/office/drawing/2014/main" id="{FC1624D0-8A1F-4EF0-B9C6-6EAF732B793D}"/>
                </a:ext>
              </a:extLst>
            </p:cNvPr>
            <p:cNvCxnSpPr>
              <a:stCxn id="154" idx="4"/>
            </p:cNvCxnSpPr>
            <p:nvPr/>
          </p:nvCxnSpPr>
          <p:spPr bwMode="auto">
            <a:xfrm>
              <a:off x="8456108" y="6909056"/>
              <a:ext cx="0" cy="26545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552A2926-7AA2-491A-9E33-E7AF63B5DFAC}"/>
                </a:ext>
              </a:extLst>
            </p:cNvPr>
            <p:cNvCxnSpPr/>
            <p:nvPr/>
          </p:nvCxnSpPr>
          <p:spPr bwMode="auto">
            <a:xfrm>
              <a:off x="8456108" y="5925407"/>
              <a:ext cx="0" cy="21797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1017BD56-C03A-4CBD-B115-FFC238E4C071}"/>
                </a:ext>
              </a:extLst>
            </p:cNvPr>
            <p:cNvCxnSpPr/>
            <p:nvPr/>
          </p:nvCxnSpPr>
          <p:spPr bwMode="auto">
            <a:xfrm flipH="1">
              <a:off x="8442140" y="5925407"/>
              <a:ext cx="2214830" cy="0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37" name="直接连接符 136">
              <a:extLst>
                <a:ext uri="{FF2B5EF4-FFF2-40B4-BE49-F238E27FC236}">
                  <a16:creationId xmlns:a16="http://schemas.microsoft.com/office/drawing/2014/main" id="{D97A2A96-A52C-4554-96BF-EF94C7D6226A}"/>
                </a:ext>
              </a:extLst>
            </p:cNvPr>
            <p:cNvCxnSpPr/>
            <p:nvPr/>
          </p:nvCxnSpPr>
          <p:spPr bwMode="auto">
            <a:xfrm flipH="1">
              <a:off x="8456110" y="7174507"/>
              <a:ext cx="2195804" cy="0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38" name="等腰三角形 137">
              <a:extLst>
                <a:ext uri="{FF2B5EF4-FFF2-40B4-BE49-F238E27FC236}">
                  <a16:creationId xmlns:a16="http://schemas.microsoft.com/office/drawing/2014/main" id="{36B3C783-0DBB-492E-B58E-624A359829C0}"/>
                </a:ext>
              </a:extLst>
            </p:cNvPr>
            <p:cNvSpPr/>
            <p:nvPr/>
          </p:nvSpPr>
          <p:spPr bwMode="auto">
            <a:xfrm rot="10800000">
              <a:off x="8341551" y="6711514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  <p:sp>
          <p:nvSpPr>
            <p:cNvPr id="139" name="椭圆 138">
              <a:extLst>
                <a:ext uri="{FF2B5EF4-FFF2-40B4-BE49-F238E27FC236}">
                  <a16:creationId xmlns:a16="http://schemas.microsoft.com/office/drawing/2014/main" id="{46CBF80B-E44B-4898-8BB2-5EFE81D3CEFF}"/>
                </a:ext>
              </a:extLst>
            </p:cNvPr>
            <p:cNvSpPr/>
            <p:nvPr/>
          </p:nvSpPr>
          <p:spPr bwMode="auto">
            <a:xfrm>
              <a:off x="10255013" y="612082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140" name="等腰三角形 139">
              <a:extLst>
                <a:ext uri="{FF2B5EF4-FFF2-40B4-BE49-F238E27FC236}">
                  <a16:creationId xmlns:a16="http://schemas.microsoft.com/office/drawing/2014/main" id="{3059B118-5CC7-40D3-9805-13486619491D}"/>
                </a:ext>
              </a:extLst>
            </p:cNvPr>
            <p:cNvSpPr/>
            <p:nvPr/>
          </p:nvSpPr>
          <p:spPr bwMode="auto">
            <a:xfrm flipV="1">
              <a:off x="10528443" y="6130348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940F0896-1704-43E2-B117-01C96DA5B956}"/>
                </a:ext>
              </a:extLst>
            </p:cNvPr>
            <p:cNvCxnSpPr>
              <a:stCxn id="139" idx="4"/>
            </p:cNvCxnSpPr>
            <p:nvPr/>
          </p:nvCxnSpPr>
          <p:spPr bwMode="auto">
            <a:xfrm>
              <a:off x="10656970" y="6897856"/>
              <a:ext cx="0" cy="27665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6CAC740F-BF91-48B0-B709-B6AC130FFA91}"/>
                </a:ext>
              </a:extLst>
            </p:cNvPr>
            <p:cNvCxnSpPr/>
            <p:nvPr/>
          </p:nvCxnSpPr>
          <p:spPr bwMode="auto">
            <a:xfrm>
              <a:off x="10656970" y="5925407"/>
              <a:ext cx="0" cy="20677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43" name="等腰三角形 142">
              <a:extLst>
                <a:ext uri="{FF2B5EF4-FFF2-40B4-BE49-F238E27FC236}">
                  <a16:creationId xmlns:a16="http://schemas.microsoft.com/office/drawing/2014/main" id="{8659F7CC-BBBD-4934-9296-14C9D54033D3}"/>
                </a:ext>
              </a:extLst>
            </p:cNvPr>
            <p:cNvSpPr/>
            <p:nvPr/>
          </p:nvSpPr>
          <p:spPr bwMode="auto">
            <a:xfrm rot="10800000" flipV="1">
              <a:off x="10542413" y="6685628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  <p:cxnSp>
          <p:nvCxnSpPr>
            <p:cNvPr id="144" name="直接箭头连接符 143">
              <a:extLst>
                <a:ext uri="{FF2B5EF4-FFF2-40B4-BE49-F238E27FC236}">
                  <a16:creationId xmlns:a16="http://schemas.microsoft.com/office/drawing/2014/main" id="{85A7B8E7-7D9F-4908-BE54-EB6F97140814}"/>
                </a:ext>
              </a:extLst>
            </p:cNvPr>
            <p:cNvCxnSpPr/>
            <p:nvPr/>
          </p:nvCxnSpPr>
          <p:spPr bwMode="auto">
            <a:xfrm flipV="1">
              <a:off x="10046908" y="6143378"/>
              <a:ext cx="1135362" cy="73517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145" name="组合 144">
              <a:extLst>
                <a:ext uri="{FF2B5EF4-FFF2-40B4-BE49-F238E27FC236}">
                  <a16:creationId xmlns:a16="http://schemas.microsoft.com/office/drawing/2014/main" id="{9261EFC9-7D4D-4E43-8E71-FD392B77C730}"/>
                </a:ext>
              </a:extLst>
            </p:cNvPr>
            <p:cNvGrpSpPr/>
            <p:nvPr/>
          </p:nvGrpSpPr>
          <p:grpSpPr>
            <a:xfrm>
              <a:off x="7567457" y="6406709"/>
              <a:ext cx="509090" cy="183114"/>
              <a:chOff x="1841215" y="2732753"/>
              <a:chExt cx="536987" cy="183114"/>
            </a:xfrm>
          </p:grpSpPr>
          <p:cxnSp>
            <p:nvCxnSpPr>
              <p:cNvPr id="152" name="直接连接符 151">
                <a:extLst>
                  <a:ext uri="{FF2B5EF4-FFF2-40B4-BE49-F238E27FC236}">
                    <a16:creationId xmlns:a16="http://schemas.microsoft.com/office/drawing/2014/main" id="{749278CD-4547-4A2F-BC04-27B9C3018953}"/>
                  </a:ext>
                </a:extLst>
              </p:cNvPr>
              <p:cNvCxnSpPr/>
              <p:nvPr/>
            </p:nvCxnSpPr>
            <p:spPr bwMode="auto">
              <a:xfrm>
                <a:off x="1841215" y="2732753"/>
                <a:ext cx="536987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53" name="直接连接符 152">
                <a:extLst>
                  <a:ext uri="{FF2B5EF4-FFF2-40B4-BE49-F238E27FC236}">
                    <a16:creationId xmlns:a16="http://schemas.microsoft.com/office/drawing/2014/main" id="{CC4C45FD-CE94-433E-97F5-8FF7B31C2212}"/>
                  </a:ext>
                </a:extLst>
              </p:cNvPr>
              <p:cNvCxnSpPr/>
              <p:nvPr/>
            </p:nvCxnSpPr>
            <p:spPr bwMode="auto">
              <a:xfrm>
                <a:off x="1841215" y="2915867"/>
                <a:ext cx="513365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146" name="椭圆 145">
              <a:extLst>
                <a:ext uri="{FF2B5EF4-FFF2-40B4-BE49-F238E27FC236}">
                  <a16:creationId xmlns:a16="http://schemas.microsoft.com/office/drawing/2014/main" id="{3568D684-76B4-4748-9068-E41C1D179E58}"/>
                </a:ext>
              </a:extLst>
            </p:cNvPr>
            <p:cNvSpPr/>
            <p:nvPr/>
          </p:nvSpPr>
          <p:spPr bwMode="auto">
            <a:xfrm>
              <a:off x="6771163" y="6101756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  <a:cs typeface="Times New Roman" panose="02020603050405020304" pitchFamily="18" charset="0"/>
                </a:rPr>
                <a:t>M</a:t>
              </a:r>
              <a:endParaRPr kumimoji="0" lang="zh-CN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endParaRPr>
            </a:p>
          </p:txBody>
        </p:sp>
        <p:grpSp>
          <p:nvGrpSpPr>
            <p:cNvPr id="147" name="组合 146">
              <a:extLst>
                <a:ext uri="{FF2B5EF4-FFF2-40B4-BE49-F238E27FC236}">
                  <a16:creationId xmlns:a16="http://schemas.microsoft.com/office/drawing/2014/main" id="{1BC395BB-3149-4669-9404-752CC06F2936}"/>
                </a:ext>
              </a:extLst>
            </p:cNvPr>
            <p:cNvGrpSpPr/>
            <p:nvPr/>
          </p:nvGrpSpPr>
          <p:grpSpPr>
            <a:xfrm>
              <a:off x="11058926" y="6417782"/>
              <a:ext cx="513365" cy="183114"/>
              <a:chOff x="1841215" y="2732753"/>
              <a:chExt cx="513365" cy="183114"/>
            </a:xfrm>
          </p:grpSpPr>
          <p:cxnSp>
            <p:nvCxnSpPr>
              <p:cNvPr id="150" name="直接连接符 149">
                <a:extLst>
                  <a:ext uri="{FF2B5EF4-FFF2-40B4-BE49-F238E27FC236}">
                    <a16:creationId xmlns:a16="http://schemas.microsoft.com/office/drawing/2014/main" id="{6BD14FDB-62CA-4834-98A0-AD24D173A2ED}"/>
                  </a:ext>
                </a:extLst>
              </p:cNvPr>
              <p:cNvCxnSpPr/>
              <p:nvPr/>
            </p:nvCxnSpPr>
            <p:spPr bwMode="auto">
              <a:xfrm>
                <a:off x="1841215" y="2732753"/>
                <a:ext cx="513365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51" name="直接连接符 150">
                <a:extLst>
                  <a:ext uri="{FF2B5EF4-FFF2-40B4-BE49-F238E27FC236}">
                    <a16:creationId xmlns:a16="http://schemas.microsoft.com/office/drawing/2014/main" id="{CB91CAE7-86A8-46C4-8980-E32850B2CAF8}"/>
                  </a:ext>
                </a:extLst>
              </p:cNvPr>
              <p:cNvCxnSpPr/>
              <p:nvPr/>
            </p:nvCxnSpPr>
            <p:spPr bwMode="auto">
              <a:xfrm>
                <a:off x="1841215" y="2915867"/>
                <a:ext cx="513365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F79DA481-10D9-4F5A-B0A8-FE4756357B5B}"/>
                </a:ext>
              </a:extLst>
            </p:cNvPr>
            <p:cNvSpPr/>
            <p:nvPr/>
          </p:nvSpPr>
          <p:spPr bwMode="auto">
            <a:xfrm>
              <a:off x="11572291" y="6207359"/>
              <a:ext cx="332850" cy="592479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149" name="弧形 148">
              <a:extLst>
                <a:ext uri="{FF2B5EF4-FFF2-40B4-BE49-F238E27FC236}">
                  <a16:creationId xmlns:a16="http://schemas.microsoft.com/office/drawing/2014/main" id="{484D85FB-C146-4266-9B46-7C3869216AF5}"/>
                </a:ext>
              </a:extLst>
            </p:cNvPr>
            <p:cNvSpPr/>
            <p:nvPr/>
          </p:nvSpPr>
          <p:spPr bwMode="auto">
            <a:xfrm>
              <a:off x="11076586" y="6231948"/>
              <a:ext cx="330470" cy="523893"/>
            </a:xfrm>
            <a:prstGeom prst="arc">
              <a:avLst>
                <a:gd name="adj1" fmla="val 16200000"/>
                <a:gd name="adj2" fmla="val 5388051"/>
              </a:avLst>
            </a:prstGeom>
            <a:noFill/>
            <a:ln w="254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</p:grpSp>
      <p:grpSp>
        <p:nvGrpSpPr>
          <p:cNvPr id="156" name="组合 155">
            <a:extLst>
              <a:ext uri="{FF2B5EF4-FFF2-40B4-BE49-F238E27FC236}">
                <a16:creationId xmlns:a16="http://schemas.microsoft.com/office/drawing/2014/main" id="{FEC12E58-795C-4462-A638-2942C28B10DF}"/>
              </a:ext>
            </a:extLst>
          </p:cNvPr>
          <p:cNvGrpSpPr/>
          <p:nvPr/>
        </p:nvGrpSpPr>
        <p:grpSpPr>
          <a:xfrm>
            <a:off x="5221254" y="3471476"/>
            <a:ext cx="4054263" cy="986405"/>
            <a:chOff x="6771163" y="5925407"/>
            <a:chExt cx="5133978" cy="1249100"/>
          </a:xfrm>
        </p:grpSpPr>
        <p:grpSp>
          <p:nvGrpSpPr>
            <p:cNvPr id="157" name="组合 156">
              <a:extLst>
                <a:ext uri="{FF2B5EF4-FFF2-40B4-BE49-F238E27FC236}">
                  <a16:creationId xmlns:a16="http://schemas.microsoft.com/office/drawing/2014/main" id="{D5322FB9-2C1E-4872-B38C-B9780DA90CE0}"/>
                </a:ext>
              </a:extLst>
            </p:cNvPr>
            <p:cNvGrpSpPr/>
            <p:nvPr/>
          </p:nvGrpSpPr>
          <p:grpSpPr>
            <a:xfrm>
              <a:off x="8054151" y="6132023"/>
              <a:ext cx="803913" cy="777033"/>
              <a:chOff x="7148937" y="5261303"/>
              <a:chExt cx="803913" cy="777033"/>
            </a:xfrm>
          </p:grpSpPr>
          <p:sp>
            <p:nvSpPr>
              <p:cNvPr id="178" name="椭圆 177">
                <a:extLst>
                  <a:ext uri="{FF2B5EF4-FFF2-40B4-BE49-F238E27FC236}">
                    <a16:creationId xmlns:a16="http://schemas.microsoft.com/office/drawing/2014/main" id="{0FCB8016-0F24-4E0C-9560-CB70A1BB4CDB}"/>
                  </a:ext>
                </a:extLst>
              </p:cNvPr>
              <p:cNvSpPr/>
              <p:nvPr/>
            </p:nvSpPr>
            <p:spPr bwMode="auto">
              <a:xfrm>
                <a:off x="7148937" y="5261303"/>
                <a:ext cx="803913" cy="777033"/>
              </a:xfrm>
              <a:prstGeom prst="ellipse">
                <a:avLst/>
              </a:prstGeom>
              <a:noFill/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zh-CN" alt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79" name="等腰三角形 178">
                <a:extLst>
                  <a:ext uri="{FF2B5EF4-FFF2-40B4-BE49-F238E27FC236}">
                    <a16:creationId xmlns:a16="http://schemas.microsoft.com/office/drawing/2014/main" id="{72B7633B-925C-4D19-A9EB-498CDC2DA123}"/>
                  </a:ext>
                </a:extLst>
              </p:cNvPr>
              <p:cNvSpPr/>
              <p:nvPr/>
            </p:nvSpPr>
            <p:spPr bwMode="auto">
              <a:xfrm>
                <a:off x="7422367" y="5261303"/>
                <a:ext cx="229113" cy="197542"/>
              </a:xfrm>
              <a:prstGeom prst="triangle">
                <a:avLst/>
              </a:prstGeom>
              <a:solidFill>
                <a:srgbClr val="7030A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r"/>
                <a:endParaRPr lang="zh-CN" altLang="en-US">
                  <a:latin typeface="+mn-ea"/>
                </a:endParaRPr>
              </a:p>
            </p:txBody>
          </p:sp>
        </p:grpSp>
        <p:cxnSp>
          <p:nvCxnSpPr>
            <p:cNvPr id="158" name="直接连接符 157">
              <a:extLst>
                <a:ext uri="{FF2B5EF4-FFF2-40B4-BE49-F238E27FC236}">
                  <a16:creationId xmlns:a16="http://schemas.microsoft.com/office/drawing/2014/main" id="{2E72FC2E-4499-4E4A-9F56-0294F1F83EF1}"/>
                </a:ext>
              </a:extLst>
            </p:cNvPr>
            <p:cNvCxnSpPr>
              <a:stCxn id="178" idx="4"/>
            </p:cNvCxnSpPr>
            <p:nvPr/>
          </p:nvCxnSpPr>
          <p:spPr bwMode="auto">
            <a:xfrm>
              <a:off x="8456108" y="6909056"/>
              <a:ext cx="0" cy="26545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59" name="直接连接符 158">
              <a:extLst>
                <a:ext uri="{FF2B5EF4-FFF2-40B4-BE49-F238E27FC236}">
                  <a16:creationId xmlns:a16="http://schemas.microsoft.com/office/drawing/2014/main" id="{3860C163-6297-4755-AC1D-65605AA34480}"/>
                </a:ext>
              </a:extLst>
            </p:cNvPr>
            <p:cNvCxnSpPr/>
            <p:nvPr/>
          </p:nvCxnSpPr>
          <p:spPr bwMode="auto">
            <a:xfrm>
              <a:off x="8456108" y="5925407"/>
              <a:ext cx="0" cy="21797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60" name="直接连接符 159">
              <a:extLst>
                <a:ext uri="{FF2B5EF4-FFF2-40B4-BE49-F238E27FC236}">
                  <a16:creationId xmlns:a16="http://schemas.microsoft.com/office/drawing/2014/main" id="{64ECF774-FDC9-4C37-8893-1310D2CCF4A2}"/>
                </a:ext>
              </a:extLst>
            </p:cNvPr>
            <p:cNvCxnSpPr/>
            <p:nvPr/>
          </p:nvCxnSpPr>
          <p:spPr bwMode="auto">
            <a:xfrm flipH="1">
              <a:off x="8442140" y="5925407"/>
              <a:ext cx="2214830" cy="0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349ABB23-93A0-40A1-A30E-55A87F48DD08}"/>
                </a:ext>
              </a:extLst>
            </p:cNvPr>
            <p:cNvCxnSpPr/>
            <p:nvPr/>
          </p:nvCxnSpPr>
          <p:spPr bwMode="auto">
            <a:xfrm flipH="1">
              <a:off x="8456110" y="7174507"/>
              <a:ext cx="2195804" cy="0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62" name="等腰三角形 161">
              <a:extLst>
                <a:ext uri="{FF2B5EF4-FFF2-40B4-BE49-F238E27FC236}">
                  <a16:creationId xmlns:a16="http://schemas.microsoft.com/office/drawing/2014/main" id="{5FA1088F-A71C-451F-8A73-395A6920E66D}"/>
                </a:ext>
              </a:extLst>
            </p:cNvPr>
            <p:cNvSpPr/>
            <p:nvPr/>
          </p:nvSpPr>
          <p:spPr bwMode="auto">
            <a:xfrm rot="10800000">
              <a:off x="8341551" y="6711514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  <p:sp>
          <p:nvSpPr>
            <p:cNvPr id="163" name="椭圆 162">
              <a:extLst>
                <a:ext uri="{FF2B5EF4-FFF2-40B4-BE49-F238E27FC236}">
                  <a16:creationId xmlns:a16="http://schemas.microsoft.com/office/drawing/2014/main" id="{F9BF7C8A-8E78-45E8-A4B6-9A589AC37043}"/>
                </a:ext>
              </a:extLst>
            </p:cNvPr>
            <p:cNvSpPr/>
            <p:nvPr/>
          </p:nvSpPr>
          <p:spPr bwMode="auto">
            <a:xfrm>
              <a:off x="10255013" y="612082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164" name="等腰三角形 163">
              <a:extLst>
                <a:ext uri="{FF2B5EF4-FFF2-40B4-BE49-F238E27FC236}">
                  <a16:creationId xmlns:a16="http://schemas.microsoft.com/office/drawing/2014/main" id="{7E6629AD-270A-47C5-8354-9CFF18EB37A0}"/>
                </a:ext>
              </a:extLst>
            </p:cNvPr>
            <p:cNvSpPr/>
            <p:nvPr/>
          </p:nvSpPr>
          <p:spPr bwMode="auto">
            <a:xfrm flipV="1">
              <a:off x="10528443" y="6130348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  <p:cxnSp>
          <p:nvCxnSpPr>
            <p:cNvPr id="165" name="直接连接符 164">
              <a:extLst>
                <a:ext uri="{FF2B5EF4-FFF2-40B4-BE49-F238E27FC236}">
                  <a16:creationId xmlns:a16="http://schemas.microsoft.com/office/drawing/2014/main" id="{96B394B0-3501-4304-973C-78D967B06194}"/>
                </a:ext>
              </a:extLst>
            </p:cNvPr>
            <p:cNvCxnSpPr>
              <a:stCxn id="163" idx="4"/>
            </p:cNvCxnSpPr>
            <p:nvPr/>
          </p:nvCxnSpPr>
          <p:spPr bwMode="auto">
            <a:xfrm>
              <a:off x="10656970" y="6897856"/>
              <a:ext cx="0" cy="27665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66" name="直接连接符 165">
              <a:extLst>
                <a:ext uri="{FF2B5EF4-FFF2-40B4-BE49-F238E27FC236}">
                  <a16:creationId xmlns:a16="http://schemas.microsoft.com/office/drawing/2014/main" id="{36663760-37ED-4B13-964D-FC76FD2155BE}"/>
                </a:ext>
              </a:extLst>
            </p:cNvPr>
            <p:cNvCxnSpPr/>
            <p:nvPr/>
          </p:nvCxnSpPr>
          <p:spPr bwMode="auto">
            <a:xfrm>
              <a:off x="10656970" y="5925407"/>
              <a:ext cx="0" cy="206771"/>
            </a:xfrm>
            <a:prstGeom prst="line">
              <a:avLst/>
            </a:prstGeom>
            <a:solidFill>
              <a:schemeClr val="accent1"/>
            </a:solidFill>
            <a:ln w="317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67" name="等腰三角形 166">
              <a:extLst>
                <a:ext uri="{FF2B5EF4-FFF2-40B4-BE49-F238E27FC236}">
                  <a16:creationId xmlns:a16="http://schemas.microsoft.com/office/drawing/2014/main" id="{AE04D34E-1ECE-4CD2-96FE-27AC46B6750F}"/>
                </a:ext>
              </a:extLst>
            </p:cNvPr>
            <p:cNvSpPr/>
            <p:nvPr/>
          </p:nvSpPr>
          <p:spPr bwMode="auto">
            <a:xfrm rot="10800000" flipV="1">
              <a:off x="10542413" y="6685628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  <p:cxnSp>
          <p:nvCxnSpPr>
            <p:cNvPr id="168" name="直接箭头连接符 167">
              <a:extLst>
                <a:ext uri="{FF2B5EF4-FFF2-40B4-BE49-F238E27FC236}">
                  <a16:creationId xmlns:a16="http://schemas.microsoft.com/office/drawing/2014/main" id="{F1E52751-9287-4C98-B38E-1D04F5638E93}"/>
                </a:ext>
              </a:extLst>
            </p:cNvPr>
            <p:cNvCxnSpPr/>
            <p:nvPr/>
          </p:nvCxnSpPr>
          <p:spPr bwMode="auto">
            <a:xfrm flipV="1">
              <a:off x="7871316" y="6143378"/>
              <a:ext cx="1135363" cy="73517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C1E305B-D942-49AD-8525-71830A117C38}"/>
                </a:ext>
              </a:extLst>
            </p:cNvPr>
            <p:cNvGrpSpPr/>
            <p:nvPr/>
          </p:nvGrpSpPr>
          <p:grpSpPr>
            <a:xfrm>
              <a:off x="7567457" y="6406709"/>
              <a:ext cx="509090" cy="183114"/>
              <a:chOff x="1841215" y="2732753"/>
              <a:chExt cx="536987" cy="183114"/>
            </a:xfrm>
          </p:grpSpPr>
          <p:cxnSp>
            <p:nvCxnSpPr>
              <p:cNvPr id="176" name="直接连接符 175">
                <a:extLst>
                  <a:ext uri="{FF2B5EF4-FFF2-40B4-BE49-F238E27FC236}">
                    <a16:creationId xmlns:a16="http://schemas.microsoft.com/office/drawing/2014/main" id="{A9782651-4E5A-4059-97DB-B882AAEED7F6}"/>
                  </a:ext>
                </a:extLst>
              </p:cNvPr>
              <p:cNvCxnSpPr/>
              <p:nvPr/>
            </p:nvCxnSpPr>
            <p:spPr bwMode="auto">
              <a:xfrm>
                <a:off x="1841215" y="2732753"/>
                <a:ext cx="536987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77" name="直接连接符 176">
                <a:extLst>
                  <a:ext uri="{FF2B5EF4-FFF2-40B4-BE49-F238E27FC236}">
                    <a16:creationId xmlns:a16="http://schemas.microsoft.com/office/drawing/2014/main" id="{F4FE3DA4-319D-44D4-869C-261C488181C7}"/>
                  </a:ext>
                </a:extLst>
              </p:cNvPr>
              <p:cNvCxnSpPr/>
              <p:nvPr/>
            </p:nvCxnSpPr>
            <p:spPr bwMode="auto">
              <a:xfrm>
                <a:off x="1841215" y="2915867"/>
                <a:ext cx="513365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170" name="椭圆 169">
              <a:extLst>
                <a:ext uri="{FF2B5EF4-FFF2-40B4-BE49-F238E27FC236}">
                  <a16:creationId xmlns:a16="http://schemas.microsoft.com/office/drawing/2014/main" id="{63BB81E6-C236-4659-A4A2-1D89F637F45E}"/>
                </a:ext>
              </a:extLst>
            </p:cNvPr>
            <p:cNvSpPr/>
            <p:nvPr/>
          </p:nvSpPr>
          <p:spPr bwMode="auto">
            <a:xfrm>
              <a:off x="6771163" y="6101756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  <a:cs typeface="Times New Roman" panose="02020603050405020304" pitchFamily="18" charset="0"/>
                </a:rPr>
                <a:t>M</a:t>
              </a:r>
              <a:endParaRPr kumimoji="0" lang="zh-CN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7BA12AD5-A912-4972-982F-614A3A4267ED}"/>
                </a:ext>
              </a:extLst>
            </p:cNvPr>
            <p:cNvGrpSpPr/>
            <p:nvPr/>
          </p:nvGrpSpPr>
          <p:grpSpPr>
            <a:xfrm>
              <a:off x="11058926" y="6417782"/>
              <a:ext cx="513365" cy="183114"/>
              <a:chOff x="1841215" y="2732753"/>
              <a:chExt cx="513365" cy="183114"/>
            </a:xfrm>
          </p:grpSpPr>
          <p:cxnSp>
            <p:nvCxnSpPr>
              <p:cNvPr id="174" name="直接连接符 173">
                <a:extLst>
                  <a:ext uri="{FF2B5EF4-FFF2-40B4-BE49-F238E27FC236}">
                    <a16:creationId xmlns:a16="http://schemas.microsoft.com/office/drawing/2014/main" id="{AD980A06-1939-4C59-A337-39310DD82E29}"/>
                  </a:ext>
                </a:extLst>
              </p:cNvPr>
              <p:cNvCxnSpPr/>
              <p:nvPr/>
            </p:nvCxnSpPr>
            <p:spPr bwMode="auto">
              <a:xfrm>
                <a:off x="1841215" y="2732753"/>
                <a:ext cx="513365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75" name="直接连接符 174">
                <a:extLst>
                  <a:ext uri="{FF2B5EF4-FFF2-40B4-BE49-F238E27FC236}">
                    <a16:creationId xmlns:a16="http://schemas.microsoft.com/office/drawing/2014/main" id="{E8BDCDF3-19D1-4F63-AB6A-BD39A86ABC1B}"/>
                  </a:ext>
                </a:extLst>
              </p:cNvPr>
              <p:cNvCxnSpPr/>
              <p:nvPr/>
            </p:nvCxnSpPr>
            <p:spPr bwMode="auto">
              <a:xfrm>
                <a:off x="1841215" y="2915867"/>
                <a:ext cx="513365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7AA33891-DA8B-4B7B-A153-77D898F5D223}"/>
                </a:ext>
              </a:extLst>
            </p:cNvPr>
            <p:cNvSpPr/>
            <p:nvPr/>
          </p:nvSpPr>
          <p:spPr bwMode="auto">
            <a:xfrm>
              <a:off x="11572291" y="6207359"/>
              <a:ext cx="332850" cy="592479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173" name="弧形 172">
              <a:extLst>
                <a:ext uri="{FF2B5EF4-FFF2-40B4-BE49-F238E27FC236}">
                  <a16:creationId xmlns:a16="http://schemas.microsoft.com/office/drawing/2014/main" id="{AE716BB1-5EF3-4EE8-B710-353C2B3EDC8A}"/>
                </a:ext>
              </a:extLst>
            </p:cNvPr>
            <p:cNvSpPr/>
            <p:nvPr/>
          </p:nvSpPr>
          <p:spPr bwMode="auto">
            <a:xfrm>
              <a:off x="11076586" y="6231948"/>
              <a:ext cx="330470" cy="523893"/>
            </a:xfrm>
            <a:prstGeom prst="arc">
              <a:avLst>
                <a:gd name="adj1" fmla="val 16200000"/>
                <a:gd name="adj2" fmla="val 5388051"/>
              </a:avLst>
            </a:prstGeom>
            <a:noFill/>
            <a:ln w="254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</p:grpSp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E3DCF876-F64C-40F1-BB41-8704F2F839B3}"/>
              </a:ext>
            </a:extLst>
          </p:cNvPr>
          <p:cNvGrpSpPr/>
          <p:nvPr/>
        </p:nvGrpSpPr>
        <p:grpSpPr>
          <a:xfrm>
            <a:off x="5231979" y="5794921"/>
            <a:ext cx="4054263" cy="986405"/>
            <a:chOff x="3669347" y="5719421"/>
            <a:chExt cx="4054263" cy="986405"/>
          </a:xfrm>
        </p:grpSpPr>
        <p:grpSp>
          <p:nvGrpSpPr>
            <p:cNvPr id="181" name="组合 180">
              <a:extLst>
                <a:ext uri="{FF2B5EF4-FFF2-40B4-BE49-F238E27FC236}">
                  <a16:creationId xmlns:a16="http://schemas.microsoft.com/office/drawing/2014/main" id="{29740E11-789D-4FCD-9FCE-D793D5F4DB81}"/>
                </a:ext>
              </a:extLst>
            </p:cNvPr>
            <p:cNvGrpSpPr/>
            <p:nvPr/>
          </p:nvGrpSpPr>
          <p:grpSpPr>
            <a:xfrm>
              <a:off x="3669347" y="5719421"/>
              <a:ext cx="4054263" cy="986405"/>
              <a:chOff x="6771163" y="5925407"/>
              <a:chExt cx="5133978" cy="1249100"/>
            </a:xfrm>
          </p:grpSpPr>
          <p:grpSp>
            <p:nvGrpSpPr>
              <p:cNvPr id="183" name="组合 182">
                <a:extLst>
                  <a:ext uri="{FF2B5EF4-FFF2-40B4-BE49-F238E27FC236}">
                    <a16:creationId xmlns:a16="http://schemas.microsoft.com/office/drawing/2014/main" id="{5D8A7BB1-2E3D-4939-8D4F-B43E4BB92BC1}"/>
                  </a:ext>
                </a:extLst>
              </p:cNvPr>
              <p:cNvGrpSpPr/>
              <p:nvPr/>
            </p:nvGrpSpPr>
            <p:grpSpPr>
              <a:xfrm>
                <a:off x="8054151" y="6132023"/>
                <a:ext cx="803913" cy="777033"/>
                <a:chOff x="7148937" y="5261303"/>
                <a:chExt cx="803913" cy="777033"/>
              </a:xfrm>
            </p:grpSpPr>
            <p:sp>
              <p:nvSpPr>
                <p:cNvPr id="204" name="椭圆 203">
                  <a:extLst>
                    <a:ext uri="{FF2B5EF4-FFF2-40B4-BE49-F238E27FC236}">
                      <a16:creationId xmlns:a16="http://schemas.microsoft.com/office/drawing/2014/main" id="{1ABC464E-3590-46E5-8F26-74CC4BF39DDA}"/>
                    </a:ext>
                  </a:extLst>
                </p:cNvPr>
                <p:cNvSpPr/>
                <p:nvPr/>
              </p:nvSpPr>
              <p:spPr bwMode="auto">
                <a:xfrm>
                  <a:off x="7148937" y="5261303"/>
                  <a:ext cx="803913" cy="77703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zh-CN" alt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+mn-ea"/>
                  </a:endParaRPr>
                </a:p>
              </p:txBody>
            </p:sp>
            <p:sp>
              <p:nvSpPr>
                <p:cNvPr id="205" name="等腰三角形 204">
                  <a:extLst>
                    <a:ext uri="{FF2B5EF4-FFF2-40B4-BE49-F238E27FC236}">
                      <a16:creationId xmlns:a16="http://schemas.microsoft.com/office/drawing/2014/main" id="{CB54EDE3-B411-4A2D-A880-38CDCCBFFF86}"/>
                    </a:ext>
                  </a:extLst>
                </p:cNvPr>
                <p:cNvSpPr/>
                <p:nvPr/>
              </p:nvSpPr>
              <p:spPr bwMode="auto">
                <a:xfrm>
                  <a:off x="7422367" y="5261303"/>
                  <a:ext cx="229113" cy="197542"/>
                </a:xfrm>
                <a:prstGeom prst="triangle">
                  <a:avLst/>
                </a:prstGeom>
                <a:solidFill>
                  <a:srgbClr val="7030A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r"/>
                  <a:endParaRPr lang="zh-CN" altLang="en-US">
                    <a:latin typeface="+mn-ea"/>
                  </a:endParaRPr>
                </a:p>
              </p:txBody>
            </p:sp>
          </p:grpSp>
          <p:cxnSp>
            <p:nvCxnSpPr>
              <p:cNvPr id="184" name="直接连接符 183">
                <a:extLst>
                  <a:ext uri="{FF2B5EF4-FFF2-40B4-BE49-F238E27FC236}">
                    <a16:creationId xmlns:a16="http://schemas.microsoft.com/office/drawing/2014/main" id="{5624AFCA-577C-4D21-BFCE-0216698B9FAA}"/>
                  </a:ext>
                </a:extLst>
              </p:cNvPr>
              <p:cNvCxnSpPr>
                <a:stCxn id="204" idx="4"/>
              </p:cNvCxnSpPr>
              <p:nvPr/>
            </p:nvCxnSpPr>
            <p:spPr bwMode="auto">
              <a:xfrm>
                <a:off x="8456108" y="6909056"/>
                <a:ext cx="0" cy="265451"/>
              </a:xfrm>
              <a:prstGeom prst="line">
                <a:avLst/>
              </a:prstGeom>
              <a:solidFill>
                <a:schemeClr val="accent1"/>
              </a:solidFill>
              <a:ln w="317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85" name="直接连接符 184">
                <a:extLst>
                  <a:ext uri="{FF2B5EF4-FFF2-40B4-BE49-F238E27FC236}">
                    <a16:creationId xmlns:a16="http://schemas.microsoft.com/office/drawing/2014/main" id="{D8484CF7-AF91-4681-9418-7FF16E68C0D7}"/>
                  </a:ext>
                </a:extLst>
              </p:cNvPr>
              <p:cNvCxnSpPr/>
              <p:nvPr/>
            </p:nvCxnSpPr>
            <p:spPr bwMode="auto">
              <a:xfrm>
                <a:off x="8456108" y="5925407"/>
                <a:ext cx="0" cy="217971"/>
              </a:xfrm>
              <a:prstGeom prst="line">
                <a:avLst/>
              </a:prstGeom>
              <a:solidFill>
                <a:schemeClr val="accent1"/>
              </a:solidFill>
              <a:ln w="317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86" name="直接连接符 185">
                <a:extLst>
                  <a:ext uri="{FF2B5EF4-FFF2-40B4-BE49-F238E27FC236}">
                    <a16:creationId xmlns:a16="http://schemas.microsoft.com/office/drawing/2014/main" id="{75470449-85E9-4B15-9B33-F01A6D0CE832}"/>
                  </a:ext>
                </a:extLst>
              </p:cNvPr>
              <p:cNvCxnSpPr/>
              <p:nvPr/>
            </p:nvCxnSpPr>
            <p:spPr bwMode="auto">
              <a:xfrm flipH="1">
                <a:off x="8442140" y="5925407"/>
                <a:ext cx="2214830" cy="0"/>
              </a:xfrm>
              <a:prstGeom prst="line">
                <a:avLst/>
              </a:prstGeom>
              <a:solidFill>
                <a:schemeClr val="accent1"/>
              </a:solidFill>
              <a:ln w="317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87" name="直接连接符 186">
                <a:extLst>
                  <a:ext uri="{FF2B5EF4-FFF2-40B4-BE49-F238E27FC236}">
                    <a16:creationId xmlns:a16="http://schemas.microsoft.com/office/drawing/2014/main" id="{0EF4AC8E-C1BA-4E9B-9623-65EE13F7FAB9}"/>
                  </a:ext>
                </a:extLst>
              </p:cNvPr>
              <p:cNvCxnSpPr/>
              <p:nvPr/>
            </p:nvCxnSpPr>
            <p:spPr bwMode="auto">
              <a:xfrm flipH="1">
                <a:off x="8456110" y="7174507"/>
                <a:ext cx="2195804" cy="0"/>
              </a:xfrm>
              <a:prstGeom prst="line">
                <a:avLst/>
              </a:prstGeom>
              <a:solidFill>
                <a:schemeClr val="accent1"/>
              </a:solidFill>
              <a:ln w="317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188" name="等腰三角形 187">
                <a:extLst>
                  <a:ext uri="{FF2B5EF4-FFF2-40B4-BE49-F238E27FC236}">
                    <a16:creationId xmlns:a16="http://schemas.microsoft.com/office/drawing/2014/main" id="{B6E2FEFA-77B3-4C41-BBE6-A2E63F7D2462}"/>
                  </a:ext>
                </a:extLst>
              </p:cNvPr>
              <p:cNvSpPr/>
              <p:nvPr/>
            </p:nvSpPr>
            <p:spPr bwMode="auto">
              <a:xfrm rot="10800000">
                <a:off x="8341551" y="6711514"/>
                <a:ext cx="229113" cy="197542"/>
              </a:xfrm>
              <a:prstGeom prst="triangle">
                <a:avLst/>
              </a:prstGeom>
              <a:solidFill>
                <a:srgbClr val="7030A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r"/>
                <a:endParaRPr lang="zh-CN" altLang="en-US">
                  <a:latin typeface="+mn-ea"/>
                </a:endParaRPr>
              </a:p>
            </p:txBody>
          </p:sp>
          <p:sp>
            <p:nvSpPr>
              <p:cNvPr id="189" name="椭圆 188">
                <a:extLst>
                  <a:ext uri="{FF2B5EF4-FFF2-40B4-BE49-F238E27FC236}">
                    <a16:creationId xmlns:a16="http://schemas.microsoft.com/office/drawing/2014/main" id="{FCD2C573-9504-487C-BBA8-47CA8F900688}"/>
                  </a:ext>
                </a:extLst>
              </p:cNvPr>
              <p:cNvSpPr/>
              <p:nvPr/>
            </p:nvSpPr>
            <p:spPr bwMode="auto">
              <a:xfrm>
                <a:off x="10255013" y="6120823"/>
                <a:ext cx="803913" cy="777033"/>
              </a:xfrm>
              <a:prstGeom prst="ellipse">
                <a:avLst/>
              </a:prstGeom>
              <a:noFill/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zh-CN" alt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90" name="等腰三角形 189">
                <a:extLst>
                  <a:ext uri="{FF2B5EF4-FFF2-40B4-BE49-F238E27FC236}">
                    <a16:creationId xmlns:a16="http://schemas.microsoft.com/office/drawing/2014/main" id="{638F8348-F8D8-4C4A-B6FA-D791B5EE0E17}"/>
                  </a:ext>
                </a:extLst>
              </p:cNvPr>
              <p:cNvSpPr/>
              <p:nvPr/>
            </p:nvSpPr>
            <p:spPr bwMode="auto">
              <a:xfrm flipV="1">
                <a:off x="10528443" y="6130348"/>
                <a:ext cx="229113" cy="197542"/>
              </a:xfrm>
              <a:prstGeom prst="triangle">
                <a:avLst/>
              </a:prstGeom>
              <a:solidFill>
                <a:srgbClr val="7030A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r"/>
                <a:endParaRPr lang="zh-CN" altLang="en-US">
                  <a:latin typeface="+mn-ea"/>
                </a:endParaRPr>
              </a:p>
            </p:txBody>
          </p:sp>
          <p:cxnSp>
            <p:nvCxnSpPr>
              <p:cNvPr id="191" name="直接连接符 190">
                <a:extLst>
                  <a:ext uri="{FF2B5EF4-FFF2-40B4-BE49-F238E27FC236}">
                    <a16:creationId xmlns:a16="http://schemas.microsoft.com/office/drawing/2014/main" id="{0CB479E2-0D3C-4781-B128-FD4B6764224B}"/>
                  </a:ext>
                </a:extLst>
              </p:cNvPr>
              <p:cNvCxnSpPr>
                <a:stCxn id="189" idx="4"/>
              </p:cNvCxnSpPr>
              <p:nvPr/>
            </p:nvCxnSpPr>
            <p:spPr bwMode="auto">
              <a:xfrm>
                <a:off x="10656970" y="6897856"/>
                <a:ext cx="0" cy="276651"/>
              </a:xfrm>
              <a:prstGeom prst="line">
                <a:avLst/>
              </a:prstGeom>
              <a:solidFill>
                <a:schemeClr val="accent1"/>
              </a:solidFill>
              <a:ln w="317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92" name="直接连接符 191">
                <a:extLst>
                  <a:ext uri="{FF2B5EF4-FFF2-40B4-BE49-F238E27FC236}">
                    <a16:creationId xmlns:a16="http://schemas.microsoft.com/office/drawing/2014/main" id="{E9618368-12A6-4BF5-84EE-7AE384617ED2}"/>
                  </a:ext>
                </a:extLst>
              </p:cNvPr>
              <p:cNvCxnSpPr/>
              <p:nvPr/>
            </p:nvCxnSpPr>
            <p:spPr bwMode="auto">
              <a:xfrm>
                <a:off x="10656970" y="5925407"/>
                <a:ext cx="0" cy="206771"/>
              </a:xfrm>
              <a:prstGeom prst="line">
                <a:avLst/>
              </a:prstGeom>
              <a:solidFill>
                <a:schemeClr val="accent1"/>
              </a:solidFill>
              <a:ln w="317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193" name="等腰三角形 192">
                <a:extLst>
                  <a:ext uri="{FF2B5EF4-FFF2-40B4-BE49-F238E27FC236}">
                    <a16:creationId xmlns:a16="http://schemas.microsoft.com/office/drawing/2014/main" id="{321F3799-6551-42D3-A8DA-AD52F7E8002B}"/>
                  </a:ext>
                </a:extLst>
              </p:cNvPr>
              <p:cNvSpPr/>
              <p:nvPr/>
            </p:nvSpPr>
            <p:spPr bwMode="auto">
              <a:xfrm rot="10800000" flipV="1">
                <a:off x="10542413" y="6685628"/>
                <a:ext cx="229113" cy="197542"/>
              </a:xfrm>
              <a:prstGeom prst="triangle">
                <a:avLst/>
              </a:prstGeom>
              <a:solidFill>
                <a:srgbClr val="7030A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r"/>
                <a:endParaRPr lang="zh-CN" altLang="en-US">
                  <a:latin typeface="+mn-ea"/>
                </a:endParaRPr>
              </a:p>
            </p:txBody>
          </p:sp>
          <p:cxnSp>
            <p:nvCxnSpPr>
              <p:cNvPr id="194" name="直接箭头连接符 193">
                <a:extLst>
                  <a:ext uri="{FF2B5EF4-FFF2-40B4-BE49-F238E27FC236}">
                    <a16:creationId xmlns:a16="http://schemas.microsoft.com/office/drawing/2014/main" id="{7EF501A5-A3BB-46AB-88A3-989A47EAE020}"/>
                  </a:ext>
                </a:extLst>
              </p:cNvPr>
              <p:cNvCxnSpPr/>
              <p:nvPr/>
            </p:nvCxnSpPr>
            <p:spPr bwMode="auto">
              <a:xfrm flipV="1">
                <a:off x="7871316" y="6143378"/>
                <a:ext cx="1135363" cy="735176"/>
              </a:xfrm>
              <a:prstGeom prst="straightConnector1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195" name="组合 194">
                <a:extLst>
                  <a:ext uri="{FF2B5EF4-FFF2-40B4-BE49-F238E27FC236}">
                    <a16:creationId xmlns:a16="http://schemas.microsoft.com/office/drawing/2014/main" id="{2695E8C6-AA5C-4281-9451-BBB6F54BC2E0}"/>
                  </a:ext>
                </a:extLst>
              </p:cNvPr>
              <p:cNvGrpSpPr/>
              <p:nvPr/>
            </p:nvGrpSpPr>
            <p:grpSpPr>
              <a:xfrm>
                <a:off x="7567457" y="6406709"/>
                <a:ext cx="509090" cy="183114"/>
                <a:chOff x="1841215" y="2732753"/>
                <a:chExt cx="536987" cy="183114"/>
              </a:xfrm>
            </p:grpSpPr>
            <p:cxnSp>
              <p:nvCxnSpPr>
                <p:cNvPr id="202" name="直接连接符 201">
                  <a:extLst>
                    <a:ext uri="{FF2B5EF4-FFF2-40B4-BE49-F238E27FC236}">
                      <a16:creationId xmlns:a16="http://schemas.microsoft.com/office/drawing/2014/main" id="{CC24A44C-907A-4F82-8537-5851DA30FE0C}"/>
                    </a:ext>
                  </a:extLst>
                </p:cNvPr>
                <p:cNvCxnSpPr/>
                <p:nvPr/>
              </p:nvCxnSpPr>
              <p:spPr bwMode="auto">
                <a:xfrm>
                  <a:off x="1841215" y="2732753"/>
                  <a:ext cx="536987" cy="0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03" name="直接连接符 202">
                  <a:extLst>
                    <a:ext uri="{FF2B5EF4-FFF2-40B4-BE49-F238E27FC236}">
                      <a16:creationId xmlns:a16="http://schemas.microsoft.com/office/drawing/2014/main" id="{2CE2B3D7-0C02-41AF-A576-1798941F5455}"/>
                    </a:ext>
                  </a:extLst>
                </p:cNvPr>
                <p:cNvCxnSpPr/>
                <p:nvPr/>
              </p:nvCxnSpPr>
              <p:spPr bwMode="auto">
                <a:xfrm>
                  <a:off x="1841215" y="2915867"/>
                  <a:ext cx="513365" cy="0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196" name="椭圆 195">
                <a:extLst>
                  <a:ext uri="{FF2B5EF4-FFF2-40B4-BE49-F238E27FC236}">
                    <a16:creationId xmlns:a16="http://schemas.microsoft.com/office/drawing/2014/main" id="{EA585C96-9A1E-489E-B82D-0F744981C0EF}"/>
                  </a:ext>
                </a:extLst>
              </p:cNvPr>
              <p:cNvSpPr/>
              <p:nvPr/>
            </p:nvSpPr>
            <p:spPr bwMode="auto">
              <a:xfrm>
                <a:off x="6771163" y="6101756"/>
                <a:ext cx="803913" cy="777033"/>
              </a:xfrm>
              <a:prstGeom prst="ellipse">
                <a:avLst/>
              </a:prstGeom>
              <a:noFill/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+mn-ea"/>
                    <a:cs typeface="Times New Roman" panose="02020603050405020304" pitchFamily="18" charset="0"/>
                  </a:rPr>
                  <a:t>M</a:t>
                </a:r>
                <a:endParaRPr kumimoji="0" lang="zh-CN" alt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97" name="组合 196">
                <a:extLst>
                  <a:ext uri="{FF2B5EF4-FFF2-40B4-BE49-F238E27FC236}">
                    <a16:creationId xmlns:a16="http://schemas.microsoft.com/office/drawing/2014/main" id="{A6952729-532E-45D5-8821-141711C8A30C}"/>
                  </a:ext>
                </a:extLst>
              </p:cNvPr>
              <p:cNvGrpSpPr/>
              <p:nvPr/>
            </p:nvGrpSpPr>
            <p:grpSpPr>
              <a:xfrm>
                <a:off x="11058926" y="6417782"/>
                <a:ext cx="513365" cy="183114"/>
                <a:chOff x="1841215" y="2732753"/>
                <a:chExt cx="513365" cy="183114"/>
              </a:xfrm>
            </p:grpSpPr>
            <p:cxnSp>
              <p:nvCxnSpPr>
                <p:cNvPr id="200" name="直接连接符 199">
                  <a:extLst>
                    <a:ext uri="{FF2B5EF4-FFF2-40B4-BE49-F238E27FC236}">
                      <a16:creationId xmlns:a16="http://schemas.microsoft.com/office/drawing/2014/main" id="{F6616F8A-B1FE-428A-8D08-A45B40B3A294}"/>
                    </a:ext>
                  </a:extLst>
                </p:cNvPr>
                <p:cNvCxnSpPr/>
                <p:nvPr/>
              </p:nvCxnSpPr>
              <p:spPr bwMode="auto">
                <a:xfrm>
                  <a:off x="1841215" y="2732753"/>
                  <a:ext cx="513365" cy="0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01" name="直接连接符 200">
                  <a:extLst>
                    <a:ext uri="{FF2B5EF4-FFF2-40B4-BE49-F238E27FC236}">
                      <a16:creationId xmlns:a16="http://schemas.microsoft.com/office/drawing/2014/main" id="{573CA676-A211-4767-BD42-C772C8A3629F}"/>
                    </a:ext>
                  </a:extLst>
                </p:cNvPr>
                <p:cNvCxnSpPr/>
                <p:nvPr/>
              </p:nvCxnSpPr>
              <p:spPr bwMode="auto">
                <a:xfrm>
                  <a:off x="1841215" y="2915867"/>
                  <a:ext cx="513365" cy="0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198" name="矩形 197">
                <a:extLst>
                  <a:ext uri="{FF2B5EF4-FFF2-40B4-BE49-F238E27FC236}">
                    <a16:creationId xmlns:a16="http://schemas.microsoft.com/office/drawing/2014/main" id="{77752A10-E95D-4C33-959A-320CF0D58ED3}"/>
                  </a:ext>
                </a:extLst>
              </p:cNvPr>
              <p:cNvSpPr/>
              <p:nvPr/>
            </p:nvSpPr>
            <p:spPr bwMode="auto">
              <a:xfrm>
                <a:off x="11572291" y="6207359"/>
                <a:ext cx="332850" cy="592479"/>
              </a:xfrm>
              <a:prstGeom prst="rect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zh-CN" alt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99" name="弧形 198">
                <a:extLst>
                  <a:ext uri="{FF2B5EF4-FFF2-40B4-BE49-F238E27FC236}">
                    <a16:creationId xmlns:a16="http://schemas.microsoft.com/office/drawing/2014/main" id="{83E4256B-E18D-465B-BC91-8653D09C71A3}"/>
                  </a:ext>
                </a:extLst>
              </p:cNvPr>
              <p:cNvSpPr/>
              <p:nvPr/>
            </p:nvSpPr>
            <p:spPr bwMode="auto">
              <a:xfrm>
                <a:off x="11076586" y="6231948"/>
                <a:ext cx="330470" cy="523893"/>
              </a:xfrm>
              <a:prstGeom prst="arc">
                <a:avLst>
                  <a:gd name="adj1" fmla="val 16200000"/>
                  <a:gd name="adj2" fmla="val 5388051"/>
                </a:avLst>
              </a:prstGeom>
              <a:noFill/>
              <a:ln w="2540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zh-CN" alt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+mn-ea"/>
                </a:endParaRPr>
              </a:p>
            </p:txBody>
          </p:sp>
        </p:grpSp>
        <p:cxnSp>
          <p:nvCxnSpPr>
            <p:cNvPr id="182" name="直接箭头连接符 181">
              <a:extLst>
                <a:ext uri="{FF2B5EF4-FFF2-40B4-BE49-F238E27FC236}">
                  <a16:creationId xmlns:a16="http://schemas.microsoft.com/office/drawing/2014/main" id="{3441E5B0-966C-43A2-AB59-20BF10C92975}"/>
                </a:ext>
              </a:extLst>
            </p:cNvPr>
            <p:cNvCxnSpPr/>
            <p:nvPr/>
          </p:nvCxnSpPr>
          <p:spPr bwMode="auto">
            <a:xfrm flipV="1">
              <a:off x="6303204" y="5915638"/>
              <a:ext cx="896587" cy="580563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06" name="弧形 205">
            <a:extLst>
              <a:ext uri="{FF2B5EF4-FFF2-40B4-BE49-F238E27FC236}">
                <a16:creationId xmlns:a16="http://schemas.microsoft.com/office/drawing/2014/main" id="{44709250-33BC-46AD-AC4D-73B353D749F3}"/>
              </a:ext>
            </a:extLst>
          </p:cNvPr>
          <p:cNvSpPr/>
          <p:nvPr/>
        </p:nvSpPr>
        <p:spPr bwMode="auto">
          <a:xfrm>
            <a:off x="3791546" y="2179931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207" name="对象 206">
            <a:extLst>
              <a:ext uri="{FF2B5EF4-FFF2-40B4-BE49-F238E27FC236}">
                <a16:creationId xmlns:a16="http://schemas.microsoft.com/office/drawing/2014/main" id="{23667A7D-450B-4270-9F48-D71628BA976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8714516"/>
              </p:ext>
            </p:extLst>
          </p:nvPr>
        </p:nvGraphicFramePr>
        <p:xfrm>
          <a:off x="3813707" y="1494725"/>
          <a:ext cx="411163" cy="549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575" name="Equation" r:id="rId6" imgW="228600" imgH="304560" progId="Equation.DSMT4">
                  <p:embed/>
                </p:oleObj>
              </mc:Choice>
              <mc:Fallback>
                <p:oleObj name="Equation" r:id="rId6" imgW="228600" imgH="304560" progId="Equation.DSMT4">
                  <p:embed/>
                  <p:pic>
                    <p:nvPicPr>
                      <p:cNvPr id="150" name="对象 1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3707" y="1494725"/>
                        <a:ext cx="411163" cy="549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>
            <a:extLst>
              <a:ext uri="{FF2B5EF4-FFF2-40B4-BE49-F238E27FC236}">
                <a16:creationId xmlns:a16="http://schemas.microsoft.com/office/drawing/2014/main" id="{66695C5D-47E6-41DD-A243-062B710287F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1235779"/>
              </p:ext>
            </p:extLst>
          </p:nvPr>
        </p:nvGraphicFramePr>
        <p:xfrm>
          <a:off x="6363806" y="1290946"/>
          <a:ext cx="354012" cy="382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576" name="Equation" r:id="rId8" imgW="152280" imgH="164880" progId="Equation.DSMT4">
                  <p:embed/>
                </p:oleObj>
              </mc:Choice>
              <mc:Fallback>
                <p:oleObj name="Equation" r:id="rId8" imgW="152280" imgH="164880" progId="Equation.DSMT4">
                  <p:embed/>
                  <p:pic>
                    <p:nvPicPr>
                      <p:cNvPr id="2" name="对象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63806" y="1290946"/>
                        <a:ext cx="354012" cy="382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9" name="对象 208">
            <a:extLst>
              <a:ext uri="{FF2B5EF4-FFF2-40B4-BE49-F238E27FC236}">
                <a16:creationId xmlns:a16="http://schemas.microsoft.com/office/drawing/2014/main" id="{6996D921-4331-494F-8583-64054B0F2D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73417561"/>
              </p:ext>
            </p:extLst>
          </p:nvPr>
        </p:nvGraphicFramePr>
        <p:xfrm>
          <a:off x="8290457" y="1301050"/>
          <a:ext cx="295275" cy="382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577" name="Equation" r:id="rId10" imgW="126720" imgH="164880" progId="Equation.DSMT4">
                  <p:embed/>
                </p:oleObj>
              </mc:Choice>
              <mc:Fallback>
                <p:oleObj name="Equation" r:id="rId10" imgW="126720" imgH="164880" progId="Equation.DSMT4">
                  <p:embed/>
                  <p:pic>
                    <p:nvPicPr>
                      <p:cNvPr id="3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90457" y="1301050"/>
                        <a:ext cx="295275" cy="382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0" name="文本框 209">
            <a:extLst>
              <a:ext uri="{FF2B5EF4-FFF2-40B4-BE49-F238E27FC236}">
                <a16:creationId xmlns:a16="http://schemas.microsoft.com/office/drawing/2014/main" id="{E135528E-DA8D-47FC-8178-65F27F4C090A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12/35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43882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>
            <a:extLst>
              <a:ext uri="{FF2B5EF4-FFF2-40B4-BE49-F238E27FC236}">
                <a16:creationId xmlns:a16="http://schemas.microsoft.com/office/drawing/2014/main" id="{D7D9AA2C-0561-431E-A0DE-2A8B3A7E790A}"/>
              </a:ext>
            </a:extLst>
          </p:cNvPr>
          <p:cNvSpPr/>
          <p:nvPr/>
        </p:nvSpPr>
        <p:spPr>
          <a:xfrm>
            <a:off x="818443" y="836106"/>
            <a:ext cx="3315331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变量泵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定量马达</a:t>
            </a:r>
          </a:p>
        </p:txBody>
      </p:sp>
      <p:grpSp>
        <p:nvGrpSpPr>
          <p:cNvPr id="281" name="组合 280">
            <a:extLst>
              <a:ext uri="{FF2B5EF4-FFF2-40B4-BE49-F238E27FC236}">
                <a16:creationId xmlns:a16="http://schemas.microsoft.com/office/drawing/2014/main" id="{BA25CC05-8D37-4C2E-80E2-E23F7314816A}"/>
              </a:ext>
            </a:extLst>
          </p:cNvPr>
          <p:cNvGrpSpPr/>
          <p:nvPr/>
        </p:nvGrpSpPr>
        <p:grpSpPr>
          <a:xfrm>
            <a:off x="2468941" y="2179148"/>
            <a:ext cx="803913" cy="777033"/>
            <a:chOff x="7148937" y="5261303"/>
            <a:chExt cx="803913" cy="777033"/>
          </a:xfrm>
        </p:grpSpPr>
        <p:sp>
          <p:nvSpPr>
            <p:cNvPr id="282" name="椭圆 281">
              <a:extLst>
                <a:ext uri="{FF2B5EF4-FFF2-40B4-BE49-F238E27FC236}">
                  <a16:creationId xmlns:a16="http://schemas.microsoft.com/office/drawing/2014/main" id="{7D834C61-B7A0-43BA-8C71-604A84DE38C5}"/>
                </a:ext>
              </a:extLst>
            </p:cNvPr>
            <p:cNvSpPr/>
            <p:nvPr/>
          </p:nvSpPr>
          <p:spPr bwMode="auto">
            <a:xfrm>
              <a:off x="7148937" y="526130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283" name="等腰三角形 282">
              <a:extLst>
                <a:ext uri="{FF2B5EF4-FFF2-40B4-BE49-F238E27FC236}">
                  <a16:creationId xmlns:a16="http://schemas.microsoft.com/office/drawing/2014/main" id="{932CE9A0-5A0E-4C8D-BD42-226C54932E7E}"/>
                </a:ext>
              </a:extLst>
            </p:cNvPr>
            <p:cNvSpPr/>
            <p:nvPr/>
          </p:nvSpPr>
          <p:spPr bwMode="auto">
            <a:xfrm>
              <a:off x="7422367" y="5261303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68342EB7-D761-4B8F-93EA-D53F326CC2B3}"/>
              </a:ext>
            </a:extLst>
          </p:cNvPr>
          <p:cNvCxnSpPr>
            <a:stCxn id="282" idx="4"/>
          </p:cNvCxnSpPr>
          <p:nvPr/>
        </p:nvCxnSpPr>
        <p:spPr bwMode="auto">
          <a:xfrm>
            <a:off x="2870898" y="2956181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85" name="Line 33">
            <a:extLst>
              <a:ext uri="{FF2B5EF4-FFF2-40B4-BE49-F238E27FC236}">
                <a16:creationId xmlns:a16="http://schemas.microsoft.com/office/drawing/2014/main" id="{0DDAF62B-2553-4643-B3EB-A1ACBE8BBF8F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4840145" y="3107940"/>
            <a:ext cx="577248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86" name="Line 29">
            <a:extLst>
              <a:ext uri="{FF2B5EF4-FFF2-40B4-BE49-F238E27FC236}">
                <a16:creationId xmlns:a16="http://schemas.microsoft.com/office/drawing/2014/main" id="{AA71A74F-3388-441C-BAE9-81B69DC46127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5466170" y="2469273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87" name="Line 26">
            <a:extLst>
              <a:ext uri="{FF2B5EF4-FFF2-40B4-BE49-F238E27FC236}">
                <a16:creationId xmlns:a16="http://schemas.microsoft.com/office/drawing/2014/main" id="{A52DEB65-582E-4815-9ABC-01D45E3B7FE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5162957" y="2796298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88" name="Line 27">
            <a:extLst>
              <a:ext uri="{FF2B5EF4-FFF2-40B4-BE49-F238E27FC236}">
                <a16:creationId xmlns:a16="http://schemas.microsoft.com/office/drawing/2014/main" id="{18F7BAE2-D0C9-4F0C-89AF-136C45763B10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5480457" y="2921710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89" name="Rectangle 16">
            <a:extLst>
              <a:ext uri="{FF2B5EF4-FFF2-40B4-BE49-F238E27FC236}">
                <a16:creationId xmlns:a16="http://schemas.microsoft.com/office/drawing/2014/main" id="{CDAB1C9C-E4EC-4ADE-B904-74607EF6F5DE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883556" y="2380372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290" name="Line 21">
            <a:extLst>
              <a:ext uri="{FF2B5EF4-FFF2-40B4-BE49-F238E27FC236}">
                <a16:creationId xmlns:a16="http://schemas.microsoft.com/office/drawing/2014/main" id="{BF53F48D-9E39-4599-8689-FE94C47CEFB2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4988332" y="2591510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91" name="Line 22">
            <a:extLst>
              <a:ext uri="{FF2B5EF4-FFF2-40B4-BE49-F238E27FC236}">
                <a16:creationId xmlns:a16="http://schemas.microsoft.com/office/drawing/2014/main" id="{BBB926A6-43F2-4BAE-B6EF-6DB669CA0BD4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4799419" y="2562935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92" name="Line 23">
            <a:extLst>
              <a:ext uri="{FF2B5EF4-FFF2-40B4-BE49-F238E27FC236}">
                <a16:creationId xmlns:a16="http://schemas.microsoft.com/office/drawing/2014/main" id="{7415A4B2-50A9-4E55-85B3-37E9A8D1FF44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4730363" y="2562141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93" name="Line 24">
            <a:extLst>
              <a:ext uri="{FF2B5EF4-FFF2-40B4-BE49-F238E27FC236}">
                <a16:creationId xmlns:a16="http://schemas.microsoft.com/office/drawing/2014/main" id="{AF2B7714-391C-4F74-B448-4BABC7C6B26D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4666069" y="2567698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94" name="Line 25">
            <a:extLst>
              <a:ext uri="{FF2B5EF4-FFF2-40B4-BE49-F238E27FC236}">
                <a16:creationId xmlns:a16="http://schemas.microsoft.com/office/drawing/2014/main" id="{5FF9898A-BFE8-46A7-AD18-5A30E10683B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4597013" y="2566904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95" name="Line 30">
            <a:extLst>
              <a:ext uri="{FF2B5EF4-FFF2-40B4-BE49-F238E27FC236}">
                <a16:creationId xmlns:a16="http://schemas.microsoft.com/office/drawing/2014/main" id="{1F3219F8-A514-425C-BFC9-B9D2DDF4C746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4852751" y="2087687"/>
            <a:ext cx="552033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296" name="Line 28">
            <a:extLst>
              <a:ext uri="{FF2B5EF4-FFF2-40B4-BE49-F238E27FC236}">
                <a16:creationId xmlns:a16="http://schemas.microsoft.com/office/drawing/2014/main" id="{B66C50CF-10C4-4C1A-8AD7-99EFF26EB825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5372404" y="2805133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377C2726-B8F5-4BE2-BD71-1F9FF52E9AFB}"/>
              </a:ext>
            </a:extLst>
          </p:cNvPr>
          <p:cNvCxnSpPr/>
          <p:nvPr/>
        </p:nvCxnSpPr>
        <p:spPr bwMode="auto">
          <a:xfrm>
            <a:off x="2870898" y="1814298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8" name="直接连接符 297">
            <a:extLst>
              <a:ext uri="{FF2B5EF4-FFF2-40B4-BE49-F238E27FC236}">
                <a16:creationId xmlns:a16="http://schemas.microsoft.com/office/drawing/2014/main" id="{204AD34D-87EE-412F-89BC-9D2133477224}"/>
              </a:ext>
            </a:extLst>
          </p:cNvPr>
          <p:cNvCxnSpPr/>
          <p:nvPr/>
        </p:nvCxnSpPr>
        <p:spPr bwMode="auto">
          <a:xfrm flipH="1">
            <a:off x="2856929" y="1807432"/>
            <a:ext cx="3218130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A2F27368-3919-4A9D-B04F-913120DDE3A6}"/>
              </a:ext>
            </a:extLst>
          </p:cNvPr>
          <p:cNvCxnSpPr/>
          <p:nvPr/>
        </p:nvCxnSpPr>
        <p:spPr bwMode="auto">
          <a:xfrm flipH="1">
            <a:off x="2870900" y="3393082"/>
            <a:ext cx="3204160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0" name="等腰三角形 299">
            <a:extLst>
              <a:ext uri="{FF2B5EF4-FFF2-40B4-BE49-F238E27FC236}">
                <a16:creationId xmlns:a16="http://schemas.microsoft.com/office/drawing/2014/main" id="{F81221F9-3596-403D-94CB-EF86FC45313E}"/>
              </a:ext>
            </a:extLst>
          </p:cNvPr>
          <p:cNvSpPr/>
          <p:nvPr/>
        </p:nvSpPr>
        <p:spPr bwMode="auto">
          <a:xfrm rot="10800000">
            <a:off x="2756341" y="2758639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sp>
        <p:nvSpPr>
          <p:cNvPr id="301" name="Line 33">
            <a:extLst>
              <a:ext uri="{FF2B5EF4-FFF2-40B4-BE49-F238E27FC236}">
                <a16:creationId xmlns:a16="http://schemas.microsoft.com/office/drawing/2014/main" id="{DCDC4A95-8F03-4542-9675-24E941C951B6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3846370" y="2096812"/>
            <a:ext cx="577248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302" name="Line 29">
            <a:extLst>
              <a:ext uri="{FF2B5EF4-FFF2-40B4-BE49-F238E27FC236}">
                <a16:creationId xmlns:a16="http://schemas.microsoft.com/office/drawing/2014/main" id="{E5BD3AA9-1C01-409F-BD9E-086564DAA48A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4472395" y="2502117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03" name="Line 26">
            <a:extLst>
              <a:ext uri="{FF2B5EF4-FFF2-40B4-BE49-F238E27FC236}">
                <a16:creationId xmlns:a16="http://schemas.microsoft.com/office/drawing/2014/main" id="{AC44713A-FCE1-4A34-BA3C-B47B5A69D159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4169182" y="2149692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04" name="Line 27">
            <a:extLst>
              <a:ext uri="{FF2B5EF4-FFF2-40B4-BE49-F238E27FC236}">
                <a16:creationId xmlns:a16="http://schemas.microsoft.com/office/drawing/2014/main" id="{AD9FE69E-0467-47A7-9FC6-2FA14FD08365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4486682" y="2090954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05" name="Rectangle 16">
            <a:extLst>
              <a:ext uri="{FF2B5EF4-FFF2-40B4-BE49-F238E27FC236}">
                <a16:creationId xmlns:a16="http://schemas.microsoft.com/office/drawing/2014/main" id="{212FDDB0-C52A-4CCD-BE55-FE058C3F2ABA}"/>
              </a:ext>
            </a:extLst>
          </p:cNvPr>
          <p:cNvSpPr>
            <a:spLocks noChangeArrowheads="1"/>
          </p:cNvSpPr>
          <p:nvPr/>
        </p:nvSpPr>
        <p:spPr bwMode="auto">
          <a:xfrm rot="16200000" flipV="1">
            <a:off x="3889781" y="2395755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306" name="Line 21">
            <a:extLst>
              <a:ext uri="{FF2B5EF4-FFF2-40B4-BE49-F238E27FC236}">
                <a16:creationId xmlns:a16="http://schemas.microsoft.com/office/drawing/2014/main" id="{304BDD8C-D0F9-4E7F-90C2-D88E9AFB453A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3994557" y="2613243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07" name="Line 22">
            <a:extLst>
              <a:ext uri="{FF2B5EF4-FFF2-40B4-BE49-F238E27FC236}">
                <a16:creationId xmlns:a16="http://schemas.microsoft.com/office/drawing/2014/main" id="{7F969765-5606-435C-88CE-0529876D6866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3805644" y="2581493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08" name="Line 23">
            <a:extLst>
              <a:ext uri="{FF2B5EF4-FFF2-40B4-BE49-F238E27FC236}">
                <a16:creationId xmlns:a16="http://schemas.microsoft.com/office/drawing/2014/main" id="{FABF5DCE-8A75-4D6A-ADEB-87DD27E03A0A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3736588" y="2577524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09" name="Line 24">
            <a:extLst>
              <a:ext uri="{FF2B5EF4-FFF2-40B4-BE49-F238E27FC236}">
                <a16:creationId xmlns:a16="http://schemas.microsoft.com/office/drawing/2014/main" id="{5B875711-0ACC-4030-B781-E6C64DE946F2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3672294" y="2576730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10" name="Line 25">
            <a:extLst>
              <a:ext uri="{FF2B5EF4-FFF2-40B4-BE49-F238E27FC236}">
                <a16:creationId xmlns:a16="http://schemas.microsoft.com/office/drawing/2014/main" id="{FA21C025-D010-4005-9CC6-446FA50C0F02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3603238" y="2572761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11" name="Line 30">
            <a:extLst>
              <a:ext uri="{FF2B5EF4-FFF2-40B4-BE49-F238E27FC236}">
                <a16:creationId xmlns:a16="http://schemas.microsoft.com/office/drawing/2014/main" id="{839F7AA0-0C27-4940-BAE7-EF86BC7ACBB7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3858976" y="3117066"/>
            <a:ext cx="552033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12" name="Line 28">
            <a:extLst>
              <a:ext uri="{FF2B5EF4-FFF2-40B4-BE49-F238E27FC236}">
                <a16:creationId xmlns:a16="http://schemas.microsoft.com/office/drawing/2014/main" id="{0E7DBB7F-2CC6-431F-9F0C-E2DBC88DACDF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4378629" y="2399620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13" name="椭圆 312">
            <a:extLst>
              <a:ext uri="{FF2B5EF4-FFF2-40B4-BE49-F238E27FC236}">
                <a16:creationId xmlns:a16="http://schemas.microsoft.com/office/drawing/2014/main" id="{F84C7961-3F72-4865-B8DB-B63454869B95}"/>
              </a:ext>
            </a:extLst>
          </p:cNvPr>
          <p:cNvSpPr/>
          <p:nvPr/>
        </p:nvSpPr>
        <p:spPr bwMode="auto">
          <a:xfrm>
            <a:off x="5673103" y="2167948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314" name="等腰三角形 313">
            <a:extLst>
              <a:ext uri="{FF2B5EF4-FFF2-40B4-BE49-F238E27FC236}">
                <a16:creationId xmlns:a16="http://schemas.microsoft.com/office/drawing/2014/main" id="{6CEDFFDB-83D1-4CCD-9A9B-4E1FCD69FDB0}"/>
              </a:ext>
            </a:extLst>
          </p:cNvPr>
          <p:cNvSpPr/>
          <p:nvPr/>
        </p:nvSpPr>
        <p:spPr bwMode="auto">
          <a:xfrm flipV="1">
            <a:off x="5946533" y="2177473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315" name="直接连接符 314">
            <a:extLst>
              <a:ext uri="{FF2B5EF4-FFF2-40B4-BE49-F238E27FC236}">
                <a16:creationId xmlns:a16="http://schemas.microsoft.com/office/drawing/2014/main" id="{79154649-6720-4568-8620-CD181A3E3CEA}"/>
              </a:ext>
            </a:extLst>
          </p:cNvPr>
          <p:cNvCxnSpPr>
            <a:stCxn id="313" idx="4"/>
          </p:cNvCxnSpPr>
          <p:nvPr/>
        </p:nvCxnSpPr>
        <p:spPr bwMode="auto">
          <a:xfrm>
            <a:off x="6075060" y="2944981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16" name="直接连接符 315">
            <a:extLst>
              <a:ext uri="{FF2B5EF4-FFF2-40B4-BE49-F238E27FC236}">
                <a16:creationId xmlns:a16="http://schemas.microsoft.com/office/drawing/2014/main" id="{582349D4-BA8A-4FBF-8FE2-AC72AFE770C8}"/>
              </a:ext>
            </a:extLst>
          </p:cNvPr>
          <p:cNvCxnSpPr/>
          <p:nvPr/>
        </p:nvCxnSpPr>
        <p:spPr bwMode="auto">
          <a:xfrm>
            <a:off x="6075060" y="1803098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17" name="等腰三角形 316">
            <a:extLst>
              <a:ext uri="{FF2B5EF4-FFF2-40B4-BE49-F238E27FC236}">
                <a16:creationId xmlns:a16="http://schemas.microsoft.com/office/drawing/2014/main" id="{723514F1-C56A-42E2-B698-3F953DD52BBE}"/>
              </a:ext>
            </a:extLst>
          </p:cNvPr>
          <p:cNvSpPr/>
          <p:nvPr/>
        </p:nvSpPr>
        <p:spPr bwMode="auto">
          <a:xfrm rot="10800000" flipV="1">
            <a:off x="5960503" y="2732753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318" name="直接箭头连接符 317">
            <a:extLst>
              <a:ext uri="{FF2B5EF4-FFF2-40B4-BE49-F238E27FC236}">
                <a16:creationId xmlns:a16="http://schemas.microsoft.com/office/drawing/2014/main" id="{2A0B3A80-5D01-4D2B-9656-9430CC616C69}"/>
              </a:ext>
            </a:extLst>
          </p:cNvPr>
          <p:cNvCxnSpPr/>
          <p:nvPr/>
        </p:nvCxnSpPr>
        <p:spPr bwMode="auto">
          <a:xfrm flipV="1">
            <a:off x="2286106" y="2190503"/>
            <a:ext cx="1135363" cy="735176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19" name="椭圆 318">
            <a:extLst>
              <a:ext uri="{FF2B5EF4-FFF2-40B4-BE49-F238E27FC236}">
                <a16:creationId xmlns:a16="http://schemas.microsoft.com/office/drawing/2014/main" id="{AD76B095-60AD-4FB2-AA72-CB74532E46AA}"/>
              </a:ext>
            </a:extLst>
          </p:cNvPr>
          <p:cNvSpPr/>
          <p:nvPr/>
        </p:nvSpPr>
        <p:spPr bwMode="auto">
          <a:xfrm>
            <a:off x="1185953" y="2148881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M</a:t>
            </a:r>
            <a:endParaRPr kumimoji="0" lang="zh-CN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320" name="组合 319">
            <a:extLst>
              <a:ext uri="{FF2B5EF4-FFF2-40B4-BE49-F238E27FC236}">
                <a16:creationId xmlns:a16="http://schemas.microsoft.com/office/drawing/2014/main" id="{7146980A-68FE-4E46-A491-0D455949F155}"/>
              </a:ext>
            </a:extLst>
          </p:cNvPr>
          <p:cNvGrpSpPr/>
          <p:nvPr/>
        </p:nvGrpSpPr>
        <p:grpSpPr>
          <a:xfrm>
            <a:off x="6477016" y="2464907"/>
            <a:ext cx="513365" cy="183114"/>
            <a:chOff x="1841215" y="2732753"/>
            <a:chExt cx="513365" cy="183114"/>
          </a:xfrm>
        </p:grpSpPr>
        <p:cxnSp>
          <p:nvCxnSpPr>
            <p:cNvPr id="321" name="直接连接符 320">
              <a:extLst>
                <a:ext uri="{FF2B5EF4-FFF2-40B4-BE49-F238E27FC236}">
                  <a16:creationId xmlns:a16="http://schemas.microsoft.com/office/drawing/2014/main" id="{DD110169-302D-4F15-969C-02B37C3C7510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22" name="直接连接符 321">
              <a:extLst>
                <a:ext uri="{FF2B5EF4-FFF2-40B4-BE49-F238E27FC236}">
                  <a16:creationId xmlns:a16="http://schemas.microsoft.com/office/drawing/2014/main" id="{0BB203D7-DE50-4497-8CDC-5A65339086B0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323" name="矩形 322">
            <a:extLst>
              <a:ext uri="{FF2B5EF4-FFF2-40B4-BE49-F238E27FC236}">
                <a16:creationId xmlns:a16="http://schemas.microsoft.com/office/drawing/2014/main" id="{295C16E9-4A44-4F9D-A07C-3F281DFB6BBA}"/>
              </a:ext>
            </a:extLst>
          </p:cNvPr>
          <p:cNvSpPr/>
          <p:nvPr/>
        </p:nvSpPr>
        <p:spPr bwMode="auto">
          <a:xfrm>
            <a:off x="6990381" y="2254484"/>
            <a:ext cx="332850" cy="59247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324" name="弧形 323">
            <a:extLst>
              <a:ext uri="{FF2B5EF4-FFF2-40B4-BE49-F238E27FC236}">
                <a16:creationId xmlns:a16="http://schemas.microsoft.com/office/drawing/2014/main" id="{72775650-1F55-4CBF-AECD-EEC7D546A26B}"/>
              </a:ext>
            </a:extLst>
          </p:cNvPr>
          <p:cNvSpPr/>
          <p:nvPr/>
        </p:nvSpPr>
        <p:spPr bwMode="auto">
          <a:xfrm>
            <a:off x="6494676" y="2279073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325" name="对象 324">
            <a:extLst>
              <a:ext uri="{FF2B5EF4-FFF2-40B4-BE49-F238E27FC236}">
                <a16:creationId xmlns:a16="http://schemas.microsoft.com/office/drawing/2014/main" id="{A7D3AE4E-D6DB-4842-A5C7-4CAAD222702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247451"/>
              </p:ext>
            </p:extLst>
          </p:nvPr>
        </p:nvGraphicFramePr>
        <p:xfrm>
          <a:off x="6483105" y="1616075"/>
          <a:ext cx="479425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98" name="Equation" r:id="rId4" imgW="266400" imgH="279360" progId="Equation.DSMT4">
                  <p:embed/>
                </p:oleObj>
              </mc:Choice>
              <mc:Fallback>
                <p:oleObj name="Equation" r:id="rId4" imgW="266400" imgH="279360" progId="Equation.DSMT4">
                  <p:embed/>
                  <p:pic>
                    <p:nvPicPr>
                      <p:cNvPr id="94" name="对象 9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83105" y="1616075"/>
                        <a:ext cx="479425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26" name="组合 325">
            <a:extLst>
              <a:ext uri="{FF2B5EF4-FFF2-40B4-BE49-F238E27FC236}">
                <a16:creationId xmlns:a16="http://schemas.microsoft.com/office/drawing/2014/main" id="{CD5547F6-04FD-40BD-BD28-D96696A21F2B}"/>
              </a:ext>
            </a:extLst>
          </p:cNvPr>
          <p:cNvGrpSpPr/>
          <p:nvPr/>
        </p:nvGrpSpPr>
        <p:grpSpPr>
          <a:xfrm>
            <a:off x="1982246" y="2453834"/>
            <a:ext cx="493045" cy="183114"/>
            <a:chOff x="1841215" y="2732753"/>
            <a:chExt cx="520063" cy="183114"/>
          </a:xfrm>
        </p:grpSpPr>
        <p:cxnSp>
          <p:nvCxnSpPr>
            <p:cNvPr id="327" name="直接连接符 326">
              <a:extLst>
                <a:ext uri="{FF2B5EF4-FFF2-40B4-BE49-F238E27FC236}">
                  <a16:creationId xmlns:a16="http://schemas.microsoft.com/office/drawing/2014/main" id="{49593405-918C-471B-A900-C619369ED71D}"/>
                </a:ext>
              </a:extLst>
            </p:cNvPr>
            <p:cNvCxnSpPr/>
            <p:nvPr/>
          </p:nvCxnSpPr>
          <p:spPr bwMode="auto">
            <a:xfrm>
              <a:off x="1847913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28" name="直接连接符 327">
              <a:extLst>
                <a:ext uri="{FF2B5EF4-FFF2-40B4-BE49-F238E27FC236}">
                  <a16:creationId xmlns:a16="http://schemas.microsoft.com/office/drawing/2014/main" id="{63907201-4455-4EFC-B433-D7D2DC68F38A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329" name="组合 328">
            <a:extLst>
              <a:ext uri="{FF2B5EF4-FFF2-40B4-BE49-F238E27FC236}">
                <a16:creationId xmlns:a16="http://schemas.microsoft.com/office/drawing/2014/main" id="{53B45270-A6D2-465A-B942-1B87AAA0DA89}"/>
              </a:ext>
            </a:extLst>
          </p:cNvPr>
          <p:cNvGrpSpPr/>
          <p:nvPr/>
        </p:nvGrpSpPr>
        <p:grpSpPr>
          <a:xfrm>
            <a:off x="503380" y="3585028"/>
            <a:ext cx="6756013" cy="1566410"/>
            <a:chOff x="805250" y="3585028"/>
            <a:chExt cx="6756013" cy="1566410"/>
          </a:xfrm>
        </p:grpSpPr>
        <p:graphicFrame>
          <p:nvGraphicFramePr>
            <p:cNvPr id="330" name="对象 329">
              <a:extLst>
                <a:ext uri="{FF2B5EF4-FFF2-40B4-BE49-F238E27FC236}">
                  <a16:creationId xmlns:a16="http://schemas.microsoft.com/office/drawing/2014/main" id="{2BD4B650-4623-4569-8516-6FBCA08D5CB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87439836"/>
                </p:ext>
              </p:extLst>
            </p:nvPr>
          </p:nvGraphicFramePr>
          <p:xfrm>
            <a:off x="1708150" y="3641725"/>
            <a:ext cx="5853113" cy="15097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699" name="Equation" r:id="rId6" imgW="2501640" imgH="647640" progId="Equation.DSMT4">
                    <p:embed/>
                  </p:oleObj>
                </mc:Choice>
                <mc:Fallback>
                  <p:oleObj name="Equation" r:id="rId6" imgW="2501640" imgH="647640" progId="Equation.DSMT4">
                    <p:embed/>
                    <p:pic>
                      <p:nvPicPr>
                        <p:cNvPr id="7" name="对象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8150" y="3641725"/>
                          <a:ext cx="5853113" cy="15097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1" name="TextBox 84">
              <a:extLst>
                <a:ext uri="{FF2B5EF4-FFF2-40B4-BE49-F238E27FC236}">
                  <a16:creationId xmlns:a16="http://schemas.microsoft.com/office/drawing/2014/main" id="{428C5B47-5629-441F-954D-79C061D6835D}"/>
                </a:ext>
              </a:extLst>
            </p:cNvPr>
            <p:cNvSpPr txBox="1"/>
            <p:nvPr/>
          </p:nvSpPr>
          <p:spPr>
            <a:xfrm>
              <a:off x="805250" y="3585028"/>
              <a:ext cx="290285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CN" altLang="en-US" sz="2000" dirty="0">
                  <a:latin typeface="+mn-ea"/>
                </a:rPr>
                <a:t>马达转速</a:t>
              </a:r>
            </a:p>
          </p:txBody>
        </p:sp>
      </p:grpSp>
      <p:sp>
        <p:nvSpPr>
          <p:cNvPr id="332" name="TextBox 85">
            <a:extLst>
              <a:ext uri="{FF2B5EF4-FFF2-40B4-BE49-F238E27FC236}">
                <a16:creationId xmlns:a16="http://schemas.microsoft.com/office/drawing/2014/main" id="{F10C4287-CE07-462D-A29A-1EF08FC4FAEF}"/>
              </a:ext>
            </a:extLst>
          </p:cNvPr>
          <p:cNvSpPr txBox="1"/>
          <p:nvPr/>
        </p:nvSpPr>
        <p:spPr>
          <a:xfrm>
            <a:off x="6329003" y="5151992"/>
            <a:ext cx="22273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输出功率</a:t>
            </a:r>
          </a:p>
        </p:txBody>
      </p:sp>
      <p:sp>
        <p:nvSpPr>
          <p:cNvPr id="333" name="TextBox 86">
            <a:extLst>
              <a:ext uri="{FF2B5EF4-FFF2-40B4-BE49-F238E27FC236}">
                <a16:creationId xmlns:a16="http://schemas.microsoft.com/office/drawing/2014/main" id="{B26D2C5F-B6B2-4C4A-AE51-3807E7159BE9}"/>
              </a:ext>
            </a:extLst>
          </p:cNvPr>
          <p:cNvSpPr txBox="1"/>
          <p:nvPr/>
        </p:nvSpPr>
        <p:spPr>
          <a:xfrm>
            <a:off x="2986541" y="5151992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速度刚度</a:t>
            </a:r>
          </a:p>
        </p:txBody>
      </p:sp>
      <p:sp>
        <p:nvSpPr>
          <p:cNvPr id="334" name="TextBox 97">
            <a:extLst>
              <a:ext uri="{FF2B5EF4-FFF2-40B4-BE49-F238E27FC236}">
                <a16:creationId xmlns:a16="http://schemas.microsoft.com/office/drawing/2014/main" id="{A09FDDE3-3799-4645-9312-C339C4C40160}"/>
              </a:ext>
            </a:extLst>
          </p:cNvPr>
          <p:cNvSpPr txBox="1"/>
          <p:nvPr/>
        </p:nvSpPr>
        <p:spPr>
          <a:xfrm>
            <a:off x="507999" y="5151992"/>
            <a:ext cx="2038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输出扭矩</a:t>
            </a:r>
          </a:p>
        </p:txBody>
      </p:sp>
      <p:graphicFrame>
        <p:nvGraphicFramePr>
          <p:cNvPr id="335" name="对象 334">
            <a:extLst>
              <a:ext uri="{FF2B5EF4-FFF2-40B4-BE49-F238E27FC236}">
                <a16:creationId xmlns:a16="http://schemas.microsoft.com/office/drawing/2014/main" id="{312F3BB0-CBFB-4303-B171-74E50FE1A08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8970322"/>
              </p:ext>
            </p:extLst>
          </p:nvPr>
        </p:nvGraphicFramePr>
        <p:xfrm>
          <a:off x="3185366" y="5613656"/>
          <a:ext cx="2838450" cy="1139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00" name="Equation" r:id="rId8" imgW="1180800" imgH="457200" progId="Equation.DSMT4">
                  <p:embed/>
                </p:oleObj>
              </mc:Choice>
              <mc:Fallback>
                <p:oleObj name="Equation" r:id="rId8" imgW="1180800" imgH="457200" progId="Equation.DSMT4">
                  <p:embed/>
                  <p:pic>
                    <p:nvPicPr>
                      <p:cNvPr id="9" name="对象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5366" y="5613656"/>
                        <a:ext cx="2838450" cy="1139825"/>
                      </a:xfrm>
                      <a:prstGeom prst="rect">
                        <a:avLst/>
                      </a:prstGeom>
                      <a:solidFill>
                        <a:schemeClr val="accent2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6" name="对象 335">
            <a:extLst>
              <a:ext uri="{FF2B5EF4-FFF2-40B4-BE49-F238E27FC236}">
                <a16:creationId xmlns:a16="http://schemas.microsoft.com/office/drawing/2014/main" id="{380A2350-E949-43CF-953C-6C27602A99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0095352"/>
              </p:ext>
            </p:extLst>
          </p:nvPr>
        </p:nvGraphicFramePr>
        <p:xfrm>
          <a:off x="890928" y="5726369"/>
          <a:ext cx="1595438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01" name="Equation" r:id="rId10" imgW="685800" imgH="393480" progId="Equation.DSMT4">
                  <p:embed/>
                </p:oleObj>
              </mc:Choice>
              <mc:Fallback>
                <p:oleObj name="Equation" r:id="rId10" imgW="685800" imgH="393480" progId="Equation.DSMT4">
                  <p:embed/>
                  <p:pic>
                    <p:nvPicPr>
                      <p:cNvPr id="10" name="对象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0928" y="5726369"/>
                        <a:ext cx="1595438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7" name="对象 336">
            <a:extLst>
              <a:ext uri="{FF2B5EF4-FFF2-40B4-BE49-F238E27FC236}">
                <a16:creationId xmlns:a16="http://schemas.microsoft.com/office/drawing/2014/main" id="{6BD7F079-B5DA-48EE-B4D0-53187570B91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71711801"/>
              </p:ext>
            </p:extLst>
          </p:nvPr>
        </p:nvGraphicFramePr>
        <p:xfrm>
          <a:off x="6722817" y="5908137"/>
          <a:ext cx="2063750" cy="550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02" name="Equation" r:id="rId12" imgW="888840" imgH="228600" progId="Equation.DSMT4">
                  <p:embed/>
                </p:oleObj>
              </mc:Choice>
              <mc:Fallback>
                <p:oleObj name="Equation" r:id="rId12" imgW="888840" imgH="228600" progId="Equation.DSMT4">
                  <p:embed/>
                  <p:pic>
                    <p:nvPicPr>
                      <p:cNvPr id="11" name="对象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22817" y="5908137"/>
                        <a:ext cx="2063750" cy="550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8" name="对象 337">
            <a:extLst>
              <a:ext uri="{FF2B5EF4-FFF2-40B4-BE49-F238E27FC236}">
                <a16:creationId xmlns:a16="http://schemas.microsoft.com/office/drawing/2014/main" id="{70BF08FF-8166-41BC-9FCB-12955F6EB0E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82334"/>
              </p:ext>
            </p:extLst>
          </p:nvPr>
        </p:nvGraphicFramePr>
        <p:xfrm>
          <a:off x="3657610" y="1808187"/>
          <a:ext cx="352425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03" name="Equation" r:id="rId14" imgW="126720" imgH="152280" progId="Equation.DSMT4">
                  <p:embed/>
                </p:oleObj>
              </mc:Choice>
              <mc:Fallback>
                <p:oleObj name="Equation" r:id="rId14" imgW="126720" imgH="152280" progId="Equation.DSMT4">
                  <p:embed/>
                  <p:pic>
                    <p:nvPicPr>
                      <p:cNvPr id="99" name="对象 9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10" y="1808187"/>
                        <a:ext cx="352425" cy="425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>
            <a:extLst>
              <a:ext uri="{FF2B5EF4-FFF2-40B4-BE49-F238E27FC236}">
                <a16:creationId xmlns:a16="http://schemas.microsoft.com/office/drawing/2014/main" id="{6379CCAA-12D8-4871-9340-D5CDA10136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41475354"/>
              </p:ext>
            </p:extLst>
          </p:nvPr>
        </p:nvGraphicFramePr>
        <p:xfrm>
          <a:off x="4651130" y="1808163"/>
          <a:ext cx="317500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04" name="Equation" r:id="rId16" imgW="114120" imgH="152280" progId="Equation.DSMT4">
                  <p:embed/>
                </p:oleObj>
              </mc:Choice>
              <mc:Fallback>
                <p:oleObj name="Equation" r:id="rId16" imgW="114120" imgH="152280" progId="Equation.DSMT4">
                  <p:embed/>
                  <p:pic>
                    <p:nvPicPr>
                      <p:cNvPr id="3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1130" y="1808163"/>
                        <a:ext cx="317500" cy="425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0" name="TextBox 1">
            <a:extLst>
              <a:ext uri="{FF2B5EF4-FFF2-40B4-BE49-F238E27FC236}">
                <a16:creationId xmlns:a16="http://schemas.microsoft.com/office/drawing/2014/main" id="{6AD6E071-E57C-42E6-8A83-6F582798C7C0}"/>
              </a:ext>
            </a:extLst>
          </p:cNvPr>
          <p:cNvSpPr txBox="1"/>
          <p:nvPr/>
        </p:nvSpPr>
        <p:spPr>
          <a:xfrm>
            <a:off x="4332836" y="1130341"/>
            <a:ext cx="3796906" cy="369332"/>
          </a:xfrm>
          <a:prstGeom prst="rect">
            <a:avLst/>
          </a:prstGeom>
          <a:solidFill>
            <a:srgbClr val="0671BA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+mn-ea"/>
              </a:rPr>
              <a:t>忽略泵的泄漏和马达的机械损失</a:t>
            </a:r>
          </a:p>
        </p:txBody>
      </p: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376094BB-BB90-4461-95CF-78AB5F9F84A7}"/>
              </a:ext>
            </a:extLst>
          </p:cNvPr>
          <p:cNvCxnSpPr>
            <a:stCxn id="313" idx="5"/>
          </p:cNvCxnSpPr>
          <p:nvPr/>
        </p:nvCxnSpPr>
        <p:spPr bwMode="auto">
          <a:xfrm>
            <a:off x="6359286" y="2831187"/>
            <a:ext cx="300625" cy="345185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2CD38931-805F-424A-994C-12E79A81C253}"/>
              </a:ext>
            </a:extLst>
          </p:cNvPr>
          <p:cNvCxnSpPr/>
          <p:nvPr/>
        </p:nvCxnSpPr>
        <p:spPr bwMode="auto">
          <a:xfrm>
            <a:off x="6659911" y="3165172"/>
            <a:ext cx="0" cy="282878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43" name="Line 13">
            <a:extLst>
              <a:ext uri="{FF2B5EF4-FFF2-40B4-BE49-F238E27FC236}">
                <a16:creationId xmlns:a16="http://schemas.microsoft.com/office/drawing/2014/main" id="{64376C6A-8914-47A0-AAED-22EFBBFF084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76382" y="3451272"/>
            <a:ext cx="367057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44" name="Line 14">
            <a:extLst>
              <a:ext uri="{FF2B5EF4-FFF2-40B4-BE49-F238E27FC236}">
                <a16:creationId xmlns:a16="http://schemas.microsoft.com/office/drawing/2014/main" id="{DD0FD845-A94B-412C-A43F-4C18BBA4BA3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474365" y="3346399"/>
            <a:ext cx="0" cy="94789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45" name="Line 15">
            <a:extLst>
              <a:ext uri="{FF2B5EF4-FFF2-40B4-BE49-F238E27FC236}">
                <a16:creationId xmlns:a16="http://schemas.microsoft.com/office/drawing/2014/main" id="{FD65782C-583A-4A42-8240-2CB16D49A62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43439" y="3356483"/>
            <a:ext cx="0" cy="94789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46" name="流程图: 联系 102">
            <a:extLst>
              <a:ext uri="{FF2B5EF4-FFF2-40B4-BE49-F238E27FC236}">
                <a16:creationId xmlns:a16="http://schemas.microsoft.com/office/drawing/2014/main" id="{A6DCEAD9-EC52-41F7-87A8-B0645C360332}"/>
              </a:ext>
            </a:extLst>
          </p:cNvPr>
          <p:cNvSpPr/>
          <p:nvPr/>
        </p:nvSpPr>
        <p:spPr bwMode="auto">
          <a:xfrm>
            <a:off x="3398204" y="4114800"/>
            <a:ext cx="401957" cy="479577"/>
          </a:xfrm>
          <a:prstGeom prst="flowChartConnector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347" name="对象 346">
            <a:extLst>
              <a:ext uri="{FF2B5EF4-FFF2-40B4-BE49-F238E27FC236}">
                <a16:creationId xmlns:a16="http://schemas.microsoft.com/office/drawing/2014/main" id="{69705290-518B-45F3-A6BE-A577F345984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693407"/>
              </p:ext>
            </p:extLst>
          </p:nvPr>
        </p:nvGraphicFramePr>
        <p:xfrm>
          <a:off x="2015880" y="1749425"/>
          <a:ext cx="411163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05" name="Equation" r:id="rId18" imgW="228600" imgH="304560" progId="Equation.DSMT4">
                  <p:embed/>
                </p:oleObj>
              </mc:Choice>
              <mc:Fallback>
                <p:oleObj name="Equation" r:id="rId18" imgW="228600" imgH="304560" progId="Equation.DSMT4">
                  <p:embed/>
                  <p:pic>
                    <p:nvPicPr>
                      <p:cNvPr id="6" name="对象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15880" y="1749425"/>
                        <a:ext cx="411163" cy="550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" name="弧形 347">
            <a:extLst>
              <a:ext uri="{FF2B5EF4-FFF2-40B4-BE49-F238E27FC236}">
                <a16:creationId xmlns:a16="http://schemas.microsoft.com/office/drawing/2014/main" id="{6D519A22-8869-455C-9E07-88A51F9D2FEF}"/>
              </a:ext>
            </a:extLst>
          </p:cNvPr>
          <p:cNvSpPr/>
          <p:nvPr/>
        </p:nvSpPr>
        <p:spPr bwMode="auto">
          <a:xfrm>
            <a:off x="1982246" y="2294504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矩形 349">
                <a:extLst>
                  <a:ext uri="{FF2B5EF4-FFF2-40B4-BE49-F238E27FC236}">
                    <a16:creationId xmlns:a16="http://schemas.microsoft.com/office/drawing/2014/main" id="{229C683E-E26F-4F62-B1E5-A2BA6BF4245C}"/>
                  </a:ext>
                </a:extLst>
              </p:cNvPr>
              <p:cNvSpPr/>
              <p:nvPr/>
            </p:nvSpPr>
            <p:spPr>
              <a:xfrm>
                <a:off x="8720084" y="3996471"/>
                <a:ext cx="2709915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sz="2000" dirty="0">
                    <a:latin typeface="+mn-ea"/>
                  </a:rPr>
                  <a:t>液压马达排量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+mn-ea"/>
                  </a:rPr>
                  <a:t>固定</a:t>
                </a:r>
              </a:p>
            </p:txBody>
          </p:sp>
        </mc:Choice>
        <mc:Fallback xmlns="">
          <p:sp>
            <p:nvSpPr>
              <p:cNvPr id="350" name="矩形 349">
                <a:extLst>
                  <a:ext uri="{FF2B5EF4-FFF2-40B4-BE49-F238E27FC236}">
                    <a16:creationId xmlns:a16="http://schemas.microsoft.com/office/drawing/2014/main" id="{229C683E-E26F-4F62-B1E5-A2BA6BF424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0084" y="3996471"/>
                <a:ext cx="2709915" cy="400110"/>
              </a:xfrm>
              <a:prstGeom prst="rect">
                <a:avLst/>
              </a:prstGeom>
              <a:blipFill>
                <a:blip r:embed="rId20"/>
                <a:stretch>
                  <a:fillRect l="-2247" t="-9231" b="-2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矩形 350">
                <a:extLst>
                  <a:ext uri="{FF2B5EF4-FFF2-40B4-BE49-F238E27FC236}">
                    <a16:creationId xmlns:a16="http://schemas.microsoft.com/office/drawing/2014/main" id="{0529D181-955F-4005-BC98-CBC8AA73D213}"/>
                  </a:ext>
                </a:extLst>
              </p:cNvPr>
              <p:cNvSpPr/>
              <p:nvPr/>
            </p:nvSpPr>
            <p:spPr>
              <a:xfrm>
                <a:off x="8720085" y="3447981"/>
                <a:ext cx="2562176" cy="42377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sz="2000" dirty="0">
                    <a:latin typeface="+mn-ea"/>
                  </a:rPr>
                  <a:t>液压泵转速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+mn-ea"/>
                  </a:rPr>
                  <a:t>恒定</a:t>
                </a:r>
              </a:p>
            </p:txBody>
          </p:sp>
        </mc:Choice>
        <mc:Fallback xmlns="">
          <p:sp>
            <p:nvSpPr>
              <p:cNvPr id="351" name="矩形 350">
                <a:extLst>
                  <a:ext uri="{FF2B5EF4-FFF2-40B4-BE49-F238E27FC236}">
                    <a16:creationId xmlns:a16="http://schemas.microsoft.com/office/drawing/2014/main" id="{0529D181-955F-4005-BC98-CBC8AA73D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0085" y="3447981"/>
                <a:ext cx="2562176" cy="423770"/>
              </a:xfrm>
              <a:prstGeom prst="rect">
                <a:avLst/>
              </a:prstGeom>
              <a:blipFill>
                <a:blip r:embed="rId21"/>
                <a:stretch>
                  <a:fillRect l="-2375" t="-8696" b="-202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2" name="矩形 351">
            <a:extLst>
              <a:ext uri="{FF2B5EF4-FFF2-40B4-BE49-F238E27FC236}">
                <a16:creationId xmlns:a16="http://schemas.microsoft.com/office/drawing/2014/main" id="{C8264F8A-5DB6-4CF8-ADBC-4933FAB15BDB}"/>
              </a:ext>
            </a:extLst>
          </p:cNvPr>
          <p:cNvSpPr/>
          <p:nvPr/>
        </p:nvSpPr>
        <p:spPr>
          <a:xfrm>
            <a:off x="8720084" y="2608083"/>
            <a:ext cx="325439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+mn-ea"/>
              </a:rPr>
              <a:t>改变液压泵排量，马达转速和输出功率随之变化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2C773927-5766-4C0D-A405-59F3EDA63EA8}"/>
                  </a:ext>
                </a:extLst>
              </p:cNvPr>
              <p:cNvSpPr/>
              <p:nvPr/>
            </p:nvSpPr>
            <p:spPr>
              <a:xfrm>
                <a:off x="8720084" y="4714456"/>
                <a:ext cx="3254390" cy="1015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sz="2000" dirty="0">
                    <a:latin typeface="+mn-ea"/>
                  </a:rPr>
                  <a:t>液压马达的输出转矩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zh-CN" altLang="en-US" sz="2000" i="1" smtClean="0">
                        <a:latin typeface="Cambria Math" panose="02040503050406030204" pitchFamily="18" charset="0"/>
                      </a:rPr>
                      <m:t>由</m:t>
                    </m:r>
                  </m:oMath>
                </a14:m>
                <a:r>
                  <a:rPr lang="zh-CN" altLang="en-US" sz="2000" dirty="0">
                    <a:latin typeface="+mn-ea"/>
                  </a:rPr>
                  <a:t>负载决定，不因调速变化，也称</a:t>
                </a:r>
                <a:r>
                  <a:rPr lang="zh-CN" altLang="en-US" sz="2000" b="1" dirty="0">
                    <a:solidFill>
                      <a:srgbClr val="0070C0"/>
                    </a:solidFill>
                    <a:latin typeface="+mn-ea"/>
                  </a:rPr>
                  <a:t>恒转矩调速回路</a:t>
                </a:r>
              </a:p>
            </p:txBody>
          </p:sp>
        </mc:Choice>
        <mc:Fallback xmlns=""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2C773927-5766-4C0D-A405-59F3EDA63E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0084" y="4714456"/>
                <a:ext cx="3254390" cy="1015663"/>
              </a:xfrm>
              <a:prstGeom prst="rect">
                <a:avLst/>
              </a:prstGeom>
              <a:blipFill>
                <a:blip r:embed="rId22"/>
                <a:stretch>
                  <a:fillRect l="-1873" t="-2994" r="-1873" b="-9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4" name="矩形 353">
                <a:extLst>
                  <a:ext uri="{FF2B5EF4-FFF2-40B4-BE49-F238E27FC236}">
                    <a16:creationId xmlns:a16="http://schemas.microsoft.com/office/drawing/2014/main" id="{70D55B31-7E63-444A-B877-6ACBF1BC14AA}"/>
                  </a:ext>
                </a:extLst>
              </p:cNvPr>
              <p:cNvSpPr/>
              <p:nvPr/>
            </p:nvSpPr>
            <p:spPr>
              <a:xfrm>
                <a:off x="8720085" y="2079652"/>
                <a:ext cx="3435905" cy="3964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CN" altLang="en-US" sz="2000" dirty="0">
                    <a:latin typeface="+mn-ea"/>
                  </a:rPr>
                  <a:t>回路的工作压力</a:t>
                </a:r>
                <a14:m>
                  <m:oMath xmlns:m="http://schemas.openxmlformats.org/officeDocument/2006/math">
                    <m:r>
                      <a:rPr lang="en-US" altLang="zh-CN" sz="200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CN" altLang="en-US" sz="2000" dirty="0">
                    <a:latin typeface="+mn-ea"/>
                  </a:rPr>
                  <a:t>由负载决定</a:t>
                </a:r>
              </a:p>
            </p:txBody>
          </p:sp>
        </mc:Choice>
        <mc:Fallback xmlns="">
          <p:sp>
            <p:nvSpPr>
              <p:cNvPr id="354" name="矩形 353">
                <a:extLst>
                  <a:ext uri="{FF2B5EF4-FFF2-40B4-BE49-F238E27FC236}">
                    <a16:creationId xmlns:a16="http://schemas.microsoft.com/office/drawing/2014/main" id="{70D55B31-7E63-444A-B877-6ACBF1BC14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0085" y="2079652"/>
                <a:ext cx="3435905" cy="396419"/>
              </a:xfrm>
              <a:prstGeom prst="rect">
                <a:avLst/>
              </a:prstGeom>
              <a:blipFill>
                <a:blip r:embed="rId23"/>
                <a:stretch>
                  <a:fillRect l="-1773" t="-7692" r="-709" b="-2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5" name="矩形 354">
            <a:extLst>
              <a:ext uri="{FF2B5EF4-FFF2-40B4-BE49-F238E27FC236}">
                <a16:creationId xmlns:a16="http://schemas.microsoft.com/office/drawing/2014/main" id="{9D5D151D-3A9E-47FB-BDBF-B15E65CF23F3}"/>
              </a:ext>
            </a:extLst>
          </p:cNvPr>
          <p:cNvSpPr/>
          <p:nvPr/>
        </p:nvSpPr>
        <p:spPr>
          <a:xfrm>
            <a:off x="8720085" y="1547530"/>
            <a:ext cx="95410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dirty="0">
                <a:latin typeface="+mn-ea"/>
              </a:rPr>
              <a:t>特点：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D70A1D3-8577-4452-82DD-59048C1C5877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13/35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3909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2" grpId="0"/>
      <p:bldP spid="333" grpId="0"/>
      <p:bldP spid="34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>
            <a:extLst>
              <a:ext uri="{FF2B5EF4-FFF2-40B4-BE49-F238E27FC236}">
                <a16:creationId xmlns:a16="http://schemas.microsoft.com/office/drawing/2014/main" id="{D7D9AA2C-0561-431E-A0DE-2A8B3A7E790A}"/>
              </a:ext>
            </a:extLst>
          </p:cNvPr>
          <p:cNvSpPr/>
          <p:nvPr/>
        </p:nvSpPr>
        <p:spPr>
          <a:xfrm>
            <a:off x="818443" y="836106"/>
            <a:ext cx="7265130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变量泵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定量马达（</a:t>
            </a:r>
            <a:r>
              <a:rPr lang="zh-CN" altLang="en-US" sz="2800" b="1" dirty="0">
                <a:solidFill>
                  <a:srgbClr val="0000FF"/>
                </a:solidFill>
                <a:latin typeface="+mn-ea"/>
              </a:rPr>
              <a:t>恒转矩容积</a:t>
            </a:r>
            <a:r>
              <a:rPr lang="zh-CN" altLang="en-US" sz="2800" dirty="0">
                <a:solidFill>
                  <a:srgbClr val="0000FF"/>
                </a:solidFill>
                <a:latin typeface="+mn-ea"/>
              </a:rPr>
              <a:t>调速回路</a:t>
            </a:r>
            <a:r>
              <a:rPr lang="zh-CN" altLang="en-US" sz="2800" dirty="0">
                <a:latin typeface="+mn-ea"/>
              </a:rPr>
              <a:t>）</a:t>
            </a: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9F43751-1FCA-4F33-AEF0-863FBDBF25AD}"/>
              </a:ext>
            </a:extLst>
          </p:cNvPr>
          <p:cNvCxnSpPr/>
          <p:nvPr/>
        </p:nvCxnSpPr>
        <p:spPr bwMode="auto">
          <a:xfrm>
            <a:off x="1678972" y="6460947"/>
            <a:ext cx="4248317" cy="0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BB5022BB-0C3E-4DD1-B0AE-B7AD695B4A1B}"/>
              </a:ext>
            </a:extLst>
          </p:cNvPr>
          <p:cNvCxnSpPr/>
          <p:nvPr/>
        </p:nvCxnSpPr>
        <p:spPr bwMode="auto">
          <a:xfrm flipV="1">
            <a:off x="1678972" y="2962084"/>
            <a:ext cx="0" cy="3498864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aphicFrame>
        <p:nvGraphicFramePr>
          <p:cNvPr id="80" name="对象 79">
            <a:extLst>
              <a:ext uri="{FF2B5EF4-FFF2-40B4-BE49-F238E27FC236}">
                <a16:creationId xmlns:a16="http://schemas.microsoft.com/office/drawing/2014/main" id="{5A056C34-B0F3-4A1F-99C1-D875DD12DA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9684077"/>
              </p:ext>
            </p:extLst>
          </p:nvPr>
        </p:nvGraphicFramePr>
        <p:xfrm>
          <a:off x="5270062" y="5764715"/>
          <a:ext cx="4159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51" name="Equation" r:id="rId4" imgW="177480" imgH="241200" progId="Equation.DSMT4">
                  <p:embed/>
                </p:oleObj>
              </mc:Choice>
              <mc:Fallback>
                <p:oleObj name="Equation" r:id="rId4" imgW="177480" imgH="241200" progId="Equation.DSMT4">
                  <p:embed/>
                  <p:pic>
                    <p:nvPicPr>
                      <p:cNvPr id="10" name="对象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70062" y="5764715"/>
                        <a:ext cx="4159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755F799-DF7A-4041-AD3B-5EB1312FF25F}"/>
              </a:ext>
            </a:extLst>
          </p:cNvPr>
          <p:cNvCxnSpPr>
            <a:cxnSpLocks/>
          </p:cNvCxnSpPr>
          <p:nvPr/>
        </p:nvCxnSpPr>
        <p:spPr bwMode="auto">
          <a:xfrm flipV="1">
            <a:off x="2188029" y="3744671"/>
            <a:ext cx="3376403" cy="2716276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aphicFrame>
        <p:nvGraphicFramePr>
          <p:cNvPr id="82" name="对象 81">
            <a:extLst>
              <a:ext uri="{FF2B5EF4-FFF2-40B4-BE49-F238E27FC236}">
                <a16:creationId xmlns:a16="http://schemas.microsoft.com/office/drawing/2014/main" id="{FF0AEABC-AEF4-470E-9643-DE647346AA4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01981404"/>
              </p:ext>
            </p:extLst>
          </p:nvPr>
        </p:nvGraphicFramePr>
        <p:xfrm>
          <a:off x="4025464" y="4910138"/>
          <a:ext cx="506413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52" name="Equation" r:id="rId6" imgW="215640" imgH="228600" progId="Equation.DSMT4">
                  <p:embed/>
                </p:oleObj>
              </mc:Choice>
              <mc:Fallback>
                <p:oleObj name="Equation" r:id="rId6" imgW="215640" imgH="228600" progId="Equation.DSMT4">
                  <p:embed/>
                  <p:pic>
                    <p:nvPicPr>
                      <p:cNvPr id="24" name="对象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25464" y="4910138"/>
                        <a:ext cx="506413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3" name="组合 82">
            <a:extLst>
              <a:ext uri="{FF2B5EF4-FFF2-40B4-BE49-F238E27FC236}">
                <a16:creationId xmlns:a16="http://schemas.microsoft.com/office/drawing/2014/main" id="{83EE3A51-2EF8-4973-8DF2-6B9078B5DA29}"/>
              </a:ext>
            </a:extLst>
          </p:cNvPr>
          <p:cNvGrpSpPr/>
          <p:nvPr/>
        </p:nvGrpSpPr>
        <p:grpSpPr>
          <a:xfrm>
            <a:off x="2188029" y="3251184"/>
            <a:ext cx="2403946" cy="3209763"/>
            <a:chOff x="1340740" y="3251184"/>
            <a:chExt cx="2403946" cy="3209763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43DD379B-B2B8-4758-83E4-DA723ACEB13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340740" y="3251184"/>
              <a:ext cx="2403946" cy="3209763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7030A0"/>
              </a:solidFill>
              <a:prstDash val="sysDash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aphicFrame>
          <p:nvGraphicFramePr>
            <p:cNvPr id="85" name="对象 84">
              <a:extLst>
                <a:ext uri="{FF2B5EF4-FFF2-40B4-BE49-F238E27FC236}">
                  <a16:creationId xmlns:a16="http://schemas.microsoft.com/office/drawing/2014/main" id="{5272FFDB-25B5-4BF2-90A7-DF4A7F1C9CB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55659779"/>
                </p:ext>
              </p:extLst>
            </p:nvPr>
          </p:nvGraphicFramePr>
          <p:xfrm>
            <a:off x="1806575" y="4224338"/>
            <a:ext cx="506413" cy="533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253" name="Equation" r:id="rId8" imgW="215640" imgH="228600" progId="Equation.DSMT4">
                    <p:embed/>
                  </p:oleObj>
                </mc:Choice>
                <mc:Fallback>
                  <p:oleObj name="Equation" r:id="rId8" imgW="215640" imgH="228600" progId="Equation.DSMT4">
                    <p:embed/>
                    <p:pic>
                      <p:nvPicPr>
                        <p:cNvPr id="25" name="对象 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06575" y="4224338"/>
                          <a:ext cx="506413" cy="5334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251D1407-9EAB-420C-99CC-5980D7DFF676}"/>
              </a:ext>
            </a:extLst>
          </p:cNvPr>
          <p:cNvGrpSpPr/>
          <p:nvPr/>
        </p:nvGrpSpPr>
        <p:grpSpPr>
          <a:xfrm>
            <a:off x="1678972" y="3341203"/>
            <a:ext cx="4248317" cy="587470"/>
            <a:chOff x="831683" y="3341203"/>
            <a:chExt cx="4248317" cy="587470"/>
          </a:xfrm>
        </p:grpSpPr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762FD7CB-BCF7-4126-AEA7-3449A4CD76BD}"/>
                </a:ext>
              </a:extLst>
            </p:cNvPr>
            <p:cNvCxnSpPr/>
            <p:nvPr/>
          </p:nvCxnSpPr>
          <p:spPr bwMode="auto">
            <a:xfrm>
              <a:off x="831683" y="3928673"/>
              <a:ext cx="4248317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1616B6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aphicFrame>
          <p:nvGraphicFramePr>
            <p:cNvPr id="88" name="对象 87">
              <a:extLst>
                <a:ext uri="{FF2B5EF4-FFF2-40B4-BE49-F238E27FC236}">
                  <a16:creationId xmlns:a16="http://schemas.microsoft.com/office/drawing/2014/main" id="{ED14B1BA-0BFE-4A27-AEF1-C681055FC32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77739849"/>
                </p:ext>
              </p:extLst>
            </p:nvPr>
          </p:nvGraphicFramePr>
          <p:xfrm>
            <a:off x="2022512" y="3341203"/>
            <a:ext cx="476250" cy="533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254" name="Equation" r:id="rId10" imgW="203040" imgH="228600" progId="Equation.DSMT4">
                    <p:embed/>
                  </p:oleObj>
                </mc:Choice>
                <mc:Fallback>
                  <p:oleObj name="Equation" r:id="rId10" imgW="203040" imgH="228600" progId="Equation.DSMT4">
                    <p:embed/>
                    <p:pic>
                      <p:nvPicPr>
                        <p:cNvPr id="26" name="对象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22512" y="3341203"/>
                          <a:ext cx="476250" cy="5334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89" name="TextBox 29">
            <a:extLst>
              <a:ext uri="{FF2B5EF4-FFF2-40B4-BE49-F238E27FC236}">
                <a16:creationId xmlns:a16="http://schemas.microsoft.com/office/drawing/2014/main" id="{2A99246C-CBF0-455C-AB5F-D91AFDE275F0}"/>
              </a:ext>
            </a:extLst>
          </p:cNvPr>
          <p:cNvSpPr txBox="1"/>
          <p:nvPr/>
        </p:nvSpPr>
        <p:spPr>
          <a:xfrm>
            <a:off x="6230886" y="1418104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马达转速</a:t>
            </a:r>
          </a:p>
        </p:txBody>
      </p:sp>
      <p:graphicFrame>
        <p:nvGraphicFramePr>
          <p:cNvPr id="90" name="对象 89">
            <a:extLst>
              <a:ext uri="{FF2B5EF4-FFF2-40B4-BE49-F238E27FC236}">
                <a16:creationId xmlns:a16="http://schemas.microsoft.com/office/drawing/2014/main" id="{7209723E-611D-4D24-B665-FD7383E10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7732934"/>
              </p:ext>
            </p:extLst>
          </p:nvPr>
        </p:nvGraphicFramePr>
        <p:xfrm>
          <a:off x="6991107" y="1931404"/>
          <a:ext cx="3638793" cy="13797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55" name="Equation" r:id="rId12" imgW="1701720" imgH="647640" progId="Equation.DSMT4">
                  <p:embed/>
                </p:oleObj>
              </mc:Choice>
              <mc:Fallback>
                <p:oleObj name="Equation" r:id="rId12" imgW="1701720" imgH="647640" progId="Equation.DSMT4">
                  <p:embed/>
                  <p:pic>
                    <p:nvPicPr>
                      <p:cNvPr id="19" name="对象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91107" y="1931404"/>
                        <a:ext cx="3638793" cy="13797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91" name="TextBox 30">
            <a:extLst>
              <a:ext uri="{FF2B5EF4-FFF2-40B4-BE49-F238E27FC236}">
                <a16:creationId xmlns:a16="http://schemas.microsoft.com/office/drawing/2014/main" id="{A4D6B720-2F56-4048-9351-F0900E73FEF0}"/>
              </a:ext>
            </a:extLst>
          </p:cNvPr>
          <p:cNvSpPr txBox="1"/>
          <p:nvPr/>
        </p:nvSpPr>
        <p:spPr>
          <a:xfrm>
            <a:off x="6230886" y="3424375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马达输出转矩</a:t>
            </a:r>
          </a:p>
        </p:txBody>
      </p:sp>
      <p:graphicFrame>
        <p:nvGraphicFramePr>
          <p:cNvPr id="92" name="对象 91">
            <a:extLst>
              <a:ext uri="{FF2B5EF4-FFF2-40B4-BE49-F238E27FC236}">
                <a16:creationId xmlns:a16="http://schemas.microsoft.com/office/drawing/2014/main" id="{9E228FA7-F803-4752-A7B0-CD14A91DBF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4256597"/>
              </p:ext>
            </p:extLst>
          </p:nvPr>
        </p:nvGraphicFramePr>
        <p:xfrm>
          <a:off x="8193639" y="3937675"/>
          <a:ext cx="1595437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56" name="Equation" r:id="rId14" imgW="685800" imgH="393480" progId="Equation.DSMT4">
                  <p:embed/>
                </p:oleObj>
              </mc:Choice>
              <mc:Fallback>
                <p:oleObj name="Equation" r:id="rId14" imgW="685800" imgH="393480" progId="Equation.DSMT4">
                  <p:embed/>
                  <p:pic>
                    <p:nvPicPr>
                      <p:cNvPr id="23" name="对象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93639" y="3937675"/>
                        <a:ext cx="1595437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3" name="TextBox 32">
            <a:extLst>
              <a:ext uri="{FF2B5EF4-FFF2-40B4-BE49-F238E27FC236}">
                <a16:creationId xmlns:a16="http://schemas.microsoft.com/office/drawing/2014/main" id="{30717E8A-EDEB-40EE-86C7-EF8A5D23E0DF}"/>
              </a:ext>
            </a:extLst>
          </p:cNvPr>
          <p:cNvSpPr txBox="1"/>
          <p:nvPr/>
        </p:nvSpPr>
        <p:spPr>
          <a:xfrm>
            <a:off x="6230886" y="4965265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马达输出功率</a:t>
            </a:r>
          </a:p>
        </p:txBody>
      </p: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6CFEC9B5-C306-4984-8CAB-228F0A5A6F08}"/>
              </a:ext>
            </a:extLst>
          </p:cNvPr>
          <p:cNvGrpSpPr/>
          <p:nvPr/>
        </p:nvGrpSpPr>
        <p:grpSpPr>
          <a:xfrm>
            <a:off x="2054504" y="1884392"/>
            <a:ext cx="803913" cy="777033"/>
            <a:chOff x="7148937" y="5261303"/>
            <a:chExt cx="803913" cy="777033"/>
          </a:xfrm>
        </p:grpSpPr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511D0B40-C3A7-49F9-9143-827DF6957B17}"/>
                </a:ext>
              </a:extLst>
            </p:cNvPr>
            <p:cNvSpPr/>
            <p:nvPr/>
          </p:nvSpPr>
          <p:spPr bwMode="auto">
            <a:xfrm>
              <a:off x="7148937" y="526130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96" name="等腰三角形 95">
              <a:extLst>
                <a:ext uri="{FF2B5EF4-FFF2-40B4-BE49-F238E27FC236}">
                  <a16:creationId xmlns:a16="http://schemas.microsoft.com/office/drawing/2014/main" id="{51E589E5-962E-4B31-B529-3BBB303846DA}"/>
                </a:ext>
              </a:extLst>
            </p:cNvPr>
            <p:cNvSpPr/>
            <p:nvPr/>
          </p:nvSpPr>
          <p:spPr bwMode="auto">
            <a:xfrm>
              <a:off x="7422367" y="5261303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C570A780-075B-4112-A51C-2951F5F7DFD7}"/>
              </a:ext>
            </a:extLst>
          </p:cNvPr>
          <p:cNvCxnSpPr/>
          <p:nvPr/>
        </p:nvCxnSpPr>
        <p:spPr bwMode="auto">
          <a:xfrm>
            <a:off x="2456461" y="2676386"/>
            <a:ext cx="0" cy="230429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F63B0B0-0C8E-4439-B081-87633A789CF1}"/>
              </a:ext>
            </a:extLst>
          </p:cNvPr>
          <p:cNvCxnSpPr/>
          <p:nvPr/>
        </p:nvCxnSpPr>
        <p:spPr bwMode="auto">
          <a:xfrm>
            <a:off x="2456461" y="1660156"/>
            <a:ext cx="0" cy="235591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24472AA0-EEDC-43C9-950F-4C69CA9AF5B4}"/>
              </a:ext>
            </a:extLst>
          </p:cNvPr>
          <p:cNvCxnSpPr/>
          <p:nvPr/>
        </p:nvCxnSpPr>
        <p:spPr bwMode="auto">
          <a:xfrm flipH="1">
            <a:off x="2456460" y="1660156"/>
            <a:ext cx="2057556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7D3A6AE6-A4BB-40A1-875F-81F07AA7A3FD}"/>
              </a:ext>
            </a:extLst>
          </p:cNvPr>
          <p:cNvCxnSpPr/>
          <p:nvPr/>
        </p:nvCxnSpPr>
        <p:spPr bwMode="auto">
          <a:xfrm flipH="1">
            <a:off x="2456461" y="2906815"/>
            <a:ext cx="2057556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1" name="等腰三角形 100">
            <a:extLst>
              <a:ext uri="{FF2B5EF4-FFF2-40B4-BE49-F238E27FC236}">
                <a16:creationId xmlns:a16="http://schemas.microsoft.com/office/drawing/2014/main" id="{6CA6FCCA-F757-4EED-9388-AF235FC07397}"/>
              </a:ext>
            </a:extLst>
          </p:cNvPr>
          <p:cNvSpPr/>
          <p:nvPr/>
        </p:nvSpPr>
        <p:spPr bwMode="auto">
          <a:xfrm rot="10800000">
            <a:off x="2341904" y="2463883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2086405B-B02B-435D-B629-FA584B8FF910}"/>
              </a:ext>
            </a:extLst>
          </p:cNvPr>
          <p:cNvSpPr/>
          <p:nvPr/>
        </p:nvSpPr>
        <p:spPr bwMode="auto">
          <a:xfrm>
            <a:off x="4112060" y="1873192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03" name="等腰三角形 102">
            <a:extLst>
              <a:ext uri="{FF2B5EF4-FFF2-40B4-BE49-F238E27FC236}">
                <a16:creationId xmlns:a16="http://schemas.microsoft.com/office/drawing/2014/main" id="{78B56C2C-D238-4DEE-A715-742DACB66F2E}"/>
              </a:ext>
            </a:extLst>
          </p:cNvPr>
          <p:cNvSpPr/>
          <p:nvPr/>
        </p:nvSpPr>
        <p:spPr bwMode="auto">
          <a:xfrm flipV="1">
            <a:off x="4385490" y="1882717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14B7B30E-4201-470C-B203-01AB3D2EFF32}"/>
              </a:ext>
            </a:extLst>
          </p:cNvPr>
          <p:cNvCxnSpPr/>
          <p:nvPr/>
        </p:nvCxnSpPr>
        <p:spPr bwMode="auto">
          <a:xfrm>
            <a:off x="4514017" y="2665186"/>
            <a:ext cx="0" cy="241629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719E06B-A02A-483D-A701-A330C917BAD2}"/>
              </a:ext>
            </a:extLst>
          </p:cNvPr>
          <p:cNvCxnSpPr/>
          <p:nvPr/>
        </p:nvCxnSpPr>
        <p:spPr bwMode="auto">
          <a:xfrm>
            <a:off x="4514017" y="1660156"/>
            <a:ext cx="0" cy="224391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6" name="等腰三角形 105">
            <a:extLst>
              <a:ext uri="{FF2B5EF4-FFF2-40B4-BE49-F238E27FC236}">
                <a16:creationId xmlns:a16="http://schemas.microsoft.com/office/drawing/2014/main" id="{E2E2F2FB-D519-4049-964B-0CF62A9D04F3}"/>
              </a:ext>
            </a:extLst>
          </p:cNvPr>
          <p:cNvSpPr/>
          <p:nvPr/>
        </p:nvSpPr>
        <p:spPr bwMode="auto">
          <a:xfrm rot="10800000" flipV="1">
            <a:off x="4399460" y="2437997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6958C1C-CA25-4321-A88E-D1F9AE5F6199}"/>
              </a:ext>
            </a:extLst>
          </p:cNvPr>
          <p:cNvCxnSpPr/>
          <p:nvPr/>
        </p:nvCxnSpPr>
        <p:spPr bwMode="auto">
          <a:xfrm flipV="1">
            <a:off x="1990791" y="1933847"/>
            <a:ext cx="940546" cy="699538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4C2276C1-34ED-47E3-849A-90E86079098E}"/>
              </a:ext>
            </a:extLst>
          </p:cNvPr>
          <p:cNvGrpSpPr/>
          <p:nvPr/>
        </p:nvGrpSpPr>
        <p:grpSpPr>
          <a:xfrm>
            <a:off x="4915973" y="2170151"/>
            <a:ext cx="513365" cy="183114"/>
            <a:chOff x="1841215" y="2732753"/>
            <a:chExt cx="513365" cy="183114"/>
          </a:xfrm>
        </p:grpSpPr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B3FF1BAD-137F-4313-933E-E92D50777875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27C7F739-F124-4EBA-840D-76065ECF3527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11" name="矩形 110">
            <a:extLst>
              <a:ext uri="{FF2B5EF4-FFF2-40B4-BE49-F238E27FC236}">
                <a16:creationId xmlns:a16="http://schemas.microsoft.com/office/drawing/2014/main" id="{43615114-2BD5-4364-9424-AD0076AF1081}"/>
              </a:ext>
            </a:extLst>
          </p:cNvPr>
          <p:cNvSpPr/>
          <p:nvPr/>
        </p:nvSpPr>
        <p:spPr bwMode="auto">
          <a:xfrm>
            <a:off x="5429338" y="1959728"/>
            <a:ext cx="332850" cy="59247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12" name="弧形 111">
            <a:extLst>
              <a:ext uri="{FF2B5EF4-FFF2-40B4-BE49-F238E27FC236}">
                <a16:creationId xmlns:a16="http://schemas.microsoft.com/office/drawing/2014/main" id="{37DF76B8-E6C2-4A74-8281-BED9CDE36E3B}"/>
              </a:ext>
            </a:extLst>
          </p:cNvPr>
          <p:cNvSpPr/>
          <p:nvPr/>
        </p:nvSpPr>
        <p:spPr bwMode="auto">
          <a:xfrm>
            <a:off x="4933633" y="1984317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113" name="对象 112">
            <a:extLst>
              <a:ext uri="{FF2B5EF4-FFF2-40B4-BE49-F238E27FC236}">
                <a16:creationId xmlns:a16="http://schemas.microsoft.com/office/drawing/2014/main" id="{BFA276C6-D2E4-4E62-93B1-7CD7B7DF5A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8297347"/>
              </p:ext>
            </p:extLst>
          </p:nvPr>
        </p:nvGraphicFramePr>
        <p:xfrm>
          <a:off x="5025589" y="1509713"/>
          <a:ext cx="479425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57" name="Equation" r:id="rId16" imgW="266400" imgH="279360" progId="Equation.DSMT4">
                  <p:embed/>
                </p:oleObj>
              </mc:Choice>
              <mc:Fallback>
                <p:oleObj name="Equation" r:id="rId16" imgW="266400" imgH="279360" progId="Equation.DSMT4">
                  <p:embed/>
                  <p:pic>
                    <p:nvPicPr>
                      <p:cNvPr id="54" name="对象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5589" y="1509713"/>
                        <a:ext cx="479425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" name="对象 113">
            <a:extLst>
              <a:ext uri="{FF2B5EF4-FFF2-40B4-BE49-F238E27FC236}">
                <a16:creationId xmlns:a16="http://schemas.microsoft.com/office/drawing/2014/main" id="{153C5A76-DC3D-4CBC-9D6E-AE9EA037A2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6764823"/>
              </p:ext>
            </p:extLst>
          </p:nvPr>
        </p:nvGraphicFramePr>
        <p:xfrm>
          <a:off x="3267689" y="1704453"/>
          <a:ext cx="354013" cy="382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58" name="Equation" r:id="rId18" imgW="152280" imgH="164880" progId="Equation.DSMT4">
                  <p:embed/>
                </p:oleObj>
              </mc:Choice>
              <mc:Fallback>
                <p:oleObj name="Equation" r:id="rId18" imgW="152280" imgH="164880" progId="Equation.DSMT4">
                  <p:embed/>
                  <p:pic>
                    <p:nvPicPr>
                      <p:cNvPr id="34" name="对象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67689" y="1704453"/>
                        <a:ext cx="354013" cy="382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" name="对象 114">
            <a:extLst>
              <a:ext uri="{FF2B5EF4-FFF2-40B4-BE49-F238E27FC236}">
                <a16:creationId xmlns:a16="http://schemas.microsoft.com/office/drawing/2014/main" id="{60187861-85C7-47CD-9DCF-7AEF792C52F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6435783"/>
              </p:ext>
            </p:extLst>
          </p:nvPr>
        </p:nvGraphicFramePr>
        <p:xfrm>
          <a:off x="4944627" y="2538413"/>
          <a:ext cx="457200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59" name="Equation" r:id="rId20" imgW="253800" imgH="279360" progId="Equation.DSMT4">
                  <p:embed/>
                </p:oleObj>
              </mc:Choice>
              <mc:Fallback>
                <p:oleObj name="Equation" r:id="rId20" imgW="253800" imgH="279360" progId="Equation.DSMT4">
                  <p:embed/>
                  <p:pic>
                    <p:nvPicPr>
                      <p:cNvPr id="56" name="对象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44627" y="2538413"/>
                        <a:ext cx="457200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" name="对象 115">
            <a:extLst>
              <a:ext uri="{FF2B5EF4-FFF2-40B4-BE49-F238E27FC236}">
                <a16:creationId xmlns:a16="http://schemas.microsoft.com/office/drawing/2014/main" id="{D7BAE2D1-BEFC-4321-BA6D-F475F4DF25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3000970"/>
              </p:ext>
            </p:extLst>
          </p:nvPr>
        </p:nvGraphicFramePr>
        <p:xfrm>
          <a:off x="6889690" y="5478565"/>
          <a:ext cx="4488105" cy="9502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60" name="Equation" r:id="rId22" imgW="2247840" imgH="482400" progId="Equation.DSMT4">
                  <p:embed/>
                </p:oleObj>
              </mc:Choice>
              <mc:Fallback>
                <p:oleObj name="Equation" r:id="rId22" imgW="2247840" imgH="482400" progId="Equation.DSMT4">
                  <p:embed/>
                  <p:pic>
                    <p:nvPicPr>
                      <p:cNvPr id="2" name="对象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9690" y="5478565"/>
                        <a:ext cx="4488105" cy="95028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6E6B49B0-0541-48A7-B400-ECCF7BE6930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498662"/>
              </p:ext>
            </p:extLst>
          </p:nvPr>
        </p:nvGraphicFramePr>
        <p:xfrm>
          <a:off x="3077272" y="5586234"/>
          <a:ext cx="1698625" cy="874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61" name="Equation" r:id="rId24" imgW="850680" imgH="444240" progId="Equation.DSMT4">
                  <p:embed/>
                </p:oleObj>
              </mc:Choice>
              <mc:Fallback>
                <p:oleObj name="Equation" r:id="rId24" imgW="850680" imgH="444240" progId="Equation.DSMT4">
                  <p:embed/>
                  <p:pic>
                    <p:nvPicPr>
                      <p:cNvPr id="116" name="对象 115">
                        <a:extLst>
                          <a:ext uri="{FF2B5EF4-FFF2-40B4-BE49-F238E27FC236}">
                            <a16:creationId xmlns:a16="http://schemas.microsoft.com/office/drawing/2014/main" id="{D7BAE2D1-BEFC-4321-BA6D-F475F4DF25D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7272" y="5586234"/>
                        <a:ext cx="1698625" cy="874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>
            <a:extLst>
              <a:ext uri="{FF2B5EF4-FFF2-40B4-BE49-F238E27FC236}">
                <a16:creationId xmlns:a16="http://schemas.microsoft.com/office/drawing/2014/main" id="{87546873-270E-4FC1-9BC4-0EEAB0986612}"/>
              </a:ext>
            </a:extLst>
          </p:cNvPr>
          <p:cNvSpPr/>
          <p:nvPr/>
        </p:nvSpPr>
        <p:spPr>
          <a:xfrm>
            <a:off x="2217865" y="6496615"/>
            <a:ext cx="25923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latin typeface="+mn-ea"/>
              </a:rPr>
              <a:t>排量</a:t>
            </a:r>
            <a:r>
              <a:rPr lang="en-US" altLang="zh-CN" dirty="0">
                <a:latin typeface="+mn-ea"/>
              </a:rPr>
              <a:t>-</a:t>
            </a:r>
            <a:r>
              <a:rPr lang="zh-CN" altLang="en-US" dirty="0">
                <a:latin typeface="+mn-ea"/>
              </a:rPr>
              <a:t>转速曲线不过零点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32D1FBB-3672-4B06-9735-0FB26544A246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14/35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73468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3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/>
        </p:nvCxnSpPr>
        <p:spPr>
          <a:xfrm>
            <a:off x="0" y="805157"/>
            <a:ext cx="12192000" cy="0"/>
          </a:xfrm>
          <a:prstGeom prst="line">
            <a:avLst/>
          </a:prstGeom>
          <a:ln w="57150">
            <a:solidFill>
              <a:srgbClr val="003F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234" y="174524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429656" y="135415"/>
            <a:ext cx="5963587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003F88"/>
                </a:solidFill>
                <a:latin typeface="+mn-ea"/>
              </a:rPr>
              <a:t>第一节 概述</a:t>
            </a:r>
          </a:p>
        </p:txBody>
      </p:sp>
      <p:sp>
        <p:nvSpPr>
          <p:cNvPr id="25" name="矩形 24"/>
          <p:cNvSpPr/>
          <p:nvPr/>
        </p:nvSpPr>
        <p:spPr>
          <a:xfrm>
            <a:off x="-17100" y="174526"/>
            <a:ext cx="319314" cy="56810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714243" y="970895"/>
            <a:ext cx="2397067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泵的功率与效率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00ADB5B-D3A1-4EC0-A0A6-F417B180CBF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467"/>
          <a:stretch/>
        </p:blipFill>
        <p:spPr>
          <a:xfrm>
            <a:off x="142557" y="1874539"/>
            <a:ext cx="11779033" cy="446224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A32FCE1E-AB45-4644-AB8D-50EBE865977D}"/>
              </a:ext>
            </a:extLst>
          </p:cNvPr>
          <p:cNvSpPr/>
          <p:nvPr/>
        </p:nvSpPr>
        <p:spPr>
          <a:xfrm>
            <a:off x="7827693" y="1070868"/>
            <a:ext cx="2810059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马达的功率与效率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85AB31-37B5-4710-B415-5568D4A03D93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15/35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40575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>
            <a:extLst>
              <a:ext uri="{FF2B5EF4-FFF2-40B4-BE49-F238E27FC236}">
                <a16:creationId xmlns:a16="http://schemas.microsoft.com/office/drawing/2014/main" id="{D7D9AA2C-0561-431E-A0DE-2A8B3A7E790A}"/>
              </a:ext>
            </a:extLst>
          </p:cNvPr>
          <p:cNvSpPr/>
          <p:nvPr/>
        </p:nvSpPr>
        <p:spPr>
          <a:xfrm>
            <a:off x="818443" y="836106"/>
            <a:ext cx="3315331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定量泵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变量马达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43190E23-0B3E-40D8-A721-5185DC5F314C}"/>
              </a:ext>
            </a:extLst>
          </p:cNvPr>
          <p:cNvGrpSpPr/>
          <p:nvPr/>
        </p:nvGrpSpPr>
        <p:grpSpPr>
          <a:xfrm>
            <a:off x="4354336" y="2079135"/>
            <a:ext cx="803913" cy="777033"/>
            <a:chOff x="7148937" y="5261303"/>
            <a:chExt cx="803913" cy="777033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07994734-88B5-4DE2-BA26-63B6B79CAC5D}"/>
                </a:ext>
              </a:extLst>
            </p:cNvPr>
            <p:cNvSpPr/>
            <p:nvPr/>
          </p:nvSpPr>
          <p:spPr bwMode="auto">
            <a:xfrm>
              <a:off x="7148937" y="526130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12" name="等腰三角形 11">
              <a:extLst>
                <a:ext uri="{FF2B5EF4-FFF2-40B4-BE49-F238E27FC236}">
                  <a16:creationId xmlns:a16="http://schemas.microsoft.com/office/drawing/2014/main" id="{7E326DEB-7E1A-439F-8D0C-895099F05137}"/>
                </a:ext>
              </a:extLst>
            </p:cNvPr>
            <p:cNvSpPr/>
            <p:nvPr/>
          </p:nvSpPr>
          <p:spPr bwMode="auto">
            <a:xfrm>
              <a:off x="7422367" y="5261303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4FC84E9-D0BF-4A72-9616-DD7FC54BFCFA}"/>
              </a:ext>
            </a:extLst>
          </p:cNvPr>
          <p:cNvCxnSpPr>
            <a:stCxn id="11" idx="4"/>
          </p:cNvCxnSpPr>
          <p:nvPr/>
        </p:nvCxnSpPr>
        <p:spPr bwMode="auto">
          <a:xfrm>
            <a:off x="4756293" y="2856168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Line 33">
            <a:extLst>
              <a:ext uri="{FF2B5EF4-FFF2-40B4-BE49-F238E27FC236}">
                <a16:creationId xmlns:a16="http://schemas.microsoft.com/office/drawing/2014/main" id="{6AFFC94B-D17A-4F66-ADAC-65CAFBDD973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551372" y="3007927"/>
            <a:ext cx="577248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15" name="Line 29">
            <a:extLst>
              <a:ext uri="{FF2B5EF4-FFF2-40B4-BE49-F238E27FC236}">
                <a16:creationId xmlns:a16="http://schemas.microsoft.com/office/drawing/2014/main" id="{5A5B3060-DBC3-4124-A953-00472B97B3D1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177397" y="2369260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16" name="Line 26">
            <a:extLst>
              <a:ext uri="{FF2B5EF4-FFF2-40B4-BE49-F238E27FC236}">
                <a16:creationId xmlns:a16="http://schemas.microsoft.com/office/drawing/2014/main" id="{7D2C39A3-D427-4988-BFE8-85837E681A4F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6874184" y="2696285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17" name="Line 27">
            <a:extLst>
              <a:ext uri="{FF2B5EF4-FFF2-40B4-BE49-F238E27FC236}">
                <a16:creationId xmlns:a16="http://schemas.microsoft.com/office/drawing/2014/main" id="{FC3B4EF0-002E-48C1-84C7-EAD4739AB9BB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7191684" y="2821697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9C820391-6070-4C44-A3CB-AB988E32CBD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594783" y="2280359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19" name="Line 21">
            <a:extLst>
              <a:ext uri="{FF2B5EF4-FFF2-40B4-BE49-F238E27FC236}">
                <a16:creationId xmlns:a16="http://schemas.microsoft.com/office/drawing/2014/main" id="{8667F940-00E5-4677-A891-6D7E47678E2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699559" y="2491497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0" name="Line 22">
            <a:extLst>
              <a:ext uri="{FF2B5EF4-FFF2-40B4-BE49-F238E27FC236}">
                <a16:creationId xmlns:a16="http://schemas.microsoft.com/office/drawing/2014/main" id="{CD947359-F522-404E-8CDF-501CBAB9C457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6510646" y="2462922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1" name="Line 23">
            <a:extLst>
              <a:ext uri="{FF2B5EF4-FFF2-40B4-BE49-F238E27FC236}">
                <a16:creationId xmlns:a16="http://schemas.microsoft.com/office/drawing/2014/main" id="{2A7F8C75-7E40-4A1C-9C69-DE2F473813B4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441590" y="2462128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2" name="Line 24">
            <a:extLst>
              <a:ext uri="{FF2B5EF4-FFF2-40B4-BE49-F238E27FC236}">
                <a16:creationId xmlns:a16="http://schemas.microsoft.com/office/drawing/2014/main" id="{8834273F-0DF9-4B49-823E-2EC9E6D825CF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6377296" y="2467685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9468BB65-42E0-491C-905A-3096B5525549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308240" y="2466891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24" name="Line 30">
            <a:extLst>
              <a:ext uri="{FF2B5EF4-FFF2-40B4-BE49-F238E27FC236}">
                <a16:creationId xmlns:a16="http://schemas.microsoft.com/office/drawing/2014/main" id="{36458E4E-F157-4BDD-8746-EFAE4BAFC31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563978" y="1987674"/>
            <a:ext cx="552033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25" name="Line 28">
            <a:extLst>
              <a:ext uri="{FF2B5EF4-FFF2-40B4-BE49-F238E27FC236}">
                <a16:creationId xmlns:a16="http://schemas.microsoft.com/office/drawing/2014/main" id="{F3FC883D-81BB-4827-9A39-4199AFACB6AD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083631" y="2705120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63D238E0-CC1B-47F1-B2CB-9F1AE4136764}"/>
              </a:ext>
            </a:extLst>
          </p:cNvPr>
          <p:cNvCxnSpPr/>
          <p:nvPr/>
        </p:nvCxnSpPr>
        <p:spPr bwMode="auto">
          <a:xfrm>
            <a:off x="4756293" y="1714285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0E07E06-637B-4982-8CA1-CD5831FCAB8E}"/>
              </a:ext>
            </a:extLst>
          </p:cNvPr>
          <p:cNvCxnSpPr/>
          <p:nvPr/>
        </p:nvCxnSpPr>
        <p:spPr bwMode="auto">
          <a:xfrm flipH="1">
            <a:off x="4742324" y="1707419"/>
            <a:ext cx="3218130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5A85791-C400-43EA-AAAB-FD92D6939381}"/>
              </a:ext>
            </a:extLst>
          </p:cNvPr>
          <p:cNvCxnSpPr/>
          <p:nvPr/>
        </p:nvCxnSpPr>
        <p:spPr bwMode="auto">
          <a:xfrm flipH="1">
            <a:off x="4756295" y="3293069"/>
            <a:ext cx="3204160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" name="等腰三角形 28">
            <a:extLst>
              <a:ext uri="{FF2B5EF4-FFF2-40B4-BE49-F238E27FC236}">
                <a16:creationId xmlns:a16="http://schemas.microsoft.com/office/drawing/2014/main" id="{5C5D1FBA-15F3-49C9-8DC7-F10986735636}"/>
              </a:ext>
            </a:extLst>
          </p:cNvPr>
          <p:cNvSpPr/>
          <p:nvPr/>
        </p:nvSpPr>
        <p:spPr bwMode="auto">
          <a:xfrm rot="10800000">
            <a:off x="4641736" y="2658626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sp>
        <p:nvSpPr>
          <p:cNvPr id="30" name="Line 33">
            <a:extLst>
              <a:ext uri="{FF2B5EF4-FFF2-40B4-BE49-F238E27FC236}">
                <a16:creationId xmlns:a16="http://schemas.microsoft.com/office/drawing/2014/main" id="{D399A68F-7DD2-4F75-810D-CB0602959AF8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557597" y="1996799"/>
            <a:ext cx="577248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C3170555-2487-47E5-A59F-29BB85286114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183622" y="2402104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2" name="Line 26">
            <a:extLst>
              <a:ext uri="{FF2B5EF4-FFF2-40B4-BE49-F238E27FC236}">
                <a16:creationId xmlns:a16="http://schemas.microsoft.com/office/drawing/2014/main" id="{E318FA4C-5838-4C3C-9CD6-11396973A3E5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5880409" y="2049679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3" name="Line 27">
            <a:extLst>
              <a:ext uri="{FF2B5EF4-FFF2-40B4-BE49-F238E27FC236}">
                <a16:creationId xmlns:a16="http://schemas.microsoft.com/office/drawing/2014/main" id="{13A02FA1-281F-4839-A658-43FC3DDDBE84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6197909" y="1990941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4" name="Rectangle 16">
            <a:extLst>
              <a:ext uri="{FF2B5EF4-FFF2-40B4-BE49-F238E27FC236}">
                <a16:creationId xmlns:a16="http://schemas.microsoft.com/office/drawing/2014/main" id="{3D2B2750-ECB1-450E-993B-7B6C5541C706}"/>
              </a:ext>
            </a:extLst>
          </p:cNvPr>
          <p:cNvSpPr>
            <a:spLocks noChangeArrowheads="1"/>
          </p:cNvSpPr>
          <p:nvPr/>
        </p:nvSpPr>
        <p:spPr bwMode="auto">
          <a:xfrm rot="16200000" flipV="1">
            <a:off x="5601008" y="2295742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35" name="Line 21">
            <a:extLst>
              <a:ext uri="{FF2B5EF4-FFF2-40B4-BE49-F238E27FC236}">
                <a16:creationId xmlns:a16="http://schemas.microsoft.com/office/drawing/2014/main" id="{D18791F9-B690-4DD5-94B7-97CBC0CE6ED8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705784" y="2513230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6" name="Line 22">
            <a:extLst>
              <a:ext uri="{FF2B5EF4-FFF2-40B4-BE49-F238E27FC236}">
                <a16:creationId xmlns:a16="http://schemas.microsoft.com/office/drawing/2014/main" id="{C5384653-FEE1-485D-BDE5-07F7217B6D08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5516871" y="2481480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7" name="Line 23">
            <a:extLst>
              <a:ext uri="{FF2B5EF4-FFF2-40B4-BE49-F238E27FC236}">
                <a16:creationId xmlns:a16="http://schemas.microsoft.com/office/drawing/2014/main" id="{D6C4A4DF-830F-4BEA-A0DD-BE8CDB8A3508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447815" y="2477511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8" name="Line 24">
            <a:extLst>
              <a:ext uri="{FF2B5EF4-FFF2-40B4-BE49-F238E27FC236}">
                <a16:creationId xmlns:a16="http://schemas.microsoft.com/office/drawing/2014/main" id="{DB925475-3423-40BF-ABAE-6AE800160F5E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5383521" y="2476717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39" name="Line 25">
            <a:extLst>
              <a:ext uri="{FF2B5EF4-FFF2-40B4-BE49-F238E27FC236}">
                <a16:creationId xmlns:a16="http://schemas.microsoft.com/office/drawing/2014/main" id="{A2D01CA9-4DBF-4F67-BB7D-AAFD5499E21D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314465" y="2472748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40" name="Line 30">
            <a:extLst>
              <a:ext uri="{FF2B5EF4-FFF2-40B4-BE49-F238E27FC236}">
                <a16:creationId xmlns:a16="http://schemas.microsoft.com/office/drawing/2014/main" id="{B510948F-5C41-458E-B482-4FB21F3E7911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570203" y="3017053"/>
            <a:ext cx="552033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41" name="Line 28">
            <a:extLst>
              <a:ext uri="{FF2B5EF4-FFF2-40B4-BE49-F238E27FC236}">
                <a16:creationId xmlns:a16="http://schemas.microsoft.com/office/drawing/2014/main" id="{45A09E82-BC21-4CB1-9365-351703684075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089856" y="2299607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BF41ADDB-C37A-4565-A429-FC7235031A25}"/>
              </a:ext>
            </a:extLst>
          </p:cNvPr>
          <p:cNvSpPr/>
          <p:nvPr/>
        </p:nvSpPr>
        <p:spPr bwMode="auto">
          <a:xfrm>
            <a:off x="7558498" y="2067935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等腰三角形 42">
            <a:extLst>
              <a:ext uri="{FF2B5EF4-FFF2-40B4-BE49-F238E27FC236}">
                <a16:creationId xmlns:a16="http://schemas.microsoft.com/office/drawing/2014/main" id="{B2F1E84D-0483-4977-AD47-9CA115207537}"/>
              </a:ext>
            </a:extLst>
          </p:cNvPr>
          <p:cNvSpPr/>
          <p:nvPr/>
        </p:nvSpPr>
        <p:spPr bwMode="auto">
          <a:xfrm flipV="1">
            <a:off x="7831928" y="2077460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99E6E6E-A97A-4FE7-B1B6-785518CA2490}"/>
              </a:ext>
            </a:extLst>
          </p:cNvPr>
          <p:cNvCxnSpPr>
            <a:stCxn id="42" idx="4"/>
          </p:cNvCxnSpPr>
          <p:nvPr/>
        </p:nvCxnSpPr>
        <p:spPr bwMode="auto">
          <a:xfrm>
            <a:off x="7960455" y="2844968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ED59E0C-0808-434A-A029-5C8B75CB264F}"/>
              </a:ext>
            </a:extLst>
          </p:cNvPr>
          <p:cNvCxnSpPr/>
          <p:nvPr/>
        </p:nvCxnSpPr>
        <p:spPr bwMode="auto">
          <a:xfrm>
            <a:off x="7960455" y="1703085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6" name="等腰三角形 45">
            <a:extLst>
              <a:ext uri="{FF2B5EF4-FFF2-40B4-BE49-F238E27FC236}">
                <a16:creationId xmlns:a16="http://schemas.microsoft.com/office/drawing/2014/main" id="{B86233E5-329D-4677-9E71-51F946B1B0E6}"/>
              </a:ext>
            </a:extLst>
          </p:cNvPr>
          <p:cNvSpPr/>
          <p:nvPr/>
        </p:nvSpPr>
        <p:spPr bwMode="auto">
          <a:xfrm rot="10800000" flipV="1">
            <a:off x="7845898" y="2632740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329D81DC-87CE-424D-A6E1-6E79408C4323}"/>
              </a:ext>
            </a:extLst>
          </p:cNvPr>
          <p:cNvCxnSpPr/>
          <p:nvPr/>
        </p:nvCxnSpPr>
        <p:spPr bwMode="auto">
          <a:xfrm flipV="1">
            <a:off x="7507329" y="2090490"/>
            <a:ext cx="940546" cy="699538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E347B798-BDF5-46EF-9617-9E544439416B}"/>
              </a:ext>
            </a:extLst>
          </p:cNvPr>
          <p:cNvSpPr/>
          <p:nvPr/>
        </p:nvSpPr>
        <p:spPr bwMode="auto">
          <a:xfrm>
            <a:off x="3195213" y="2064721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M</a:t>
            </a:r>
            <a:endParaRPr kumimoji="0" lang="zh-CN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1CA0D61B-D7F2-48C1-BCD8-AB5B6C018AC4}"/>
              </a:ext>
            </a:extLst>
          </p:cNvPr>
          <p:cNvGrpSpPr/>
          <p:nvPr/>
        </p:nvGrpSpPr>
        <p:grpSpPr>
          <a:xfrm>
            <a:off x="8362411" y="2364894"/>
            <a:ext cx="513365" cy="183114"/>
            <a:chOff x="1841215" y="2732753"/>
            <a:chExt cx="513365" cy="183114"/>
          </a:xfrm>
        </p:grpSpPr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6BCEAF68-B1FC-4B5F-8964-790A44BA957A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3B7F912-E5A8-4318-82C8-DF1B20C0CAF7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52" name="矩形 51">
            <a:extLst>
              <a:ext uri="{FF2B5EF4-FFF2-40B4-BE49-F238E27FC236}">
                <a16:creationId xmlns:a16="http://schemas.microsoft.com/office/drawing/2014/main" id="{E40CA333-8816-4CD1-B692-8B3F121EC82B}"/>
              </a:ext>
            </a:extLst>
          </p:cNvPr>
          <p:cNvSpPr/>
          <p:nvPr/>
        </p:nvSpPr>
        <p:spPr bwMode="auto">
          <a:xfrm>
            <a:off x="8875776" y="2154471"/>
            <a:ext cx="332850" cy="59247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53" name="弧形 52">
            <a:extLst>
              <a:ext uri="{FF2B5EF4-FFF2-40B4-BE49-F238E27FC236}">
                <a16:creationId xmlns:a16="http://schemas.microsoft.com/office/drawing/2014/main" id="{416A4A28-4C1E-42B4-8F12-8A8A257F5DEC}"/>
              </a:ext>
            </a:extLst>
          </p:cNvPr>
          <p:cNvSpPr/>
          <p:nvPr/>
        </p:nvSpPr>
        <p:spPr bwMode="auto">
          <a:xfrm>
            <a:off x="8380071" y="2179060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D2F4EF69-F079-4F6B-AD45-D6761BC32B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6310575"/>
              </p:ext>
            </p:extLst>
          </p:nvPr>
        </p:nvGraphicFramePr>
        <p:xfrm>
          <a:off x="8366919" y="1516066"/>
          <a:ext cx="481013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77" name="Equation" r:id="rId4" imgW="266400" imgH="279360" progId="Equation.DSMT4">
                  <p:embed/>
                </p:oleObj>
              </mc:Choice>
              <mc:Fallback>
                <p:oleObj name="Equation" r:id="rId4" imgW="266400" imgH="279360" progId="Equation.DSMT4">
                  <p:embed/>
                  <p:pic>
                    <p:nvPicPr>
                      <p:cNvPr id="50" name="对象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6919" y="1516066"/>
                        <a:ext cx="481013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5" name="组合 54">
            <a:extLst>
              <a:ext uri="{FF2B5EF4-FFF2-40B4-BE49-F238E27FC236}">
                <a16:creationId xmlns:a16="http://schemas.microsoft.com/office/drawing/2014/main" id="{98228FB0-83AE-42C0-92E1-CDB1CF3253D4}"/>
              </a:ext>
            </a:extLst>
          </p:cNvPr>
          <p:cNvGrpSpPr/>
          <p:nvPr/>
        </p:nvGrpSpPr>
        <p:grpSpPr>
          <a:xfrm>
            <a:off x="3986689" y="2353821"/>
            <a:ext cx="373997" cy="220528"/>
            <a:chOff x="1841215" y="2732753"/>
            <a:chExt cx="520063" cy="183114"/>
          </a:xfrm>
        </p:grpSpPr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874E34B8-EDD0-4F37-AF97-97318A3330C2}"/>
                </a:ext>
              </a:extLst>
            </p:cNvPr>
            <p:cNvCxnSpPr/>
            <p:nvPr/>
          </p:nvCxnSpPr>
          <p:spPr bwMode="auto">
            <a:xfrm>
              <a:off x="1847913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D159FAE-7402-4B9B-B0A2-42FB1A93DFE4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aphicFrame>
        <p:nvGraphicFramePr>
          <p:cNvPr id="58" name="对象 57">
            <a:extLst>
              <a:ext uri="{FF2B5EF4-FFF2-40B4-BE49-F238E27FC236}">
                <a16:creationId xmlns:a16="http://schemas.microsoft.com/office/drawing/2014/main" id="{25D07FDF-3206-4D6C-B800-AAC217A5C31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5324393"/>
              </p:ext>
            </p:extLst>
          </p:nvPr>
        </p:nvGraphicFramePr>
        <p:xfrm>
          <a:off x="3195213" y="3991112"/>
          <a:ext cx="2862262" cy="1384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78" name="Equation" r:id="rId6" imgW="1333500" imgH="647700" progId="Equation.DSMT4">
                  <p:embed/>
                </p:oleObj>
              </mc:Choice>
              <mc:Fallback>
                <p:oleObj name="Equation" r:id="rId6" imgW="1333500" imgH="647700" progId="Equation.DSMT4">
                  <p:embed/>
                  <p:pic>
                    <p:nvPicPr>
                      <p:cNvPr id="3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5213" y="3991112"/>
                        <a:ext cx="2862262" cy="1384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TextBox 53">
            <a:extLst>
              <a:ext uri="{FF2B5EF4-FFF2-40B4-BE49-F238E27FC236}">
                <a16:creationId xmlns:a16="http://schemas.microsoft.com/office/drawing/2014/main" id="{B9FF86C3-5EC6-44C6-A9BC-D648E4B5E8E8}"/>
              </a:ext>
            </a:extLst>
          </p:cNvPr>
          <p:cNvSpPr txBox="1"/>
          <p:nvPr/>
        </p:nvSpPr>
        <p:spPr>
          <a:xfrm>
            <a:off x="2555830" y="3529447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马达输出转速</a:t>
            </a:r>
          </a:p>
        </p:txBody>
      </p:sp>
      <p:sp>
        <p:nvSpPr>
          <p:cNvPr id="62" name="Rectangle 4">
            <a:extLst>
              <a:ext uri="{FF2B5EF4-FFF2-40B4-BE49-F238E27FC236}">
                <a16:creationId xmlns:a16="http://schemas.microsoft.com/office/drawing/2014/main" id="{FBCA19EB-6A3D-43D3-9719-3EE7902695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9734" y="3557992"/>
            <a:ext cx="230505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1pPr>
            <a:lvl2pPr marL="742950" indent="-28575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2pPr>
            <a:lvl3pPr marL="11430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3pPr>
            <a:lvl4pPr marL="16002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4pPr>
            <a:lvl5pPr marL="20574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5pPr>
            <a:lvl6pPr marL="25146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6pPr>
            <a:lvl7pPr marL="29718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7pPr>
            <a:lvl8pPr marL="34290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8pPr>
            <a:lvl9pPr marL="38862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9pPr>
          </a:lstStyle>
          <a:p>
            <a:pPr marL="342900" indent="-342900" algn="l" eaLnBrk="1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kumimoji="1" lang="zh-CN" altLang="en-US" baseline="0" dirty="0">
                <a:latin typeface="+mn-ea"/>
                <a:ea typeface="+mn-ea"/>
              </a:rPr>
              <a:t>速度刚性：</a:t>
            </a:r>
          </a:p>
        </p:txBody>
      </p:sp>
      <p:graphicFrame>
        <p:nvGraphicFramePr>
          <p:cNvPr id="63" name="对象 62">
            <a:extLst>
              <a:ext uri="{FF2B5EF4-FFF2-40B4-BE49-F238E27FC236}">
                <a16:creationId xmlns:a16="http://schemas.microsoft.com/office/drawing/2014/main" id="{818714AC-5D07-4406-B929-5E8094CDE53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29061083"/>
              </p:ext>
            </p:extLst>
          </p:nvPr>
        </p:nvGraphicFramePr>
        <p:xfrm>
          <a:off x="7503680" y="4168761"/>
          <a:ext cx="2551113" cy="1027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79" name="Equation" r:id="rId8" imgW="1180800" imgH="457200" progId="Equation.DSMT4">
                  <p:embed/>
                </p:oleObj>
              </mc:Choice>
              <mc:Fallback>
                <p:oleObj name="Equation" r:id="rId8" imgW="1180800" imgH="457200" progId="Equation.DSMT4">
                  <p:embed/>
                  <p:pic>
                    <p:nvPicPr>
                      <p:cNvPr id="56" name="对象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03680" y="4168761"/>
                        <a:ext cx="2551113" cy="1027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4C7270F-13C2-4D85-832E-1DC79A83AC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273338"/>
              </p:ext>
            </p:extLst>
          </p:nvPr>
        </p:nvGraphicFramePr>
        <p:xfrm>
          <a:off x="3939743" y="5929298"/>
          <a:ext cx="1422400" cy="827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80" name="Equation" r:id="rId10" imgW="672840" imgH="393480" progId="Equation.DSMT4">
                  <p:embed/>
                </p:oleObj>
              </mc:Choice>
              <mc:Fallback>
                <p:oleObj name="Equation" r:id="rId10" imgW="672840" imgH="393480" progId="Equation.DSMT4">
                  <p:embed/>
                  <p:pic>
                    <p:nvPicPr>
                      <p:cNvPr id="57" name="对象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9743" y="5929298"/>
                        <a:ext cx="1422400" cy="827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" name="TextBox 57">
            <a:extLst>
              <a:ext uri="{FF2B5EF4-FFF2-40B4-BE49-F238E27FC236}">
                <a16:creationId xmlns:a16="http://schemas.microsoft.com/office/drawing/2014/main" id="{D9ED38A6-4746-4376-9DD6-AF80DCFCE6A7}"/>
              </a:ext>
            </a:extLst>
          </p:cNvPr>
          <p:cNvSpPr txBox="1"/>
          <p:nvPr/>
        </p:nvSpPr>
        <p:spPr>
          <a:xfrm>
            <a:off x="2555831" y="5410635"/>
            <a:ext cx="2094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马达输出转矩</a:t>
            </a:r>
          </a:p>
        </p:txBody>
      </p:sp>
      <p:sp>
        <p:nvSpPr>
          <p:cNvPr id="66" name="Rectangle 4">
            <a:extLst>
              <a:ext uri="{FF2B5EF4-FFF2-40B4-BE49-F238E27FC236}">
                <a16:creationId xmlns:a16="http://schemas.microsoft.com/office/drawing/2014/main" id="{AB986A89-82EE-4975-B0C3-9FF18D318F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9734" y="5392634"/>
            <a:ext cx="230505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1pPr>
            <a:lvl2pPr marL="742950" indent="-28575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2pPr>
            <a:lvl3pPr marL="11430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3pPr>
            <a:lvl4pPr marL="16002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4pPr>
            <a:lvl5pPr marL="20574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5pPr>
            <a:lvl6pPr marL="25146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6pPr>
            <a:lvl7pPr marL="29718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7pPr>
            <a:lvl8pPr marL="34290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8pPr>
            <a:lvl9pPr marL="38862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9pPr>
          </a:lstStyle>
          <a:p>
            <a:pPr marL="342900" indent="-342900" algn="l" eaLnBrk="1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kumimoji="1" lang="zh-CN" altLang="en-US" baseline="0" dirty="0">
                <a:latin typeface="+mn-ea"/>
                <a:ea typeface="+mn-ea"/>
              </a:rPr>
              <a:t>输出功率：</a:t>
            </a:r>
          </a:p>
        </p:txBody>
      </p:sp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107DFE34-D50A-4B93-A8D8-2F58775364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8964840"/>
              </p:ext>
            </p:extLst>
          </p:nvPr>
        </p:nvGraphicFramePr>
        <p:xfrm>
          <a:off x="8192655" y="5962636"/>
          <a:ext cx="2073275" cy="525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81" name="Equation" r:id="rId12" imgW="888840" imgH="228600" progId="Equation.DSMT4">
                  <p:embed/>
                </p:oleObj>
              </mc:Choice>
              <mc:Fallback>
                <p:oleObj name="Equation" r:id="rId12" imgW="888840" imgH="228600" progId="Equation.DSMT4">
                  <p:embed/>
                  <p:pic>
                    <p:nvPicPr>
                      <p:cNvPr id="60" name="对象 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92655" y="5962636"/>
                        <a:ext cx="2073275" cy="525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8" name="流程图: 联系 1">
            <a:extLst>
              <a:ext uri="{FF2B5EF4-FFF2-40B4-BE49-F238E27FC236}">
                <a16:creationId xmlns:a16="http://schemas.microsoft.com/office/drawing/2014/main" id="{942FF153-5995-4394-B0E1-92A103D7D205}"/>
              </a:ext>
            </a:extLst>
          </p:cNvPr>
          <p:cNvSpPr/>
          <p:nvPr/>
        </p:nvSpPr>
        <p:spPr bwMode="auto">
          <a:xfrm>
            <a:off x="4626344" y="4903926"/>
            <a:ext cx="626095" cy="479577"/>
          </a:xfrm>
          <a:prstGeom prst="flowChartConnector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BBB719-9533-4FEE-9BB3-D9AC4AA32DB4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16/35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47516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6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3EB7FF7D-4E9D-4CC6-80AC-5F3867E2714E}"/>
              </a:ext>
            </a:extLst>
          </p:cNvPr>
          <p:cNvSpPr/>
          <p:nvPr/>
        </p:nvSpPr>
        <p:spPr>
          <a:xfrm>
            <a:off x="818443" y="836106"/>
            <a:ext cx="6546985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定量泵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变量马达（</a:t>
            </a:r>
            <a:r>
              <a:rPr lang="zh-CN" altLang="en-US" sz="2800" b="1" dirty="0">
                <a:solidFill>
                  <a:srgbClr val="0000FF"/>
                </a:solidFill>
                <a:latin typeface="+mn-ea"/>
              </a:rPr>
              <a:t>恒功率调速</a:t>
            </a:r>
            <a:r>
              <a:rPr lang="zh-CN" altLang="en-US" sz="2800" dirty="0">
                <a:latin typeface="+mn-ea"/>
              </a:rPr>
              <a:t>回路）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CE3D8DE-7C2F-4421-9448-2D3C13EBA8AD}"/>
              </a:ext>
            </a:extLst>
          </p:cNvPr>
          <p:cNvCxnSpPr/>
          <p:nvPr/>
        </p:nvCxnSpPr>
        <p:spPr bwMode="auto">
          <a:xfrm>
            <a:off x="2334349" y="6198111"/>
            <a:ext cx="4011560" cy="0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CD214D4-440C-426D-96C4-E5D3AC53ACBE}"/>
              </a:ext>
            </a:extLst>
          </p:cNvPr>
          <p:cNvCxnSpPr/>
          <p:nvPr/>
        </p:nvCxnSpPr>
        <p:spPr bwMode="auto">
          <a:xfrm flipV="1">
            <a:off x="2334349" y="2039066"/>
            <a:ext cx="0" cy="4159045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EC801FDE-570B-4C51-AF85-DCB0F97788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8099800"/>
              </p:ext>
            </p:extLst>
          </p:nvPr>
        </p:nvGraphicFramePr>
        <p:xfrm>
          <a:off x="5749110" y="6198111"/>
          <a:ext cx="5048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32" name="Equation" r:id="rId4" imgW="215640" imgH="228600" progId="Equation.DSMT4">
                  <p:embed/>
                </p:oleObj>
              </mc:Choice>
              <mc:Fallback>
                <p:oleObj name="Equation" r:id="rId4" imgW="215640" imgH="228600" progId="Equation.DSMT4">
                  <p:embed/>
                  <p:pic>
                    <p:nvPicPr>
                      <p:cNvPr id="2" name="对象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49110" y="6198111"/>
                        <a:ext cx="504825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弧形 13">
            <a:extLst>
              <a:ext uri="{FF2B5EF4-FFF2-40B4-BE49-F238E27FC236}">
                <a16:creationId xmlns:a16="http://schemas.microsoft.com/office/drawing/2014/main" id="{BB5519CF-A59F-4E73-B008-CB3F26D6B6B0}"/>
              </a:ext>
            </a:extLst>
          </p:cNvPr>
          <p:cNvSpPr/>
          <p:nvPr/>
        </p:nvSpPr>
        <p:spPr bwMode="auto">
          <a:xfrm rot="10800000">
            <a:off x="2799914" y="-82558"/>
            <a:ext cx="6486728" cy="5717800"/>
          </a:xfrm>
          <a:prstGeom prst="arc">
            <a:avLst>
              <a:gd name="adj1" fmla="val 16200000"/>
              <a:gd name="adj2" fmla="val 278236"/>
            </a:avLst>
          </a:prstGeom>
          <a:noFill/>
          <a:ln w="38100" cap="flat" cmpd="sng" algn="ctr">
            <a:solidFill>
              <a:schemeClr val="tx1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8A65E4CA-43D8-45F7-A632-403781EF6E59}"/>
              </a:ext>
            </a:extLst>
          </p:cNvPr>
          <p:cNvGrpSpPr/>
          <p:nvPr/>
        </p:nvGrpSpPr>
        <p:grpSpPr>
          <a:xfrm>
            <a:off x="6868587" y="1365496"/>
            <a:ext cx="803913" cy="777033"/>
            <a:chOff x="7148937" y="5261303"/>
            <a:chExt cx="803913" cy="777033"/>
          </a:xfrm>
        </p:grpSpPr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3D070DFF-F7C0-4878-AA23-80B3A4435E0F}"/>
                </a:ext>
              </a:extLst>
            </p:cNvPr>
            <p:cNvSpPr/>
            <p:nvPr/>
          </p:nvSpPr>
          <p:spPr bwMode="auto">
            <a:xfrm>
              <a:off x="7148937" y="526130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17" name="等腰三角形 16">
              <a:extLst>
                <a:ext uri="{FF2B5EF4-FFF2-40B4-BE49-F238E27FC236}">
                  <a16:creationId xmlns:a16="http://schemas.microsoft.com/office/drawing/2014/main" id="{0180BF8F-DF42-4B45-A65E-68DF7F02B7B0}"/>
                </a:ext>
              </a:extLst>
            </p:cNvPr>
            <p:cNvSpPr/>
            <p:nvPr/>
          </p:nvSpPr>
          <p:spPr bwMode="auto">
            <a:xfrm>
              <a:off x="7422367" y="5261303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5C3FB5E-5DC9-473C-ACF4-ECAA19D5A3B3}"/>
              </a:ext>
            </a:extLst>
          </p:cNvPr>
          <p:cNvCxnSpPr>
            <a:stCxn id="16" idx="4"/>
          </p:cNvCxnSpPr>
          <p:nvPr/>
        </p:nvCxnSpPr>
        <p:spPr bwMode="auto">
          <a:xfrm>
            <a:off x="7270544" y="2142529"/>
            <a:ext cx="0" cy="230429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ADFF27-8FC3-4935-941A-6C2B343EDAE9}"/>
              </a:ext>
            </a:extLst>
          </p:cNvPr>
          <p:cNvCxnSpPr/>
          <p:nvPr/>
        </p:nvCxnSpPr>
        <p:spPr bwMode="auto">
          <a:xfrm>
            <a:off x="7270544" y="1141260"/>
            <a:ext cx="0" cy="235591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3C66C47-6E12-47C6-B78E-85CFEECA4CBE}"/>
              </a:ext>
            </a:extLst>
          </p:cNvPr>
          <p:cNvCxnSpPr/>
          <p:nvPr/>
        </p:nvCxnSpPr>
        <p:spPr bwMode="auto">
          <a:xfrm flipH="1">
            <a:off x="7270543" y="1141260"/>
            <a:ext cx="2057556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9C93128-78CB-4DFA-A5C0-813FA38D9843}"/>
              </a:ext>
            </a:extLst>
          </p:cNvPr>
          <p:cNvCxnSpPr/>
          <p:nvPr/>
        </p:nvCxnSpPr>
        <p:spPr bwMode="auto">
          <a:xfrm flipH="1">
            <a:off x="7270544" y="2372958"/>
            <a:ext cx="2057556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2" name="等腰三角形 21">
            <a:extLst>
              <a:ext uri="{FF2B5EF4-FFF2-40B4-BE49-F238E27FC236}">
                <a16:creationId xmlns:a16="http://schemas.microsoft.com/office/drawing/2014/main" id="{BE94704E-36FE-493D-A6BC-53C526E67EC1}"/>
              </a:ext>
            </a:extLst>
          </p:cNvPr>
          <p:cNvSpPr/>
          <p:nvPr/>
        </p:nvSpPr>
        <p:spPr bwMode="auto">
          <a:xfrm rot="10800000">
            <a:off x="7155987" y="1944987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7A3F56BF-BFAF-4C8E-88A3-4C6C93BC2A06}"/>
              </a:ext>
            </a:extLst>
          </p:cNvPr>
          <p:cNvSpPr/>
          <p:nvPr/>
        </p:nvSpPr>
        <p:spPr bwMode="auto">
          <a:xfrm>
            <a:off x="8926143" y="1354296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216CDD40-677F-480C-B88B-3B948FAD13E8}"/>
              </a:ext>
            </a:extLst>
          </p:cNvPr>
          <p:cNvSpPr/>
          <p:nvPr/>
        </p:nvSpPr>
        <p:spPr bwMode="auto">
          <a:xfrm flipV="1">
            <a:off x="9199573" y="1363821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8A3AFD4-942D-4FC7-BC36-1A032AE59F96}"/>
              </a:ext>
            </a:extLst>
          </p:cNvPr>
          <p:cNvCxnSpPr>
            <a:stCxn id="23" idx="4"/>
          </p:cNvCxnSpPr>
          <p:nvPr/>
        </p:nvCxnSpPr>
        <p:spPr bwMode="auto">
          <a:xfrm>
            <a:off x="9328100" y="2131329"/>
            <a:ext cx="0" cy="241629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E028646-CDD9-4845-B7A3-A40F2AC96537}"/>
              </a:ext>
            </a:extLst>
          </p:cNvPr>
          <p:cNvCxnSpPr/>
          <p:nvPr/>
        </p:nvCxnSpPr>
        <p:spPr bwMode="auto">
          <a:xfrm>
            <a:off x="9328100" y="1141260"/>
            <a:ext cx="0" cy="224391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等腰三角形 26">
            <a:extLst>
              <a:ext uri="{FF2B5EF4-FFF2-40B4-BE49-F238E27FC236}">
                <a16:creationId xmlns:a16="http://schemas.microsoft.com/office/drawing/2014/main" id="{D61CCB46-F36B-4B28-A676-FDCD32BC630B}"/>
              </a:ext>
            </a:extLst>
          </p:cNvPr>
          <p:cNvSpPr/>
          <p:nvPr/>
        </p:nvSpPr>
        <p:spPr bwMode="auto">
          <a:xfrm rot="10800000" flipV="1">
            <a:off x="9213543" y="1919101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DDFA0D87-97A1-4530-AC03-7FEAC208FB1E}"/>
              </a:ext>
            </a:extLst>
          </p:cNvPr>
          <p:cNvCxnSpPr/>
          <p:nvPr/>
        </p:nvCxnSpPr>
        <p:spPr bwMode="auto">
          <a:xfrm flipV="1">
            <a:off x="8874974" y="1376851"/>
            <a:ext cx="940546" cy="699538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FDFFF7B0-5567-4BF3-8D81-615440536447}"/>
              </a:ext>
            </a:extLst>
          </p:cNvPr>
          <p:cNvGrpSpPr/>
          <p:nvPr/>
        </p:nvGrpSpPr>
        <p:grpSpPr>
          <a:xfrm>
            <a:off x="9730056" y="1651255"/>
            <a:ext cx="513365" cy="183114"/>
            <a:chOff x="1841215" y="2732753"/>
            <a:chExt cx="513365" cy="183114"/>
          </a:xfrm>
        </p:grpSpPr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2DB3B15D-FC80-40B7-BADB-A484B0B424D5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EB0DAA9-16CF-4091-8AE7-37D40F72DB3D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32" name="矩形 31">
            <a:extLst>
              <a:ext uri="{FF2B5EF4-FFF2-40B4-BE49-F238E27FC236}">
                <a16:creationId xmlns:a16="http://schemas.microsoft.com/office/drawing/2014/main" id="{251CFA8E-9C6C-475D-82FF-A82C24CD64B9}"/>
              </a:ext>
            </a:extLst>
          </p:cNvPr>
          <p:cNvSpPr/>
          <p:nvPr/>
        </p:nvSpPr>
        <p:spPr bwMode="auto">
          <a:xfrm>
            <a:off x="10243421" y="1440832"/>
            <a:ext cx="332850" cy="59247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33" name="弧形 32">
            <a:extLst>
              <a:ext uri="{FF2B5EF4-FFF2-40B4-BE49-F238E27FC236}">
                <a16:creationId xmlns:a16="http://schemas.microsoft.com/office/drawing/2014/main" id="{308C96BB-610C-459F-9760-D8D1013831AF}"/>
              </a:ext>
            </a:extLst>
          </p:cNvPr>
          <p:cNvSpPr/>
          <p:nvPr/>
        </p:nvSpPr>
        <p:spPr bwMode="auto">
          <a:xfrm>
            <a:off x="9747716" y="1465421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34" name="对象 33">
            <a:extLst>
              <a:ext uri="{FF2B5EF4-FFF2-40B4-BE49-F238E27FC236}">
                <a16:creationId xmlns:a16="http://schemas.microsoft.com/office/drawing/2014/main" id="{D69B9956-D7C2-4B9B-B963-E2A1ED43503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9691528"/>
              </p:ext>
            </p:extLst>
          </p:nvPr>
        </p:nvGraphicFramePr>
        <p:xfrm>
          <a:off x="9838908" y="991067"/>
          <a:ext cx="479425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33" name="Equation" r:id="rId6" imgW="266400" imgH="279360" progId="Equation.DSMT4">
                  <p:embed/>
                </p:oleObj>
              </mc:Choice>
              <mc:Fallback>
                <p:oleObj name="Equation" r:id="rId6" imgW="266400" imgH="279360" progId="Equation.DSMT4">
                  <p:embed/>
                  <p:pic>
                    <p:nvPicPr>
                      <p:cNvPr id="59" name="对象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38908" y="991067"/>
                        <a:ext cx="479425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TextBox 63">
            <a:extLst>
              <a:ext uri="{FF2B5EF4-FFF2-40B4-BE49-F238E27FC236}">
                <a16:creationId xmlns:a16="http://schemas.microsoft.com/office/drawing/2014/main" id="{BCC8F204-36CE-407C-9781-7E7F60EE1116}"/>
              </a:ext>
            </a:extLst>
          </p:cNvPr>
          <p:cNvSpPr txBox="1"/>
          <p:nvPr/>
        </p:nvSpPr>
        <p:spPr>
          <a:xfrm>
            <a:off x="6217597" y="4201116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马达输出转矩</a:t>
            </a:r>
          </a:p>
        </p:txBody>
      </p:sp>
      <p:graphicFrame>
        <p:nvGraphicFramePr>
          <p:cNvPr id="36" name="对象 35">
            <a:extLst>
              <a:ext uri="{FF2B5EF4-FFF2-40B4-BE49-F238E27FC236}">
                <a16:creationId xmlns:a16="http://schemas.microsoft.com/office/drawing/2014/main" id="{F2C0B12F-A0A6-40E7-A9B1-33CD88D6BA2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88135508"/>
              </p:ext>
            </p:extLst>
          </p:nvPr>
        </p:nvGraphicFramePr>
        <p:xfrm>
          <a:off x="8494137" y="4573171"/>
          <a:ext cx="1273708" cy="7406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34" name="Equation" r:id="rId8" imgW="672840" imgH="393480" progId="Equation.DSMT4">
                  <p:embed/>
                </p:oleObj>
              </mc:Choice>
              <mc:Fallback>
                <p:oleObj name="Equation" r:id="rId8" imgW="672840" imgH="393480" progId="Equation.DSMT4">
                  <p:embed/>
                  <p:pic>
                    <p:nvPicPr>
                      <p:cNvPr id="65" name="对象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94137" y="4573171"/>
                        <a:ext cx="1273708" cy="7406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Box 66">
            <a:extLst>
              <a:ext uri="{FF2B5EF4-FFF2-40B4-BE49-F238E27FC236}">
                <a16:creationId xmlns:a16="http://schemas.microsoft.com/office/drawing/2014/main" id="{34EC35AC-FB7F-4111-8943-D5C1C4960F72}"/>
              </a:ext>
            </a:extLst>
          </p:cNvPr>
          <p:cNvSpPr txBox="1"/>
          <p:nvPr/>
        </p:nvSpPr>
        <p:spPr>
          <a:xfrm>
            <a:off x="6217596" y="2617525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马达输出转速</a:t>
            </a:r>
          </a:p>
        </p:txBody>
      </p:sp>
      <p:sp>
        <p:nvSpPr>
          <p:cNvPr id="38" name="TextBox 67">
            <a:extLst>
              <a:ext uri="{FF2B5EF4-FFF2-40B4-BE49-F238E27FC236}">
                <a16:creationId xmlns:a16="http://schemas.microsoft.com/office/drawing/2014/main" id="{EAC89EF9-F599-4AD7-BDCD-95204EC288BF}"/>
              </a:ext>
            </a:extLst>
          </p:cNvPr>
          <p:cNvSpPr txBox="1"/>
          <p:nvPr/>
        </p:nvSpPr>
        <p:spPr>
          <a:xfrm>
            <a:off x="6258987" y="5285744"/>
            <a:ext cx="2902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马达输出功率</a:t>
            </a:r>
          </a:p>
        </p:txBody>
      </p:sp>
      <p:graphicFrame>
        <p:nvGraphicFramePr>
          <p:cNvPr id="39" name="对象 38">
            <a:extLst>
              <a:ext uri="{FF2B5EF4-FFF2-40B4-BE49-F238E27FC236}">
                <a16:creationId xmlns:a16="http://schemas.microsoft.com/office/drawing/2014/main" id="{FFDC55C4-D03E-49CB-AB92-0A0320BA5C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693031"/>
              </p:ext>
            </p:extLst>
          </p:nvPr>
        </p:nvGraphicFramePr>
        <p:xfrm>
          <a:off x="7849465" y="2989580"/>
          <a:ext cx="2563053" cy="12395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35" name="Equation" r:id="rId10" imgW="1333500" imgH="647700" progId="Equation.DSMT4">
                  <p:embed/>
                </p:oleObj>
              </mc:Choice>
              <mc:Fallback>
                <p:oleObj name="Equation" r:id="rId10" imgW="1333500" imgH="647700" progId="Equation.DSMT4">
                  <p:embed/>
                  <p:pic>
                    <p:nvPicPr>
                      <p:cNvPr id="74" name="对象 7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49465" y="2989580"/>
                        <a:ext cx="2563053" cy="123959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对象 39">
            <a:extLst>
              <a:ext uri="{FF2B5EF4-FFF2-40B4-BE49-F238E27FC236}">
                <a16:creationId xmlns:a16="http://schemas.microsoft.com/office/drawing/2014/main" id="{A01FB12E-65E5-470D-AE04-FB3F6663475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36948704"/>
              </p:ext>
            </p:extLst>
          </p:nvPr>
        </p:nvGraphicFramePr>
        <p:xfrm>
          <a:off x="7022483" y="5657798"/>
          <a:ext cx="4217017" cy="8924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36" name="Equation" r:id="rId12" imgW="2247840" imgH="482400" progId="Equation.DSMT4">
                  <p:embed/>
                </p:oleObj>
              </mc:Choice>
              <mc:Fallback>
                <p:oleObj name="Equation" r:id="rId12" imgW="2247840" imgH="482400" progId="Equation.DSMT4">
                  <p:embed/>
                  <p:pic>
                    <p:nvPicPr>
                      <p:cNvPr id="75" name="对象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2483" y="5657798"/>
                        <a:ext cx="4217017" cy="89243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7B4CD114-7CCC-46AF-B227-C76F3C025573}"/>
              </a:ext>
            </a:extLst>
          </p:cNvPr>
          <p:cNvCxnSpPr/>
          <p:nvPr/>
        </p:nvCxnSpPr>
        <p:spPr bwMode="auto">
          <a:xfrm flipV="1">
            <a:off x="2641522" y="2862035"/>
            <a:ext cx="3403018" cy="3316892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71830877-7B36-471D-ADCA-FA55522444CA}"/>
              </a:ext>
            </a:extLst>
          </p:cNvPr>
          <p:cNvGrpSpPr/>
          <p:nvPr/>
        </p:nvGrpSpPr>
        <p:grpSpPr>
          <a:xfrm>
            <a:off x="2627008" y="3503817"/>
            <a:ext cx="3408007" cy="2709536"/>
            <a:chOff x="1476281" y="3411538"/>
            <a:chExt cx="3408007" cy="2709536"/>
          </a:xfrm>
        </p:grpSpPr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80DB0921-19A4-4B89-B778-A1374861F6FE}"/>
                </a:ext>
              </a:extLst>
            </p:cNvPr>
            <p:cNvCxnSpPr>
              <a:endCxn id="44" idx="0"/>
            </p:cNvCxnSpPr>
            <p:nvPr/>
          </p:nvCxnSpPr>
          <p:spPr bwMode="auto">
            <a:xfrm flipV="1">
              <a:off x="1476281" y="3718392"/>
              <a:ext cx="764588" cy="2402682"/>
            </a:xfrm>
            <a:prstGeom prst="line">
              <a:avLst/>
            </a:prstGeom>
            <a:noFill/>
            <a:ln w="38100" cap="flat" cmpd="sng" algn="ctr">
              <a:solidFill>
                <a:srgbClr val="0000C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4" name="弧形 43">
              <a:extLst>
                <a:ext uri="{FF2B5EF4-FFF2-40B4-BE49-F238E27FC236}">
                  <a16:creationId xmlns:a16="http://schemas.microsoft.com/office/drawing/2014/main" id="{3D9D16BE-336F-4DB4-BACB-0A7334F5EF22}"/>
                </a:ext>
              </a:extLst>
            </p:cNvPr>
            <p:cNvSpPr/>
            <p:nvPr/>
          </p:nvSpPr>
          <p:spPr bwMode="auto">
            <a:xfrm rot="18080462">
              <a:off x="2174157" y="3498996"/>
              <a:ext cx="914400" cy="914400"/>
            </a:xfrm>
            <a:prstGeom prst="arc">
              <a:avLst>
                <a:gd name="adj1" fmla="val 16200000"/>
                <a:gd name="adj2" fmla="val 19848236"/>
              </a:avLst>
            </a:prstGeom>
            <a:noFill/>
            <a:ln w="38100" cap="flat" cmpd="sng" algn="ctr">
              <a:solidFill>
                <a:srgbClr val="0000C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7B80BD63-7BF3-4856-8283-57D1FF247E48}"/>
                </a:ext>
              </a:extLst>
            </p:cNvPr>
            <p:cNvCxnSpPr/>
            <p:nvPr/>
          </p:nvCxnSpPr>
          <p:spPr bwMode="auto">
            <a:xfrm flipV="1">
              <a:off x="2635769" y="3411538"/>
              <a:ext cx="2248519" cy="87779"/>
            </a:xfrm>
            <a:prstGeom prst="line">
              <a:avLst/>
            </a:prstGeom>
            <a:noFill/>
            <a:ln w="38100" cap="flat" cmpd="sng" algn="ctr">
              <a:solidFill>
                <a:srgbClr val="0000C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4993D8BF-4FA8-4D9D-A309-AD9E216A85FE}"/>
              </a:ext>
            </a:extLst>
          </p:cNvPr>
          <p:cNvGrpSpPr/>
          <p:nvPr/>
        </p:nvGrpSpPr>
        <p:grpSpPr>
          <a:xfrm>
            <a:off x="2636700" y="-82558"/>
            <a:ext cx="6655930" cy="6283212"/>
            <a:chOff x="1327582" y="-174837"/>
            <a:chExt cx="6655930" cy="6283212"/>
          </a:xfrm>
        </p:grpSpPr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C0D536CF-C044-42EB-AF8B-A0B3BCDCD3AB}"/>
                </a:ext>
              </a:extLst>
            </p:cNvPr>
            <p:cNvCxnSpPr/>
            <p:nvPr/>
          </p:nvCxnSpPr>
          <p:spPr bwMode="auto">
            <a:xfrm flipV="1">
              <a:off x="1327582" y="4768850"/>
              <a:ext cx="621868" cy="1339525"/>
            </a:xfrm>
            <a:prstGeom prst="lin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8" name="弧形 47">
              <a:extLst>
                <a:ext uri="{FF2B5EF4-FFF2-40B4-BE49-F238E27FC236}">
                  <a16:creationId xmlns:a16="http://schemas.microsoft.com/office/drawing/2014/main" id="{CBEA76CC-BB30-499C-B325-746A2B8BDDF5}"/>
                </a:ext>
              </a:extLst>
            </p:cNvPr>
            <p:cNvSpPr/>
            <p:nvPr/>
          </p:nvSpPr>
          <p:spPr bwMode="auto">
            <a:xfrm rot="10800000">
              <a:off x="1496784" y="-174837"/>
              <a:ext cx="6486728" cy="5717800"/>
            </a:xfrm>
            <a:prstGeom prst="arc">
              <a:avLst>
                <a:gd name="adj1" fmla="val 16200000"/>
                <a:gd name="adj2" fmla="val 19225885"/>
              </a:avLst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49" name="弧形 48">
              <a:extLst>
                <a:ext uri="{FF2B5EF4-FFF2-40B4-BE49-F238E27FC236}">
                  <a16:creationId xmlns:a16="http://schemas.microsoft.com/office/drawing/2014/main" id="{3C0F9390-6352-4C6C-99EB-F3DF3D898171}"/>
                </a:ext>
              </a:extLst>
            </p:cNvPr>
            <p:cNvSpPr/>
            <p:nvPr/>
          </p:nvSpPr>
          <p:spPr bwMode="auto">
            <a:xfrm rot="18080462">
              <a:off x="1837223" y="4644512"/>
              <a:ext cx="750127" cy="648119"/>
            </a:xfrm>
            <a:prstGeom prst="arc">
              <a:avLst>
                <a:gd name="adj1" fmla="val 16200000"/>
                <a:gd name="adj2" fmla="val 21044106"/>
              </a:avLst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182F38F-49E9-430B-A10A-29929F1129C6}"/>
              </a:ext>
            </a:extLst>
          </p:cNvPr>
          <p:cNvCxnSpPr/>
          <p:nvPr/>
        </p:nvCxnSpPr>
        <p:spPr bwMode="auto">
          <a:xfrm flipV="1">
            <a:off x="6050528" y="2139168"/>
            <a:ext cx="0" cy="4074186"/>
          </a:xfrm>
          <a:prstGeom prst="line">
            <a:avLst/>
          </a:prstGeom>
          <a:solidFill>
            <a:schemeClr val="accent1"/>
          </a:solidFill>
          <a:ln w="349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9FD5807-2DE5-4370-B853-CF94A573979D}"/>
              </a:ext>
            </a:extLst>
          </p:cNvPr>
          <p:cNvGrpSpPr/>
          <p:nvPr/>
        </p:nvGrpSpPr>
        <p:grpSpPr>
          <a:xfrm>
            <a:off x="2007176" y="6178927"/>
            <a:ext cx="1317459" cy="530052"/>
            <a:chOff x="696795" y="6086648"/>
            <a:chExt cx="1317459" cy="530052"/>
          </a:xfrm>
        </p:grpSpPr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DE2FBCE-09F2-422C-A092-213A45244B60}"/>
                </a:ext>
              </a:extLst>
            </p:cNvPr>
            <p:cNvCxnSpPr/>
            <p:nvPr/>
          </p:nvCxnSpPr>
          <p:spPr bwMode="auto">
            <a:xfrm>
              <a:off x="1023968" y="6086648"/>
              <a:ext cx="0" cy="53005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AF02A792-D754-43CA-A22B-CD4F9D2C95BF}"/>
                </a:ext>
              </a:extLst>
            </p:cNvPr>
            <p:cNvCxnSpPr/>
            <p:nvPr/>
          </p:nvCxnSpPr>
          <p:spPr bwMode="auto">
            <a:xfrm>
              <a:off x="1331141" y="6121075"/>
              <a:ext cx="0" cy="49562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13716DE9-8D9A-4DB9-A39C-8F8EE3E3DFFA}"/>
                </a:ext>
              </a:extLst>
            </p:cNvPr>
            <p:cNvCxnSpPr/>
            <p:nvPr/>
          </p:nvCxnSpPr>
          <p:spPr bwMode="auto">
            <a:xfrm>
              <a:off x="696795" y="6542174"/>
              <a:ext cx="327173" cy="0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28B577D4-2C1B-4AD6-A49A-079F90C1A4BA}"/>
                </a:ext>
              </a:extLst>
            </p:cNvPr>
            <p:cNvCxnSpPr/>
            <p:nvPr/>
          </p:nvCxnSpPr>
          <p:spPr bwMode="auto">
            <a:xfrm flipH="1">
              <a:off x="1349443" y="6548361"/>
              <a:ext cx="654346" cy="0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9462CAC9-C2A2-4F55-BA7F-4462442FAAB6}"/>
                </a:ext>
              </a:extLst>
            </p:cNvPr>
            <p:cNvSpPr/>
            <p:nvPr/>
          </p:nvSpPr>
          <p:spPr>
            <a:xfrm>
              <a:off x="1316627" y="6129364"/>
              <a:ext cx="697627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2000" dirty="0">
                  <a:latin typeface="+mn-ea"/>
                </a:rPr>
                <a:t>死区</a:t>
              </a: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F8729B0-C9E2-4EC6-95D6-C0E80A3D5841}"/>
              </a:ext>
            </a:extLst>
          </p:cNvPr>
          <p:cNvGrpSpPr/>
          <p:nvPr/>
        </p:nvGrpSpPr>
        <p:grpSpPr>
          <a:xfrm>
            <a:off x="2334349" y="2530679"/>
            <a:ext cx="3710191" cy="3653144"/>
            <a:chOff x="1023968" y="2438400"/>
            <a:chExt cx="3710191" cy="3653144"/>
          </a:xfrm>
        </p:grpSpPr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54C210D-3163-4527-9D9E-D2BBE5F5E5A6}"/>
                </a:ext>
              </a:extLst>
            </p:cNvPr>
            <p:cNvCxnSpPr/>
            <p:nvPr/>
          </p:nvCxnSpPr>
          <p:spPr bwMode="auto">
            <a:xfrm flipV="1">
              <a:off x="1023968" y="2438400"/>
              <a:ext cx="3710191" cy="3653144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aphicFrame>
          <p:nvGraphicFramePr>
            <p:cNvPr id="60" name="对象 59">
              <a:extLst>
                <a:ext uri="{FF2B5EF4-FFF2-40B4-BE49-F238E27FC236}">
                  <a16:creationId xmlns:a16="http://schemas.microsoft.com/office/drawing/2014/main" id="{08B2CBA7-30EB-4212-9B87-91E84D5A456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48223652"/>
                </p:ext>
              </p:extLst>
            </p:nvPr>
          </p:nvGraphicFramePr>
          <p:xfrm>
            <a:off x="3714750" y="3751263"/>
            <a:ext cx="474663" cy="533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9737" name="Equation" r:id="rId14" imgW="203040" imgH="228600" progId="Equation.DSMT4">
                    <p:embed/>
                  </p:oleObj>
                </mc:Choice>
                <mc:Fallback>
                  <p:oleObj name="Equation" r:id="rId14" imgW="203040" imgH="228600" progId="Equation.DSMT4">
                    <p:embed/>
                    <p:pic>
                      <p:nvPicPr>
                        <p:cNvPr id="125" name="对象 1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14750" y="3751263"/>
                          <a:ext cx="474663" cy="5334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9EAF29DD-E836-4A72-ABAB-01BBB58DBA6B}"/>
              </a:ext>
            </a:extLst>
          </p:cNvPr>
          <p:cNvGrpSpPr/>
          <p:nvPr/>
        </p:nvGrpSpPr>
        <p:grpSpPr>
          <a:xfrm>
            <a:off x="2334349" y="2786566"/>
            <a:ext cx="3710191" cy="645813"/>
            <a:chOff x="604868" y="2694287"/>
            <a:chExt cx="3710191" cy="645813"/>
          </a:xfrm>
        </p:grpSpPr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CE8210F3-9797-4957-9366-996AA1687AAB}"/>
                </a:ext>
              </a:extLst>
            </p:cNvPr>
            <p:cNvCxnSpPr/>
            <p:nvPr/>
          </p:nvCxnSpPr>
          <p:spPr bwMode="auto">
            <a:xfrm>
              <a:off x="604868" y="3340100"/>
              <a:ext cx="3710191" cy="0"/>
            </a:xfrm>
            <a:prstGeom prst="line">
              <a:avLst/>
            </a:prstGeom>
            <a:noFill/>
            <a:ln w="38100" cap="flat" cmpd="sng" algn="ctr">
              <a:solidFill>
                <a:srgbClr val="0000CC"/>
              </a:solidFill>
              <a:prstDash val="sysDash"/>
              <a:round/>
              <a:headEnd type="none" w="med" len="med"/>
              <a:tailEnd type="none" w="med" len="med"/>
            </a:ln>
            <a:effectLst/>
          </p:spPr>
        </p:cxnSp>
        <p:graphicFrame>
          <p:nvGraphicFramePr>
            <p:cNvPr id="64" name="对象 63">
              <a:extLst>
                <a:ext uri="{FF2B5EF4-FFF2-40B4-BE49-F238E27FC236}">
                  <a16:creationId xmlns:a16="http://schemas.microsoft.com/office/drawing/2014/main" id="{A35E3FA0-2E20-45EC-8DC5-724E81D4FF8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27697054"/>
                </p:ext>
              </p:extLst>
            </p:nvPr>
          </p:nvGraphicFramePr>
          <p:xfrm>
            <a:off x="2108725" y="2694287"/>
            <a:ext cx="504825" cy="533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9738" name="Equation" r:id="rId16" imgW="215640" imgH="228600" progId="Equation.DSMT4">
                    <p:embed/>
                  </p:oleObj>
                </mc:Choice>
                <mc:Fallback>
                  <p:oleObj name="Equation" r:id="rId16" imgW="215640" imgH="228600" progId="Equation.DSMT4">
                    <p:embed/>
                    <p:pic>
                      <p:nvPicPr>
                        <p:cNvPr id="126" name="对象 1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08725" y="2694287"/>
                          <a:ext cx="504825" cy="5334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8DA533B3-78C0-44B5-A07C-DCA494F38B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4905633"/>
              </p:ext>
            </p:extLst>
          </p:nvPr>
        </p:nvGraphicFramePr>
        <p:xfrm>
          <a:off x="2695579" y="1887771"/>
          <a:ext cx="503238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39" name="Equation" r:id="rId18" imgW="215640" imgH="228600" progId="Equation.DSMT4">
                  <p:embed/>
                </p:oleObj>
              </mc:Choice>
              <mc:Fallback>
                <p:oleObj name="Equation" r:id="rId18" imgW="215640" imgH="228600" progId="Equation.DSMT4">
                  <p:embed/>
                  <p:pic>
                    <p:nvPicPr>
                      <p:cNvPr id="129" name="对象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5579" y="1887771"/>
                        <a:ext cx="503238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9" name="对象 58">
            <a:extLst>
              <a:ext uri="{FF2B5EF4-FFF2-40B4-BE49-F238E27FC236}">
                <a16:creationId xmlns:a16="http://schemas.microsoft.com/office/drawing/2014/main" id="{53560457-1E8B-4008-8E4D-4A10AE8547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555400"/>
              </p:ext>
            </p:extLst>
          </p:nvPr>
        </p:nvGraphicFramePr>
        <p:xfrm>
          <a:off x="171450" y="2935288"/>
          <a:ext cx="1800225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40" name="Equation" r:id="rId20" imgW="901440" imgH="444240" progId="Equation.DSMT4">
                  <p:embed/>
                </p:oleObj>
              </mc:Choice>
              <mc:Fallback>
                <p:oleObj name="Equation" r:id="rId20" imgW="901440" imgH="444240" progId="Equation.DSMT4">
                  <p:embed/>
                  <p:pic>
                    <p:nvPicPr>
                      <p:cNvPr id="45" name="对象 44">
                        <a:extLst>
                          <a:ext uri="{FF2B5EF4-FFF2-40B4-BE49-F238E27FC236}">
                            <a16:creationId xmlns:a16="http://schemas.microsoft.com/office/drawing/2014/main" id="{6E6B49B0-0541-48A7-B400-ECCF7BE6930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1450" y="2935288"/>
                        <a:ext cx="1800225" cy="874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0E156B02-4DC1-4740-9DE1-7CD03695C30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46422136"/>
              </p:ext>
            </p:extLst>
          </p:nvPr>
        </p:nvGraphicFramePr>
        <p:xfrm>
          <a:off x="171449" y="4006660"/>
          <a:ext cx="1800225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41" name="Equation" r:id="rId22" imgW="901440" imgH="444240" progId="Equation.DSMT4">
                  <p:embed/>
                </p:oleObj>
              </mc:Choice>
              <mc:Fallback>
                <p:oleObj name="Equation" r:id="rId22" imgW="901440" imgH="444240" progId="Equation.DSMT4">
                  <p:embed/>
                  <p:pic>
                    <p:nvPicPr>
                      <p:cNvPr id="59" name="对象 58">
                        <a:extLst>
                          <a:ext uri="{FF2B5EF4-FFF2-40B4-BE49-F238E27FC236}">
                            <a16:creationId xmlns:a16="http://schemas.microsoft.com/office/drawing/2014/main" id="{53560457-1E8B-4008-8E4D-4A10AE8547C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1449" y="4006660"/>
                        <a:ext cx="1800225" cy="874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1F719569-0FF7-4D9A-9894-3F31BE7258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2353111"/>
              </p:ext>
            </p:extLst>
          </p:nvPr>
        </p:nvGraphicFramePr>
        <p:xfrm>
          <a:off x="124030" y="5127381"/>
          <a:ext cx="1978025" cy="923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42" name="Equation" r:id="rId24" imgW="990360" imgH="469800" progId="Equation.DSMT4">
                  <p:embed/>
                </p:oleObj>
              </mc:Choice>
              <mc:Fallback>
                <p:oleObj name="Equation" r:id="rId24" imgW="990360" imgH="469800" progId="Equation.DSMT4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0E156B02-4DC1-4740-9DE1-7CD03695C30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030" y="5127381"/>
                        <a:ext cx="1978025" cy="923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401E4439-2670-4835-B59D-E0D5F817D9C1}"/>
                  </a:ext>
                </a:extLst>
              </p:cNvPr>
              <p:cNvSpPr/>
              <p:nvPr/>
            </p:nvSpPr>
            <p:spPr>
              <a:xfrm>
                <a:off x="2109468" y="6178006"/>
                <a:ext cx="687752" cy="3798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zh-CN" alt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zh-CN" alt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401E4439-2670-4835-B59D-E0D5F817D9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9468" y="6178006"/>
                <a:ext cx="687752" cy="379848"/>
              </a:xfrm>
              <a:prstGeom prst="rect">
                <a:avLst/>
              </a:prstGeom>
              <a:blipFill>
                <a:blip r:embed="rId26"/>
                <a:stretch>
                  <a:fillRect b="-79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F3AF8306-BB67-4C7C-A41C-98D382015860}"/>
                  </a:ext>
                </a:extLst>
              </p:cNvPr>
              <p:cNvSpPr/>
              <p:nvPr/>
            </p:nvSpPr>
            <p:spPr>
              <a:xfrm>
                <a:off x="3286142" y="6147000"/>
                <a:ext cx="687752" cy="3798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zh-CN" alt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F3AF8306-BB67-4C7C-A41C-98D3820158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6142" y="6147000"/>
                <a:ext cx="687752" cy="379848"/>
              </a:xfrm>
              <a:prstGeom prst="rect">
                <a:avLst/>
              </a:prstGeom>
              <a:blipFill>
                <a:blip r:embed="rId27"/>
                <a:stretch>
                  <a:fillRect b="-79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08A0EE66-142D-49AA-B309-0318503518A7}"/>
                  </a:ext>
                </a:extLst>
              </p:cNvPr>
              <p:cNvSpPr/>
              <p:nvPr/>
            </p:nvSpPr>
            <p:spPr>
              <a:xfrm>
                <a:off x="2262847" y="4229171"/>
                <a:ext cx="995721" cy="3816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zh-CN" altLang="en-US">
                              <a:latin typeface="Cambria Math" panose="02040503050406030204" pitchFamily="18" charset="0"/>
                            </a:rPr>
                            <m:t>Mmax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08A0EE66-142D-49AA-B309-0318503518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847" y="4229171"/>
                <a:ext cx="995721" cy="381643"/>
              </a:xfrm>
              <a:prstGeom prst="rect">
                <a:avLst/>
              </a:prstGeom>
              <a:blipFill>
                <a:blip r:embed="rId28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BB99D34-3F17-4AC3-B870-CC6B07EB3383}"/>
              </a:ext>
            </a:extLst>
          </p:cNvPr>
          <p:cNvCxnSpPr>
            <a:cxnSpLocks/>
          </p:cNvCxnSpPr>
          <p:nvPr/>
        </p:nvCxnSpPr>
        <p:spPr>
          <a:xfrm>
            <a:off x="3521404" y="4676768"/>
            <a:ext cx="0" cy="1501238"/>
          </a:xfrm>
          <a:prstGeom prst="line">
            <a:avLst/>
          </a:prstGeom>
          <a:ln w="28575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0A440BC-543A-4D8E-BD6F-ABB23801BA63}"/>
              </a:ext>
            </a:extLst>
          </p:cNvPr>
          <p:cNvCxnSpPr/>
          <p:nvPr/>
        </p:nvCxnSpPr>
        <p:spPr>
          <a:xfrm flipH="1">
            <a:off x="2334349" y="4676768"/>
            <a:ext cx="1187055" cy="0"/>
          </a:xfrm>
          <a:prstGeom prst="line">
            <a:avLst/>
          </a:prstGeom>
          <a:ln w="28575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B72CE78-8727-4362-BA7D-84D044F1C0C4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17/35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7312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>
            <a:extLst>
              <a:ext uri="{FF2B5EF4-FFF2-40B4-BE49-F238E27FC236}">
                <a16:creationId xmlns:a16="http://schemas.microsoft.com/office/drawing/2014/main" id="{D7D9AA2C-0561-431E-A0DE-2A8B3A7E790A}"/>
              </a:ext>
            </a:extLst>
          </p:cNvPr>
          <p:cNvSpPr/>
          <p:nvPr/>
        </p:nvSpPr>
        <p:spPr>
          <a:xfrm>
            <a:off x="818443" y="836106"/>
            <a:ext cx="3315331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变量泵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变量马达</a:t>
            </a:r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7325F05D-9F62-4275-B5FF-E07AFFB608BC}"/>
              </a:ext>
            </a:extLst>
          </p:cNvPr>
          <p:cNvGrpSpPr/>
          <p:nvPr/>
        </p:nvGrpSpPr>
        <p:grpSpPr>
          <a:xfrm>
            <a:off x="4464794" y="2064844"/>
            <a:ext cx="803913" cy="777033"/>
            <a:chOff x="7148937" y="5261303"/>
            <a:chExt cx="803913" cy="777033"/>
          </a:xfrm>
        </p:grpSpPr>
        <p:sp>
          <p:nvSpPr>
            <p:cNvPr id="68" name="椭圆 67">
              <a:extLst>
                <a:ext uri="{FF2B5EF4-FFF2-40B4-BE49-F238E27FC236}">
                  <a16:creationId xmlns:a16="http://schemas.microsoft.com/office/drawing/2014/main" id="{D625EFA9-E84C-4C76-A1CD-756215E4714C}"/>
                </a:ext>
              </a:extLst>
            </p:cNvPr>
            <p:cNvSpPr/>
            <p:nvPr/>
          </p:nvSpPr>
          <p:spPr bwMode="auto">
            <a:xfrm>
              <a:off x="7148937" y="5261303"/>
              <a:ext cx="803913" cy="777033"/>
            </a:xfrm>
            <a:prstGeom prst="ellipse">
              <a:avLst/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69" name="等腰三角形 68">
              <a:extLst>
                <a:ext uri="{FF2B5EF4-FFF2-40B4-BE49-F238E27FC236}">
                  <a16:creationId xmlns:a16="http://schemas.microsoft.com/office/drawing/2014/main" id="{7EE8E99D-3305-41B9-920F-137F10AD64EF}"/>
                </a:ext>
              </a:extLst>
            </p:cNvPr>
            <p:cNvSpPr/>
            <p:nvPr/>
          </p:nvSpPr>
          <p:spPr bwMode="auto">
            <a:xfrm>
              <a:off x="7422367" y="5261303"/>
              <a:ext cx="229113" cy="197542"/>
            </a:xfrm>
            <a:prstGeom prst="triangle">
              <a:avLst/>
            </a:prstGeom>
            <a:solidFill>
              <a:srgbClr val="7030A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r"/>
              <a:endParaRPr lang="zh-CN" altLang="en-US">
                <a:latin typeface="+mn-ea"/>
              </a:endParaRPr>
            </a:p>
          </p:txBody>
        </p:sp>
      </p:grp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7265A8AA-EDBB-4D4E-89D2-1529CBB4B496}"/>
              </a:ext>
            </a:extLst>
          </p:cNvPr>
          <p:cNvCxnSpPr>
            <a:stCxn id="68" idx="4"/>
          </p:cNvCxnSpPr>
          <p:nvPr/>
        </p:nvCxnSpPr>
        <p:spPr bwMode="auto">
          <a:xfrm>
            <a:off x="4866751" y="2841877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1" name="Line 33">
            <a:extLst>
              <a:ext uri="{FF2B5EF4-FFF2-40B4-BE49-F238E27FC236}">
                <a16:creationId xmlns:a16="http://schemas.microsoft.com/office/drawing/2014/main" id="{AC96DADC-B515-4B43-9EE5-1D5EE61B2FB5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835998" y="2993636"/>
            <a:ext cx="577248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2" name="Line 29">
            <a:extLst>
              <a:ext uri="{FF2B5EF4-FFF2-40B4-BE49-F238E27FC236}">
                <a16:creationId xmlns:a16="http://schemas.microsoft.com/office/drawing/2014/main" id="{5EE3C638-4141-4FBB-8CD6-3D60A06614B6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462023" y="2354969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3" name="Line 26">
            <a:extLst>
              <a:ext uri="{FF2B5EF4-FFF2-40B4-BE49-F238E27FC236}">
                <a16:creationId xmlns:a16="http://schemas.microsoft.com/office/drawing/2014/main" id="{9C48184E-11A1-4789-8F73-E54E5E2E5070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158810" y="2681994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4" name="Line 27">
            <a:extLst>
              <a:ext uri="{FF2B5EF4-FFF2-40B4-BE49-F238E27FC236}">
                <a16:creationId xmlns:a16="http://schemas.microsoft.com/office/drawing/2014/main" id="{71BCF2BE-F869-43F0-8DD1-3A67F1A77E25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7476310" y="2807406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5" name="Rectangle 16">
            <a:extLst>
              <a:ext uri="{FF2B5EF4-FFF2-40B4-BE49-F238E27FC236}">
                <a16:creationId xmlns:a16="http://schemas.microsoft.com/office/drawing/2014/main" id="{942C961F-E744-4F45-9CF2-F19FA750711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879409" y="2266068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76" name="Line 21">
            <a:extLst>
              <a:ext uri="{FF2B5EF4-FFF2-40B4-BE49-F238E27FC236}">
                <a16:creationId xmlns:a16="http://schemas.microsoft.com/office/drawing/2014/main" id="{62064F2B-021B-413A-9805-55750C489191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984185" y="2477206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7" name="Line 22">
            <a:extLst>
              <a:ext uri="{FF2B5EF4-FFF2-40B4-BE49-F238E27FC236}">
                <a16:creationId xmlns:a16="http://schemas.microsoft.com/office/drawing/2014/main" id="{733DB628-11A7-481F-8725-1D661DF0A389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6795272" y="2448631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8" name="Line 23">
            <a:extLst>
              <a:ext uri="{FF2B5EF4-FFF2-40B4-BE49-F238E27FC236}">
                <a16:creationId xmlns:a16="http://schemas.microsoft.com/office/drawing/2014/main" id="{C99CB625-4513-4BB6-BC7E-E9697875D54B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726216" y="2447837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79" name="Line 24">
            <a:extLst>
              <a:ext uri="{FF2B5EF4-FFF2-40B4-BE49-F238E27FC236}">
                <a16:creationId xmlns:a16="http://schemas.microsoft.com/office/drawing/2014/main" id="{9F3ED28B-0FF9-4AFE-AB0D-1FC45AF4E713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6661922" y="2453394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0" name="Line 25">
            <a:extLst>
              <a:ext uri="{FF2B5EF4-FFF2-40B4-BE49-F238E27FC236}">
                <a16:creationId xmlns:a16="http://schemas.microsoft.com/office/drawing/2014/main" id="{E928FBE7-84FF-4A9E-AB2E-4A2BFA13EA66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592866" y="2452600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1" name="Line 30">
            <a:extLst>
              <a:ext uri="{FF2B5EF4-FFF2-40B4-BE49-F238E27FC236}">
                <a16:creationId xmlns:a16="http://schemas.microsoft.com/office/drawing/2014/main" id="{BB2AFB70-618E-4E66-A851-ECE0BB0EFF62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6848604" y="1973383"/>
            <a:ext cx="552033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82" name="Line 28">
            <a:extLst>
              <a:ext uri="{FF2B5EF4-FFF2-40B4-BE49-F238E27FC236}">
                <a16:creationId xmlns:a16="http://schemas.microsoft.com/office/drawing/2014/main" id="{A3BB0365-33B4-4124-A8C6-72760A4B4ACD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7368257" y="2690829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27F978E-5AE2-4833-B59E-733621F54537}"/>
              </a:ext>
            </a:extLst>
          </p:cNvPr>
          <p:cNvCxnSpPr/>
          <p:nvPr/>
        </p:nvCxnSpPr>
        <p:spPr bwMode="auto">
          <a:xfrm>
            <a:off x="4866751" y="1699994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E96850F5-DA99-49B8-AB8E-C299DF8C6914}"/>
              </a:ext>
            </a:extLst>
          </p:cNvPr>
          <p:cNvCxnSpPr/>
          <p:nvPr/>
        </p:nvCxnSpPr>
        <p:spPr bwMode="auto">
          <a:xfrm flipH="1">
            <a:off x="4852782" y="1693128"/>
            <a:ext cx="3218130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11D9DE20-1662-45B8-B455-801381128DA5}"/>
              </a:ext>
            </a:extLst>
          </p:cNvPr>
          <p:cNvCxnSpPr/>
          <p:nvPr/>
        </p:nvCxnSpPr>
        <p:spPr bwMode="auto">
          <a:xfrm flipH="1">
            <a:off x="4866753" y="3278778"/>
            <a:ext cx="3204160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6" name="等腰三角形 85">
            <a:extLst>
              <a:ext uri="{FF2B5EF4-FFF2-40B4-BE49-F238E27FC236}">
                <a16:creationId xmlns:a16="http://schemas.microsoft.com/office/drawing/2014/main" id="{886EEBA1-C84A-43A5-86BB-BAED31631E51}"/>
              </a:ext>
            </a:extLst>
          </p:cNvPr>
          <p:cNvSpPr/>
          <p:nvPr/>
        </p:nvSpPr>
        <p:spPr bwMode="auto">
          <a:xfrm rot="10800000">
            <a:off x="4752194" y="2644335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sp>
        <p:nvSpPr>
          <p:cNvPr id="87" name="Line 33">
            <a:extLst>
              <a:ext uri="{FF2B5EF4-FFF2-40B4-BE49-F238E27FC236}">
                <a16:creationId xmlns:a16="http://schemas.microsoft.com/office/drawing/2014/main" id="{161FFA07-4FCA-4064-A0CD-5F0C4C6E45D7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842223" y="1982508"/>
            <a:ext cx="577248" cy="0"/>
          </a:xfrm>
          <a:prstGeom prst="line">
            <a:avLst/>
          </a:prstGeom>
          <a:noFill/>
          <a:ln w="38100" cmpd="sng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>
              <a:latin typeface="+mn-ea"/>
            </a:endParaRPr>
          </a:p>
        </p:txBody>
      </p:sp>
      <p:sp>
        <p:nvSpPr>
          <p:cNvPr id="88" name="Line 29">
            <a:extLst>
              <a:ext uri="{FF2B5EF4-FFF2-40B4-BE49-F238E27FC236}">
                <a16:creationId xmlns:a16="http://schemas.microsoft.com/office/drawing/2014/main" id="{52D5D8AD-EF86-40F9-95C7-AB751829C4A2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468248" y="2387813"/>
            <a:ext cx="0" cy="2333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89" name="Line 26">
            <a:extLst>
              <a:ext uri="{FF2B5EF4-FFF2-40B4-BE49-F238E27FC236}">
                <a16:creationId xmlns:a16="http://schemas.microsoft.com/office/drawing/2014/main" id="{D51D0DA7-E3C7-470A-BCA5-E4850754DE1E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6165035" y="2035388"/>
            <a:ext cx="184150" cy="258763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0" name="Line 27">
            <a:extLst>
              <a:ext uri="{FF2B5EF4-FFF2-40B4-BE49-F238E27FC236}">
                <a16:creationId xmlns:a16="http://schemas.microsoft.com/office/drawing/2014/main" id="{B429C384-CE5D-4796-B9AE-C97A06969B1F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6482535" y="1976650"/>
            <a:ext cx="0" cy="192088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1" name="Rectangle 16">
            <a:extLst>
              <a:ext uri="{FF2B5EF4-FFF2-40B4-BE49-F238E27FC236}">
                <a16:creationId xmlns:a16="http://schemas.microsoft.com/office/drawing/2014/main" id="{54562713-D486-405B-91DA-EB99F6D2BD97}"/>
              </a:ext>
            </a:extLst>
          </p:cNvPr>
          <p:cNvSpPr>
            <a:spLocks noChangeArrowheads="1"/>
          </p:cNvSpPr>
          <p:nvPr/>
        </p:nvSpPr>
        <p:spPr bwMode="auto">
          <a:xfrm rot="16200000" flipV="1">
            <a:off x="5885634" y="2281451"/>
            <a:ext cx="461963" cy="428625"/>
          </a:xfrm>
          <a:prstGeom prst="rect">
            <a:avLst/>
          </a:prstGeom>
          <a:noFill/>
          <a:ln w="28575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2"/>
                </a:solidFill>
                <a:latin typeface="Tahoma" pitchFamily="34" charset="0"/>
                <a:ea typeface="宋体" pitchFamily="2" charset="-122"/>
              </a:defRPr>
            </a:lvl9pPr>
          </a:lstStyle>
          <a:p>
            <a:pPr algn="ctr" eaLnBrk="1" hangingPunct="1"/>
            <a:endParaRPr lang="zh-CN" altLang="en-US">
              <a:latin typeface="+mn-ea"/>
              <a:ea typeface="+mn-ea"/>
            </a:endParaRPr>
          </a:p>
        </p:txBody>
      </p:sp>
      <p:sp>
        <p:nvSpPr>
          <p:cNvPr id="92" name="Line 21">
            <a:extLst>
              <a:ext uri="{FF2B5EF4-FFF2-40B4-BE49-F238E27FC236}">
                <a16:creationId xmlns:a16="http://schemas.microsoft.com/office/drawing/2014/main" id="{06609506-057A-4360-9554-2585BB6AD55D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990410" y="2498939"/>
            <a:ext cx="455613" cy="0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3" name="Line 22">
            <a:extLst>
              <a:ext uri="{FF2B5EF4-FFF2-40B4-BE49-F238E27FC236}">
                <a16:creationId xmlns:a16="http://schemas.microsoft.com/office/drawing/2014/main" id="{26F704E8-40D8-4CE0-A5A7-56EC4E2432B9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5801497" y="2467189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4" name="Line 23">
            <a:extLst>
              <a:ext uri="{FF2B5EF4-FFF2-40B4-BE49-F238E27FC236}">
                <a16:creationId xmlns:a16="http://schemas.microsoft.com/office/drawing/2014/main" id="{E96E7841-ECBD-4385-A4B4-535904311F2E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732441" y="2463220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5" name="Line 24">
            <a:extLst>
              <a:ext uri="{FF2B5EF4-FFF2-40B4-BE49-F238E27FC236}">
                <a16:creationId xmlns:a16="http://schemas.microsoft.com/office/drawing/2014/main" id="{8D04C328-0929-486C-8807-C5D9223A5FE1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5668147" y="2462426"/>
            <a:ext cx="141288" cy="60325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6" name="Line 25">
            <a:extLst>
              <a:ext uri="{FF2B5EF4-FFF2-40B4-BE49-F238E27FC236}">
                <a16:creationId xmlns:a16="http://schemas.microsoft.com/office/drawing/2014/main" id="{A3C2E821-EA65-444A-B719-24D95760AFB1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599091" y="2458457"/>
            <a:ext cx="138113" cy="65088"/>
          </a:xfrm>
          <a:prstGeom prst="line">
            <a:avLst/>
          </a:prstGeom>
          <a:noFill/>
          <a:ln w="28575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7" name="Line 30">
            <a:extLst>
              <a:ext uri="{FF2B5EF4-FFF2-40B4-BE49-F238E27FC236}">
                <a16:creationId xmlns:a16="http://schemas.microsoft.com/office/drawing/2014/main" id="{F712CF34-2184-496E-A3EE-24FDF270885B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5854829" y="3002762"/>
            <a:ext cx="552033" cy="0"/>
          </a:xfrm>
          <a:prstGeom prst="line">
            <a:avLst/>
          </a:prstGeom>
          <a:noFill/>
          <a:ln w="38100" cmpd="sng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8" name="Line 28">
            <a:extLst>
              <a:ext uri="{FF2B5EF4-FFF2-40B4-BE49-F238E27FC236}">
                <a16:creationId xmlns:a16="http://schemas.microsoft.com/office/drawing/2014/main" id="{981076EF-0EB1-4ADA-A74F-7C5116233863}"/>
              </a:ext>
            </a:extLst>
          </p:cNvPr>
          <p:cNvSpPr>
            <a:spLocks noChangeShapeType="1"/>
          </p:cNvSpPr>
          <p:nvPr/>
        </p:nvSpPr>
        <p:spPr bwMode="auto">
          <a:xfrm rot="16200000" flipH="1" flipV="1">
            <a:off x="6374482" y="2285316"/>
            <a:ext cx="420895" cy="0"/>
          </a:xfrm>
          <a:prstGeom prst="line">
            <a:avLst/>
          </a:prstGeom>
          <a:noFill/>
          <a:ln w="28575" cap="sq">
            <a:solidFill>
              <a:srgbClr val="FF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>
              <a:latin typeface="+mn-ea"/>
            </a:endParaRPr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93C5D576-08AA-4E38-B8BB-5E490529820A}"/>
              </a:ext>
            </a:extLst>
          </p:cNvPr>
          <p:cNvSpPr/>
          <p:nvPr/>
        </p:nvSpPr>
        <p:spPr bwMode="auto">
          <a:xfrm>
            <a:off x="7668956" y="2053644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00" name="等腰三角形 99">
            <a:extLst>
              <a:ext uri="{FF2B5EF4-FFF2-40B4-BE49-F238E27FC236}">
                <a16:creationId xmlns:a16="http://schemas.microsoft.com/office/drawing/2014/main" id="{C369DE5D-D63A-4260-9266-2813C7BF7172}"/>
              </a:ext>
            </a:extLst>
          </p:cNvPr>
          <p:cNvSpPr/>
          <p:nvPr/>
        </p:nvSpPr>
        <p:spPr bwMode="auto">
          <a:xfrm flipV="1">
            <a:off x="7942386" y="2063169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72ADFD9-0CCC-474E-A9A7-69B5D4C9BF2F}"/>
              </a:ext>
            </a:extLst>
          </p:cNvPr>
          <p:cNvCxnSpPr>
            <a:stCxn id="99" idx="4"/>
          </p:cNvCxnSpPr>
          <p:nvPr/>
        </p:nvCxnSpPr>
        <p:spPr bwMode="auto">
          <a:xfrm>
            <a:off x="8070913" y="2830677"/>
            <a:ext cx="0" cy="440383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CB2130FC-BFD2-4BDE-85FC-6AC2F0570ED5}"/>
              </a:ext>
            </a:extLst>
          </p:cNvPr>
          <p:cNvCxnSpPr/>
          <p:nvPr/>
        </p:nvCxnSpPr>
        <p:spPr bwMode="auto">
          <a:xfrm>
            <a:off x="8070913" y="1688794"/>
            <a:ext cx="0" cy="376205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3" name="等腰三角形 102">
            <a:extLst>
              <a:ext uri="{FF2B5EF4-FFF2-40B4-BE49-F238E27FC236}">
                <a16:creationId xmlns:a16="http://schemas.microsoft.com/office/drawing/2014/main" id="{6B99C4F6-1F70-435C-A406-CD8FB53C8FF7}"/>
              </a:ext>
            </a:extLst>
          </p:cNvPr>
          <p:cNvSpPr/>
          <p:nvPr/>
        </p:nvSpPr>
        <p:spPr bwMode="auto">
          <a:xfrm rot="10800000" flipV="1">
            <a:off x="7956356" y="2618449"/>
            <a:ext cx="229113" cy="197542"/>
          </a:xfrm>
          <a:prstGeom prst="triangle">
            <a:avLst/>
          </a:prstGeom>
          <a:solidFill>
            <a:srgbClr val="7030A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/>
            <a:endParaRPr lang="zh-CN" altLang="en-US">
              <a:latin typeface="+mn-ea"/>
            </a:endParaRPr>
          </a:p>
        </p:txBody>
      </p: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1FD2CCF1-7212-4AD2-A638-2C7436E998FC}"/>
              </a:ext>
            </a:extLst>
          </p:cNvPr>
          <p:cNvCxnSpPr/>
          <p:nvPr/>
        </p:nvCxnSpPr>
        <p:spPr bwMode="auto">
          <a:xfrm flipV="1">
            <a:off x="7617787" y="2076199"/>
            <a:ext cx="940546" cy="699538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F3F1665C-EAC9-4B12-A294-9F080C90EEFD}"/>
              </a:ext>
            </a:extLst>
          </p:cNvPr>
          <p:cNvSpPr/>
          <p:nvPr/>
        </p:nvSpPr>
        <p:spPr bwMode="auto">
          <a:xfrm>
            <a:off x="3181806" y="2034577"/>
            <a:ext cx="803913" cy="777033"/>
          </a:xfrm>
          <a:prstGeom prst="ellips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M</a:t>
            </a:r>
            <a:endParaRPr kumimoji="0" lang="zh-CN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C5B65A5D-AD9D-4534-A35E-8552EFCA96CC}"/>
              </a:ext>
            </a:extLst>
          </p:cNvPr>
          <p:cNvGrpSpPr/>
          <p:nvPr/>
        </p:nvGrpSpPr>
        <p:grpSpPr>
          <a:xfrm>
            <a:off x="8472869" y="2350603"/>
            <a:ext cx="513365" cy="183114"/>
            <a:chOff x="1841215" y="2732753"/>
            <a:chExt cx="513365" cy="183114"/>
          </a:xfrm>
        </p:grpSpPr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7B8BBF90-41E5-45D0-8A2B-67BCEC592316}"/>
                </a:ext>
              </a:extLst>
            </p:cNvPr>
            <p:cNvCxnSpPr/>
            <p:nvPr/>
          </p:nvCxnSpPr>
          <p:spPr bwMode="auto">
            <a:xfrm>
              <a:off x="1841215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47CBAFEF-E999-43E3-9562-6739E3E9C8B4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09" name="矩形 108">
            <a:extLst>
              <a:ext uri="{FF2B5EF4-FFF2-40B4-BE49-F238E27FC236}">
                <a16:creationId xmlns:a16="http://schemas.microsoft.com/office/drawing/2014/main" id="{0A4FBE42-CEAE-4147-82FE-382EBD7CC666}"/>
              </a:ext>
            </a:extLst>
          </p:cNvPr>
          <p:cNvSpPr/>
          <p:nvPr/>
        </p:nvSpPr>
        <p:spPr bwMode="auto">
          <a:xfrm>
            <a:off x="8986234" y="2140180"/>
            <a:ext cx="332850" cy="59247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10" name="弧形 109">
            <a:extLst>
              <a:ext uri="{FF2B5EF4-FFF2-40B4-BE49-F238E27FC236}">
                <a16:creationId xmlns:a16="http://schemas.microsoft.com/office/drawing/2014/main" id="{FF853E58-B518-49CF-9ED4-CEB2A7DD71CE}"/>
              </a:ext>
            </a:extLst>
          </p:cNvPr>
          <p:cNvSpPr/>
          <p:nvPr/>
        </p:nvSpPr>
        <p:spPr bwMode="auto">
          <a:xfrm>
            <a:off x="8490529" y="2164769"/>
            <a:ext cx="330470" cy="523893"/>
          </a:xfrm>
          <a:prstGeom prst="arc">
            <a:avLst>
              <a:gd name="adj1" fmla="val 16200000"/>
              <a:gd name="adj2" fmla="val 5388051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111" name="对象 110">
            <a:extLst>
              <a:ext uri="{FF2B5EF4-FFF2-40B4-BE49-F238E27FC236}">
                <a16:creationId xmlns:a16="http://schemas.microsoft.com/office/drawing/2014/main" id="{DFCAFDD0-797D-40E2-86D2-5507A62EE0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4041459"/>
              </p:ext>
            </p:extLst>
          </p:nvPr>
        </p:nvGraphicFramePr>
        <p:xfrm>
          <a:off x="8477377" y="1501775"/>
          <a:ext cx="481013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542" name="Equation" r:id="rId4" imgW="266400" imgH="279360" progId="Equation.DSMT4">
                  <p:embed/>
                </p:oleObj>
              </mc:Choice>
              <mc:Fallback>
                <p:oleObj name="Equation" r:id="rId4" imgW="266400" imgH="279360" progId="Equation.DSMT4">
                  <p:embed/>
                  <p:pic>
                    <p:nvPicPr>
                      <p:cNvPr id="50" name="对象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77377" y="1501775"/>
                        <a:ext cx="481013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E7A9E139-140E-4C6B-8EB1-207B6ACF29E8}"/>
              </a:ext>
            </a:extLst>
          </p:cNvPr>
          <p:cNvGrpSpPr/>
          <p:nvPr/>
        </p:nvGrpSpPr>
        <p:grpSpPr>
          <a:xfrm>
            <a:off x="3978099" y="2339530"/>
            <a:ext cx="493045" cy="183114"/>
            <a:chOff x="1841215" y="2732753"/>
            <a:chExt cx="520063" cy="183114"/>
          </a:xfrm>
        </p:grpSpPr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1B4FF7D0-7851-4BBC-ABBB-19EBC920C85F}"/>
                </a:ext>
              </a:extLst>
            </p:cNvPr>
            <p:cNvCxnSpPr/>
            <p:nvPr/>
          </p:nvCxnSpPr>
          <p:spPr bwMode="auto">
            <a:xfrm>
              <a:off x="1847913" y="2732753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4" name="直接连接符 113">
              <a:extLst>
                <a:ext uri="{FF2B5EF4-FFF2-40B4-BE49-F238E27FC236}">
                  <a16:creationId xmlns:a16="http://schemas.microsoft.com/office/drawing/2014/main" id="{40D03F62-9410-48C2-9E5F-35CC325B2524}"/>
                </a:ext>
              </a:extLst>
            </p:cNvPr>
            <p:cNvCxnSpPr/>
            <p:nvPr/>
          </p:nvCxnSpPr>
          <p:spPr bwMode="auto">
            <a:xfrm>
              <a:off x="1841215" y="2915867"/>
              <a:ext cx="513365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E0720442-7341-4CA6-877E-3E6EBE821656}"/>
              </a:ext>
            </a:extLst>
          </p:cNvPr>
          <p:cNvCxnSpPr/>
          <p:nvPr/>
        </p:nvCxnSpPr>
        <p:spPr bwMode="auto">
          <a:xfrm flipV="1">
            <a:off x="4432347" y="2129024"/>
            <a:ext cx="940546" cy="699538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6" name="矩形 115">
            <a:extLst>
              <a:ext uri="{FF2B5EF4-FFF2-40B4-BE49-F238E27FC236}">
                <a16:creationId xmlns:a16="http://schemas.microsoft.com/office/drawing/2014/main" id="{592E3658-CCDE-4D54-8A15-76F684E38B0C}"/>
              </a:ext>
            </a:extLst>
          </p:cNvPr>
          <p:cNvSpPr/>
          <p:nvPr/>
        </p:nvSpPr>
        <p:spPr>
          <a:xfrm>
            <a:off x="1949176" y="4045343"/>
            <a:ext cx="7845929" cy="23462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70000"/>
              <a:buFont typeface="Wingdings" pitchFamily="2" charset="2"/>
              <a:buNone/>
            </a:pPr>
            <a:r>
              <a:rPr lang="zh-CN" altLang="en-US" sz="2000" b="1" dirty="0">
                <a:solidFill>
                  <a:srgbClr val="FF0000"/>
                </a:solidFill>
                <a:latin typeface="+mn-ea"/>
              </a:rPr>
              <a:t>第一段：</a:t>
            </a:r>
            <a:r>
              <a:rPr lang="zh-CN" altLang="en-US" sz="2000" dirty="0">
                <a:latin typeface="+mn-ea"/>
              </a:rPr>
              <a:t>马达排量调最大并固定，将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</a:rPr>
              <a:t>泵排量小→大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70000"/>
              <a:buFont typeface="Wingdings" pitchFamily="2" charset="2"/>
              <a:buNone/>
            </a:pPr>
            <a:r>
              <a:rPr lang="en-US" altLang="zh-CN" sz="2000" dirty="0">
                <a:latin typeface="+mn-ea"/>
              </a:rPr>
              <a:t>             </a:t>
            </a:r>
            <a:r>
              <a:rPr lang="zh-CN" altLang="en-US" sz="2000" dirty="0">
                <a:latin typeface="+mn-ea"/>
              </a:rPr>
              <a:t>马达转速逐渐变大，“变量泵</a:t>
            </a:r>
            <a:r>
              <a:rPr lang="en-US" altLang="zh-CN" sz="2000" dirty="0">
                <a:latin typeface="+mn-ea"/>
              </a:rPr>
              <a:t>—</a:t>
            </a:r>
            <a:r>
              <a:rPr lang="zh-CN" altLang="en-US" sz="2000" dirty="0">
                <a:latin typeface="+mn-ea"/>
              </a:rPr>
              <a:t>定量马达”回路 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70000"/>
              <a:buFont typeface="Wingdings" pitchFamily="2" charset="2"/>
              <a:buNone/>
            </a:pPr>
            <a:r>
              <a:rPr lang="zh-CN" altLang="en-US" sz="2000" b="1" dirty="0">
                <a:solidFill>
                  <a:srgbClr val="FF0000"/>
                </a:solidFill>
                <a:latin typeface="+mn-ea"/>
              </a:rPr>
              <a:t>第二段：</a:t>
            </a:r>
            <a:r>
              <a:rPr lang="zh-CN" altLang="en-US" sz="2000" dirty="0">
                <a:latin typeface="+mn-ea"/>
              </a:rPr>
              <a:t>泵排量调至最大并固定，</a:t>
            </a:r>
            <a:r>
              <a:rPr lang="zh-CN" altLang="en-US" sz="2000" b="1" dirty="0">
                <a:solidFill>
                  <a:srgbClr val="FF0000"/>
                </a:solidFill>
                <a:latin typeface="+mn-ea"/>
              </a:rPr>
              <a:t>马达排量大→小 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70000"/>
              <a:buFont typeface="Wingdings" pitchFamily="2" charset="2"/>
              <a:buNone/>
            </a:pPr>
            <a:r>
              <a:rPr lang="en-US" altLang="zh-CN" sz="2000" dirty="0">
                <a:latin typeface="+mn-ea"/>
              </a:rPr>
              <a:t>             </a:t>
            </a:r>
            <a:r>
              <a:rPr lang="zh-CN" altLang="en-US" sz="2000" dirty="0">
                <a:latin typeface="+mn-ea"/>
              </a:rPr>
              <a:t>马达转速逐渐变大，“定量泵</a:t>
            </a:r>
            <a:r>
              <a:rPr lang="en-US" altLang="zh-CN" sz="2000" dirty="0">
                <a:latin typeface="+mn-ea"/>
              </a:rPr>
              <a:t>—</a:t>
            </a:r>
            <a:r>
              <a:rPr lang="zh-CN" altLang="en-US" sz="2000" dirty="0">
                <a:latin typeface="+mn-ea"/>
              </a:rPr>
              <a:t>变量马达”回路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117" name="Rectangle 4">
            <a:extLst>
              <a:ext uri="{FF2B5EF4-FFF2-40B4-BE49-F238E27FC236}">
                <a16:creationId xmlns:a16="http://schemas.microsoft.com/office/drawing/2014/main" id="{A331553E-DBD8-4B22-A8EA-2ED2A7346A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2149" y="3465287"/>
            <a:ext cx="339227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66FFFF"/>
                    </a:gs>
                    <a:gs pos="50000">
                      <a:srgbClr val="FFFFFF"/>
                    </a:gs>
                    <a:gs pos="100000">
                      <a:srgbClr val="66FFFF"/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1pPr>
            <a:lvl2pPr marL="742950" indent="-28575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2pPr>
            <a:lvl3pPr marL="11430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3pPr>
            <a:lvl4pPr marL="16002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4pPr>
            <a:lvl5pPr marL="2057400" indent="-228600" eaLnBrk="0" hangingPunct="0"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5pPr>
            <a:lvl6pPr marL="25146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6pPr>
            <a:lvl7pPr marL="29718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7pPr>
            <a:lvl8pPr marL="34290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8pPr>
            <a:lvl9pPr marL="3886200" indent="-228600" algn="just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 sz="2000" baseline="-30000">
                <a:solidFill>
                  <a:schemeClr val="tx1"/>
                </a:solidFill>
                <a:latin typeface="Times New Roman" pitchFamily="18" charset="0"/>
                <a:ea typeface="宋体" charset="-122"/>
              </a:defRPr>
            </a:lvl9pPr>
          </a:lstStyle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zh-CN" altLang="en-US" sz="2400" baseline="0" dirty="0">
                <a:latin typeface="+mn-ea"/>
                <a:ea typeface="+mn-ea"/>
              </a:rPr>
              <a:t>速度分两段进行调节 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A6DB840D-4AEE-4574-8E80-8FDE59A56E1E}"/>
              </a:ext>
            </a:extLst>
          </p:cNvPr>
          <p:cNvSpPr/>
          <p:nvPr/>
        </p:nvSpPr>
        <p:spPr bwMode="auto">
          <a:xfrm>
            <a:off x="8820998" y="4266529"/>
            <a:ext cx="1191491" cy="6096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恒扭矩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A3225482-7013-44B0-9A89-A79B7CCA3641}"/>
              </a:ext>
            </a:extLst>
          </p:cNvPr>
          <p:cNvSpPr/>
          <p:nvPr/>
        </p:nvSpPr>
        <p:spPr bwMode="auto">
          <a:xfrm>
            <a:off x="8820999" y="5510932"/>
            <a:ext cx="1191491" cy="6096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恒功率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0103B2C-E379-4847-8FB0-AD620A2CBCC5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18/35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81109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>
            <a:extLst>
              <a:ext uri="{FF2B5EF4-FFF2-40B4-BE49-F238E27FC236}">
                <a16:creationId xmlns:a16="http://schemas.microsoft.com/office/drawing/2014/main" id="{D7D9AA2C-0561-431E-A0DE-2A8B3A7E790A}"/>
              </a:ext>
            </a:extLst>
          </p:cNvPr>
          <p:cNvSpPr/>
          <p:nvPr/>
        </p:nvSpPr>
        <p:spPr>
          <a:xfrm>
            <a:off x="818443" y="836106"/>
            <a:ext cx="3315331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lang="zh-CN" altLang="en-US" sz="2800" dirty="0">
                <a:latin typeface="+mn-ea"/>
              </a:rPr>
              <a:t>变量泵</a:t>
            </a:r>
            <a:r>
              <a:rPr lang="en-US" altLang="zh-CN" sz="2800" dirty="0">
                <a:latin typeface="+mn-ea"/>
              </a:rPr>
              <a:t>-</a:t>
            </a:r>
            <a:r>
              <a:rPr lang="zh-CN" altLang="en-US" sz="2800" dirty="0">
                <a:latin typeface="+mn-ea"/>
              </a:rPr>
              <a:t>变量马达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9CF5AFC-74E6-4E05-A6C3-4CF1F224BD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628" y="2494138"/>
            <a:ext cx="4836409" cy="371071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6F88DED-4EAF-46E2-89AB-8BF246BE9D0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04933" y="2550849"/>
            <a:ext cx="3937228" cy="397042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CD3731C-ECA9-4CAA-B7DE-582F75419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4797" y="1704876"/>
            <a:ext cx="2921260" cy="72922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75C3C1E-D48F-4453-B6C3-24652F71AE8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0322"/>
          <a:stretch/>
        </p:blipFill>
        <p:spPr>
          <a:xfrm>
            <a:off x="215464" y="1821626"/>
            <a:ext cx="3046314" cy="72922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ADC8E1B-EE3B-41E4-8C7A-01C58956F7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3774" y="1650472"/>
            <a:ext cx="2903869" cy="729223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53816841-BA13-4980-83D3-A7BE8C1A2C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963" y="2796216"/>
            <a:ext cx="3488551" cy="333187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35823FC3-5849-497D-A6A1-8175949C801D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19/35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1193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内容占位符 2">
            <a:extLst>
              <a:ext uri="{FF2B5EF4-FFF2-40B4-BE49-F238E27FC236}">
                <a16:creationId xmlns:a16="http://schemas.microsoft.com/office/drawing/2014/main" id="{D2C9456E-EE56-47FC-88D4-9CDF8D4ACD01}"/>
              </a:ext>
            </a:extLst>
          </p:cNvPr>
          <p:cNvSpPr txBox="1">
            <a:spLocks/>
          </p:cNvSpPr>
          <p:nvPr/>
        </p:nvSpPr>
        <p:spPr>
          <a:xfrm>
            <a:off x="633237" y="908959"/>
            <a:ext cx="10872963" cy="171419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latin typeface="+mn-ea"/>
              </a:rPr>
              <a:t>原理：用压力补偿型变量泵供油，用流量控制元件调节活塞的运动速度，包括定压式和变压式</a:t>
            </a:r>
            <a:endParaRPr lang="en-US" altLang="zh-CN" sz="2000" dirty="0">
              <a:latin typeface="+mn-ea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latin typeface="+mn-ea"/>
              </a:rPr>
              <a:t>特点：</a:t>
            </a:r>
            <a:r>
              <a:rPr lang="zh-CN" altLang="en-US" sz="2000" b="1" dirty="0">
                <a:latin typeface="+mn-ea"/>
              </a:rPr>
              <a:t>没有溢流损失、效率较高，速度稳定性比单纯的容积调速回路好</a:t>
            </a:r>
            <a:endParaRPr lang="en-US" altLang="zh-CN" sz="2000" b="1" dirty="0">
              <a:latin typeface="+mn-ea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zh-CN" sz="2000" dirty="0">
              <a:latin typeface="+mn-ea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zh-CN" sz="2000" dirty="0">
              <a:latin typeface="+mn-ea"/>
            </a:endParaRP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73F3078F-CC8D-432D-9EEE-1D287CC5543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4509"/>
          <a:stretch/>
        </p:blipFill>
        <p:spPr>
          <a:xfrm>
            <a:off x="1589561" y="2215833"/>
            <a:ext cx="3888431" cy="3859105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E6B2D5F4-23CC-4096-81FA-0AD8DE5B0CD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7429"/>
          <a:stretch/>
        </p:blipFill>
        <p:spPr>
          <a:xfrm>
            <a:off x="6515856" y="2344718"/>
            <a:ext cx="3216735" cy="3604323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A830F570-A7A2-4F38-8251-68827E81F513}"/>
              </a:ext>
            </a:extLst>
          </p:cNvPr>
          <p:cNvSpPr/>
          <p:nvPr/>
        </p:nvSpPr>
        <p:spPr>
          <a:xfrm>
            <a:off x="4111968" y="4572784"/>
            <a:ext cx="253289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00FF"/>
                </a:solidFill>
                <a:latin typeface="+mn-ea"/>
              </a:rPr>
              <a:t>压力补偿型变量泵自动适应液压缸所需功率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B3AEA4A-35BE-4561-9985-5BA7164E9AC4}"/>
              </a:ext>
            </a:extLst>
          </p:cNvPr>
          <p:cNvSpPr/>
          <p:nvPr/>
        </p:nvSpPr>
        <p:spPr>
          <a:xfrm>
            <a:off x="4676702" y="3447626"/>
            <a:ext cx="19999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00FF"/>
                </a:solidFill>
                <a:latin typeface="+mn-ea"/>
              </a:rPr>
              <a:t>节流元件控制活塞速度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0A77069B-0464-4A3F-A58C-C8E0DFBD6995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3735528" y="3770792"/>
            <a:ext cx="941174" cy="37891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49D49297-BC60-4E7F-B659-1FD0CE60320F}"/>
              </a:ext>
            </a:extLst>
          </p:cNvPr>
          <p:cNvCxnSpPr>
            <a:cxnSpLocks/>
          </p:cNvCxnSpPr>
          <p:nvPr/>
        </p:nvCxnSpPr>
        <p:spPr>
          <a:xfrm>
            <a:off x="6515856" y="3712870"/>
            <a:ext cx="838833" cy="1261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4E837FF-5132-4839-875E-DD1323AF08A7}"/>
              </a:ext>
            </a:extLst>
          </p:cNvPr>
          <p:cNvCxnSpPr>
            <a:cxnSpLocks/>
          </p:cNvCxnSpPr>
          <p:nvPr/>
        </p:nvCxnSpPr>
        <p:spPr>
          <a:xfrm flipH="1">
            <a:off x="3533776" y="4908856"/>
            <a:ext cx="531712" cy="31025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4287FC5-257C-4B62-9FDF-C821E5109613}"/>
              </a:ext>
            </a:extLst>
          </p:cNvPr>
          <p:cNvCxnSpPr>
            <a:cxnSpLocks/>
          </p:cNvCxnSpPr>
          <p:nvPr/>
        </p:nvCxnSpPr>
        <p:spPr>
          <a:xfrm>
            <a:off x="6326210" y="5081334"/>
            <a:ext cx="388524" cy="12582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9E11EE50-3DCD-49A7-B582-0416F7FF47B9}"/>
              </a:ext>
            </a:extLst>
          </p:cNvPr>
          <p:cNvSpPr/>
          <p:nvPr/>
        </p:nvSpPr>
        <p:spPr>
          <a:xfrm>
            <a:off x="3395231" y="5705606"/>
            <a:ext cx="20649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泵压力基本恒定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4850C40-8D6F-47FF-9B45-2C842A2B7581}"/>
              </a:ext>
            </a:extLst>
          </p:cNvPr>
          <p:cNvSpPr/>
          <p:nvPr/>
        </p:nvSpPr>
        <p:spPr>
          <a:xfrm>
            <a:off x="8239579" y="5579709"/>
            <a:ext cx="21857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泵压力随负载变化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855950D-8C03-43C4-8079-9989214408E3}"/>
              </a:ext>
            </a:extLst>
          </p:cNvPr>
          <p:cNvSpPr/>
          <p:nvPr/>
        </p:nvSpPr>
        <p:spPr>
          <a:xfrm>
            <a:off x="2056849" y="6050555"/>
            <a:ext cx="840933" cy="3775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16D2975-7724-45B6-B8AE-C0623BF121E7}"/>
              </a:ext>
            </a:extLst>
          </p:cNvPr>
          <p:cNvSpPr/>
          <p:nvPr/>
        </p:nvSpPr>
        <p:spPr>
          <a:xfrm>
            <a:off x="6681751" y="5861802"/>
            <a:ext cx="840933" cy="3775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67C912A-11A4-4A5C-8862-BC3F0E10D370}"/>
              </a:ext>
            </a:extLst>
          </p:cNvPr>
          <p:cNvSpPr txBox="1">
            <a:spLocks/>
          </p:cNvSpPr>
          <p:nvPr/>
        </p:nvSpPr>
        <p:spPr bwMode="auto">
          <a:xfrm>
            <a:off x="1508169" y="6062833"/>
            <a:ext cx="4051213" cy="67054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定压式容积节流调速回路</a:t>
            </a:r>
            <a:endParaRPr lang="en-US" altLang="zh-CN" sz="1800" kern="0" dirty="0">
              <a:latin typeface="+mn-ea"/>
            </a:endParaRPr>
          </a:p>
          <a:p>
            <a:pPr marL="0" indent="0" algn="ctr">
              <a:buNone/>
            </a:pPr>
            <a:r>
              <a:rPr lang="en-US" altLang="zh-CN" sz="1400" kern="0" dirty="0">
                <a:latin typeface="+mn-ea"/>
              </a:rPr>
              <a:t>1-</a:t>
            </a:r>
            <a:r>
              <a:rPr lang="zh-CN" altLang="en-US" sz="1400" kern="0" dirty="0">
                <a:latin typeface="+mn-ea"/>
              </a:rPr>
              <a:t>限压式变量叶片泵  </a:t>
            </a:r>
            <a:r>
              <a:rPr lang="en-US" altLang="zh-CN" sz="1400" kern="0" dirty="0">
                <a:latin typeface="+mn-ea"/>
              </a:rPr>
              <a:t>2-</a:t>
            </a:r>
            <a:r>
              <a:rPr lang="zh-CN" altLang="en-US" sz="1400" kern="0" dirty="0">
                <a:latin typeface="+mn-ea"/>
              </a:rPr>
              <a:t>调速阀</a:t>
            </a:r>
            <a:r>
              <a:rPr lang="en-US" altLang="zh-CN" sz="1400" kern="0" dirty="0">
                <a:latin typeface="+mn-ea"/>
              </a:rPr>
              <a:t>   4-</a:t>
            </a:r>
            <a:r>
              <a:rPr lang="zh-CN" altLang="en-US" sz="1400" kern="0" dirty="0">
                <a:latin typeface="+mn-ea"/>
              </a:rPr>
              <a:t>背压阀</a:t>
            </a:r>
            <a:endParaRPr lang="en-US" altLang="zh-CN" sz="1400" kern="0" dirty="0">
              <a:latin typeface="+mn-ea"/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2A228FE-F141-4DF0-B672-3E9364CD5ABB}"/>
              </a:ext>
            </a:extLst>
          </p:cNvPr>
          <p:cNvSpPr txBox="1">
            <a:spLocks/>
          </p:cNvSpPr>
          <p:nvPr/>
        </p:nvSpPr>
        <p:spPr bwMode="auto">
          <a:xfrm>
            <a:off x="6258583" y="6003538"/>
            <a:ext cx="4051213" cy="67054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变压式容积节流调速回路</a:t>
            </a:r>
            <a:endParaRPr lang="en-US" altLang="zh-CN" sz="1800" kern="0" dirty="0">
              <a:latin typeface="+mn-ea"/>
            </a:endParaRPr>
          </a:p>
          <a:p>
            <a:pPr marL="0" indent="0" algn="ctr">
              <a:buNone/>
            </a:pPr>
            <a:r>
              <a:rPr lang="en-US" altLang="zh-CN" sz="1400" kern="0" dirty="0">
                <a:latin typeface="+mn-ea"/>
              </a:rPr>
              <a:t>1-</a:t>
            </a:r>
            <a:r>
              <a:rPr lang="zh-CN" altLang="en-US" sz="1400" kern="0" dirty="0">
                <a:latin typeface="+mn-ea"/>
              </a:rPr>
              <a:t>稳流量泵  </a:t>
            </a:r>
            <a:r>
              <a:rPr lang="en-US" altLang="zh-CN" sz="1400" kern="0" dirty="0">
                <a:latin typeface="+mn-ea"/>
              </a:rPr>
              <a:t>2-</a:t>
            </a:r>
            <a:r>
              <a:rPr lang="zh-CN" altLang="en-US" sz="1400" kern="0" dirty="0">
                <a:latin typeface="+mn-ea"/>
              </a:rPr>
              <a:t>节流阀</a:t>
            </a:r>
            <a:r>
              <a:rPr lang="en-US" altLang="zh-CN" sz="1400" kern="0" dirty="0">
                <a:latin typeface="+mn-ea"/>
              </a:rPr>
              <a:t>   4-</a:t>
            </a:r>
            <a:r>
              <a:rPr lang="zh-CN" altLang="en-US" sz="1400" kern="0" dirty="0">
                <a:latin typeface="+mn-ea"/>
              </a:rPr>
              <a:t>背压阀  </a:t>
            </a:r>
            <a:r>
              <a:rPr lang="en-US" altLang="zh-CN" sz="1400" kern="0" dirty="0">
                <a:latin typeface="+mn-ea"/>
              </a:rPr>
              <a:t>5-</a:t>
            </a:r>
            <a:r>
              <a:rPr lang="zh-CN" altLang="en-US" sz="1400" kern="0" dirty="0">
                <a:latin typeface="+mn-ea"/>
              </a:rPr>
              <a:t>安全阀</a:t>
            </a:r>
            <a:endParaRPr lang="en-US" altLang="zh-CN" sz="1400" kern="0" dirty="0">
              <a:latin typeface="+mn-ea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086D96A-BC97-4C19-B7AD-F0F6DA4DEAB3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20/35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91181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4480714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定压式容积节流调速回路</a:t>
            </a:r>
            <a:endParaRPr lang="en-US" altLang="zh-CN" sz="2800" dirty="0">
              <a:latin typeface="+mn-ea"/>
            </a:endParaRP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BAD5380C-2240-4DAC-A081-51DB75B91F8A}"/>
              </a:ext>
            </a:extLst>
          </p:cNvPr>
          <p:cNvSpPr txBox="1">
            <a:spLocks/>
          </p:cNvSpPr>
          <p:nvPr/>
        </p:nvSpPr>
        <p:spPr>
          <a:xfrm>
            <a:off x="332508" y="4766530"/>
            <a:ext cx="2270245" cy="116548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由于压力补偿，变量泵流量能自动匹配液压缸流量</a:t>
            </a:r>
            <a:endParaRPr lang="en-US" altLang="zh-CN" sz="1800" dirty="0">
              <a:latin typeface="+mn-ea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4463394F-71C6-499E-A266-D2A5186071E9}"/>
              </a:ext>
            </a:extLst>
          </p:cNvPr>
          <p:cNvGrpSpPr/>
          <p:nvPr/>
        </p:nvGrpSpPr>
        <p:grpSpPr>
          <a:xfrm>
            <a:off x="1842129" y="1413973"/>
            <a:ext cx="4837493" cy="5414934"/>
            <a:chOff x="3406915" y="1679255"/>
            <a:chExt cx="4329309" cy="4846089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6B6480FD-4752-4807-AFBA-3F707D963A2C}"/>
                </a:ext>
              </a:extLst>
            </p:cNvPr>
            <p:cNvGrpSpPr/>
            <p:nvPr/>
          </p:nvGrpSpPr>
          <p:grpSpPr>
            <a:xfrm>
              <a:off x="3406915" y="1679255"/>
              <a:ext cx="4329309" cy="4846089"/>
              <a:chOff x="6195010" y="3861048"/>
              <a:chExt cx="2562283" cy="2868137"/>
            </a:xfrm>
          </p:grpSpPr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6EA34801-6141-4859-A6C8-CFE9BB645A59}"/>
                  </a:ext>
                </a:extLst>
              </p:cNvPr>
              <p:cNvGrpSpPr/>
              <p:nvPr/>
            </p:nvGrpSpPr>
            <p:grpSpPr>
              <a:xfrm>
                <a:off x="6482760" y="3861048"/>
                <a:ext cx="1732873" cy="2507651"/>
                <a:chOff x="611560" y="1124744"/>
                <a:chExt cx="3397399" cy="4916395"/>
              </a:xfrm>
            </p:grpSpPr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D037FFD5-EB73-4342-8A65-9E3BC0A7D989}"/>
                    </a:ext>
                  </a:extLst>
                </p:cNvPr>
                <p:cNvSpPr/>
                <p:nvPr/>
              </p:nvSpPr>
              <p:spPr>
                <a:xfrm>
                  <a:off x="2082613" y="1124744"/>
                  <a:ext cx="261790" cy="626313"/>
                </a:xfrm>
                <a:prstGeom prst="rect">
                  <a:avLst/>
                </a:prstGeom>
                <a:ln w="19050"/>
              </p:spPr>
              <p:style>
                <a:lnRef idx="1">
                  <a:schemeClr val="dk1"/>
                </a:lnRef>
                <a:fillRef idx="2">
                  <a:schemeClr val="dk1"/>
                </a:fillRef>
                <a:effectRef idx="1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cxnSp>
              <p:nvCxnSpPr>
                <p:cNvPr id="19" name="直接连接符 18">
                  <a:extLst>
                    <a:ext uri="{FF2B5EF4-FFF2-40B4-BE49-F238E27FC236}">
                      <a16:creationId xmlns:a16="http://schemas.microsoft.com/office/drawing/2014/main" id="{95BDFED4-A323-48C2-8E41-9CA96A08339E}"/>
                    </a:ext>
                  </a:extLst>
                </p:cNvPr>
                <p:cNvCxnSpPr>
                  <a:cxnSpLocks/>
                  <a:stCxn id="44" idx="0"/>
                </p:cNvCxnSpPr>
                <p:nvPr/>
              </p:nvCxnSpPr>
              <p:spPr>
                <a:xfrm flipV="1">
                  <a:off x="1429661" y="1751057"/>
                  <a:ext cx="1" cy="2814238"/>
                </a:xfrm>
                <a:prstGeom prst="line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6B8971F3-47C1-4058-BFDD-F45748325005}"/>
                    </a:ext>
                  </a:extLst>
                </p:cNvPr>
                <p:cNvSpPr/>
                <p:nvPr/>
              </p:nvSpPr>
              <p:spPr>
                <a:xfrm>
                  <a:off x="1756137" y="4880039"/>
                  <a:ext cx="326476" cy="149575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grpSp>
              <p:nvGrpSpPr>
                <p:cNvPr id="21" name="组合 20">
                  <a:extLst>
                    <a:ext uri="{FF2B5EF4-FFF2-40B4-BE49-F238E27FC236}">
                      <a16:creationId xmlns:a16="http://schemas.microsoft.com/office/drawing/2014/main" id="{FE472575-538A-45AD-B352-DEB9C17B51FF}"/>
                    </a:ext>
                  </a:extLst>
                </p:cNvPr>
                <p:cNvGrpSpPr/>
                <p:nvPr/>
              </p:nvGrpSpPr>
              <p:grpSpPr>
                <a:xfrm>
                  <a:off x="1037890" y="4565295"/>
                  <a:ext cx="783542" cy="779064"/>
                  <a:chOff x="1475656" y="3911172"/>
                  <a:chExt cx="864096" cy="864096"/>
                </a:xfrm>
              </p:grpSpPr>
              <p:sp>
                <p:nvSpPr>
                  <p:cNvPr id="43" name="椭圆 42">
                    <a:extLst>
                      <a:ext uri="{FF2B5EF4-FFF2-40B4-BE49-F238E27FC236}">
                        <a16:creationId xmlns:a16="http://schemas.microsoft.com/office/drawing/2014/main" id="{CE43C1E0-7132-410C-9391-842BEE68B738}"/>
                      </a:ext>
                    </a:extLst>
                  </p:cNvPr>
                  <p:cNvSpPr/>
                  <p:nvPr/>
                </p:nvSpPr>
                <p:spPr>
                  <a:xfrm>
                    <a:off x="1475656" y="3911172"/>
                    <a:ext cx="864096" cy="864096"/>
                  </a:xfrm>
                  <a:prstGeom prst="ellipse">
                    <a:avLst/>
                  </a:prstGeom>
                  <a:solidFill>
                    <a:schemeClr val="bg2">
                      <a:lumMod val="20000"/>
                      <a:lumOff val="80000"/>
                    </a:schemeClr>
                  </a:solidFill>
                  <a:ln w="1905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>
                      <a:latin typeface="+mn-ea"/>
                    </a:endParaRPr>
                  </a:p>
                </p:txBody>
              </p:sp>
              <p:sp>
                <p:nvSpPr>
                  <p:cNvPr id="44" name="等腰三角形 43">
                    <a:extLst>
                      <a:ext uri="{FF2B5EF4-FFF2-40B4-BE49-F238E27FC236}">
                        <a16:creationId xmlns:a16="http://schemas.microsoft.com/office/drawing/2014/main" id="{D4CE3754-E0C1-40BF-9A13-6852F5DA1549}"/>
                      </a:ext>
                    </a:extLst>
                  </p:cNvPr>
                  <p:cNvSpPr/>
                  <p:nvPr/>
                </p:nvSpPr>
                <p:spPr>
                  <a:xfrm>
                    <a:off x="1750812" y="3911172"/>
                    <a:ext cx="313784" cy="245913"/>
                  </a:xfrm>
                  <a:prstGeom prst="triangle">
                    <a:avLst/>
                  </a:prstGeom>
                  <a:solidFill>
                    <a:schemeClr val="tx1"/>
                  </a:solidFill>
                  <a:ln w="1905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latin typeface="+mn-ea"/>
                    </a:endParaRPr>
                  </a:p>
                </p:txBody>
              </p:sp>
            </p:grpSp>
            <p:sp>
              <p:nvSpPr>
                <p:cNvPr id="22" name="弧形 21">
                  <a:extLst>
                    <a:ext uri="{FF2B5EF4-FFF2-40B4-BE49-F238E27FC236}">
                      <a16:creationId xmlns:a16="http://schemas.microsoft.com/office/drawing/2014/main" id="{13EA4E94-148E-439E-9ABE-C77DBFADD1F6}"/>
                    </a:ext>
                  </a:extLst>
                </p:cNvPr>
                <p:cNvSpPr/>
                <p:nvPr/>
              </p:nvSpPr>
              <p:spPr>
                <a:xfrm>
                  <a:off x="899592" y="4565295"/>
                  <a:ext cx="530070" cy="779064"/>
                </a:xfrm>
                <a:prstGeom prst="arc">
                  <a:avLst>
                    <a:gd name="adj1" fmla="val 6923903"/>
                    <a:gd name="adj2" fmla="val 14648334"/>
                  </a:avLst>
                </a:prstGeom>
                <a:ln w="19050">
                  <a:headEnd type="triangle" w="lg" len="lg"/>
                  <a:tailEnd type="none" w="lg" len="lg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+mn-ea"/>
                  </a:endParaRPr>
                </a:p>
              </p:txBody>
            </p:sp>
            <p:sp>
              <p:nvSpPr>
                <p:cNvPr id="23" name="任意多边形: 形状 22">
                  <a:extLst>
                    <a:ext uri="{FF2B5EF4-FFF2-40B4-BE49-F238E27FC236}">
                      <a16:creationId xmlns:a16="http://schemas.microsoft.com/office/drawing/2014/main" id="{1956B60F-7F75-42DD-B93A-0B9F1E952164}"/>
                    </a:ext>
                  </a:extLst>
                </p:cNvPr>
                <p:cNvSpPr/>
                <p:nvPr/>
              </p:nvSpPr>
              <p:spPr>
                <a:xfrm>
                  <a:off x="1194137" y="5818543"/>
                  <a:ext cx="492524" cy="222596"/>
                </a:xfrm>
                <a:custGeom>
                  <a:avLst/>
                  <a:gdLst>
                    <a:gd name="connsiteX0" fmla="*/ 0 w 798285"/>
                    <a:gd name="connsiteY0" fmla="*/ 0 h 362857"/>
                    <a:gd name="connsiteX1" fmla="*/ 0 w 798285"/>
                    <a:gd name="connsiteY1" fmla="*/ 362857 h 362857"/>
                    <a:gd name="connsiteX2" fmla="*/ 798285 w 798285"/>
                    <a:gd name="connsiteY2" fmla="*/ 362857 h 362857"/>
                    <a:gd name="connsiteX3" fmla="*/ 798285 w 798285"/>
                    <a:gd name="connsiteY3" fmla="*/ 0 h 36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98285" h="362857">
                      <a:moveTo>
                        <a:pt x="0" y="0"/>
                      </a:moveTo>
                      <a:lnTo>
                        <a:pt x="0" y="362857"/>
                      </a:lnTo>
                      <a:lnTo>
                        <a:pt x="798285" y="362857"/>
                      </a:lnTo>
                      <a:lnTo>
                        <a:pt x="798285" y="0"/>
                      </a:lnTo>
                    </a:path>
                  </a:pathLst>
                </a:custGeom>
                <a:solidFill>
                  <a:schemeClr val="bg2">
                    <a:lumMod val="20000"/>
                    <a:lumOff val="80000"/>
                  </a:schemeClr>
                </a:solidFill>
                <a:ln w="190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cxnSp>
              <p:nvCxnSpPr>
                <p:cNvPr id="24" name="直接连接符 23">
                  <a:extLst>
                    <a:ext uri="{FF2B5EF4-FFF2-40B4-BE49-F238E27FC236}">
                      <a16:creationId xmlns:a16="http://schemas.microsoft.com/office/drawing/2014/main" id="{8DB643DA-EBAC-45F8-8560-9D619C74CD0C}"/>
                    </a:ext>
                  </a:extLst>
                </p:cNvPr>
                <p:cNvCxnSpPr>
                  <a:cxnSpLocks/>
                  <a:endCxn id="43" idx="4"/>
                </p:cNvCxnSpPr>
                <p:nvPr/>
              </p:nvCxnSpPr>
              <p:spPr>
                <a:xfrm flipV="1">
                  <a:off x="1424294" y="5344359"/>
                  <a:ext cx="5368" cy="696780"/>
                </a:xfrm>
                <a:prstGeom prst="line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25" name="弧形 24">
                  <a:extLst>
                    <a:ext uri="{FF2B5EF4-FFF2-40B4-BE49-F238E27FC236}">
                      <a16:creationId xmlns:a16="http://schemas.microsoft.com/office/drawing/2014/main" id="{6F74314C-6CAE-4DCA-AE0C-70DD8B0F63BD}"/>
                    </a:ext>
                  </a:extLst>
                </p:cNvPr>
                <p:cNvSpPr/>
                <p:nvPr/>
              </p:nvSpPr>
              <p:spPr>
                <a:xfrm>
                  <a:off x="1129471" y="2531730"/>
                  <a:ext cx="224051" cy="577216"/>
                </a:xfrm>
                <a:prstGeom prst="arc">
                  <a:avLst>
                    <a:gd name="adj1" fmla="val 16843353"/>
                    <a:gd name="adj2" fmla="val 4837442"/>
                  </a:avLst>
                </a:prstGeom>
                <a:ln w="19050"/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sp>
              <p:nvSpPr>
                <p:cNvPr id="26" name="弧形 25">
                  <a:extLst>
                    <a:ext uri="{FF2B5EF4-FFF2-40B4-BE49-F238E27FC236}">
                      <a16:creationId xmlns:a16="http://schemas.microsoft.com/office/drawing/2014/main" id="{9B272E6D-4AA7-44A0-814A-FEDF09DDBEAE}"/>
                    </a:ext>
                  </a:extLst>
                </p:cNvPr>
                <p:cNvSpPr/>
                <p:nvPr/>
              </p:nvSpPr>
              <p:spPr>
                <a:xfrm flipH="1">
                  <a:off x="1502646" y="2529195"/>
                  <a:ext cx="253490" cy="577216"/>
                </a:xfrm>
                <a:prstGeom prst="arc">
                  <a:avLst>
                    <a:gd name="adj1" fmla="val 16843353"/>
                    <a:gd name="adj2" fmla="val 4837442"/>
                  </a:avLst>
                </a:prstGeom>
                <a:ln w="19050"/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cxnSp>
              <p:nvCxnSpPr>
                <p:cNvPr id="27" name="直接箭头连接符 26">
                  <a:extLst>
                    <a:ext uri="{FF2B5EF4-FFF2-40B4-BE49-F238E27FC236}">
                      <a16:creationId xmlns:a16="http://schemas.microsoft.com/office/drawing/2014/main" id="{BAAE3D69-B82B-477B-86D0-7DB86F48E1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4137" y="2661575"/>
                  <a:ext cx="522992" cy="379915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C4E5DDDE-091D-409F-AE56-CC77CA23838D}"/>
                    </a:ext>
                  </a:extLst>
                </p:cNvPr>
                <p:cNvSpPr/>
                <p:nvPr/>
              </p:nvSpPr>
              <p:spPr>
                <a:xfrm>
                  <a:off x="1194137" y="1128658"/>
                  <a:ext cx="2488687" cy="636817"/>
                </a:xfrm>
                <a:prstGeom prst="rect">
                  <a:avLst/>
                </a:prstGeom>
                <a:noFill/>
                <a:ln w="1905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sp>
              <p:nvSpPr>
                <p:cNvPr id="29" name="任意多边形: 形状 28">
                  <a:extLst>
                    <a:ext uri="{FF2B5EF4-FFF2-40B4-BE49-F238E27FC236}">
                      <a16:creationId xmlns:a16="http://schemas.microsoft.com/office/drawing/2014/main" id="{75DD928D-0193-4D0B-8DC1-39EC2B5322B0}"/>
                    </a:ext>
                  </a:extLst>
                </p:cNvPr>
                <p:cNvSpPr/>
                <p:nvPr/>
              </p:nvSpPr>
              <p:spPr>
                <a:xfrm>
                  <a:off x="3102311" y="3543438"/>
                  <a:ext cx="492524" cy="222596"/>
                </a:xfrm>
                <a:custGeom>
                  <a:avLst/>
                  <a:gdLst>
                    <a:gd name="connsiteX0" fmla="*/ 0 w 798285"/>
                    <a:gd name="connsiteY0" fmla="*/ 0 h 362857"/>
                    <a:gd name="connsiteX1" fmla="*/ 0 w 798285"/>
                    <a:gd name="connsiteY1" fmla="*/ 362857 h 362857"/>
                    <a:gd name="connsiteX2" fmla="*/ 798285 w 798285"/>
                    <a:gd name="connsiteY2" fmla="*/ 362857 h 362857"/>
                    <a:gd name="connsiteX3" fmla="*/ 798285 w 798285"/>
                    <a:gd name="connsiteY3" fmla="*/ 0 h 36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98285" h="362857">
                      <a:moveTo>
                        <a:pt x="0" y="0"/>
                      </a:moveTo>
                      <a:lnTo>
                        <a:pt x="0" y="362857"/>
                      </a:lnTo>
                      <a:lnTo>
                        <a:pt x="798285" y="362857"/>
                      </a:lnTo>
                      <a:lnTo>
                        <a:pt x="798285" y="0"/>
                      </a:lnTo>
                    </a:path>
                  </a:pathLst>
                </a:custGeom>
                <a:solidFill>
                  <a:schemeClr val="bg2">
                    <a:lumMod val="20000"/>
                    <a:lumOff val="80000"/>
                  </a:schemeClr>
                </a:solidFill>
                <a:ln w="1905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C17BC881-5F53-4EA2-A462-FE3FB120DC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53943" y="1766899"/>
                  <a:ext cx="0" cy="1915088"/>
                </a:xfrm>
                <a:prstGeom prst="line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D8083B54-7F3B-4C91-9E83-9D534F57395F}"/>
                    </a:ext>
                  </a:extLst>
                </p:cNvPr>
                <p:cNvSpPr/>
                <p:nvPr/>
              </p:nvSpPr>
              <p:spPr>
                <a:xfrm>
                  <a:off x="2344026" y="1386696"/>
                  <a:ext cx="1593141" cy="102408"/>
                </a:xfrm>
                <a:prstGeom prst="rect">
                  <a:avLst/>
                </a:prstGeom>
                <a:ln w="19050"/>
              </p:spPr>
              <p:style>
                <a:lnRef idx="1">
                  <a:schemeClr val="dk1"/>
                </a:lnRef>
                <a:fillRef idx="2">
                  <a:schemeClr val="dk1"/>
                </a:fillRef>
                <a:effectRef idx="1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grpSp>
              <p:nvGrpSpPr>
                <p:cNvPr id="32" name="组合 31">
                  <a:extLst>
                    <a:ext uri="{FF2B5EF4-FFF2-40B4-BE49-F238E27FC236}">
                      <a16:creationId xmlns:a16="http://schemas.microsoft.com/office/drawing/2014/main" id="{DDEFDCBA-5824-413C-AA47-63D146E48314}"/>
                    </a:ext>
                  </a:extLst>
                </p:cNvPr>
                <p:cNvGrpSpPr/>
                <p:nvPr/>
              </p:nvGrpSpPr>
              <p:grpSpPr>
                <a:xfrm rot="5400000">
                  <a:off x="2878223" y="2018860"/>
                  <a:ext cx="988941" cy="1272531"/>
                  <a:chOff x="4010695" y="3368466"/>
                  <a:chExt cx="988941" cy="1272531"/>
                </a:xfrm>
              </p:grpSpPr>
              <p:cxnSp>
                <p:nvCxnSpPr>
                  <p:cNvPr id="38" name="直接箭头连接符 37">
                    <a:extLst>
                      <a:ext uri="{FF2B5EF4-FFF2-40B4-BE49-F238E27FC236}">
                        <a16:creationId xmlns:a16="http://schemas.microsoft.com/office/drawing/2014/main" id="{1D7E5FD9-0ED1-40C6-81E5-58AD4B9288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425307" y="3473169"/>
                    <a:ext cx="426170" cy="118383"/>
                  </a:xfrm>
                  <a:prstGeom prst="straightConnector1">
                    <a:avLst/>
                  </a:prstGeom>
                  <a:ln w="19050">
                    <a:tailEnd type="triangle"/>
                  </a:ln>
                </p:spPr>
                <p:style>
                  <a:lnRef idx="3">
                    <a:schemeClr val="accent4"/>
                  </a:lnRef>
                  <a:fillRef idx="0">
                    <a:schemeClr val="accent4"/>
                  </a:fillRef>
                  <a:effectRef idx="2">
                    <a:schemeClr val="accent4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682D9CB2-164D-42D5-9025-52C6B895AAED}"/>
                      </a:ext>
                    </a:extLst>
                  </p:cNvPr>
                  <p:cNvSpPr/>
                  <p:nvPr/>
                </p:nvSpPr>
                <p:spPr>
                  <a:xfrm>
                    <a:off x="4346685" y="3681179"/>
                    <a:ext cx="652951" cy="649220"/>
                  </a:xfrm>
                  <a:prstGeom prst="rect">
                    <a:avLst/>
                  </a:prstGeom>
                  <a:ln w="1905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latin typeface="+mn-ea"/>
                    </a:endParaRPr>
                  </a:p>
                </p:txBody>
              </p:sp>
              <p:cxnSp>
                <p:nvCxnSpPr>
                  <p:cNvPr id="40" name="直接箭头连接符 39">
                    <a:extLst>
                      <a:ext uri="{FF2B5EF4-FFF2-40B4-BE49-F238E27FC236}">
                        <a16:creationId xmlns:a16="http://schemas.microsoft.com/office/drawing/2014/main" id="{A2EF6472-2AD2-4F41-9CEA-7BCC908086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346685" y="4207637"/>
                    <a:ext cx="652951" cy="0"/>
                  </a:xfrm>
                  <a:prstGeom prst="straightConnector1">
                    <a:avLst/>
                  </a:prstGeom>
                  <a:ln w="19050">
                    <a:tailEnd type="triangle"/>
                  </a:ln>
                </p:spPr>
                <p:style>
                  <a:lnRef idx="3">
                    <a:schemeClr val="accent4"/>
                  </a:lnRef>
                  <a:fillRef idx="0">
                    <a:schemeClr val="accent4"/>
                  </a:fillRef>
                  <a:effectRef idx="2">
                    <a:schemeClr val="accent4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任意多边形: 形状 40">
                    <a:extLst>
                      <a:ext uri="{FF2B5EF4-FFF2-40B4-BE49-F238E27FC236}">
                        <a16:creationId xmlns:a16="http://schemas.microsoft.com/office/drawing/2014/main" id="{4C28DF7B-7285-4779-B49C-1E2EB9DFA427}"/>
                      </a:ext>
                    </a:extLst>
                  </p:cNvPr>
                  <p:cNvSpPr/>
                  <p:nvPr/>
                </p:nvSpPr>
                <p:spPr>
                  <a:xfrm>
                    <a:off x="4010695" y="4012869"/>
                    <a:ext cx="671223" cy="628128"/>
                  </a:xfrm>
                  <a:custGeom>
                    <a:avLst/>
                    <a:gdLst>
                      <a:gd name="connsiteX0" fmla="*/ 333829 w 740229"/>
                      <a:gd name="connsiteY0" fmla="*/ 0 h 696685"/>
                      <a:gd name="connsiteX1" fmla="*/ 0 w 740229"/>
                      <a:gd name="connsiteY1" fmla="*/ 333829 h 696685"/>
                      <a:gd name="connsiteX2" fmla="*/ 0 w 740229"/>
                      <a:gd name="connsiteY2" fmla="*/ 696685 h 696685"/>
                      <a:gd name="connsiteX3" fmla="*/ 740229 w 740229"/>
                      <a:gd name="connsiteY3" fmla="*/ 696685 h 696685"/>
                      <a:gd name="connsiteX4" fmla="*/ 740229 w 740229"/>
                      <a:gd name="connsiteY4" fmla="*/ 464457 h 696685"/>
                      <a:gd name="connsiteX0" fmla="*/ 333829 w 740229"/>
                      <a:gd name="connsiteY0" fmla="*/ 0 h 696685"/>
                      <a:gd name="connsiteX1" fmla="*/ 0 w 740229"/>
                      <a:gd name="connsiteY1" fmla="*/ 333829 h 696685"/>
                      <a:gd name="connsiteX2" fmla="*/ 0 w 740229"/>
                      <a:gd name="connsiteY2" fmla="*/ 696685 h 696685"/>
                      <a:gd name="connsiteX3" fmla="*/ 740229 w 740229"/>
                      <a:gd name="connsiteY3" fmla="*/ 696685 h 696685"/>
                      <a:gd name="connsiteX4" fmla="*/ 737848 w 740229"/>
                      <a:gd name="connsiteY4" fmla="*/ 381113 h 6966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740229" h="696685">
                        <a:moveTo>
                          <a:pt x="333829" y="0"/>
                        </a:moveTo>
                        <a:lnTo>
                          <a:pt x="0" y="333829"/>
                        </a:lnTo>
                        <a:lnTo>
                          <a:pt x="0" y="696685"/>
                        </a:lnTo>
                        <a:lnTo>
                          <a:pt x="740229" y="696685"/>
                        </a:lnTo>
                        <a:cubicBezTo>
                          <a:pt x="739435" y="591494"/>
                          <a:pt x="738642" y="486304"/>
                          <a:pt x="737848" y="381113"/>
                        </a:cubicBezTo>
                      </a:path>
                    </a:pathLst>
                  </a:custGeom>
                  <a:ln w="19050">
                    <a:solidFill>
                      <a:srgbClr val="C00000"/>
                    </a:solidFill>
                    <a:prstDash val="dash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latin typeface="+mn-ea"/>
                    </a:endParaRPr>
                  </a:p>
                </p:txBody>
              </p:sp>
              <p:sp>
                <p:nvSpPr>
                  <p:cNvPr id="42" name="任意多边形: 形状 41">
                    <a:extLst>
                      <a:ext uri="{FF2B5EF4-FFF2-40B4-BE49-F238E27FC236}">
                        <a16:creationId xmlns:a16="http://schemas.microsoft.com/office/drawing/2014/main" id="{C2FCFF2F-47DE-4D86-AAEF-527B4390A876}"/>
                      </a:ext>
                    </a:extLst>
                  </p:cNvPr>
                  <p:cNvSpPr/>
                  <p:nvPr/>
                </p:nvSpPr>
                <p:spPr>
                  <a:xfrm>
                    <a:off x="4540455" y="3368466"/>
                    <a:ext cx="195876" cy="296275"/>
                  </a:xfrm>
                  <a:custGeom>
                    <a:avLst/>
                    <a:gdLst>
                      <a:gd name="connsiteX0" fmla="*/ 152400 w 266700"/>
                      <a:gd name="connsiteY0" fmla="*/ 342900 h 342900"/>
                      <a:gd name="connsiteX1" fmla="*/ 0 w 266700"/>
                      <a:gd name="connsiteY1" fmla="*/ 295275 h 342900"/>
                      <a:gd name="connsiteX2" fmla="*/ 238125 w 266700"/>
                      <a:gd name="connsiteY2" fmla="*/ 247650 h 342900"/>
                      <a:gd name="connsiteX3" fmla="*/ 9525 w 266700"/>
                      <a:gd name="connsiteY3" fmla="*/ 209550 h 342900"/>
                      <a:gd name="connsiteX4" fmla="*/ 257175 w 266700"/>
                      <a:gd name="connsiteY4" fmla="*/ 161925 h 342900"/>
                      <a:gd name="connsiteX5" fmla="*/ 9525 w 266700"/>
                      <a:gd name="connsiteY5" fmla="*/ 104775 h 342900"/>
                      <a:gd name="connsiteX6" fmla="*/ 266700 w 266700"/>
                      <a:gd name="connsiteY6" fmla="*/ 66675 h 342900"/>
                      <a:gd name="connsiteX7" fmla="*/ 9525 w 266700"/>
                      <a:gd name="connsiteY7" fmla="*/ 0 h 342900"/>
                      <a:gd name="connsiteX0" fmla="*/ 150019 w 264319"/>
                      <a:gd name="connsiteY0" fmla="*/ 342900 h 342900"/>
                      <a:gd name="connsiteX1" fmla="*/ 0 w 264319"/>
                      <a:gd name="connsiteY1" fmla="*/ 290513 h 342900"/>
                      <a:gd name="connsiteX2" fmla="*/ 235744 w 264319"/>
                      <a:gd name="connsiteY2" fmla="*/ 247650 h 342900"/>
                      <a:gd name="connsiteX3" fmla="*/ 7144 w 264319"/>
                      <a:gd name="connsiteY3" fmla="*/ 209550 h 342900"/>
                      <a:gd name="connsiteX4" fmla="*/ 254794 w 264319"/>
                      <a:gd name="connsiteY4" fmla="*/ 161925 h 342900"/>
                      <a:gd name="connsiteX5" fmla="*/ 7144 w 264319"/>
                      <a:gd name="connsiteY5" fmla="*/ 104775 h 342900"/>
                      <a:gd name="connsiteX6" fmla="*/ 264319 w 264319"/>
                      <a:gd name="connsiteY6" fmla="*/ 66675 h 342900"/>
                      <a:gd name="connsiteX7" fmla="*/ 7144 w 264319"/>
                      <a:gd name="connsiteY7" fmla="*/ 0 h 342900"/>
                      <a:gd name="connsiteX0" fmla="*/ 150019 w 264319"/>
                      <a:gd name="connsiteY0" fmla="*/ 342900 h 342900"/>
                      <a:gd name="connsiteX1" fmla="*/ 0 w 264319"/>
                      <a:gd name="connsiteY1" fmla="*/ 290513 h 342900"/>
                      <a:gd name="connsiteX2" fmla="*/ 257175 w 264319"/>
                      <a:gd name="connsiteY2" fmla="*/ 247650 h 342900"/>
                      <a:gd name="connsiteX3" fmla="*/ 7144 w 264319"/>
                      <a:gd name="connsiteY3" fmla="*/ 209550 h 342900"/>
                      <a:gd name="connsiteX4" fmla="*/ 254794 w 264319"/>
                      <a:gd name="connsiteY4" fmla="*/ 161925 h 342900"/>
                      <a:gd name="connsiteX5" fmla="*/ 7144 w 264319"/>
                      <a:gd name="connsiteY5" fmla="*/ 104775 h 342900"/>
                      <a:gd name="connsiteX6" fmla="*/ 264319 w 264319"/>
                      <a:gd name="connsiteY6" fmla="*/ 66675 h 342900"/>
                      <a:gd name="connsiteX7" fmla="*/ 7144 w 264319"/>
                      <a:gd name="connsiteY7" fmla="*/ 0 h 342900"/>
                      <a:gd name="connsiteX0" fmla="*/ 150019 w 266700"/>
                      <a:gd name="connsiteY0" fmla="*/ 342900 h 342900"/>
                      <a:gd name="connsiteX1" fmla="*/ 0 w 266700"/>
                      <a:gd name="connsiteY1" fmla="*/ 290513 h 342900"/>
                      <a:gd name="connsiteX2" fmla="*/ 257175 w 266700"/>
                      <a:gd name="connsiteY2" fmla="*/ 247650 h 342900"/>
                      <a:gd name="connsiteX3" fmla="*/ 7144 w 266700"/>
                      <a:gd name="connsiteY3" fmla="*/ 209550 h 342900"/>
                      <a:gd name="connsiteX4" fmla="*/ 254794 w 266700"/>
                      <a:gd name="connsiteY4" fmla="*/ 161925 h 342900"/>
                      <a:gd name="connsiteX5" fmla="*/ 7144 w 266700"/>
                      <a:gd name="connsiteY5" fmla="*/ 104775 h 342900"/>
                      <a:gd name="connsiteX6" fmla="*/ 266700 w 266700"/>
                      <a:gd name="connsiteY6" fmla="*/ 57150 h 342900"/>
                      <a:gd name="connsiteX7" fmla="*/ 7144 w 266700"/>
                      <a:gd name="connsiteY7" fmla="*/ 0 h 342900"/>
                      <a:gd name="connsiteX0" fmla="*/ 150019 w 261937"/>
                      <a:gd name="connsiteY0" fmla="*/ 342900 h 342900"/>
                      <a:gd name="connsiteX1" fmla="*/ 0 w 261937"/>
                      <a:gd name="connsiteY1" fmla="*/ 290513 h 342900"/>
                      <a:gd name="connsiteX2" fmla="*/ 257175 w 261937"/>
                      <a:gd name="connsiteY2" fmla="*/ 247650 h 342900"/>
                      <a:gd name="connsiteX3" fmla="*/ 7144 w 261937"/>
                      <a:gd name="connsiteY3" fmla="*/ 209550 h 342900"/>
                      <a:gd name="connsiteX4" fmla="*/ 254794 w 261937"/>
                      <a:gd name="connsiteY4" fmla="*/ 161925 h 342900"/>
                      <a:gd name="connsiteX5" fmla="*/ 7144 w 261937"/>
                      <a:gd name="connsiteY5" fmla="*/ 104775 h 342900"/>
                      <a:gd name="connsiteX6" fmla="*/ 261937 w 261937"/>
                      <a:gd name="connsiteY6" fmla="*/ 69057 h 342900"/>
                      <a:gd name="connsiteX7" fmla="*/ 7144 w 261937"/>
                      <a:gd name="connsiteY7" fmla="*/ 0 h 342900"/>
                      <a:gd name="connsiteX0" fmla="*/ 154781 w 266699"/>
                      <a:gd name="connsiteY0" fmla="*/ 345281 h 345281"/>
                      <a:gd name="connsiteX1" fmla="*/ 4762 w 266699"/>
                      <a:gd name="connsiteY1" fmla="*/ 292894 h 345281"/>
                      <a:gd name="connsiteX2" fmla="*/ 261937 w 266699"/>
                      <a:gd name="connsiteY2" fmla="*/ 250031 h 345281"/>
                      <a:gd name="connsiteX3" fmla="*/ 11906 w 266699"/>
                      <a:gd name="connsiteY3" fmla="*/ 211931 h 345281"/>
                      <a:gd name="connsiteX4" fmla="*/ 259556 w 266699"/>
                      <a:gd name="connsiteY4" fmla="*/ 164306 h 345281"/>
                      <a:gd name="connsiteX5" fmla="*/ 11906 w 266699"/>
                      <a:gd name="connsiteY5" fmla="*/ 107156 h 345281"/>
                      <a:gd name="connsiteX6" fmla="*/ 266699 w 266699"/>
                      <a:gd name="connsiteY6" fmla="*/ 71438 h 345281"/>
                      <a:gd name="connsiteX7" fmla="*/ 0 w 266699"/>
                      <a:gd name="connsiteY7" fmla="*/ 0 h 345281"/>
                      <a:gd name="connsiteX0" fmla="*/ 154782 w 266700"/>
                      <a:gd name="connsiteY0" fmla="*/ 345281 h 345281"/>
                      <a:gd name="connsiteX1" fmla="*/ 4763 w 266700"/>
                      <a:gd name="connsiteY1" fmla="*/ 292894 h 345281"/>
                      <a:gd name="connsiteX2" fmla="*/ 261938 w 266700"/>
                      <a:gd name="connsiteY2" fmla="*/ 250031 h 345281"/>
                      <a:gd name="connsiteX3" fmla="*/ 0 w 266700"/>
                      <a:gd name="connsiteY3" fmla="*/ 204787 h 345281"/>
                      <a:gd name="connsiteX4" fmla="*/ 259557 w 266700"/>
                      <a:gd name="connsiteY4" fmla="*/ 164306 h 345281"/>
                      <a:gd name="connsiteX5" fmla="*/ 11907 w 266700"/>
                      <a:gd name="connsiteY5" fmla="*/ 107156 h 345281"/>
                      <a:gd name="connsiteX6" fmla="*/ 266700 w 266700"/>
                      <a:gd name="connsiteY6" fmla="*/ 71438 h 345281"/>
                      <a:gd name="connsiteX7" fmla="*/ 1 w 266700"/>
                      <a:gd name="connsiteY7" fmla="*/ 0 h 345281"/>
                      <a:gd name="connsiteX0" fmla="*/ 157162 w 269080"/>
                      <a:gd name="connsiteY0" fmla="*/ 345281 h 345281"/>
                      <a:gd name="connsiteX1" fmla="*/ 7143 w 269080"/>
                      <a:gd name="connsiteY1" fmla="*/ 292894 h 345281"/>
                      <a:gd name="connsiteX2" fmla="*/ 264318 w 269080"/>
                      <a:gd name="connsiteY2" fmla="*/ 250031 h 345281"/>
                      <a:gd name="connsiteX3" fmla="*/ 2380 w 269080"/>
                      <a:gd name="connsiteY3" fmla="*/ 204787 h 345281"/>
                      <a:gd name="connsiteX4" fmla="*/ 261937 w 269080"/>
                      <a:gd name="connsiteY4" fmla="*/ 164306 h 345281"/>
                      <a:gd name="connsiteX5" fmla="*/ 0 w 269080"/>
                      <a:gd name="connsiteY5" fmla="*/ 104775 h 345281"/>
                      <a:gd name="connsiteX6" fmla="*/ 269080 w 269080"/>
                      <a:gd name="connsiteY6" fmla="*/ 71438 h 345281"/>
                      <a:gd name="connsiteX7" fmla="*/ 2381 w 269080"/>
                      <a:gd name="connsiteY7" fmla="*/ 0 h 345281"/>
                      <a:gd name="connsiteX0" fmla="*/ 164305 w 269080"/>
                      <a:gd name="connsiteY0" fmla="*/ 328612 h 328612"/>
                      <a:gd name="connsiteX1" fmla="*/ 7143 w 269080"/>
                      <a:gd name="connsiteY1" fmla="*/ 292894 h 328612"/>
                      <a:gd name="connsiteX2" fmla="*/ 264318 w 269080"/>
                      <a:gd name="connsiteY2" fmla="*/ 250031 h 328612"/>
                      <a:gd name="connsiteX3" fmla="*/ 2380 w 269080"/>
                      <a:gd name="connsiteY3" fmla="*/ 204787 h 328612"/>
                      <a:gd name="connsiteX4" fmla="*/ 261937 w 269080"/>
                      <a:gd name="connsiteY4" fmla="*/ 164306 h 328612"/>
                      <a:gd name="connsiteX5" fmla="*/ 0 w 269080"/>
                      <a:gd name="connsiteY5" fmla="*/ 104775 h 328612"/>
                      <a:gd name="connsiteX6" fmla="*/ 269080 w 269080"/>
                      <a:gd name="connsiteY6" fmla="*/ 71438 h 328612"/>
                      <a:gd name="connsiteX7" fmla="*/ 2381 w 269080"/>
                      <a:gd name="connsiteY7" fmla="*/ 0 h 3286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69080" h="328612">
                        <a:moveTo>
                          <a:pt x="164305" y="328612"/>
                        </a:moveTo>
                        <a:lnTo>
                          <a:pt x="7143" y="292894"/>
                        </a:lnTo>
                        <a:lnTo>
                          <a:pt x="264318" y="250031"/>
                        </a:lnTo>
                        <a:lnTo>
                          <a:pt x="2380" y="204787"/>
                        </a:lnTo>
                        <a:lnTo>
                          <a:pt x="261937" y="164306"/>
                        </a:lnTo>
                        <a:lnTo>
                          <a:pt x="0" y="104775"/>
                        </a:lnTo>
                        <a:lnTo>
                          <a:pt x="269080" y="71438"/>
                        </a:lnTo>
                        <a:lnTo>
                          <a:pt x="2381" y="0"/>
                        </a:lnTo>
                      </a:path>
                    </a:pathLst>
                  </a:cu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latin typeface="+mn-ea"/>
                    </a:endParaRPr>
                  </a:p>
                </p:txBody>
              </p:sp>
            </p:grpSp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DB7D9DFC-9D7F-453B-9D8F-E549998425FA}"/>
                    </a:ext>
                  </a:extLst>
                </p:cNvPr>
                <p:cNvSpPr/>
                <p:nvPr/>
              </p:nvSpPr>
              <p:spPr>
                <a:xfrm>
                  <a:off x="1113922" y="3327875"/>
                  <a:ext cx="652951" cy="649220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cxnSp>
              <p:nvCxnSpPr>
                <p:cNvPr id="34" name="直接箭头连接符 33">
                  <a:extLst>
                    <a:ext uri="{FF2B5EF4-FFF2-40B4-BE49-F238E27FC236}">
                      <a16:creationId xmlns:a16="http://schemas.microsoft.com/office/drawing/2014/main" id="{F0B341A8-8998-477A-9F1E-161928453845}"/>
                    </a:ext>
                  </a:extLst>
                </p:cNvPr>
                <p:cNvCxnSpPr>
                  <a:cxnSpLocks/>
                  <a:stCxn id="33" idx="2"/>
                  <a:endCxn id="33" idx="0"/>
                </p:cNvCxnSpPr>
                <p:nvPr/>
              </p:nvCxnSpPr>
              <p:spPr>
                <a:xfrm flipV="1">
                  <a:off x="1440398" y="3327875"/>
                  <a:ext cx="0" cy="649220"/>
                </a:xfrm>
                <a:prstGeom prst="straightConnector1">
                  <a:avLst/>
                </a:prstGeom>
                <a:ln w="19050">
                  <a:headEnd w="med" len="med"/>
                  <a:tailEnd type="triangle" w="med" len="med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35" name="任意多边形: 形状 34">
                  <a:extLst>
                    <a:ext uri="{FF2B5EF4-FFF2-40B4-BE49-F238E27FC236}">
                      <a16:creationId xmlns:a16="http://schemas.microsoft.com/office/drawing/2014/main" id="{BF6366DD-5EB3-4903-9A6C-E62C6E27A37B}"/>
                    </a:ext>
                  </a:extLst>
                </p:cNvPr>
                <p:cNvSpPr/>
                <p:nvPr/>
              </p:nvSpPr>
              <p:spPr>
                <a:xfrm rot="5400000">
                  <a:off x="790722" y="3064950"/>
                  <a:ext cx="671223" cy="628128"/>
                </a:xfrm>
                <a:custGeom>
                  <a:avLst/>
                  <a:gdLst>
                    <a:gd name="connsiteX0" fmla="*/ 333829 w 740229"/>
                    <a:gd name="connsiteY0" fmla="*/ 0 h 696685"/>
                    <a:gd name="connsiteX1" fmla="*/ 0 w 740229"/>
                    <a:gd name="connsiteY1" fmla="*/ 333829 h 696685"/>
                    <a:gd name="connsiteX2" fmla="*/ 0 w 740229"/>
                    <a:gd name="connsiteY2" fmla="*/ 696685 h 696685"/>
                    <a:gd name="connsiteX3" fmla="*/ 740229 w 740229"/>
                    <a:gd name="connsiteY3" fmla="*/ 696685 h 696685"/>
                    <a:gd name="connsiteX4" fmla="*/ 740229 w 740229"/>
                    <a:gd name="connsiteY4" fmla="*/ 464457 h 696685"/>
                    <a:gd name="connsiteX0" fmla="*/ 333829 w 740229"/>
                    <a:gd name="connsiteY0" fmla="*/ 0 h 696685"/>
                    <a:gd name="connsiteX1" fmla="*/ 0 w 740229"/>
                    <a:gd name="connsiteY1" fmla="*/ 333829 h 696685"/>
                    <a:gd name="connsiteX2" fmla="*/ 0 w 740229"/>
                    <a:gd name="connsiteY2" fmla="*/ 696685 h 696685"/>
                    <a:gd name="connsiteX3" fmla="*/ 740229 w 740229"/>
                    <a:gd name="connsiteY3" fmla="*/ 696685 h 696685"/>
                    <a:gd name="connsiteX4" fmla="*/ 737848 w 740229"/>
                    <a:gd name="connsiteY4" fmla="*/ 381113 h 6966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40229" h="696685">
                      <a:moveTo>
                        <a:pt x="333829" y="0"/>
                      </a:moveTo>
                      <a:lnTo>
                        <a:pt x="0" y="333829"/>
                      </a:lnTo>
                      <a:lnTo>
                        <a:pt x="0" y="696685"/>
                      </a:lnTo>
                      <a:lnTo>
                        <a:pt x="740229" y="696685"/>
                      </a:lnTo>
                      <a:cubicBezTo>
                        <a:pt x="739435" y="591494"/>
                        <a:pt x="738642" y="486304"/>
                        <a:pt x="737848" y="381113"/>
                      </a:cubicBezTo>
                    </a:path>
                  </a:pathLst>
                </a:custGeom>
                <a:ln w="19050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  <p:sp>
              <p:nvSpPr>
                <p:cNvPr id="36" name="任意多边形: 形状 35">
                  <a:extLst>
                    <a:ext uri="{FF2B5EF4-FFF2-40B4-BE49-F238E27FC236}">
                      <a16:creationId xmlns:a16="http://schemas.microsoft.com/office/drawing/2014/main" id="{3B19B453-E368-40DE-BC07-F46D003676FE}"/>
                    </a:ext>
                  </a:extLst>
                </p:cNvPr>
                <p:cNvSpPr/>
                <p:nvPr/>
              </p:nvSpPr>
              <p:spPr>
                <a:xfrm>
                  <a:off x="1438275" y="2436285"/>
                  <a:ext cx="638175" cy="1245702"/>
                </a:xfrm>
                <a:custGeom>
                  <a:avLst/>
                  <a:gdLst>
                    <a:gd name="connsiteX0" fmla="*/ 323850 w 638175"/>
                    <a:gd name="connsiteY0" fmla="*/ 1304925 h 1304925"/>
                    <a:gd name="connsiteX1" fmla="*/ 638175 w 638175"/>
                    <a:gd name="connsiteY1" fmla="*/ 1304925 h 1304925"/>
                    <a:gd name="connsiteX2" fmla="*/ 638175 w 638175"/>
                    <a:gd name="connsiteY2" fmla="*/ 0 h 1304925"/>
                    <a:gd name="connsiteX3" fmla="*/ 0 w 638175"/>
                    <a:gd name="connsiteY3" fmla="*/ 0 h 1304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38175" h="1304925">
                      <a:moveTo>
                        <a:pt x="323850" y="1304925"/>
                      </a:moveTo>
                      <a:lnTo>
                        <a:pt x="638175" y="1304925"/>
                      </a:lnTo>
                      <a:lnTo>
                        <a:pt x="638175" y="0"/>
                      </a:lnTo>
                      <a:lnTo>
                        <a:pt x="0" y="0"/>
                      </a:lnTo>
                    </a:path>
                  </a:pathLst>
                </a:custGeom>
                <a:ln w="19050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75B1F7BB-E5FF-444B-8B7F-696C261D4673}"/>
                    </a:ext>
                  </a:extLst>
                </p:cNvPr>
                <p:cNvSpPr/>
                <p:nvPr/>
              </p:nvSpPr>
              <p:spPr>
                <a:xfrm>
                  <a:off x="611560" y="2296972"/>
                  <a:ext cx="1606957" cy="185572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  <a:prstDash val="lgDashDot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+mn-ea"/>
                  </a:endParaRPr>
                </a:p>
              </p:txBody>
            </p:sp>
          </p:grpSp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512325FD-18BE-4AF1-813D-5C5DE37BB496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195010" y="6446389"/>
                <a:ext cx="2562283" cy="282796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3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800">
                    <a:solidFill>
                      <a:schemeClr val="tx1"/>
                    </a:solidFill>
                    <a:latin typeface="+mn-lt"/>
                    <a:ea typeface="+mn-ea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9pPr>
              </a:lstStyle>
              <a:p>
                <a:pPr marL="0" indent="0" algn="ctr">
                  <a:buNone/>
                </a:pPr>
                <a:r>
                  <a:rPr lang="zh-CN" altLang="en-US" sz="1800" kern="0" dirty="0">
                    <a:latin typeface="+mn-ea"/>
                  </a:rPr>
                  <a:t>定压式容积节流调速回路</a:t>
                </a:r>
                <a:endParaRPr lang="en-US" altLang="zh-CN" sz="1800" kern="0" dirty="0">
                  <a:latin typeface="+mn-ea"/>
                </a:endParaRPr>
              </a:p>
            </p:txBody>
          </p:sp>
        </p:grp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9B7F328-1B97-4F65-8758-9780C79EB242}"/>
                </a:ext>
              </a:extLst>
            </p:cNvPr>
            <p:cNvSpPr/>
            <p:nvPr/>
          </p:nvSpPr>
          <p:spPr>
            <a:xfrm>
              <a:off x="6509684" y="2540358"/>
              <a:ext cx="785016" cy="33053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dirty="0">
                  <a:latin typeface="+mn-ea"/>
                </a:rPr>
                <a:t>背压阀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758DC6C-05D9-4787-84A3-1D3A92BB33E7}"/>
                </a:ext>
              </a:extLst>
            </p:cNvPr>
            <p:cNvSpPr/>
            <p:nvPr/>
          </p:nvSpPr>
          <p:spPr>
            <a:xfrm>
              <a:off x="4879513" y="5175372"/>
              <a:ext cx="1817932" cy="33053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dirty="0">
                  <a:solidFill>
                    <a:srgbClr val="0000FF"/>
                  </a:solidFill>
                  <a:latin typeface="+mn-ea"/>
                </a:rPr>
                <a:t>限压式</a:t>
              </a:r>
              <a:r>
                <a:rPr lang="zh-CN" altLang="en-US" dirty="0">
                  <a:latin typeface="+mn-ea"/>
                </a:rPr>
                <a:t>变量叶片泵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0FFCB92-F1A3-4A02-B0BB-52C00C08997C}"/>
                </a:ext>
              </a:extLst>
            </p:cNvPr>
            <p:cNvSpPr/>
            <p:nvPr/>
          </p:nvSpPr>
          <p:spPr>
            <a:xfrm>
              <a:off x="5268840" y="4204655"/>
              <a:ext cx="785016" cy="33053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dirty="0">
                  <a:latin typeface="+mn-ea"/>
                </a:rPr>
                <a:t>调速阀</a:t>
              </a:r>
            </a:p>
          </p:txBody>
        </p:sp>
      </p:grpSp>
      <p:sp>
        <p:nvSpPr>
          <p:cNvPr id="45" name="矩形 44">
            <a:extLst>
              <a:ext uri="{FF2B5EF4-FFF2-40B4-BE49-F238E27FC236}">
                <a16:creationId xmlns:a16="http://schemas.microsoft.com/office/drawing/2014/main" id="{1C7F18F7-FB26-44F8-BBF1-53B4779FA403}"/>
              </a:ext>
            </a:extLst>
          </p:cNvPr>
          <p:cNvSpPr/>
          <p:nvPr/>
        </p:nvSpPr>
        <p:spPr>
          <a:xfrm>
            <a:off x="408938" y="2352843"/>
            <a:ext cx="196853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zh-CN" altLang="en-US" dirty="0">
                <a:latin typeface="+mn-ea"/>
              </a:rPr>
              <a:t>调速阀控制活塞运动速度，也可装在回油路上</a:t>
            </a: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FB5825D9-442B-4A6D-A71A-5EFACFB85B4F}"/>
              </a:ext>
            </a:extLst>
          </p:cNvPr>
          <p:cNvCxnSpPr/>
          <p:nvPr/>
        </p:nvCxnSpPr>
        <p:spPr>
          <a:xfrm flipV="1">
            <a:off x="2795934" y="4648495"/>
            <a:ext cx="754529" cy="9419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49" name="内容占位符 2">
            <a:extLst>
              <a:ext uri="{FF2B5EF4-FFF2-40B4-BE49-F238E27FC236}">
                <a16:creationId xmlns:a16="http://schemas.microsoft.com/office/drawing/2014/main" id="{24246E92-0471-4DB1-A695-511E5C602F1A}"/>
              </a:ext>
            </a:extLst>
          </p:cNvPr>
          <p:cNvSpPr txBox="1">
            <a:spLocks/>
          </p:cNvSpPr>
          <p:nvPr/>
        </p:nvSpPr>
        <p:spPr>
          <a:xfrm>
            <a:off x="6392428" y="1300574"/>
            <a:ext cx="2248233" cy="6206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</a:pPr>
            <a:r>
              <a:rPr lang="zh-CN" altLang="en-US" dirty="0">
                <a:latin typeface="+mn-ea"/>
              </a:rPr>
              <a:t>机械特性：</a:t>
            </a:r>
            <a:endParaRPr lang="en-US" altLang="zh-CN" dirty="0">
              <a:latin typeface="+mn-ea"/>
            </a:endParaRPr>
          </a:p>
        </p:txBody>
      </p:sp>
      <p:pic>
        <p:nvPicPr>
          <p:cNvPr id="50" name="图片 49">
            <a:extLst>
              <a:ext uri="{FF2B5EF4-FFF2-40B4-BE49-F238E27FC236}">
                <a16:creationId xmlns:a16="http://schemas.microsoft.com/office/drawing/2014/main" id="{6C39723E-8632-4858-9412-362A7921672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67"/>
          <a:stretch/>
        </p:blipFill>
        <p:spPr>
          <a:xfrm>
            <a:off x="6482414" y="1971580"/>
            <a:ext cx="5508104" cy="45281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40BFB7F7-BA42-4D45-8916-B85A1B7B7894}"/>
                  </a:ext>
                </a:extLst>
              </p:cNvPr>
              <p:cNvSpPr/>
              <p:nvPr/>
            </p:nvSpPr>
            <p:spPr>
              <a:xfrm>
                <a:off x="9339394" y="5452414"/>
                <a:ext cx="2844304" cy="72083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zh-CN" sz="20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ar-AE" sz="2000" i="1" ker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ar-AE" altLang="zh-CN" sz="2000" i="1" ker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ar-AE" altLang="zh-CN" sz="2000" i="1" ker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altLang="zh-CN" sz="2000" i="1" ker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ar-AE" sz="2000" i="1" ker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ar-AE" altLang="zh-CN" sz="2000" i="1" ker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ar-AE" altLang="zh-CN" sz="2000" i="1" ker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ar-AE" sz="2000" i="1" ker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ar-AE" altLang="zh-CN" sz="2000" i="1" ker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ar-AE" altLang="zh-CN" sz="2000" i="1" ker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ar-AE" altLang="zh-CN" sz="20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ar-AE" sz="2000" i="1" ker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ar-AE" altLang="zh-CN" sz="2000" i="1" ker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altLang="zh-CN" sz="2000" i="1" ker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ar-AE" altLang="zh-CN" sz="2000" i="1" ker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altLang="zh-CN" sz="2000" i="1" ker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ar-AE" sz="2000" i="1" ker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ar-AE" sz="2000" i="1" ker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ar-AE" altLang="zh-CN" sz="2000" i="1" ker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CN" sz="2000" ker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zh-CN" altLang="el-GR" sz="2000" i="1" ker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zh-CN" altLang="en-US" sz="2000" dirty="0">
                  <a:latin typeface="+mn-ea"/>
                </a:endParaRPr>
              </a:p>
            </p:txBody>
          </p:sp>
        </mc:Choice>
        <mc:Fallback xmlns=""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40BFB7F7-BA42-4D45-8916-B85A1B7B78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394" y="5452414"/>
                <a:ext cx="2844304" cy="7208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A77471C2-D937-44BA-B8EC-DF5933A41FA1}"/>
                  </a:ext>
                </a:extLst>
              </p:cNvPr>
              <p:cNvSpPr/>
              <p:nvPr/>
            </p:nvSpPr>
            <p:spPr>
              <a:xfrm>
                <a:off x="10729261" y="2052988"/>
                <a:ext cx="150141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ker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zh-CN" altLang="el-GR" i="1" ker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CN" altLang="en-US" dirty="0">
                    <a:latin typeface="+mn-ea"/>
                  </a:rPr>
                  <a:t>一般在</a:t>
                </a:r>
                <a:endParaRPr lang="en-US" altLang="zh-CN" dirty="0">
                  <a:latin typeface="+mn-ea"/>
                </a:endParaRPr>
              </a:p>
              <a:p>
                <a:r>
                  <a:rPr lang="en-US" altLang="zh-CN" dirty="0">
                    <a:latin typeface="+mn-ea"/>
                  </a:rPr>
                  <a:t>0.5MPa</a:t>
                </a:r>
                <a:r>
                  <a:rPr lang="zh-CN" altLang="en-US" dirty="0">
                    <a:latin typeface="+mn-ea"/>
                  </a:rPr>
                  <a:t>以上</a:t>
                </a:r>
              </a:p>
            </p:txBody>
          </p:sp>
        </mc:Choice>
        <mc:Fallback xmlns=""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A77471C2-D937-44BA-B8EC-DF5933A41F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261" y="2052988"/>
                <a:ext cx="1501410" cy="646331"/>
              </a:xfrm>
              <a:prstGeom prst="rect">
                <a:avLst/>
              </a:prstGeom>
              <a:blipFill>
                <a:blip r:embed="rId6"/>
                <a:stretch>
                  <a:fillRect l="-3252" t="-5660" r="-813" b="-141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0AFAB22A-8D6F-4182-9F62-18734F0AA3CD}"/>
              </a:ext>
            </a:extLst>
          </p:cNvPr>
          <p:cNvCxnSpPr>
            <a:cxnSpLocks/>
          </p:cNvCxnSpPr>
          <p:nvPr/>
        </p:nvCxnSpPr>
        <p:spPr>
          <a:xfrm>
            <a:off x="9434016" y="4059812"/>
            <a:ext cx="0" cy="1872208"/>
          </a:xfrm>
          <a:prstGeom prst="line">
            <a:avLst/>
          </a:prstGeom>
          <a:ln w="28575">
            <a:solidFill>
              <a:srgbClr val="3387C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1222EA3B-5F39-4CFF-87E7-5B38A625D7FF}"/>
              </a:ext>
            </a:extLst>
          </p:cNvPr>
          <p:cNvCxnSpPr>
            <a:cxnSpLocks/>
          </p:cNvCxnSpPr>
          <p:nvPr/>
        </p:nvCxnSpPr>
        <p:spPr>
          <a:xfrm>
            <a:off x="7417792" y="4059812"/>
            <a:ext cx="0" cy="1872208"/>
          </a:xfrm>
          <a:prstGeom prst="line">
            <a:avLst/>
          </a:prstGeom>
          <a:ln w="28575">
            <a:solidFill>
              <a:srgbClr val="3387C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E6C22291-9A32-492C-A636-15D080911957}"/>
              </a:ext>
            </a:extLst>
          </p:cNvPr>
          <p:cNvCxnSpPr/>
          <p:nvPr/>
        </p:nvCxnSpPr>
        <p:spPr>
          <a:xfrm>
            <a:off x="7417792" y="5740005"/>
            <a:ext cx="2016224" cy="0"/>
          </a:xfrm>
          <a:prstGeom prst="straightConnector1">
            <a:avLst/>
          </a:prstGeom>
          <a:ln w="28575">
            <a:solidFill>
              <a:srgbClr val="3387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EC4F2DFB-2B72-407F-85D1-869EBDDACDF4}"/>
              </a:ext>
            </a:extLst>
          </p:cNvPr>
          <p:cNvSpPr/>
          <p:nvPr/>
        </p:nvSpPr>
        <p:spPr>
          <a:xfrm>
            <a:off x="6482414" y="6172502"/>
            <a:ext cx="840933" cy="3775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58" name="内容占位符 2">
            <a:extLst>
              <a:ext uri="{FF2B5EF4-FFF2-40B4-BE49-F238E27FC236}">
                <a16:creationId xmlns:a16="http://schemas.microsoft.com/office/drawing/2014/main" id="{6EA0A500-7645-40EA-BFBF-E1C4A44A8F19}"/>
              </a:ext>
            </a:extLst>
          </p:cNvPr>
          <p:cNvSpPr txBox="1">
            <a:spLocks/>
          </p:cNvSpPr>
          <p:nvPr/>
        </p:nvSpPr>
        <p:spPr>
          <a:xfrm>
            <a:off x="398890" y="1300574"/>
            <a:ext cx="2248233" cy="6206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</a:pPr>
            <a:r>
              <a:rPr lang="zh-CN" altLang="en-US" dirty="0">
                <a:latin typeface="+mn-ea"/>
              </a:rPr>
              <a:t>工作原理：</a:t>
            </a:r>
            <a:endParaRPr lang="en-US" altLang="zh-CN" dirty="0">
              <a:latin typeface="+mn-ea"/>
            </a:endParaRPr>
          </a:p>
        </p:txBody>
      </p:sp>
      <p:sp>
        <p:nvSpPr>
          <p:cNvPr id="60" name="Content Placeholder 2">
            <a:extLst>
              <a:ext uri="{FF2B5EF4-FFF2-40B4-BE49-F238E27FC236}">
                <a16:creationId xmlns:a16="http://schemas.microsoft.com/office/drawing/2014/main" id="{1E6FF743-58E7-4C6D-B088-4C56FD21617E}"/>
              </a:ext>
            </a:extLst>
          </p:cNvPr>
          <p:cNvSpPr txBox="1">
            <a:spLocks/>
          </p:cNvSpPr>
          <p:nvPr/>
        </p:nvSpPr>
        <p:spPr bwMode="auto">
          <a:xfrm>
            <a:off x="7073425" y="6138310"/>
            <a:ext cx="4721182" cy="34710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定压式容积节流调速回路的调速特性</a:t>
            </a:r>
            <a:endParaRPr lang="en-US" altLang="zh-CN" sz="1800" kern="0" dirty="0">
              <a:latin typeface="+mn-ea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D60C5A6-4AAB-4497-8488-D01AC44C8F6D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21/35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2540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C1FD0F55-D29B-4ECE-8F7A-84308060B96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67" r="2945"/>
          <a:stretch/>
        </p:blipFill>
        <p:spPr>
          <a:xfrm>
            <a:off x="5245400" y="2621030"/>
            <a:ext cx="4899990" cy="4159169"/>
          </a:xfrm>
          <a:prstGeom prst="rect">
            <a:avLst/>
          </a:prstGeom>
        </p:spPr>
      </p:pic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6733057" cy="662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定压式容积节流调速回路功率特性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内容占位符 2">
                <a:extLst>
                  <a:ext uri="{FF2B5EF4-FFF2-40B4-BE49-F238E27FC236}">
                    <a16:creationId xmlns:a16="http://schemas.microsoft.com/office/drawing/2014/main" id="{B446A189-48E6-4A07-BF07-1089D2D536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8227" y="1524487"/>
                <a:ext cx="4432221" cy="247333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CN" altLang="en-US" sz="2000" dirty="0"/>
                  <a:t>无溢流损失，节流损失与液压缸工作腔压力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sz="2000" dirty="0"/>
                  <a:t>有关。</a:t>
                </a:r>
                <a:endParaRPr lang="en-US" altLang="zh-CN" sz="2000" dirty="0"/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CN" altLang="en-US" sz="2000" dirty="0"/>
                  <a:t>回路的效率为：</a:t>
                </a:r>
                <a:endParaRPr lang="en-US" altLang="zh-CN" sz="2000" dirty="0"/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zh-CN" sz="2000" dirty="0"/>
              </a:p>
            </p:txBody>
          </p:sp>
        </mc:Choice>
        <mc:Fallback xmlns="">
          <p:sp>
            <p:nvSpPr>
              <p:cNvPr id="10" name="内容占位符 2">
                <a:extLst>
                  <a:ext uri="{FF2B5EF4-FFF2-40B4-BE49-F238E27FC236}">
                    <a16:creationId xmlns:a16="http://schemas.microsoft.com/office/drawing/2014/main" id="{B446A189-48E6-4A07-BF07-1089D2D53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227" y="1524487"/>
                <a:ext cx="4432221" cy="2473334"/>
              </a:xfrm>
              <a:prstGeom prst="rect">
                <a:avLst/>
              </a:prstGeom>
              <a:blipFill>
                <a:blip r:embed="rId5"/>
                <a:stretch>
                  <a:fillRect r="-13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803F013-1C2A-4971-9046-343ABB43BBD1}"/>
                  </a:ext>
                </a:extLst>
              </p:cNvPr>
              <p:cNvSpPr/>
              <p:nvPr/>
            </p:nvSpPr>
            <p:spPr>
              <a:xfrm>
                <a:off x="858982" y="3089108"/>
                <a:ext cx="3994748" cy="10114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altLang="zh-CN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>
                            <m:f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803F013-1C2A-4971-9046-343ABB43BB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982" y="3089108"/>
                <a:ext cx="3994748" cy="10114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7CD99C7-BCCE-4FBD-8AC4-4756FC9AFDEC}"/>
                  </a:ext>
                </a:extLst>
              </p:cNvPr>
              <p:cNvSpPr/>
              <p:nvPr/>
            </p:nvSpPr>
            <p:spPr>
              <a:xfrm>
                <a:off x="6736956" y="5908630"/>
                <a:ext cx="376712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CN" altLang="en-US" sz="20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工作压力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bPr>
                      <m:e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1</m:t>
                        </m:r>
                      </m:sub>
                    </m:sSub>
                    <m:r>
                      <a:rPr lang="zh-CN" altLang="en-US" sz="2000" dirty="0">
                        <a:latin typeface="Cambria Math" panose="02040503050406030204" pitchFamily="18" charset="0"/>
                        <a:ea typeface="黑体" panose="02010609060101010101" pitchFamily="49" charset="-122"/>
                      </a:rPr>
                      <m:t>越小</m:t>
                    </m:r>
                  </m:oMath>
                </a14:m>
                <a:r>
                  <a:rPr lang="zh-CN" altLang="en-US" sz="20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，节流损失越大</a:t>
                </a:r>
                <a:endParaRPr lang="zh-CN" altLang="en-US" sz="20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7CD99C7-BCCE-4FBD-8AC4-4756FC9AFD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6956" y="5908630"/>
                <a:ext cx="3767122" cy="400110"/>
              </a:xfrm>
              <a:prstGeom prst="rect">
                <a:avLst/>
              </a:prstGeom>
              <a:blipFill>
                <a:blip r:embed="rId7"/>
                <a:stretch>
                  <a:fillRect l="-1618" t="-10606" r="-809" b="-227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4492A67-2675-45FD-A292-C04917F16129}"/>
                  </a:ext>
                </a:extLst>
              </p:cNvPr>
              <p:cNvSpPr/>
              <p:nvPr/>
            </p:nvSpPr>
            <p:spPr>
              <a:xfrm>
                <a:off x="9442080" y="4793858"/>
                <a:ext cx="27494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bPr>
                      <m:e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1</m:t>
                        </m:r>
                      </m:sub>
                    </m:sSub>
                    <m:r>
                      <a:rPr lang="en-US" altLang="zh-CN" sz="2000" dirty="0">
                        <a:latin typeface="Cambria Math" panose="02040503050406030204" pitchFamily="18" charset="0"/>
                        <a:ea typeface="黑体" panose="02010609060101010101" pitchFamily="49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bPr>
                      <m:e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1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𝑚𝑎𝑥</m:t>
                        </m:r>
                      </m:sub>
                    </m:sSub>
                    <m:r>
                      <a:rPr lang="zh-CN" altLang="en-US" sz="2000" dirty="0">
                        <a:latin typeface="Cambria Math" panose="02040503050406030204" pitchFamily="18" charset="0"/>
                        <a:ea typeface="黑体" panose="02010609060101010101" pitchFamily="49" charset="-122"/>
                      </a:rPr>
                      <m:t>时</m:t>
                    </m:r>
                  </m:oMath>
                </a14:m>
                <a:r>
                  <a:rPr lang="zh-CN" altLang="en-US" sz="20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，</a:t>
                </a:r>
                <a:endPara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r>
                  <a:rPr lang="zh-CN" altLang="en-US" sz="20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回路中的节流损失最小</a:t>
                </a:r>
                <a:endParaRPr lang="zh-CN" altLang="en-US" sz="2000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4492A67-2675-45FD-A292-C04917F161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2080" y="4793858"/>
                <a:ext cx="2749471" cy="707886"/>
              </a:xfrm>
              <a:prstGeom prst="rect">
                <a:avLst/>
              </a:prstGeom>
              <a:blipFill>
                <a:blip r:embed="rId8"/>
                <a:stretch>
                  <a:fillRect l="-2439" t="-5983" r="-1330" b="-119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D4D00119-D939-428B-82C9-2D494341F36B}"/>
              </a:ext>
            </a:extLst>
          </p:cNvPr>
          <p:cNvCxnSpPr>
            <a:cxnSpLocks/>
          </p:cNvCxnSpPr>
          <p:nvPr/>
        </p:nvCxnSpPr>
        <p:spPr>
          <a:xfrm flipH="1" flipV="1">
            <a:off x="8287191" y="4597717"/>
            <a:ext cx="1024306" cy="374399"/>
          </a:xfrm>
          <a:prstGeom prst="straightConnector1">
            <a:avLst/>
          </a:prstGeom>
          <a:ln w="28575">
            <a:solidFill>
              <a:srgbClr val="3387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2564525-23DC-4C9C-BF5E-FE5E2ED6A10C}"/>
                  </a:ext>
                </a:extLst>
              </p:cNvPr>
              <p:cNvSpPr/>
              <p:nvPr/>
            </p:nvSpPr>
            <p:spPr>
              <a:xfrm>
                <a:off x="1226250" y="4379495"/>
                <a:ext cx="2288475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sz="20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工作压力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bPr>
                      <m:e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dirty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越大，</a:t>
                </a:r>
                <a:endPara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r>
                  <a:rPr lang="zh-CN" altLang="en-US" sz="20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效率越高</a:t>
                </a: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2564525-23DC-4C9C-BF5E-FE5E2ED6A1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250" y="4379495"/>
                <a:ext cx="2288475" cy="707886"/>
              </a:xfrm>
              <a:prstGeom prst="rect">
                <a:avLst/>
              </a:prstGeom>
              <a:blipFill>
                <a:blip r:embed="rId9"/>
                <a:stretch>
                  <a:fillRect l="-2660" t="-5983" b="-136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D49B806-433D-4A50-B154-8B3FF624E7E2}"/>
              </a:ext>
            </a:extLst>
          </p:cNvPr>
          <p:cNvCxnSpPr>
            <a:cxnSpLocks/>
          </p:cNvCxnSpPr>
          <p:nvPr/>
        </p:nvCxnSpPr>
        <p:spPr>
          <a:xfrm flipV="1">
            <a:off x="3193455" y="3594823"/>
            <a:ext cx="726223" cy="952903"/>
          </a:xfrm>
          <a:prstGeom prst="straightConnector1">
            <a:avLst/>
          </a:prstGeom>
          <a:ln w="28575">
            <a:solidFill>
              <a:srgbClr val="3387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D2C61418-02AD-4995-92E8-53CD85AF0ECC}"/>
              </a:ext>
            </a:extLst>
          </p:cNvPr>
          <p:cNvSpPr/>
          <p:nvPr/>
        </p:nvSpPr>
        <p:spPr>
          <a:xfrm>
            <a:off x="5115723" y="6392510"/>
            <a:ext cx="840933" cy="3775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D7BF528-78AE-45CD-B1B5-1112135C89B7}"/>
              </a:ext>
            </a:extLst>
          </p:cNvPr>
          <p:cNvSpPr txBox="1">
            <a:spLocks/>
          </p:cNvSpPr>
          <p:nvPr/>
        </p:nvSpPr>
        <p:spPr bwMode="auto">
          <a:xfrm>
            <a:off x="5815878" y="6422913"/>
            <a:ext cx="4721182" cy="34710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定压式容积节流调速回路的调速特性</a:t>
            </a:r>
            <a:endParaRPr lang="en-US" altLang="zh-CN" sz="1800" kern="0" dirty="0">
              <a:latin typeface="+mn-ea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235D148-5C9F-4800-AFED-6776B29018E8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22/35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29815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2CF2E0F-FE34-47AD-8F2E-D076FC541D64}"/>
              </a:ext>
            </a:extLst>
          </p:cNvPr>
          <p:cNvSpPr txBox="1">
            <a:spLocks/>
          </p:cNvSpPr>
          <p:nvPr/>
        </p:nvSpPr>
        <p:spPr>
          <a:xfrm>
            <a:off x="718893" y="1621776"/>
            <a:ext cx="7300982" cy="226476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lnSpc>
                <a:spcPct val="150000"/>
              </a:lnSpc>
              <a:buFont typeface="Arial" panose="020B0604020202020204" pitchFamily="34" charset="0"/>
              <a:buNone/>
            </a:pPr>
            <a:br>
              <a:rPr lang="en-US" altLang="zh-CN" sz="2000" dirty="0">
                <a:latin typeface="+mn-ea"/>
              </a:rPr>
            </a:br>
            <a:endParaRPr lang="en-US" altLang="zh-CN" sz="2000" dirty="0">
              <a:latin typeface="+mn-ea"/>
            </a:endParaRPr>
          </a:p>
          <a:p>
            <a:pPr marL="342900"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上式没有考虑泵的泄漏损失，当限压式变量叶片泵达到最高压力时，其泄漏量可达最大输出流量的</a:t>
            </a:r>
            <a:r>
              <a:rPr lang="en-US" altLang="zh-CN" sz="2000" dirty="0">
                <a:latin typeface="+mn-ea"/>
              </a:rPr>
              <a:t>8%</a:t>
            </a:r>
            <a:r>
              <a:rPr lang="zh-CN" altLang="en-US" sz="2000" dirty="0">
                <a:latin typeface="+mn-ea"/>
              </a:rPr>
              <a:t>。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zh-CN" sz="2000" dirty="0"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20366B5-613C-4FA2-A363-B85FBFFE2F9A}"/>
                  </a:ext>
                </a:extLst>
              </p:cNvPr>
              <p:cNvSpPr/>
              <p:nvPr/>
            </p:nvSpPr>
            <p:spPr>
              <a:xfrm>
                <a:off x="1995818" y="1419672"/>
                <a:ext cx="4747133" cy="11951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altLang="zh-CN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CN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CN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altLang="zh-CN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>
                            <m:f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en-US" sz="2400" dirty="0">
                  <a:latin typeface="+mn-ea"/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20366B5-613C-4FA2-A363-B85FBFFE2F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5818" y="1419672"/>
                <a:ext cx="4747133" cy="11951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3769446B-8A4B-4C24-AD4E-4915059C22DF}"/>
                  </a:ext>
                </a:extLst>
              </p:cNvPr>
              <p:cNvSpPr/>
              <p:nvPr/>
            </p:nvSpPr>
            <p:spPr>
              <a:xfrm>
                <a:off x="862645" y="4118163"/>
                <a:ext cx="7373936" cy="28847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CN" altLang="en-US" sz="2000" dirty="0">
                    <a:latin typeface="+mn-ea"/>
                  </a:rPr>
                  <a:t>泵的输出流量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+mn-ea"/>
                  </a:rPr>
                  <a:t>越小，限压式变量泵的压力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+mn-ea"/>
                  </a:rPr>
                  <a:t>越高，泵的泄漏损失越大。</a:t>
                </a:r>
                <a:endParaRPr lang="en-US" altLang="zh-CN" sz="2000" dirty="0">
                  <a:latin typeface="+mn-ea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CN" altLang="en-US" sz="2000" dirty="0">
                    <a:latin typeface="+mn-ea"/>
                  </a:rPr>
                  <a:t>因此</a:t>
                </a:r>
                <a:r>
                  <a:rPr lang="en-US" altLang="zh-CN" sz="2000" dirty="0">
                    <a:latin typeface="+mn-ea"/>
                  </a:rPr>
                  <a:t>,</a:t>
                </a:r>
                <a:r>
                  <a:rPr lang="zh-CN" altLang="en-US" sz="2000" b="1" dirty="0">
                    <a:solidFill>
                      <a:srgbClr val="0000FF"/>
                    </a:solidFill>
                    <a:latin typeface="+mn-ea"/>
                  </a:rPr>
                  <a:t>在速度小（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1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altLang="zh-CN" sz="2000" b="1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zh-CN" altLang="en-US" sz="2000" b="1" dirty="0">
                    <a:solidFill>
                      <a:srgbClr val="0000FF"/>
                    </a:solidFill>
                    <a:latin typeface="+mn-ea"/>
                  </a:rPr>
                  <a:t>小</a:t>
                </a:r>
                <a:r>
                  <a:rPr lang="en-US" altLang="zh-CN" sz="2000" b="1" dirty="0">
                    <a:solidFill>
                      <a:srgbClr val="0000FF"/>
                    </a:solidFill>
                    <a:latin typeface="+mn-ea"/>
                  </a:rPr>
                  <a:t>)</a:t>
                </a:r>
                <a:r>
                  <a:rPr lang="zh-CN" altLang="en-US" sz="2000" b="1" dirty="0">
                    <a:solidFill>
                      <a:srgbClr val="0000FF"/>
                    </a:solidFill>
                    <a:latin typeface="+mn-ea"/>
                  </a:rPr>
                  <a:t>、负载小的场合下，这种回路效率较低。</a:t>
                </a:r>
                <a:endParaRPr lang="en-US" altLang="zh-CN" sz="2000" b="1" dirty="0">
                  <a:solidFill>
                    <a:srgbClr val="0000FF"/>
                  </a:solidFill>
                  <a:latin typeface="+mn-ea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CN" altLang="en-US" sz="2000" dirty="0">
                    <a:latin typeface="+mn-ea"/>
                  </a:rPr>
                  <a:t>最宜用在负载变化不大的中、小功率场合如机床进给系统等处。</a:t>
                </a:r>
                <a:endParaRPr lang="en-US" altLang="zh-CN" sz="2000" dirty="0">
                  <a:latin typeface="+mn-ea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zh-CN" sz="2000" b="1" dirty="0">
                  <a:latin typeface="+mn-ea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3769446B-8A4B-4C24-AD4E-4915059C22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645" y="4118163"/>
                <a:ext cx="7373936" cy="2884764"/>
              </a:xfrm>
              <a:prstGeom prst="rect">
                <a:avLst/>
              </a:prstGeom>
              <a:blipFill>
                <a:blip r:embed="rId3"/>
                <a:stretch>
                  <a:fillRect l="-744" r="-42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5F0531BA-9B51-4611-8BD8-2D051CA42842}"/>
                  </a:ext>
                </a:extLst>
              </p:cNvPr>
              <p:cNvSpPr/>
              <p:nvPr/>
            </p:nvSpPr>
            <p:spPr>
              <a:xfrm>
                <a:off x="3209772" y="3429000"/>
                <a:ext cx="2319225" cy="68916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CN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altLang="zh-CN" sz="2400" dirty="0">
                  <a:latin typeface="+mn-ea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5F0531BA-9B51-4611-8BD8-2D051CA428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9772" y="3429000"/>
                <a:ext cx="2319225" cy="6891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图片 13">
            <a:extLst>
              <a:ext uri="{FF2B5EF4-FFF2-40B4-BE49-F238E27FC236}">
                <a16:creationId xmlns:a16="http://schemas.microsoft.com/office/drawing/2014/main" id="{608D3A79-D972-4EC7-89FB-BDE9E89FA51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58" t="1424" r="12655" b="7413"/>
          <a:stretch/>
        </p:blipFill>
        <p:spPr>
          <a:xfrm>
            <a:off x="8019875" y="1244199"/>
            <a:ext cx="3342273" cy="4859633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1491A193-185D-4405-B722-FDA48CE01B2C}"/>
              </a:ext>
            </a:extLst>
          </p:cNvPr>
          <p:cNvSpPr/>
          <p:nvPr/>
        </p:nvSpPr>
        <p:spPr>
          <a:xfrm>
            <a:off x="1150050" y="751419"/>
            <a:ext cx="6733057" cy="662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定压式容积节流调速回路功率特性</a:t>
            </a:r>
            <a:endParaRPr lang="en-US" altLang="zh-CN" sz="2800" dirty="0">
              <a:latin typeface="+mn-ea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2037975-2981-4AD1-83EE-2B98B427DD79}"/>
              </a:ext>
            </a:extLst>
          </p:cNvPr>
          <p:cNvSpPr txBox="1">
            <a:spLocks/>
          </p:cNvSpPr>
          <p:nvPr/>
        </p:nvSpPr>
        <p:spPr bwMode="auto">
          <a:xfrm>
            <a:off x="8304144" y="5756730"/>
            <a:ext cx="3194772" cy="34710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定压式容积节流调速回路</a:t>
            </a:r>
            <a:endParaRPr lang="en-US" altLang="zh-CN" sz="1800" kern="0" dirty="0">
              <a:latin typeface="+mn-ea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A75873E-9048-4978-B355-E27F18C8D8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9270" y="4198811"/>
            <a:ext cx="2434248" cy="1557919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8413B51C-8C9C-4AEC-B946-7F29DD6005DE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23/35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4675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F0F918BE-248A-422F-B7AB-BD5ABFC5BF2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9983"/>
          <a:stretch/>
        </p:blipFill>
        <p:spPr>
          <a:xfrm>
            <a:off x="4399140" y="1253823"/>
            <a:ext cx="4657248" cy="5056912"/>
          </a:xfrm>
          <a:prstGeom prst="rect">
            <a:avLst/>
          </a:prstGeom>
          <a:ln>
            <a:noFill/>
            <a:tailEnd type="triangle"/>
          </a:ln>
        </p:spPr>
      </p:pic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5917004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变压式容积节流调速回路工作原理</a:t>
            </a: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32119DC0-43BA-4B78-AF86-622ED29FAB1A}"/>
              </a:ext>
            </a:extLst>
          </p:cNvPr>
          <p:cNvSpPr txBox="1">
            <a:spLocks/>
          </p:cNvSpPr>
          <p:nvPr/>
        </p:nvSpPr>
        <p:spPr>
          <a:xfrm>
            <a:off x="4011395" y="-189458"/>
            <a:ext cx="6480720" cy="62068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zh-CN" altLang="en-US" dirty="0">
              <a:latin typeface="+mn-ea"/>
              <a:ea typeface="+mn-ea"/>
            </a:endParaRP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8AFCF74-F7A9-4D37-AF97-DAD64752D522}"/>
              </a:ext>
            </a:extLst>
          </p:cNvPr>
          <p:cNvSpPr/>
          <p:nvPr/>
        </p:nvSpPr>
        <p:spPr>
          <a:xfrm>
            <a:off x="4915813" y="3922950"/>
            <a:ext cx="1046420" cy="1095460"/>
          </a:xfrm>
          <a:custGeom>
            <a:avLst/>
            <a:gdLst>
              <a:gd name="connsiteX0" fmla="*/ 717177 w 717177"/>
              <a:gd name="connsiteY0" fmla="*/ 0 h 744071"/>
              <a:gd name="connsiteX1" fmla="*/ 0 w 717177"/>
              <a:gd name="connsiteY1" fmla="*/ 0 h 744071"/>
              <a:gd name="connsiteX2" fmla="*/ 0 w 717177"/>
              <a:gd name="connsiteY2" fmla="*/ 744071 h 744071"/>
              <a:gd name="connsiteX3" fmla="*/ 107577 w 717177"/>
              <a:gd name="connsiteY3" fmla="*/ 744071 h 744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177" h="744071">
                <a:moveTo>
                  <a:pt x="717177" y="0"/>
                </a:moveTo>
                <a:lnTo>
                  <a:pt x="0" y="0"/>
                </a:lnTo>
                <a:lnTo>
                  <a:pt x="0" y="744071"/>
                </a:lnTo>
                <a:lnTo>
                  <a:pt x="107577" y="744071"/>
                </a:lnTo>
              </a:path>
            </a:pathLst>
          </a:custGeom>
          <a:noFill/>
          <a:ln w="28575">
            <a:solidFill>
              <a:schemeClr val="accent2"/>
            </a:solidFill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e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52605E-81FD-4F26-8328-0AC8FD55F2A5}"/>
              </a:ext>
            </a:extLst>
          </p:cNvPr>
          <p:cNvSpPr/>
          <p:nvPr/>
        </p:nvSpPr>
        <p:spPr>
          <a:xfrm>
            <a:off x="3574934" y="5116109"/>
            <a:ext cx="121058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0000FF"/>
                </a:solidFill>
                <a:latin typeface="+mn-ea"/>
              </a:rPr>
              <a:t>稳流量泵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01AACFA-5D4F-473E-86D7-6E12BA4B1FC5}"/>
              </a:ext>
            </a:extLst>
          </p:cNvPr>
          <p:cNvSpPr/>
          <p:nvPr/>
        </p:nvSpPr>
        <p:spPr>
          <a:xfrm>
            <a:off x="2288546" y="2978503"/>
            <a:ext cx="356289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latin typeface="+mn-ea"/>
              </a:rPr>
              <a:t>节流阀控制着进入液压缸的流量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436CCA9-6287-4766-92AF-08966B29109B}"/>
                  </a:ext>
                </a:extLst>
              </p:cNvPr>
              <p:cNvSpPr/>
              <p:nvPr/>
            </p:nvSpPr>
            <p:spPr>
              <a:xfrm>
                <a:off x="2026519" y="5919987"/>
                <a:ext cx="3773405" cy="39074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dirty="0">
                    <a:latin typeface="+mn-ea"/>
                  </a:rPr>
                  <a:t>变量泵输出流量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 dirty="0">
                    <a:latin typeface="+mn-ea"/>
                  </a:rPr>
                  <a:t>自动和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dirty="0">
                    <a:latin typeface="+mn-ea"/>
                  </a:rPr>
                  <a:t>适应</a:t>
                </a: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436CCA9-6287-4766-92AF-08966B2910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6519" y="5919987"/>
                <a:ext cx="3773405" cy="390748"/>
              </a:xfrm>
              <a:prstGeom prst="rect">
                <a:avLst/>
              </a:prstGeom>
              <a:blipFill>
                <a:blip r:embed="rId4"/>
                <a:stretch>
                  <a:fillRect l="-1292" t="-7813" b="-18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64A1DC9D-A814-442E-93E8-8C52BF8AEA7E}"/>
                  </a:ext>
                </a:extLst>
              </p:cNvPr>
              <p:cNvSpPr/>
              <p:nvPr/>
            </p:nvSpPr>
            <p:spPr>
              <a:xfrm>
                <a:off x="399205" y="3679020"/>
                <a:ext cx="4451628" cy="6741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dirty="0">
                    <a:latin typeface="+mn-ea"/>
                  </a:rPr>
                  <a:t>当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CN" altLang="en-US">
                        <a:latin typeface="Cambria Math" panose="02040503050406030204" pitchFamily="18" charset="0"/>
                      </a:rPr>
                      <m:t>时</m:t>
                    </m:r>
                  </m:oMath>
                </a14:m>
                <a:r>
                  <a:rPr lang="zh-CN" altLang="en-US" dirty="0">
                    <a:latin typeface="+mn-ea"/>
                  </a:rPr>
                  <a:t>，泵压力上升，柱塞推动定子向右，供油减少</a:t>
                </a: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64A1DC9D-A814-442E-93E8-8C52BF8AEA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05" y="3679020"/>
                <a:ext cx="4451628" cy="674159"/>
              </a:xfrm>
              <a:prstGeom prst="rect">
                <a:avLst/>
              </a:prstGeom>
              <a:blipFill>
                <a:blip r:embed="rId5"/>
                <a:stretch>
                  <a:fillRect l="-1094" t="-4545" b="-145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8D24B695-0BF2-4F4D-8C69-97D8619F356E}"/>
              </a:ext>
            </a:extLst>
          </p:cNvPr>
          <p:cNvSpPr/>
          <p:nvPr/>
        </p:nvSpPr>
        <p:spPr>
          <a:xfrm flipH="1">
            <a:off x="6037143" y="3922950"/>
            <a:ext cx="854572" cy="879436"/>
          </a:xfrm>
          <a:custGeom>
            <a:avLst/>
            <a:gdLst>
              <a:gd name="connsiteX0" fmla="*/ 717177 w 717177"/>
              <a:gd name="connsiteY0" fmla="*/ 0 h 744071"/>
              <a:gd name="connsiteX1" fmla="*/ 0 w 717177"/>
              <a:gd name="connsiteY1" fmla="*/ 0 h 744071"/>
              <a:gd name="connsiteX2" fmla="*/ 0 w 717177"/>
              <a:gd name="connsiteY2" fmla="*/ 744071 h 744071"/>
              <a:gd name="connsiteX3" fmla="*/ 107577 w 717177"/>
              <a:gd name="connsiteY3" fmla="*/ 744071 h 744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177" h="744071">
                <a:moveTo>
                  <a:pt x="717177" y="0"/>
                </a:moveTo>
                <a:lnTo>
                  <a:pt x="0" y="0"/>
                </a:lnTo>
                <a:lnTo>
                  <a:pt x="0" y="744071"/>
                </a:lnTo>
                <a:lnTo>
                  <a:pt x="107577" y="744071"/>
                </a:lnTo>
              </a:path>
            </a:pathLst>
          </a:custGeom>
          <a:noFill/>
          <a:ln w="28575">
            <a:solidFill>
              <a:schemeClr val="accent2"/>
            </a:solidFill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7862C32-69DF-44D3-A91E-D976EC30E7D6}"/>
                  </a:ext>
                </a:extLst>
              </p:cNvPr>
              <p:cNvSpPr/>
              <p:nvPr/>
            </p:nvSpPr>
            <p:spPr>
              <a:xfrm>
                <a:off x="399205" y="4507070"/>
                <a:ext cx="4233122" cy="66774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dirty="0">
                    <a:latin typeface="+mn-ea"/>
                  </a:rPr>
                  <a:t>当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dirty="0">
                    <a:latin typeface="+mn-ea"/>
                  </a:rPr>
                  <a:t>时，泵压力下降，弹簧推动定子和柱塞向左</a:t>
                </a:r>
                <a:r>
                  <a:rPr lang="en-US" altLang="zh-CN" dirty="0">
                    <a:latin typeface="+mn-ea"/>
                  </a:rPr>
                  <a:t>,</a:t>
                </a:r>
                <a:r>
                  <a:rPr lang="zh-CN" altLang="en-US" dirty="0">
                    <a:latin typeface="+mn-ea"/>
                  </a:rPr>
                  <a:t>供油增加</a:t>
                </a: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7862C32-69DF-44D3-A91E-D976EC30E7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05" y="4507070"/>
                <a:ext cx="4233122" cy="667747"/>
              </a:xfrm>
              <a:prstGeom prst="rect">
                <a:avLst/>
              </a:prstGeom>
              <a:blipFill>
                <a:blip r:embed="rId6"/>
                <a:stretch>
                  <a:fillRect l="-1151" t="-4545" b="-136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矩形 19">
            <a:extLst>
              <a:ext uri="{FF2B5EF4-FFF2-40B4-BE49-F238E27FC236}">
                <a16:creationId xmlns:a16="http://schemas.microsoft.com/office/drawing/2014/main" id="{A59963BC-FCD8-4B46-82C8-7D6B9BDE9402}"/>
              </a:ext>
            </a:extLst>
          </p:cNvPr>
          <p:cNvSpPr/>
          <p:nvPr/>
        </p:nvSpPr>
        <p:spPr>
          <a:xfrm>
            <a:off x="4915814" y="6478128"/>
            <a:ext cx="935630" cy="297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1B842E6-70F1-4D9D-AD68-CEDA77B64A57}"/>
              </a:ext>
            </a:extLst>
          </p:cNvPr>
          <p:cNvSpPr txBox="1">
            <a:spLocks/>
          </p:cNvSpPr>
          <p:nvPr/>
        </p:nvSpPr>
        <p:spPr bwMode="auto">
          <a:xfrm>
            <a:off x="4915813" y="6188945"/>
            <a:ext cx="4721182" cy="34710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变压式容积节流调速回路</a:t>
            </a:r>
            <a:endParaRPr lang="en-US" altLang="zh-CN" sz="1800" kern="0" dirty="0">
              <a:latin typeface="+mn-ea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0DDECBF-335C-43A0-B548-ECFEDE49F172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24/35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04997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609518" y="759357"/>
            <a:ext cx="5917004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变压式容积节流调速回路工作特性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FE950EBD-D485-4A3F-A4AF-4DCCE1D922B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7822"/>
          <a:stretch/>
        </p:blipFill>
        <p:spPr>
          <a:xfrm>
            <a:off x="6880844" y="919739"/>
            <a:ext cx="4171891" cy="4652298"/>
          </a:xfrm>
          <a:prstGeom prst="rect">
            <a:avLst/>
          </a:prstGeom>
        </p:spPr>
      </p:pic>
      <p:sp>
        <p:nvSpPr>
          <p:cNvPr id="24" name="矩形 23">
            <a:extLst>
              <a:ext uri="{FF2B5EF4-FFF2-40B4-BE49-F238E27FC236}">
                <a16:creationId xmlns:a16="http://schemas.microsoft.com/office/drawing/2014/main" id="{AF9C3F17-00F3-47FE-A59E-0BCF02E08876}"/>
              </a:ext>
            </a:extLst>
          </p:cNvPr>
          <p:cNvSpPr/>
          <p:nvPr/>
        </p:nvSpPr>
        <p:spPr>
          <a:xfrm>
            <a:off x="796364" y="2604112"/>
            <a:ext cx="5582279" cy="9612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节流阀两端的压差基本由作用在稳流量泵控制柱塞上的弹簧力确定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B5931-F3E5-4E0D-89F0-8E0AD1DD5113}"/>
              </a:ext>
            </a:extLst>
          </p:cNvPr>
          <p:cNvSpPr/>
          <p:nvPr/>
        </p:nvSpPr>
        <p:spPr>
          <a:xfrm>
            <a:off x="835696" y="1586866"/>
            <a:ext cx="5336504" cy="9612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输入液压缸的流量基本上不受负载变化的影响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AC73F76A-AD3A-4D00-B351-CE8A2ECA44E9}"/>
              </a:ext>
            </a:extLst>
          </p:cNvPr>
          <p:cNvSpPr/>
          <p:nvPr/>
        </p:nvSpPr>
        <p:spPr>
          <a:xfrm flipH="1">
            <a:off x="8352436" y="3368011"/>
            <a:ext cx="782564" cy="822070"/>
          </a:xfrm>
          <a:custGeom>
            <a:avLst/>
            <a:gdLst>
              <a:gd name="connsiteX0" fmla="*/ 717177 w 717177"/>
              <a:gd name="connsiteY0" fmla="*/ 0 h 744071"/>
              <a:gd name="connsiteX1" fmla="*/ 0 w 717177"/>
              <a:gd name="connsiteY1" fmla="*/ 0 h 744071"/>
              <a:gd name="connsiteX2" fmla="*/ 0 w 717177"/>
              <a:gd name="connsiteY2" fmla="*/ 744071 h 744071"/>
              <a:gd name="connsiteX3" fmla="*/ 107577 w 717177"/>
              <a:gd name="connsiteY3" fmla="*/ 744071 h 744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177" h="744071">
                <a:moveTo>
                  <a:pt x="717177" y="0"/>
                </a:moveTo>
                <a:lnTo>
                  <a:pt x="0" y="0"/>
                </a:lnTo>
                <a:lnTo>
                  <a:pt x="0" y="744071"/>
                </a:lnTo>
                <a:lnTo>
                  <a:pt x="107577" y="744071"/>
                </a:lnTo>
              </a:path>
            </a:pathLst>
          </a:custGeom>
          <a:noFill/>
          <a:ln w="28575">
            <a:solidFill>
              <a:schemeClr val="accent2"/>
            </a:solidFill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ea"/>
            </a:endParaRPr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5373EC8-90E5-4D2D-8A51-FA2C4B78ACFE}"/>
              </a:ext>
            </a:extLst>
          </p:cNvPr>
          <p:cNvSpPr/>
          <p:nvPr/>
        </p:nvSpPr>
        <p:spPr>
          <a:xfrm flipH="1">
            <a:off x="8352435" y="2045924"/>
            <a:ext cx="1090283" cy="2144157"/>
          </a:xfrm>
          <a:custGeom>
            <a:avLst/>
            <a:gdLst>
              <a:gd name="connsiteX0" fmla="*/ 717177 w 717177"/>
              <a:gd name="connsiteY0" fmla="*/ 0 h 744071"/>
              <a:gd name="connsiteX1" fmla="*/ 0 w 717177"/>
              <a:gd name="connsiteY1" fmla="*/ 0 h 744071"/>
              <a:gd name="connsiteX2" fmla="*/ 0 w 717177"/>
              <a:gd name="connsiteY2" fmla="*/ 744071 h 744071"/>
              <a:gd name="connsiteX3" fmla="*/ 107577 w 717177"/>
              <a:gd name="connsiteY3" fmla="*/ 744071 h 744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177" h="744071">
                <a:moveTo>
                  <a:pt x="717177" y="0"/>
                </a:moveTo>
                <a:lnTo>
                  <a:pt x="0" y="0"/>
                </a:lnTo>
                <a:lnTo>
                  <a:pt x="0" y="744071"/>
                </a:lnTo>
                <a:lnTo>
                  <a:pt x="107577" y="744071"/>
                </a:lnTo>
              </a:path>
            </a:pathLst>
          </a:custGeom>
          <a:noFill/>
          <a:ln w="28575">
            <a:solidFill>
              <a:schemeClr val="accent2"/>
            </a:solidFill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ea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115373-73E6-4B3A-8698-4D0840E0983B}"/>
              </a:ext>
            </a:extLst>
          </p:cNvPr>
          <p:cNvSpPr/>
          <p:nvPr/>
        </p:nvSpPr>
        <p:spPr>
          <a:xfrm>
            <a:off x="796365" y="3621358"/>
            <a:ext cx="5582278" cy="9612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+mn-ea"/>
              </a:rPr>
              <a:t>回路速度刚性、运动平稳性和承载能力都较好</a:t>
            </a:r>
          </a:p>
        </p:txBody>
      </p:sp>
      <p:sp>
        <p:nvSpPr>
          <p:cNvPr id="37" name="内容占位符 2">
            <a:extLst>
              <a:ext uri="{FF2B5EF4-FFF2-40B4-BE49-F238E27FC236}">
                <a16:creationId xmlns:a16="http://schemas.microsoft.com/office/drawing/2014/main" id="{C840DF11-2385-4F79-A50B-48EA00DAE5B4}"/>
              </a:ext>
            </a:extLst>
          </p:cNvPr>
          <p:cNvSpPr txBox="1">
            <a:spLocks/>
          </p:cNvSpPr>
          <p:nvPr/>
        </p:nvSpPr>
        <p:spPr bwMode="auto">
          <a:xfrm>
            <a:off x="759564" y="4638604"/>
            <a:ext cx="6441336" cy="15042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"/>
              <a:defRPr lang="en-US" sz="2400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3420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lvl="1">
              <a:lnSpc>
                <a:spcPct val="150000"/>
              </a:lnSpc>
            </a:pPr>
            <a:r>
              <a:rPr lang="zh-CN" altLang="en-US" b="1" kern="0" dirty="0">
                <a:solidFill>
                  <a:srgbClr val="0000FF"/>
                </a:solidFill>
                <a:latin typeface="+mn-ea"/>
                <a:ea typeface="+mn-ea"/>
              </a:rPr>
              <a:t>调速范围</a:t>
            </a:r>
            <a:r>
              <a:rPr lang="zh-CN" altLang="en-US" kern="0" dirty="0">
                <a:latin typeface="+mn-ea"/>
                <a:ea typeface="+mn-ea"/>
              </a:rPr>
              <a:t>：只受节流阀调速范围限制。</a:t>
            </a:r>
          </a:p>
          <a:p>
            <a:pPr lvl="1">
              <a:lnSpc>
                <a:spcPct val="150000"/>
              </a:lnSpc>
            </a:pPr>
            <a:r>
              <a:rPr lang="zh-CN" altLang="en-US" kern="0" dirty="0">
                <a:latin typeface="+mn-ea"/>
                <a:ea typeface="+mn-ea"/>
              </a:rPr>
              <a:t>能补偿由负载变化引起的泵的泄漏变化（稳流量），因此它在低速小流量的场合下使用显得特别优越。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459FA00-D6D5-4DE5-B544-82B26224E662}"/>
              </a:ext>
            </a:extLst>
          </p:cNvPr>
          <p:cNvSpPr txBox="1">
            <a:spLocks/>
          </p:cNvSpPr>
          <p:nvPr/>
        </p:nvSpPr>
        <p:spPr bwMode="auto">
          <a:xfrm>
            <a:off x="7100178" y="5572037"/>
            <a:ext cx="4332258" cy="100894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zh-CN" altLang="en-US" sz="1800" kern="0" dirty="0">
                <a:latin typeface="+mn-ea"/>
              </a:rPr>
              <a:t>变压式容积节流调速回路</a:t>
            </a:r>
            <a:endParaRPr lang="en-US" altLang="zh-CN" sz="1800" kern="0" dirty="0">
              <a:latin typeface="+mn-ea"/>
            </a:endParaRPr>
          </a:p>
          <a:p>
            <a:pPr marL="0" indent="0" algn="ctr">
              <a:buNone/>
            </a:pPr>
            <a:r>
              <a:rPr lang="en-US" altLang="zh-CN" sz="1600" kern="0" dirty="0">
                <a:latin typeface="+mn-ea"/>
              </a:rPr>
              <a:t>1-</a:t>
            </a:r>
            <a:r>
              <a:rPr lang="zh-CN" altLang="en-US" sz="1600" kern="0" dirty="0">
                <a:latin typeface="+mn-ea"/>
              </a:rPr>
              <a:t>稳流量泵   </a:t>
            </a:r>
            <a:r>
              <a:rPr lang="en-US" altLang="zh-CN" sz="1600" kern="0" dirty="0">
                <a:latin typeface="+mn-ea"/>
              </a:rPr>
              <a:t>2-</a:t>
            </a:r>
            <a:r>
              <a:rPr lang="zh-CN" altLang="en-US" sz="1600" kern="0" dirty="0">
                <a:latin typeface="+mn-ea"/>
              </a:rPr>
              <a:t>节流阀  </a:t>
            </a:r>
            <a:r>
              <a:rPr lang="en-US" altLang="zh-CN" sz="1600" kern="0" dirty="0">
                <a:latin typeface="+mn-ea"/>
              </a:rPr>
              <a:t>4-</a:t>
            </a:r>
            <a:r>
              <a:rPr lang="zh-CN" altLang="en-US" sz="1600" kern="0" dirty="0">
                <a:latin typeface="+mn-ea"/>
              </a:rPr>
              <a:t>背压阀 </a:t>
            </a:r>
            <a:r>
              <a:rPr lang="en-US" altLang="zh-CN" sz="1600" kern="0" dirty="0">
                <a:latin typeface="+mn-ea"/>
              </a:rPr>
              <a:t>5-</a:t>
            </a:r>
            <a:r>
              <a:rPr lang="zh-CN" altLang="en-US" sz="1600" kern="0" dirty="0">
                <a:latin typeface="+mn-ea"/>
              </a:rPr>
              <a:t>安全阀</a:t>
            </a:r>
            <a:endParaRPr lang="en-US" altLang="zh-CN" sz="1600" kern="0" dirty="0">
              <a:latin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CC221A1-A89F-4C6C-89A9-64BDF128D9A7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25/35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53839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4480714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变压式容积节流调速回路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内容占位符 2">
                <a:extLst>
                  <a:ext uri="{FF2B5EF4-FFF2-40B4-BE49-F238E27FC236}">
                    <a16:creationId xmlns:a16="http://schemas.microsoft.com/office/drawing/2014/main" id="{F72DAB08-76F7-43C8-98ED-25910FC163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0437" y="1566564"/>
                <a:ext cx="10646063" cy="4669136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1" algn="just">
                  <a:lnSpc>
                    <a:spcPct val="150000"/>
                  </a:lnSpc>
                </a:pPr>
                <a:r>
                  <a:rPr lang="zh-CN" altLang="en-US" sz="2000" dirty="0">
                    <a:latin typeface="+mn-ea"/>
                  </a:rPr>
                  <a:t>容积式节流调速回路不但</a:t>
                </a:r>
                <a:r>
                  <a:rPr lang="zh-CN" altLang="en-US" sz="2000" b="1" dirty="0">
                    <a:solidFill>
                      <a:srgbClr val="0000FF"/>
                    </a:solidFill>
                    <a:latin typeface="+mn-ea"/>
                  </a:rPr>
                  <a:t>没有溢流损失</a:t>
                </a:r>
                <a:r>
                  <a:rPr lang="zh-CN" altLang="en-US" sz="2000" dirty="0">
                    <a:latin typeface="+mn-ea"/>
                  </a:rPr>
                  <a:t>，而且泵的供</a:t>
                </a:r>
                <a:r>
                  <a:rPr lang="zh-CN" altLang="en-US" sz="2000" b="1" dirty="0">
                    <a:solidFill>
                      <a:srgbClr val="0000FF"/>
                    </a:solidFill>
                    <a:latin typeface="+mn-ea"/>
                  </a:rPr>
                  <a:t>油压力随负载而变化</a:t>
                </a:r>
                <a:r>
                  <a:rPr lang="zh-CN" altLang="en-US" sz="2000" dirty="0">
                    <a:latin typeface="+mn-ea"/>
                  </a:rPr>
                  <a:t>，回路中的功率损失</a:t>
                </a:r>
                <a:r>
                  <a:rPr lang="zh-CN" altLang="en-US" sz="2000" b="1" dirty="0">
                    <a:solidFill>
                      <a:srgbClr val="C00000"/>
                    </a:solidFill>
                    <a:latin typeface="+mn-ea"/>
                  </a:rPr>
                  <a:t>只有节流阀处压降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𝚫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+mn-ea"/>
                  </a:rPr>
                  <a:t>所造成的节流损失一项，它比定压式容积节流调速回路调速阀处的节流损失还要小，因此发热少，效率高。</a:t>
                </a:r>
                <a:endParaRPr lang="en-US" altLang="zh-CN" sz="2000" dirty="0">
                  <a:latin typeface="+mn-ea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zh-CN" altLang="en-US" sz="2000" dirty="0">
                    <a:latin typeface="+mn-ea"/>
                  </a:rPr>
                  <a:t>这种回路当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200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CN" altLang="en-US" sz="2000" i="1">
                        <a:latin typeface="Cambria Math" panose="02040503050406030204" pitchFamily="18" charset="0"/>
                      </a:rPr>
                      <m:t>时</m:t>
                    </m:r>
                  </m:oMath>
                </a14:m>
                <a:r>
                  <a:rPr lang="zh-CN" altLang="en-US" sz="2000" dirty="0">
                    <a:latin typeface="+mn-ea"/>
                  </a:rPr>
                  <a:t>的效率表达式为：</a:t>
                </a:r>
                <a:br>
                  <a:rPr lang="en-US" altLang="zh-CN" sz="2000" dirty="0">
                    <a:latin typeface="+mn-ea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altLang="zh-CN" sz="200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altLang="zh-CN" sz="20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den>
                    </m:f>
                    <m:r>
                      <a:rPr lang="en-US" altLang="zh-CN" sz="20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CN" sz="2000" smtClean="0"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</m:oMath>
                </a14:m>
                <a:endParaRPr lang="en-US" altLang="zh-CN" sz="2000" dirty="0">
                  <a:latin typeface="+mn-ea"/>
                  <a:cs typeface="Times New Roman" panose="02020603050405020304" pitchFamily="18" charset="0"/>
                </a:endParaRPr>
              </a:p>
              <a:p>
                <a:pPr lvl="1" algn="just">
                  <a:lnSpc>
                    <a:spcPct val="150000"/>
                  </a:lnSpc>
                </a:pPr>
                <a:r>
                  <a:rPr lang="zh-CN" altLang="en-US" sz="2000" dirty="0">
                    <a:latin typeface="+mn-ea"/>
                  </a:rPr>
                  <a:t>这种回路宜用在负载变化大、速度较低的中小功率场合，如某系额组合机床的进给系统中。</a:t>
                </a:r>
              </a:p>
            </p:txBody>
          </p:sp>
        </mc:Choice>
        <mc:Fallback xmlns="">
          <p:sp>
            <p:nvSpPr>
              <p:cNvPr id="19" name="内容占位符 2">
                <a:extLst>
                  <a:ext uri="{FF2B5EF4-FFF2-40B4-BE49-F238E27FC236}">
                    <a16:creationId xmlns:a16="http://schemas.microsoft.com/office/drawing/2014/main" id="{F72DAB08-76F7-43C8-98ED-25910FC16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37" y="1566564"/>
                <a:ext cx="10646063" cy="4669136"/>
              </a:xfrm>
              <a:prstGeom prst="rect">
                <a:avLst/>
              </a:prstGeom>
              <a:blipFill>
                <a:blip r:embed="rId2"/>
                <a:stretch>
                  <a:fillRect r="-5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37034948-2E38-47F3-97C0-3A8C1B4DC970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26/35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6017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4480714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变压式容积节流调速回路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E2B45E5D-7386-4C1F-B460-9BD7B5F3D1B1}"/>
              </a:ext>
            </a:extLst>
          </p:cNvPr>
          <p:cNvSpPr txBox="1">
            <a:spLocks/>
          </p:cNvSpPr>
          <p:nvPr/>
        </p:nvSpPr>
        <p:spPr>
          <a:xfrm>
            <a:off x="733910" y="1337941"/>
            <a:ext cx="10740613" cy="268619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2000" b="1" dirty="0">
                <a:latin typeface="+mn-ea"/>
              </a:rPr>
              <a:t>适用场合：</a:t>
            </a:r>
            <a:endParaRPr lang="en-US" altLang="zh-CN" sz="2000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定压式容积节流调速回路最宜用在负载变化不大的中、小功率场合如机床进给系统等处。</a:t>
            </a:r>
            <a:endParaRPr lang="en-US" altLang="zh-CN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变压式容积节流调速回路宜用在负载变化大、速度较低的中小功率场合。</a:t>
            </a:r>
          </a:p>
          <a:p>
            <a:pPr lvl="1">
              <a:lnSpc>
                <a:spcPct val="150000"/>
              </a:lnSpc>
            </a:pPr>
            <a:r>
              <a:rPr lang="zh-CN" altLang="en-US" sz="2000" dirty="0">
                <a:latin typeface="+mn-ea"/>
              </a:rPr>
              <a:t>液压泵的输出流量能与阀的调节流量自动匹配，节省能量消耗，因此也称</a:t>
            </a:r>
            <a:r>
              <a:rPr lang="zh-CN" altLang="en-US" sz="2000" dirty="0">
                <a:solidFill>
                  <a:srgbClr val="C00000"/>
                </a:solidFill>
                <a:latin typeface="+mn-ea"/>
              </a:rPr>
              <a:t>流量适应回路</a:t>
            </a:r>
            <a:r>
              <a:rPr lang="zh-CN" altLang="en-US" sz="2000" dirty="0">
                <a:latin typeface="+mn-ea"/>
              </a:rPr>
              <a:t>。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80BB804A-E756-4EDC-8442-E0C394F476B1}"/>
              </a:ext>
            </a:extLst>
          </p:cNvPr>
          <p:cNvSpPr txBox="1">
            <a:spLocks/>
          </p:cNvSpPr>
          <p:nvPr/>
        </p:nvSpPr>
        <p:spPr>
          <a:xfrm>
            <a:off x="717477" y="3517900"/>
            <a:ext cx="10966738" cy="28321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>
              <a:lnSpc>
                <a:spcPct val="150000"/>
              </a:lnSpc>
              <a:spcBef>
                <a:spcPts val="1000"/>
              </a:spcBef>
            </a:pPr>
            <a:r>
              <a:rPr lang="zh-CN" altLang="en-US" sz="2000" dirty="0">
                <a:latin typeface="+mn-ea"/>
              </a:rPr>
              <a:t>调速回路比较的依据：</a:t>
            </a:r>
            <a:endParaRPr lang="en-US" altLang="zh-CN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能在规定的调速范围内调节执行元件的工作速度。</a:t>
            </a:r>
            <a:r>
              <a:rPr lang="en-US" altLang="zh-CN" sz="2000" dirty="0">
                <a:latin typeface="+mn-ea"/>
              </a:rPr>
              <a:t>【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调速特性</a:t>
            </a:r>
            <a:r>
              <a:rPr lang="en-US" altLang="zh-CN" sz="2000" dirty="0">
                <a:latin typeface="+mn-ea"/>
              </a:rPr>
              <a:t>】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在负载变化时，已调好的速度变化越小越好，并应在允许的范围内变化。</a:t>
            </a:r>
            <a:r>
              <a:rPr lang="en-US" altLang="zh-CN" sz="2000" dirty="0">
                <a:latin typeface="+mn-ea"/>
              </a:rPr>
              <a:t>【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速度刚性</a:t>
            </a:r>
            <a:r>
              <a:rPr lang="en-US" altLang="zh-CN" sz="2000" dirty="0">
                <a:latin typeface="+mn-ea"/>
              </a:rPr>
              <a:t>】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具有驱动执行元件所需的力或转矩。</a:t>
            </a:r>
            <a:r>
              <a:rPr lang="en-US" altLang="zh-CN" sz="2000" dirty="0">
                <a:latin typeface="+mn-ea"/>
              </a:rPr>
              <a:t>【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承载能力</a:t>
            </a:r>
            <a:r>
              <a:rPr lang="en-US" altLang="zh-CN" sz="2000" dirty="0">
                <a:latin typeface="+mn-ea"/>
              </a:rPr>
              <a:t>】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使功率损失尽可能小，效率尽可能高，发热尽可能小（保证运动平稳性）。</a:t>
            </a:r>
            <a:r>
              <a:rPr lang="en-US" altLang="zh-CN" sz="2000" dirty="0">
                <a:latin typeface="+mn-ea"/>
              </a:rPr>
              <a:t>【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</a:rPr>
              <a:t>功率特性</a:t>
            </a:r>
            <a:r>
              <a:rPr lang="en-US" altLang="zh-CN" sz="2000" dirty="0">
                <a:latin typeface="+mn-ea"/>
              </a:rPr>
              <a:t>】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3AA60E-7E5B-48E1-8782-22D8C2CFC731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27/35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388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245C-0362-E801-3E5D-81E818E9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9E8F71F3-ACE8-4EED-8786-179585E85F22}"/>
              </a:ext>
            </a:extLst>
          </p:cNvPr>
          <p:cNvSpPr/>
          <p:nvPr/>
        </p:nvSpPr>
        <p:spPr>
          <a:xfrm>
            <a:off x="1150050" y="751419"/>
            <a:ext cx="3044423" cy="662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0" hangingPunct="0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Char char=""/>
            </a:pPr>
            <a:r>
              <a:rPr lang="zh-CN" altLang="en-US" sz="2800" dirty="0">
                <a:latin typeface="+mn-ea"/>
              </a:rPr>
              <a:t>调速回路的选用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C06D6BFB-7694-4F30-8DB5-CA2F1AF5B0F8}"/>
              </a:ext>
            </a:extLst>
          </p:cNvPr>
          <p:cNvGrpSpPr/>
          <p:nvPr/>
        </p:nvGrpSpPr>
        <p:grpSpPr>
          <a:xfrm>
            <a:off x="1026367" y="1279533"/>
            <a:ext cx="10748866" cy="5469951"/>
            <a:chOff x="516186" y="1206508"/>
            <a:chExt cx="9192964" cy="5469951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48AB5EA9-269D-4ADF-A52E-484289C8ABA8}"/>
                </a:ext>
              </a:extLst>
            </p:cNvPr>
            <p:cNvSpPr/>
            <p:nvPr/>
          </p:nvSpPr>
          <p:spPr>
            <a:xfrm>
              <a:off x="516187" y="1324725"/>
              <a:ext cx="1679548" cy="2231275"/>
            </a:xfrm>
            <a:custGeom>
              <a:avLst/>
              <a:gdLst>
                <a:gd name="connsiteX0" fmla="*/ 0 w 1718126"/>
                <a:gd name="connsiteY0" fmla="*/ 0 h 1296149"/>
                <a:gd name="connsiteX1" fmla="*/ 1070052 w 1718126"/>
                <a:gd name="connsiteY1" fmla="*/ 0 h 1296149"/>
                <a:gd name="connsiteX2" fmla="*/ 1718126 w 1718126"/>
                <a:gd name="connsiteY2" fmla="*/ 648075 h 1296149"/>
                <a:gd name="connsiteX3" fmla="*/ 1070052 w 1718126"/>
                <a:gd name="connsiteY3" fmla="*/ 1296149 h 1296149"/>
                <a:gd name="connsiteX4" fmla="*/ 0 w 1718126"/>
                <a:gd name="connsiteY4" fmla="*/ 1296149 h 1296149"/>
                <a:gd name="connsiteX5" fmla="*/ 648075 w 1718126"/>
                <a:gd name="connsiteY5" fmla="*/ 648075 h 1296149"/>
                <a:gd name="connsiteX6" fmla="*/ 0 w 1718126"/>
                <a:gd name="connsiteY6" fmla="*/ 0 h 1296149"/>
                <a:gd name="connsiteX0" fmla="*/ 1718124 w 1718124"/>
                <a:gd name="connsiteY0" fmla="*/ 0 h 1296149"/>
                <a:gd name="connsiteX1" fmla="*/ 1718124 w 1718124"/>
                <a:gd name="connsiteY1" fmla="*/ 807244 h 1296149"/>
                <a:gd name="connsiteX2" fmla="*/ 859061 w 1718124"/>
                <a:gd name="connsiteY2" fmla="*/ 1296149 h 1296149"/>
                <a:gd name="connsiteX3" fmla="*/ 0 w 1718124"/>
                <a:gd name="connsiteY3" fmla="*/ 807244 h 1296149"/>
                <a:gd name="connsiteX4" fmla="*/ 0 w 1718124"/>
                <a:gd name="connsiteY4" fmla="*/ 0 h 1296149"/>
                <a:gd name="connsiteX5" fmla="*/ 868232 w 1718124"/>
                <a:gd name="connsiteY5" fmla="*/ 392195 h 1296149"/>
                <a:gd name="connsiteX6" fmla="*/ 1718124 w 1718124"/>
                <a:gd name="connsiteY6" fmla="*/ 0 h 1296149"/>
                <a:gd name="connsiteX0" fmla="*/ 1718124 w 1718124"/>
                <a:gd name="connsiteY0" fmla="*/ 0 h 1296149"/>
                <a:gd name="connsiteX1" fmla="*/ 1718124 w 1718124"/>
                <a:gd name="connsiteY1" fmla="*/ 807244 h 1296149"/>
                <a:gd name="connsiteX2" fmla="*/ 859061 w 1718124"/>
                <a:gd name="connsiteY2" fmla="*/ 1296149 h 1296149"/>
                <a:gd name="connsiteX3" fmla="*/ 0 w 1718124"/>
                <a:gd name="connsiteY3" fmla="*/ 933711 h 1296149"/>
                <a:gd name="connsiteX4" fmla="*/ 0 w 1718124"/>
                <a:gd name="connsiteY4" fmla="*/ 0 h 1296149"/>
                <a:gd name="connsiteX5" fmla="*/ 868232 w 1718124"/>
                <a:gd name="connsiteY5" fmla="*/ 392195 h 1296149"/>
                <a:gd name="connsiteX6" fmla="*/ 1718124 w 1718124"/>
                <a:gd name="connsiteY6" fmla="*/ 0 h 1296149"/>
                <a:gd name="connsiteX0" fmla="*/ 1718124 w 1718124"/>
                <a:gd name="connsiteY0" fmla="*/ 0 h 1296149"/>
                <a:gd name="connsiteX1" fmla="*/ 1718124 w 1718124"/>
                <a:gd name="connsiteY1" fmla="*/ 941150 h 1296149"/>
                <a:gd name="connsiteX2" fmla="*/ 859061 w 1718124"/>
                <a:gd name="connsiteY2" fmla="*/ 1296149 h 1296149"/>
                <a:gd name="connsiteX3" fmla="*/ 0 w 1718124"/>
                <a:gd name="connsiteY3" fmla="*/ 933711 h 1296149"/>
                <a:gd name="connsiteX4" fmla="*/ 0 w 1718124"/>
                <a:gd name="connsiteY4" fmla="*/ 0 h 1296149"/>
                <a:gd name="connsiteX5" fmla="*/ 868232 w 1718124"/>
                <a:gd name="connsiteY5" fmla="*/ 392195 h 1296149"/>
                <a:gd name="connsiteX6" fmla="*/ 1718124 w 1718124"/>
                <a:gd name="connsiteY6" fmla="*/ 0 h 1296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18124" h="1296149">
                  <a:moveTo>
                    <a:pt x="1718124" y="0"/>
                  </a:moveTo>
                  <a:lnTo>
                    <a:pt x="1718124" y="941150"/>
                  </a:lnTo>
                  <a:lnTo>
                    <a:pt x="859061" y="1296149"/>
                  </a:lnTo>
                  <a:lnTo>
                    <a:pt x="0" y="933711"/>
                  </a:lnTo>
                  <a:lnTo>
                    <a:pt x="0" y="0"/>
                  </a:lnTo>
                  <a:lnTo>
                    <a:pt x="868232" y="392195"/>
                  </a:lnTo>
                  <a:lnTo>
                    <a:pt x="171812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shade val="8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shade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0161" tIns="658236" rIns="10160" bIns="658234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150000"/>
                </a:lnSpc>
                <a:spcBef>
                  <a:spcPct val="0"/>
                </a:spcBef>
                <a:spcAft>
                  <a:spcPct val="35000"/>
                </a:spcAft>
                <a:buFont typeface="+mj-lt"/>
                <a:buNone/>
              </a:pPr>
              <a:r>
                <a:rPr lang="zh-CN" altLang="en-US" sz="2000" b="1" kern="1200" dirty="0">
                  <a:latin typeface="+mn-ea"/>
                </a:rPr>
                <a:t>执行元件的运动速度和负载性质</a:t>
              </a: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68D62578-12BC-4243-BA87-4DEFCECDF8BF}"/>
                </a:ext>
              </a:extLst>
            </p:cNvPr>
            <p:cNvSpPr/>
            <p:nvPr/>
          </p:nvSpPr>
          <p:spPr>
            <a:xfrm>
              <a:off x="2627783" y="1206508"/>
              <a:ext cx="7081366" cy="2501178"/>
            </a:xfrm>
            <a:custGeom>
              <a:avLst/>
              <a:gdLst>
                <a:gd name="connsiteX0" fmla="*/ 274187 w 1645092"/>
                <a:gd name="connsiteY0" fmla="*/ 0 h 6934215"/>
                <a:gd name="connsiteX1" fmla="*/ 1370905 w 1645092"/>
                <a:gd name="connsiteY1" fmla="*/ 0 h 6934215"/>
                <a:gd name="connsiteX2" fmla="*/ 1645092 w 1645092"/>
                <a:gd name="connsiteY2" fmla="*/ 274187 h 6934215"/>
                <a:gd name="connsiteX3" fmla="*/ 1645092 w 1645092"/>
                <a:gd name="connsiteY3" fmla="*/ 6934215 h 6934215"/>
                <a:gd name="connsiteX4" fmla="*/ 1645092 w 1645092"/>
                <a:gd name="connsiteY4" fmla="*/ 6934215 h 6934215"/>
                <a:gd name="connsiteX5" fmla="*/ 0 w 1645092"/>
                <a:gd name="connsiteY5" fmla="*/ 6934215 h 6934215"/>
                <a:gd name="connsiteX6" fmla="*/ 0 w 1645092"/>
                <a:gd name="connsiteY6" fmla="*/ 6934215 h 6934215"/>
                <a:gd name="connsiteX7" fmla="*/ 0 w 1645092"/>
                <a:gd name="connsiteY7" fmla="*/ 274187 h 6934215"/>
                <a:gd name="connsiteX8" fmla="*/ 274187 w 1645092"/>
                <a:gd name="connsiteY8" fmla="*/ 0 h 693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45092" h="6934215">
                  <a:moveTo>
                    <a:pt x="1645092" y="1155725"/>
                  </a:moveTo>
                  <a:lnTo>
                    <a:pt x="1645092" y="5778490"/>
                  </a:lnTo>
                  <a:cubicBezTo>
                    <a:pt x="1645092" y="6416777"/>
                    <a:pt x="1615968" y="6934213"/>
                    <a:pt x="1580043" y="6934213"/>
                  </a:cubicBezTo>
                  <a:lnTo>
                    <a:pt x="0" y="6934213"/>
                  </a:lnTo>
                  <a:lnTo>
                    <a:pt x="0" y="6934213"/>
                  </a:lnTo>
                  <a:lnTo>
                    <a:pt x="0" y="2"/>
                  </a:lnTo>
                  <a:lnTo>
                    <a:pt x="0" y="2"/>
                  </a:lnTo>
                  <a:lnTo>
                    <a:pt x="1580043" y="2"/>
                  </a:lnTo>
                  <a:cubicBezTo>
                    <a:pt x="1615968" y="2"/>
                    <a:pt x="1645092" y="517438"/>
                    <a:pt x="1645092" y="115572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9569" tIns="89197" rIns="89197" bIns="89198" numCol="1" spcCol="1270" anchor="ctr" anchorCtr="0">
              <a:noAutofit/>
            </a:bodyPr>
            <a:lstStyle/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速度低：节流调速回路</a:t>
              </a:r>
            </a:p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速度稳定性要求高：调速阀式调速回路</a:t>
              </a:r>
              <a:endParaRPr lang="en-US" altLang="zh-CN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速度稳定性要求低：节流阀式调速回路</a:t>
              </a:r>
              <a:endParaRPr lang="en-US" altLang="zh-CN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负载小、负载变化小：节流调速回路</a:t>
              </a:r>
              <a:endParaRPr lang="en-US" altLang="zh-CN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负载大、负载变化大：容积调速或容积节流调速回路</a:t>
              </a:r>
              <a:endParaRPr lang="en-US" altLang="zh-CN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9A338EDB-BB13-4866-AE94-AFC65E436608}"/>
                </a:ext>
              </a:extLst>
            </p:cNvPr>
            <p:cNvSpPr/>
            <p:nvPr/>
          </p:nvSpPr>
          <p:spPr>
            <a:xfrm>
              <a:off x="516186" y="3903398"/>
              <a:ext cx="1679550" cy="1397315"/>
            </a:xfrm>
            <a:custGeom>
              <a:avLst/>
              <a:gdLst>
                <a:gd name="connsiteX0" fmla="*/ 0 w 1718126"/>
                <a:gd name="connsiteY0" fmla="*/ 0 h 1202688"/>
                <a:gd name="connsiteX1" fmla="*/ 1116782 w 1718126"/>
                <a:gd name="connsiteY1" fmla="*/ 0 h 1202688"/>
                <a:gd name="connsiteX2" fmla="*/ 1718126 w 1718126"/>
                <a:gd name="connsiteY2" fmla="*/ 601344 h 1202688"/>
                <a:gd name="connsiteX3" fmla="*/ 1116782 w 1718126"/>
                <a:gd name="connsiteY3" fmla="*/ 1202688 h 1202688"/>
                <a:gd name="connsiteX4" fmla="*/ 0 w 1718126"/>
                <a:gd name="connsiteY4" fmla="*/ 1202688 h 1202688"/>
                <a:gd name="connsiteX5" fmla="*/ 601344 w 1718126"/>
                <a:gd name="connsiteY5" fmla="*/ 601344 h 1202688"/>
                <a:gd name="connsiteX6" fmla="*/ 0 w 1718126"/>
                <a:gd name="connsiteY6" fmla="*/ 0 h 1202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18126" h="1202688">
                  <a:moveTo>
                    <a:pt x="1718126" y="0"/>
                  </a:moveTo>
                  <a:lnTo>
                    <a:pt x="1718126" y="781747"/>
                  </a:lnTo>
                  <a:lnTo>
                    <a:pt x="859063" y="1202688"/>
                  </a:lnTo>
                  <a:lnTo>
                    <a:pt x="0" y="781747"/>
                  </a:lnTo>
                  <a:lnTo>
                    <a:pt x="0" y="0"/>
                  </a:lnTo>
                  <a:lnTo>
                    <a:pt x="859063" y="420941"/>
                  </a:lnTo>
                  <a:lnTo>
                    <a:pt x="1718126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80000"/>
                <a:hueOff val="-286837"/>
                <a:satOff val="-24292"/>
                <a:lumOff val="18155"/>
                <a:alphaOff val="0"/>
              </a:schemeClr>
            </a:lnRef>
            <a:fillRef idx="1">
              <a:schemeClr val="accent1">
                <a:shade val="80000"/>
                <a:hueOff val="-286837"/>
                <a:satOff val="-24292"/>
                <a:lumOff val="18155"/>
                <a:alphaOff val="0"/>
              </a:schemeClr>
            </a:fillRef>
            <a:effectRef idx="0">
              <a:schemeClr val="accent1">
                <a:shade val="80000"/>
                <a:hueOff val="-286837"/>
                <a:satOff val="-24292"/>
                <a:lumOff val="1815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0160" tIns="611504" rIns="10160" bIns="611504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150000"/>
                </a:lnSpc>
                <a:spcBef>
                  <a:spcPct val="0"/>
                </a:spcBef>
                <a:spcAft>
                  <a:spcPct val="35000"/>
                </a:spcAft>
                <a:buFont typeface="+mj-lt"/>
                <a:buNone/>
              </a:pPr>
              <a:r>
                <a:rPr lang="zh-CN" altLang="en-US" sz="2000" b="1" kern="1200" dirty="0">
                  <a:latin typeface="+mn-ea"/>
                </a:rPr>
                <a:t>功率大小</a:t>
              </a: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BF734FC6-E7A7-46D6-AE29-AF7D54C15EC5}"/>
                </a:ext>
              </a:extLst>
            </p:cNvPr>
            <p:cNvSpPr/>
            <p:nvPr/>
          </p:nvSpPr>
          <p:spPr>
            <a:xfrm>
              <a:off x="2627783" y="3821986"/>
              <a:ext cx="7081367" cy="1419939"/>
            </a:xfrm>
            <a:custGeom>
              <a:avLst/>
              <a:gdLst>
                <a:gd name="connsiteX0" fmla="*/ 216831 w 1300962"/>
                <a:gd name="connsiteY0" fmla="*/ 0 h 6934215"/>
                <a:gd name="connsiteX1" fmla="*/ 1084131 w 1300962"/>
                <a:gd name="connsiteY1" fmla="*/ 0 h 6934215"/>
                <a:gd name="connsiteX2" fmla="*/ 1300962 w 1300962"/>
                <a:gd name="connsiteY2" fmla="*/ 216831 h 6934215"/>
                <a:gd name="connsiteX3" fmla="*/ 1300962 w 1300962"/>
                <a:gd name="connsiteY3" fmla="*/ 6934215 h 6934215"/>
                <a:gd name="connsiteX4" fmla="*/ 1300962 w 1300962"/>
                <a:gd name="connsiteY4" fmla="*/ 6934215 h 6934215"/>
                <a:gd name="connsiteX5" fmla="*/ 0 w 1300962"/>
                <a:gd name="connsiteY5" fmla="*/ 6934215 h 6934215"/>
                <a:gd name="connsiteX6" fmla="*/ 0 w 1300962"/>
                <a:gd name="connsiteY6" fmla="*/ 6934215 h 6934215"/>
                <a:gd name="connsiteX7" fmla="*/ 0 w 1300962"/>
                <a:gd name="connsiteY7" fmla="*/ 216831 h 6934215"/>
                <a:gd name="connsiteX8" fmla="*/ 216831 w 1300962"/>
                <a:gd name="connsiteY8" fmla="*/ 0 h 693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00962" h="6934215">
                  <a:moveTo>
                    <a:pt x="1300962" y="1155726"/>
                  </a:moveTo>
                  <a:lnTo>
                    <a:pt x="1300962" y="5778489"/>
                  </a:lnTo>
                  <a:cubicBezTo>
                    <a:pt x="1300962" y="6416775"/>
                    <a:pt x="1282748" y="6934212"/>
                    <a:pt x="1260281" y="6934212"/>
                  </a:cubicBezTo>
                  <a:lnTo>
                    <a:pt x="0" y="6934212"/>
                  </a:lnTo>
                  <a:lnTo>
                    <a:pt x="0" y="6934212"/>
                  </a:lnTo>
                  <a:lnTo>
                    <a:pt x="0" y="3"/>
                  </a:lnTo>
                  <a:lnTo>
                    <a:pt x="0" y="3"/>
                  </a:lnTo>
                  <a:lnTo>
                    <a:pt x="1260281" y="3"/>
                  </a:lnTo>
                  <a:cubicBezTo>
                    <a:pt x="1282748" y="3"/>
                    <a:pt x="1300962" y="517440"/>
                    <a:pt x="1300962" y="1155726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80000"/>
                <a:hueOff val="-286837"/>
                <a:satOff val="-24292"/>
                <a:lumOff val="18155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9569" tIns="72398" rIns="72398" bIns="72399" numCol="1" spcCol="1270" anchor="ctr" anchorCtr="0">
              <a:noAutofit/>
            </a:bodyPr>
            <a:lstStyle/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en-US" altLang="zh-CN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3kW</a:t>
              </a: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以下：节流调速回路</a:t>
              </a:r>
            </a:p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en-US" altLang="zh-CN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3-5kW</a:t>
              </a: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：容积节流调速回路或容积调速回路</a:t>
              </a:r>
              <a:endParaRPr lang="en-US" altLang="zh-CN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en-US" altLang="zh-CN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5kW</a:t>
              </a: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以上：容积调速回路</a:t>
              </a:r>
              <a:endParaRPr lang="en-US" altLang="zh-CN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8598E628-6140-4CC9-B993-1C8733759714}"/>
                </a:ext>
              </a:extLst>
            </p:cNvPr>
            <p:cNvSpPr/>
            <p:nvPr/>
          </p:nvSpPr>
          <p:spPr>
            <a:xfrm>
              <a:off x="516186" y="5256520"/>
              <a:ext cx="1679550" cy="1419939"/>
            </a:xfrm>
            <a:custGeom>
              <a:avLst/>
              <a:gdLst>
                <a:gd name="connsiteX0" fmla="*/ 0 w 1718126"/>
                <a:gd name="connsiteY0" fmla="*/ 0 h 1202688"/>
                <a:gd name="connsiteX1" fmla="*/ 1116782 w 1718126"/>
                <a:gd name="connsiteY1" fmla="*/ 0 h 1202688"/>
                <a:gd name="connsiteX2" fmla="*/ 1718126 w 1718126"/>
                <a:gd name="connsiteY2" fmla="*/ 601344 h 1202688"/>
                <a:gd name="connsiteX3" fmla="*/ 1116782 w 1718126"/>
                <a:gd name="connsiteY3" fmla="*/ 1202688 h 1202688"/>
                <a:gd name="connsiteX4" fmla="*/ 0 w 1718126"/>
                <a:gd name="connsiteY4" fmla="*/ 1202688 h 1202688"/>
                <a:gd name="connsiteX5" fmla="*/ 601344 w 1718126"/>
                <a:gd name="connsiteY5" fmla="*/ 601344 h 1202688"/>
                <a:gd name="connsiteX6" fmla="*/ 0 w 1718126"/>
                <a:gd name="connsiteY6" fmla="*/ 0 h 1202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18126" h="1202688">
                  <a:moveTo>
                    <a:pt x="1718126" y="0"/>
                  </a:moveTo>
                  <a:lnTo>
                    <a:pt x="1718126" y="781747"/>
                  </a:lnTo>
                  <a:lnTo>
                    <a:pt x="859063" y="1202688"/>
                  </a:lnTo>
                  <a:lnTo>
                    <a:pt x="0" y="781747"/>
                  </a:lnTo>
                  <a:lnTo>
                    <a:pt x="0" y="0"/>
                  </a:lnTo>
                  <a:lnTo>
                    <a:pt x="859063" y="420941"/>
                  </a:lnTo>
                  <a:lnTo>
                    <a:pt x="1718126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80000"/>
                <a:hueOff val="-573673"/>
                <a:satOff val="-48584"/>
                <a:lumOff val="36311"/>
                <a:alphaOff val="0"/>
              </a:schemeClr>
            </a:lnRef>
            <a:fillRef idx="1">
              <a:schemeClr val="accent1">
                <a:shade val="80000"/>
                <a:hueOff val="-573673"/>
                <a:satOff val="-48584"/>
                <a:lumOff val="36311"/>
                <a:alphaOff val="0"/>
              </a:schemeClr>
            </a:fillRef>
            <a:effectRef idx="0">
              <a:schemeClr val="accent1">
                <a:shade val="80000"/>
                <a:hueOff val="-573673"/>
                <a:satOff val="-48584"/>
                <a:lumOff val="36311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0160" tIns="611504" rIns="10160" bIns="611504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15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CN" altLang="en-US" sz="2000" b="1" kern="1200" dirty="0">
                  <a:solidFill>
                    <a:schemeClr val="tx1"/>
                  </a:solidFill>
                  <a:latin typeface="+mn-ea"/>
                </a:rPr>
                <a:t>设备费用</a:t>
              </a: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78B9E917-2598-46B1-B4BE-441860A3759C}"/>
                </a:ext>
              </a:extLst>
            </p:cNvPr>
            <p:cNvSpPr/>
            <p:nvPr/>
          </p:nvSpPr>
          <p:spPr>
            <a:xfrm>
              <a:off x="2627782" y="5356225"/>
              <a:ext cx="7081367" cy="1187134"/>
            </a:xfrm>
            <a:custGeom>
              <a:avLst/>
              <a:gdLst>
                <a:gd name="connsiteX0" fmla="*/ 186134 w 1116782"/>
                <a:gd name="connsiteY0" fmla="*/ 0 h 6934215"/>
                <a:gd name="connsiteX1" fmla="*/ 930648 w 1116782"/>
                <a:gd name="connsiteY1" fmla="*/ 0 h 6934215"/>
                <a:gd name="connsiteX2" fmla="*/ 1116782 w 1116782"/>
                <a:gd name="connsiteY2" fmla="*/ 186134 h 6934215"/>
                <a:gd name="connsiteX3" fmla="*/ 1116782 w 1116782"/>
                <a:gd name="connsiteY3" fmla="*/ 6934215 h 6934215"/>
                <a:gd name="connsiteX4" fmla="*/ 1116782 w 1116782"/>
                <a:gd name="connsiteY4" fmla="*/ 6934215 h 6934215"/>
                <a:gd name="connsiteX5" fmla="*/ 0 w 1116782"/>
                <a:gd name="connsiteY5" fmla="*/ 6934215 h 6934215"/>
                <a:gd name="connsiteX6" fmla="*/ 0 w 1116782"/>
                <a:gd name="connsiteY6" fmla="*/ 6934215 h 6934215"/>
                <a:gd name="connsiteX7" fmla="*/ 0 w 1116782"/>
                <a:gd name="connsiteY7" fmla="*/ 186134 h 6934215"/>
                <a:gd name="connsiteX8" fmla="*/ 186134 w 1116782"/>
                <a:gd name="connsiteY8" fmla="*/ 0 h 693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16782" h="6934215">
                  <a:moveTo>
                    <a:pt x="1116782" y="1155727"/>
                  </a:moveTo>
                  <a:lnTo>
                    <a:pt x="1116782" y="5778488"/>
                  </a:lnTo>
                  <a:cubicBezTo>
                    <a:pt x="1116782" y="6416777"/>
                    <a:pt x="1103360" y="6934212"/>
                    <a:pt x="1086804" y="6934212"/>
                  </a:cubicBezTo>
                  <a:lnTo>
                    <a:pt x="0" y="6934212"/>
                  </a:lnTo>
                  <a:lnTo>
                    <a:pt x="0" y="6934212"/>
                  </a:lnTo>
                  <a:lnTo>
                    <a:pt x="0" y="3"/>
                  </a:lnTo>
                  <a:lnTo>
                    <a:pt x="0" y="3"/>
                  </a:lnTo>
                  <a:lnTo>
                    <a:pt x="1086804" y="3"/>
                  </a:lnTo>
                  <a:cubicBezTo>
                    <a:pt x="1103360" y="3"/>
                    <a:pt x="1116782" y="517438"/>
                    <a:pt x="1116782" y="1155727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80000"/>
                <a:hueOff val="-573673"/>
                <a:satOff val="-48584"/>
                <a:lumOff val="36311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9569" tIns="63408" rIns="63407" bIns="63407" numCol="1" spcCol="1270" anchor="ctr" anchorCtr="0">
              <a:noAutofit/>
            </a:bodyPr>
            <a:lstStyle/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要求费用低廉：节流调速回路</a:t>
              </a:r>
            </a:p>
            <a:p>
              <a:pPr marL="285750" lvl="1" indent="-285750" algn="l" defTabSz="622300">
                <a:lnSpc>
                  <a:spcPct val="15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p"/>
              </a:pPr>
              <a:r>
                <a:rPr lang="zh-CN" altLang="en-US" sz="2000" kern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允许费用高：用容积节流调速回路或容积调速回路。</a:t>
              </a:r>
            </a:p>
          </p:txBody>
        </p:sp>
      </p:grpSp>
      <p:sp>
        <p:nvSpPr>
          <p:cNvPr id="17" name="文本框 16">
            <a:extLst>
              <a:ext uri="{FF2B5EF4-FFF2-40B4-BE49-F238E27FC236}">
                <a16:creationId xmlns:a16="http://schemas.microsoft.com/office/drawing/2014/main" id="{A15B0F86-005B-45D5-8F5B-5AFF3F1D271F}"/>
              </a:ext>
            </a:extLst>
          </p:cNvPr>
          <p:cNvSpPr txBox="1"/>
          <p:nvPr/>
        </p:nvSpPr>
        <p:spPr>
          <a:xfrm>
            <a:off x="11103631" y="6535517"/>
            <a:ext cx="1088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/>
              <a:t>28/35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385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arial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1647</TotalTime>
  <Words>2002</Words>
  <Application>Microsoft Office PowerPoint</Application>
  <PresentationFormat>宽屏</PresentationFormat>
  <Paragraphs>319</Paragraphs>
  <Slides>29</Slides>
  <Notes>19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等线</vt:lpstr>
      <vt:lpstr>等线 Light</vt:lpstr>
      <vt:lpstr>黑体</vt:lpstr>
      <vt:lpstr>微软雅黑</vt:lpstr>
      <vt:lpstr>Arial</vt:lpstr>
      <vt:lpstr>Cambria Math</vt:lpstr>
      <vt:lpstr>Wingdings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</dc:creator>
  <cp:lastModifiedBy>bin lou</cp:lastModifiedBy>
  <cp:revision>344</cp:revision>
  <dcterms:created xsi:type="dcterms:W3CDTF">2024-06-04T23:12:24Z</dcterms:created>
  <dcterms:modified xsi:type="dcterms:W3CDTF">2025-12-29T06:12:54Z</dcterms:modified>
</cp:coreProperties>
</file>