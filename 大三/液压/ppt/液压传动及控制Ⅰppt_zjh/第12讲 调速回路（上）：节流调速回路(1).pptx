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5E_2A1828AA.xml" ContentType="application/vnd.ms-powerpoint.comments+xml"/>
  <Override PartName="/ppt/comments/modernComment_176_9A5710C9.xml" ContentType="application/vnd.ms-powerpoint.comments+xml"/>
  <Override PartName="/ppt/comments/modernComment_15F_914C29FA.xml" ContentType="application/vnd.ms-powerpoint.comments+xml"/>
  <Override PartName="/ppt/comments/modernComment_161_5149A853.xml" ContentType="application/vnd.ms-powerpoint.comments+xml"/>
  <Override PartName="/ppt/comments/modernComment_166_F2B89A6E.xml" ContentType="application/vnd.ms-powerpoint.comments+xml"/>
  <Override PartName="/ppt/comments/modernComment_16A_39060B16.xml" ContentType="application/vnd.ms-powerpoint.comments+xml"/>
  <Override PartName="/ppt/comments/modernComment_16E_7C5C8CFE.xml" ContentType="application/vnd.ms-powerpoint.comments+xml"/>
  <Override PartName="/ppt/comments/modernComment_177_B66F3CC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48" r:id="rId2"/>
    <p:sldId id="350" r:id="rId3"/>
    <p:sldId id="374" r:id="rId4"/>
    <p:sldId id="347" r:id="rId5"/>
    <p:sldId id="349" r:id="rId6"/>
    <p:sldId id="351" r:id="rId7"/>
    <p:sldId id="352" r:id="rId8"/>
    <p:sldId id="353" r:id="rId9"/>
    <p:sldId id="354" r:id="rId10"/>
    <p:sldId id="355" r:id="rId11"/>
    <p:sldId id="357" r:id="rId12"/>
    <p:sldId id="358" r:id="rId13"/>
    <p:sldId id="361" r:id="rId14"/>
    <p:sldId id="360" r:id="rId15"/>
    <p:sldId id="359" r:id="rId16"/>
    <p:sldId id="364" r:id="rId17"/>
    <p:sldId id="363" r:id="rId18"/>
    <p:sldId id="362" r:id="rId19"/>
    <p:sldId id="367" r:id="rId20"/>
    <p:sldId id="366" r:id="rId21"/>
    <p:sldId id="375" r:id="rId22"/>
    <p:sldId id="365" r:id="rId23"/>
    <p:sldId id="371" r:id="rId24"/>
    <p:sldId id="376" r:id="rId25"/>
    <p:sldId id="377" r:id="rId26"/>
    <p:sldId id="370" r:id="rId27"/>
    <p:sldId id="369" r:id="rId28"/>
    <p:sldId id="368" r:id="rId29"/>
    <p:sldId id="372" r:id="rId30"/>
    <p:sldId id="373"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模板主体" id="{FC27560C-544F-432D-A08E-A637859AB426}">
          <p14:sldIdLst>
            <p14:sldId id="348"/>
            <p14:sldId id="350"/>
            <p14:sldId id="374"/>
            <p14:sldId id="347"/>
            <p14:sldId id="349"/>
            <p14:sldId id="351"/>
            <p14:sldId id="352"/>
            <p14:sldId id="353"/>
            <p14:sldId id="354"/>
            <p14:sldId id="355"/>
            <p14:sldId id="357"/>
            <p14:sldId id="358"/>
            <p14:sldId id="361"/>
            <p14:sldId id="360"/>
            <p14:sldId id="359"/>
            <p14:sldId id="364"/>
            <p14:sldId id="363"/>
            <p14:sldId id="362"/>
            <p14:sldId id="367"/>
            <p14:sldId id="366"/>
            <p14:sldId id="375"/>
            <p14:sldId id="365"/>
            <p14:sldId id="371"/>
            <p14:sldId id="376"/>
            <p14:sldId id="377"/>
            <p14:sldId id="370"/>
            <p14:sldId id="369"/>
            <p14:sldId id="368"/>
            <p14:sldId id="372"/>
            <p14:sldId id="3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499590-DDBA-C1B1-A44F-DC175C1EFCAF}" name="汪涛" initials="汪涛" userId="汪涛" providerId="None"/>
  <p188:author id="{5E01BCDE-CE39-0B18-6A1B-D7D970BF0C8B}" name="lou bin" initials="lb" userId="3bdb8542f6fe6ae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F88"/>
    <a:srgbClr val="8994BD"/>
    <a:srgbClr val="96A2D0"/>
    <a:srgbClr val="93BFF5"/>
    <a:srgbClr val="E6E6E6"/>
    <a:srgbClr val="3A68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BED948-B4BF-4ADD-BB14-82B5736F5359}" v="350" dt="2024-11-04T17:05:24.9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3" autoAdjust="0"/>
    <p:restoredTop sz="94660"/>
  </p:normalViewPr>
  <p:slideViewPr>
    <p:cSldViewPr snapToGrid="0">
      <p:cViewPr>
        <p:scale>
          <a:sx n="125" d="100"/>
          <a:sy n="125" d="100"/>
        </p:scale>
        <p:origin x="804" y="9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omments/modernComment_15E_2A1828AA.xml><?xml version="1.0" encoding="utf-8"?>
<p188:cmLst xmlns:a="http://schemas.openxmlformats.org/drawingml/2006/main" xmlns:r="http://schemas.openxmlformats.org/officeDocument/2006/relationships" xmlns:p188="http://schemas.microsoft.com/office/powerpoint/2018/8/main">
  <p188:cm id="{AD7283C2-457E-49B9-85D2-B699DF0A4F71}" authorId="{5E01BCDE-CE39-0B18-6A1B-D7D970BF0C8B}" created="2024-11-18T12:11:35.220">
    <ac:txMkLst xmlns:ac="http://schemas.microsoft.com/office/drawing/2013/main/command">
      <pc:docMk xmlns:pc="http://schemas.microsoft.com/office/powerpoint/2013/main/command"/>
      <pc:sldMk xmlns:pc="http://schemas.microsoft.com/office/powerpoint/2013/main/command" cId="706226346" sldId="350"/>
      <ac:spMk id="15" creationId="{1C0F927F-181E-4597-A753-A84F08A3A902}"/>
      <ac:txMk cp="0" len="77">
        <ac:context len="78" hash="1392352595"/>
      </ac:txMk>
    </ac:txMkLst>
    <p188:pos x="10668939" y="245287"/>
    <p188:txBody>
      <a:bodyPr/>
      <a:lstStyle/>
      <a:p>
        <a:r>
          <a:rPr lang="zh-CN" altLang="en-US"/>
          <a:t>正文字号，图注字体字号按照模板修改，这里偏大</a:t>
        </a:r>
      </a:p>
    </p188:txBody>
  </p188:cm>
</p188:cmLst>
</file>

<file path=ppt/comments/modernComment_15F_914C29FA.xml><?xml version="1.0" encoding="utf-8"?>
<p188:cmLst xmlns:a="http://schemas.openxmlformats.org/drawingml/2006/main" xmlns:r="http://schemas.openxmlformats.org/officeDocument/2006/relationships" xmlns:p188="http://schemas.microsoft.com/office/powerpoint/2018/8/main">
  <p188:cm id="{C54F1679-9470-494C-B7A2-50BAD1AC686E}" authorId="{5E01BCDE-CE39-0B18-6A1B-D7D970BF0C8B}" created="2024-11-18T12:17:30.419">
    <ac:deMkLst xmlns:ac="http://schemas.microsoft.com/office/drawing/2013/main/command">
      <pc:docMk xmlns:pc="http://schemas.microsoft.com/office/powerpoint/2013/main/command"/>
      <pc:sldMk xmlns:pc="http://schemas.microsoft.com/office/powerpoint/2013/main/command" cId="2437687802" sldId="351"/>
      <ac:spMk id="10" creationId="{F3B5C3B1-6577-411C-B7E0-251992F00725}"/>
    </ac:deMkLst>
    <p188:txBody>
      <a:bodyPr/>
      <a:lstStyle/>
      <a:p>
        <a:r>
          <a:rPr lang="zh-CN" altLang="en-US"/>
          <a:t>根据书上添加公式的名称</a:t>
        </a:r>
      </a:p>
    </p188:txBody>
  </p188:cm>
</p188:cmLst>
</file>

<file path=ppt/comments/modernComment_16A_39060B16.xml><?xml version="1.0" encoding="utf-8"?>
<p188:cmLst xmlns:a="http://schemas.openxmlformats.org/drawingml/2006/main" xmlns:r="http://schemas.openxmlformats.org/officeDocument/2006/relationships" xmlns:p188="http://schemas.microsoft.com/office/powerpoint/2018/8/main">
  <p188:cm id="{0E23E2A9-AD23-4A67-8F6F-5DE6AD34EBE5}" authorId="{5E01BCDE-CE39-0B18-6A1B-D7D970BF0C8B}" created="2024-11-18T12:23:02.781">
    <ac:txMkLst xmlns:ac="http://schemas.microsoft.com/office/drawing/2013/main/command">
      <pc:docMk xmlns:pc="http://schemas.microsoft.com/office/powerpoint/2013/main/command"/>
      <pc:sldMk xmlns:pc="http://schemas.microsoft.com/office/powerpoint/2013/main/command" cId="956697366" sldId="362"/>
      <ac:spMk id="10" creationId="{C18D564A-359F-B323-3DB8-86D10016A142}"/>
      <ac:txMk cp="0" len="9">
        <ac:context len="10" hash="3993550577"/>
      </ac:txMk>
    </ac:txMkLst>
    <p188:pos x="3911338" y="270855"/>
    <p188:txBody>
      <a:bodyPr/>
      <a:lstStyle/>
      <a:p>
        <a:r>
          <a:rPr lang="zh-CN" altLang="en-US"/>
          <a:t>中文用微软雅黑</a:t>
        </a:r>
      </a:p>
    </p188:txBody>
  </p188:cm>
  <p188:cm id="{A186464B-7B90-4F14-B401-97E5CBC08910}" authorId="{5E01BCDE-CE39-0B18-6A1B-D7D970BF0C8B}" created="2024-11-18T12:23:08.686">
    <ac:deMkLst xmlns:ac="http://schemas.microsoft.com/office/drawing/2013/main/command">
      <pc:docMk xmlns:pc="http://schemas.microsoft.com/office/powerpoint/2013/main/command"/>
      <pc:sldMk xmlns:pc="http://schemas.microsoft.com/office/powerpoint/2013/main/command" cId="956697366" sldId="362"/>
      <ac:picMk id="9" creationId="{B55CA7E1-1764-45BF-2DFC-034266560C7B}"/>
    </ac:deMkLst>
    <p188:txBody>
      <a:bodyPr/>
      <a:lstStyle/>
      <a:p>
        <a:r>
          <a:rPr lang="zh-CN" altLang="en-US"/>
          <a:t>图注</a:t>
        </a:r>
      </a:p>
    </p188:txBody>
  </p188:cm>
</p188:cmLst>
</file>

<file path=ppt/comments/modernComment_16E_7C5C8CFE.xml><?xml version="1.0" encoding="utf-8"?>
<p188:cmLst xmlns:a="http://schemas.openxmlformats.org/drawingml/2006/main" xmlns:r="http://schemas.openxmlformats.org/officeDocument/2006/relationships" xmlns:p188="http://schemas.microsoft.com/office/powerpoint/2018/8/main">
  <p188:cm id="{97D15655-0720-403B-9C73-92997BCD938C}" authorId="{5E01BCDE-CE39-0B18-6A1B-D7D970BF0C8B}" created="2024-11-18T12:24:40.345">
    <ac:deMkLst xmlns:ac="http://schemas.microsoft.com/office/drawing/2013/main/command">
      <pc:docMk xmlns:pc="http://schemas.microsoft.com/office/powerpoint/2013/main/command"/>
      <pc:sldMk xmlns:pc="http://schemas.microsoft.com/office/powerpoint/2013/main/command" cId="2086440190" sldId="366"/>
      <ac:spMk id="5" creationId="{29E2F821-98A7-4B7B-811D-5DAD6270ADCA}"/>
    </ac:deMkLst>
    <p188:txBody>
      <a:bodyPr/>
      <a:lstStyle/>
      <a:p>
        <a:r>
          <a:rPr lang="zh-CN" altLang="en-US"/>
          <a:t>这一页内容太少，添加书上的分析</a:t>
        </a:r>
      </a:p>
    </p188:txBody>
  </p188:cm>
</p188:cmLst>
</file>

<file path=ppt/comments/modernComment_161_5149A853.xml><?xml version="1.0" encoding="utf-8"?>
<p188:cmLst xmlns:a="http://schemas.openxmlformats.org/drawingml/2006/main" xmlns:r="http://schemas.openxmlformats.org/officeDocument/2006/relationships" xmlns:p188="http://schemas.microsoft.com/office/powerpoint/2018/8/main">
  <p188:cm id="{D0823170-F2F3-48E5-9598-29B52F9F9918}" authorId="{5E01BCDE-CE39-0B18-6A1B-D7D970BF0C8B}" created="2024-11-18T12:26:27.943">
    <ac:deMkLst xmlns:ac="http://schemas.microsoft.com/office/drawing/2013/main/command">
      <pc:docMk xmlns:pc="http://schemas.microsoft.com/office/powerpoint/2013/main/command"/>
      <pc:sldMk xmlns:pc="http://schemas.microsoft.com/office/powerpoint/2013/main/command" cId="1363781715" sldId="353"/>
      <ac:picMk id="10" creationId="{CBDED851-69D4-4344-854A-A846C729410B}"/>
    </ac:deMkLst>
    <p188:txBody>
      <a:bodyPr/>
      <a:lstStyle/>
      <a:p>
        <a:r>
          <a:rPr lang="zh-CN" altLang="en-US"/>
          <a:t>同一张图在不同PPT上位置大小尽量保持一致</a:t>
        </a:r>
      </a:p>
    </p188:txBody>
  </p188:cm>
</p188:cmLst>
</file>

<file path=ppt/comments/modernComment_166_F2B89A6E.xml><?xml version="1.0" encoding="utf-8"?>
<p188:cmLst xmlns:a="http://schemas.openxmlformats.org/drawingml/2006/main" xmlns:r="http://schemas.openxmlformats.org/officeDocument/2006/relationships" xmlns:p188="http://schemas.microsoft.com/office/powerpoint/2018/8/main">
  <p188:cm id="{F13F8A20-F46B-4604-AB68-5814D457011C}" authorId="{5E01BCDE-CE39-0B18-6A1B-D7D970BF0C8B}" created="2024-11-18T12:21:48.750">
    <ac:deMkLst xmlns:ac="http://schemas.microsoft.com/office/drawing/2013/main/command">
      <pc:docMk xmlns:pc="http://schemas.microsoft.com/office/powerpoint/2013/main/command"/>
      <pc:sldMk xmlns:pc="http://schemas.microsoft.com/office/powerpoint/2013/main/command" cId="4072184430" sldId="358"/>
      <ac:spMk id="10" creationId="{BCD74D64-58FF-4558-B00A-81066E21E260}"/>
    </ac:deMkLst>
    <p188:txBody>
      <a:bodyPr/>
      <a:lstStyle/>
      <a:p>
        <a:r>
          <a:rPr lang="zh-CN" altLang="en-US"/>
          <a:t>公式括号不要斜体，检查一下其他公式</a:t>
        </a:r>
      </a:p>
    </p188:txBody>
  </p188:cm>
</p188:cmLst>
</file>

<file path=ppt/comments/modernComment_176_9A5710C9.xml><?xml version="1.0" encoding="utf-8"?>
<p188:cmLst xmlns:a="http://schemas.openxmlformats.org/drawingml/2006/main" xmlns:r="http://schemas.openxmlformats.org/officeDocument/2006/relationships" xmlns:p188="http://schemas.microsoft.com/office/powerpoint/2018/8/main">
  <p188:cm id="{97D790EA-F5B7-40C0-A03F-DD9472BBEC89}" authorId="{5E01BCDE-CE39-0B18-6A1B-D7D970BF0C8B}" created="2024-11-18T12:14:01.518">
    <ac:deMkLst xmlns:ac="http://schemas.microsoft.com/office/drawing/2013/main/command">
      <pc:docMk xmlns:pc="http://schemas.microsoft.com/office/powerpoint/2013/main/command"/>
      <pc:sldMk xmlns:pc="http://schemas.microsoft.com/office/powerpoint/2013/main/command" cId="2589397193" sldId="374"/>
      <ac:spMk id="5" creationId="{29E2F821-98A7-4B7B-811D-5DAD6270ADCA}"/>
    </ac:deMkLst>
    <p188:txBody>
      <a:bodyPr/>
      <a:lstStyle/>
      <a:p>
        <a:r>
          <a:rPr lang="zh-CN" altLang="en-US"/>
          <a:t>PPT所有的图上添加图注，二级标题颜色，格式按照模板修改</a:t>
        </a:r>
      </a:p>
    </p188:txBody>
  </p188:cm>
  <p188:cm id="{E115B187-35AC-45E4-94D7-4A1DF84DC072}" authorId="{5F499590-DDBA-C1B1-A44F-DC175C1EFCAF}" created="2024-11-19T00:20:16.934">
    <pc:sldMkLst xmlns:pc="http://schemas.microsoft.com/office/powerpoint/2013/main/command">
      <pc:docMk/>
      <pc:sldMk cId="2589397193" sldId="374"/>
    </pc:sldMkLst>
    <p188:txBody>
      <a:bodyPr/>
      <a:lstStyle/>
      <a:p>
        <a:r>
          <a:rPr lang="en-US"/>
          <a:t>这三个标题放在这里感觉没有用，如果是概述的话，可以给这三个加个小标题：调速回路的分类</a:t>
        </a:r>
      </a:p>
    </p188:txBody>
  </p188:cm>
  <p188:cm id="{6829D6B7-BABE-4D04-89A8-0FB9F475E38C}" authorId="{5F499590-DDBA-C1B1-A44F-DC175C1EFCAF}" created="2024-11-19T00:21:39.304">
    <ac:deMkLst xmlns:ac="http://schemas.microsoft.com/office/drawing/2013/main/command">
      <pc:docMk xmlns:pc="http://schemas.microsoft.com/office/powerpoint/2013/main/command"/>
      <pc:sldMk xmlns:pc="http://schemas.microsoft.com/office/powerpoint/2013/main/command" cId="2589397193" sldId="374"/>
      <ac:spMk id="141" creationId="{61940EDF-69B0-2F70-62A9-9F2A4EB54D5E}"/>
    </ac:deMkLst>
    <p188:txBody>
      <a:bodyPr/>
      <a:lstStyle/>
      <a:p>
        <a:r>
          <a:rPr lang="en-US"/>
          <a:t>文字整体排版有点奇怪，把图移到最右边会不会好点</a:t>
        </a:r>
      </a:p>
    </p188:txBody>
  </p188:cm>
</p188:cmLst>
</file>

<file path=ppt/comments/modernComment_177_B66F3CC6.xml><?xml version="1.0" encoding="utf-8"?>
<p188:cmLst xmlns:a="http://schemas.openxmlformats.org/drawingml/2006/main" xmlns:r="http://schemas.openxmlformats.org/officeDocument/2006/relationships" xmlns:p188="http://schemas.microsoft.com/office/powerpoint/2018/8/main">
  <p188:cm id="{97D15655-0720-403B-9C73-92997BCD938C}" authorId="{5E01BCDE-CE39-0B18-6A1B-D7D970BF0C8B}" created="2024-11-18T12:24:40.345">
    <ac:deMkLst xmlns:ac="http://schemas.microsoft.com/office/drawing/2013/main/command">
      <pc:docMk xmlns:pc="http://schemas.microsoft.com/office/powerpoint/2013/main/command"/>
      <pc:sldMk xmlns:pc="http://schemas.microsoft.com/office/powerpoint/2013/main/command" cId="2086440190" sldId="366"/>
      <ac:spMk id="5" creationId="{29E2F821-98A7-4B7B-811D-5DAD6270ADCA}"/>
    </ac:deMkLst>
    <p188:txBody>
      <a:bodyPr/>
      <a:lstStyle/>
      <a:p>
        <a:r>
          <a:rPr lang="zh-CN" altLang="en-US"/>
          <a:t>这一页内容太少，添加书上的分析</a:t>
        </a:r>
      </a:p>
    </p188:txBody>
  </p188:cm>
</p188:cmLst>
</file>

<file path=ppt/drawings/_rels/vmlDrawing1.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10" Type="http://schemas.openxmlformats.org/officeDocument/2006/relationships/image" Target="../media/image12.wmf"/><Relationship Id="rId4" Type="http://schemas.openxmlformats.org/officeDocument/2006/relationships/image" Target="../media/image6.wmf"/><Relationship Id="rId9"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EBC71-470F-4178-8939-B7F43C998C3E}" type="datetimeFigureOut">
              <a:rPr lang="zh-CN" altLang="en-US" smtClean="0"/>
              <a:t>2025-12-17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F53EF-5364-44E3-BFA2-84231755F7E3}" type="slidenum">
              <a:rPr lang="zh-CN" altLang="en-US" smtClean="0"/>
              <a:t>‹#›</a:t>
            </a:fld>
            <a:endParaRPr lang="zh-CN" altLang="en-US"/>
          </a:p>
        </p:txBody>
      </p:sp>
    </p:spTree>
    <p:extLst>
      <p:ext uri="{BB962C8B-B14F-4D97-AF65-F5344CB8AC3E}">
        <p14:creationId xmlns:p14="http://schemas.microsoft.com/office/powerpoint/2010/main" val="318964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4930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CF4B11-F572-4DFC-9C9B-6A3CD1BCE16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234C54C-1BA6-440A-8D1B-F8BCE242FF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756EE14-5E8C-42D6-8B1C-138B21B7F80B}"/>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20189FBD-18D7-4E8C-AC37-C54A7E72E5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2B2B56-4F25-4616-A188-56D2ACCF11D7}"/>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4232478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D3867-6D2D-4593-AC3F-B8E58C8726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236C074-A1D1-4AA5-8442-2C11F3B581F9}"/>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D4E8C40-44F5-4283-BF35-89F2C43027F0}"/>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65CA79F0-95A9-4981-8FB9-04D63D57C7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BEDC06-5A03-4F54-9BA2-842910E536FB}"/>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23591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733D58-C466-44BC-972E-587AD0D45D6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E393EC4-145A-485A-A568-F282A0CC0D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9F3AAC01-5E49-476A-88CC-1D58B2399EA7}"/>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BC6AC38B-B467-4222-AA44-0AD3BDE405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70A2F9-2C51-4DAD-89D5-D291EEEBA1FC}"/>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3484923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BEE30-4BA4-4E5D-91A1-423AC1F6AA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B4895D3-5779-4E7B-96AD-64C7403E07E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0AE0855-595B-4F82-8B46-039050CA2449}"/>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BAA3D155-16F0-4A38-A2D0-09D219FE70F5}"/>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6" name="页脚占位符 5">
            <a:extLst>
              <a:ext uri="{FF2B5EF4-FFF2-40B4-BE49-F238E27FC236}">
                <a16:creationId xmlns:a16="http://schemas.microsoft.com/office/drawing/2014/main" id="{7631401B-6434-4F3F-9D1F-1E1D4889FC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CDCBEC-7E66-4D99-9199-750DC27EA063}"/>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239632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6667EB-8340-4492-B3A9-A728F915AC5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9B05EE6-A0EE-49F6-8DB2-93C313DEC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C3D33B3B-D619-44C0-B8FF-6BB33C540076}"/>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533DD8DF-90AF-4AA9-A4AF-7040FF4B72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5419D37D-A566-4F60-A4C3-78BCB7CF329E}"/>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9CBCC86-6C82-4A0D-9287-32A6405E6B0A}"/>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8" name="页脚占位符 7">
            <a:extLst>
              <a:ext uri="{FF2B5EF4-FFF2-40B4-BE49-F238E27FC236}">
                <a16:creationId xmlns:a16="http://schemas.microsoft.com/office/drawing/2014/main" id="{05E0DED7-DA23-4400-97A1-04B7573C878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606BFF-B2FB-4915-9F3A-2C98A7665330}"/>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6183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BA1051-BA71-4574-BFA1-AC004EC5189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B350898-1F22-4B99-BE58-E24B18BB028D}"/>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4" name="页脚占位符 3">
            <a:extLst>
              <a:ext uri="{FF2B5EF4-FFF2-40B4-BE49-F238E27FC236}">
                <a16:creationId xmlns:a16="http://schemas.microsoft.com/office/drawing/2014/main" id="{01EC05BB-0041-4C92-95D3-6E3D1B7E521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AB48AC8-E018-466A-90AF-663F9BDF9D6B}"/>
              </a:ext>
            </a:extLst>
          </p:cNvPr>
          <p:cNvSpPr>
            <a:spLocks noGrp="1"/>
          </p:cNvSpPr>
          <p:nvPr>
            <p:ph type="sldNum" sz="quarter" idx="12"/>
          </p:nvPr>
        </p:nvSpPr>
        <p:spPr/>
        <p:txBody>
          <a:bodyPr/>
          <a:lstStyle/>
          <a:p>
            <a:fld id="{3FEE32C2-5FDC-40E1-AD53-545CC803DDCB}" type="slidenum">
              <a:rPr lang="zh-CN" altLang="en-US" smtClean="0"/>
              <a:t>‹#›</a:t>
            </a:fld>
            <a:endParaRPr lang="zh-CN" altLang="en-US" dirty="0"/>
          </a:p>
        </p:txBody>
      </p:sp>
    </p:spTree>
    <p:extLst>
      <p:ext uri="{BB962C8B-B14F-4D97-AF65-F5344CB8AC3E}">
        <p14:creationId xmlns:p14="http://schemas.microsoft.com/office/powerpoint/2010/main" val="148433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85E6A85-9742-4F96-B4AF-2D30690A99D2}"/>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3" name="页脚占位符 2">
            <a:extLst>
              <a:ext uri="{FF2B5EF4-FFF2-40B4-BE49-F238E27FC236}">
                <a16:creationId xmlns:a16="http://schemas.microsoft.com/office/drawing/2014/main" id="{7C0D9671-8387-49B9-9224-F8D5E04A93B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3482766-12A4-4E9D-A598-FC84A590B269}"/>
              </a:ext>
            </a:extLst>
          </p:cNvPr>
          <p:cNvSpPr>
            <a:spLocks noGrp="1"/>
          </p:cNvSpPr>
          <p:nvPr>
            <p:ph type="sldNum" sz="quarter" idx="12"/>
          </p:nvPr>
        </p:nvSpPr>
        <p:spPr/>
        <p:txBody>
          <a:bodyPr/>
          <a:lstStyle>
            <a:lvl1pPr>
              <a:defRPr/>
            </a:lvl1pPr>
          </a:lstStyle>
          <a:p>
            <a:fld id="{A9B05C91-B41C-4061-B77F-49F98F4AFC3B}" type="slidenum">
              <a:rPr lang="zh-CN" altLang="en-US" smtClean="0"/>
              <a:pPr/>
              <a:t>‹#›</a:t>
            </a:fld>
            <a:endParaRPr lang="zh-CN" altLang="en-US" dirty="0"/>
          </a:p>
        </p:txBody>
      </p:sp>
    </p:spTree>
    <p:extLst>
      <p:ext uri="{BB962C8B-B14F-4D97-AF65-F5344CB8AC3E}">
        <p14:creationId xmlns:p14="http://schemas.microsoft.com/office/powerpoint/2010/main" val="137829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4EBE77-9C31-4448-92F6-8E2538C72AD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C5A61C7-FA85-41FA-8268-50935F00E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65910FFD-3BF9-4DCA-AE14-49BC3137B0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17DE66C-12DC-44D6-966F-E3121467991C}"/>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6" name="页脚占位符 5">
            <a:extLst>
              <a:ext uri="{FF2B5EF4-FFF2-40B4-BE49-F238E27FC236}">
                <a16:creationId xmlns:a16="http://schemas.microsoft.com/office/drawing/2014/main" id="{EC991129-C6C5-40AE-B3CD-E3A8E7F5ECD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3AA085-B50D-4BD5-BC03-E1841817F767}"/>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405533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DB4150-B2F0-479E-A721-35D82BBBDEB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95BEBB3-457F-4B23-9EE3-8DF050B0A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D000099-46C8-4A17-9C36-8398FFE23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B7DE7DA-AE75-4B26-8CAD-BD9CC0EFBBD8}"/>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6" name="页脚占位符 5">
            <a:extLst>
              <a:ext uri="{FF2B5EF4-FFF2-40B4-BE49-F238E27FC236}">
                <a16:creationId xmlns:a16="http://schemas.microsoft.com/office/drawing/2014/main" id="{5CC8E070-C62B-4610-AB79-AB28FDDB66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8AD57F-16AE-4378-B779-5AB42B027BDA}"/>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321480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890AB4-B48E-4BCB-AF60-2FC3CC5B8E7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76B1054-3F3D-42E9-B458-83921265B939}"/>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2B12639-CBE1-475E-9FA8-6C236A2A547A}"/>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0ECAF0BD-D7A7-4B37-B11F-72418A7697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A0119A-4817-4B57-A6DE-540FE9B78171}"/>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231994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54BE39A-A81E-4A36-8807-AD97AC5A524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457E41-3EA0-43C4-9FEC-F1DE8D145340}"/>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BBE3E99-9292-4F50-A0F1-678BEFE4731A}"/>
              </a:ext>
            </a:extLst>
          </p:cNvPr>
          <p:cNvSpPr>
            <a:spLocks noGrp="1"/>
          </p:cNvSpPr>
          <p:nvPr>
            <p:ph type="dt" sz="half" idx="10"/>
          </p:nvPr>
        </p:nvSpPr>
        <p:spPr/>
        <p:txBody>
          <a:bodyPr/>
          <a:lstStyle/>
          <a:p>
            <a:fld id="{6FAC1865-B79A-43E4-B218-34456B6B12C9}"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68EB7626-D656-4E24-BD17-27CDF45B84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FC70BD-F514-4D5A-9043-DD06515B207B}"/>
              </a:ext>
            </a:extLst>
          </p:cNvPr>
          <p:cNvSpPr>
            <a:spLocks noGrp="1"/>
          </p:cNvSpPr>
          <p:nvPr>
            <p:ph type="sldNum" sz="quarter" idx="12"/>
          </p:nvPr>
        </p:nvSpPr>
        <p:spPr/>
        <p:txBody>
          <a:bodyPr/>
          <a:lstStyle/>
          <a:p>
            <a:fld id="{3FEE32C2-5FDC-40E1-AD53-545CC803DDCB}" type="slidenum">
              <a:rPr lang="zh-CN" altLang="en-US" smtClean="0"/>
              <a:t>‹#›</a:t>
            </a:fld>
            <a:endParaRPr lang="zh-CN" altLang="en-US"/>
          </a:p>
        </p:txBody>
      </p:sp>
    </p:spTree>
    <p:extLst>
      <p:ext uri="{BB962C8B-B14F-4D97-AF65-F5344CB8AC3E}">
        <p14:creationId xmlns:p14="http://schemas.microsoft.com/office/powerpoint/2010/main" val="1116315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64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04EFB9E-31F1-44AC-B2A0-70B3AD7E19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5F674FB-ADAE-4C16-9A45-55515D425D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8525FD1-9DA9-4D47-B946-7A3EE00EA7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AC1865-B79A-43E4-B218-34456B6B12C9}" type="datetimeFigureOut">
              <a:rPr lang="zh-CN" altLang="en-US" smtClean="0"/>
              <a:t>2025-12-17</a:t>
            </a:fld>
            <a:endParaRPr lang="zh-CN" altLang="en-US"/>
          </a:p>
        </p:txBody>
      </p:sp>
      <p:sp>
        <p:nvSpPr>
          <p:cNvPr id="5" name="页脚占位符 4">
            <a:extLst>
              <a:ext uri="{FF2B5EF4-FFF2-40B4-BE49-F238E27FC236}">
                <a16:creationId xmlns:a16="http://schemas.microsoft.com/office/drawing/2014/main" id="{E47004C3-9974-4565-85A6-888D85E56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CC94A1A-F98A-49BC-BD74-896D43ADD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15565A-F491-4842-A740-A9EC7FCFD754}" type="slidenum">
              <a:rPr lang="zh-CN" altLang="en-US" smtClean="0"/>
              <a:pPr/>
              <a:t>‹#›</a:t>
            </a:fld>
            <a:r>
              <a:rPr lang="en-US" altLang="zh-CN" dirty="0"/>
              <a:t>/30</a:t>
            </a:r>
            <a:endParaRPr lang="zh-CN" altLang="en-US" dirty="0"/>
          </a:p>
        </p:txBody>
      </p:sp>
    </p:spTree>
    <p:extLst>
      <p:ext uri="{BB962C8B-B14F-4D97-AF65-F5344CB8AC3E}">
        <p14:creationId xmlns:p14="http://schemas.microsoft.com/office/powerpoint/2010/main" val="322730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5E_2A1828AA.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76_9A5710C9.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7.wmf"/><Relationship Id="rId18" Type="http://schemas.openxmlformats.org/officeDocument/2006/relationships/oleObject" Target="../embeddings/oleObject8.bin"/><Relationship Id="rId3" Type="http://schemas.openxmlformats.org/officeDocument/2006/relationships/image" Target="../media/image2.png"/><Relationship Id="rId21" Type="http://schemas.openxmlformats.org/officeDocument/2006/relationships/image" Target="../media/image11.wmf"/><Relationship Id="rId7" Type="http://schemas.openxmlformats.org/officeDocument/2006/relationships/image" Target="../media/image4.wmf"/><Relationship Id="rId12" Type="http://schemas.openxmlformats.org/officeDocument/2006/relationships/oleObject" Target="../embeddings/oleObject5.bin"/><Relationship Id="rId17" Type="http://schemas.openxmlformats.org/officeDocument/2006/relationships/image" Target="../media/image9.wmf"/><Relationship Id="rId2" Type="http://schemas.openxmlformats.org/officeDocument/2006/relationships/slideLayout" Target="../slideLayouts/slideLayout7.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6.wmf"/><Relationship Id="rId5" Type="http://schemas.openxmlformats.org/officeDocument/2006/relationships/image" Target="../media/image3.wmf"/><Relationship Id="rId15" Type="http://schemas.openxmlformats.org/officeDocument/2006/relationships/image" Target="../media/image8.wmf"/><Relationship Id="rId23" Type="http://schemas.openxmlformats.org/officeDocument/2006/relationships/image" Target="../media/image12.wmf"/><Relationship Id="rId10" Type="http://schemas.openxmlformats.org/officeDocument/2006/relationships/oleObject" Target="../embeddings/oleObject4.bin"/><Relationship Id="rId19" Type="http://schemas.openxmlformats.org/officeDocument/2006/relationships/image" Target="../media/image10.wmf"/><Relationship Id="rId4" Type="http://schemas.openxmlformats.org/officeDocument/2006/relationships/oleObject" Target="../embeddings/oleObject1.bin"/><Relationship Id="rId9" Type="http://schemas.openxmlformats.org/officeDocument/2006/relationships/image" Target="../media/image5.wmf"/><Relationship Id="rId14" Type="http://schemas.openxmlformats.org/officeDocument/2006/relationships/oleObject" Target="../embeddings/oleObject6.bin"/><Relationship Id="rId22"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5F_914C29FA.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61_5149A85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7.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2.png"/><Relationship Id="rId2" Type="http://schemas.microsoft.com/office/2018/10/relationships/comments" Target="../comments/modernComment_166_F2B89A6E.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3.png"/><Relationship Id="rId4" Type="http://schemas.openxmlformats.org/officeDocument/2006/relationships/image" Target="../media/image16.jpe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22.emf"/><Relationship Id="rId4" Type="http://schemas.openxmlformats.org/officeDocument/2006/relationships/package" Target="../embeddings/Microsoft_Word_Document.docx"/></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6A_39060B16.xm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jpeg"/><Relationship Id="rId2" Type="http://schemas.microsoft.com/office/2018/10/relationships/comments" Target="../comments/modernComment_16E_7C5C8CFE.xml"/><Relationship Id="rId1" Type="http://schemas.openxmlformats.org/officeDocument/2006/relationships/slideLayout" Target="../slideLayouts/slideLayout7.xml"/><Relationship Id="rId6" Type="http://schemas.openxmlformats.org/officeDocument/2006/relationships/image" Target="../media/image32.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jpeg"/><Relationship Id="rId2" Type="http://schemas.microsoft.com/office/2018/10/relationships/comments" Target="../comments/modernComment_177_B66F3CC6.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25.jpe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jpe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26.jpe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27.jpe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29.jpeg"/></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a:extLst>
              <a:ext uri="{FF2B5EF4-FFF2-40B4-BE49-F238E27FC236}">
                <a16:creationId xmlns:a16="http://schemas.microsoft.com/office/drawing/2014/main" id="{070CC29F-EA08-4A06-BDBF-1A95FC039860}"/>
              </a:ext>
            </a:extLst>
          </p:cNvPr>
          <p:cNvPicPr>
            <a:picLocks noChangeAspect="1"/>
          </p:cNvPicPr>
          <p:nvPr/>
        </p:nvPicPr>
        <p:blipFill>
          <a:blip r:embed="rId3">
            <a:alphaModFix amt="15000"/>
          </a:blip>
          <a:stretch>
            <a:fillRect/>
          </a:stretch>
        </p:blipFill>
        <p:spPr>
          <a:xfrm>
            <a:off x="4762" y="4560887"/>
            <a:ext cx="12182475" cy="2314575"/>
          </a:xfrm>
          <a:prstGeom prst="rect">
            <a:avLst/>
          </a:prstGeom>
        </p:spPr>
      </p:pic>
      <p:sp>
        <p:nvSpPr>
          <p:cNvPr id="13" name="文本框 12">
            <a:extLst>
              <a:ext uri="{FF2B5EF4-FFF2-40B4-BE49-F238E27FC236}">
                <a16:creationId xmlns:a16="http://schemas.microsoft.com/office/drawing/2014/main" id="{F5F8934E-6CAF-4F75-9A96-2ADBDFD7C2D8}"/>
              </a:ext>
            </a:extLst>
          </p:cNvPr>
          <p:cNvSpPr txBox="1"/>
          <p:nvPr/>
        </p:nvSpPr>
        <p:spPr>
          <a:xfrm>
            <a:off x="3753048" y="174524"/>
            <a:ext cx="4685898" cy="646331"/>
          </a:xfrm>
          <a:prstGeom prst="rect">
            <a:avLst/>
          </a:prstGeom>
        </p:spPr>
        <p:txBody>
          <a:bodyPr wrap="none">
            <a:spAutoFit/>
          </a:bodyPr>
          <a:lstStyle>
            <a:defPPr>
              <a:defRPr lang="zh-CN"/>
            </a:defPPr>
            <a:lvl1pPr algn="ctr">
              <a:defRPr sz="6000" b="1" spc="300">
                <a:solidFill>
                  <a:srgbClr val="003F88"/>
                </a:solidFill>
                <a:latin typeface="+mn-ea"/>
              </a:defRPr>
            </a:lvl1pPr>
          </a:lstStyle>
          <a:p>
            <a:r>
              <a:rPr lang="en-US" altLang="zh-CN" sz="3600" dirty="0"/>
              <a:t>《</a:t>
            </a:r>
            <a:r>
              <a:rPr lang="zh-CN" altLang="en-US" sz="3600" dirty="0"/>
              <a:t>液压传动及控制</a:t>
            </a:r>
            <a:r>
              <a:rPr lang="en-US" altLang="zh-CN" sz="3600" dirty="0"/>
              <a:t>》</a:t>
            </a:r>
            <a:endParaRPr lang="zh-CN" altLang="en-US" sz="3600" dirty="0"/>
          </a:p>
        </p:txBody>
      </p:sp>
      <p:sp>
        <p:nvSpPr>
          <p:cNvPr id="20" name="矩形 19">
            <a:extLst>
              <a:ext uri="{FF2B5EF4-FFF2-40B4-BE49-F238E27FC236}">
                <a16:creationId xmlns:a16="http://schemas.microsoft.com/office/drawing/2014/main" id="{83331D23-ACF9-4E53-8F13-F876D7C312EB}"/>
              </a:ext>
            </a:extLst>
          </p:cNvPr>
          <p:cNvSpPr/>
          <p:nvPr/>
        </p:nvSpPr>
        <p:spPr>
          <a:xfrm>
            <a:off x="2504312" y="2375746"/>
            <a:ext cx="7183377" cy="1015663"/>
          </a:xfrm>
          <a:prstGeom prst="rect">
            <a:avLst/>
          </a:prstGeom>
        </p:spPr>
        <p:txBody>
          <a:bodyPr wrap="none">
            <a:spAutoFit/>
          </a:bodyPr>
          <a:lstStyle/>
          <a:p>
            <a:pPr algn="ctr"/>
            <a:r>
              <a:rPr lang="zh-CN" altLang="en-US" sz="6000" b="1" spc="300" dirty="0">
                <a:solidFill>
                  <a:srgbClr val="003F88"/>
                </a:solidFill>
                <a:latin typeface="+mn-ea"/>
              </a:rPr>
              <a:t>第十二讲  调速回路</a:t>
            </a:r>
            <a:endParaRPr lang="en-US" altLang="zh-CN" sz="6000" b="1" spc="300" dirty="0">
              <a:solidFill>
                <a:srgbClr val="003F88"/>
              </a:solidFill>
              <a:latin typeface="+mn-ea"/>
            </a:endParaRPr>
          </a:p>
        </p:txBody>
      </p:sp>
      <p:sp>
        <p:nvSpPr>
          <p:cNvPr id="25" name="文本框 24">
            <a:extLst>
              <a:ext uri="{FF2B5EF4-FFF2-40B4-BE49-F238E27FC236}">
                <a16:creationId xmlns:a16="http://schemas.microsoft.com/office/drawing/2014/main" id="{85CA4716-3D7C-44F0-A479-3BE4B57FA00D}"/>
              </a:ext>
            </a:extLst>
          </p:cNvPr>
          <p:cNvSpPr txBox="1"/>
          <p:nvPr/>
        </p:nvSpPr>
        <p:spPr>
          <a:xfrm>
            <a:off x="3611031" y="3759355"/>
            <a:ext cx="5372425" cy="2242858"/>
          </a:xfrm>
          <a:prstGeom prst="rect">
            <a:avLst/>
          </a:prstGeom>
          <a:noFill/>
        </p:spPr>
        <p:txBody>
          <a:bodyPr wrap="square">
            <a:spAutoFit/>
          </a:bodyPr>
          <a:lstStyle/>
          <a:p>
            <a:pPr>
              <a:lnSpc>
                <a:spcPct val="150000"/>
              </a:lnSpc>
            </a:pPr>
            <a:r>
              <a:rPr lang="en-US" altLang="zh-CN" sz="2400" b="1" spc="300" dirty="0">
                <a:latin typeface="Times New Roman" panose="02020603050405020304" pitchFamily="18" charset="0"/>
                <a:ea typeface="+mj-ea"/>
                <a:cs typeface="Times New Roman" panose="02020603050405020304" pitchFamily="18" charset="0"/>
              </a:rPr>
              <a:t>12.1 </a:t>
            </a:r>
            <a:r>
              <a:rPr lang="zh-CN" altLang="en-US" sz="2400" b="1" spc="300" dirty="0">
                <a:latin typeface="Times New Roman" panose="02020603050405020304" pitchFamily="18" charset="0"/>
                <a:ea typeface="+mj-ea"/>
                <a:cs typeface="Times New Roman" panose="02020603050405020304" pitchFamily="18" charset="0"/>
              </a:rPr>
              <a:t>节流调速回路</a:t>
            </a:r>
            <a:endParaRPr lang="zh-CN" altLang="en-US" sz="2400" b="1" dirty="0">
              <a:latin typeface="Times New Roman" panose="02020603050405020304" pitchFamily="18" charset="0"/>
              <a:ea typeface="+mj-ea"/>
              <a:cs typeface="Times New Roman" panose="02020603050405020304" pitchFamily="18" charset="0"/>
            </a:endParaRPr>
          </a:p>
          <a:p>
            <a:pPr>
              <a:lnSpc>
                <a:spcPct val="150000"/>
              </a:lnSpc>
            </a:pPr>
            <a:r>
              <a:rPr lang="en-US" altLang="zh-CN" sz="2400" b="1" spc="300" dirty="0">
                <a:latin typeface="Times New Roman" panose="02020603050405020304" pitchFamily="18" charset="0"/>
                <a:ea typeface="+mj-ea"/>
                <a:cs typeface="Times New Roman" panose="02020603050405020304" pitchFamily="18" charset="0"/>
              </a:rPr>
              <a:t>12.2 </a:t>
            </a:r>
            <a:r>
              <a:rPr lang="zh-CN" altLang="en-US" sz="2400" b="1" spc="300" dirty="0">
                <a:latin typeface="Times New Roman" panose="02020603050405020304" pitchFamily="18" charset="0"/>
                <a:ea typeface="+mj-ea"/>
                <a:cs typeface="Times New Roman" panose="02020603050405020304" pitchFamily="18" charset="0"/>
              </a:rPr>
              <a:t>容积调速回路</a:t>
            </a:r>
            <a:endParaRPr lang="zh-CN" altLang="en-US" sz="2400" b="1" dirty="0">
              <a:latin typeface="Times New Roman" panose="02020603050405020304" pitchFamily="18" charset="0"/>
              <a:ea typeface="+mj-ea"/>
              <a:cs typeface="Times New Roman" panose="02020603050405020304" pitchFamily="18" charset="0"/>
            </a:endParaRPr>
          </a:p>
          <a:p>
            <a:pPr>
              <a:lnSpc>
                <a:spcPct val="150000"/>
              </a:lnSpc>
            </a:pPr>
            <a:r>
              <a:rPr lang="en-US" altLang="zh-CN" sz="2400" b="1" spc="300" dirty="0">
                <a:latin typeface="Times New Roman" panose="02020603050405020304" pitchFamily="18" charset="0"/>
                <a:ea typeface="+mj-ea"/>
                <a:cs typeface="Times New Roman" panose="02020603050405020304" pitchFamily="18" charset="0"/>
              </a:rPr>
              <a:t>12.3 </a:t>
            </a:r>
            <a:r>
              <a:rPr lang="zh-CN" altLang="en-US" sz="2400" b="1" spc="300" dirty="0">
                <a:latin typeface="Times New Roman" panose="02020603050405020304" pitchFamily="18" charset="0"/>
                <a:ea typeface="+mj-ea"/>
                <a:cs typeface="Times New Roman" panose="02020603050405020304" pitchFamily="18" charset="0"/>
              </a:rPr>
              <a:t>容积节流调速回路</a:t>
            </a:r>
            <a:endParaRPr lang="zh-CN" altLang="en-US" sz="2400" b="1" dirty="0">
              <a:latin typeface="Times New Roman" panose="02020603050405020304" pitchFamily="18" charset="0"/>
              <a:ea typeface="+mj-ea"/>
              <a:cs typeface="Times New Roman" panose="02020603050405020304" pitchFamily="18" charset="0"/>
            </a:endParaRPr>
          </a:p>
          <a:p>
            <a:pPr>
              <a:lnSpc>
                <a:spcPct val="150000"/>
              </a:lnSpc>
            </a:pPr>
            <a:r>
              <a:rPr lang="en-US" altLang="zh-CN" sz="2400" b="1" spc="300" dirty="0">
                <a:latin typeface="Times New Roman" panose="02020603050405020304" pitchFamily="18" charset="0"/>
                <a:ea typeface="+mj-ea"/>
                <a:cs typeface="Times New Roman" panose="02020603050405020304" pitchFamily="18" charset="0"/>
              </a:rPr>
              <a:t>12.4 </a:t>
            </a:r>
            <a:r>
              <a:rPr lang="zh-CN" altLang="en-US" sz="2400" b="1" spc="300" dirty="0">
                <a:latin typeface="Times New Roman" panose="02020603050405020304" pitchFamily="18" charset="0"/>
                <a:ea typeface="+mj-ea"/>
                <a:cs typeface="Times New Roman" panose="02020603050405020304" pitchFamily="18" charset="0"/>
              </a:rPr>
              <a:t>三类调速回路的比较的选用</a:t>
            </a:r>
            <a:endParaRPr lang="zh-CN" altLang="en-US" sz="2400" b="1" dirty="0">
              <a:latin typeface="Times New Roman" panose="02020603050405020304" pitchFamily="18" charset="0"/>
              <a:ea typeface="+mj-ea"/>
              <a:cs typeface="Times New Roman" panose="02020603050405020304" pitchFamily="18" charset="0"/>
            </a:endParaRPr>
          </a:p>
        </p:txBody>
      </p:sp>
      <p:cxnSp>
        <p:nvCxnSpPr>
          <p:cNvPr id="32" name="直接连接符 31">
            <a:extLst>
              <a:ext uri="{FF2B5EF4-FFF2-40B4-BE49-F238E27FC236}">
                <a16:creationId xmlns:a16="http://schemas.microsoft.com/office/drawing/2014/main" id="{4D7BD61E-14B6-4FE2-8261-87597607A0C0}"/>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3" name="图片 32">
            <a:extLst>
              <a:ext uri="{FF2B5EF4-FFF2-40B4-BE49-F238E27FC236}">
                <a16:creationId xmlns:a16="http://schemas.microsoft.com/office/drawing/2014/main" id="{9C7D28D0-DFA2-44D6-BFC1-A9BFCE6625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Tree>
    <p:extLst>
      <p:ext uri="{BB962C8B-B14F-4D97-AF65-F5344CB8AC3E}">
        <p14:creationId xmlns:p14="http://schemas.microsoft.com/office/powerpoint/2010/main" val="118621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5" name="矩形 4">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zh-CN" altLang="en-US" sz="3600" b="1" dirty="0">
                <a:solidFill>
                  <a:srgbClr val="003F88"/>
                </a:solidFill>
                <a:latin typeface="+mn-ea"/>
              </a:rPr>
              <a:t>概述</a:t>
            </a:r>
          </a:p>
        </p:txBody>
      </p:sp>
      <p:sp>
        <p:nvSpPr>
          <p:cNvPr id="12" name="圆角矩形 5">
            <a:extLst>
              <a:ext uri="{FF2B5EF4-FFF2-40B4-BE49-F238E27FC236}">
                <a16:creationId xmlns:a16="http://schemas.microsoft.com/office/drawing/2014/main" id="{380F0810-6746-49BD-9083-24136C05788F}"/>
              </a:ext>
            </a:extLst>
          </p:cNvPr>
          <p:cNvSpPr/>
          <p:nvPr/>
        </p:nvSpPr>
        <p:spPr>
          <a:xfrm>
            <a:off x="537633" y="5464246"/>
            <a:ext cx="11116733" cy="1355604"/>
          </a:xfrm>
          <a:prstGeom prst="roundRect">
            <a:avLst/>
          </a:prstGeom>
          <a:solidFill>
            <a:schemeClr val="accent1">
              <a:lumMod val="40000"/>
              <a:lumOff val="60000"/>
              <a:alpha val="80000"/>
            </a:schemeClr>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s-ES"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矩形 14">
            <a:extLst>
              <a:ext uri="{FF2B5EF4-FFF2-40B4-BE49-F238E27FC236}">
                <a16:creationId xmlns:a16="http://schemas.microsoft.com/office/drawing/2014/main" id="{1C0F927F-181E-4597-A753-A84F08A3A902}"/>
              </a:ext>
            </a:extLst>
          </p:cNvPr>
          <p:cNvSpPr/>
          <p:nvPr/>
        </p:nvSpPr>
        <p:spPr>
          <a:xfrm>
            <a:off x="642528" y="5469713"/>
            <a:ext cx="10728288" cy="1435136"/>
          </a:xfrm>
          <a:prstGeom prst="rect">
            <a:avLst/>
          </a:prstGeom>
        </p:spPr>
        <p:txBody>
          <a:bodyPr wrap="square">
            <a:spAutoFit/>
          </a:bodyPr>
          <a:lstStyle/>
          <a:p>
            <a:pPr algn="just">
              <a:lnSpc>
                <a:spcPct val="125000"/>
              </a:lnSpc>
              <a:spcAft>
                <a:spcPts val="0"/>
              </a:spcAft>
            </a:pPr>
            <a:r>
              <a:rPr lang="zh-CN" altLang="zh-CN" sz="2400" dirty="0">
                <a:solidFill>
                  <a:srgbClr val="FF0000"/>
                </a:solidFill>
                <a:latin typeface="+mj-ea"/>
                <a:ea typeface="+mj-ea"/>
                <a:cs typeface="Times New Roman" panose="02020603050405020304" pitchFamily="18" charset="0"/>
              </a:rPr>
              <a:t>调速回路</a:t>
            </a:r>
            <a:r>
              <a:rPr lang="zh-CN" altLang="en-US" sz="2400" dirty="0">
                <a:solidFill>
                  <a:srgbClr val="FF0000"/>
                </a:solidFill>
                <a:latin typeface="+mj-ea"/>
                <a:ea typeface="+mj-ea"/>
                <a:cs typeface="Times New Roman" panose="02020603050405020304" pitchFamily="18" charset="0"/>
              </a:rPr>
              <a:t>是</a:t>
            </a:r>
            <a:r>
              <a:rPr lang="zh-CN" altLang="zh-CN" sz="2400" dirty="0">
                <a:solidFill>
                  <a:srgbClr val="FF0000"/>
                </a:solidFill>
                <a:latin typeface="+mj-ea"/>
                <a:ea typeface="+mj-ea"/>
                <a:cs typeface="Times New Roman" panose="02020603050405020304" pitchFamily="18" charset="0"/>
              </a:rPr>
              <a:t>任何液压传动系统的核心部分。</a:t>
            </a:r>
            <a:r>
              <a:rPr lang="zh-CN" altLang="zh-CN" sz="2400" dirty="0">
                <a:solidFill>
                  <a:schemeClr val="tx1">
                    <a:lumMod val="75000"/>
                    <a:lumOff val="25000"/>
                  </a:schemeClr>
                </a:solidFill>
                <a:latin typeface="+mj-ea"/>
                <a:ea typeface="+mj-ea"/>
                <a:cs typeface="Times New Roman" panose="02020603050405020304" pitchFamily="18" charset="0"/>
              </a:rPr>
              <a:t>这种回路可以通过事先的调整或在工作过程中通过自动调节来改变执行元件的运行速度</a:t>
            </a:r>
            <a:r>
              <a:rPr lang="en-US" altLang="zh-CN" sz="2400" dirty="0">
                <a:solidFill>
                  <a:schemeClr val="tx1">
                    <a:lumMod val="75000"/>
                    <a:lumOff val="25000"/>
                  </a:schemeClr>
                </a:solidFill>
                <a:latin typeface="+mj-ea"/>
                <a:ea typeface="+mj-ea"/>
                <a:cs typeface="Times New Roman" panose="02020603050405020304" pitchFamily="18" charset="0"/>
              </a:rPr>
              <a:t>,</a:t>
            </a:r>
            <a:r>
              <a:rPr lang="zh-CN" altLang="zh-CN" sz="2400" dirty="0">
                <a:solidFill>
                  <a:schemeClr val="tx1">
                    <a:lumMod val="75000"/>
                    <a:lumOff val="25000"/>
                  </a:schemeClr>
                </a:solidFill>
                <a:latin typeface="+mj-ea"/>
                <a:ea typeface="+mj-ea"/>
                <a:cs typeface="Times New Roman" panose="02020603050405020304" pitchFamily="18" charset="0"/>
              </a:rPr>
              <a:t>但是它的主要功能却是在传递动力</a:t>
            </a:r>
            <a:r>
              <a:rPr lang="en-US" altLang="zh-CN" sz="2400" dirty="0">
                <a:solidFill>
                  <a:schemeClr val="tx1">
                    <a:lumMod val="75000"/>
                    <a:lumOff val="25000"/>
                  </a:schemeClr>
                </a:solidFill>
                <a:latin typeface="+mj-ea"/>
                <a:ea typeface="+mj-ea"/>
                <a:cs typeface="Times New Roman" panose="02020603050405020304" pitchFamily="18" charset="0"/>
              </a:rPr>
              <a:t>(</a:t>
            </a:r>
            <a:r>
              <a:rPr lang="zh-CN" altLang="zh-CN" sz="2400" dirty="0">
                <a:solidFill>
                  <a:schemeClr val="tx1">
                    <a:lumMod val="75000"/>
                    <a:lumOff val="25000"/>
                  </a:schemeClr>
                </a:solidFill>
                <a:latin typeface="+mj-ea"/>
                <a:ea typeface="+mj-ea"/>
                <a:cs typeface="Times New Roman" panose="02020603050405020304" pitchFamily="18" charset="0"/>
              </a:rPr>
              <a:t>功率</a:t>
            </a:r>
            <a:r>
              <a:rPr lang="en-US" altLang="zh-CN" sz="2400" dirty="0">
                <a:solidFill>
                  <a:schemeClr val="tx1">
                    <a:lumMod val="75000"/>
                    <a:lumOff val="25000"/>
                  </a:schemeClr>
                </a:solidFill>
                <a:latin typeface="+mj-ea"/>
                <a:ea typeface="+mj-ea"/>
                <a:cs typeface="Times New Roman" panose="02020603050405020304" pitchFamily="18" charset="0"/>
              </a:rPr>
              <a:t>)</a:t>
            </a:r>
            <a:endParaRPr lang="zh-CN" altLang="zh-CN" sz="2400" dirty="0">
              <a:solidFill>
                <a:schemeClr val="tx1">
                  <a:lumMod val="75000"/>
                  <a:lumOff val="25000"/>
                </a:schemeClr>
              </a:solidFill>
              <a:latin typeface="+mj-ea"/>
              <a:ea typeface="+mj-ea"/>
              <a:cs typeface="Times New Roman" panose="02020603050405020304" pitchFamily="18" charset="0"/>
            </a:endParaRPr>
          </a:p>
        </p:txBody>
      </p:sp>
      <p:grpSp>
        <p:nvGrpSpPr>
          <p:cNvPr id="4" name="组合 3">
            <a:extLst>
              <a:ext uri="{FF2B5EF4-FFF2-40B4-BE49-F238E27FC236}">
                <a16:creationId xmlns:a16="http://schemas.microsoft.com/office/drawing/2014/main" id="{F18E5DB5-A2DB-8FD4-5A10-37CAC4661A6B}"/>
              </a:ext>
            </a:extLst>
          </p:cNvPr>
          <p:cNvGrpSpPr>
            <a:grpSpLocks noChangeAspect="1"/>
          </p:cNvGrpSpPr>
          <p:nvPr/>
        </p:nvGrpSpPr>
        <p:grpSpPr>
          <a:xfrm>
            <a:off x="1275815" y="938623"/>
            <a:ext cx="1556871" cy="3880442"/>
            <a:chOff x="6950035" y="1019805"/>
            <a:chExt cx="2072527" cy="5165696"/>
          </a:xfrm>
        </p:grpSpPr>
        <p:sp>
          <p:nvSpPr>
            <p:cNvPr id="6" name="Rectangle 78">
              <a:extLst>
                <a:ext uri="{FF2B5EF4-FFF2-40B4-BE49-F238E27FC236}">
                  <a16:creationId xmlns:a16="http://schemas.microsoft.com/office/drawing/2014/main" id="{D0E371B3-053A-1FEA-7BA2-101A85FE7D0C}"/>
                </a:ext>
              </a:extLst>
            </p:cNvPr>
            <p:cNvSpPr>
              <a:spLocks noChangeArrowheads="1"/>
            </p:cNvSpPr>
            <p:nvPr/>
          </p:nvSpPr>
          <p:spPr bwMode="auto">
            <a:xfrm>
              <a:off x="7064597" y="1686346"/>
              <a:ext cx="249953" cy="4082566"/>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7" name="Rectangle 79">
              <a:extLst>
                <a:ext uri="{FF2B5EF4-FFF2-40B4-BE49-F238E27FC236}">
                  <a16:creationId xmlns:a16="http://schemas.microsoft.com/office/drawing/2014/main" id="{66033325-EF60-1288-5D5F-67A8014C5A27}"/>
                </a:ext>
              </a:extLst>
            </p:cNvPr>
            <p:cNvSpPr>
              <a:spLocks noChangeArrowheads="1"/>
            </p:cNvSpPr>
            <p:nvPr/>
          </p:nvSpPr>
          <p:spPr bwMode="auto">
            <a:xfrm>
              <a:off x="8647633" y="1686346"/>
              <a:ext cx="249953" cy="4082566"/>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8" name="Rectangle 80">
              <a:extLst>
                <a:ext uri="{FF2B5EF4-FFF2-40B4-BE49-F238E27FC236}">
                  <a16:creationId xmlns:a16="http://schemas.microsoft.com/office/drawing/2014/main" id="{A0A216E3-075E-9052-2A81-1BCC26821F44}"/>
                </a:ext>
              </a:extLst>
            </p:cNvPr>
            <p:cNvSpPr>
              <a:spLocks noChangeArrowheads="1"/>
            </p:cNvSpPr>
            <p:nvPr/>
          </p:nvSpPr>
          <p:spPr bwMode="auto">
            <a:xfrm>
              <a:off x="6981279" y="1353076"/>
              <a:ext cx="1999624" cy="416588"/>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9" name="Freeform 81">
              <a:extLst>
                <a:ext uri="{FF2B5EF4-FFF2-40B4-BE49-F238E27FC236}">
                  <a16:creationId xmlns:a16="http://schemas.microsoft.com/office/drawing/2014/main" id="{D059357B-A1EC-5BB2-C6AB-2ADD8EB014FB}"/>
                </a:ext>
              </a:extLst>
            </p:cNvPr>
            <p:cNvSpPr>
              <a:spLocks/>
            </p:cNvSpPr>
            <p:nvPr/>
          </p:nvSpPr>
          <p:spPr bwMode="auto">
            <a:xfrm>
              <a:off x="6981279" y="5435642"/>
              <a:ext cx="1999624" cy="749859"/>
            </a:xfrm>
            <a:custGeom>
              <a:avLst/>
              <a:gdLst>
                <a:gd name="T0" fmla="*/ 0 w 1152"/>
                <a:gd name="T1" fmla="*/ 0 h 432"/>
                <a:gd name="T2" fmla="*/ 533400 w 1152"/>
                <a:gd name="T3" fmla="*/ 0 h 432"/>
                <a:gd name="T4" fmla="*/ 708025 w 1152"/>
                <a:gd name="T5" fmla="*/ 336550 h 432"/>
                <a:gd name="T6" fmla="*/ 1123950 w 1152"/>
                <a:gd name="T7" fmla="*/ 336550 h 432"/>
                <a:gd name="T8" fmla="*/ 1295400 w 1152"/>
                <a:gd name="T9" fmla="*/ 0 h 432"/>
                <a:gd name="T10" fmla="*/ 1828800 w 1152"/>
                <a:gd name="T11" fmla="*/ 0 h 432"/>
                <a:gd name="T12" fmla="*/ 1828800 w 1152"/>
                <a:gd name="T13" fmla="*/ 685800 h 432"/>
                <a:gd name="T14" fmla="*/ 0 w 1152"/>
                <a:gd name="T15" fmla="*/ 685800 h 432"/>
                <a:gd name="T16" fmla="*/ 0 w 1152"/>
                <a:gd name="T17" fmla="*/ 0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432">
                  <a:moveTo>
                    <a:pt x="0" y="0"/>
                  </a:moveTo>
                  <a:lnTo>
                    <a:pt x="336" y="0"/>
                  </a:lnTo>
                  <a:lnTo>
                    <a:pt x="446" y="212"/>
                  </a:lnTo>
                  <a:lnTo>
                    <a:pt x="708" y="212"/>
                  </a:lnTo>
                  <a:lnTo>
                    <a:pt x="816" y="0"/>
                  </a:lnTo>
                  <a:lnTo>
                    <a:pt x="1152" y="0"/>
                  </a:lnTo>
                  <a:lnTo>
                    <a:pt x="1152" y="432"/>
                  </a:lnTo>
                  <a:lnTo>
                    <a:pt x="0" y="432"/>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 name="Group 82">
              <a:extLst>
                <a:ext uri="{FF2B5EF4-FFF2-40B4-BE49-F238E27FC236}">
                  <a16:creationId xmlns:a16="http://schemas.microsoft.com/office/drawing/2014/main" id="{ED470703-DDA8-FA84-B264-6F073B636AE5}"/>
                </a:ext>
              </a:extLst>
            </p:cNvPr>
            <p:cNvGrpSpPr>
              <a:grpSpLocks/>
            </p:cNvGrpSpPr>
            <p:nvPr/>
          </p:nvGrpSpPr>
          <p:grpSpPr bwMode="auto">
            <a:xfrm>
              <a:off x="6981279" y="3519335"/>
              <a:ext cx="1999624" cy="1666353"/>
              <a:chOff x="1152" y="2064"/>
              <a:chExt cx="1152" cy="960"/>
            </a:xfrm>
          </p:grpSpPr>
          <p:sp>
            <p:nvSpPr>
              <p:cNvPr id="44" name="Freeform 83">
                <a:extLst>
                  <a:ext uri="{FF2B5EF4-FFF2-40B4-BE49-F238E27FC236}">
                    <a16:creationId xmlns:a16="http://schemas.microsoft.com/office/drawing/2014/main" id="{643034E0-91FD-B07B-1F0B-F89BD844DE8A}"/>
                  </a:ext>
                </a:extLst>
              </p:cNvPr>
              <p:cNvSpPr>
                <a:spLocks/>
              </p:cNvSpPr>
              <p:nvPr/>
            </p:nvSpPr>
            <p:spPr bwMode="auto">
              <a:xfrm>
                <a:off x="1152" y="2736"/>
                <a:ext cx="1152" cy="288"/>
              </a:xfrm>
              <a:custGeom>
                <a:avLst/>
                <a:gdLst>
                  <a:gd name="T0" fmla="*/ 0 w 1152"/>
                  <a:gd name="T1" fmla="*/ 0 h 288"/>
                  <a:gd name="T2" fmla="*/ 1152 w 1152"/>
                  <a:gd name="T3" fmla="*/ 0 h 288"/>
                  <a:gd name="T4" fmla="*/ 1152 w 1152"/>
                  <a:gd name="T5" fmla="*/ 96 h 288"/>
                  <a:gd name="T6" fmla="*/ 768 w 1152"/>
                  <a:gd name="T7" fmla="*/ 96 h 288"/>
                  <a:gd name="T8" fmla="*/ 672 w 1152"/>
                  <a:gd name="T9" fmla="*/ 288 h 288"/>
                  <a:gd name="T10" fmla="*/ 480 w 1152"/>
                  <a:gd name="T11" fmla="*/ 288 h 288"/>
                  <a:gd name="T12" fmla="*/ 384 w 1152"/>
                  <a:gd name="T13" fmla="*/ 96 h 288"/>
                  <a:gd name="T14" fmla="*/ 0 w 1152"/>
                  <a:gd name="T15" fmla="*/ 96 h 288"/>
                  <a:gd name="T16" fmla="*/ 0 w 1152"/>
                  <a:gd name="T17" fmla="*/ 0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288">
                    <a:moveTo>
                      <a:pt x="0" y="0"/>
                    </a:moveTo>
                    <a:lnTo>
                      <a:pt x="1152" y="0"/>
                    </a:lnTo>
                    <a:lnTo>
                      <a:pt x="1152" y="96"/>
                    </a:lnTo>
                    <a:lnTo>
                      <a:pt x="768" y="96"/>
                    </a:lnTo>
                    <a:lnTo>
                      <a:pt x="672" y="288"/>
                    </a:lnTo>
                    <a:lnTo>
                      <a:pt x="480" y="288"/>
                    </a:lnTo>
                    <a:lnTo>
                      <a:pt x="384" y="96"/>
                    </a:lnTo>
                    <a:lnTo>
                      <a:pt x="0" y="96"/>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 name="Group 84">
                <a:extLst>
                  <a:ext uri="{FF2B5EF4-FFF2-40B4-BE49-F238E27FC236}">
                    <a16:creationId xmlns:a16="http://schemas.microsoft.com/office/drawing/2014/main" id="{0C05EB8E-0EF1-C446-3D11-687E8D973A87}"/>
                  </a:ext>
                </a:extLst>
              </p:cNvPr>
              <p:cNvGrpSpPr>
                <a:grpSpLocks/>
              </p:cNvGrpSpPr>
              <p:nvPr/>
            </p:nvGrpSpPr>
            <p:grpSpPr bwMode="auto">
              <a:xfrm>
                <a:off x="1680" y="2064"/>
                <a:ext cx="96" cy="672"/>
                <a:chOff x="1680" y="2064"/>
                <a:chExt cx="96" cy="672"/>
              </a:xfrm>
            </p:grpSpPr>
            <p:sp>
              <p:nvSpPr>
                <p:cNvPr id="46" name="Rectangle 85">
                  <a:extLst>
                    <a:ext uri="{FF2B5EF4-FFF2-40B4-BE49-F238E27FC236}">
                      <a16:creationId xmlns:a16="http://schemas.microsoft.com/office/drawing/2014/main" id="{341F77EC-2D25-DC84-4A8E-B07B92FCEE9B}"/>
                    </a:ext>
                  </a:extLst>
                </p:cNvPr>
                <p:cNvSpPr>
                  <a:spLocks noChangeArrowheads="1"/>
                </p:cNvSpPr>
                <p:nvPr/>
              </p:nvSpPr>
              <p:spPr bwMode="auto">
                <a:xfrm>
                  <a:off x="1680" y="2064"/>
                  <a:ext cx="96" cy="6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47" name="Line 86">
                  <a:extLst>
                    <a:ext uri="{FF2B5EF4-FFF2-40B4-BE49-F238E27FC236}">
                      <a16:creationId xmlns:a16="http://schemas.microsoft.com/office/drawing/2014/main" id="{FBBE3DA6-1B46-3B77-066B-34013BFF3EB9}"/>
                    </a:ext>
                  </a:extLst>
                </p:cNvPr>
                <p:cNvSpPr>
                  <a:spLocks noChangeShapeType="1"/>
                </p:cNvSpPr>
                <p:nvPr/>
              </p:nvSpPr>
              <p:spPr bwMode="auto">
                <a:xfrm flipV="1">
                  <a:off x="1704" y="206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3" name="Rectangle 87">
              <a:extLst>
                <a:ext uri="{FF2B5EF4-FFF2-40B4-BE49-F238E27FC236}">
                  <a16:creationId xmlns:a16="http://schemas.microsoft.com/office/drawing/2014/main" id="{904DF050-7ED7-3B50-EBAA-58B70132E3B8}"/>
                </a:ext>
              </a:extLst>
            </p:cNvPr>
            <p:cNvSpPr>
              <a:spLocks noChangeArrowheads="1"/>
            </p:cNvSpPr>
            <p:nvPr/>
          </p:nvSpPr>
          <p:spPr bwMode="auto">
            <a:xfrm rot="5400000">
              <a:off x="7950715" y="3943735"/>
              <a:ext cx="65960" cy="324592"/>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4" name="Rectangle 88">
              <a:extLst>
                <a:ext uri="{FF2B5EF4-FFF2-40B4-BE49-F238E27FC236}">
                  <a16:creationId xmlns:a16="http://schemas.microsoft.com/office/drawing/2014/main" id="{A2385745-ACB5-5CC0-B81A-578DD2E66C2D}"/>
                </a:ext>
              </a:extLst>
            </p:cNvPr>
            <p:cNvSpPr>
              <a:spLocks noChangeArrowheads="1"/>
            </p:cNvSpPr>
            <p:nvPr/>
          </p:nvSpPr>
          <p:spPr bwMode="auto">
            <a:xfrm rot="5400000">
              <a:off x="7113200" y="2753853"/>
              <a:ext cx="1735785" cy="322856"/>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6" name="Rectangle 89">
              <a:extLst>
                <a:ext uri="{FF2B5EF4-FFF2-40B4-BE49-F238E27FC236}">
                  <a16:creationId xmlns:a16="http://schemas.microsoft.com/office/drawing/2014/main" id="{E2A16D48-8EA2-F338-0BE3-632BDF259F6F}"/>
                </a:ext>
              </a:extLst>
            </p:cNvPr>
            <p:cNvSpPr>
              <a:spLocks noChangeArrowheads="1"/>
            </p:cNvSpPr>
            <p:nvPr/>
          </p:nvSpPr>
          <p:spPr bwMode="auto">
            <a:xfrm rot="5400000">
              <a:off x="7290249" y="2890981"/>
              <a:ext cx="1735785" cy="48602"/>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7" name="Rectangle 90">
              <a:extLst>
                <a:ext uri="{FF2B5EF4-FFF2-40B4-BE49-F238E27FC236}">
                  <a16:creationId xmlns:a16="http://schemas.microsoft.com/office/drawing/2014/main" id="{AF6DC5D1-8564-D1F0-0721-9C874A64DAC0}"/>
                </a:ext>
              </a:extLst>
            </p:cNvPr>
            <p:cNvSpPr>
              <a:spLocks noChangeArrowheads="1"/>
            </p:cNvSpPr>
            <p:nvPr/>
          </p:nvSpPr>
          <p:spPr bwMode="auto">
            <a:xfrm rot="5400000">
              <a:off x="6934414" y="2890981"/>
              <a:ext cx="1735785" cy="48602"/>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8" name="Rectangle 91">
              <a:extLst>
                <a:ext uri="{FF2B5EF4-FFF2-40B4-BE49-F238E27FC236}">
                  <a16:creationId xmlns:a16="http://schemas.microsoft.com/office/drawing/2014/main" id="{252C3EF1-8267-0C19-48DF-3EB18F987953}"/>
                </a:ext>
              </a:extLst>
            </p:cNvPr>
            <p:cNvSpPr>
              <a:spLocks noChangeArrowheads="1"/>
            </p:cNvSpPr>
            <p:nvPr/>
          </p:nvSpPr>
          <p:spPr bwMode="auto">
            <a:xfrm rot="5400000">
              <a:off x="7834418" y="1688950"/>
              <a:ext cx="291612" cy="453039"/>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9" name="Rectangle 92">
              <a:extLst>
                <a:ext uri="{FF2B5EF4-FFF2-40B4-BE49-F238E27FC236}">
                  <a16:creationId xmlns:a16="http://schemas.microsoft.com/office/drawing/2014/main" id="{42A42FEB-75BF-CDEA-3996-299A2802DA6D}"/>
                </a:ext>
              </a:extLst>
            </p:cNvPr>
            <p:cNvSpPr>
              <a:spLocks noChangeArrowheads="1"/>
            </p:cNvSpPr>
            <p:nvPr/>
          </p:nvSpPr>
          <p:spPr bwMode="auto">
            <a:xfrm rot="5400000">
              <a:off x="7770194" y="3639973"/>
              <a:ext cx="420060" cy="453039"/>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0" name="Rectangle 93">
              <a:extLst>
                <a:ext uri="{FF2B5EF4-FFF2-40B4-BE49-F238E27FC236}">
                  <a16:creationId xmlns:a16="http://schemas.microsoft.com/office/drawing/2014/main" id="{B11061AE-1ECE-85B4-F186-5E620DE3C42F}"/>
                </a:ext>
              </a:extLst>
            </p:cNvPr>
            <p:cNvSpPr>
              <a:spLocks noChangeArrowheads="1"/>
            </p:cNvSpPr>
            <p:nvPr/>
          </p:nvSpPr>
          <p:spPr bwMode="auto">
            <a:xfrm rot="10800000">
              <a:off x="7533259" y="1769664"/>
              <a:ext cx="893930" cy="64225"/>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grpSp>
          <p:nvGrpSpPr>
            <p:cNvPr id="21" name="Group 94">
              <a:extLst>
                <a:ext uri="{FF2B5EF4-FFF2-40B4-BE49-F238E27FC236}">
                  <a16:creationId xmlns:a16="http://schemas.microsoft.com/office/drawing/2014/main" id="{81CFAEF4-6D36-0C2D-B7BD-78C312ABCE68}"/>
                </a:ext>
              </a:extLst>
            </p:cNvPr>
            <p:cNvGrpSpPr>
              <a:grpSpLocks/>
            </p:cNvGrpSpPr>
            <p:nvPr/>
          </p:nvGrpSpPr>
          <p:grpSpPr bwMode="auto">
            <a:xfrm rot="10800000">
              <a:off x="7564503" y="1833889"/>
              <a:ext cx="138863" cy="62488"/>
              <a:chOff x="2203" y="3103"/>
              <a:chExt cx="73" cy="33"/>
            </a:xfrm>
          </p:grpSpPr>
          <p:sp>
            <p:nvSpPr>
              <p:cNvPr id="40" name="Rectangle 95">
                <a:extLst>
                  <a:ext uri="{FF2B5EF4-FFF2-40B4-BE49-F238E27FC236}">
                    <a16:creationId xmlns:a16="http://schemas.microsoft.com/office/drawing/2014/main" id="{2C49BDBF-2468-9A68-2F36-6E57DDE4FA98}"/>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41" name="Freeform 96">
                <a:extLst>
                  <a:ext uri="{FF2B5EF4-FFF2-40B4-BE49-F238E27FC236}">
                    <a16:creationId xmlns:a16="http://schemas.microsoft.com/office/drawing/2014/main" id="{22126C7F-68A6-E4E3-33D7-24FA7055811D}"/>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97">
                <a:extLst>
                  <a:ext uri="{FF2B5EF4-FFF2-40B4-BE49-F238E27FC236}">
                    <a16:creationId xmlns:a16="http://schemas.microsoft.com/office/drawing/2014/main" id="{660A5D8B-90D9-5247-4BAF-6BB320F0CA60}"/>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98">
                <a:extLst>
                  <a:ext uri="{FF2B5EF4-FFF2-40B4-BE49-F238E27FC236}">
                    <a16:creationId xmlns:a16="http://schemas.microsoft.com/office/drawing/2014/main" id="{2F136E8E-73A1-2DDB-2E9B-C98850928C54}"/>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 name="Group 99">
              <a:extLst>
                <a:ext uri="{FF2B5EF4-FFF2-40B4-BE49-F238E27FC236}">
                  <a16:creationId xmlns:a16="http://schemas.microsoft.com/office/drawing/2014/main" id="{AAFFEF62-7AB2-5393-1E31-AA0BE6584BD2}"/>
                </a:ext>
              </a:extLst>
            </p:cNvPr>
            <p:cNvGrpSpPr>
              <a:grpSpLocks/>
            </p:cNvGrpSpPr>
            <p:nvPr/>
          </p:nvGrpSpPr>
          <p:grpSpPr bwMode="auto">
            <a:xfrm rot="10800000">
              <a:off x="8265760" y="1835624"/>
              <a:ext cx="137128" cy="62488"/>
              <a:chOff x="2203" y="3103"/>
              <a:chExt cx="73" cy="33"/>
            </a:xfrm>
          </p:grpSpPr>
          <p:sp>
            <p:nvSpPr>
              <p:cNvPr id="36" name="Rectangle 100">
                <a:extLst>
                  <a:ext uri="{FF2B5EF4-FFF2-40B4-BE49-F238E27FC236}">
                    <a16:creationId xmlns:a16="http://schemas.microsoft.com/office/drawing/2014/main" id="{F6126D01-87FC-38A5-EE55-AFC871E9F23E}"/>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37" name="Freeform 101">
                <a:extLst>
                  <a:ext uri="{FF2B5EF4-FFF2-40B4-BE49-F238E27FC236}">
                    <a16:creationId xmlns:a16="http://schemas.microsoft.com/office/drawing/2014/main" id="{B5DCDCD5-6757-A669-CDE1-021BB23863F0}"/>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Freeform 102">
                <a:extLst>
                  <a:ext uri="{FF2B5EF4-FFF2-40B4-BE49-F238E27FC236}">
                    <a16:creationId xmlns:a16="http://schemas.microsoft.com/office/drawing/2014/main" id="{7473194F-34FB-BE9F-9263-27A26D528AE0}"/>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103">
                <a:extLst>
                  <a:ext uri="{FF2B5EF4-FFF2-40B4-BE49-F238E27FC236}">
                    <a16:creationId xmlns:a16="http://schemas.microsoft.com/office/drawing/2014/main" id="{B62B1D21-6DE7-D252-5D9B-F04A28811BF6}"/>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 name="Group 104">
              <a:extLst>
                <a:ext uri="{FF2B5EF4-FFF2-40B4-BE49-F238E27FC236}">
                  <a16:creationId xmlns:a16="http://schemas.microsoft.com/office/drawing/2014/main" id="{3B1F629C-593C-C00F-9EF3-A13A78A0C5D5}"/>
                </a:ext>
              </a:extLst>
            </p:cNvPr>
            <p:cNvGrpSpPr>
              <a:grpSpLocks/>
            </p:cNvGrpSpPr>
            <p:nvPr/>
          </p:nvGrpSpPr>
          <p:grpSpPr bwMode="auto">
            <a:xfrm rot="10800000">
              <a:off x="8522656" y="1127424"/>
              <a:ext cx="499906" cy="227388"/>
              <a:chOff x="2203" y="3103"/>
              <a:chExt cx="73" cy="33"/>
            </a:xfrm>
          </p:grpSpPr>
          <p:sp>
            <p:nvSpPr>
              <p:cNvPr id="32" name="Rectangle 105">
                <a:extLst>
                  <a:ext uri="{FF2B5EF4-FFF2-40B4-BE49-F238E27FC236}">
                    <a16:creationId xmlns:a16="http://schemas.microsoft.com/office/drawing/2014/main" id="{0C82270A-741A-7C16-72BF-5871653587BC}"/>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33" name="Freeform 106">
                <a:extLst>
                  <a:ext uri="{FF2B5EF4-FFF2-40B4-BE49-F238E27FC236}">
                    <a16:creationId xmlns:a16="http://schemas.microsoft.com/office/drawing/2014/main" id="{944B4697-3C1F-8916-F48F-E0338CE1EE9B}"/>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Freeform 107">
                <a:extLst>
                  <a:ext uri="{FF2B5EF4-FFF2-40B4-BE49-F238E27FC236}">
                    <a16:creationId xmlns:a16="http://schemas.microsoft.com/office/drawing/2014/main" id="{56939DB8-B0FE-F049-C073-235ABEC2D198}"/>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Freeform 108">
                <a:extLst>
                  <a:ext uri="{FF2B5EF4-FFF2-40B4-BE49-F238E27FC236}">
                    <a16:creationId xmlns:a16="http://schemas.microsoft.com/office/drawing/2014/main" id="{2611FFCA-4B5B-EB81-6AC0-A83A999E2B98}"/>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 name="Freeform 109">
              <a:extLst>
                <a:ext uri="{FF2B5EF4-FFF2-40B4-BE49-F238E27FC236}">
                  <a16:creationId xmlns:a16="http://schemas.microsoft.com/office/drawing/2014/main" id="{77E3A58B-B135-A62A-5D40-817310422F29}"/>
                </a:ext>
              </a:extLst>
            </p:cNvPr>
            <p:cNvSpPr>
              <a:spLocks/>
            </p:cNvSpPr>
            <p:nvPr/>
          </p:nvSpPr>
          <p:spPr bwMode="auto">
            <a:xfrm>
              <a:off x="8647633" y="1019805"/>
              <a:ext cx="249953" cy="104147"/>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nvGrpSpPr>
            <p:cNvPr id="25" name="Group 110">
              <a:extLst>
                <a:ext uri="{FF2B5EF4-FFF2-40B4-BE49-F238E27FC236}">
                  <a16:creationId xmlns:a16="http://schemas.microsoft.com/office/drawing/2014/main" id="{2143EA6E-5414-9E4A-132A-391441CA2055}"/>
                </a:ext>
              </a:extLst>
            </p:cNvPr>
            <p:cNvGrpSpPr>
              <a:grpSpLocks/>
            </p:cNvGrpSpPr>
            <p:nvPr/>
          </p:nvGrpSpPr>
          <p:grpSpPr bwMode="auto">
            <a:xfrm rot="10800000">
              <a:off x="6950035" y="1127424"/>
              <a:ext cx="499906" cy="227388"/>
              <a:chOff x="2203" y="3103"/>
              <a:chExt cx="73" cy="33"/>
            </a:xfrm>
          </p:grpSpPr>
          <p:sp>
            <p:nvSpPr>
              <p:cNvPr id="28" name="Rectangle 111">
                <a:extLst>
                  <a:ext uri="{FF2B5EF4-FFF2-40B4-BE49-F238E27FC236}">
                    <a16:creationId xmlns:a16="http://schemas.microsoft.com/office/drawing/2014/main" id="{9E713A21-828C-44B6-CADE-4A0C61EF7679}"/>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9" name="Freeform 112">
                <a:extLst>
                  <a:ext uri="{FF2B5EF4-FFF2-40B4-BE49-F238E27FC236}">
                    <a16:creationId xmlns:a16="http://schemas.microsoft.com/office/drawing/2014/main" id="{1D7681B6-0C54-6078-73A4-F202AD3B38A5}"/>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Freeform 113">
                <a:extLst>
                  <a:ext uri="{FF2B5EF4-FFF2-40B4-BE49-F238E27FC236}">
                    <a16:creationId xmlns:a16="http://schemas.microsoft.com/office/drawing/2014/main" id="{A17C588D-D9D7-3ABB-7C2F-41D2B7424167}"/>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Freeform 114">
                <a:extLst>
                  <a:ext uri="{FF2B5EF4-FFF2-40B4-BE49-F238E27FC236}">
                    <a16:creationId xmlns:a16="http://schemas.microsoft.com/office/drawing/2014/main" id="{3D976134-BB66-7D81-276E-BB219F4EA3F9}"/>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 name="Freeform 115">
              <a:extLst>
                <a:ext uri="{FF2B5EF4-FFF2-40B4-BE49-F238E27FC236}">
                  <a16:creationId xmlns:a16="http://schemas.microsoft.com/office/drawing/2014/main" id="{CE8992E8-5ADC-FC4B-2489-2F48D3598E81}"/>
                </a:ext>
              </a:extLst>
            </p:cNvPr>
            <p:cNvSpPr>
              <a:spLocks/>
            </p:cNvSpPr>
            <p:nvPr/>
          </p:nvSpPr>
          <p:spPr bwMode="auto">
            <a:xfrm>
              <a:off x="7075012" y="1019805"/>
              <a:ext cx="249953" cy="104147"/>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27" name="Rectangle 116">
              <a:extLst>
                <a:ext uri="{FF2B5EF4-FFF2-40B4-BE49-F238E27FC236}">
                  <a16:creationId xmlns:a16="http://schemas.microsoft.com/office/drawing/2014/main" id="{6370D35C-940C-F030-2800-76780FFB8ADE}"/>
                </a:ext>
              </a:extLst>
            </p:cNvPr>
            <p:cNvSpPr>
              <a:spLocks noChangeArrowheads="1"/>
            </p:cNvSpPr>
            <p:nvPr/>
          </p:nvSpPr>
          <p:spPr bwMode="auto">
            <a:xfrm>
              <a:off x="7352737" y="5352324"/>
              <a:ext cx="1249765" cy="8331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grpSp>
      <p:sp>
        <p:nvSpPr>
          <p:cNvPr id="48" name="TextBox 43">
            <a:extLst>
              <a:ext uri="{FF2B5EF4-FFF2-40B4-BE49-F238E27FC236}">
                <a16:creationId xmlns:a16="http://schemas.microsoft.com/office/drawing/2014/main" id="{18AE5A49-60C0-6215-BE7E-199015F558FF}"/>
              </a:ext>
            </a:extLst>
          </p:cNvPr>
          <p:cNvSpPr txBox="1"/>
          <p:nvPr/>
        </p:nvSpPr>
        <p:spPr>
          <a:xfrm>
            <a:off x="1385414" y="4962580"/>
            <a:ext cx="1333206" cy="430887"/>
          </a:xfrm>
          <a:prstGeom prst="rect">
            <a:avLst/>
          </a:prstGeom>
          <a:noFill/>
        </p:spPr>
        <p:txBody>
          <a:bodyPr wrap="square" rtlCol="0">
            <a:spAutoFit/>
          </a:bodyPr>
          <a:lstStyle/>
          <a:p>
            <a:pPr algn="ctr"/>
            <a:r>
              <a:rPr lang="zh-CN" altLang="en-US" sz="2200" b="1" dirty="0">
                <a:latin typeface="华文中宋" panose="02010600040101010101" pitchFamily="2" charset="-122"/>
                <a:ea typeface="华文中宋" panose="02010600040101010101" pitchFamily="2" charset="-122"/>
              </a:rPr>
              <a:t>初始</a:t>
            </a:r>
          </a:p>
        </p:txBody>
      </p:sp>
      <p:grpSp>
        <p:nvGrpSpPr>
          <p:cNvPr id="49" name="组合 48">
            <a:extLst>
              <a:ext uri="{FF2B5EF4-FFF2-40B4-BE49-F238E27FC236}">
                <a16:creationId xmlns:a16="http://schemas.microsoft.com/office/drawing/2014/main" id="{FFAB3391-1900-4F72-4E7C-407EC482F0A1}"/>
              </a:ext>
            </a:extLst>
          </p:cNvPr>
          <p:cNvGrpSpPr/>
          <p:nvPr/>
        </p:nvGrpSpPr>
        <p:grpSpPr>
          <a:xfrm>
            <a:off x="2826550" y="938623"/>
            <a:ext cx="2001553" cy="4452499"/>
            <a:chOff x="1696250" y="1673458"/>
            <a:chExt cx="2001553" cy="4452499"/>
          </a:xfrm>
        </p:grpSpPr>
        <p:grpSp>
          <p:nvGrpSpPr>
            <p:cNvPr id="50" name="组合 49">
              <a:extLst>
                <a:ext uri="{FF2B5EF4-FFF2-40B4-BE49-F238E27FC236}">
                  <a16:creationId xmlns:a16="http://schemas.microsoft.com/office/drawing/2014/main" id="{EC887EF2-FA09-D2BB-22E6-4BE406287C11}"/>
                </a:ext>
              </a:extLst>
            </p:cNvPr>
            <p:cNvGrpSpPr/>
            <p:nvPr/>
          </p:nvGrpSpPr>
          <p:grpSpPr>
            <a:xfrm>
              <a:off x="1696250" y="1673458"/>
              <a:ext cx="2001553" cy="3880442"/>
              <a:chOff x="2069795" y="1674259"/>
              <a:chExt cx="2371272" cy="4597224"/>
            </a:xfrm>
          </p:grpSpPr>
          <p:sp>
            <p:nvSpPr>
              <p:cNvPr id="52" name="右箭头 47">
                <a:extLst>
                  <a:ext uri="{FF2B5EF4-FFF2-40B4-BE49-F238E27FC236}">
                    <a16:creationId xmlns:a16="http://schemas.microsoft.com/office/drawing/2014/main" id="{580D5659-2511-F8EA-06F0-E94D90DB6149}"/>
                  </a:ext>
                </a:extLst>
              </p:cNvPr>
              <p:cNvSpPr/>
              <p:nvPr/>
            </p:nvSpPr>
            <p:spPr bwMode="auto">
              <a:xfrm>
                <a:off x="2069795" y="3295727"/>
                <a:ext cx="477837" cy="122363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53" name="Rectangle 78">
                <a:extLst>
                  <a:ext uri="{FF2B5EF4-FFF2-40B4-BE49-F238E27FC236}">
                    <a16:creationId xmlns:a16="http://schemas.microsoft.com/office/drawing/2014/main" id="{996C3984-989B-699A-8374-D1E01D419E52}"/>
                  </a:ext>
                </a:extLst>
              </p:cNvPr>
              <p:cNvSpPr>
                <a:spLocks noChangeArrowheads="1"/>
              </p:cNvSpPr>
              <p:nvPr/>
            </p:nvSpPr>
            <p:spPr bwMode="auto">
              <a:xfrm>
                <a:off x="2698571" y="2267449"/>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54" name="Rectangle 79">
                <a:extLst>
                  <a:ext uri="{FF2B5EF4-FFF2-40B4-BE49-F238E27FC236}">
                    <a16:creationId xmlns:a16="http://schemas.microsoft.com/office/drawing/2014/main" id="{8F98AA35-0906-D8E7-E89A-B4A6ED862A9D}"/>
                  </a:ext>
                </a:extLst>
              </p:cNvPr>
              <p:cNvSpPr>
                <a:spLocks noChangeArrowheads="1"/>
              </p:cNvSpPr>
              <p:nvPr/>
            </p:nvSpPr>
            <p:spPr bwMode="auto">
              <a:xfrm>
                <a:off x="4107398" y="2267449"/>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55" name="Rectangle 80">
                <a:extLst>
                  <a:ext uri="{FF2B5EF4-FFF2-40B4-BE49-F238E27FC236}">
                    <a16:creationId xmlns:a16="http://schemas.microsoft.com/office/drawing/2014/main" id="{75ADE5A8-5E7E-1A5F-E751-C42DE1802DD1}"/>
                  </a:ext>
                </a:extLst>
              </p:cNvPr>
              <p:cNvSpPr>
                <a:spLocks noChangeArrowheads="1"/>
              </p:cNvSpPr>
              <p:nvPr/>
            </p:nvSpPr>
            <p:spPr bwMode="auto">
              <a:xfrm>
                <a:off x="2624422" y="1970854"/>
                <a:ext cx="1779571" cy="37074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56" name="Freeform 81">
                <a:extLst>
                  <a:ext uri="{FF2B5EF4-FFF2-40B4-BE49-F238E27FC236}">
                    <a16:creationId xmlns:a16="http://schemas.microsoft.com/office/drawing/2014/main" id="{9F2AACC4-09AB-2FFB-F8F2-4DE61E8DB453}"/>
                  </a:ext>
                </a:extLst>
              </p:cNvPr>
              <p:cNvSpPr>
                <a:spLocks/>
              </p:cNvSpPr>
              <p:nvPr/>
            </p:nvSpPr>
            <p:spPr bwMode="auto">
              <a:xfrm>
                <a:off x="2624422" y="5604144"/>
                <a:ext cx="1779571" cy="667339"/>
              </a:xfrm>
              <a:custGeom>
                <a:avLst/>
                <a:gdLst>
                  <a:gd name="T0" fmla="*/ 0 w 1152"/>
                  <a:gd name="T1" fmla="*/ 0 h 432"/>
                  <a:gd name="T2" fmla="*/ 533400 w 1152"/>
                  <a:gd name="T3" fmla="*/ 0 h 432"/>
                  <a:gd name="T4" fmla="*/ 708025 w 1152"/>
                  <a:gd name="T5" fmla="*/ 336550 h 432"/>
                  <a:gd name="T6" fmla="*/ 1123950 w 1152"/>
                  <a:gd name="T7" fmla="*/ 336550 h 432"/>
                  <a:gd name="T8" fmla="*/ 1295400 w 1152"/>
                  <a:gd name="T9" fmla="*/ 0 h 432"/>
                  <a:gd name="T10" fmla="*/ 1828800 w 1152"/>
                  <a:gd name="T11" fmla="*/ 0 h 432"/>
                  <a:gd name="T12" fmla="*/ 1828800 w 1152"/>
                  <a:gd name="T13" fmla="*/ 685800 h 432"/>
                  <a:gd name="T14" fmla="*/ 0 w 1152"/>
                  <a:gd name="T15" fmla="*/ 685800 h 432"/>
                  <a:gd name="T16" fmla="*/ 0 w 1152"/>
                  <a:gd name="T17" fmla="*/ 0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432">
                    <a:moveTo>
                      <a:pt x="0" y="0"/>
                    </a:moveTo>
                    <a:lnTo>
                      <a:pt x="336" y="0"/>
                    </a:lnTo>
                    <a:lnTo>
                      <a:pt x="446" y="212"/>
                    </a:lnTo>
                    <a:lnTo>
                      <a:pt x="708" y="212"/>
                    </a:lnTo>
                    <a:lnTo>
                      <a:pt x="816" y="0"/>
                    </a:lnTo>
                    <a:lnTo>
                      <a:pt x="1152" y="0"/>
                    </a:lnTo>
                    <a:lnTo>
                      <a:pt x="1152" y="432"/>
                    </a:lnTo>
                    <a:lnTo>
                      <a:pt x="0" y="432"/>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 name="Group 82">
                <a:extLst>
                  <a:ext uri="{FF2B5EF4-FFF2-40B4-BE49-F238E27FC236}">
                    <a16:creationId xmlns:a16="http://schemas.microsoft.com/office/drawing/2014/main" id="{F703B329-DEEF-B937-909E-1A91A2513F74}"/>
                  </a:ext>
                </a:extLst>
              </p:cNvPr>
              <p:cNvGrpSpPr>
                <a:grpSpLocks/>
              </p:cNvGrpSpPr>
              <p:nvPr/>
            </p:nvGrpSpPr>
            <p:grpSpPr bwMode="auto">
              <a:xfrm>
                <a:off x="2624422" y="4041597"/>
                <a:ext cx="1779571" cy="1482975"/>
                <a:chOff x="1152" y="2064"/>
                <a:chExt cx="1152" cy="960"/>
              </a:xfrm>
            </p:grpSpPr>
            <p:sp>
              <p:nvSpPr>
                <p:cNvPr id="89" name="Freeform 83">
                  <a:extLst>
                    <a:ext uri="{FF2B5EF4-FFF2-40B4-BE49-F238E27FC236}">
                      <a16:creationId xmlns:a16="http://schemas.microsoft.com/office/drawing/2014/main" id="{A4C77CD1-C7AC-DEE3-8516-82E93551FECD}"/>
                    </a:ext>
                  </a:extLst>
                </p:cNvPr>
                <p:cNvSpPr>
                  <a:spLocks/>
                </p:cNvSpPr>
                <p:nvPr/>
              </p:nvSpPr>
              <p:spPr bwMode="auto">
                <a:xfrm>
                  <a:off x="1152" y="2736"/>
                  <a:ext cx="1152" cy="288"/>
                </a:xfrm>
                <a:custGeom>
                  <a:avLst/>
                  <a:gdLst>
                    <a:gd name="T0" fmla="*/ 0 w 1152"/>
                    <a:gd name="T1" fmla="*/ 0 h 288"/>
                    <a:gd name="T2" fmla="*/ 1152 w 1152"/>
                    <a:gd name="T3" fmla="*/ 0 h 288"/>
                    <a:gd name="T4" fmla="*/ 1152 w 1152"/>
                    <a:gd name="T5" fmla="*/ 96 h 288"/>
                    <a:gd name="T6" fmla="*/ 768 w 1152"/>
                    <a:gd name="T7" fmla="*/ 96 h 288"/>
                    <a:gd name="T8" fmla="*/ 672 w 1152"/>
                    <a:gd name="T9" fmla="*/ 288 h 288"/>
                    <a:gd name="T10" fmla="*/ 480 w 1152"/>
                    <a:gd name="T11" fmla="*/ 288 h 288"/>
                    <a:gd name="T12" fmla="*/ 384 w 1152"/>
                    <a:gd name="T13" fmla="*/ 96 h 288"/>
                    <a:gd name="T14" fmla="*/ 0 w 1152"/>
                    <a:gd name="T15" fmla="*/ 96 h 288"/>
                    <a:gd name="T16" fmla="*/ 0 w 1152"/>
                    <a:gd name="T17" fmla="*/ 0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288">
                      <a:moveTo>
                        <a:pt x="0" y="0"/>
                      </a:moveTo>
                      <a:lnTo>
                        <a:pt x="1152" y="0"/>
                      </a:lnTo>
                      <a:lnTo>
                        <a:pt x="1152" y="96"/>
                      </a:lnTo>
                      <a:lnTo>
                        <a:pt x="768" y="96"/>
                      </a:lnTo>
                      <a:lnTo>
                        <a:pt x="672" y="288"/>
                      </a:lnTo>
                      <a:lnTo>
                        <a:pt x="480" y="288"/>
                      </a:lnTo>
                      <a:lnTo>
                        <a:pt x="384" y="96"/>
                      </a:lnTo>
                      <a:lnTo>
                        <a:pt x="0" y="96"/>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0" name="Group 84">
                  <a:extLst>
                    <a:ext uri="{FF2B5EF4-FFF2-40B4-BE49-F238E27FC236}">
                      <a16:creationId xmlns:a16="http://schemas.microsoft.com/office/drawing/2014/main" id="{CCFFEB78-478D-7749-167E-16EBBEE6A50D}"/>
                    </a:ext>
                  </a:extLst>
                </p:cNvPr>
                <p:cNvGrpSpPr>
                  <a:grpSpLocks/>
                </p:cNvGrpSpPr>
                <p:nvPr/>
              </p:nvGrpSpPr>
              <p:grpSpPr bwMode="auto">
                <a:xfrm>
                  <a:off x="1680" y="2064"/>
                  <a:ext cx="96" cy="672"/>
                  <a:chOff x="1680" y="2064"/>
                  <a:chExt cx="96" cy="672"/>
                </a:xfrm>
              </p:grpSpPr>
              <p:sp>
                <p:nvSpPr>
                  <p:cNvPr id="91" name="Rectangle 85">
                    <a:extLst>
                      <a:ext uri="{FF2B5EF4-FFF2-40B4-BE49-F238E27FC236}">
                        <a16:creationId xmlns:a16="http://schemas.microsoft.com/office/drawing/2014/main" id="{56D49300-9A2F-6683-7C18-D053CBDEEB25}"/>
                      </a:ext>
                    </a:extLst>
                  </p:cNvPr>
                  <p:cNvSpPr>
                    <a:spLocks noChangeArrowheads="1"/>
                  </p:cNvSpPr>
                  <p:nvPr/>
                </p:nvSpPr>
                <p:spPr bwMode="auto">
                  <a:xfrm>
                    <a:off x="1680" y="2064"/>
                    <a:ext cx="96" cy="6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92" name="Line 86">
                    <a:extLst>
                      <a:ext uri="{FF2B5EF4-FFF2-40B4-BE49-F238E27FC236}">
                        <a16:creationId xmlns:a16="http://schemas.microsoft.com/office/drawing/2014/main" id="{D4144D74-EA36-168B-09A7-66222A6AE9EA}"/>
                      </a:ext>
                    </a:extLst>
                  </p:cNvPr>
                  <p:cNvSpPr>
                    <a:spLocks noChangeShapeType="1"/>
                  </p:cNvSpPr>
                  <p:nvPr/>
                </p:nvSpPr>
                <p:spPr bwMode="auto">
                  <a:xfrm flipV="1">
                    <a:off x="1704" y="206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8" name="Rectangle 87">
                <a:extLst>
                  <a:ext uri="{FF2B5EF4-FFF2-40B4-BE49-F238E27FC236}">
                    <a16:creationId xmlns:a16="http://schemas.microsoft.com/office/drawing/2014/main" id="{380E690D-2B1A-0D97-860A-D48EACEEEF5F}"/>
                  </a:ext>
                </a:extLst>
              </p:cNvPr>
              <p:cNvSpPr>
                <a:spLocks noChangeArrowheads="1"/>
              </p:cNvSpPr>
              <p:nvPr/>
            </p:nvSpPr>
            <p:spPr bwMode="auto">
              <a:xfrm rot="5400000">
                <a:off x="3487174" y="4276418"/>
                <a:ext cx="58701" cy="288872"/>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59" name="Rectangle 88">
                <a:extLst>
                  <a:ext uri="{FF2B5EF4-FFF2-40B4-BE49-F238E27FC236}">
                    <a16:creationId xmlns:a16="http://schemas.microsoft.com/office/drawing/2014/main" id="{F99070C9-67EB-CC17-C884-93ABB638CB86}"/>
                  </a:ext>
                </a:extLst>
              </p:cNvPr>
              <p:cNvSpPr>
                <a:spLocks noChangeArrowheads="1"/>
              </p:cNvSpPr>
              <p:nvPr/>
            </p:nvSpPr>
            <p:spPr bwMode="auto">
              <a:xfrm rot="5400000">
                <a:off x="2741825" y="3217479"/>
                <a:ext cx="1544766" cy="287327"/>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60" name="Rectangle 89">
                <a:extLst>
                  <a:ext uri="{FF2B5EF4-FFF2-40B4-BE49-F238E27FC236}">
                    <a16:creationId xmlns:a16="http://schemas.microsoft.com/office/drawing/2014/main" id="{26345DB6-935E-2669-0E9D-08ACB0664CCA}"/>
                  </a:ext>
                </a:extLst>
              </p:cNvPr>
              <p:cNvSpPr>
                <a:spLocks noChangeArrowheads="1"/>
              </p:cNvSpPr>
              <p:nvPr/>
            </p:nvSpPr>
            <p:spPr bwMode="auto">
              <a:xfrm rot="5400000">
                <a:off x="2899391" y="3339517"/>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61" name="Rectangle 90">
                <a:extLst>
                  <a:ext uri="{FF2B5EF4-FFF2-40B4-BE49-F238E27FC236}">
                    <a16:creationId xmlns:a16="http://schemas.microsoft.com/office/drawing/2014/main" id="{2CFC9F16-3851-1A63-FBD0-7EF396DEBA7A}"/>
                  </a:ext>
                </a:extLst>
              </p:cNvPr>
              <p:cNvSpPr>
                <a:spLocks noChangeArrowheads="1"/>
              </p:cNvSpPr>
              <p:nvPr/>
            </p:nvSpPr>
            <p:spPr bwMode="auto">
              <a:xfrm rot="5400000">
                <a:off x="2582714" y="3339517"/>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62" name="Rectangle 91">
                <a:extLst>
                  <a:ext uri="{FF2B5EF4-FFF2-40B4-BE49-F238E27FC236}">
                    <a16:creationId xmlns:a16="http://schemas.microsoft.com/office/drawing/2014/main" id="{446CD55A-EA3E-6579-5C7E-099BA96D6AD4}"/>
                  </a:ext>
                </a:extLst>
              </p:cNvPr>
              <p:cNvSpPr>
                <a:spLocks noChangeArrowheads="1"/>
              </p:cNvSpPr>
              <p:nvPr/>
            </p:nvSpPr>
            <p:spPr bwMode="auto">
              <a:xfrm rot="5400000">
                <a:off x="3383675" y="2269766"/>
                <a:ext cx="259521"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63" name="Rectangle 92">
                <a:extLst>
                  <a:ext uri="{FF2B5EF4-FFF2-40B4-BE49-F238E27FC236}">
                    <a16:creationId xmlns:a16="http://schemas.microsoft.com/office/drawing/2014/main" id="{9099373F-86E4-095C-A764-6903FF90C410}"/>
                  </a:ext>
                </a:extLst>
              </p:cNvPr>
              <p:cNvSpPr>
                <a:spLocks noChangeArrowheads="1"/>
              </p:cNvSpPr>
              <p:nvPr/>
            </p:nvSpPr>
            <p:spPr bwMode="auto">
              <a:xfrm rot="5400000">
                <a:off x="3326519" y="4006084"/>
                <a:ext cx="373833"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64" name="Rectangle 93">
                <a:extLst>
                  <a:ext uri="{FF2B5EF4-FFF2-40B4-BE49-F238E27FC236}">
                    <a16:creationId xmlns:a16="http://schemas.microsoft.com/office/drawing/2014/main" id="{02A93229-C627-6886-411A-B34787AD7770}"/>
                  </a:ext>
                </a:extLst>
              </p:cNvPr>
              <p:cNvSpPr>
                <a:spLocks noChangeArrowheads="1"/>
              </p:cNvSpPr>
              <p:nvPr/>
            </p:nvSpPr>
            <p:spPr bwMode="auto">
              <a:xfrm rot="10800000">
                <a:off x="3115658" y="2341598"/>
                <a:ext cx="795555" cy="57157"/>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grpSp>
            <p:nvGrpSpPr>
              <p:cNvPr id="65" name="Group 94">
                <a:extLst>
                  <a:ext uri="{FF2B5EF4-FFF2-40B4-BE49-F238E27FC236}">
                    <a16:creationId xmlns:a16="http://schemas.microsoft.com/office/drawing/2014/main" id="{B655D2E1-F595-FD9B-D47D-882302F8DBBC}"/>
                  </a:ext>
                </a:extLst>
              </p:cNvPr>
              <p:cNvGrpSpPr>
                <a:grpSpLocks/>
              </p:cNvGrpSpPr>
              <p:nvPr/>
            </p:nvGrpSpPr>
            <p:grpSpPr bwMode="auto">
              <a:xfrm rot="10800000">
                <a:off x="3143463" y="2398755"/>
                <a:ext cx="123582" cy="55611"/>
                <a:chOff x="2203" y="3103"/>
                <a:chExt cx="73" cy="33"/>
              </a:xfrm>
            </p:grpSpPr>
            <p:sp>
              <p:nvSpPr>
                <p:cNvPr id="85" name="Rectangle 95">
                  <a:extLst>
                    <a:ext uri="{FF2B5EF4-FFF2-40B4-BE49-F238E27FC236}">
                      <a16:creationId xmlns:a16="http://schemas.microsoft.com/office/drawing/2014/main" id="{97D081F0-29A9-C0EC-76CD-127EF4D534E0}"/>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86" name="Freeform 96">
                  <a:extLst>
                    <a:ext uri="{FF2B5EF4-FFF2-40B4-BE49-F238E27FC236}">
                      <a16:creationId xmlns:a16="http://schemas.microsoft.com/office/drawing/2014/main" id="{F266BB19-33DD-62A1-FE8A-7B3926AD2607}"/>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Freeform 97">
                  <a:extLst>
                    <a:ext uri="{FF2B5EF4-FFF2-40B4-BE49-F238E27FC236}">
                      <a16:creationId xmlns:a16="http://schemas.microsoft.com/office/drawing/2014/main" id="{41A01B6D-4003-CEDE-9C94-3400A6B389E5}"/>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Freeform 98">
                  <a:extLst>
                    <a:ext uri="{FF2B5EF4-FFF2-40B4-BE49-F238E27FC236}">
                      <a16:creationId xmlns:a16="http://schemas.microsoft.com/office/drawing/2014/main" id="{66D528EC-AB58-2039-CFA6-3EF831EBB3E8}"/>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 name="Group 99">
                <a:extLst>
                  <a:ext uri="{FF2B5EF4-FFF2-40B4-BE49-F238E27FC236}">
                    <a16:creationId xmlns:a16="http://schemas.microsoft.com/office/drawing/2014/main" id="{E9D92029-0C38-121B-E49E-0B0050D6CCFB}"/>
                  </a:ext>
                </a:extLst>
              </p:cNvPr>
              <p:cNvGrpSpPr>
                <a:grpSpLocks/>
              </p:cNvGrpSpPr>
              <p:nvPr/>
            </p:nvGrpSpPr>
            <p:grpSpPr bwMode="auto">
              <a:xfrm rot="10800000">
                <a:off x="3767549" y="2400299"/>
                <a:ext cx="122037" cy="55611"/>
                <a:chOff x="2203" y="3103"/>
                <a:chExt cx="73" cy="33"/>
              </a:xfrm>
            </p:grpSpPr>
            <p:sp>
              <p:nvSpPr>
                <p:cNvPr id="81" name="Rectangle 100">
                  <a:extLst>
                    <a:ext uri="{FF2B5EF4-FFF2-40B4-BE49-F238E27FC236}">
                      <a16:creationId xmlns:a16="http://schemas.microsoft.com/office/drawing/2014/main" id="{CC3702B3-61AB-1220-01AC-785A28E9A695}"/>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82" name="Freeform 101">
                  <a:extLst>
                    <a:ext uri="{FF2B5EF4-FFF2-40B4-BE49-F238E27FC236}">
                      <a16:creationId xmlns:a16="http://schemas.microsoft.com/office/drawing/2014/main" id="{19519F58-B981-25CC-E317-E9A1E4EE3FD1}"/>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102">
                  <a:extLst>
                    <a:ext uri="{FF2B5EF4-FFF2-40B4-BE49-F238E27FC236}">
                      <a16:creationId xmlns:a16="http://schemas.microsoft.com/office/drawing/2014/main" id="{15E9FDEA-D095-9E7C-34FD-A5F9967BC9FC}"/>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Freeform 103">
                  <a:extLst>
                    <a:ext uri="{FF2B5EF4-FFF2-40B4-BE49-F238E27FC236}">
                      <a16:creationId xmlns:a16="http://schemas.microsoft.com/office/drawing/2014/main" id="{D5928F41-CF27-897A-CB1F-63A5D898ACD7}"/>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7" name="Group 104">
                <a:extLst>
                  <a:ext uri="{FF2B5EF4-FFF2-40B4-BE49-F238E27FC236}">
                    <a16:creationId xmlns:a16="http://schemas.microsoft.com/office/drawing/2014/main" id="{FBF0F57B-5E7A-4C21-9214-9EC39D174B15}"/>
                  </a:ext>
                </a:extLst>
              </p:cNvPr>
              <p:cNvGrpSpPr>
                <a:grpSpLocks/>
              </p:cNvGrpSpPr>
              <p:nvPr/>
            </p:nvGrpSpPr>
            <p:grpSpPr bwMode="auto">
              <a:xfrm rot="10800000">
                <a:off x="3996174" y="1770035"/>
                <a:ext cx="444893" cy="202365"/>
                <a:chOff x="2203" y="3103"/>
                <a:chExt cx="73" cy="33"/>
              </a:xfrm>
            </p:grpSpPr>
            <p:sp>
              <p:nvSpPr>
                <p:cNvPr id="77" name="Rectangle 105">
                  <a:extLst>
                    <a:ext uri="{FF2B5EF4-FFF2-40B4-BE49-F238E27FC236}">
                      <a16:creationId xmlns:a16="http://schemas.microsoft.com/office/drawing/2014/main" id="{2953B6DA-A943-CE97-5271-E84C7BA3ED07}"/>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78" name="Freeform 106">
                  <a:extLst>
                    <a:ext uri="{FF2B5EF4-FFF2-40B4-BE49-F238E27FC236}">
                      <a16:creationId xmlns:a16="http://schemas.microsoft.com/office/drawing/2014/main" id="{DD054D74-CAD9-C437-3027-482983074F4F}"/>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Freeform 107">
                  <a:extLst>
                    <a:ext uri="{FF2B5EF4-FFF2-40B4-BE49-F238E27FC236}">
                      <a16:creationId xmlns:a16="http://schemas.microsoft.com/office/drawing/2014/main" id="{81C587DC-B7AE-0B07-18A4-F1AA2C5348C5}"/>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Freeform 108">
                  <a:extLst>
                    <a:ext uri="{FF2B5EF4-FFF2-40B4-BE49-F238E27FC236}">
                      <a16:creationId xmlns:a16="http://schemas.microsoft.com/office/drawing/2014/main" id="{BE1E5373-BAC1-8DF7-3A7A-199AE71F7CAA}"/>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8" name="Freeform 109">
                <a:extLst>
                  <a:ext uri="{FF2B5EF4-FFF2-40B4-BE49-F238E27FC236}">
                    <a16:creationId xmlns:a16="http://schemas.microsoft.com/office/drawing/2014/main" id="{B8FD6B86-4204-0B3C-A8C8-03B6F066937F}"/>
                  </a:ext>
                </a:extLst>
              </p:cNvPr>
              <p:cNvSpPr>
                <a:spLocks/>
              </p:cNvSpPr>
              <p:nvPr/>
            </p:nvSpPr>
            <p:spPr bwMode="auto">
              <a:xfrm>
                <a:off x="4107398" y="1674259"/>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nvGrpSpPr>
              <p:cNvPr id="69" name="Group 110">
                <a:extLst>
                  <a:ext uri="{FF2B5EF4-FFF2-40B4-BE49-F238E27FC236}">
                    <a16:creationId xmlns:a16="http://schemas.microsoft.com/office/drawing/2014/main" id="{BA01A5D5-E50B-6BD8-4F07-72C6326CB7AF}"/>
                  </a:ext>
                </a:extLst>
              </p:cNvPr>
              <p:cNvGrpSpPr>
                <a:grpSpLocks/>
              </p:cNvGrpSpPr>
              <p:nvPr/>
            </p:nvGrpSpPr>
            <p:grpSpPr bwMode="auto">
              <a:xfrm rot="10800000">
                <a:off x="2596616" y="1770035"/>
                <a:ext cx="444893" cy="202365"/>
                <a:chOff x="2203" y="3103"/>
                <a:chExt cx="73" cy="33"/>
              </a:xfrm>
            </p:grpSpPr>
            <p:sp>
              <p:nvSpPr>
                <p:cNvPr id="73" name="Rectangle 111">
                  <a:extLst>
                    <a:ext uri="{FF2B5EF4-FFF2-40B4-BE49-F238E27FC236}">
                      <a16:creationId xmlns:a16="http://schemas.microsoft.com/office/drawing/2014/main" id="{9053FABB-279C-A183-0F71-B4007E5A6838}"/>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74" name="Freeform 112">
                  <a:extLst>
                    <a:ext uri="{FF2B5EF4-FFF2-40B4-BE49-F238E27FC236}">
                      <a16:creationId xmlns:a16="http://schemas.microsoft.com/office/drawing/2014/main" id="{C353464D-F4E8-34F6-A46B-076CC1EAF926}"/>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Freeform 113">
                  <a:extLst>
                    <a:ext uri="{FF2B5EF4-FFF2-40B4-BE49-F238E27FC236}">
                      <a16:creationId xmlns:a16="http://schemas.microsoft.com/office/drawing/2014/main" id="{16557051-2D5E-C76F-36EC-E5942BDD6135}"/>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Freeform 114">
                  <a:extLst>
                    <a:ext uri="{FF2B5EF4-FFF2-40B4-BE49-F238E27FC236}">
                      <a16:creationId xmlns:a16="http://schemas.microsoft.com/office/drawing/2014/main" id="{7C3B60F4-361B-65A4-85D6-4E014F6722F7}"/>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 name="Freeform 115">
                <a:extLst>
                  <a:ext uri="{FF2B5EF4-FFF2-40B4-BE49-F238E27FC236}">
                    <a16:creationId xmlns:a16="http://schemas.microsoft.com/office/drawing/2014/main" id="{C9A5DB76-696F-6B7C-D0DB-A932B4031821}"/>
                  </a:ext>
                </a:extLst>
              </p:cNvPr>
              <p:cNvSpPr>
                <a:spLocks/>
              </p:cNvSpPr>
              <p:nvPr/>
            </p:nvSpPr>
            <p:spPr bwMode="auto">
              <a:xfrm>
                <a:off x="2707840" y="1674259"/>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71" name="Rectangle 116">
                <a:extLst>
                  <a:ext uri="{FF2B5EF4-FFF2-40B4-BE49-F238E27FC236}">
                    <a16:creationId xmlns:a16="http://schemas.microsoft.com/office/drawing/2014/main" id="{ED23D757-C588-555A-D833-94347A5CD9E1}"/>
                  </a:ext>
                </a:extLst>
              </p:cNvPr>
              <p:cNvSpPr>
                <a:spLocks noChangeArrowheads="1"/>
              </p:cNvSpPr>
              <p:nvPr/>
            </p:nvSpPr>
            <p:spPr bwMode="auto">
              <a:xfrm>
                <a:off x="2955002" y="5529995"/>
                <a:ext cx="1112232" cy="74149"/>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cxnSp>
            <p:nvCxnSpPr>
              <p:cNvPr id="72" name="直接箭头连接符 71">
                <a:extLst>
                  <a:ext uri="{FF2B5EF4-FFF2-40B4-BE49-F238E27FC236}">
                    <a16:creationId xmlns:a16="http://schemas.microsoft.com/office/drawing/2014/main" id="{10CE1DF7-6FDD-2B7D-61E9-D0463BA55F7D}"/>
                  </a:ext>
                </a:extLst>
              </p:cNvPr>
              <p:cNvCxnSpPr/>
              <p:nvPr/>
            </p:nvCxnSpPr>
            <p:spPr bwMode="auto">
              <a:xfrm>
                <a:off x="3861166" y="3194129"/>
                <a:ext cx="0" cy="1197374"/>
              </a:xfrm>
              <a:prstGeom prst="straightConnector1">
                <a:avLst/>
              </a:prstGeom>
              <a:solidFill>
                <a:schemeClr val="accent1"/>
              </a:solidFill>
              <a:ln w="254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1" name="TextBox 46">
              <a:extLst>
                <a:ext uri="{FF2B5EF4-FFF2-40B4-BE49-F238E27FC236}">
                  <a16:creationId xmlns:a16="http://schemas.microsoft.com/office/drawing/2014/main" id="{B415064B-01D6-4B22-D089-EE22D43EE0D7}"/>
                </a:ext>
              </a:extLst>
            </p:cNvPr>
            <p:cNvSpPr txBox="1"/>
            <p:nvPr/>
          </p:nvSpPr>
          <p:spPr>
            <a:xfrm>
              <a:off x="2236099" y="5695070"/>
              <a:ext cx="1461704" cy="430887"/>
            </a:xfrm>
            <a:prstGeom prst="rect">
              <a:avLst/>
            </a:prstGeom>
            <a:noFill/>
          </p:spPr>
          <p:txBody>
            <a:bodyPr wrap="square" rtlCol="0">
              <a:spAutoFit/>
            </a:bodyPr>
            <a:lstStyle/>
            <a:p>
              <a:pPr algn="ctr"/>
              <a:r>
                <a:rPr lang="zh-CN" altLang="en-US" sz="2200" b="1" dirty="0">
                  <a:latin typeface="华文中宋" panose="02010600040101010101" pitchFamily="2" charset="-122"/>
                  <a:ea typeface="华文中宋" panose="02010600040101010101" pitchFamily="2" charset="-122"/>
                </a:rPr>
                <a:t>快速下行</a:t>
              </a:r>
            </a:p>
          </p:txBody>
        </p:sp>
      </p:grpSp>
      <p:grpSp>
        <p:nvGrpSpPr>
          <p:cNvPr id="93" name="组合 92">
            <a:extLst>
              <a:ext uri="{FF2B5EF4-FFF2-40B4-BE49-F238E27FC236}">
                <a16:creationId xmlns:a16="http://schemas.microsoft.com/office/drawing/2014/main" id="{1A2D35BA-A5DF-0DBB-D95D-8D7D69B77376}"/>
              </a:ext>
            </a:extLst>
          </p:cNvPr>
          <p:cNvGrpSpPr/>
          <p:nvPr/>
        </p:nvGrpSpPr>
        <p:grpSpPr>
          <a:xfrm>
            <a:off x="4811726" y="934295"/>
            <a:ext cx="1975338" cy="4456826"/>
            <a:chOff x="3681426" y="1669130"/>
            <a:chExt cx="1975338" cy="4456826"/>
          </a:xfrm>
        </p:grpSpPr>
        <p:grpSp>
          <p:nvGrpSpPr>
            <p:cNvPr id="94" name="组合 93">
              <a:extLst>
                <a:ext uri="{FF2B5EF4-FFF2-40B4-BE49-F238E27FC236}">
                  <a16:creationId xmlns:a16="http://schemas.microsoft.com/office/drawing/2014/main" id="{0AD88E4D-C63B-AAFC-3551-B6A5047E0C61}"/>
                </a:ext>
              </a:extLst>
            </p:cNvPr>
            <p:cNvGrpSpPr/>
            <p:nvPr/>
          </p:nvGrpSpPr>
          <p:grpSpPr>
            <a:xfrm>
              <a:off x="3681426" y="1669130"/>
              <a:ext cx="1975338" cy="3880442"/>
              <a:chOff x="4561023" y="1669131"/>
              <a:chExt cx="2340215" cy="4597224"/>
            </a:xfrm>
          </p:grpSpPr>
          <p:sp>
            <p:nvSpPr>
              <p:cNvPr id="96" name="右箭头 91">
                <a:extLst>
                  <a:ext uri="{FF2B5EF4-FFF2-40B4-BE49-F238E27FC236}">
                    <a16:creationId xmlns:a16="http://schemas.microsoft.com/office/drawing/2014/main" id="{6021B971-C74F-0D0D-D423-BB7938CEA258}"/>
                  </a:ext>
                </a:extLst>
              </p:cNvPr>
              <p:cNvSpPr/>
              <p:nvPr/>
            </p:nvSpPr>
            <p:spPr bwMode="auto">
              <a:xfrm>
                <a:off x="4561023" y="3264222"/>
                <a:ext cx="477837" cy="122363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97" name="Rectangle 78">
                <a:extLst>
                  <a:ext uri="{FF2B5EF4-FFF2-40B4-BE49-F238E27FC236}">
                    <a16:creationId xmlns:a16="http://schemas.microsoft.com/office/drawing/2014/main" id="{610C24DC-F26D-3B75-5E3A-9B4EDF945608}"/>
                  </a:ext>
                </a:extLst>
              </p:cNvPr>
              <p:cNvSpPr>
                <a:spLocks noChangeArrowheads="1"/>
              </p:cNvSpPr>
              <p:nvPr/>
            </p:nvSpPr>
            <p:spPr bwMode="auto">
              <a:xfrm>
                <a:off x="5158742" y="2262321"/>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98" name="Rectangle 79">
                <a:extLst>
                  <a:ext uri="{FF2B5EF4-FFF2-40B4-BE49-F238E27FC236}">
                    <a16:creationId xmlns:a16="http://schemas.microsoft.com/office/drawing/2014/main" id="{AF048C7E-33CB-38A4-C8FB-C9452B448425}"/>
                  </a:ext>
                </a:extLst>
              </p:cNvPr>
              <p:cNvSpPr>
                <a:spLocks noChangeArrowheads="1"/>
              </p:cNvSpPr>
              <p:nvPr/>
            </p:nvSpPr>
            <p:spPr bwMode="auto">
              <a:xfrm>
                <a:off x="6567569" y="2262321"/>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99" name="Rectangle 80">
                <a:extLst>
                  <a:ext uri="{FF2B5EF4-FFF2-40B4-BE49-F238E27FC236}">
                    <a16:creationId xmlns:a16="http://schemas.microsoft.com/office/drawing/2014/main" id="{6D09AEAE-BCA2-72FE-DA9C-8AA49097193E}"/>
                  </a:ext>
                </a:extLst>
              </p:cNvPr>
              <p:cNvSpPr>
                <a:spLocks noChangeArrowheads="1"/>
              </p:cNvSpPr>
              <p:nvPr/>
            </p:nvSpPr>
            <p:spPr bwMode="auto">
              <a:xfrm>
                <a:off x="5084593" y="1965726"/>
                <a:ext cx="1779571" cy="37074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00" name="Freeform 81">
                <a:extLst>
                  <a:ext uri="{FF2B5EF4-FFF2-40B4-BE49-F238E27FC236}">
                    <a16:creationId xmlns:a16="http://schemas.microsoft.com/office/drawing/2014/main" id="{156A76DC-C7C6-48AD-BC93-ED533A0813A0}"/>
                  </a:ext>
                </a:extLst>
              </p:cNvPr>
              <p:cNvSpPr>
                <a:spLocks/>
              </p:cNvSpPr>
              <p:nvPr/>
            </p:nvSpPr>
            <p:spPr bwMode="auto">
              <a:xfrm>
                <a:off x="5084593" y="5599016"/>
                <a:ext cx="1779571" cy="667339"/>
              </a:xfrm>
              <a:custGeom>
                <a:avLst/>
                <a:gdLst>
                  <a:gd name="T0" fmla="*/ 0 w 1152"/>
                  <a:gd name="T1" fmla="*/ 0 h 432"/>
                  <a:gd name="T2" fmla="*/ 533400 w 1152"/>
                  <a:gd name="T3" fmla="*/ 0 h 432"/>
                  <a:gd name="T4" fmla="*/ 708025 w 1152"/>
                  <a:gd name="T5" fmla="*/ 336550 h 432"/>
                  <a:gd name="T6" fmla="*/ 1123950 w 1152"/>
                  <a:gd name="T7" fmla="*/ 336550 h 432"/>
                  <a:gd name="T8" fmla="*/ 1295400 w 1152"/>
                  <a:gd name="T9" fmla="*/ 0 h 432"/>
                  <a:gd name="T10" fmla="*/ 1828800 w 1152"/>
                  <a:gd name="T11" fmla="*/ 0 h 432"/>
                  <a:gd name="T12" fmla="*/ 1828800 w 1152"/>
                  <a:gd name="T13" fmla="*/ 685800 h 432"/>
                  <a:gd name="T14" fmla="*/ 0 w 1152"/>
                  <a:gd name="T15" fmla="*/ 685800 h 432"/>
                  <a:gd name="T16" fmla="*/ 0 w 1152"/>
                  <a:gd name="T17" fmla="*/ 0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432">
                    <a:moveTo>
                      <a:pt x="0" y="0"/>
                    </a:moveTo>
                    <a:lnTo>
                      <a:pt x="336" y="0"/>
                    </a:lnTo>
                    <a:lnTo>
                      <a:pt x="446" y="212"/>
                    </a:lnTo>
                    <a:lnTo>
                      <a:pt x="708" y="212"/>
                    </a:lnTo>
                    <a:lnTo>
                      <a:pt x="816" y="0"/>
                    </a:lnTo>
                    <a:lnTo>
                      <a:pt x="1152" y="0"/>
                    </a:lnTo>
                    <a:lnTo>
                      <a:pt x="1152" y="432"/>
                    </a:lnTo>
                    <a:lnTo>
                      <a:pt x="0" y="432"/>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1" name="Group 82">
                <a:extLst>
                  <a:ext uri="{FF2B5EF4-FFF2-40B4-BE49-F238E27FC236}">
                    <a16:creationId xmlns:a16="http://schemas.microsoft.com/office/drawing/2014/main" id="{F39B1565-29A1-D1E6-05BD-8BF06CA3FBD9}"/>
                  </a:ext>
                </a:extLst>
              </p:cNvPr>
              <p:cNvGrpSpPr>
                <a:grpSpLocks/>
              </p:cNvGrpSpPr>
              <p:nvPr/>
            </p:nvGrpSpPr>
            <p:grpSpPr bwMode="auto">
              <a:xfrm>
                <a:off x="5084593" y="4188869"/>
                <a:ext cx="1779571" cy="1482975"/>
                <a:chOff x="1152" y="2064"/>
                <a:chExt cx="1152" cy="960"/>
              </a:xfrm>
            </p:grpSpPr>
            <p:sp>
              <p:nvSpPr>
                <p:cNvPr id="133" name="Freeform 83">
                  <a:extLst>
                    <a:ext uri="{FF2B5EF4-FFF2-40B4-BE49-F238E27FC236}">
                      <a16:creationId xmlns:a16="http://schemas.microsoft.com/office/drawing/2014/main" id="{FA11D18B-CA8F-CF12-80AC-4E6D56198FBD}"/>
                    </a:ext>
                  </a:extLst>
                </p:cNvPr>
                <p:cNvSpPr>
                  <a:spLocks/>
                </p:cNvSpPr>
                <p:nvPr/>
              </p:nvSpPr>
              <p:spPr bwMode="auto">
                <a:xfrm>
                  <a:off x="1152" y="2736"/>
                  <a:ext cx="1152" cy="288"/>
                </a:xfrm>
                <a:custGeom>
                  <a:avLst/>
                  <a:gdLst>
                    <a:gd name="T0" fmla="*/ 0 w 1152"/>
                    <a:gd name="T1" fmla="*/ 0 h 288"/>
                    <a:gd name="T2" fmla="*/ 1152 w 1152"/>
                    <a:gd name="T3" fmla="*/ 0 h 288"/>
                    <a:gd name="T4" fmla="*/ 1152 w 1152"/>
                    <a:gd name="T5" fmla="*/ 96 h 288"/>
                    <a:gd name="T6" fmla="*/ 768 w 1152"/>
                    <a:gd name="T7" fmla="*/ 96 h 288"/>
                    <a:gd name="T8" fmla="*/ 672 w 1152"/>
                    <a:gd name="T9" fmla="*/ 288 h 288"/>
                    <a:gd name="T10" fmla="*/ 480 w 1152"/>
                    <a:gd name="T11" fmla="*/ 288 h 288"/>
                    <a:gd name="T12" fmla="*/ 384 w 1152"/>
                    <a:gd name="T13" fmla="*/ 96 h 288"/>
                    <a:gd name="T14" fmla="*/ 0 w 1152"/>
                    <a:gd name="T15" fmla="*/ 96 h 288"/>
                    <a:gd name="T16" fmla="*/ 0 w 1152"/>
                    <a:gd name="T17" fmla="*/ 0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288">
                      <a:moveTo>
                        <a:pt x="0" y="0"/>
                      </a:moveTo>
                      <a:lnTo>
                        <a:pt x="1152" y="0"/>
                      </a:lnTo>
                      <a:lnTo>
                        <a:pt x="1152" y="96"/>
                      </a:lnTo>
                      <a:lnTo>
                        <a:pt x="768" y="96"/>
                      </a:lnTo>
                      <a:lnTo>
                        <a:pt x="672" y="288"/>
                      </a:lnTo>
                      <a:lnTo>
                        <a:pt x="480" y="288"/>
                      </a:lnTo>
                      <a:lnTo>
                        <a:pt x="384" y="96"/>
                      </a:lnTo>
                      <a:lnTo>
                        <a:pt x="0" y="96"/>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4" name="Group 84">
                  <a:extLst>
                    <a:ext uri="{FF2B5EF4-FFF2-40B4-BE49-F238E27FC236}">
                      <a16:creationId xmlns:a16="http://schemas.microsoft.com/office/drawing/2014/main" id="{525970F8-F689-F6D9-C437-ABCEA7BF7A9F}"/>
                    </a:ext>
                  </a:extLst>
                </p:cNvPr>
                <p:cNvGrpSpPr>
                  <a:grpSpLocks/>
                </p:cNvGrpSpPr>
                <p:nvPr/>
              </p:nvGrpSpPr>
              <p:grpSpPr bwMode="auto">
                <a:xfrm>
                  <a:off x="1680" y="2064"/>
                  <a:ext cx="96" cy="672"/>
                  <a:chOff x="1680" y="2064"/>
                  <a:chExt cx="96" cy="672"/>
                </a:xfrm>
              </p:grpSpPr>
              <p:sp>
                <p:nvSpPr>
                  <p:cNvPr id="135" name="Rectangle 85">
                    <a:extLst>
                      <a:ext uri="{FF2B5EF4-FFF2-40B4-BE49-F238E27FC236}">
                        <a16:creationId xmlns:a16="http://schemas.microsoft.com/office/drawing/2014/main" id="{C6AA090D-3895-6C04-1280-3170A2944561}"/>
                      </a:ext>
                    </a:extLst>
                  </p:cNvPr>
                  <p:cNvSpPr>
                    <a:spLocks noChangeArrowheads="1"/>
                  </p:cNvSpPr>
                  <p:nvPr/>
                </p:nvSpPr>
                <p:spPr bwMode="auto">
                  <a:xfrm>
                    <a:off x="1680" y="2064"/>
                    <a:ext cx="96" cy="6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36" name="Line 86">
                    <a:extLst>
                      <a:ext uri="{FF2B5EF4-FFF2-40B4-BE49-F238E27FC236}">
                        <a16:creationId xmlns:a16="http://schemas.microsoft.com/office/drawing/2014/main" id="{1079EDF7-BA3F-1D62-172C-0DAB332D9169}"/>
                      </a:ext>
                    </a:extLst>
                  </p:cNvPr>
                  <p:cNvSpPr>
                    <a:spLocks noChangeShapeType="1"/>
                  </p:cNvSpPr>
                  <p:nvPr/>
                </p:nvSpPr>
                <p:spPr bwMode="auto">
                  <a:xfrm flipV="1">
                    <a:off x="1704" y="206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 name="Rectangle 87">
                <a:extLst>
                  <a:ext uri="{FF2B5EF4-FFF2-40B4-BE49-F238E27FC236}">
                    <a16:creationId xmlns:a16="http://schemas.microsoft.com/office/drawing/2014/main" id="{8E539F82-093B-7336-9232-8298BF448A91}"/>
                  </a:ext>
                </a:extLst>
              </p:cNvPr>
              <p:cNvSpPr>
                <a:spLocks noChangeArrowheads="1"/>
              </p:cNvSpPr>
              <p:nvPr/>
            </p:nvSpPr>
            <p:spPr bwMode="auto">
              <a:xfrm rot="5400000">
                <a:off x="5947345" y="4271290"/>
                <a:ext cx="58701" cy="288872"/>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03" name="Rectangle 88">
                <a:extLst>
                  <a:ext uri="{FF2B5EF4-FFF2-40B4-BE49-F238E27FC236}">
                    <a16:creationId xmlns:a16="http://schemas.microsoft.com/office/drawing/2014/main" id="{93B11DEB-CB53-23E3-9A89-7401F05DF111}"/>
                  </a:ext>
                </a:extLst>
              </p:cNvPr>
              <p:cNvSpPr>
                <a:spLocks noChangeArrowheads="1"/>
              </p:cNvSpPr>
              <p:nvPr/>
            </p:nvSpPr>
            <p:spPr bwMode="auto">
              <a:xfrm rot="5400000">
                <a:off x="5201996" y="3212351"/>
                <a:ext cx="1544766" cy="287327"/>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04" name="Rectangle 89">
                <a:extLst>
                  <a:ext uri="{FF2B5EF4-FFF2-40B4-BE49-F238E27FC236}">
                    <a16:creationId xmlns:a16="http://schemas.microsoft.com/office/drawing/2014/main" id="{7D25E4EF-2AD6-D1AD-6340-245F838383C2}"/>
                  </a:ext>
                </a:extLst>
              </p:cNvPr>
              <p:cNvSpPr>
                <a:spLocks noChangeArrowheads="1"/>
              </p:cNvSpPr>
              <p:nvPr/>
            </p:nvSpPr>
            <p:spPr bwMode="auto">
              <a:xfrm rot="5400000">
                <a:off x="5359562" y="3334389"/>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05" name="Rectangle 90">
                <a:extLst>
                  <a:ext uri="{FF2B5EF4-FFF2-40B4-BE49-F238E27FC236}">
                    <a16:creationId xmlns:a16="http://schemas.microsoft.com/office/drawing/2014/main" id="{AEC48F35-9DB5-0992-4022-11692242181C}"/>
                  </a:ext>
                </a:extLst>
              </p:cNvPr>
              <p:cNvSpPr>
                <a:spLocks noChangeArrowheads="1"/>
              </p:cNvSpPr>
              <p:nvPr/>
            </p:nvSpPr>
            <p:spPr bwMode="auto">
              <a:xfrm rot="5400000">
                <a:off x="5042885" y="3334389"/>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06" name="Rectangle 91">
                <a:extLst>
                  <a:ext uri="{FF2B5EF4-FFF2-40B4-BE49-F238E27FC236}">
                    <a16:creationId xmlns:a16="http://schemas.microsoft.com/office/drawing/2014/main" id="{6F001B8B-123B-9C9A-1264-19100E3B1ACC}"/>
                  </a:ext>
                </a:extLst>
              </p:cNvPr>
              <p:cNvSpPr>
                <a:spLocks noChangeArrowheads="1"/>
              </p:cNvSpPr>
              <p:nvPr/>
            </p:nvSpPr>
            <p:spPr bwMode="auto">
              <a:xfrm rot="5400000">
                <a:off x="5843846" y="2264638"/>
                <a:ext cx="259521"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07" name="Rectangle 92">
                <a:extLst>
                  <a:ext uri="{FF2B5EF4-FFF2-40B4-BE49-F238E27FC236}">
                    <a16:creationId xmlns:a16="http://schemas.microsoft.com/office/drawing/2014/main" id="{F30FD873-3ED4-F808-FCC1-33662FAF231B}"/>
                  </a:ext>
                </a:extLst>
              </p:cNvPr>
              <p:cNvSpPr>
                <a:spLocks noChangeArrowheads="1"/>
              </p:cNvSpPr>
              <p:nvPr/>
            </p:nvSpPr>
            <p:spPr bwMode="auto">
              <a:xfrm rot="5400000">
                <a:off x="5786690" y="4000956"/>
                <a:ext cx="373833"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08" name="Rectangle 93">
                <a:extLst>
                  <a:ext uri="{FF2B5EF4-FFF2-40B4-BE49-F238E27FC236}">
                    <a16:creationId xmlns:a16="http://schemas.microsoft.com/office/drawing/2014/main" id="{A448674C-BFEA-066F-6265-C6424F1E5FE8}"/>
                  </a:ext>
                </a:extLst>
              </p:cNvPr>
              <p:cNvSpPr>
                <a:spLocks noChangeArrowheads="1"/>
              </p:cNvSpPr>
              <p:nvPr/>
            </p:nvSpPr>
            <p:spPr bwMode="auto">
              <a:xfrm rot="10800000">
                <a:off x="5575829" y="2336470"/>
                <a:ext cx="795555" cy="57157"/>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grpSp>
            <p:nvGrpSpPr>
              <p:cNvPr id="109" name="Group 94">
                <a:extLst>
                  <a:ext uri="{FF2B5EF4-FFF2-40B4-BE49-F238E27FC236}">
                    <a16:creationId xmlns:a16="http://schemas.microsoft.com/office/drawing/2014/main" id="{DA7E0D30-10FB-12F9-6CCF-0FD40E4DFFFA}"/>
                  </a:ext>
                </a:extLst>
              </p:cNvPr>
              <p:cNvGrpSpPr>
                <a:grpSpLocks/>
              </p:cNvGrpSpPr>
              <p:nvPr/>
            </p:nvGrpSpPr>
            <p:grpSpPr bwMode="auto">
              <a:xfrm rot="10800000">
                <a:off x="5603634" y="2393627"/>
                <a:ext cx="123582" cy="55611"/>
                <a:chOff x="2203" y="3103"/>
                <a:chExt cx="73" cy="33"/>
              </a:xfrm>
            </p:grpSpPr>
            <p:sp>
              <p:nvSpPr>
                <p:cNvPr id="129" name="Rectangle 95">
                  <a:extLst>
                    <a:ext uri="{FF2B5EF4-FFF2-40B4-BE49-F238E27FC236}">
                      <a16:creationId xmlns:a16="http://schemas.microsoft.com/office/drawing/2014/main" id="{A52D5FA8-8B45-19B5-C3B4-59C3CC55DF33}"/>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30" name="Freeform 96">
                  <a:extLst>
                    <a:ext uri="{FF2B5EF4-FFF2-40B4-BE49-F238E27FC236}">
                      <a16:creationId xmlns:a16="http://schemas.microsoft.com/office/drawing/2014/main" id="{35360D6D-D19B-2F2E-C0AF-EDAEBF1CF5A6}"/>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 name="Freeform 97">
                  <a:extLst>
                    <a:ext uri="{FF2B5EF4-FFF2-40B4-BE49-F238E27FC236}">
                      <a16:creationId xmlns:a16="http://schemas.microsoft.com/office/drawing/2014/main" id="{614BFCE5-6A26-1BF4-7FFB-63B6FAFA137B}"/>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 name="Freeform 98">
                  <a:extLst>
                    <a:ext uri="{FF2B5EF4-FFF2-40B4-BE49-F238E27FC236}">
                      <a16:creationId xmlns:a16="http://schemas.microsoft.com/office/drawing/2014/main" id="{12506E4B-9482-0BE6-4E27-C021C560A283}"/>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0" name="Group 99">
                <a:extLst>
                  <a:ext uri="{FF2B5EF4-FFF2-40B4-BE49-F238E27FC236}">
                    <a16:creationId xmlns:a16="http://schemas.microsoft.com/office/drawing/2014/main" id="{F12E087B-006A-AC61-A6B1-992926967DFE}"/>
                  </a:ext>
                </a:extLst>
              </p:cNvPr>
              <p:cNvGrpSpPr>
                <a:grpSpLocks/>
              </p:cNvGrpSpPr>
              <p:nvPr/>
            </p:nvGrpSpPr>
            <p:grpSpPr bwMode="auto">
              <a:xfrm rot="10800000">
                <a:off x="6227720" y="2395171"/>
                <a:ext cx="122037" cy="55611"/>
                <a:chOff x="2203" y="3103"/>
                <a:chExt cx="73" cy="33"/>
              </a:xfrm>
            </p:grpSpPr>
            <p:sp>
              <p:nvSpPr>
                <p:cNvPr id="125" name="Rectangle 100">
                  <a:extLst>
                    <a:ext uri="{FF2B5EF4-FFF2-40B4-BE49-F238E27FC236}">
                      <a16:creationId xmlns:a16="http://schemas.microsoft.com/office/drawing/2014/main" id="{1F57FA38-B543-3DF4-5CA7-67477995E746}"/>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26" name="Freeform 101">
                  <a:extLst>
                    <a:ext uri="{FF2B5EF4-FFF2-40B4-BE49-F238E27FC236}">
                      <a16:creationId xmlns:a16="http://schemas.microsoft.com/office/drawing/2014/main" id="{3F83406C-B72E-08BB-B268-CC4E7ABC58F4}"/>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Freeform 102">
                  <a:extLst>
                    <a:ext uri="{FF2B5EF4-FFF2-40B4-BE49-F238E27FC236}">
                      <a16:creationId xmlns:a16="http://schemas.microsoft.com/office/drawing/2014/main" id="{41834C00-4E17-2D93-6AAE-4ECA0DCFB878}"/>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Freeform 103">
                  <a:extLst>
                    <a:ext uri="{FF2B5EF4-FFF2-40B4-BE49-F238E27FC236}">
                      <a16:creationId xmlns:a16="http://schemas.microsoft.com/office/drawing/2014/main" id="{319F511D-182F-6E0E-C68A-7B83DA6DFA21}"/>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1" name="Group 104">
                <a:extLst>
                  <a:ext uri="{FF2B5EF4-FFF2-40B4-BE49-F238E27FC236}">
                    <a16:creationId xmlns:a16="http://schemas.microsoft.com/office/drawing/2014/main" id="{F790034A-2469-10CA-EA58-CA8CE9307460}"/>
                  </a:ext>
                </a:extLst>
              </p:cNvPr>
              <p:cNvGrpSpPr>
                <a:grpSpLocks/>
              </p:cNvGrpSpPr>
              <p:nvPr/>
            </p:nvGrpSpPr>
            <p:grpSpPr bwMode="auto">
              <a:xfrm rot="10800000">
                <a:off x="6456345" y="1764907"/>
                <a:ext cx="444893" cy="202365"/>
                <a:chOff x="2203" y="3103"/>
                <a:chExt cx="73" cy="33"/>
              </a:xfrm>
            </p:grpSpPr>
            <p:sp>
              <p:nvSpPr>
                <p:cNvPr id="121" name="Rectangle 105">
                  <a:extLst>
                    <a:ext uri="{FF2B5EF4-FFF2-40B4-BE49-F238E27FC236}">
                      <a16:creationId xmlns:a16="http://schemas.microsoft.com/office/drawing/2014/main" id="{F5F270A7-4E87-2D02-64A9-25D195DBD49B}"/>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22" name="Freeform 106">
                  <a:extLst>
                    <a:ext uri="{FF2B5EF4-FFF2-40B4-BE49-F238E27FC236}">
                      <a16:creationId xmlns:a16="http://schemas.microsoft.com/office/drawing/2014/main" id="{1A8BBFF4-E45F-9E0B-C828-80C26AC80DE9}"/>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Freeform 107">
                  <a:extLst>
                    <a:ext uri="{FF2B5EF4-FFF2-40B4-BE49-F238E27FC236}">
                      <a16:creationId xmlns:a16="http://schemas.microsoft.com/office/drawing/2014/main" id="{1E754467-F4AF-3245-356F-B0444F86CFB1}"/>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Freeform 108">
                  <a:extLst>
                    <a:ext uri="{FF2B5EF4-FFF2-40B4-BE49-F238E27FC236}">
                      <a16:creationId xmlns:a16="http://schemas.microsoft.com/office/drawing/2014/main" id="{20B4F3F8-6846-7D94-A46D-5921C5F24C96}"/>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 name="Freeform 109">
                <a:extLst>
                  <a:ext uri="{FF2B5EF4-FFF2-40B4-BE49-F238E27FC236}">
                    <a16:creationId xmlns:a16="http://schemas.microsoft.com/office/drawing/2014/main" id="{4A7CF65E-2BE5-081F-61D2-3263768F1E4A}"/>
                  </a:ext>
                </a:extLst>
              </p:cNvPr>
              <p:cNvSpPr>
                <a:spLocks/>
              </p:cNvSpPr>
              <p:nvPr/>
            </p:nvSpPr>
            <p:spPr bwMode="auto">
              <a:xfrm>
                <a:off x="6567569" y="1669131"/>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nvGrpSpPr>
              <p:cNvPr id="113" name="Group 110">
                <a:extLst>
                  <a:ext uri="{FF2B5EF4-FFF2-40B4-BE49-F238E27FC236}">
                    <a16:creationId xmlns:a16="http://schemas.microsoft.com/office/drawing/2014/main" id="{24ED7EDA-C79E-558F-31CA-B7AA31371102}"/>
                  </a:ext>
                </a:extLst>
              </p:cNvPr>
              <p:cNvGrpSpPr>
                <a:grpSpLocks/>
              </p:cNvGrpSpPr>
              <p:nvPr/>
            </p:nvGrpSpPr>
            <p:grpSpPr bwMode="auto">
              <a:xfrm rot="10800000">
                <a:off x="5056787" y="1764907"/>
                <a:ext cx="444893" cy="202365"/>
                <a:chOff x="2203" y="3103"/>
                <a:chExt cx="73" cy="33"/>
              </a:xfrm>
            </p:grpSpPr>
            <p:sp>
              <p:nvSpPr>
                <p:cNvPr id="117" name="Rectangle 111">
                  <a:extLst>
                    <a:ext uri="{FF2B5EF4-FFF2-40B4-BE49-F238E27FC236}">
                      <a16:creationId xmlns:a16="http://schemas.microsoft.com/office/drawing/2014/main" id="{B3354AD9-0963-C613-E328-B383D2AAA2FF}"/>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18" name="Freeform 112">
                  <a:extLst>
                    <a:ext uri="{FF2B5EF4-FFF2-40B4-BE49-F238E27FC236}">
                      <a16:creationId xmlns:a16="http://schemas.microsoft.com/office/drawing/2014/main" id="{FD9EF41E-7A3B-A782-3282-4CD0B8035A1F}"/>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 name="Freeform 113">
                  <a:extLst>
                    <a:ext uri="{FF2B5EF4-FFF2-40B4-BE49-F238E27FC236}">
                      <a16:creationId xmlns:a16="http://schemas.microsoft.com/office/drawing/2014/main" id="{C9CB05EA-D769-539E-6CF5-300C2B637CA7}"/>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Freeform 114">
                  <a:extLst>
                    <a:ext uri="{FF2B5EF4-FFF2-40B4-BE49-F238E27FC236}">
                      <a16:creationId xmlns:a16="http://schemas.microsoft.com/office/drawing/2014/main" id="{0DEC8031-1899-96F5-84C2-E7AB0EA37AF6}"/>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4" name="Freeform 115">
                <a:extLst>
                  <a:ext uri="{FF2B5EF4-FFF2-40B4-BE49-F238E27FC236}">
                    <a16:creationId xmlns:a16="http://schemas.microsoft.com/office/drawing/2014/main" id="{AA409EC1-2766-14F6-CC33-7FA0471F3101}"/>
                  </a:ext>
                </a:extLst>
              </p:cNvPr>
              <p:cNvSpPr>
                <a:spLocks/>
              </p:cNvSpPr>
              <p:nvPr/>
            </p:nvSpPr>
            <p:spPr bwMode="auto">
              <a:xfrm>
                <a:off x="5168011" y="1669131"/>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cxnSp>
            <p:nvCxnSpPr>
              <p:cNvPr id="115" name="直接箭头连接符 114">
                <a:extLst>
                  <a:ext uri="{FF2B5EF4-FFF2-40B4-BE49-F238E27FC236}">
                    <a16:creationId xmlns:a16="http://schemas.microsoft.com/office/drawing/2014/main" id="{DE04A21D-6D12-7D77-ABF4-E966240D5F04}"/>
                  </a:ext>
                </a:extLst>
              </p:cNvPr>
              <p:cNvCxnSpPr/>
              <p:nvPr/>
            </p:nvCxnSpPr>
            <p:spPr bwMode="auto">
              <a:xfrm>
                <a:off x="6321337" y="3682113"/>
                <a:ext cx="0" cy="704262"/>
              </a:xfrm>
              <a:prstGeom prst="straightConnector1">
                <a:avLst/>
              </a:prstGeom>
              <a:solidFill>
                <a:schemeClr val="accent1"/>
              </a:solidFill>
              <a:ln w="254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Freeform 122">
                <a:extLst>
                  <a:ext uri="{FF2B5EF4-FFF2-40B4-BE49-F238E27FC236}">
                    <a16:creationId xmlns:a16="http://schemas.microsoft.com/office/drawing/2014/main" id="{4A91217A-7E23-9818-3969-2CB84C4BC491}"/>
                  </a:ext>
                </a:extLst>
              </p:cNvPr>
              <p:cNvSpPr>
                <a:spLocks/>
              </p:cNvSpPr>
              <p:nvPr/>
            </p:nvSpPr>
            <p:spPr bwMode="auto">
              <a:xfrm>
                <a:off x="5419030" y="5515049"/>
                <a:ext cx="1135590" cy="231775"/>
              </a:xfrm>
              <a:custGeom>
                <a:avLst/>
                <a:gdLst>
                  <a:gd name="T0" fmla="*/ 0 w 720"/>
                  <a:gd name="T1" fmla="*/ 3175 h 146"/>
                  <a:gd name="T2" fmla="*/ 228600 w 720"/>
                  <a:gd name="T3" fmla="*/ 3175 h 146"/>
                  <a:gd name="T4" fmla="*/ 419100 w 720"/>
                  <a:gd name="T5" fmla="*/ 158750 h 146"/>
                  <a:gd name="T6" fmla="*/ 723900 w 720"/>
                  <a:gd name="T7" fmla="*/ 158750 h 146"/>
                  <a:gd name="T8" fmla="*/ 876300 w 720"/>
                  <a:gd name="T9" fmla="*/ 0 h 146"/>
                  <a:gd name="T10" fmla="*/ 1143000 w 720"/>
                  <a:gd name="T11" fmla="*/ 3175 h 146"/>
                  <a:gd name="T12" fmla="*/ 1143000 w 720"/>
                  <a:gd name="T13" fmla="*/ 79375 h 146"/>
                  <a:gd name="T14" fmla="*/ 901700 w 720"/>
                  <a:gd name="T15" fmla="*/ 79375 h 146"/>
                  <a:gd name="T16" fmla="*/ 746125 w 720"/>
                  <a:gd name="T17" fmla="*/ 231775 h 146"/>
                  <a:gd name="T18" fmla="*/ 381000 w 720"/>
                  <a:gd name="T19" fmla="*/ 231775 h 146"/>
                  <a:gd name="T20" fmla="*/ 206375 w 720"/>
                  <a:gd name="T21" fmla="*/ 79375 h 146"/>
                  <a:gd name="T22" fmla="*/ 0 w 720"/>
                  <a:gd name="T23" fmla="*/ 79375 h 146"/>
                  <a:gd name="T24" fmla="*/ 0 w 720"/>
                  <a:gd name="T25" fmla="*/ 3175 h 1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20" h="146">
                    <a:moveTo>
                      <a:pt x="0" y="2"/>
                    </a:moveTo>
                    <a:lnTo>
                      <a:pt x="144" y="2"/>
                    </a:lnTo>
                    <a:lnTo>
                      <a:pt x="264" y="100"/>
                    </a:lnTo>
                    <a:lnTo>
                      <a:pt x="456" y="100"/>
                    </a:lnTo>
                    <a:lnTo>
                      <a:pt x="552" y="0"/>
                    </a:lnTo>
                    <a:lnTo>
                      <a:pt x="720" y="2"/>
                    </a:lnTo>
                    <a:lnTo>
                      <a:pt x="720" y="50"/>
                    </a:lnTo>
                    <a:lnTo>
                      <a:pt x="568" y="50"/>
                    </a:lnTo>
                    <a:lnTo>
                      <a:pt x="470" y="146"/>
                    </a:lnTo>
                    <a:lnTo>
                      <a:pt x="240" y="146"/>
                    </a:lnTo>
                    <a:lnTo>
                      <a:pt x="130" y="50"/>
                    </a:lnTo>
                    <a:lnTo>
                      <a:pt x="0" y="50"/>
                    </a:lnTo>
                    <a:lnTo>
                      <a:pt x="0" y="2"/>
                    </a:lnTo>
                    <a:close/>
                  </a:path>
                </a:pathLst>
              </a:cu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5" name="TextBox 90">
              <a:extLst>
                <a:ext uri="{FF2B5EF4-FFF2-40B4-BE49-F238E27FC236}">
                  <a16:creationId xmlns:a16="http://schemas.microsoft.com/office/drawing/2014/main" id="{BA280046-B2ED-6B94-9298-1902D579136C}"/>
                </a:ext>
              </a:extLst>
            </p:cNvPr>
            <p:cNvSpPr txBox="1"/>
            <p:nvPr/>
          </p:nvSpPr>
          <p:spPr>
            <a:xfrm>
              <a:off x="4145520" y="5695069"/>
              <a:ext cx="1461704" cy="430887"/>
            </a:xfrm>
            <a:prstGeom prst="rect">
              <a:avLst/>
            </a:prstGeom>
            <a:noFill/>
          </p:spPr>
          <p:txBody>
            <a:bodyPr wrap="square" rtlCol="0">
              <a:spAutoFit/>
            </a:bodyPr>
            <a:lstStyle/>
            <a:p>
              <a:pPr algn="ctr"/>
              <a:r>
                <a:rPr lang="zh-CN" altLang="en-US" sz="2200" b="1" dirty="0">
                  <a:latin typeface="华文中宋" panose="02010600040101010101" pitchFamily="2" charset="-122"/>
                  <a:ea typeface="华文中宋" panose="02010600040101010101" pitchFamily="2" charset="-122"/>
                </a:rPr>
                <a:t>慢速下压</a:t>
              </a:r>
            </a:p>
          </p:txBody>
        </p:sp>
      </p:grpSp>
      <p:grpSp>
        <p:nvGrpSpPr>
          <p:cNvPr id="137" name="组合 136">
            <a:extLst>
              <a:ext uri="{FF2B5EF4-FFF2-40B4-BE49-F238E27FC236}">
                <a16:creationId xmlns:a16="http://schemas.microsoft.com/office/drawing/2014/main" id="{1C0A2E91-7A6F-EACB-D50B-A2B7BF1CC739}"/>
              </a:ext>
            </a:extLst>
          </p:cNvPr>
          <p:cNvGrpSpPr/>
          <p:nvPr/>
        </p:nvGrpSpPr>
        <p:grpSpPr>
          <a:xfrm>
            <a:off x="6772148" y="938623"/>
            <a:ext cx="2058724" cy="4452497"/>
            <a:chOff x="5641848" y="1673458"/>
            <a:chExt cx="2058724" cy="4452497"/>
          </a:xfrm>
        </p:grpSpPr>
        <p:grpSp>
          <p:nvGrpSpPr>
            <p:cNvPr id="138" name="组合 137">
              <a:extLst>
                <a:ext uri="{FF2B5EF4-FFF2-40B4-BE49-F238E27FC236}">
                  <a16:creationId xmlns:a16="http://schemas.microsoft.com/office/drawing/2014/main" id="{AB3E45AB-612C-C60F-A9FF-DF727FF7AACE}"/>
                </a:ext>
              </a:extLst>
            </p:cNvPr>
            <p:cNvGrpSpPr/>
            <p:nvPr/>
          </p:nvGrpSpPr>
          <p:grpSpPr>
            <a:xfrm>
              <a:off x="5641848" y="1673458"/>
              <a:ext cx="2058724" cy="3880442"/>
              <a:chOff x="7022923" y="1674259"/>
              <a:chExt cx="2439005" cy="4597224"/>
            </a:xfrm>
          </p:grpSpPr>
          <p:sp>
            <p:nvSpPr>
              <p:cNvPr id="140" name="右箭头 135">
                <a:extLst>
                  <a:ext uri="{FF2B5EF4-FFF2-40B4-BE49-F238E27FC236}">
                    <a16:creationId xmlns:a16="http://schemas.microsoft.com/office/drawing/2014/main" id="{B56C5A34-116E-3362-B06C-F98BCA35AFA4}"/>
                  </a:ext>
                </a:extLst>
              </p:cNvPr>
              <p:cNvSpPr/>
              <p:nvPr/>
            </p:nvSpPr>
            <p:spPr bwMode="auto">
              <a:xfrm>
                <a:off x="7022923" y="3270516"/>
                <a:ext cx="477837" cy="122363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41" name="Rectangle 78">
                <a:extLst>
                  <a:ext uri="{FF2B5EF4-FFF2-40B4-BE49-F238E27FC236}">
                    <a16:creationId xmlns:a16="http://schemas.microsoft.com/office/drawing/2014/main" id="{5B09DF34-98C1-5725-FE73-AC9EF049B019}"/>
                  </a:ext>
                </a:extLst>
              </p:cNvPr>
              <p:cNvSpPr>
                <a:spLocks noChangeArrowheads="1"/>
              </p:cNvSpPr>
              <p:nvPr/>
            </p:nvSpPr>
            <p:spPr bwMode="auto">
              <a:xfrm>
                <a:off x="7719432" y="2267449"/>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42" name="Rectangle 79">
                <a:extLst>
                  <a:ext uri="{FF2B5EF4-FFF2-40B4-BE49-F238E27FC236}">
                    <a16:creationId xmlns:a16="http://schemas.microsoft.com/office/drawing/2014/main" id="{03BAFB44-1BBE-7312-614A-9C76483FBA41}"/>
                  </a:ext>
                </a:extLst>
              </p:cNvPr>
              <p:cNvSpPr>
                <a:spLocks noChangeArrowheads="1"/>
              </p:cNvSpPr>
              <p:nvPr/>
            </p:nvSpPr>
            <p:spPr bwMode="auto">
              <a:xfrm>
                <a:off x="9128259" y="2267449"/>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43" name="Rectangle 80">
                <a:extLst>
                  <a:ext uri="{FF2B5EF4-FFF2-40B4-BE49-F238E27FC236}">
                    <a16:creationId xmlns:a16="http://schemas.microsoft.com/office/drawing/2014/main" id="{53A4952E-FBDF-B3E1-F29F-F6B9FD1B14AC}"/>
                  </a:ext>
                </a:extLst>
              </p:cNvPr>
              <p:cNvSpPr>
                <a:spLocks noChangeArrowheads="1"/>
              </p:cNvSpPr>
              <p:nvPr/>
            </p:nvSpPr>
            <p:spPr bwMode="auto">
              <a:xfrm>
                <a:off x="7645283" y="1970854"/>
                <a:ext cx="1779571" cy="37074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44" name="Freeform 81">
                <a:extLst>
                  <a:ext uri="{FF2B5EF4-FFF2-40B4-BE49-F238E27FC236}">
                    <a16:creationId xmlns:a16="http://schemas.microsoft.com/office/drawing/2014/main" id="{124D38A7-1F1C-DBF1-84E2-34D8D8717CB3}"/>
                  </a:ext>
                </a:extLst>
              </p:cNvPr>
              <p:cNvSpPr>
                <a:spLocks/>
              </p:cNvSpPr>
              <p:nvPr/>
            </p:nvSpPr>
            <p:spPr bwMode="auto">
              <a:xfrm>
                <a:off x="7645283" y="5604144"/>
                <a:ext cx="1779571" cy="667339"/>
              </a:xfrm>
              <a:custGeom>
                <a:avLst/>
                <a:gdLst>
                  <a:gd name="T0" fmla="*/ 0 w 1152"/>
                  <a:gd name="T1" fmla="*/ 0 h 432"/>
                  <a:gd name="T2" fmla="*/ 533400 w 1152"/>
                  <a:gd name="T3" fmla="*/ 0 h 432"/>
                  <a:gd name="T4" fmla="*/ 708025 w 1152"/>
                  <a:gd name="T5" fmla="*/ 336550 h 432"/>
                  <a:gd name="T6" fmla="*/ 1123950 w 1152"/>
                  <a:gd name="T7" fmla="*/ 336550 h 432"/>
                  <a:gd name="T8" fmla="*/ 1295400 w 1152"/>
                  <a:gd name="T9" fmla="*/ 0 h 432"/>
                  <a:gd name="T10" fmla="*/ 1828800 w 1152"/>
                  <a:gd name="T11" fmla="*/ 0 h 432"/>
                  <a:gd name="T12" fmla="*/ 1828800 w 1152"/>
                  <a:gd name="T13" fmla="*/ 685800 h 432"/>
                  <a:gd name="T14" fmla="*/ 0 w 1152"/>
                  <a:gd name="T15" fmla="*/ 685800 h 432"/>
                  <a:gd name="T16" fmla="*/ 0 w 1152"/>
                  <a:gd name="T17" fmla="*/ 0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432">
                    <a:moveTo>
                      <a:pt x="0" y="0"/>
                    </a:moveTo>
                    <a:lnTo>
                      <a:pt x="336" y="0"/>
                    </a:lnTo>
                    <a:lnTo>
                      <a:pt x="446" y="212"/>
                    </a:lnTo>
                    <a:lnTo>
                      <a:pt x="708" y="212"/>
                    </a:lnTo>
                    <a:lnTo>
                      <a:pt x="816" y="0"/>
                    </a:lnTo>
                    <a:lnTo>
                      <a:pt x="1152" y="0"/>
                    </a:lnTo>
                    <a:lnTo>
                      <a:pt x="1152" y="432"/>
                    </a:lnTo>
                    <a:lnTo>
                      <a:pt x="0" y="432"/>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5" name="Group 82">
                <a:extLst>
                  <a:ext uri="{FF2B5EF4-FFF2-40B4-BE49-F238E27FC236}">
                    <a16:creationId xmlns:a16="http://schemas.microsoft.com/office/drawing/2014/main" id="{612A9C49-657C-E728-5DB0-3C9161531E52}"/>
                  </a:ext>
                </a:extLst>
              </p:cNvPr>
              <p:cNvGrpSpPr>
                <a:grpSpLocks/>
              </p:cNvGrpSpPr>
              <p:nvPr/>
            </p:nvGrpSpPr>
            <p:grpSpPr bwMode="auto">
              <a:xfrm>
                <a:off x="7651633" y="4346397"/>
                <a:ext cx="1779571" cy="1482975"/>
                <a:chOff x="1152" y="2064"/>
                <a:chExt cx="1152" cy="960"/>
              </a:xfrm>
            </p:grpSpPr>
            <p:sp>
              <p:nvSpPr>
                <p:cNvPr id="176" name="Freeform 83">
                  <a:extLst>
                    <a:ext uri="{FF2B5EF4-FFF2-40B4-BE49-F238E27FC236}">
                      <a16:creationId xmlns:a16="http://schemas.microsoft.com/office/drawing/2014/main" id="{A2B560FC-0236-4AA7-7B57-966CFC0F33B2}"/>
                    </a:ext>
                  </a:extLst>
                </p:cNvPr>
                <p:cNvSpPr>
                  <a:spLocks/>
                </p:cNvSpPr>
                <p:nvPr/>
              </p:nvSpPr>
              <p:spPr bwMode="auto">
                <a:xfrm>
                  <a:off x="1152" y="2736"/>
                  <a:ext cx="1152" cy="288"/>
                </a:xfrm>
                <a:custGeom>
                  <a:avLst/>
                  <a:gdLst>
                    <a:gd name="T0" fmla="*/ 0 w 1152"/>
                    <a:gd name="T1" fmla="*/ 0 h 288"/>
                    <a:gd name="T2" fmla="*/ 1152 w 1152"/>
                    <a:gd name="T3" fmla="*/ 0 h 288"/>
                    <a:gd name="T4" fmla="*/ 1152 w 1152"/>
                    <a:gd name="T5" fmla="*/ 96 h 288"/>
                    <a:gd name="T6" fmla="*/ 768 w 1152"/>
                    <a:gd name="T7" fmla="*/ 96 h 288"/>
                    <a:gd name="T8" fmla="*/ 672 w 1152"/>
                    <a:gd name="T9" fmla="*/ 288 h 288"/>
                    <a:gd name="T10" fmla="*/ 480 w 1152"/>
                    <a:gd name="T11" fmla="*/ 288 h 288"/>
                    <a:gd name="T12" fmla="*/ 384 w 1152"/>
                    <a:gd name="T13" fmla="*/ 96 h 288"/>
                    <a:gd name="T14" fmla="*/ 0 w 1152"/>
                    <a:gd name="T15" fmla="*/ 96 h 288"/>
                    <a:gd name="T16" fmla="*/ 0 w 1152"/>
                    <a:gd name="T17" fmla="*/ 0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288">
                      <a:moveTo>
                        <a:pt x="0" y="0"/>
                      </a:moveTo>
                      <a:lnTo>
                        <a:pt x="1152" y="0"/>
                      </a:lnTo>
                      <a:lnTo>
                        <a:pt x="1152" y="96"/>
                      </a:lnTo>
                      <a:lnTo>
                        <a:pt x="768" y="96"/>
                      </a:lnTo>
                      <a:lnTo>
                        <a:pt x="672" y="288"/>
                      </a:lnTo>
                      <a:lnTo>
                        <a:pt x="480" y="288"/>
                      </a:lnTo>
                      <a:lnTo>
                        <a:pt x="384" y="96"/>
                      </a:lnTo>
                      <a:lnTo>
                        <a:pt x="0" y="96"/>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7" name="Group 84">
                  <a:extLst>
                    <a:ext uri="{FF2B5EF4-FFF2-40B4-BE49-F238E27FC236}">
                      <a16:creationId xmlns:a16="http://schemas.microsoft.com/office/drawing/2014/main" id="{2D18D1B7-8019-027B-013A-06D0D65771FB}"/>
                    </a:ext>
                  </a:extLst>
                </p:cNvPr>
                <p:cNvGrpSpPr>
                  <a:grpSpLocks/>
                </p:cNvGrpSpPr>
                <p:nvPr/>
              </p:nvGrpSpPr>
              <p:grpSpPr bwMode="auto">
                <a:xfrm>
                  <a:off x="1680" y="2064"/>
                  <a:ext cx="96" cy="672"/>
                  <a:chOff x="1680" y="2064"/>
                  <a:chExt cx="96" cy="672"/>
                </a:xfrm>
              </p:grpSpPr>
              <p:sp>
                <p:nvSpPr>
                  <p:cNvPr id="178" name="Rectangle 85">
                    <a:extLst>
                      <a:ext uri="{FF2B5EF4-FFF2-40B4-BE49-F238E27FC236}">
                        <a16:creationId xmlns:a16="http://schemas.microsoft.com/office/drawing/2014/main" id="{D3203C14-AB65-EA9A-CF83-4D48DC14BF68}"/>
                      </a:ext>
                    </a:extLst>
                  </p:cNvPr>
                  <p:cNvSpPr>
                    <a:spLocks noChangeArrowheads="1"/>
                  </p:cNvSpPr>
                  <p:nvPr/>
                </p:nvSpPr>
                <p:spPr bwMode="auto">
                  <a:xfrm>
                    <a:off x="1680" y="2064"/>
                    <a:ext cx="96" cy="6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79" name="Line 86">
                    <a:extLst>
                      <a:ext uri="{FF2B5EF4-FFF2-40B4-BE49-F238E27FC236}">
                        <a16:creationId xmlns:a16="http://schemas.microsoft.com/office/drawing/2014/main" id="{390BAF4C-A724-F3E1-0534-CBF5988EA51B}"/>
                      </a:ext>
                    </a:extLst>
                  </p:cNvPr>
                  <p:cNvSpPr>
                    <a:spLocks noChangeShapeType="1"/>
                  </p:cNvSpPr>
                  <p:nvPr/>
                </p:nvSpPr>
                <p:spPr bwMode="auto">
                  <a:xfrm flipV="1">
                    <a:off x="1704" y="206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6" name="Rectangle 87">
                <a:extLst>
                  <a:ext uri="{FF2B5EF4-FFF2-40B4-BE49-F238E27FC236}">
                    <a16:creationId xmlns:a16="http://schemas.microsoft.com/office/drawing/2014/main" id="{C5026EE4-AFB8-9814-9DD4-3AC08CA2F0EA}"/>
                  </a:ext>
                </a:extLst>
              </p:cNvPr>
              <p:cNvSpPr>
                <a:spLocks noChangeArrowheads="1"/>
              </p:cNvSpPr>
              <p:nvPr/>
            </p:nvSpPr>
            <p:spPr bwMode="auto">
              <a:xfrm rot="5400000">
                <a:off x="8508035" y="4276418"/>
                <a:ext cx="58701" cy="288872"/>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47" name="Rectangle 88">
                <a:extLst>
                  <a:ext uri="{FF2B5EF4-FFF2-40B4-BE49-F238E27FC236}">
                    <a16:creationId xmlns:a16="http://schemas.microsoft.com/office/drawing/2014/main" id="{D19F1754-AD71-D102-0D66-523A1D769C9C}"/>
                  </a:ext>
                </a:extLst>
              </p:cNvPr>
              <p:cNvSpPr>
                <a:spLocks noChangeArrowheads="1"/>
              </p:cNvSpPr>
              <p:nvPr/>
            </p:nvSpPr>
            <p:spPr bwMode="auto">
              <a:xfrm rot="5400000">
                <a:off x="7762686" y="3217479"/>
                <a:ext cx="1544766" cy="287327"/>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48" name="Rectangle 89">
                <a:extLst>
                  <a:ext uri="{FF2B5EF4-FFF2-40B4-BE49-F238E27FC236}">
                    <a16:creationId xmlns:a16="http://schemas.microsoft.com/office/drawing/2014/main" id="{7788ECE0-5590-10CF-EDB1-178170981075}"/>
                  </a:ext>
                </a:extLst>
              </p:cNvPr>
              <p:cNvSpPr>
                <a:spLocks noChangeArrowheads="1"/>
              </p:cNvSpPr>
              <p:nvPr/>
            </p:nvSpPr>
            <p:spPr bwMode="auto">
              <a:xfrm rot="5400000">
                <a:off x="7920252" y="3339517"/>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49" name="Rectangle 90">
                <a:extLst>
                  <a:ext uri="{FF2B5EF4-FFF2-40B4-BE49-F238E27FC236}">
                    <a16:creationId xmlns:a16="http://schemas.microsoft.com/office/drawing/2014/main" id="{0B9B2C70-6E92-F039-B76C-4AEAF9C6E706}"/>
                  </a:ext>
                </a:extLst>
              </p:cNvPr>
              <p:cNvSpPr>
                <a:spLocks noChangeArrowheads="1"/>
              </p:cNvSpPr>
              <p:nvPr/>
            </p:nvSpPr>
            <p:spPr bwMode="auto">
              <a:xfrm rot="5400000">
                <a:off x="7603575" y="3339517"/>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50" name="Rectangle 91">
                <a:extLst>
                  <a:ext uri="{FF2B5EF4-FFF2-40B4-BE49-F238E27FC236}">
                    <a16:creationId xmlns:a16="http://schemas.microsoft.com/office/drawing/2014/main" id="{49855533-F8B1-D458-D1FE-2D71C8173719}"/>
                  </a:ext>
                </a:extLst>
              </p:cNvPr>
              <p:cNvSpPr>
                <a:spLocks noChangeArrowheads="1"/>
              </p:cNvSpPr>
              <p:nvPr/>
            </p:nvSpPr>
            <p:spPr bwMode="auto">
              <a:xfrm rot="5400000">
                <a:off x="8404536" y="2269766"/>
                <a:ext cx="259521"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51" name="Rectangle 92">
                <a:extLst>
                  <a:ext uri="{FF2B5EF4-FFF2-40B4-BE49-F238E27FC236}">
                    <a16:creationId xmlns:a16="http://schemas.microsoft.com/office/drawing/2014/main" id="{6E1CAC78-1216-2CB4-0674-3A6E45DBC7E2}"/>
                  </a:ext>
                </a:extLst>
              </p:cNvPr>
              <p:cNvSpPr>
                <a:spLocks noChangeArrowheads="1"/>
              </p:cNvSpPr>
              <p:nvPr/>
            </p:nvSpPr>
            <p:spPr bwMode="auto">
              <a:xfrm rot="5400000">
                <a:off x="8347380" y="4006084"/>
                <a:ext cx="373833"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52" name="Rectangle 93">
                <a:extLst>
                  <a:ext uri="{FF2B5EF4-FFF2-40B4-BE49-F238E27FC236}">
                    <a16:creationId xmlns:a16="http://schemas.microsoft.com/office/drawing/2014/main" id="{18BE81F0-093D-1463-6281-9B65C27A55F3}"/>
                  </a:ext>
                </a:extLst>
              </p:cNvPr>
              <p:cNvSpPr>
                <a:spLocks noChangeArrowheads="1"/>
              </p:cNvSpPr>
              <p:nvPr/>
            </p:nvSpPr>
            <p:spPr bwMode="auto">
              <a:xfrm rot="10800000">
                <a:off x="8136519" y="2341598"/>
                <a:ext cx="795555" cy="57157"/>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grpSp>
            <p:nvGrpSpPr>
              <p:cNvPr id="153" name="Group 94">
                <a:extLst>
                  <a:ext uri="{FF2B5EF4-FFF2-40B4-BE49-F238E27FC236}">
                    <a16:creationId xmlns:a16="http://schemas.microsoft.com/office/drawing/2014/main" id="{9BF04DA2-39D8-5061-E614-1F2970930654}"/>
                  </a:ext>
                </a:extLst>
              </p:cNvPr>
              <p:cNvGrpSpPr>
                <a:grpSpLocks/>
              </p:cNvGrpSpPr>
              <p:nvPr/>
            </p:nvGrpSpPr>
            <p:grpSpPr bwMode="auto">
              <a:xfrm rot="10800000">
                <a:off x="8164324" y="2398755"/>
                <a:ext cx="123582" cy="55611"/>
                <a:chOff x="2203" y="3103"/>
                <a:chExt cx="73" cy="33"/>
              </a:xfrm>
            </p:grpSpPr>
            <p:sp>
              <p:nvSpPr>
                <p:cNvPr id="172" name="Rectangle 95">
                  <a:extLst>
                    <a:ext uri="{FF2B5EF4-FFF2-40B4-BE49-F238E27FC236}">
                      <a16:creationId xmlns:a16="http://schemas.microsoft.com/office/drawing/2014/main" id="{7EA7CC89-B452-FD53-B772-6BC5A3CC9199}"/>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73" name="Freeform 96">
                  <a:extLst>
                    <a:ext uri="{FF2B5EF4-FFF2-40B4-BE49-F238E27FC236}">
                      <a16:creationId xmlns:a16="http://schemas.microsoft.com/office/drawing/2014/main" id="{D1535713-4227-1D79-FCB8-4C7BC40809AB}"/>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 name="Freeform 97">
                  <a:extLst>
                    <a:ext uri="{FF2B5EF4-FFF2-40B4-BE49-F238E27FC236}">
                      <a16:creationId xmlns:a16="http://schemas.microsoft.com/office/drawing/2014/main" id="{2A2B5C2E-94F4-8C91-DA48-E3604669DCAB}"/>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 name="Freeform 98">
                  <a:extLst>
                    <a:ext uri="{FF2B5EF4-FFF2-40B4-BE49-F238E27FC236}">
                      <a16:creationId xmlns:a16="http://schemas.microsoft.com/office/drawing/2014/main" id="{56C9231B-6622-EF3B-F551-CC45F7A61FE7}"/>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 name="Group 99">
                <a:extLst>
                  <a:ext uri="{FF2B5EF4-FFF2-40B4-BE49-F238E27FC236}">
                    <a16:creationId xmlns:a16="http://schemas.microsoft.com/office/drawing/2014/main" id="{B19B1E27-5B02-4E74-A28E-FAE98F0C4CAA}"/>
                  </a:ext>
                </a:extLst>
              </p:cNvPr>
              <p:cNvGrpSpPr>
                <a:grpSpLocks/>
              </p:cNvGrpSpPr>
              <p:nvPr/>
            </p:nvGrpSpPr>
            <p:grpSpPr bwMode="auto">
              <a:xfrm rot="10800000">
                <a:off x="8788410" y="2400299"/>
                <a:ext cx="122037" cy="55611"/>
                <a:chOff x="2203" y="3103"/>
                <a:chExt cx="73" cy="33"/>
              </a:xfrm>
            </p:grpSpPr>
            <p:sp>
              <p:nvSpPr>
                <p:cNvPr id="168" name="Rectangle 100">
                  <a:extLst>
                    <a:ext uri="{FF2B5EF4-FFF2-40B4-BE49-F238E27FC236}">
                      <a16:creationId xmlns:a16="http://schemas.microsoft.com/office/drawing/2014/main" id="{BEDB13C0-DD1D-B3F6-D0BD-342A49748284}"/>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69" name="Freeform 101">
                  <a:extLst>
                    <a:ext uri="{FF2B5EF4-FFF2-40B4-BE49-F238E27FC236}">
                      <a16:creationId xmlns:a16="http://schemas.microsoft.com/office/drawing/2014/main" id="{0821DC96-E1CF-F448-7F97-761C89A696F2}"/>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 name="Freeform 102">
                  <a:extLst>
                    <a:ext uri="{FF2B5EF4-FFF2-40B4-BE49-F238E27FC236}">
                      <a16:creationId xmlns:a16="http://schemas.microsoft.com/office/drawing/2014/main" id="{24A2B04E-2BB5-D445-C1EA-1B05D47FFCDD}"/>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1" name="Freeform 103">
                  <a:extLst>
                    <a:ext uri="{FF2B5EF4-FFF2-40B4-BE49-F238E27FC236}">
                      <a16:creationId xmlns:a16="http://schemas.microsoft.com/office/drawing/2014/main" id="{D24EFBA5-4E05-765F-A986-4E2B31F2A08E}"/>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 name="Group 104">
                <a:extLst>
                  <a:ext uri="{FF2B5EF4-FFF2-40B4-BE49-F238E27FC236}">
                    <a16:creationId xmlns:a16="http://schemas.microsoft.com/office/drawing/2014/main" id="{D0A315A4-5FC5-9346-D7F9-9DB740FF7E43}"/>
                  </a:ext>
                </a:extLst>
              </p:cNvPr>
              <p:cNvGrpSpPr>
                <a:grpSpLocks/>
              </p:cNvGrpSpPr>
              <p:nvPr/>
            </p:nvGrpSpPr>
            <p:grpSpPr bwMode="auto">
              <a:xfrm rot="10800000">
                <a:off x="9017035" y="1770035"/>
                <a:ext cx="444893" cy="202365"/>
                <a:chOff x="2203" y="3103"/>
                <a:chExt cx="73" cy="33"/>
              </a:xfrm>
            </p:grpSpPr>
            <p:sp>
              <p:nvSpPr>
                <p:cNvPr id="164" name="Rectangle 105">
                  <a:extLst>
                    <a:ext uri="{FF2B5EF4-FFF2-40B4-BE49-F238E27FC236}">
                      <a16:creationId xmlns:a16="http://schemas.microsoft.com/office/drawing/2014/main" id="{7FC5B5DB-C016-440D-0069-2506099B3B8B}"/>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65" name="Freeform 106">
                  <a:extLst>
                    <a:ext uri="{FF2B5EF4-FFF2-40B4-BE49-F238E27FC236}">
                      <a16:creationId xmlns:a16="http://schemas.microsoft.com/office/drawing/2014/main" id="{D0BBC0AC-1880-B595-8485-619B8395285B}"/>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 name="Freeform 107">
                  <a:extLst>
                    <a:ext uri="{FF2B5EF4-FFF2-40B4-BE49-F238E27FC236}">
                      <a16:creationId xmlns:a16="http://schemas.microsoft.com/office/drawing/2014/main" id="{D0666F6C-4BA2-9F7F-08C5-94B35064BFFF}"/>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 name="Freeform 108">
                  <a:extLst>
                    <a:ext uri="{FF2B5EF4-FFF2-40B4-BE49-F238E27FC236}">
                      <a16:creationId xmlns:a16="http://schemas.microsoft.com/office/drawing/2014/main" id="{ABA8027C-5EF1-3DBE-BDDB-8894BFDA9957}"/>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6" name="Freeform 109">
                <a:extLst>
                  <a:ext uri="{FF2B5EF4-FFF2-40B4-BE49-F238E27FC236}">
                    <a16:creationId xmlns:a16="http://schemas.microsoft.com/office/drawing/2014/main" id="{77E54CFF-5A8B-2B82-8B40-EAD32217B340}"/>
                  </a:ext>
                </a:extLst>
              </p:cNvPr>
              <p:cNvSpPr>
                <a:spLocks/>
              </p:cNvSpPr>
              <p:nvPr/>
            </p:nvSpPr>
            <p:spPr bwMode="auto">
              <a:xfrm>
                <a:off x="9128259" y="1674259"/>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nvGrpSpPr>
              <p:cNvPr id="157" name="Group 110">
                <a:extLst>
                  <a:ext uri="{FF2B5EF4-FFF2-40B4-BE49-F238E27FC236}">
                    <a16:creationId xmlns:a16="http://schemas.microsoft.com/office/drawing/2014/main" id="{81EEC4A1-D36A-0423-6915-18AAD84505D8}"/>
                  </a:ext>
                </a:extLst>
              </p:cNvPr>
              <p:cNvGrpSpPr>
                <a:grpSpLocks/>
              </p:cNvGrpSpPr>
              <p:nvPr/>
            </p:nvGrpSpPr>
            <p:grpSpPr bwMode="auto">
              <a:xfrm rot="10800000">
                <a:off x="7617477" y="1770035"/>
                <a:ext cx="444893" cy="202365"/>
                <a:chOff x="2203" y="3103"/>
                <a:chExt cx="73" cy="33"/>
              </a:xfrm>
            </p:grpSpPr>
            <p:sp>
              <p:nvSpPr>
                <p:cNvPr id="160" name="Rectangle 111">
                  <a:extLst>
                    <a:ext uri="{FF2B5EF4-FFF2-40B4-BE49-F238E27FC236}">
                      <a16:creationId xmlns:a16="http://schemas.microsoft.com/office/drawing/2014/main" id="{3701FE90-5A45-31A4-DF4C-DAA5288BEB5B}"/>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61" name="Freeform 112">
                  <a:extLst>
                    <a:ext uri="{FF2B5EF4-FFF2-40B4-BE49-F238E27FC236}">
                      <a16:creationId xmlns:a16="http://schemas.microsoft.com/office/drawing/2014/main" id="{52853B05-1673-6240-5D9E-068F28EE137D}"/>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 name="Freeform 113">
                  <a:extLst>
                    <a:ext uri="{FF2B5EF4-FFF2-40B4-BE49-F238E27FC236}">
                      <a16:creationId xmlns:a16="http://schemas.microsoft.com/office/drawing/2014/main" id="{323DEB4F-E327-EC2D-6126-5025AA2CC265}"/>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 name="Freeform 114">
                  <a:extLst>
                    <a:ext uri="{FF2B5EF4-FFF2-40B4-BE49-F238E27FC236}">
                      <a16:creationId xmlns:a16="http://schemas.microsoft.com/office/drawing/2014/main" id="{9D98CC57-8B28-F663-8AE8-309DF4310601}"/>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8" name="Freeform 115">
                <a:extLst>
                  <a:ext uri="{FF2B5EF4-FFF2-40B4-BE49-F238E27FC236}">
                    <a16:creationId xmlns:a16="http://schemas.microsoft.com/office/drawing/2014/main" id="{B3330D65-E888-3A5F-AF33-F02B30EDDFA8}"/>
                  </a:ext>
                </a:extLst>
              </p:cNvPr>
              <p:cNvSpPr>
                <a:spLocks/>
              </p:cNvSpPr>
              <p:nvPr/>
            </p:nvSpPr>
            <p:spPr bwMode="auto">
              <a:xfrm>
                <a:off x="7728701" y="1674259"/>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9" name="Freeform 78">
                <a:extLst>
                  <a:ext uri="{FF2B5EF4-FFF2-40B4-BE49-F238E27FC236}">
                    <a16:creationId xmlns:a16="http://schemas.microsoft.com/office/drawing/2014/main" id="{D14277C3-AFF9-154A-D4E6-7C1B5FDB858A}"/>
                  </a:ext>
                </a:extLst>
              </p:cNvPr>
              <p:cNvSpPr>
                <a:spLocks/>
              </p:cNvSpPr>
              <p:nvPr/>
            </p:nvSpPr>
            <p:spPr bwMode="auto">
              <a:xfrm>
                <a:off x="7974769" y="5524136"/>
                <a:ext cx="1143000" cy="409575"/>
              </a:xfrm>
              <a:custGeom>
                <a:avLst/>
                <a:gdLst>
                  <a:gd name="T0" fmla="*/ 0 w 720"/>
                  <a:gd name="T1" fmla="*/ 0 h 258"/>
                  <a:gd name="T2" fmla="*/ 266700 w 720"/>
                  <a:gd name="T3" fmla="*/ 0 h 258"/>
                  <a:gd name="T4" fmla="*/ 415925 w 720"/>
                  <a:gd name="T5" fmla="*/ 304800 h 258"/>
                  <a:gd name="T6" fmla="*/ 720725 w 720"/>
                  <a:gd name="T7" fmla="*/ 304800 h 258"/>
                  <a:gd name="T8" fmla="*/ 876300 w 720"/>
                  <a:gd name="T9" fmla="*/ 0 h 258"/>
                  <a:gd name="T10" fmla="*/ 1143000 w 720"/>
                  <a:gd name="T11" fmla="*/ 0 h 258"/>
                  <a:gd name="T12" fmla="*/ 1143000 w 720"/>
                  <a:gd name="T13" fmla="*/ 76200 h 258"/>
                  <a:gd name="T14" fmla="*/ 949325 w 720"/>
                  <a:gd name="T15" fmla="*/ 76200 h 258"/>
                  <a:gd name="T16" fmla="*/ 781050 w 720"/>
                  <a:gd name="T17" fmla="*/ 409575 h 258"/>
                  <a:gd name="T18" fmla="*/ 361950 w 720"/>
                  <a:gd name="T19" fmla="*/ 409575 h 258"/>
                  <a:gd name="T20" fmla="*/ 190500 w 720"/>
                  <a:gd name="T21" fmla="*/ 76200 h 258"/>
                  <a:gd name="T22" fmla="*/ 0 w 720"/>
                  <a:gd name="T23" fmla="*/ 76200 h 258"/>
                  <a:gd name="T24" fmla="*/ 0 w 720"/>
                  <a:gd name="T25" fmla="*/ 0 h 2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20" h="258">
                    <a:moveTo>
                      <a:pt x="0" y="0"/>
                    </a:moveTo>
                    <a:lnTo>
                      <a:pt x="168" y="0"/>
                    </a:lnTo>
                    <a:lnTo>
                      <a:pt x="262" y="192"/>
                    </a:lnTo>
                    <a:lnTo>
                      <a:pt x="454" y="192"/>
                    </a:lnTo>
                    <a:lnTo>
                      <a:pt x="552" y="0"/>
                    </a:lnTo>
                    <a:lnTo>
                      <a:pt x="720" y="0"/>
                    </a:lnTo>
                    <a:lnTo>
                      <a:pt x="720" y="48"/>
                    </a:lnTo>
                    <a:lnTo>
                      <a:pt x="598" y="48"/>
                    </a:lnTo>
                    <a:lnTo>
                      <a:pt x="492" y="258"/>
                    </a:lnTo>
                    <a:lnTo>
                      <a:pt x="228" y="258"/>
                    </a:lnTo>
                    <a:lnTo>
                      <a:pt x="120" y="48"/>
                    </a:lnTo>
                    <a:lnTo>
                      <a:pt x="0" y="48"/>
                    </a:lnTo>
                    <a:lnTo>
                      <a:pt x="0" y="0"/>
                    </a:lnTo>
                    <a:close/>
                  </a:path>
                </a:pathLst>
              </a:cu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9" name="TextBox 134">
              <a:extLst>
                <a:ext uri="{FF2B5EF4-FFF2-40B4-BE49-F238E27FC236}">
                  <a16:creationId xmlns:a16="http://schemas.microsoft.com/office/drawing/2014/main" id="{7B301C01-1597-ECD3-BB0A-5CE092DC5F3E}"/>
                </a:ext>
              </a:extLst>
            </p:cNvPr>
            <p:cNvSpPr txBox="1"/>
            <p:nvPr/>
          </p:nvSpPr>
          <p:spPr>
            <a:xfrm>
              <a:off x="6151417" y="5695068"/>
              <a:ext cx="1461704" cy="430887"/>
            </a:xfrm>
            <a:prstGeom prst="rect">
              <a:avLst/>
            </a:prstGeom>
            <a:noFill/>
          </p:spPr>
          <p:txBody>
            <a:bodyPr wrap="square" rtlCol="0">
              <a:spAutoFit/>
            </a:bodyPr>
            <a:lstStyle/>
            <a:p>
              <a:pPr algn="ctr"/>
              <a:r>
                <a:rPr lang="zh-CN" altLang="en-US" sz="2200" b="1" dirty="0">
                  <a:latin typeface="华文中宋" panose="02010600040101010101" pitchFamily="2" charset="-122"/>
                  <a:ea typeface="华文中宋" panose="02010600040101010101" pitchFamily="2" charset="-122"/>
                </a:rPr>
                <a:t>保压</a:t>
              </a:r>
            </a:p>
          </p:txBody>
        </p:sp>
      </p:grpSp>
      <p:grpSp>
        <p:nvGrpSpPr>
          <p:cNvPr id="180" name="组合 179">
            <a:extLst>
              <a:ext uri="{FF2B5EF4-FFF2-40B4-BE49-F238E27FC236}">
                <a16:creationId xmlns:a16="http://schemas.microsoft.com/office/drawing/2014/main" id="{77CFBC77-47C9-C7B9-B491-06D0BB6C91D5}"/>
              </a:ext>
            </a:extLst>
          </p:cNvPr>
          <p:cNvGrpSpPr/>
          <p:nvPr/>
        </p:nvGrpSpPr>
        <p:grpSpPr>
          <a:xfrm>
            <a:off x="8826995" y="941460"/>
            <a:ext cx="2030295" cy="4449659"/>
            <a:chOff x="7696695" y="1676295"/>
            <a:chExt cx="2030295" cy="4449659"/>
          </a:xfrm>
        </p:grpSpPr>
        <p:grpSp>
          <p:nvGrpSpPr>
            <p:cNvPr id="181" name="组合 180">
              <a:extLst>
                <a:ext uri="{FF2B5EF4-FFF2-40B4-BE49-F238E27FC236}">
                  <a16:creationId xmlns:a16="http://schemas.microsoft.com/office/drawing/2014/main" id="{7886EB3C-27C0-D3A3-AE86-DECE293839B1}"/>
                </a:ext>
              </a:extLst>
            </p:cNvPr>
            <p:cNvGrpSpPr/>
            <p:nvPr/>
          </p:nvGrpSpPr>
          <p:grpSpPr>
            <a:xfrm>
              <a:off x="7696695" y="1676295"/>
              <a:ext cx="2030295" cy="3880442"/>
              <a:chOff x="9561852" y="1677619"/>
              <a:chExt cx="2405324" cy="4597224"/>
            </a:xfrm>
          </p:grpSpPr>
          <p:sp>
            <p:nvSpPr>
              <p:cNvPr id="183" name="右箭头 178">
                <a:extLst>
                  <a:ext uri="{FF2B5EF4-FFF2-40B4-BE49-F238E27FC236}">
                    <a16:creationId xmlns:a16="http://schemas.microsoft.com/office/drawing/2014/main" id="{8A5D2EA3-7F82-6396-8AF7-76612600BC3B}"/>
                  </a:ext>
                </a:extLst>
              </p:cNvPr>
              <p:cNvSpPr/>
              <p:nvPr/>
            </p:nvSpPr>
            <p:spPr bwMode="auto">
              <a:xfrm>
                <a:off x="9561852" y="3270516"/>
                <a:ext cx="477837" cy="122363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84" name="Rectangle 78">
                <a:extLst>
                  <a:ext uri="{FF2B5EF4-FFF2-40B4-BE49-F238E27FC236}">
                    <a16:creationId xmlns:a16="http://schemas.microsoft.com/office/drawing/2014/main" id="{FAE624ED-5FAB-7CC6-9568-3BA6EA8FFB39}"/>
                  </a:ext>
                </a:extLst>
              </p:cNvPr>
              <p:cNvSpPr>
                <a:spLocks noChangeArrowheads="1"/>
              </p:cNvSpPr>
              <p:nvPr/>
            </p:nvSpPr>
            <p:spPr bwMode="auto">
              <a:xfrm>
                <a:off x="10224680" y="2270809"/>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85" name="Rectangle 79">
                <a:extLst>
                  <a:ext uri="{FF2B5EF4-FFF2-40B4-BE49-F238E27FC236}">
                    <a16:creationId xmlns:a16="http://schemas.microsoft.com/office/drawing/2014/main" id="{EBDCFA8A-85DD-3241-909C-221764E3B221}"/>
                  </a:ext>
                </a:extLst>
              </p:cNvPr>
              <p:cNvSpPr>
                <a:spLocks noChangeArrowheads="1"/>
              </p:cNvSpPr>
              <p:nvPr/>
            </p:nvSpPr>
            <p:spPr bwMode="auto">
              <a:xfrm>
                <a:off x="11633507" y="2270809"/>
                <a:ext cx="222446" cy="363329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86" name="Rectangle 80">
                <a:extLst>
                  <a:ext uri="{FF2B5EF4-FFF2-40B4-BE49-F238E27FC236}">
                    <a16:creationId xmlns:a16="http://schemas.microsoft.com/office/drawing/2014/main" id="{2D6E4E52-3D82-48B4-0723-62145502C6EC}"/>
                  </a:ext>
                </a:extLst>
              </p:cNvPr>
              <p:cNvSpPr>
                <a:spLocks noChangeArrowheads="1"/>
              </p:cNvSpPr>
              <p:nvPr/>
            </p:nvSpPr>
            <p:spPr bwMode="auto">
              <a:xfrm>
                <a:off x="10150531" y="1974214"/>
                <a:ext cx="1779571" cy="370744"/>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87" name="Freeform 81">
                <a:extLst>
                  <a:ext uri="{FF2B5EF4-FFF2-40B4-BE49-F238E27FC236}">
                    <a16:creationId xmlns:a16="http://schemas.microsoft.com/office/drawing/2014/main" id="{CB251355-3ACE-242D-6374-DBDC15900898}"/>
                  </a:ext>
                </a:extLst>
              </p:cNvPr>
              <p:cNvSpPr>
                <a:spLocks/>
              </p:cNvSpPr>
              <p:nvPr/>
            </p:nvSpPr>
            <p:spPr bwMode="auto">
              <a:xfrm>
                <a:off x="10150531" y="5607504"/>
                <a:ext cx="1779571" cy="667339"/>
              </a:xfrm>
              <a:custGeom>
                <a:avLst/>
                <a:gdLst>
                  <a:gd name="T0" fmla="*/ 0 w 1152"/>
                  <a:gd name="T1" fmla="*/ 0 h 432"/>
                  <a:gd name="T2" fmla="*/ 533400 w 1152"/>
                  <a:gd name="T3" fmla="*/ 0 h 432"/>
                  <a:gd name="T4" fmla="*/ 708025 w 1152"/>
                  <a:gd name="T5" fmla="*/ 336550 h 432"/>
                  <a:gd name="T6" fmla="*/ 1123950 w 1152"/>
                  <a:gd name="T7" fmla="*/ 336550 h 432"/>
                  <a:gd name="T8" fmla="*/ 1295400 w 1152"/>
                  <a:gd name="T9" fmla="*/ 0 h 432"/>
                  <a:gd name="T10" fmla="*/ 1828800 w 1152"/>
                  <a:gd name="T11" fmla="*/ 0 h 432"/>
                  <a:gd name="T12" fmla="*/ 1828800 w 1152"/>
                  <a:gd name="T13" fmla="*/ 685800 h 432"/>
                  <a:gd name="T14" fmla="*/ 0 w 1152"/>
                  <a:gd name="T15" fmla="*/ 685800 h 432"/>
                  <a:gd name="T16" fmla="*/ 0 w 1152"/>
                  <a:gd name="T17" fmla="*/ 0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432">
                    <a:moveTo>
                      <a:pt x="0" y="0"/>
                    </a:moveTo>
                    <a:lnTo>
                      <a:pt x="336" y="0"/>
                    </a:lnTo>
                    <a:lnTo>
                      <a:pt x="446" y="212"/>
                    </a:lnTo>
                    <a:lnTo>
                      <a:pt x="708" y="212"/>
                    </a:lnTo>
                    <a:lnTo>
                      <a:pt x="816" y="0"/>
                    </a:lnTo>
                    <a:lnTo>
                      <a:pt x="1152" y="0"/>
                    </a:lnTo>
                    <a:lnTo>
                      <a:pt x="1152" y="432"/>
                    </a:lnTo>
                    <a:lnTo>
                      <a:pt x="0" y="432"/>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8" name="Group 82">
                <a:extLst>
                  <a:ext uri="{FF2B5EF4-FFF2-40B4-BE49-F238E27FC236}">
                    <a16:creationId xmlns:a16="http://schemas.microsoft.com/office/drawing/2014/main" id="{1B3487EE-7586-EF88-1B9D-F404D85144CA}"/>
                  </a:ext>
                </a:extLst>
              </p:cNvPr>
              <p:cNvGrpSpPr>
                <a:grpSpLocks/>
              </p:cNvGrpSpPr>
              <p:nvPr/>
            </p:nvGrpSpPr>
            <p:grpSpPr bwMode="auto">
              <a:xfrm>
                <a:off x="10156881" y="3682113"/>
                <a:ext cx="1779571" cy="1482975"/>
                <a:chOff x="1152" y="2064"/>
                <a:chExt cx="1152" cy="960"/>
              </a:xfrm>
            </p:grpSpPr>
            <p:sp>
              <p:nvSpPr>
                <p:cNvPr id="220" name="Freeform 83">
                  <a:extLst>
                    <a:ext uri="{FF2B5EF4-FFF2-40B4-BE49-F238E27FC236}">
                      <a16:creationId xmlns:a16="http://schemas.microsoft.com/office/drawing/2014/main" id="{ED59CD92-F6D2-4969-CDAD-2D8EAB34F020}"/>
                    </a:ext>
                  </a:extLst>
                </p:cNvPr>
                <p:cNvSpPr>
                  <a:spLocks/>
                </p:cNvSpPr>
                <p:nvPr/>
              </p:nvSpPr>
              <p:spPr bwMode="auto">
                <a:xfrm>
                  <a:off x="1152" y="2736"/>
                  <a:ext cx="1152" cy="288"/>
                </a:xfrm>
                <a:custGeom>
                  <a:avLst/>
                  <a:gdLst>
                    <a:gd name="T0" fmla="*/ 0 w 1152"/>
                    <a:gd name="T1" fmla="*/ 0 h 288"/>
                    <a:gd name="T2" fmla="*/ 1152 w 1152"/>
                    <a:gd name="T3" fmla="*/ 0 h 288"/>
                    <a:gd name="T4" fmla="*/ 1152 w 1152"/>
                    <a:gd name="T5" fmla="*/ 96 h 288"/>
                    <a:gd name="T6" fmla="*/ 768 w 1152"/>
                    <a:gd name="T7" fmla="*/ 96 h 288"/>
                    <a:gd name="T8" fmla="*/ 672 w 1152"/>
                    <a:gd name="T9" fmla="*/ 288 h 288"/>
                    <a:gd name="T10" fmla="*/ 480 w 1152"/>
                    <a:gd name="T11" fmla="*/ 288 h 288"/>
                    <a:gd name="T12" fmla="*/ 384 w 1152"/>
                    <a:gd name="T13" fmla="*/ 96 h 288"/>
                    <a:gd name="T14" fmla="*/ 0 w 1152"/>
                    <a:gd name="T15" fmla="*/ 96 h 288"/>
                    <a:gd name="T16" fmla="*/ 0 w 1152"/>
                    <a:gd name="T17" fmla="*/ 0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288">
                      <a:moveTo>
                        <a:pt x="0" y="0"/>
                      </a:moveTo>
                      <a:lnTo>
                        <a:pt x="1152" y="0"/>
                      </a:lnTo>
                      <a:lnTo>
                        <a:pt x="1152" y="96"/>
                      </a:lnTo>
                      <a:lnTo>
                        <a:pt x="768" y="96"/>
                      </a:lnTo>
                      <a:lnTo>
                        <a:pt x="672" y="288"/>
                      </a:lnTo>
                      <a:lnTo>
                        <a:pt x="480" y="288"/>
                      </a:lnTo>
                      <a:lnTo>
                        <a:pt x="384" y="96"/>
                      </a:lnTo>
                      <a:lnTo>
                        <a:pt x="0" y="96"/>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1" name="Group 84">
                  <a:extLst>
                    <a:ext uri="{FF2B5EF4-FFF2-40B4-BE49-F238E27FC236}">
                      <a16:creationId xmlns:a16="http://schemas.microsoft.com/office/drawing/2014/main" id="{39CC1096-E1A0-B93E-10D1-717697EEA8DF}"/>
                    </a:ext>
                  </a:extLst>
                </p:cNvPr>
                <p:cNvGrpSpPr>
                  <a:grpSpLocks/>
                </p:cNvGrpSpPr>
                <p:nvPr/>
              </p:nvGrpSpPr>
              <p:grpSpPr bwMode="auto">
                <a:xfrm>
                  <a:off x="1680" y="2064"/>
                  <a:ext cx="96" cy="672"/>
                  <a:chOff x="1680" y="2064"/>
                  <a:chExt cx="96" cy="672"/>
                </a:xfrm>
              </p:grpSpPr>
              <p:sp>
                <p:nvSpPr>
                  <p:cNvPr id="222" name="Rectangle 85">
                    <a:extLst>
                      <a:ext uri="{FF2B5EF4-FFF2-40B4-BE49-F238E27FC236}">
                        <a16:creationId xmlns:a16="http://schemas.microsoft.com/office/drawing/2014/main" id="{465A9B57-4A42-05C2-985F-121A73F555CA}"/>
                      </a:ext>
                    </a:extLst>
                  </p:cNvPr>
                  <p:cNvSpPr>
                    <a:spLocks noChangeArrowheads="1"/>
                  </p:cNvSpPr>
                  <p:nvPr/>
                </p:nvSpPr>
                <p:spPr bwMode="auto">
                  <a:xfrm>
                    <a:off x="1680" y="2064"/>
                    <a:ext cx="96" cy="6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23" name="Line 86">
                    <a:extLst>
                      <a:ext uri="{FF2B5EF4-FFF2-40B4-BE49-F238E27FC236}">
                        <a16:creationId xmlns:a16="http://schemas.microsoft.com/office/drawing/2014/main" id="{46B6AF3F-38CB-7A28-23C8-CDCFB0B23D96}"/>
                      </a:ext>
                    </a:extLst>
                  </p:cNvPr>
                  <p:cNvSpPr>
                    <a:spLocks noChangeShapeType="1"/>
                  </p:cNvSpPr>
                  <p:nvPr/>
                </p:nvSpPr>
                <p:spPr bwMode="auto">
                  <a:xfrm flipV="1">
                    <a:off x="1704" y="206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89" name="Rectangle 87">
                <a:extLst>
                  <a:ext uri="{FF2B5EF4-FFF2-40B4-BE49-F238E27FC236}">
                    <a16:creationId xmlns:a16="http://schemas.microsoft.com/office/drawing/2014/main" id="{CD2D2BDB-D8BE-2D38-A85C-91363F0AA1F2}"/>
                  </a:ext>
                </a:extLst>
              </p:cNvPr>
              <p:cNvSpPr>
                <a:spLocks noChangeArrowheads="1"/>
              </p:cNvSpPr>
              <p:nvPr/>
            </p:nvSpPr>
            <p:spPr bwMode="auto">
              <a:xfrm rot="5400000">
                <a:off x="11013283" y="4279778"/>
                <a:ext cx="58701" cy="288872"/>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90" name="Rectangle 88">
                <a:extLst>
                  <a:ext uri="{FF2B5EF4-FFF2-40B4-BE49-F238E27FC236}">
                    <a16:creationId xmlns:a16="http://schemas.microsoft.com/office/drawing/2014/main" id="{CD125D2D-4C24-8DEE-69EB-078F27B1EEA3}"/>
                  </a:ext>
                </a:extLst>
              </p:cNvPr>
              <p:cNvSpPr>
                <a:spLocks noChangeArrowheads="1"/>
              </p:cNvSpPr>
              <p:nvPr/>
            </p:nvSpPr>
            <p:spPr bwMode="auto">
              <a:xfrm rot="5400000">
                <a:off x="10267934" y="3220839"/>
                <a:ext cx="1544766" cy="287327"/>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91" name="Rectangle 89">
                <a:extLst>
                  <a:ext uri="{FF2B5EF4-FFF2-40B4-BE49-F238E27FC236}">
                    <a16:creationId xmlns:a16="http://schemas.microsoft.com/office/drawing/2014/main" id="{67140410-5F2C-9387-BDF1-BD21EC3D5BBC}"/>
                  </a:ext>
                </a:extLst>
              </p:cNvPr>
              <p:cNvSpPr>
                <a:spLocks noChangeArrowheads="1"/>
              </p:cNvSpPr>
              <p:nvPr/>
            </p:nvSpPr>
            <p:spPr bwMode="auto">
              <a:xfrm rot="5400000">
                <a:off x="10425500" y="3342877"/>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92" name="Rectangle 90">
                <a:extLst>
                  <a:ext uri="{FF2B5EF4-FFF2-40B4-BE49-F238E27FC236}">
                    <a16:creationId xmlns:a16="http://schemas.microsoft.com/office/drawing/2014/main" id="{0B7B5318-D5CD-0CBC-E2F3-7C87DA984ABA}"/>
                  </a:ext>
                </a:extLst>
              </p:cNvPr>
              <p:cNvSpPr>
                <a:spLocks noChangeArrowheads="1"/>
              </p:cNvSpPr>
              <p:nvPr/>
            </p:nvSpPr>
            <p:spPr bwMode="auto">
              <a:xfrm rot="5400000">
                <a:off x="10108823" y="3342877"/>
                <a:ext cx="1544766" cy="43253"/>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93" name="Rectangle 91">
                <a:extLst>
                  <a:ext uri="{FF2B5EF4-FFF2-40B4-BE49-F238E27FC236}">
                    <a16:creationId xmlns:a16="http://schemas.microsoft.com/office/drawing/2014/main" id="{4C166B94-AC92-0F62-0DB2-AAEA78BC873A}"/>
                  </a:ext>
                </a:extLst>
              </p:cNvPr>
              <p:cNvSpPr>
                <a:spLocks noChangeArrowheads="1"/>
              </p:cNvSpPr>
              <p:nvPr/>
            </p:nvSpPr>
            <p:spPr bwMode="auto">
              <a:xfrm rot="5400000">
                <a:off x="10909784" y="2273126"/>
                <a:ext cx="259521"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94" name="Rectangle 92">
                <a:extLst>
                  <a:ext uri="{FF2B5EF4-FFF2-40B4-BE49-F238E27FC236}">
                    <a16:creationId xmlns:a16="http://schemas.microsoft.com/office/drawing/2014/main" id="{27F875EF-4189-AA8F-25E5-A390FB048CF9}"/>
                  </a:ext>
                </a:extLst>
              </p:cNvPr>
              <p:cNvSpPr>
                <a:spLocks noChangeArrowheads="1"/>
              </p:cNvSpPr>
              <p:nvPr/>
            </p:nvSpPr>
            <p:spPr bwMode="auto">
              <a:xfrm rot="5400000">
                <a:off x="10852628" y="4009444"/>
                <a:ext cx="373833" cy="403183"/>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95" name="Rectangle 93">
                <a:extLst>
                  <a:ext uri="{FF2B5EF4-FFF2-40B4-BE49-F238E27FC236}">
                    <a16:creationId xmlns:a16="http://schemas.microsoft.com/office/drawing/2014/main" id="{45F7A1AC-8E36-1366-4072-57F43FB827C7}"/>
                  </a:ext>
                </a:extLst>
              </p:cNvPr>
              <p:cNvSpPr>
                <a:spLocks noChangeArrowheads="1"/>
              </p:cNvSpPr>
              <p:nvPr/>
            </p:nvSpPr>
            <p:spPr bwMode="auto">
              <a:xfrm rot="10800000">
                <a:off x="10641767" y="2344958"/>
                <a:ext cx="795555" cy="57157"/>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grpSp>
            <p:nvGrpSpPr>
              <p:cNvPr id="196" name="Group 94">
                <a:extLst>
                  <a:ext uri="{FF2B5EF4-FFF2-40B4-BE49-F238E27FC236}">
                    <a16:creationId xmlns:a16="http://schemas.microsoft.com/office/drawing/2014/main" id="{A49C75E8-6555-71CA-575A-27E855267503}"/>
                  </a:ext>
                </a:extLst>
              </p:cNvPr>
              <p:cNvGrpSpPr>
                <a:grpSpLocks/>
              </p:cNvGrpSpPr>
              <p:nvPr/>
            </p:nvGrpSpPr>
            <p:grpSpPr bwMode="auto">
              <a:xfrm rot="10800000">
                <a:off x="10669572" y="2402115"/>
                <a:ext cx="123582" cy="55611"/>
                <a:chOff x="2203" y="3103"/>
                <a:chExt cx="73" cy="33"/>
              </a:xfrm>
            </p:grpSpPr>
            <p:sp>
              <p:nvSpPr>
                <p:cNvPr id="216" name="Rectangle 95">
                  <a:extLst>
                    <a:ext uri="{FF2B5EF4-FFF2-40B4-BE49-F238E27FC236}">
                      <a16:creationId xmlns:a16="http://schemas.microsoft.com/office/drawing/2014/main" id="{8E9FCAC8-17FC-D063-89D6-5A57BC637EB2}"/>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17" name="Freeform 96">
                  <a:extLst>
                    <a:ext uri="{FF2B5EF4-FFF2-40B4-BE49-F238E27FC236}">
                      <a16:creationId xmlns:a16="http://schemas.microsoft.com/office/drawing/2014/main" id="{E8AA91FB-B3D3-9017-DD48-74031933CD68}"/>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 name="Freeform 97">
                  <a:extLst>
                    <a:ext uri="{FF2B5EF4-FFF2-40B4-BE49-F238E27FC236}">
                      <a16:creationId xmlns:a16="http://schemas.microsoft.com/office/drawing/2014/main" id="{3644EC5C-9CCC-29BD-B769-D7984D4DF1A6}"/>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 name="Freeform 98">
                  <a:extLst>
                    <a:ext uri="{FF2B5EF4-FFF2-40B4-BE49-F238E27FC236}">
                      <a16:creationId xmlns:a16="http://schemas.microsoft.com/office/drawing/2014/main" id="{15B33C86-05DE-1D09-76E2-CB7A126E5BA5}"/>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7" name="Group 99">
                <a:extLst>
                  <a:ext uri="{FF2B5EF4-FFF2-40B4-BE49-F238E27FC236}">
                    <a16:creationId xmlns:a16="http://schemas.microsoft.com/office/drawing/2014/main" id="{858C1245-647B-18AE-6B5B-AC9260B671F6}"/>
                  </a:ext>
                </a:extLst>
              </p:cNvPr>
              <p:cNvGrpSpPr>
                <a:grpSpLocks/>
              </p:cNvGrpSpPr>
              <p:nvPr/>
            </p:nvGrpSpPr>
            <p:grpSpPr bwMode="auto">
              <a:xfrm rot="10800000">
                <a:off x="11293658" y="2403659"/>
                <a:ext cx="122037" cy="55611"/>
                <a:chOff x="2203" y="3103"/>
                <a:chExt cx="73" cy="33"/>
              </a:xfrm>
            </p:grpSpPr>
            <p:sp>
              <p:nvSpPr>
                <p:cNvPr id="212" name="Rectangle 100">
                  <a:extLst>
                    <a:ext uri="{FF2B5EF4-FFF2-40B4-BE49-F238E27FC236}">
                      <a16:creationId xmlns:a16="http://schemas.microsoft.com/office/drawing/2014/main" id="{E47C412F-178C-88E0-E226-A66990037006}"/>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13" name="Freeform 101">
                  <a:extLst>
                    <a:ext uri="{FF2B5EF4-FFF2-40B4-BE49-F238E27FC236}">
                      <a16:creationId xmlns:a16="http://schemas.microsoft.com/office/drawing/2014/main" id="{C69CD36E-5543-F6D0-29E7-3ECB8088D158}"/>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 name="Freeform 102">
                  <a:extLst>
                    <a:ext uri="{FF2B5EF4-FFF2-40B4-BE49-F238E27FC236}">
                      <a16:creationId xmlns:a16="http://schemas.microsoft.com/office/drawing/2014/main" id="{FAF5B5B0-91B5-841F-4D1F-30483C6F229B}"/>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 name="Freeform 103">
                  <a:extLst>
                    <a:ext uri="{FF2B5EF4-FFF2-40B4-BE49-F238E27FC236}">
                      <a16:creationId xmlns:a16="http://schemas.microsoft.com/office/drawing/2014/main" id="{4A62EF8D-1AD7-790C-C9C8-8F8C2057E912}"/>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8" name="Group 104">
                <a:extLst>
                  <a:ext uri="{FF2B5EF4-FFF2-40B4-BE49-F238E27FC236}">
                    <a16:creationId xmlns:a16="http://schemas.microsoft.com/office/drawing/2014/main" id="{2BCB9936-BCF0-8A98-0D2D-44DD367172D2}"/>
                  </a:ext>
                </a:extLst>
              </p:cNvPr>
              <p:cNvGrpSpPr>
                <a:grpSpLocks/>
              </p:cNvGrpSpPr>
              <p:nvPr/>
            </p:nvGrpSpPr>
            <p:grpSpPr bwMode="auto">
              <a:xfrm rot="10800000">
                <a:off x="11522283" y="1773395"/>
                <a:ext cx="444893" cy="202365"/>
                <a:chOff x="2203" y="3103"/>
                <a:chExt cx="73" cy="33"/>
              </a:xfrm>
            </p:grpSpPr>
            <p:sp>
              <p:nvSpPr>
                <p:cNvPr id="208" name="Rectangle 105">
                  <a:extLst>
                    <a:ext uri="{FF2B5EF4-FFF2-40B4-BE49-F238E27FC236}">
                      <a16:creationId xmlns:a16="http://schemas.microsoft.com/office/drawing/2014/main" id="{02BE4AF8-549E-67C8-A6AA-135C697C0DB7}"/>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09" name="Freeform 106">
                  <a:extLst>
                    <a:ext uri="{FF2B5EF4-FFF2-40B4-BE49-F238E27FC236}">
                      <a16:creationId xmlns:a16="http://schemas.microsoft.com/office/drawing/2014/main" id="{C30E3C67-F334-E2BB-D244-8911E7953210}"/>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 name="Freeform 107">
                  <a:extLst>
                    <a:ext uri="{FF2B5EF4-FFF2-40B4-BE49-F238E27FC236}">
                      <a16:creationId xmlns:a16="http://schemas.microsoft.com/office/drawing/2014/main" id="{4B9DC944-5732-B6A8-8DAF-50DB262903CD}"/>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 name="Freeform 108">
                  <a:extLst>
                    <a:ext uri="{FF2B5EF4-FFF2-40B4-BE49-F238E27FC236}">
                      <a16:creationId xmlns:a16="http://schemas.microsoft.com/office/drawing/2014/main" id="{F8E95EE9-F826-4118-4204-17CC639E771B}"/>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9" name="Freeform 109">
                <a:extLst>
                  <a:ext uri="{FF2B5EF4-FFF2-40B4-BE49-F238E27FC236}">
                    <a16:creationId xmlns:a16="http://schemas.microsoft.com/office/drawing/2014/main" id="{BA05F62C-A470-0314-3AC1-C7FA0DFF25C5}"/>
                  </a:ext>
                </a:extLst>
              </p:cNvPr>
              <p:cNvSpPr>
                <a:spLocks/>
              </p:cNvSpPr>
              <p:nvPr/>
            </p:nvSpPr>
            <p:spPr bwMode="auto">
              <a:xfrm>
                <a:off x="11633507" y="1677619"/>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nvGrpSpPr>
              <p:cNvPr id="200" name="Group 110">
                <a:extLst>
                  <a:ext uri="{FF2B5EF4-FFF2-40B4-BE49-F238E27FC236}">
                    <a16:creationId xmlns:a16="http://schemas.microsoft.com/office/drawing/2014/main" id="{A99C658F-14FB-F259-A4D8-F34D691C6963}"/>
                  </a:ext>
                </a:extLst>
              </p:cNvPr>
              <p:cNvGrpSpPr>
                <a:grpSpLocks/>
              </p:cNvGrpSpPr>
              <p:nvPr/>
            </p:nvGrpSpPr>
            <p:grpSpPr bwMode="auto">
              <a:xfrm rot="10800000">
                <a:off x="10122725" y="1773395"/>
                <a:ext cx="444893" cy="202365"/>
                <a:chOff x="2203" y="3103"/>
                <a:chExt cx="73" cy="33"/>
              </a:xfrm>
            </p:grpSpPr>
            <p:sp>
              <p:nvSpPr>
                <p:cNvPr id="204" name="Rectangle 111">
                  <a:extLst>
                    <a:ext uri="{FF2B5EF4-FFF2-40B4-BE49-F238E27FC236}">
                      <a16:creationId xmlns:a16="http://schemas.microsoft.com/office/drawing/2014/main" id="{8C5A5998-BC08-F950-3EA3-845B1979D899}"/>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05" name="Freeform 112">
                  <a:extLst>
                    <a:ext uri="{FF2B5EF4-FFF2-40B4-BE49-F238E27FC236}">
                      <a16:creationId xmlns:a16="http://schemas.microsoft.com/office/drawing/2014/main" id="{8D2E2270-E1A1-1673-438A-FCB811430C2B}"/>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 name="Freeform 113">
                  <a:extLst>
                    <a:ext uri="{FF2B5EF4-FFF2-40B4-BE49-F238E27FC236}">
                      <a16:creationId xmlns:a16="http://schemas.microsoft.com/office/drawing/2014/main" id="{2D810894-3003-4DF0-BA32-3980F710F07D}"/>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 name="Freeform 114">
                  <a:extLst>
                    <a:ext uri="{FF2B5EF4-FFF2-40B4-BE49-F238E27FC236}">
                      <a16:creationId xmlns:a16="http://schemas.microsoft.com/office/drawing/2014/main" id="{B9F2BBB0-806A-CE18-0F53-FE0E56521F95}"/>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1" name="Freeform 115">
                <a:extLst>
                  <a:ext uri="{FF2B5EF4-FFF2-40B4-BE49-F238E27FC236}">
                    <a16:creationId xmlns:a16="http://schemas.microsoft.com/office/drawing/2014/main" id="{52E8202C-4AFA-D6FF-C450-F034B8C3222D}"/>
                  </a:ext>
                </a:extLst>
              </p:cNvPr>
              <p:cNvSpPr>
                <a:spLocks/>
              </p:cNvSpPr>
              <p:nvPr/>
            </p:nvSpPr>
            <p:spPr bwMode="auto">
              <a:xfrm>
                <a:off x="10233949" y="1677619"/>
                <a:ext cx="222446" cy="92686"/>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cxnSp>
            <p:nvCxnSpPr>
              <p:cNvPr id="202" name="直接箭头连接符 201">
                <a:extLst>
                  <a:ext uri="{FF2B5EF4-FFF2-40B4-BE49-F238E27FC236}">
                    <a16:creationId xmlns:a16="http://schemas.microsoft.com/office/drawing/2014/main" id="{0BA2871B-4965-C802-EE40-61A2B56BD21C}"/>
                  </a:ext>
                </a:extLst>
              </p:cNvPr>
              <p:cNvCxnSpPr/>
              <p:nvPr/>
            </p:nvCxnSpPr>
            <p:spPr bwMode="auto">
              <a:xfrm flipV="1">
                <a:off x="11387275" y="3197489"/>
                <a:ext cx="0" cy="1197374"/>
              </a:xfrm>
              <a:prstGeom prst="straightConnector1">
                <a:avLst/>
              </a:prstGeom>
              <a:solidFill>
                <a:schemeClr val="accent1"/>
              </a:solidFill>
              <a:ln w="254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Freeform 78">
                <a:extLst>
                  <a:ext uri="{FF2B5EF4-FFF2-40B4-BE49-F238E27FC236}">
                    <a16:creationId xmlns:a16="http://schemas.microsoft.com/office/drawing/2014/main" id="{2FDC3995-8D5C-551D-5ADA-5DF10325B0EA}"/>
                  </a:ext>
                </a:extLst>
              </p:cNvPr>
              <p:cNvSpPr>
                <a:spLocks/>
              </p:cNvSpPr>
              <p:nvPr/>
            </p:nvSpPr>
            <p:spPr bwMode="auto">
              <a:xfrm>
                <a:off x="10480017" y="5527496"/>
                <a:ext cx="1143000" cy="409575"/>
              </a:xfrm>
              <a:custGeom>
                <a:avLst/>
                <a:gdLst>
                  <a:gd name="T0" fmla="*/ 0 w 720"/>
                  <a:gd name="T1" fmla="*/ 0 h 258"/>
                  <a:gd name="T2" fmla="*/ 266700 w 720"/>
                  <a:gd name="T3" fmla="*/ 0 h 258"/>
                  <a:gd name="T4" fmla="*/ 415925 w 720"/>
                  <a:gd name="T5" fmla="*/ 304800 h 258"/>
                  <a:gd name="T6" fmla="*/ 720725 w 720"/>
                  <a:gd name="T7" fmla="*/ 304800 h 258"/>
                  <a:gd name="T8" fmla="*/ 876300 w 720"/>
                  <a:gd name="T9" fmla="*/ 0 h 258"/>
                  <a:gd name="T10" fmla="*/ 1143000 w 720"/>
                  <a:gd name="T11" fmla="*/ 0 h 258"/>
                  <a:gd name="T12" fmla="*/ 1143000 w 720"/>
                  <a:gd name="T13" fmla="*/ 76200 h 258"/>
                  <a:gd name="T14" fmla="*/ 949325 w 720"/>
                  <a:gd name="T15" fmla="*/ 76200 h 258"/>
                  <a:gd name="T16" fmla="*/ 781050 w 720"/>
                  <a:gd name="T17" fmla="*/ 409575 h 258"/>
                  <a:gd name="T18" fmla="*/ 361950 w 720"/>
                  <a:gd name="T19" fmla="*/ 409575 h 258"/>
                  <a:gd name="T20" fmla="*/ 190500 w 720"/>
                  <a:gd name="T21" fmla="*/ 76200 h 258"/>
                  <a:gd name="T22" fmla="*/ 0 w 720"/>
                  <a:gd name="T23" fmla="*/ 76200 h 258"/>
                  <a:gd name="T24" fmla="*/ 0 w 720"/>
                  <a:gd name="T25" fmla="*/ 0 h 2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20" h="258">
                    <a:moveTo>
                      <a:pt x="0" y="0"/>
                    </a:moveTo>
                    <a:lnTo>
                      <a:pt x="168" y="0"/>
                    </a:lnTo>
                    <a:lnTo>
                      <a:pt x="262" y="192"/>
                    </a:lnTo>
                    <a:lnTo>
                      <a:pt x="454" y="192"/>
                    </a:lnTo>
                    <a:lnTo>
                      <a:pt x="552" y="0"/>
                    </a:lnTo>
                    <a:lnTo>
                      <a:pt x="720" y="0"/>
                    </a:lnTo>
                    <a:lnTo>
                      <a:pt x="720" y="48"/>
                    </a:lnTo>
                    <a:lnTo>
                      <a:pt x="598" y="48"/>
                    </a:lnTo>
                    <a:lnTo>
                      <a:pt x="492" y="258"/>
                    </a:lnTo>
                    <a:lnTo>
                      <a:pt x="228" y="258"/>
                    </a:lnTo>
                    <a:lnTo>
                      <a:pt x="120" y="48"/>
                    </a:lnTo>
                    <a:lnTo>
                      <a:pt x="0" y="48"/>
                    </a:lnTo>
                    <a:lnTo>
                      <a:pt x="0" y="0"/>
                    </a:lnTo>
                    <a:close/>
                  </a:path>
                </a:pathLst>
              </a:cu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2" name="TextBox 177">
              <a:extLst>
                <a:ext uri="{FF2B5EF4-FFF2-40B4-BE49-F238E27FC236}">
                  <a16:creationId xmlns:a16="http://schemas.microsoft.com/office/drawing/2014/main" id="{D76146F4-CED0-C7CE-9667-94184EE012E5}"/>
                </a:ext>
              </a:extLst>
            </p:cNvPr>
            <p:cNvSpPr txBox="1"/>
            <p:nvPr/>
          </p:nvSpPr>
          <p:spPr>
            <a:xfrm>
              <a:off x="8203232" y="5695067"/>
              <a:ext cx="1461704" cy="430887"/>
            </a:xfrm>
            <a:prstGeom prst="rect">
              <a:avLst/>
            </a:prstGeom>
            <a:noFill/>
          </p:spPr>
          <p:txBody>
            <a:bodyPr wrap="square" rtlCol="0">
              <a:spAutoFit/>
            </a:bodyPr>
            <a:lstStyle/>
            <a:p>
              <a:pPr algn="ctr"/>
              <a:r>
                <a:rPr lang="zh-CN" altLang="en-US" sz="2200" b="1" dirty="0">
                  <a:latin typeface="华文中宋" panose="02010600040101010101" pitchFamily="2" charset="-122"/>
                  <a:ea typeface="华文中宋" panose="02010600040101010101" pitchFamily="2" charset="-122"/>
                </a:rPr>
                <a:t>快速退回</a:t>
              </a:r>
            </a:p>
          </p:txBody>
        </p:sp>
      </p:grpSp>
      <p:sp>
        <p:nvSpPr>
          <p:cNvPr id="225" name="文本框 224">
            <a:extLst>
              <a:ext uri="{FF2B5EF4-FFF2-40B4-BE49-F238E27FC236}">
                <a16:creationId xmlns:a16="http://schemas.microsoft.com/office/drawing/2014/main" id="{632448C1-A1B9-4365-8FA1-E65E2349CF5B}"/>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1/29</a:t>
            </a:r>
            <a:endParaRPr lang="zh-CN" altLang="en-US" dirty="0"/>
          </a:p>
        </p:txBody>
      </p:sp>
    </p:spTree>
    <p:extLst>
      <p:ext uri="{BB962C8B-B14F-4D97-AF65-F5344CB8AC3E}">
        <p14:creationId xmlns:p14="http://schemas.microsoft.com/office/powerpoint/2010/main" val="70622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zh-CN" altLang="en-US" sz="3600" b="1" dirty="0">
                <a:solidFill>
                  <a:srgbClr val="003F88"/>
                </a:solidFill>
                <a:latin typeface="+mn-ea"/>
              </a:rPr>
              <a:t>调速回路</a:t>
            </a:r>
          </a:p>
        </p:txBody>
      </p:sp>
      <p:sp>
        <p:nvSpPr>
          <p:cNvPr id="8" name="TextBox 5">
            <a:extLst>
              <a:ext uri="{FF2B5EF4-FFF2-40B4-BE49-F238E27FC236}">
                <a16:creationId xmlns:a16="http://schemas.microsoft.com/office/drawing/2014/main" id="{0E08B8DE-02D3-942F-DC72-643372569DF6}"/>
              </a:ext>
            </a:extLst>
          </p:cNvPr>
          <p:cNvSpPr txBox="1"/>
          <p:nvPr/>
        </p:nvSpPr>
        <p:spPr>
          <a:xfrm>
            <a:off x="167957" y="965994"/>
            <a:ext cx="3550302" cy="168424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节流调速回路</a:t>
            </a:r>
            <a:endPar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容积调速回路</a:t>
            </a:r>
            <a:endPar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节流容积调速回路</a:t>
            </a:r>
          </a:p>
        </p:txBody>
      </p:sp>
      <p:sp>
        <p:nvSpPr>
          <p:cNvPr id="9" name="TextBox 140">
            <a:extLst>
              <a:ext uri="{FF2B5EF4-FFF2-40B4-BE49-F238E27FC236}">
                <a16:creationId xmlns:a16="http://schemas.microsoft.com/office/drawing/2014/main" id="{49A14AD1-15CF-335E-87CA-E66A13CA2405}"/>
              </a:ext>
            </a:extLst>
          </p:cNvPr>
          <p:cNvSpPr txBox="1"/>
          <p:nvPr/>
        </p:nvSpPr>
        <p:spPr>
          <a:xfrm>
            <a:off x="3745182" y="4531198"/>
            <a:ext cx="1168400" cy="369332"/>
          </a:xfrm>
          <a:prstGeom prst="rect">
            <a:avLst/>
          </a:prstGeom>
          <a:noFill/>
        </p:spPr>
        <p:txBody>
          <a:bodyPr wrap="square" rtlCol="0">
            <a:spAutoFit/>
          </a:bodyPr>
          <a:lstStyle/>
          <a:p>
            <a:pPr algn="ctr"/>
            <a:r>
              <a:rPr lang="zh-CN" altLang="en-US" b="1" dirty="0">
                <a:latin typeface="黑体" panose="02010609060101010101" pitchFamily="49" charset="-122"/>
                <a:ea typeface="黑体" panose="02010609060101010101" pitchFamily="49" charset="-122"/>
              </a:rPr>
              <a:t>变量泵</a:t>
            </a:r>
          </a:p>
        </p:txBody>
      </p:sp>
      <p:sp>
        <p:nvSpPr>
          <p:cNvPr id="10" name="Rectangle 78">
            <a:extLst>
              <a:ext uri="{FF2B5EF4-FFF2-40B4-BE49-F238E27FC236}">
                <a16:creationId xmlns:a16="http://schemas.microsoft.com/office/drawing/2014/main" id="{0C3A889E-9FCE-95FD-B7A5-3CA9CB073DA8}"/>
              </a:ext>
            </a:extLst>
          </p:cNvPr>
          <p:cNvSpPr>
            <a:spLocks noChangeArrowheads="1"/>
          </p:cNvSpPr>
          <p:nvPr/>
        </p:nvSpPr>
        <p:spPr bwMode="auto">
          <a:xfrm>
            <a:off x="7064597" y="2000682"/>
            <a:ext cx="249953" cy="4082566"/>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1" name="Rectangle 79">
            <a:extLst>
              <a:ext uri="{FF2B5EF4-FFF2-40B4-BE49-F238E27FC236}">
                <a16:creationId xmlns:a16="http://schemas.microsoft.com/office/drawing/2014/main" id="{F341C57F-B66F-6FF5-2B5B-7EF3222154C8}"/>
              </a:ext>
            </a:extLst>
          </p:cNvPr>
          <p:cNvSpPr>
            <a:spLocks noChangeArrowheads="1"/>
          </p:cNvSpPr>
          <p:nvPr/>
        </p:nvSpPr>
        <p:spPr bwMode="auto">
          <a:xfrm>
            <a:off x="8647633" y="2000682"/>
            <a:ext cx="249953" cy="4082566"/>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2" name="Rectangle 80">
            <a:extLst>
              <a:ext uri="{FF2B5EF4-FFF2-40B4-BE49-F238E27FC236}">
                <a16:creationId xmlns:a16="http://schemas.microsoft.com/office/drawing/2014/main" id="{BCA4C395-6ABB-8AFF-E2FD-012D20A405C7}"/>
              </a:ext>
            </a:extLst>
          </p:cNvPr>
          <p:cNvSpPr>
            <a:spLocks noChangeArrowheads="1"/>
          </p:cNvSpPr>
          <p:nvPr/>
        </p:nvSpPr>
        <p:spPr bwMode="auto">
          <a:xfrm>
            <a:off x="6981279" y="1824580"/>
            <a:ext cx="1999624" cy="416588"/>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3" name="Freeform 81">
            <a:extLst>
              <a:ext uri="{FF2B5EF4-FFF2-40B4-BE49-F238E27FC236}">
                <a16:creationId xmlns:a16="http://schemas.microsoft.com/office/drawing/2014/main" id="{3B9EBEE2-D491-BF43-7D87-3C299CFC5636}"/>
              </a:ext>
            </a:extLst>
          </p:cNvPr>
          <p:cNvSpPr>
            <a:spLocks/>
          </p:cNvSpPr>
          <p:nvPr/>
        </p:nvSpPr>
        <p:spPr bwMode="auto">
          <a:xfrm>
            <a:off x="6981279" y="5749978"/>
            <a:ext cx="1999624" cy="749859"/>
          </a:xfrm>
          <a:custGeom>
            <a:avLst/>
            <a:gdLst>
              <a:gd name="T0" fmla="*/ 0 w 1152"/>
              <a:gd name="T1" fmla="*/ 0 h 432"/>
              <a:gd name="T2" fmla="*/ 533400 w 1152"/>
              <a:gd name="T3" fmla="*/ 0 h 432"/>
              <a:gd name="T4" fmla="*/ 708025 w 1152"/>
              <a:gd name="T5" fmla="*/ 336550 h 432"/>
              <a:gd name="T6" fmla="*/ 1123950 w 1152"/>
              <a:gd name="T7" fmla="*/ 336550 h 432"/>
              <a:gd name="T8" fmla="*/ 1295400 w 1152"/>
              <a:gd name="T9" fmla="*/ 0 h 432"/>
              <a:gd name="T10" fmla="*/ 1828800 w 1152"/>
              <a:gd name="T11" fmla="*/ 0 h 432"/>
              <a:gd name="T12" fmla="*/ 1828800 w 1152"/>
              <a:gd name="T13" fmla="*/ 685800 h 432"/>
              <a:gd name="T14" fmla="*/ 0 w 1152"/>
              <a:gd name="T15" fmla="*/ 685800 h 432"/>
              <a:gd name="T16" fmla="*/ 0 w 1152"/>
              <a:gd name="T17" fmla="*/ 0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432">
                <a:moveTo>
                  <a:pt x="0" y="0"/>
                </a:moveTo>
                <a:lnTo>
                  <a:pt x="336" y="0"/>
                </a:lnTo>
                <a:lnTo>
                  <a:pt x="446" y="212"/>
                </a:lnTo>
                <a:lnTo>
                  <a:pt x="708" y="212"/>
                </a:lnTo>
                <a:lnTo>
                  <a:pt x="816" y="0"/>
                </a:lnTo>
                <a:lnTo>
                  <a:pt x="1152" y="0"/>
                </a:lnTo>
                <a:lnTo>
                  <a:pt x="1152" y="432"/>
                </a:lnTo>
                <a:lnTo>
                  <a:pt x="0" y="432"/>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 name="Group 82">
            <a:extLst>
              <a:ext uri="{FF2B5EF4-FFF2-40B4-BE49-F238E27FC236}">
                <a16:creationId xmlns:a16="http://schemas.microsoft.com/office/drawing/2014/main" id="{DB1759BD-CE12-B550-6439-A4263C722F5C}"/>
              </a:ext>
            </a:extLst>
          </p:cNvPr>
          <p:cNvGrpSpPr>
            <a:grpSpLocks/>
          </p:cNvGrpSpPr>
          <p:nvPr/>
        </p:nvGrpSpPr>
        <p:grpSpPr bwMode="auto">
          <a:xfrm>
            <a:off x="6973659" y="4233721"/>
            <a:ext cx="1999624" cy="1666353"/>
            <a:chOff x="1152" y="2064"/>
            <a:chExt cx="1152" cy="960"/>
          </a:xfrm>
        </p:grpSpPr>
        <p:sp>
          <p:nvSpPr>
            <p:cNvPr id="15" name="Freeform 83">
              <a:extLst>
                <a:ext uri="{FF2B5EF4-FFF2-40B4-BE49-F238E27FC236}">
                  <a16:creationId xmlns:a16="http://schemas.microsoft.com/office/drawing/2014/main" id="{F464AD52-CDD1-ADFB-969E-D4AFD6AF20D4}"/>
                </a:ext>
              </a:extLst>
            </p:cNvPr>
            <p:cNvSpPr>
              <a:spLocks/>
            </p:cNvSpPr>
            <p:nvPr/>
          </p:nvSpPr>
          <p:spPr bwMode="auto">
            <a:xfrm>
              <a:off x="1152" y="2736"/>
              <a:ext cx="1152" cy="288"/>
            </a:xfrm>
            <a:custGeom>
              <a:avLst/>
              <a:gdLst>
                <a:gd name="T0" fmla="*/ 0 w 1152"/>
                <a:gd name="T1" fmla="*/ 0 h 288"/>
                <a:gd name="T2" fmla="*/ 1152 w 1152"/>
                <a:gd name="T3" fmla="*/ 0 h 288"/>
                <a:gd name="T4" fmla="*/ 1152 w 1152"/>
                <a:gd name="T5" fmla="*/ 96 h 288"/>
                <a:gd name="T6" fmla="*/ 768 w 1152"/>
                <a:gd name="T7" fmla="*/ 96 h 288"/>
                <a:gd name="T8" fmla="*/ 672 w 1152"/>
                <a:gd name="T9" fmla="*/ 288 h 288"/>
                <a:gd name="T10" fmla="*/ 480 w 1152"/>
                <a:gd name="T11" fmla="*/ 288 h 288"/>
                <a:gd name="T12" fmla="*/ 384 w 1152"/>
                <a:gd name="T13" fmla="*/ 96 h 288"/>
                <a:gd name="T14" fmla="*/ 0 w 1152"/>
                <a:gd name="T15" fmla="*/ 96 h 288"/>
                <a:gd name="T16" fmla="*/ 0 w 1152"/>
                <a:gd name="T17" fmla="*/ 0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288">
                  <a:moveTo>
                    <a:pt x="0" y="0"/>
                  </a:moveTo>
                  <a:lnTo>
                    <a:pt x="1152" y="0"/>
                  </a:lnTo>
                  <a:lnTo>
                    <a:pt x="1152" y="96"/>
                  </a:lnTo>
                  <a:lnTo>
                    <a:pt x="768" y="96"/>
                  </a:lnTo>
                  <a:lnTo>
                    <a:pt x="672" y="288"/>
                  </a:lnTo>
                  <a:lnTo>
                    <a:pt x="480" y="288"/>
                  </a:lnTo>
                  <a:lnTo>
                    <a:pt x="384" y="96"/>
                  </a:lnTo>
                  <a:lnTo>
                    <a:pt x="0" y="96"/>
                  </a:lnTo>
                  <a:lnTo>
                    <a:pt x="0" y="0"/>
                  </a:lnTo>
                  <a:close/>
                </a:path>
              </a:pathLst>
            </a:custGeom>
            <a:solidFill>
              <a:schemeClr val="bg2"/>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 name="Group 84">
              <a:extLst>
                <a:ext uri="{FF2B5EF4-FFF2-40B4-BE49-F238E27FC236}">
                  <a16:creationId xmlns:a16="http://schemas.microsoft.com/office/drawing/2014/main" id="{983F6474-F2FC-5CFA-3B0E-EBAF8710B341}"/>
                </a:ext>
              </a:extLst>
            </p:cNvPr>
            <p:cNvGrpSpPr>
              <a:grpSpLocks/>
            </p:cNvGrpSpPr>
            <p:nvPr/>
          </p:nvGrpSpPr>
          <p:grpSpPr bwMode="auto">
            <a:xfrm>
              <a:off x="1680" y="2064"/>
              <a:ext cx="96" cy="672"/>
              <a:chOff x="1680" y="2064"/>
              <a:chExt cx="96" cy="672"/>
            </a:xfrm>
          </p:grpSpPr>
          <p:sp>
            <p:nvSpPr>
              <p:cNvPr id="17" name="Rectangle 85">
                <a:extLst>
                  <a:ext uri="{FF2B5EF4-FFF2-40B4-BE49-F238E27FC236}">
                    <a16:creationId xmlns:a16="http://schemas.microsoft.com/office/drawing/2014/main" id="{AAB784D3-A554-FD72-55BB-4588037D7997}"/>
                  </a:ext>
                </a:extLst>
              </p:cNvPr>
              <p:cNvSpPr>
                <a:spLocks noChangeArrowheads="1"/>
              </p:cNvSpPr>
              <p:nvPr/>
            </p:nvSpPr>
            <p:spPr bwMode="auto">
              <a:xfrm>
                <a:off x="1680" y="2064"/>
                <a:ext cx="96" cy="6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18" name="Line 86">
                <a:extLst>
                  <a:ext uri="{FF2B5EF4-FFF2-40B4-BE49-F238E27FC236}">
                    <a16:creationId xmlns:a16="http://schemas.microsoft.com/office/drawing/2014/main" id="{FDD209C1-D31E-6339-5E42-BFC38D0398DD}"/>
                  </a:ext>
                </a:extLst>
              </p:cNvPr>
              <p:cNvSpPr>
                <a:spLocks noChangeShapeType="1"/>
              </p:cNvSpPr>
              <p:nvPr/>
            </p:nvSpPr>
            <p:spPr bwMode="auto">
              <a:xfrm flipV="1">
                <a:off x="1704" y="206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9" name="Rectangle 87">
            <a:extLst>
              <a:ext uri="{FF2B5EF4-FFF2-40B4-BE49-F238E27FC236}">
                <a16:creationId xmlns:a16="http://schemas.microsoft.com/office/drawing/2014/main" id="{5E389938-C324-903A-C62B-B11F3415E8CF}"/>
              </a:ext>
            </a:extLst>
          </p:cNvPr>
          <p:cNvSpPr>
            <a:spLocks noChangeArrowheads="1"/>
          </p:cNvSpPr>
          <p:nvPr/>
        </p:nvSpPr>
        <p:spPr bwMode="auto">
          <a:xfrm rot="5400000">
            <a:off x="7950715" y="4258071"/>
            <a:ext cx="65960" cy="324592"/>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0" name="Rectangle 88">
            <a:extLst>
              <a:ext uri="{FF2B5EF4-FFF2-40B4-BE49-F238E27FC236}">
                <a16:creationId xmlns:a16="http://schemas.microsoft.com/office/drawing/2014/main" id="{E8B8504B-6115-B35D-8E3A-55A7929CEE44}"/>
              </a:ext>
            </a:extLst>
          </p:cNvPr>
          <p:cNvSpPr>
            <a:spLocks noChangeArrowheads="1"/>
          </p:cNvSpPr>
          <p:nvPr/>
        </p:nvSpPr>
        <p:spPr bwMode="auto">
          <a:xfrm rot="5400000">
            <a:off x="7113200" y="3225357"/>
            <a:ext cx="1735785" cy="322856"/>
          </a:xfrm>
          <a:prstGeom prst="rect">
            <a:avLst/>
          </a:prstGeom>
          <a:gradFill rotWithShape="0">
            <a:gsLst>
              <a:gs pos="0">
                <a:srgbClr val="0066FF"/>
              </a:gs>
              <a:gs pos="50000">
                <a:srgbClr val="8FBCFF"/>
              </a:gs>
              <a:gs pos="100000">
                <a:srgbClr val="0066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1" name="Rectangle 89">
            <a:extLst>
              <a:ext uri="{FF2B5EF4-FFF2-40B4-BE49-F238E27FC236}">
                <a16:creationId xmlns:a16="http://schemas.microsoft.com/office/drawing/2014/main" id="{48F686FB-D868-A652-6557-7154052862B3}"/>
              </a:ext>
            </a:extLst>
          </p:cNvPr>
          <p:cNvSpPr>
            <a:spLocks noChangeArrowheads="1"/>
          </p:cNvSpPr>
          <p:nvPr/>
        </p:nvSpPr>
        <p:spPr bwMode="auto">
          <a:xfrm rot="5400000">
            <a:off x="7290249" y="3362485"/>
            <a:ext cx="1735785" cy="48602"/>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2" name="Rectangle 90">
            <a:extLst>
              <a:ext uri="{FF2B5EF4-FFF2-40B4-BE49-F238E27FC236}">
                <a16:creationId xmlns:a16="http://schemas.microsoft.com/office/drawing/2014/main" id="{60110736-406A-0C89-D371-5182684BEC02}"/>
              </a:ext>
            </a:extLst>
          </p:cNvPr>
          <p:cNvSpPr>
            <a:spLocks noChangeArrowheads="1"/>
          </p:cNvSpPr>
          <p:nvPr/>
        </p:nvSpPr>
        <p:spPr bwMode="auto">
          <a:xfrm rot="5400000">
            <a:off x="6934414" y="3362485"/>
            <a:ext cx="1735785" cy="48602"/>
          </a:xfrm>
          <a:prstGeom prst="rect">
            <a:avLst/>
          </a:prstGeom>
          <a:gradFill rotWithShape="0">
            <a:gsLst>
              <a:gs pos="0">
                <a:schemeClr val="tx1"/>
              </a:gs>
              <a:gs pos="50000">
                <a:schemeClr val="tx1">
                  <a:gamma/>
                  <a:tint val="23922"/>
                  <a:invGamma/>
                </a:schemeClr>
              </a:gs>
              <a:gs pos="100000">
                <a:schemeClr val="tx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3" name="Rectangle 91">
            <a:extLst>
              <a:ext uri="{FF2B5EF4-FFF2-40B4-BE49-F238E27FC236}">
                <a16:creationId xmlns:a16="http://schemas.microsoft.com/office/drawing/2014/main" id="{3EB05C42-327E-FF65-5118-306FD161387E}"/>
              </a:ext>
            </a:extLst>
          </p:cNvPr>
          <p:cNvSpPr>
            <a:spLocks noChangeArrowheads="1"/>
          </p:cNvSpPr>
          <p:nvPr/>
        </p:nvSpPr>
        <p:spPr bwMode="auto">
          <a:xfrm rot="5400000">
            <a:off x="7834418" y="2160454"/>
            <a:ext cx="291612" cy="453039"/>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4" name="Rectangle 92">
            <a:extLst>
              <a:ext uri="{FF2B5EF4-FFF2-40B4-BE49-F238E27FC236}">
                <a16:creationId xmlns:a16="http://schemas.microsoft.com/office/drawing/2014/main" id="{5D891978-4A22-4FBC-3EFC-EBA01E0969D1}"/>
              </a:ext>
            </a:extLst>
          </p:cNvPr>
          <p:cNvSpPr>
            <a:spLocks noChangeArrowheads="1"/>
          </p:cNvSpPr>
          <p:nvPr/>
        </p:nvSpPr>
        <p:spPr bwMode="auto">
          <a:xfrm rot="5400000">
            <a:off x="7770194" y="3954309"/>
            <a:ext cx="420060" cy="453039"/>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5" name="Rectangle 93">
            <a:extLst>
              <a:ext uri="{FF2B5EF4-FFF2-40B4-BE49-F238E27FC236}">
                <a16:creationId xmlns:a16="http://schemas.microsoft.com/office/drawing/2014/main" id="{C6F00C65-5D8D-7E11-2F92-A60337990CF8}"/>
              </a:ext>
            </a:extLst>
          </p:cNvPr>
          <p:cNvSpPr>
            <a:spLocks noChangeArrowheads="1"/>
          </p:cNvSpPr>
          <p:nvPr/>
        </p:nvSpPr>
        <p:spPr bwMode="auto">
          <a:xfrm rot="10800000">
            <a:off x="7533259" y="2241168"/>
            <a:ext cx="893930" cy="64225"/>
          </a:xfrm>
          <a:prstGeom prst="rect">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grpSp>
        <p:nvGrpSpPr>
          <p:cNvPr id="26" name="Group 94">
            <a:extLst>
              <a:ext uri="{FF2B5EF4-FFF2-40B4-BE49-F238E27FC236}">
                <a16:creationId xmlns:a16="http://schemas.microsoft.com/office/drawing/2014/main" id="{2E9EBEA2-6668-3472-954B-2D3B52E951EF}"/>
              </a:ext>
            </a:extLst>
          </p:cNvPr>
          <p:cNvGrpSpPr>
            <a:grpSpLocks/>
          </p:cNvGrpSpPr>
          <p:nvPr/>
        </p:nvGrpSpPr>
        <p:grpSpPr bwMode="auto">
          <a:xfrm rot="10800000">
            <a:off x="7564503" y="2305393"/>
            <a:ext cx="138863" cy="62488"/>
            <a:chOff x="2203" y="3103"/>
            <a:chExt cx="73" cy="33"/>
          </a:xfrm>
        </p:grpSpPr>
        <p:sp>
          <p:nvSpPr>
            <p:cNvPr id="27" name="Rectangle 95">
              <a:extLst>
                <a:ext uri="{FF2B5EF4-FFF2-40B4-BE49-F238E27FC236}">
                  <a16:creationId xmlns:a16="http://schemas.microsoft.com/office/drawing/2014/main" id="{DD2D33C7-8C11-C545-33B7-A87FC2D8E2F1}"/>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28" name="Freeform 96">
              <a:extLst>
                <a:ext uri="{FF2B5EF4-FFF2-40B4-BE49-F238E27FC236}">
                  <a16:creationId xmlns:a16="http://schemas.microsoft.com/office/drawing/2014/main" id="{D506BE95-8099-D928-006B-A1FD6A433FF7}"/>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Freeform 97">
              <a:extLst>
                <a:ext uri="{FF2B5EF4-FFF2-40B4-BE49-F238E27FC236}">
                  <a16:creationId xmlns:a16="http://schemas.microsoft.com/office/drawing/2014/main" id="{E2336CF8-7E1C-00F2-B7CB-B4DC4ACB8FB1}"/>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Freeform 98">
              <a:extLst>
                <a:ext uri="{FF2B5EF4-FFF2-40B4-BE49-F238E27FC236}">
                  <a16:creationId xmlns:a16="http://schemas.microsoft.com/office/drawing/2014/main" id="{C1277571-56B5-6C8F-C07B-3229C36504E5}"/>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1" name="Group 99">
            <a:extLst>
              <a:ext uri="{FF2B5EF4-FFF2-40B4-BE49-F238E27FC236}">
                <a16:creationId xmlns:a16="http://schemas.microsoft.com/office/drawing/2014/main" id="{D9B9509C-AE78-0AD5-E84E-C5495FA7DF23}"/>
              </a:ext>
            </a:extLst>
          </p:cNvPr>
          <p:cNvGrpSpPr>
            <a:grpSpLocks/>
          </p:cNvGrpSpPr>
          <p:nvPr/>
        </p:nvGrpSpPr>
        <p:grpSpPr bwMode="auto">
          <a:xfrm rot="10800000">
            <a:off x="8265760" y="2307128"/>
            <a:ext cx="137128" cy="62488"/>
            <a:chOff x="2203" y="3103"/>
            <a:chExt cx="73" cy="33"/>
          </a:xfrm>
        </p:grpSpPr>
        <p:sp>
          <p:nvSpPr>
            <p:cNvPr id="32" name="Rectangle 100">
              <a:extLst>
                <a:ext uri="{FF2B5EF4-FFF2-40B4-BE49-F238E27FC236}">
                  <a16:creationId xmlns:a16="http://schemas.microsoft.com/office/drawing/2014/main" id="{4AEDB4F1-9C8B-84BD-4E34-9B2BF6538B67}"/>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33" name="Freeform 101">
              <a:extLst>
                <a:ext uri="{FF2B5EF4-FFF2-40B4-BE49-F238E27FC236}">
                  <a16:creationId xmlns:a16="http://schemas.microsoft.com/office/drawing/2014/main" id="{17934DA8-AD67-D8E8-C23E-55E57AAE6180}"/>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Freeform 102">
              <a:extLst>
                <a:ext uri="{FF2B5EF4-FFF2-40B4-BE49-F238E27FC236}">
                  <a16:creationId xmlns:a16="http://schemas.microsoft.com/office/drawing/2014/main" id="{4C69C27B-D4E8-80BF-60C7-9337D6210F4F}"/>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Freeform 103">
              <a:extLst>
                <a:ext uri="{FF2B5EF4-FFF2-40B4-BE49-F238E27FC236}">
                  <a16:creationId xmlns:a16="http://schemas.microsoft.com/office/drawing/2014/main" id="{83999F24-B782-0CBB-7A2A-7D052345C56E}"/>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 name="Group 104">
            <a:extLst>
              <a:ext uri="{FF2B5EF4-FFF2-40B4-BE49-F238E27FC236}">
                <a16:creationId xmlns:a16="http://schemas.microsoft.com/office/drawing/2014/main" id="{84387D69-DD48-7DCD-F525-23434DE63DC8}"/>
              </a:ext>
            </a:extLst>
          </p:cNvPr>
          <p:cNvGrpSpPr>
            <a:grpSpLocks/>
          </p:cNvGrpSpPr>
          <p:nvPr/>
        </p:nvGrpSpPr>
        <p:grpSpPr bwMode="auto">
          <a:xfrm rot="10800000">
            <a:off x="8522656" y="1598928"/>
            <a:ext cx="499906" cy="227388"/>
            <a:chOff x="2203" y="3103"/>
            <a:chExt cx="73" cy="33"/>
          </a:xfrm>
        </p:grpSpPr>
        <p:sp>
          <p:nvSpPr>
            <p:cNvPr id="37" name="Rectangle 105">
              <a:extLst>
                <a:ext uri="{FF2B5EF4-FFF2-40B4-BE49-F238E27FC236}">
                  <a16:creationId xmlns:a16="http://schemas.microsoft.com/office/drawing/2014/main" id="{A29827F9-D903-6666-3238-921A6436F6BA}"/>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38" name="Freeform 106">
              <a:extLst>
                <a:ext uri="{FF2B5EF4-FFF2-40B4-BE49-F238E27FC236}">
                  <a16:creationId xmlns:a16="http://schemas.microsoft.com/office/drawing/2014/main" id="{4BE387DD-4394-86FE-9CF8-738D857E7EF4}"/>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107">
              <a:extLst>
                <a:ext uri="{FF2B5EF4-FFF2-40B4-BE49-F238E27FC236}">
                  <a16:creationId xmlns:a16="http://schemas.microsoft.com/office/drawing/2014/main" id="{078B615E-D942-3057-6D58-C55AC87D2C4F}"/>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108">
              <a:extLst>
                <a:ext uri="{FF2B5EF4-FFF2-40B4-BE49-F238E27FC236}">
                  <a16:creationId xmlns:a16="http://schemas.microsoft.com/office/drawing/2014/main" id="{54B2621B-CF40-1D06-04A5-840DD1A5AF53}"/>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 name="Freeform 109">
            <a:extLst>
              <a:ext uri="{FF2B5EF4-FFF2-40B4-BE49-F238E27FC236}">
                <a16:creationId xmlns:a16="http://schemas.microsoft.com/office/drawing/2014/main" id="{E56B5381-70C7-ABDD-7494-87441E311538}"/>
              </a:ext>
            </a:extLst>
          </p:cNvPr>
          <p:cNvSpPr>
            <a:spLocks/>
          </p:cNvSpPr>
          <p:nvPr/>
        </p:nvSpPr>
        <p:spPr bwMode="auto">
          <a:xfrm>
            <a:off x="8647633" y="1491309"/>
            <a:ext cx="249953" cy="104147"/>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pSp>
        <p:nvGrpSpPr>
          <p:cNvPr id="42" name="Group 110">
            <a:extLst>
              <a:ext uri="{FF2B5EF4-FFF2-40B4-BE49-F238E27FC236}">
                <a16:creationId xmlns:a16="http://schemas.microsoft.com/office/drawing/2014/main" id="{4F093697-ED6F-A5D8-BF7A-EDE83DEEDBBC}"/>
              </a:ext>
            </a:extLst>
          </p:cNvPr>
          <p:cNvGrpSpPr>
            <a:grpSpLocks/>
          </p:cNvGrpSpPr>
          <p:nvPr/>
        </p:nvGrpSpPr>
        <p:grpSpPr bwMode="auto">
          <a:xfrm rot="10800000">
            <a:off x="6950035" y="1598928"/>
            <a:ext cx="499906" cy="227388"/>
            <a:chOff x="2203" y="3103"/>
            <a:chExt cx="73" cy="33"/>
          </a:xfrm>
        </p:grpSpPr>
        <p:sp>
          <p:nvSpPr>
            <p:cNvPr id="43" name="Rectangle 111">
              <a:extLst>
                <a:ext uri="{FF2B5EF4-FFF2-40B4-BE49-F238E27FC236}">
                  <a16:creationId xmlns:a16="http://schemas.microsoft.com/office/drawing/2014/main" id="{DFC50C3D-B385-AB14-0BFD-C40BEF87B0CD}"/>
                </a:ext>
              </a:extLst>
            </p:cNvPr>
            <p:cNvSpPr>
              <a:spLocks noChangeArrowheads="1"/>
            </p:cNvSpPr>
            <p:nvPr/>
          </p:nvSpPr>
          <p:spPr bwMode="auto">
            <a:xfrm rot="5400000">
              <a:off x="2221" y="3094"/>
              <a:ext cx="33" cy="51"/>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b="1">
                  <a:solidFill>
                    <a:schemeClr val="hlink"/>
                  </a:solidFill>
                  <a:latin typeface="Comic Sans MS" pitchFamily="66" charset="0"/>
                </a:defRPr>
              </a:lvl1pPr>
              <a:lvl2pPr marL="742950" indent="-285750">
                <a:defRPr sz="1200" b="1">
                  <a:solidFill>
                    <a:schemeClr val="hlink"/>
                  </a:solidFill>
                  <a:latin typeface="Comic Sans MS" pitchFamily="66" charset="0"/>
                </a:defRPr>
              </a:lvl2pPr>
              <a:lvl3pPr marL="1143000" indent="-228600">
                <a:defRPr sz="1200" b="1">
                  <a:solidFill>
                    <a:schemeClr val="hlink"/>
                  </a:solidFill>
                  <a:latin typeface="Comic Sans MS" pitchFamily="66" charset="0"/>
                </a:defRPr>
              </a:lvl3pPr>
              <a:lvl4pPr marL="1600200" indent="-228600">
                <a:defRPr sz="1200" b="1">
                  <a:solidFill>
                    <a:schemeClr val="hlink"/>
                  </a:solidFill>
                  <a:latin typeface="Comic Sans MS" pitchFamily="66" charset="0"/>
                </a:defRPr>
              </a:lvl4pPr>
              <a:lvl5pPr marL="2057400" indent="-228600">
                <a:defRPr sz="1200" b="1">
                  <a:solidFill>
                    <a:schemeClr val="hlink"/>
                  </a:solidFill>
                  <a:latin typeface="Comic Sans MS" pitchFamily="66" charset="0"/>
                </a:defRPr>
              </a:lvl5pPr>
              <a:lvl6pPr marL="2514600" indent="-228600" eaLnBrk="0" fontAlgn="base" hangingPunct="0">
                <a:spcBef>
                  <a:spcPct val="0"/>
                </a:spcBef>
                <a:spcAft>
                  <a:spcPct val="0"/>
                </a:spcAft>
                <a:defRPr sz="1200" b="1">
                  <a:solidFill>
                    <a:schemeClr val="hlink"/>
                  </a:solidFill>
                  <a:latin typeface="Comic Sans MS" pitchFamily="66" charset="0"/>
                </a:defRPr>
              </a:lvl6pPr>
              <a:lvl7pPr marL="2971800" indent="-228600" eaLnBrk="0" fontAlgn="base" hangingPunct="0">
                <a:spcBef>
                  <a:spcPct val="0"/>
                </a:spcBef>
                <a:spcAft>
                  <a:spcPct val="0"/>
                </a:spcAft>
                <a:defRPr sz="1200" b="1">
                  <a:solidFill>
                    <a:schemeClr val="hlink"/>
                  </a:solidFill>
                  <a:latin typeface="Comic Sans MS" pitchFamily="66" charset="0"/>
                </a:defRPr>
              </a:lvl7pPr>
              <a:lvl8pPr marL="3429000" indent="-228600" eaLnBrk="0" fontAlgn="base" hangingPunct="0">
                <a:spcBef>
                  <a:spcPct val="0"/>
                </a:spcBef>
                <a:spcAft>
                  <a:spcPct val="0"/>
                </a:spcAft>
                <a:defRPr sz="1200" b="1">
                  <a:solidFill>
                    <a:schemeClr val="hlink"/>
                  </a:solidFill>
                  <a:latin typeface="Comic Sans MS" pitchFamily="66" charset="0"/>
                </a:defRPr>
              </a:lvl8pPr>
              <a:lvl9pPr marL="3886200" indent="-228600" eaLnBrk="0" fontAlgn="base" hangingPunct="0">
                <a:spcBef>
                  <a:spcPct val="0"/>
                </a:spcBef>
                <a:spcAft>
                  <a:spcPct val="0"/>
                </a:spcAft>
                <a:defRPr sz="1200" b="1">
                  <a:solidFill>
                    <a:schemeClr val="hlink"/>
                  </a:solidFill>
                  <a:latin typeface="Comic Sans MS" pitchFamily="66" charset="0"/>
                </a:defRPr>
              </a:lvl9pPr>
            </a:lstStyle>
            <a:p>
              <a:endParaRPr lang="zh-CN" altLang="en-US">
                <a:ea typeface="宋体" pitchFamily="2" charset="-122"/>
              </a:endParaRPr>
            </a:p>
          </p:txBody>
        </p:sp>
        <p:sp>
          <p:nvSpPr>
            <p:cNvPr id="44" name="Freeform 112">
              <a:extLst>
                <a:ext uri="{FF2B5EF4-FFF2-40B4-BE49-F238E27FC236}">
                  <a16:creationId xmlns:a16="http://schemas.microsoft.com/office/drawing/2014/main" id="{3F230DD8-4E18-5C10-95FE-5E4F207954D4}"/>
                </a:ext>
              </a:extLst>
            </p:cNvPr>
            <p:cNvSpPr>
              <a:spLocks/>
            </p:cNvSpPr>
            <p:nvPr/>
          </p:nvSpPr>
          <p:spPr bwMode="auto">
            <a:xfrm rot="5400000">
              <a:off x="2222" y="3101"/>
              <a:ext cx="33" cy="37"/>
            </a:xfrm>
            <a:custGeom>
              <a:avLst/>
              <a:gdLst>
                <a:gd name="T0" fmla="*/ 7 w 432"/>
                <a:gd name="T1" fmla="*/ 37 h 576"/>
                <a:gd name="T2" fmla="*/ 0 w 432"/>
                <a:gd name="T3" fmla="*/ 28 h 576"/>
                <a:gd name="T4" fmla="*/ 0 w 432"/>
                <a:gd name="T5" fmla="*/ 9 h 576"/>
                <a:gd name="T6" fmla="*/ 7 w 432"/>
                <a:gd name="T7" fmla="*/ 0 h 576"/>
                <a:gd name="T8" fmla="*/ 26 w 432"/>
                <a:gd name="T9" fmla="*/ 0 h 576"/>
                <a:gd name="T10" fmla="*/ 33 w 432"/>
                <a:gd name="T11" fmla="*/ 9 h 576"/>
                <a:gd name="T12" fmla="*/ 33 w 432"/>
                <a:gd name="T13" fmla="*/ 28 h 576"/>
                <a:gd name="T14" fmla="*/ 26 w 432"/>
                <a:gd name="T15" fmla="*/ 37 h 576"/>
                <a:gd name="T16" fmla="*/ 7 w 432"/>
                <a:gd name="T17" fmla="*/ 37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576">
                  <a:moveTo>
                    <a:pt x="96" y="576"/>
                  </a:moveTo>
                  <a:lnTo>
                    <a:pt x="0" y="432"/>
                  </a:lnTo>
                  <a:lnTo>
                    <a:pt x="0" y="144"/>
                  </a:lnTo>
                  <a:lnTo>
                    <a:pt x="96" y="0"/>
                  </a:lnTo>
                  <a:lnTo>
                    <a:pt x="336" y="0"/>
                  </a:lnTo>
                  <a:lnTo>
                    <a:pt x="432" y="144"/>
                  </a:lnTo>
                  <a:lnTo>
                    <a:pt x="432" y="432"/>
                  </a:lnTo>
                  <a:lnTo>
                    <a:pt x="336" y="576"/>
                  </a:lnTo>
                  <a:lnTo>
                    <a:pt x="96" y="576"/>
                  </a:lnTo>
                  <a:close/>
                </a:path>
              </a:pathLst>
            </a:custGeom>
            <a:solidFill>
              <a:schemeClr val="folHlink"/>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113">
              <a:extLst>
                <a:ext uri="{FF2B5EF4-FFF2-40B4-BE49-F238E27FC236}">
                  <a16:creationId xmlns:a16="http://schemas.microsoft.com/office/drawing/2014/main" id="{90A06B92-5BF0-B0FF-6563-EAA7C87A5195}"/>
                </a:ext>
              </a:extLst>
            </p:cNvPr>
            <p:cNvSpPr>
              <a:spLocks/>
            </p:cNvSpPr>
            <p:nvPr/>
          </p:nvSpPr>
          <p:spPr bwMode="auto">
            <a:xfrm rot="5400000">
              <a:off x="2250" y="3111"/>
              <a:ext cx="33" cy="18"/>
            </a:xfrm>
            <a:custGeom>
              <a:avLst/>
              <a:gdLst>
                <a:gd name="T0" fmla="*/ 7 w 432"/>
                <a:gd name="T1" fmla="*/ 18 h 288"/>
                <a:gd name="T2" fmla="*/ 26 w 432"/>
                <a:gd name="T3" fmla="*/ 18 h 288"/>
                <a:gd name="T4" fmla="*/ 33 w 432"/>
                <a:gd name="T5" fmla="*/ 12 h 288"/>
                <a:gd name="T6" fmla="*/ 33 w 432"/>
                <a:gd name="T7" fmla="*/ 6 h 288"/>
                <a:gd name="T8" fmla="*/ 26 w 432"/>
                <a:gd name="T9" fmla="*/ 0 h 288"/>
                <a:gd name="T10" fmla="*/ 7 w 432"/>
                <a:gd name="T11" fmla="*/ 0 h 288"/>
                <a:gd name="T12" fmla="*/ 0 w 432"/>
                <a:gd name="T13" fmla="*/ 6 h 288"/>
                <a:gd name="T14" fmla="*/ 0 w 432"/>
                <a:gd name="T15" fmla="*/ 12 h 288"/>
                <a:gd name="T16" fmla="*/ 7 w 432"/>
                <a:gd name="T17" fmla="*/ 18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Freeform 114">
              <a:extLst>
                <a:ext uri="{FF2B5EF4-FFF2-40B4-BE49-F238E27FC236}">
                  <a16:creationId xmlns:a16="http://schemas.microsoft.com/office/drawing/2014/main" id="{0AD908A2-8B20-40B5-3312-DE60FFE6E59C}"/>
                </a:ext>
              </a:extLst>
            </p:cNvPr>
            <p:cNvSpPr>
              <a:spLocks/>
            </p:cNvSpPr>
            <p:nvPr/>
          </p:nvSpPr>
          <p:spPr bwMode="auto">
            <a:xfrm rot="5400000">
              <a:off x="2195" y="3111"/>
              <a:ext cx="33" cy="17"/>
            </a:xfrm>
            <a:custGeom>
              <a:avLst/>
              <a:gdLst>
                <a:gd name="T0" fmla="*/ 7 w 432"/>
                <a:gd name="T1" fmla="*/ 17 h 288"/>
                <a:gd name="T2" fmla="*/ 26 w 432"/>
                <a:gd name="T3" fmla="*/ 17 h 288"/>
                <a:gd name="T4" fmla="*/ 33 w 432"/>
                <a:gd name="T5" fmla="*/ 11 h 288"/>
                <a:gd name="T6" fmla="*/ 33 w 432"/>
                <a:gd name="T7" fmla="*/ 6 h 288"/>
                <a:gd name="T8" fmla="*/ 26 w 432"/>
                <a:gd name="T9" fmla="*/ 0 h 288"/>
                <a:gd name="T10" fmla="*/ 7 w 432"/>
                <a:gd name="T11" fmla="*/ 0 h 288"/>
                <a:gd name="T12" fmla="*/ 0 w 432"/>
                <a:gd name="T13" fmla="*/ 6 h 288"/>
                <a:gd name="T14" fmla="*/ 0 w 432"/>
                <a:gd name="T15" fmla="*/ 11 h 288"/>
                <a:gd name="T16" fmla="*/ 7 w 432"/>
                <a:gd name="T17" fmla="*/ 17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2" h="288">
                  <a:moveTo>
                    <a:pt x="96" y="288"/>
                  </a:moveTo>
                  <a:lnTo>
                    <a:pt x="336" y="288"/>
                  </a:lnTo>
                  <a:lnTo>
                    <a:pt x="432" y="192"/>
                  </a:lnTo>
                  <a:lnTo>
                    <a:pt x="432" y="96"/>
                  </a:lnTo>
                  <a:lnTo>
                    <a:pt x="336" y="0"/>
                  </a:lnTo>
                  <a:lnTo>
                    <a:pt x="96" y="0"/>
                  </a:lnTo>
                  <a:lnTo>
                    <a:pt x="0" y="96"/>
                  </a:lnTo>
                  <a:lnTo>
                    <a:pt x="0" y="192"/>
                  </a:lnTo>
                  <a:lnTo>
                    <a:pt x="96" y="288"/>
                  </a:lnTo>
                  <a:close/>
                </a:path>
              </a:pathLst>
            </a:custGeom>
            <a:solidFill>
              <a:schemeClr val="bg2"/>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 name="Freeform 115">
            <a:extLst>
              <a:ext uri="{FF2B5EF4-FFF2-40B4-BE49-F238E27FC236}">
                <a16:creationId xmlns:a16="http://schemas.microsoft.com/office/drawing/2014/main" id="{A3C315A5-3297-4321-D194-4FD965A62FAC}"/>
              </a:ext>
            </a:extLst>
          </p:cNvPr>
          <p:cNvSpPr>
            <a:spLocks/>
          </p:cNvSpPr>
          <p:nvPr/>
        </p:nvSpPr>
        <p:spPr bwMode="auto">
          <a:xfrm>
            <a:off x="7075012" y="1491309"/>
            <a:ext cx="249953" cy="104147"/>
          </a:xfrm>
          <a:custGeom>
            <a:avLst/>
            <a:gdLst>
              <a:gd name="T0" fmla="*/ 0 w 144"/>
              <a:gd name="T1" fmla="*/ 48 h 96"/>
              <a:gd name="T2" fmla="*/ 48 w 144"/>
              <a:gd name="T3" fmla="*/ 0 h 96"/>
              <a:gd name="T4" fmla="*/ 96 w 144"/>
              <a:gd name="T5" fmla="*/ 0 h 96"/>
              <a:gd name="T6" fmla="*/ 144 w 144"/>
              <a:gd name="T7" fmla="*/ 48 h 96"/>
              <a:gd name="T8" fmla="*/ 144 w 144"/>
              <a:gd name="T9" fmla="*/ 96 h 96"/>
              <a:gd name="T10" fmla="*/ 0 w 144"/>
              <a:gd name="T11" fmla="*/ 96 h 96"/>
              <a:gd name="T12" fmla="*/ 0 w 144"/>
              <a:gd name="T13" fmla="*/ 48 h 96"/>
            </a:gdLst>
            <a:ahLst/>
            <a:cxnLst>
              <a:cxn ang="0">
                <a:pos x="T0" y="T1"/>
              </a:cxn>
              <a:cxn ang="0">
                <a:pos x="T2" y="T3"/>
              </a:cxn>
              <a:cxn ang="0">
                <a:pos x="T4" y="T5"/>
              </a:cxn>
              <a:cxn ang="0">
                <a:pos x="T6" y="T7"/>
              </a:cxn>
              <a:cxn ang="0">
                <a:pos x="T8" y="T9"/>
              </a:cxn>
              <a:cxn ang="0">
                <a:pos x="T10" y="T11"/>
              </a:cxn>
              <a:cxn ang="0">
                <a:pos x="T12" y="T13"/>
              </a:cxn>
            </a:cxnLst>
            <a:rect l="0" t="0" r="r" b="b"/>
            <a:pathLst>
              <a:path w="144" h="96">
                <a:moveTo>
                  <a:pt x="0" y="48"/>
                </a:moveTo>
                <a:lnTo>
                  <a:pt x="48" y="0"/>
                </a:lnTo>
                <a:lnTo>
                  <a:pt x="96" y="0"/>
                </a:lnTo>
                <a:lnTo>
                  <a:pt x="144" y="48"/>
                </a:lnTo>
                <a:lnTo>
                  <a:pt x="144" y="96"/>
                </a:lnTo>
                <a:lnTo>
                  <a:pt x="0" y="96"/>
                </a:lnTo>
                <a:lnTo>
                  <a:pt x="0" y="48"/>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48" name="Rectangle 111">
            <a:extLst>
              <a:ext uri="{FF2B5EF4-FFF2-40B4-BE49-F238E27FC236}">
                <a16:creationId xmlns:a16="http://schemas.microsoft.com/office/drawing/2014/main" id="{3E6C00D0-DBE1-CDC1-9F2A-2345D905D327}"/>
              </a:ext>
            </a:extLst>
          </p:cNvPr>
          <p:cNvSpPr>
            <a:spLocks noChangeArrowheads="1"/>
          </p:cNvSpPr>
          <p:nvPr/>
        </p:nvSpPr>
        <p:spPr bwMode="auto">
          <a:xfrm>
            <a:off x="2578481" y="6187866"/>
            <a:ext cx="3943661" cy="563381"/>
          </a:xfrm>
          <a:prstGeom prst="rect">
            <a:avLst/>
          </a:prstGeom>
          <a:solidFill>
            <a:srgbClr val="2AE41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9" name="Group 112">
            <a:extLst>
              <a:ext uri="{FF2B5EF4-FFF2-40B4-BE49-F238E27FC236}">
                <a16:creationId xmlns:a16="http://schemas.microsoft.com/office/drawing/2014/main" id="{4A6E57FE-E734-3C37-EA7F-7B939AB69E54}"/>
              </a:ext>
            </a:extLst>
          </p:cNvPr>
          <p:cNvGrpSpPr>
            <a:grpSpLocks/>
          </p:cNvGrpSpPr>
          <p:nvPr/>
        </p:nvGrpSpPr>
        <p:grpSpPr bwMode="auto">
          <a:xfrm flipH="1">
            <a:off x="4456414" y="5157612"/>
            <a:ext cx="1447574" cy="905060"/>
            <a:chOff x="4173" y="768"/>
            <a:chExt cx="1110" cy="651"/>
          </a:xfrm>
        </p:grpSpPr>
        <p:sp>
          <p:nvSpPr>
            <p:cNvPr id="50" name="Freeform 113">
              <a:extLst>
                <a:ext uri="{FF2B5EF4-FFF2-40B4-BE49-F238E27FC236}">
                  <a16:creationId xmlns:a16="http://schemas.microsoft.com/office/drawing/2014/main" id="{DE182884-553B-8A08-7CD4-D1EFBADAA2D4}"/>
                </a:ext>
              </a:extLst>
            </p:cNvPr>
            <p:cNvSpPr>
              <a:spLocks/>
            </p:cNvSpPr>
            <p:nvPr/>
          </p:nvSpPr>
          <p:spPr bwMode="auto">
            <a:xfrm>
              <a:off x="4414" y="768"/>
              <a:ext cx="483" cy="25"/>
            </a:xfrm>
            <a:custGeom>
              <a:avLst/>
              <a:gdLst>
                <a:gd name="T0" fmla="*/ 0 w 483"/>
                <a:gd name="T1" fmla="*/ 0 h 25"/>
                <a:gd name="T2" fmla="*/ 482 w 483"/>
                <a:gd name="T3" fmla="*/ 0 h 25"/>
                <a:gd name="T4" fmla="*/ 482 w 483"/>
                <a:gd name="T5" fmla="*/ 24 h 25"/>
                <a:gd name="T6" fmla="*/ 0 w 483"/>
                <a:gd name="T7" fmla="*/ 24 h 25"/>
                <a:gd name="T8" fmla="*/ 0 w 483"/>
                <a:gd name="T9" fmla="*/ 0 h 25"/>
              </a:gdLst>
              <a:ahLst/>
              <a:cxnLst>
                <a:cxn ang="0">
                  <a:pos x="T0" y="T1"/>
                </a:cxn>
                <a:cxn ang="0">
                  <a:pos x="T2" y="T3"/>
                </a:cxn>
                <a:cxn ang="0">
                  <a:pos x="T4" y="T5"/>
                </a:cxn>
                <a:cxn ang="0">
                  <a:pos x="T6" y="T7"/>
                </a:cxn>
                <a:cxn ang="0">
                  <a:pos x="T8" y="T9"/>
                </a:cxn>
              </a:cxnLst>
              <a:rect l="0" t="0" r="r" b="b"/>
              <a:pathLst>
                <a:path w="483" h="25">
                  <a:moveTo>
                    <a:pt x="0" y="0"/>
                  </a:moveTo>
                  <a:lnTo>
                    <a:pt x="482" y="0"/>
                  </a:lnTo>
                  <a:lnTo>
                    <a:pt x="482" y="24"/>
                  </a:lnTo>
                  <a:lnTo>
                    <a:pt x="0" y="24"/>
                  </a:lnTo>
                  <a:lnTo>
                    <a:pt x="0" y="0"/>
                  </a:lnTo>
                </a:path>
              </a:pathLst>
            </a:custGeom>
            <a:gradFill rotWithShape="0">
              <a:gsLst>
                <a:gs pos="0">
                  <a:srgbClr val="BFBFBF"/>
                </a:gs>
                <a:gs pos="100000">
                  <a:srgbClr val="BFBFBF">
                    <a:gamma/>
                    <a:shade val="69804"/>
                    <a:invGamma/>
                  </a:srgbClr>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Freeform 114">
              <a:extLst>
                <a:ext uri="{FF2B5EF4-FFF2-40B4-BE49-F238E27FC236}">
                  <a16:creationId xmlns:a16="http://schemas.microsoft.com/office/drawing/2014/main" id="{94F5A0BB-FD6B-7ADC-9FF0-F18CE05ECA49}"/>
                </a:ext>
              </a:extLst>
            </p:cNvPr>
            <p:cNvSpPr>
              <a:spLocks/>
            </p:cNvSpPr>
            <p:nvPr/>
          </p:nvSpPr>
          <p:spPr bwMode="auto">
            <a:xfrm>
              <a:off x="4414" y="792"/>
              <a:ext cx="483" cy="49"/>
            </a:xfrm>
            <a:custGeom>
              <a:avLst/>
              <a:gdLst>
                <a:gd name="T0" fmla="*/ 0 w 483"/>
                <a:gd name="T1" fmla="*/ 0 h 49"/>
                <a:gd name="T2" fmla="*/ 482 w 483"/>
                <a:gd name="T3" fmla="*/ 0 h 49"/>
                <a:gd name="T4" fmla="*/ 482 w 483"/>
                <a:gd name="T5" fmla="*/ 48 h 49"/>
                <a:gd name="T6" fmla="*/ 0 w 483"/>
                <a:gd name="T7" fmla="*/ 48 h 49"/>
                <a:gd name="T8" fmla="*/ 0 w 483"/>
                <a:gd name="T9" fmla="*/ 0 h 49"/>
              </a:gdLst>
              <a:ahLst/>
              <a:cxnLst>
                <a:cxn ang="0">
                  <a:pos x="T0" y="T1"/>
                </a:cxn>
                <a:cxn ang="0">
                  <a:pos x="T2" y="T3"/>
                </a:cxn>
                <a:cxn ang="0">
                  <a:pos x="T4" y="T5"/>
                </a:cxn>
                <a:cxn ang="0">
                  <a:pos x="T6" y="T7"/>
                </a:cxn>
                <a:cxn ang="0">
                  <a:pos x="T8" y="T9"/>
                </a:cxn>
              </a:cxnLst>
              <a:rect l="0" t="0" r="r" b="b"/>
              <a:pathLst>
                <a:path w="483" h="49">
                  <a:moveTo>
                    <a:pt x="0" y="0"/>
                  </a:moveTo>
                  <a:lnTo>
                    <a:pt x="482" y="0"/>
                  </a:lnTo>
                  <a:lnTo>
                    <a:pt x="482" y="48"/>
                  </a:lnTo>
                  <a:lnTo>
                    <a:pt x="0" y="48"/>
                  </a:lnTo>
                  <a:lnTo>
                    <a:pt x="0" y="0"/>
                  </a:lnTo>
                </a:path>
              </a:pathLst>
            </a:custGeom>
            <a:gradFill rotWithShape="0">
              <a:gsLst>
                <a:gs pos="0">
                  <a:srgbClr val="BFBFBF"/>
                </a:gs>
                <a:gs pos="100000">
                  <a:srgbClr val="BFBFBF">
                    <a:gamma/>
                    <a:shade val="69804"/>
                    <a:invGamma/>
                  </a:srgbClr>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Freeform 115">
              <a:extLst>
                <a:ext uri="{FF2B5EF4-FFF2-40B4-BE49-F238E27FC236}">
                  <a16:creationId xmlns:a16="http://schemas.microsoft.com/office/drawing/2014/main" id="{97444E9C-6B76-89C8-F738-53CB06BF25E6}"/>
                </a:ext>
              </a:extLst>
            </p:cNvPr>
            <p:cNvSpPr>
              <a:spLocks/>
            </p:cNvSpPr>
            <p:nvPr/>
          </p:nvSpPr>
          <p:spPr bwMode="auto">
            <a:xfrm>
              <a:off x="4414" y="1322"/>
              <a:ext cx="483" cy="25"/>
            </a:xfrm>
            <a:custGeom>
              <a:avLst/>
              <a:gdLst>
                <a:gd name="T0" fmla="*/ 0 w 483"/>
                <a:gd name="T1" fmla="*/ 0 h 25"/>
                <a:gd name="T2" fmla="*/ 482 w 483"/>
                <a:gd name="T3" fmla="*/ 0 h 25"/>
                <a:gd name="T4" fmla="*/ 482 w 483"/>
                <a:gd name="T5" fmla="*/ 24 h 25"/>
                <a:gd name="T6" fmla="*/ 0 w 483"/>
                <a:gd name="T7" fmla="*/ 24 h 25"/>
                <a:gd name="T8" fmla="*/ 0 w 483"/>
                <a:gd name="T9" fmla="*/ 0 h 25"/>
              </a:gdLst>
              <a:ahLst/>
              <a:cxnLst>
                <a:cxn ang="0">
                  <a:pos x="T0" y="T1"/>
                </a:cxn>
                <a:cxn ang="0">
                  <a:pos x="T2" y="T3"/>
                </a:cxn>
                <a:cxn ang="0">
                  <a:pos x="T4" y="T5"/>
                </a:cxn>
                <a:cxn ang="0">
                  <a:pos x="T6" y="T7"/>
                </a:cxn>
                <a:cxn ang="0">
                  <a:pos x="T8" y="T9"/>
                </a:cxn>
              </a:cxnLst>
              <a:rect l="0" t="0" r="r" b="b"/>
              <a:pathLst>
                <a:path w="483" h="25">
                  <a:moveTo>
                    <a:pt x="0" y="0"/>
                  </a:moveTo>
                  <a:lnTo>
                    <a:pt x="482" y="0"/>
                  </a:lnTo>
                  <a:lnTo>
                    <a:pt x="482" y="24"/>
                  </a:lnTo>
                  <a:lnTo>
                    <a:pt x="0" y="24"/>
                  </a:lnTo>
                  <a:lnTo>
                    <a:pt x="0" y="0"/>
                  </a:lnTo>
                </a:path>
              </a:pathLst>
            </a:custGeom>
            <a:gradFill rotWithShape="0">
              <a:gsLst>
                <a:gs pos="0">
                  <a:srgbClr val="BFBFBF">
                    <a:gamma/>
                    <a:shade val="69804"/>
                    <a:invGamma/>
                  </a:srgbClr>
                </a:gs>
                <a:gs pos="100000">
                  <a:srgbClr val="BFBFBF"/>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Freeform 116">
              <a:extLst>
                <a:ext uri="{FF2B5EF4-FFF2-40B4-BE49-F238E27FC236}">
                  <a16:creationId xmlns:a16="http://schemas.microsoft.com/office/drawing/2014/main" id="{778DC44E-9902-5C6B-001D-0C2485DB66C8}"/>
                </a:ext>
              </a:extLst>
            </p:cNvPr>
            <p:cNvSpPr>
              <a:spLocks/>
            </p:cNvSpPr>
            <p:nvPr/>
          </p:nvSpPr>
          <p:spPr bwMode="auto">
            <a:xfrm>
              <a:off x="4414" y="1274"/>
              <a:ext cx="483" cy="49"/>
            </a:xfrm>
            <a:custGeom>
              <a:avLst/>
              <a:gdLst>
                <a:gd name="T0" fmla="*/ 0 w 483"/>
                <a:gd name="T1" fmla="*/ 0 h 49"/>
                <a:gd name="T2" fmla="*/ 482 w 483"/>
                <a:gd name="T3" fmla="*/ 0 h 49"/>
                <a:gd name="T4" fmla="*/ 482 w 483"/>
                <a:gd name="T5" fmla="*/ 48 h 49"/>
                <a:gd name="T6" fmla="*/ 0 w 483"/>
                <a:gd name="T7" fmla="*/ 48 h 49"/>
                <a:gd name="T8" fmla="*/ 0 w 483"/>
                <a:gd name="T9" fmla="*/ 0 h 49"/>
              </a:gdLst>
              <a:ahLst/>
              <a:cxnLst>
                <a:cxn ang="0">
                  <a:pos x="T0" y="T1"/>
                </a:cxn>
                <a:cxn ang="0">
                  <a:pos x="T2" y="T3"/>
                </a:cxn>
                <a:cxn ang="0">
                  <a:pos x="T4" y="T5"/>
                </a:cxn>
                <a:cxn ang="0">
                  <a:pos x="T6" y="T7"/>
                </a:cxn>
                <a:cxn ang="0">
                  <a:pos x="T8" y="T9"/>
                </a:cxn>
              </a:cxnLst>
              <a:rect l="0" t="0" r="r" b="b"/>
              <a:pathLst>
                <a:path w="483" h="49">
                  <a:moveTo>
                    <a:pt x="0" y="0"/>
                  </a:moveTo>
                  <a:lnTo>
                    <a:pt x="482" y="0"/>
                  </a:lnTo>
                  <a:lnTo>
                    <a:pt x="482" y="48"/>
                  </a:lnTo>
                  <a:lnTo>
                    <a:pt x="0" y="48"/>
                  </a:lnTo>
                  <a:lnTo>
                    <a:pt x="0" y="0"/>
                  </a:lnTo>
                </a:path>
              </a:pathLst>
            </a:custGeom>
            <a:gradFill rotWithShape="0">
              <a:gsLst>
                <a:gs pos="0">
                  <a:srgbClr val="BFBFBF">
                    <a:gamma/>
                    <a:shade val="69804"/>
                    <a:invGamma/>
                  </a:srgbClr>
                </a:gs>
                <a:gs pos="100000">
                  <a:srgbClr val="BFBFBF"/>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Freeform 117">
              <a:extLst>
                <a:ext uri="{FF2B5EF4-FFF2-40B4-BE49-F238E27FC236}">
                  <a16:creationId xmlns:a16="http://schemas.microsoft.com/office/drawing/2014/main" id="{F5C5B08A-BEF8-B55B-99D1-109EF2CAEA15}"/>
                </a:ext>
              </a:extLst>
            </p:cNvPr>
            <p:cNvSpPr>
              <a:spLocks/>
            </p:cNvSpPr>
            <p:nvPr/>
          </p:nvSpPr>
          <p:spPr bwMode="auto">
            <a:xfrm>
              <a:off x="4414" y="840"/>
              <a:ext cx="483" cy="74"/>
            </a:xfrm>
            <a:custGeom>
              <a:avLst/>
              <a:gdLst>
                <a:gd name="T0" fmla="*/ 0 w 483"/>
                <a:gd name="T1" fmla="*/ 0 h 74"/>
                <a:gd name="T2" fmla="*/ 482 w 483"/>
                <a:gd name="T3" fmla="*/ 0 h 74"/>
                <a:gd name="T4" fmla="*/ 482 w 483"/>
                <a:gd name="T5" fmla="*/ 73 h 74"/>
                <a:gd name="T6" fmla="*/ 0 w 483"/>
                <a:gd name="T7" fmla="*/ 73 h 74"/>
                <a:gd name="T8" fmla="*/ 0 w 483"/>
                <a:gd name="T9" fmla="*/ 0 h 74"/>
              </a:gdLst>
              <a:ahLst/>
              <a:cxnLst>
                <a:cxn ang="0">
                  <a:pos x="T0" y="T1"/>
                </a:cxn>
                <a:cxn ang="0">
                  <a:pos x="T2" y="T3"/>
                </a:cxn>
                <a:cxn ang="0">
                  <a:pos x="T4" y="T5"/>
                </a:cxn>
                <a:cxn ang="0">
                  <a:pos x="T6" y="T7"/>
                </a:cxn>
                <a:cxn ang="0">
                  <a:pos x="T8" y="T9"/>
                </a:cxn>
              </a:cxnLst>
              <a:rect l="0" t="0" r="r" b="b"/>
              <a:pathLst>
                <a:path w="483" h="74">
                  <a:moveTo>
                    <a:pt x="0" y="0"/>
                  </a:moveTo>
                  <a:lnTo>
                    <a:pt x="482" y="0"/>
                  </a:lnTo>
                  <a:lnTo>
                    <a:pt x="482" y="73"/>
                  </a:lnTo>
                  <a:lnTo>
                    <a:pt x="0" y="73"/>
                  </a:lnTo>
                  <a:lnTo>
                    <a:pt x="0" y="0"/>
                  </a:lnTo>
                </a:path>
              </a:pathLst>
            </a:custGeom>
            <a:gradFill rotWithShape="0">
              <a:gsLst>
                <a:gs pos="0">
                  <a:srgbClr val="BFBFBF"/>
                </a:gs>
                <a:gs pos="100000">
                  <a:srgbClr val="BFBFBF">
                    <a:gamma/>
                    <a:shade val="69804"/>
                    <a:invGamma/>
                  </a:srgbClr>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Freeform 118">
              <a:extLst>
                <a:ext uri="{FF2B5EF4-FFF2-40B4-BE49-F238E27FC236}">
                  <a16:creationId xmlns:a16="http://schemas.microsoft.com/office/drawing/2014/main" id="{C8AAE92E-58B2-056B-7633-E327A77057CD}"/>
                </a:ext>
              </a:extLst>
            </p:cNvPr>
            <p:cNvSpPr>
              <a:spLocks/>
            </p:cNvSpPr>
            <p:nvPr/>
          </p:nvSpPr>
          <p:spPr bwMode="auto">
            <a:xfrm>
              <a:off x="4414" y="1202"/>
              <a:ext cx="483" cy="73"/>
            </a:xfrm>
            <a:custGeom>
              <a:avLst/>
              <a:gdLst>
                <a:gd name="T0" fmla="*/ 0 w 483"/>
                <a:gd name="T1" fmla="*/ 0 h 73"/>
                <a:gd name="T2" fmla="*/ 482 w 483"/>
                <a:gd name="T3" fmla="*/ 0 h 73"/>
                <a:gd name="T4" fmla="*/ 482 w 483"/>
                <a:gd name="T5" fmla="*/ 72 h 73"/>
                <a:gd name="T6" fmla="*/ 0 w 483"/>
                <a:gd name="T7" fmla="*/ 72 h 73"/>
                <a:gd name="T8" fmla="*/ 0 w 483"/>
                <a:gd name="T9" fmla="*/ 0 h 73"/>
              </a:gdLst>
              <a:ahLst/>
              <a:cxnLst>
                <a:cxn ang="0">
                  <a:pos x="T0" y="T1"/>
                </a:cxn>
                <a:cxn ang="0">
                  <a:pos x="T2" y="T3"/>
                </a:cxn>
                <a:cxn ang="0">
                  <a:pos x="T4" y="T5"/>
                </a:cxn>
                <a:cxn ang="0">
                  <a:pos x="T6" y="T7"/>
                </a:cxn>
                <a:cxn ang="0">
                  <a:pos x="T8" y="T9"/>
                </a:cxn>
              </a:cxnLst>
              <a:rect l="0" t="0" r="r" b="b"/>
              <a:pathLst>
                <a:path w="483" h="73">
                  <a:moveTo>
                    <a:pt x="0" y="0"/>
                  </a:moveTo>
                  <a:lnTo>
                    <a:pt x="482" y="0"/>
                  </a:lnTo>
                  <a:lnTo>
                    <a:pt x="482" y="72"/>
                  </a:lnTo>
                  <a:lnTo>
                    <a:pt x="0" y="72"/>
                  </a:lnTo>
                  <a:lnTo>
                    <a:pt x="0" y="0"/>
                  </a:lnTo>
                </a:path>
              </a:pathLst>
            </a:custGeom>
            <a:gradFill rotWithShape="0">
              <a:gsLst>
                <a:gs pos="0">
                  <a:srgbClr val="BFBFBF">
                    <a:gamma/>
                    <a:shade val="69804"/>
                    <a:invGamma/>
                  </a:srgbClr>
                </a:gs>
                <a:gs pos="100000">
                  <a:srgbClr val="BFBFBF"/>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Freeform 119">
              <a:extLst>
                <a:ext uri="{FF2B5EF4-FFF2-40B4-BE49-F238E27FC236}">
                  <a16:creationId xmlns:a16="http://schemas.microsoft.com/office/drawing/2014/main" id="{14391F01-46B0-B91E-1BB6-04999B750A51}"/>
                </a:ext>
              </a:extLst>
            </p:cNvPr>
            <p:cNvSpPr>
              <a:spLocks/>
            </p:cNvSpPr>
            <p:nvPr/>
          </p:nvSpPr>
          <p:spPr bwMode="auto">
            <a:xfrm>
              <a:off x="4414" y="913"/>
              <a:ext cx="483" cy="97"/>
            </a:xfrm>
            <a:custGeom>
              <a:avLst/>
              <a:gdLst>
                <a:gd name="T0" fmla="*/ 0 w 483"/>
                <a:gd name="T1" fmla="*/ 0 h 97"/>
                <a:gd name="T2" fmla="*/ 482 w 483"/>
                <a:gd name="T3" fmla="*/ 0 h 97"/>
                <a:gd name="T4" fmla="*/ 482 w 483"/>
                <a:gd name="T5" fmla="*/ 96 h 97"/>
                <a:gd name="T6" fmla="*/ 0 w 483"/>
                <a:gd name="T7" fmla="*/ 96 h 97"/>
                <a:gd name="T8" fmla="*/ 0 w 483"/>
                <a:gd name="T9" fmla="*/ 0 h 97"/>
              </a:gdLst>
              <a:ahLst/>
              <a:cxnLst>
                <a:cxn ang="0">
                  <a:pos x="T0" y="T1"/>
                </a:cxn>
                <a:cxn ang="0">
                  <a:pos x="T2" y="T3"/>
                </a:cxn>
                <a:cxn ang="0">
                  <a:pos x="T4" y="T5"/>
                </a:cxn>
                <a:cxn ang="0">
                  <a:pos x="T6" y="T7"/>
                </a:cxn>
                <a:cxn ang="0">
                  <a:pos x="T8" y="T9"/>
                </a:cxn>
              </a:cxnLst>
              <a:rect l="0" t="0" r="r" b="b"/>
              <a:pathLst>
                <a:path w="483" h="97">
                  <a:moveTo>
                    <a:pt x="0" y="0"/>
                  </a:moveTo>
                  <a:lnTo>
                    <a:pt x="482" y="0"/>
                  </a:lnTo>
                  <a:lnTo>
                    <a:pt x="482" y="96"/>
                  </a:lnTo>
                  <a:lnTo>
                    <a:pt x="0" y="96"/>
                  </a:lnTo>
                  <a:lnTo>
                    <a:pt x="0" y="0"/>
                  </a:lnTo>
                </a:path>
              </a:pathLst>
            </a:custGeom>
            <a:gradFill rotWithShape="0">
              <a:gsLst>
                <a:gs pos="0">
                  <a:srgbClr val="BFBFBF"/>
                </a:gs>
                <a:gs pos="100000">
                  <a:srgbClr val="BFBFBF">
                    <a:gamma/>
                    <a:shade val="69804"/>
                    <a:invGamma/>
                  </a:srgbClr>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Freeform 120">
              <a:extLst>
                <a:ext uri="{FF2B5EF4-FFF2-40B4-BE49-F238E27FC236}">
                  <a16:creationId xmlns:a16="http://schemas.microsoft.com/office/drawing/2014/main" id="{DD62A893-54FC-9E6B-A39E-A20F8D59F67A}"/>
                </a:ext>
              </a:extLst>
            </p:cNvPr>
            <p:cNvSpPr>
              <a:spLocks/>
            </p:cNvSpPr>
            <p:nvPr/>
          </p:nvSpPr>
          <p:spPr bwMode="auto">
            <a:xfrm>
              <a:off x="4414" y="1105"/>
              <a:ext cx="483" cy="98"/>
            </a:xfrm>
            <a:custGeom>
              <a:avLst/>
              <a:gdLst>
                <a:gd name="T0" fmla="*/ 0 w 483"/>
                <a:gd name="T1" fmla="*/ 0 h 98"/>
                <a:gd name="T2" fmla="*/ 482 w 483"/>
                <a:gd name="T3" fmla="*/ 0 h 98"/>
                <a:gd name="T4" fmla="*/ 482 w 483"/>
                <a:gd name="T5" fmla="*/ 97 h 98"/>
                <a:gd name="T6" fmla="*/ 0 w 483"/>
                <a:gd name="T7" fmla="*/ 97 h 98"/>
                <a:gd name="T8" fmla="*/ 0 w 483"/>
                <a:gd name="T9" fmla="*/ 0 h 98"/>
              </a:gdLst>
              <a:ahLst/>
              <a:cxnLst>
                <a:cxn ang="0">
                  <a:pos x="T0" y="T1"/>
                </a:cxn>
                <a:cxn ang="0">
                  <a:pos x="T2" y="T3"/>
                </a:cxn>
                <a:cxn ang="0">
                  <a:pos x="T4" y="T5"/>
                </a:cxn>
                <a:cxn ang="0">
                  <a:pos x="T6" y="T7"/>
                </a:cxn>
                <a:cxn ang="0">
                  <a:pos x="T8" y="T9"/>
                </a:cxn>
              </a:cxnLst>
              <a:rect l="0" t="0" r="r" b="b"/>
              <a:pathLst>
                <a:path w="483" h="98">
                  <a:moveTo>
                    <a:pt x="0" y="0"/>
                  </a:moveTo>
                  <a:lnTo>
                    <a:pt x="482" y="0"/>
                  </a:lnTo>
                  <a:lnTo>
                    <a:pt x="482" y="97"/>
                  </a:lnTo>
                  <a:lnTo>
                    <a:pt x="0" y="97"/>
                  </a:lnTo>
                  <a:lnTo>
                    <a:pt x="0" y="0"/>
                  </a:lnTo>
                </a:path>
              </a:pathLst>
            </a:custGeom>
            <a:gradFill rotWithShape="0">
              <a:gsLst>
                <a:gs pos="0">
                  <a:srgbClr val="BFBFBF">
                    <a:gamma/>
                    <a:shade val="69804"/>
                    <a:invGamma/>
                  </a:srgbClr>
                </a:gs>
                <a:gs pos="100000">
                  <a:srgbClr val="BFBFBF"/>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Freeform 121">
              <a:extLst>
                <a:ext uri="{FF2B5EF4-FFF2-40B4-BE49-F238E27FC236}">
                  <a16:creationId xmlns:a16="http://schemas.microsoft.com/office/drawing/2014/main" id="{F414FC07-5426-AA72-ADA7-C2EFCA482EA8}"/>
                </a:ext>
              </a:extLst>
            </p:cNvPr>
            <p:cNvSpPr>
              <a:spLocks/>
            </p:cNvSpPr>
            <p:nvPr/>
          </p:nvSpPr>
          <p:spPr bwMode="auto">
            <a:xfrm>
              <a:off x="4414" y="1009"/>
              <a:ext cx="483" cy="97"/>
            </a:xfrm>
            <a:custGeom>
              <a:avLst/>
              <a:gdLst>
                <a:gd name="T0" fmla="*/ 0 w 483"/>
                <a:gd name="T1" fmla="*/ 0 h 97"/>
                <a:gd name="T2" fmla="*/ 482 w 483"/>
                <a:gd name="T3" fmla="*/ 0 h 97"/>
                <a:gd name="T4" fmla="*/ 482 w 483"/>
                <a:gd name="T5" fmla="*/ 96 h 97"/>
                <a:gd name="T6" fmla="*/ 0 w 483"/>
                <a:gd name="T7" fmla="*/ 96 h 97"/>
                <a:gd name="T8" fmla="*/ 0 w 483"/>
                <a:gd name="T9" fmla="*/ 0 h 97"/>
              </a:gdLst>
              <a:ahLst/>
              <a:cxnLst>
                <a:cxn ang="0">
                  <a:pos x="T0" y="T1"/>
                </a:cxn>
                <a:cxn ang="0">
                  <a:pos x="T2" y="T3"/>
                </a:cxn>
                <a:cxn ang="0">
                  <a:pos x="T4" y="T5"/>
                </a:cxn>
                <a:cxn ang="0">
                  <a:pos x="T6" y="T7"/>
                </a:cxn>
                <a:cxn ang="0">
                  <a:pos x="T8" y="T9"/>
                </a:cxn>
              </a:cxnLst>
              <a:rect l="0" t="0" r="r" b="b"/>
              <a:pathLst>
                <a:path w="483" h="97">
                  <a:moveTo>
                    <a:pt x="0" y="0"/>
                  </a:moveTo>
                  <a:lnTo>
                    <a:pt x="482" y="0"/>
                  </a:lnTo>
                  <a:lnTo>
                    <a:pt x="482" y="96"/>
                  </a:lnTo>
                  <a:lnTo>
                    <a:pt x="0" y="96"/>
                  </a:lnTo>
                  <a:lnTo>
                    <a:pt x="0" y="0"/>
                  </a:lnTo>
                </a:path>
              </a:pathLst>
            </a:custGeom>
            <a:gradFill rotWithShape="0">
              <a:gsLst>
                <a:gs pos="0">
                  <a:srgbClr val="BFBFBF"/>
                </a:gs>
                <a:gs pos="50000">
                  <a:srgbClr val="BFBFBF">
                    <a:gamma/>
                    <a:shade val="69804"/>
                    <a:invGamma/>
                  </a:srgbClr>
                </a:gs>
                <a:gs pos="100000">
                  <a:srgbClr val="BFBFBF"/>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Freeform 122">
              <a:extLst>
                <a:ext uri="{FF2B5EF4-FFF2-40B4-BE49-F238E27FC236}">
                  <a16:creationId xmlns:a16="http://schemas.microsoft.com/office/drawing/2014/main" id="{1C2BDED4-4E60-2BFD-7293-33C9D8AFC59C}"/>
                </a:ext>
              </a:extLst>
            </p:cNvPr>
            <p:cNvSpPr>
              <a:spLocks/>
            </p:cNvSpPr>
            <p:nvPr/>
          </p:nvSpPr>
          <p:spPr bwMode="auto">
            <a:xfrm>
              <a:off x="4896" y="768"/>
              <a:ext cx="218" cy="579"/>
            </a:xfrm>
            <a:custGeom>
              <a:avLst/>
              <a:gdLst>
                <a:gd name="T0" fmla="*/ 0 w 218"/>
                <a:gd name="T1" fmla="*/ 0 h 579"/>
                <a:gd name="T2" fmla="*/ 169 w 218"/>
                <a:gd name="T3" fmla="*/ 0 h 579"/>
                <a:gd name="T4" fmla="*/ 193 w 218"/>
                <a:gd name="T5" fmla="*/ 24 h 579"/>
                <a:gd name="T6" fmla="*/ 217 w 218"/>
                <a:gd name="T7" fmla="*/ 193 h 579"/>
                <a:gd name="T8" fmla="*/ 217 w 218"/>
                <a:gd name="T9" fmla="*/ 385 h 579"/>
                <a:gd name="T10" fmla="*/ 193 w 218"/>
                <a:gd name="T11" fmla="*/ 554 h 579"/>
                <a:gd name="T12" fmla="*/ 169 w 218"/>
                <a:gd name="T13" fmla="*/ 578 h 579"/>
                <a:gd name="T14" fmla="*/ 0 w 218"/>
                <a:gd name="T15" fmla="*/ 578 h 579"/>
                <a:gd name="T16" fmla="*/ 0 w 218"/>
                <a:gd name="T17" fmla="*/ 0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579">
                  <a:moveTo>
                    <a:pt x="0" y="0"/>
                  </a:moveTo>
                  <a:lnTo>
                    <a:pt x="169" y="0"/>
                  </a:lnTo>
                  <a:lnTo>
                    <a:pt x="193" y="24"/>
                  </a:lnTo>
                  <a:lnTo>
                    <a:pt x="217" y="193"/>
                  </a:lnTo>
                  <a:lnTo>
                    <a:pt x="217" y="385"/>
                  </a:lnTo>
                  <a:lnTo>
                    <a:pt x="193" y="554"/>
                  </a:lnTo>
                  <a:lnTo>
                    <a:pt x="169" y="578"/>
                  </a:lnTo>
                  <a:lnTo>
                    <a:pt x="0" y="578"/>
                  </a:lnTo>
                  <a:lnTo>
                    <a:pt x="0" y="0"/>
                  </a:lnTo>
                </a:path>
              </a:pathLst>
            </a:custGeom>
            <a:gradFill rotWithShape="0">
              <a:gsLst>
                <a:gs pos="0">
                  <a:srgbClr val="919191"/>
                </a:gs>
                <a:gs pos="50000">
                  <a:srgbClr val="919191">
                    <a:gamma/>
                    <a:tint val="0"/>
                    <a:invGamma/>
                  </a:srgbClr>
                </a:gs>
                <a:gs pos="100000">
                  <a:srgbClr val="919191"/>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Freeform 123">
              <a:extLst>
                <a:ext uri="{FF2B5EF4-FFF2-40B4-BE49-F238E27FC236}">
                  <a16:creationId xmlns:a16="http://schemas.microsoft.com/office/drawing/2014/main" id="{4D6E9CD3-9B86-F58C-2AC7-F818479B1DE9}"/>
                </a:ext>
              </a:extLst>
            </p:cNvPr>
            <p:cNvSpPr>
              <a:spLocks/>
            </p:cNvSpPr>
            <p:nvPr/>
          </p:nvSpPr>
          <p:spPr bwMode="auto">
            <a:xfrm>
              <a:off x="5113" y="1009"/>
              <a:ext cx="170" cy="97"/>
            </a:xfrm>
            <a:custGeom>
              <a:avLst/>
              <a:gdLst>
                <a:gd name="T0" fmla="*/ 0 w 170"/>
                <a:gd name="T1" fmla="*/ 0 h 97"/>
                <a:gd name="T2" fmla="*/ 169 w 170"/>
                <a:gd name="T3" fmla="*/ 0 h 97"/>
                <a:gd name="T4" fmla="*/ 169 w 170"/>
                <a:gd name="T5" fmla="*/ 96 h 97"/>
                <a:gd name="T6" fmla="*/ 0 w 170"/>
                <a:gd name="T7" fmla="*/ 96 h 97"/>
                <a:gd name="T8" fmla="*/ 0 w 170"/>
                <a:gd name="T9" fmla="*/ 0 h 97"/>
              </a:gdLst>
              <a:ahLst/>
              <a:cxnLst>
                <a:cxn ang="0">
                  <a:pos x="T0" y="T1"/>
                </a:cxn>
                <a:cxn ang="0">
                  <a:pos x="T2" y="T3"/>
                </a:cxn>
                <a:cxn ang="0">
                  <a:pos x="T4" y="T5"/>
                </a:cxn>
                <a:cxn ang="0">
                  <a:pos x="T6" y="T7"/>
                </a:cxn>
                <a:cxn ang="0">
                  <a:pos x="T8" y="T9"/>
                </a:cxn>
              </a:cxnLst>
              <a:rect l="0" t="0" r="r" b="b"/>
              <a:pathLst>
                <a:path w="170" h="97">
                  <a:moveTo>
                    <a:pt x="0" y="0"/>
                  </a:moveTo>
                  <a:lnTo>
                    <a:pt x="169" y="0"/>
                  </a:lnTo>
                  <a:lnTo>
                    <a:pt x="169" y="96"/>
                  </a:lnTo>
                  <a:lnTo>
                    <a:pt x="0" y="96"/>
                  </a:lnTo>
                  <a:lnTo>
                    <a:pt x="0" y="0"/>
                  </a:lnTo>
                </a:path>
              </a:pathLst>
            </a:custGeom>
            <a:gradFill rotWithShape="0">
              <a:gsLst>
                <a:gs pos="0">
                  <a:srgbClr val="FFFFFF">
                    <a:gamma/>
                    <a:shade val="0"/>
                    <a:invGamma/>
                  </a:srgbClr>
                </a:gs>
                <a:gs pos="50000">
                  <a:srgbClr val="FFFFFF"/>
                </a:gs>
                <a:gs pos="100000">
                  <a:srgbClr val="FFFFFF">
                    <a:gamma/>
                    <a:shade val="0"/>
                    <a:invGamma/>
                  </a:srgbClr>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Freeform 124">
              <a:extLst>
                <a:ext uri="{FF2B5EF4-FFF2-40B4-BE49-F238E27FC236}">
                  <a16:creationId xmlns:a16="http://schemas.microsoft.com/office/drawing/2014/main" id="{2D654792-1195-F0B5-1AC3-1109AFA1EEA6}"/>
                </a:ext>
              </a:extLst>
            </p:cNvPr>
            <p:cNvSpPr>
              <a:spLocks/>
            </p:cNvSpPr>
            <p:nvPr/>
          </p:nvSpPr>
          <p:spPr bwMode="auto">
            <a:xfrm>
              <a:off x="4390" y="1226"/>
              <a:ext cx="531" cy="193"/>
            </a:xfrm>
            <a:custGeom>
              <a:avLst/>
              <a:gdLst>
                <a:gd name="T0" fmla="*/ 96 w 531"/>
                <a:gd name="T1" fmla="*/ 0 h 193"/>
                <a:gd name="T2" fmla="*/ 48 w 531"/>
                <a:gd name="T3" fmla="*/ 144 h 193"/>
                <a:gd name="T4" fmla="*/ 0 w 531"/>
                <a:gd name="T5" fmla="*/ 144 h 193"/>
                <a:gd name="T6" fmla="*/ 0 w 531"/>
                <a:gd name="T7" fmla="*/ 192 h 193"/>
                <a:gd name="T8" fmla="*/ 530 w 531"/>
                <a:gd name="T9" fmla="*/ 192 h 193"/>
                <a:gd name="T10" fmla="*/ 530 w 531"/>
                <a:gd name="T11" fmla="*/ 144 h 193"/>
                <a:gd name="T12" fmla="*/ 482 w 531"/>
                <a:gd name="T13" fmla="*/ 144 h 193"/>
                <a:gd name="T14" fmla="*/ 434 w 531"/>
                <a:gd name="T15" fmla="*/ 0 h 193"/>
                <a:gd name="T16" fmla="*/ 96 w 531"/>
                <a:gd name="T1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1" h="193">
                  <a:moveTo>
                    <a:pt x="96" y="0"/>
                  </a:moveTo>
                  <a:lnTo>
                    <a:pt x="48" y="144"/>
                  </a:lnTo>
                  <a:lnTo>
                    <a:pt x="0" y="144"/>
                  </a:lnTo>
                  <a:lnTo>
                    <a:pt x="0" y="192"/>
                  </a:lnTo>
                  <a:lnTo>
                    <a:pt x="530" y="192"/>
                  </a:lnTo>
                  <a:lnTo>
                    <a:pt x="530" y="144"/>
                  </a:lnTo>
                  <a:lnTo>
                    <a:pt x="482" y="144"/>
                  </a:lnTo>
                  <a:lnTo>
                    <a:pt x="434" y="0"/>
                  </a:lnTo>
                  <a:lnTo>
                    <a:pt x="96" y="0"/>
                  </a:lnTo>
                </a:path>
              </a:pathLst>
            </a:custGeom>
            <a:gradFill rotWithShape="0">
              <a:gsLst>
                <a:gs pos="0">
                  <a:srgbClr val="BFBFBF"/>
                </a:gs>
                <a:gs pos="100000">
                  <a:srgbClr val="BFBFBF">
                    <a:gamma/>
                    <a:tint val="50196"/>
                    <a:invGamma/>
                  </a:srgbClr>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25">
              <a:extLst>
                <a:ext uri="{FF2B5EF4-FFF2-40B4-BE49-F238E27FC236}">
                  <a16:creationId xmlns:a16="http://schemas.microsoft.com/office/drawing/2014/main" id="{94D17EF5-EC9A-7ACF-6504-95DCBCDB71ED}"/>
                </a:ext>
              </a:extLst>
            </p:cNvPr>
            <p:cNvSpPr>
              <a:spLocks noChangeShapeType="1"/>
            </p:cNvSpPr>
            <p:nvPr/>
          </p:nvSpPr>
          <p:spPr bwMode="auto">
            <a:xfrm>
              <a:off x="4394" y="1370"/>
              <a:ext cx="52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126">
              <a:extLst>
                <a:ext uri="{FF2B5EF4-FFF2-40B4-BE49-F238E27FC236}">
                  <a16:creationId xmlns:a16="http://schemas.microsoft.com/office/drawing/2014/main" id="{E6A686C4-E5A0-0BFB-ADE0-F5FFD3011395}"/>
                </a:ext>
              </a:extLst>
            </p:cNvPr>
            <p:cNvSpPr>
              <a:spLocks/>
            </p:cNvSpPr>
            <p:nvPr/>
          </p:nvSpPr>
          <p:spPr bwMode="auto">
            <a:xfrm>
              <a:off x="4173" y="768"/>
              <a:ext cx="242" cy="579"/>
            </a:xfrm>
            <a:custGeom>
              <a:avLst/>
              <a:gdLst>
                <a:gd name="T0" fmla="*/ 241 w 242"/>
                <a:gd name="T1" fmla="*/ 0 h 579"/>
                <a:gd name="T2" fmla="*/ 24 w 242"/>
                <a:gd name="T3" fmla="*/ 0 h 579"/>
                <a:gd name="T4" fmla="*/ 0 w 242"/>
                <a:gd name="T5" fmla="*/ 24 h 579"/>
                <a:gd name="T6" fmla="*/ 0 w 242"/>
                <a:gd name="T7" fmla="*/ 554 h 579"/>
                <a:gd name="T8" fmla="*/ 24 w 242"/>
                <a:gd name="T9" fmla="*/ 578 h 579"/>
                <a:gd name="T10" fmla="*/ 241 w 242"/>
                <a:gd name="T11" fmla="*/ 578 h 579"/>
                <a:gd name="T12" fmla="*/ 241 w 242"/>
                <a:gd name="T13" fmla="*/ 0 h 579"/>
              </a:gdLst>
              <a:ahLst/>
              <a:cxnLst>
                <a:cxn ang="0">
                  <a:pos x="T0" y="T1"/>
                </a:cxn>
                <a:cxn ang="0">
                  <a:pos x="T2" y="T3"/>
                </a:cxn>
                <a:cxn ang="0">
                  <a:pos x="T4" y="T5"/>
                </a:cxn>
                <a:cxn ang="0">
                  <a:pos x="T6" y="T7"/>
                </a:cxn>
                <a:cxn ang="0">
                  <a:pos x="T8" y="T9"/>
                </a:cxn>
                <a:cxn ang="0">
                  <a:pos x="T10" y="T11"/>
                </a:cxn>
                <a:cxn ang="0">
                  <a:pos x="T12" y="T13"/>
                </a:cxn>
              </a:cxnLst>
              <a:rect l="0" t="0" r="r" b="b"/>
              <a:pathLst>
                <a:path w="242" h="579">
                  <a:moveTo>
                    <a:pt x="241" y="0"/>
                  </a:moveTo>
                  <a:lnTo>
                    <a:pt x="24" y="0"/>
                  </a:lnTo>
                  <a:lnTo>
                    <a:pt x="0" y="24"/>
                  </a:lnTo>
                  <a:lnTo>
                    <a:pt x="0" y="554"/>
                  </a:lnTo>
                  <a:lnTo>
                    <a:pt x="24" y="578"/>
                  </a:lnTo>
                  <a:lnTo>
                    <a:pt x="241" y="578"/>
                  </a:lnTo>
                  <a:lnTo>
                    <a:pt x="241" y="0"/>
                  </a:lnTo>
                </a:path>
              </a:pathLst>
            </a:custGeom>
            <a:gradFill rotWithShape="0">
              <a:gsLst>
                <a:gs pos="0">
                  <a:srgbClr val="919191"/>
                </a:gs>
                <a:gs pos="50000">
                  <a:srgbClr val="919191">
                    <a:gamma/>
                    <a:tint val="0"/>
                    <a:invGamma/>
                  </a:srgbClr>
                </a:gs>
                <a:gs pos="100000">
                  <a:srgbClr val="919191"/>
                </a:gs>
              </a:gsLst>
              <a:lin ang="5400000" scaled="1"/>
            </a:gra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4" name="Rectangle 127">
            <a:extLst>
              <a:ext uri="{FF2B5EF4-FFF2-40B4-BE49-F238E27FC236}">
                <a16:creationId xmlns:a16="http://schemas.microsoft.com/office/drawing/2014/main" id="{C5A41EEC-5E07-FC61-8146-877F9A7DCFC2}"/>
              </a:ext>
            </a:extLst>
          </p:cNvPr>
          <p:cNvSpPr>
            <a:spLocks noChangeArrowheads="1"/>
          </p:cNvSpPr>
          <p:nvPr/>
        </p:nvSpPr>
        <p:spPr bwMode="auto">
          <a:xfrm>
            <a:off x="4268620" y="5499291"/>
            <a:ext cx="250391" cy="125195"/>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 name="Group 129">
            <a:extLst>
              <a:ext uri="{FF2B5EF4-FFF2-40B4-BE49-F238E27FC236}">
                <a16:creationId xmlns:a16="http://schemas.microsoft.com/office/drawing/2014/main" id="{C26A2749-107E-F226-32B5-3041A0967CEE}"/>
              </a:ext>
            </a:extLst>
          </p:cNvPr>
          <p:cNvGrpSpPr>
            <a:grpSpLocks/>
          </p:cNvGrpSpPr>
          <p:nvPr/>
        </p:nvGrpSpPr>
        <p:grpSpPr bwMode="auto">
          <a:xfrm>
            <a:off x="1326525" y="3264129"/>
            <a:ext cx="625978" cy="876368"/>
            <a:chOff x="1200" y="1220"/>
            <a:chExt cx="480" cy="672"/>
          </a:xfrm>
        </p:grpSpPr>
        <p:sp>
          <p:nvSpPr>
            <p:cNvPr id="66" name="Rectangle 130">
              <a:extLst>
                <a:ext uri="{FF2B5EF4-FFF2-40B4-BE49-F238E27FC236}">
                  <a16:creationId xmlns:a16="http://schemas.microsoft.com/office/drawing/2014/main" id="{BDF34C97-5FB9-77DE-9B69-33B0F52BF8FE}"/>
                </a:ext>
              </a:extLst>
            </p:cNvPr>
            <p:cNvSpPr>
              <a:spLocks noChangeArrowheads="1"/>
            </p:cNvSpPr>
            <p:nvPr/>
          </p:nvSpPr>
          <p:spPr bwMode="auto">
            <a:xfrm>
              <a:off x="1200" y="1460"/>
              <a:ext cx="480" cy="43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Freeform 131">
              <a:extLst>
                <a:ext uri="{FF2B5EF4-FFF2-40B4-BE49-F238E27FC236}">
                  <a16:creationId xmlns:a16="http://schemas.microsoft.com/office/drawing/2014/main" id="{19E597DA-1078-7E83-6CFB-BBA8E13A1287}"/>
                </a:ext>
              </a:extLst>
            </p:cNvPr>
            <p:cNvSpPr>
              <a:spLocks/>
            </p:cNvSpPr>
            <p:nvPr/>
          </p:nvSpPr>
          <p:spPr bwMode="auto">
            <a:xfrm>
              <a:off x="1248" y="1556"/>
              <a:ext cx="384" cy="96"/>
            </a:xfrm>
            <a:custGeom>
              <a:avLst/>
              <a:gdLst>
                <a:gd name="T0" fmla="*/ 0 w 384"/>
                <a:gd name="T1" fmla="*/ 0 h 96"/>
                <a:gd name="T2" fmla="*/ 384 w 384"/>
                <a:gd name="T3" fmla="*/ 0 h 96"/>
                <a:gd name="T4" fmla="*/ 384 w 384"/>
                <a:gd name="T5" fmla="*/ 48 h 96"/>
                <a:gd name="T6" fmla="*/ 288 w 384"/>
                <a:gd name="T7" fmla="*/ 96 h 96"/>
                <a:gd name="T8" fmla="*/ 96 w 384"/>
                <a:gd name="T9" fmla="*/ 96 h 96"/>
                <a:gd name="T10" fmla="*/ 0 w 384"/>
                <a:gd name="T11" fmla="*/ 48 h 96"/>
                <a:gd name="T12" fmla="*/ 0 w 384"/>
                <a:gd name="T13" fmla="*/ 0 h 96"/>
              </a:gdLst>
              <a:ahLst/>
              <a:cxnLst>
                <a:cxn ang="0">
                  <a:pos x="T0" y="T1"/>
                </a:cxn>
                <a:cxn ang="0">
                  <a:pos x="T2" y="T3"/>
                </a:cxn>
                <a:cxn ang="0">
                  <a:pos x="T4" y="T5"/>
                </a:cxn>
                <a:cxn ang="0">
                  <a:pos x="T6" y="T7"/>
                </a:cxn>
                <a:cxn ang="0">
                  <a:pos x="T8" y="T9"/>
                </a:cxn>
                <a:cxn ang="0">
                  <a:pos x="T10" y="T11"/>
                </a:cxn>
                <a:cxn ang="0">
                  <a:pos x="T12" y="T13"/>
                </a:cxn>
              </a:cxnLst>
              <a:rect l="0" t="0" r="r" b="b"/>
              <a:pathLst>
                <a:path w="384" h="96">
                  <a:moveTo>
                    <a:pt x="0" y="0"/>
                  </a:moveTo>
                  <a:lnTo>
                    <a:pt x="384" y="0"/>
                  </a:lnTo>
                  <a:lnTo>
                    <a:pt x="384" y="48"/>
                  </a:lnTo>
                  <a:lnTo>
                    <a:pt x="288" y="96"/>
                  </a:lnTo>
                  <a:lnTo>
                    <a:pt x="96" y="96"/>
                  </a:lnTo>
                  <a:lnTo>
                    <a:pt x="0" y="48"/>
                  </a:lnTo>
                  <a:lnTo>
                    <a:pt x="0" y="0"/>
                  </a:lnTo>
                  <a:close/>
                </a:path>
              </a:pathLst>
            </a:custGeom>
            <a:solidFill>
              <a:schemeClr val="bg2"/>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Freeform 132">
              <a:extLst>
                <a:ext uri="{FF2B5EF4-FFF2-40B4-BE49-F238E27FC236}">
                  <a16:creationId xmlns:a16="http://schemas.microsoft.com/office/drawing/2014/main" id="{808E43E6-FB84-E733-B703-2D3364AE8222}"/>
                </a:ext>
              </a:extLst>
            </p:cNvPr>
            <p:cNvSpPr>
              <a:spLocks/>
            </p:cNvSpPr>
            <p:nvPr/>
          </p:nvSpPr>
          <p:spPr bwMode="auto">
            <a:xfrm flipV="1">
              <a:off x="1248" y="1700"/>
              <a:ext cx="384" cy="96"/>
            </a:xfrm>
            <a:custGeom>
              <a:avLst/>
              <a:gdLst>
                <a:gd name="T0" fmla="*/ 0 w 384"/>
                <a:gd name="T1" fmla="*/ 0 h 96"/>
                <a:gd name="T2" fmla="*/ 384 w 384"/>
                <a:gd name="T3" fmla="*/ 0 h 96"/>
                <a:gd name="T4" fmla="*/ 384 w 384"/>
                <a:gd name="T5" fmla="*/ 48 h 96"/>
                <a:gd name="T6" fmla="*/ 288 w 384"/>
                <a:gd name="T7" fmla="*/ 96 h 96"/>
                <a:gd name="T8" fmla="*/ 96 w 384"/>
                <a:gd name="T9" fmla="*/ 96 h 96"/>
                <a:gd name="T10" fmla="*/ 0 w 384"/>
                <a:gd name="T11" fmla="*/ 48 h 96"/>
                <a:gd name="T12" fmla="*/ 0 w 384"/>
                <a:gd name="T13" fmla="*/ 0 h 96"/>
              </a:gdLst>
              <a:ahLst/>
              <a:cxnLst>
                <a:cxn ang="0">
                  <a:pos x="T0" y="T1"/>
                </a:cxn>
                <a:cxn ang="0">
                  <a:pos x="T2" y="T3"/>
                </a:cxn>
                <a:cxn ang="0">
                  <a:pos x="T4" y="T5"/>
                </a:cxn>
                <a:cxn ang="0">
                  <a:pos x="T6" y="T7"/>
                </a:cxn>
                <a:cxn ang="0">
                  <a:pos x="T8" y="T9"/>
                </a:cxn>
                <a:cxn ang="0">
                  <a:pos x="T10" y="T11"/>
                </a:cxn>
                <a:cxn ang="0">
                  <a:pos x="T12" y="T13"/>
                </a:cxn>
              </a:cxnLst>
              <a:rect l="0" t="0" r="r" b="b"/>
              <a:pathLst>
                <a:path w="384" h="96">
                  <a:moveTo>
                    <a:pt x="0" y="0"/>
                  </a:moveTo>
                  <a:lnTo>
                    <a:pt x="384" y="0"/>
                  </a:lnTo>
                  <a:lnTo>
                    <a:pt x="384" y="48"/>
                  </a:lnTo>
                  <a:lnTo>
                    <a:pt x="288" y="96"/>
                  </a:lnTo>
                  <a:lnTo>
                    <a:pt x="96" y="96"/>
                  </a:lnTo>
                  <a:lnTo>
                    <a:pt x="0" y="48"/>
                  </a:lnTo>
                  <a:lnTo>
                    <a:pt x="0" y="0"/>
                  </a:lnTo>
                  <a:close/>
                </a:path>
              </a:pathLst>
            </a:custGeom>
            <a:solidFill>
              <a:schemeClr val="bg2"/>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Rectangle 133">
              <a:extLst>
                <a:ext uri="{FF2B5EF4-FFF2-40B4-BE49-F238E27FC236}">
                  <a16:creationId xmlns:a16="http://schemas.microsoft.com/office/drawing/2014/main" id="{C682637E-9EA2-E6D3-63E9-DB08D859C56A}"/>
                </a:ext>
              </a:extLst>
            </p:cNvPr>
            <p:cNvSpPr>
              <a:spLocks noChangeArrowheads="1"/>
            </p:cNvSpPr>
            <p:nvPr/>
          </p:nvSpPr>
          <p:spPr bwMode="auto">
            <a:xfrm>
              <a:off x="1392" y="1316"/>
              <a:ext cx="96" cy="24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Rectangle 134">
              <a:extLst>
                <a:ext uri="{FF2B5EF4-FFF2-40B4-BE49-F238E27FC236}">
                  <a16:creationId xmlns:a16="http://schemas.microsoft.com/office/drawing/2014/main" id="{C8137528-4D47-CD31-2958-61DD3A05CD7C}"/>
                </a:ext>
              </a:extLst>
            </p:cNvPr>
            <p:cNvSpPr>
              <a:spLocks noChangeArrowheads="1"/>
            </p:cNvSpPr>
            <p:nvPr/>
          </p:nvSpPr>
          <p:spPr bwMode="auto">
            <a:xfrm>
              <a:off x="1248" y="1220"/>
              <a:ext cx="384" cy="96"/>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 name="Rectangle 145">
            <a:extLst>
              <a:ext uri="{FF2B5EF4-FFF2-40B4-BE49-F238E27FC236}">
                <a16:creationId xmlns:a16="http://schemas.microsoft.com/office/drawing/2014/main" id="{F68B3191-6982-AA29-366D-83D32408B4F6}"/>
              </a:ext>
            </a:extLst>
          </p:cNvPr>
          <p:cNvSpPr>
            <a:spLocks noChangeArrowheads="1"/>
          </p:cNvSpPr>
          <p:nvPr/>
        </p:nvSpPr>
        <p:spPr bwMode="auto">
          <a:xfrm>
            <a:off x="4456414" y="5436693"/>
            <a:ext cx="125195" cy="250391"/>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146">
            <a:extLst>
              <a:ext uri="{FF2B5EF4-FFF2-40B4-BE49-F238E27FC236}">
                <a16:creationId xmlns:a16="http://schemas.microsoft.com/office/drawing/2014/main" id="{89B1D047-0104-59DA-1065-34A8F7812A22}"/>
              </a:ext>
            </a:extLst>
          </p:cNvPr>
          <p:cNvSpPr>
            <a:spLocks noChangeShapeType="1"/>
          </p:cNvSpPr>
          <p:nvPr/>
        </p:nvSpPr>
        <p:spPr bwMode="auto">
          <a:xfrm>
            <a:off x="2578481" y="6062671"/>
            <a:ext cx="0" cy="688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147">
            <a:extLst>
              <a:ext uri="{FF2B5EF4-FFF2-40B4-BE49-F238E27FC236}">
                <a16:creationId xmlns:a16="http://schemas.microsoft.com/office/drawing/2014/main" id="{79912BD4-ADA5-2235-8865-7C04905A4A70}"/>
              </a:ext>
            </a:extLst>
          </p:cNvPr>
          <p:cNvSpPr>
            <a:spLocks noChangeShapeType="1"/>
          </p:cNvSpPr>
          <p:nvPr/>
        </p:nvSpPr>
        <p:spPr bwMode="auto">
          <a:xfrm>
            <a:off x="6522141" y="6062671"/>
            <a:ext cx="0" cy="688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148">
            <a:extLst>
              <a:ext uri="{FF2B5EF4-FFF2-40B4-BE49-F238E27FC236}">
                <a16:creationId xmlns:a16="http://schemas.microsoft.com/office/drawing/2014/main" id="{A838ECE7-8BC4-0D02-7072-ED8346453387}"/>
              </a:ext>
            </a:extLst>
          </p:cNvPr>
          <p:cNvSpPr>
            <a:spLocks noChangeShapeType="1"/>
          </p:cNvSpPr>
          <p:nvPr/>
        </p:nvSpPr>
        <p:spPr bwMode="auto">
          <a:xfrm>
            <a:off x="2578481" y="6751247"/>
            <a:ext cx="394366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149">
            <a:extLst>
              <a:ext uri="{FF2B5EF4-FFF2-40B4-BE49-F238E27FC236}">
                <a16:creationId xmlns:a16="http://schemas.microsoft.com/office/drawing/2014/main" id="{D7D82C38-CD5C-65B6-BE6D-573AA0A0674D}"/>
              </a:ext>
            </a:extLst>
          </p:cNvPr>
          <p:cNvSpPr>
            <a:spLocks noChangeShapeType="1"/>
          </p:cNvSpPr>
          <p:nvPr/>
        </p:nvSpPr>
        <p:spPr bwMode="auto">
          <a:xfrm>
            <a:off x="2515882" y="6062671"/>
            <a:ext cx="40688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150">
            <a:extLst>
              <a:ext uri="{FF2B5EF4-FFF2-40B4-BE49-F238E27FC236}">
                <a16:creationId xmlns:a16="http://schemas.microsoft.com/office/drawing/2014/main" id="{E2C3FC79-E942-BE90-803B-B87CC9D990C7}"/>
              </a:ext>
            </a:extLst>
          </p:cNvPr>
          <p:cNvSpPr>
            <a:spLocks noChangeShapeType="1"/>
          </p:cNvSpPr>
          <p:nvPr/>
        </p:nvSpPr>
        <p:spPr bwMode="auto">
          <a:xfrm flipV="1">
            <a:off x="4080827" y="5874879"/>
            <a:ext cx="0" cy="75117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161">
            <a:extLst>
              <a:ext uri="{FF2B5EF4-FFF2-40B4-BE49-F238E27FC236}">
                <a16:creationId xmlns:a16="http://schemas.microsoft.com/office/drawing/2014/main" id="{5D43073F-70EA-106C-8B70-ADEE0E98EB60}"/>
              </a:ext>
            </a:extLst>
          </p:cNvPr>
          <p:cNvSpPr>
            <a:spLocks noChangeShapeType="1"/>
          </p:cNvSpPr>
          <p:nvPr/>
        </p:nvSpPr>
        <p:spPr bwMode="auto">
          <a:xfrm>
            <a:off x="4018229" y="2712253"/>
            <a:ext cx="0" cy="270185"/>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162">
            <a:extLst>
              <a:ext uri="{FF2B5EF4-FFF2-40B4-BE49-F238E27FC236}">
                <a16:creationId xmlns:a16="http://schemas.microsoft.com/office/drawing/2014/main" id="{BEDF09F0-8830-3336-716E-249A86BA43B2}"/>
              </a:ext>
            </a:extLst>
          </p:cNvPr>
          <p:cNvSpPr>
            <a:spLocks noChangeShapeType="1"/>
          </p:cNvSpPr>
          <p:nvPr/>
        </p:nvSpPr>
        <p:spPr bwMode="auto">
          <a:xfrm>
            <a:off x="4018229" y="3483221"/>
            <a:ext cx="0" cy="232707"/>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163">
            <a:extLst>
              <a:ext uri="{FF2B5EF4-FFF2-40B4-BE49-F238E27FC236}">
                <a16:creationId xmlns:a16="http://schemas.microsoft.com/office/drawing/2014/main" id="{0DF4FF36-AF78-4F9C-DAB2-13FC8D4DD3D5}"/>
              </a:ext>
            </a:extLst>
          </p:cNvPr>
          <p:cNvSpPr>
            <a:spLocks noChangeShapeType="1"/>
          </p:cNvSpPr>
          <p:nvPr/>
        </p:nvSpPr>
        <p:spPr bwMode="auto">
          <a:xfrm>
            <a:off x="3988594" y="3715928"/>
            <a:ext cx="2220557"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164">
            <a:extLst>
              <a:ext uri="{FF2B5EF4-FFF2-40B4-BE49-F238E27FC236}">
                <a16:creationId xmlns:a16="http://schemas.microsoft.com/office/drawing/2014/main" id="{D7723B98-A961-D4A2-21CE-114A3A859382}"/>
              </a:ext>
            </a:extLst>
          </p:cNvPr>
          <p:cNvSpPr>
            <a:spLocks noChangeShapeType="1"/>
          </p:cNvSpPr>
          <p:nvPr/>
        </p:nvSpPr>
        <p:spPr bwMode="auto">
          <a:xfrm>
            <a:off x="6209152" y="3715928"/>
            <a:ext cx="0" cy="2910124"/>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AutoShape 176">
            <a:extLst>
              <a:ext uri="{FF2B5EF4-FFF2-40B4-BE49-F238E27FC236}">
                <a16:creationId xmlns:a16="http://schemas.microsoft.com/office/drawing/2014/main" id="{2FFA893B-451D-062E-F403-968FF10BF96B}"/>
              </a:ext>
            </a:extLst>
          </p:cNvPr>
          <p:cNvSpPr>
            <a:spLocks noChangeArrowheads="1"/>
          </p:cNvSpPr>
          <p:nvPr/>
        </p:nvSpPr>
        <p:spPr bwMode="auto">
          <a:xfrm>
            <a:off x="3517448" y="5248899"/>
            <a:ext cx="813771" cy="625978"/>
          </a:xfrm>
          <a:prstGeom prst="roundRect">
            <a:avLst>
              <a:gd name="adj" fmla="val 16667"/>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 name="Group 184">
            <a:extLst>
              <a:ext uri="{FF2B5EF4-FFF2-40B4-BE49-F238E27FC236}">
                <a16:creationId xmlns:a16="http://schemas.microsoft.com/office/drawing/2014/main" id="{6E7D255C-FE62-9AE1-48DE-5699597359FE}"/>
              </a:ext>
            </a:extLst>
          </p:cNvPr>
          <p:cNvGrpSpPr>
            <a:grpSpLocks/>
          </p:cNvGrpSpPr>
          <p:nvPr/>
        </p:nvGrpSpPr>
        <p:grpSpPr bwMode="auto">
          <a:xfrm>
            <a:off x="1389122" y="4309932"/>
            <a:ext cx="500783" cy="1251956"/>
            <a:chOff x="1248" y="2256"/>
            <a:chExt cx="384" cy="960"/>
          </a:xfrm>
        </p:grpSpPr>
        <p:sp>
          <p:nvSpPr>
            <p:cNvPr id="83" name="Rectangle 185">
              <a:extLst>
                <a:ext uri="{FF2B5EF4-FFF2-40B4-BE49-F238E27FC236}">
                  <a16:creationId xmlns:a16="http://schemas.microsoft.com/office/drawing/2014/main" id="{66A68E79-FE9F-7693-C0B4-3704B7DCD7B1}"/>
                </a:ext>
              </a:extLst>
            </p:cNvPr>
            <p:cNvSpPr>
              <a:spLocks noChangeArrowheads="1"/>
            </p:cNvSpPr>
            <p:nvPr/>
          </p:nvSpPr>
          <p:spPr bwMode="auto">
            <a:xfrm>
              <a:off x="1248" y="2256"/>
              <a:ext cx="384" cy="384"/>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Rectangle 186">
              <a:extLst>
                <a:ext uri="{FF2B5EF4-FFF2-40B4-BE49-F238E27FC236}">
                  <a16:creationId xmlns:a16="http://schemas.microsoft.com/office/drawing/2014/main" id="{DCC9B07A-6B8A-2B8B-0970-F447535F908B}"/>
                </a:ext>
              </a:extLst>
            </p:cNvPr>
            <p:cNvSpPr>
              <a:spLocks noChangeArrowheads="1"/>
            </p:cNvSpPr>
            <p:nvPr/>
          </p:nvSpPr>
          <p:spPr bwMode="auto">
            <a:xfrm>
              <a:off x="1296" y="2640"/>
              <a:ext cx="288" cy="48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Freeform 187">
              <a:extLst>
                <a:ext uri="{FF2B5EF4-FFF2-40B4-BE49-F238E27FC236}">
                  <a16:creationId xmlns:a16="http://schemas.microsoft.com/office/drawing/2014/main" id="{01274A0B-9C6F-4EE8-2935-D687880C6EF3}"/>
                </a:ext>
              </a:extLst>
            </p:cNvPr>
            <p:cNvSpPr>
              <a:spLocks/>
            </p:cNvSpPr>
            <p:nvPr/>
          </p:nvSpPr>
          <p:spPr bwMode="auto">
            <a:xfrm>
              <a:off x="1296" y="3120"/>
              <a:ext cx="288" cy="96"/>
            </a:xfrm>
            <a:custGeom>
              <a:avLst/>
              <a:gdLst>
                <a:gd name="T0" fmla="*/ 0 w 288"/>
                <a:gd name="T1" fmla="*/ 0 h 96"/>
                <a:gd name="T2" fmla="*/ 48 w 288"/>
                <a:gd name="T3" fmla="*/ 96 h 96"/>
                <a:gd name="T4" fmla="*/ 240 w 288"/>
                <a:gd name="T5" fmla="*/ 96 h 96"/>
                <a:gd name="T6" fmla="*/ 288 w 288"/>
                <a:gd name="T7" fmla="*/ 0 h 96"/>
                <a:gd name="T8" fmla="*/ 0 w 288"/>
                <a:gd name="T9" fmla="*/ 0 h 96"/>
              </a:gdLst>
              <a:ahLst/>
              <a:cxnLst>
                <a:cxn ang="0">
                  <a:pos x="T0" y="T1"/>
                </a:cxn>
                <a:cxn ang="0">
                  <a:pos x="T2" y="T3"/>
                </a:cxn>
                <a:cxn ang="0">
                  <a:pos x="T4" y="T5"/>
                </a:cxn>
                <a:cxn ang="0">
                  <a:pos x="T6" y="T7"/>
                </a:cxn>
                <a:cxn ang="0">
                  <a:pos x="T8" y="T9"/>
                </a:cxn>
              </a:cxnLst>
              <a:rect l="0" t="0" r="r" b="b"/>
              <a:pathLst>
                <a:path w="288" h="96">
                  <a:moveTo>
                    <a:pt x="0" y="0"/>
                  </a:moveTo>
                  <a:lnTo>
                    <a:pt x="48" y="96"/>
                  </a:lnTo>
                  <a:lnTo>
                    <a:pt x="240" y="96"/>
                  </a:lnTo>
                  <a:lnTo>
                    <a:pt x="288" y="0"/>
                  </a:lnTo>
                  <a:lnTo>
                    <a:pt x="0" y="0"/>
                  </a:lnTo>
                  <a:close/>
                </a:path>
              </a:pathLst>
            </a:custGeom>
            <a:gradFill rotWithShape="0">
              <a:gsLst>
                <a:gs pos="0">
                  <a:schemeClr val="bg1">
                    <a:gamma/>
                    <a:shade val="46275"/>
                    <a:invGamma/>
                  </a:schemeClr>
                </a:gs>
                <a:gs pos="50000">
                  <a:schemeClr val="bg1"/>
                </a:gs>
                <a:gs pos="100000">
                  <a:schemeClr val="bg1">
                    <a:gamma/>
                    <a:shade val="46275"/>
                    <a:invGamma/>
                  </a:schemeClr>
                </a:gs>
              </a:gsLst>
              <a:lin ang="0" scaled="1"/>
            </a:gra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188">
              <a:extLst>
                <a:ext uri="{FF2B5EF4-FFF2-40B4-BE49-F238E27FC236}">
                  <a16:creationId xmlns:a16="http://schemas.microsoft.com/office/drawing/2014/main" id="{C10ADBB6-365B-C5EF-B5E9-26B50E7293DD}"/>
                </a:ext>
              </a:extLst>
            </p:cNvPr>
            <p:cNvSpPr>
              <a:spLocks noChangeShapeType="1"/>
            </p:cNvSpPr>
            <p:nvPr/>
          </p:nvSpPr>
          <p:spPr bwMode="auto">
            <a:xfrm flipH="1">
              <a:off x="1248" y="2304"/>
              <a:ext cx="144"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189">
              <a:extLst>
                <a:ext uri="{FF2B5EF4-FFF2-40B4-BE49-F238E27FC236}">
                  <a16:creationId xmlns:a16="http://schemas.microsoft.com/office/drawing/2014/main" id="{39D57890-B8AA-A65F-DA82-2122557DAD66}"/>
                </a:ext>
              </a:extLst>
            </p:cNvPr>
            <p:cNvSpPr>
              <a:spLocks noChangeShapeType="1"/>
            </p:cNvSpPr>
            <p:nvPr/>
          </p:nvSpPr>
          <p:spPr bwMode="auto">
            <a:xfrm>
              <a:off x="1248" y="2448"/>
              <a:ext cx="144"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190">
              <a:extLst>
                <a:ext uri="{FF2B5EF4-FFF2-40B4-BE49-F238E27FC236}">
                  <a16:creationId xmlns:a16="http://schemas.microsoft.com/office/drawing/2014/main" id="{5081D9CF-8C3C-CF41-6A1D-13C66B62EE84}"/>
                </a:ext>
              </a:extLst>
            </p:cNvPr>
            <p:cNvSpPr>
              <a:spLocks noChangeShapeType="1"/>
            </p:cNvSpPr>
            <p:nvPr/>
          </p:nvSpPr>
          <p:spPr bwMode="auto">
            <a:xfrm>
              <a:off x="1488" y="2304"/>
              <a:ext cx="144"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191">
              <a:extLst>
                <a:ext uri="{FF2B5EF4-FFF2-40B4-BE49-F238E27FC236}">
                  <a16:creationId xmlns:a16="http://schemas.microsoft.com/office/drawing/2014/main" id="{F3376BE6-B17C-364D-E9BE-0ACB9655ACCD}"/>
                </a:ext>
              </a:extLst>
            </p:cNvPr>
            <p:cNvSpPr>
              <a:spLocks noChangeShapeType="1"/>
            </p:cNvSpPr>
            <p:nvPr/>
          </p:nvSpPr>
          <p:spPr bwMode="auto">
            <a:xfrm flipH="1">
              <a:off x="1488" y="2448"/>
              <a:ext cx="144"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192">
              <a:extLst>
                <a:ext uri="{FF2B5EF4-FFF2-40B4-BE49-F238E27FC236}">
                  <a16:creationId xmlns:a16="http://schemas.microsoft.com/office/drawing/2014/main" id="{3AC837C2-BD28-0C66-F7F3-F0DD3B6AC58C}"/>
                </a:ext>
              </a:extLst>
            </p:cNvPr>
            <p:cNvSpPr>
              <a:spLocks noChangeShapeType="1"/>
            </p:cNvSpPr>
            <p:nvPr/>
          </p:nvSpPr>
          <p:spPr bwMode="auto">
            <a:xfrm>
              <a:off x="1440" y="2304"/>
              <a:ext cx="0" cy="28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1" name="Rectangle 168">
            <a:extLst>
              <a:ext uri="{FF2B5EF4-FFF2-40B4-BE49-F238E27FC236}">
                <a16:creationId xmlns:a16="http://schemas.microsoft.com/office/drawing/2014/main" id="{5BA13FF1-D067-F27B-462C-B6F24136DD1F}"/>
              </a:ext>
            </a:extLst>
          </p:cNvPr>
          <p:cNvSpPr>
            <a:spLocks noChangeArrowheads="1"/>
          </p:cNvSpPr>
          <p:nvPr/>
        </p:nvSpPr>
        <p:spPr bwMode="auto">
          <a:xfrm>
            <a:off x="3646685" y="2982438"/>
            <a:ext cx="1502347" cy="50078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169">
            <a:extLst>
              <a:ext uri="{FF2B5EF4-FFF2-40B4-BE49-F238E27FC236}">
                <a16:creationId xmlns:a16="http://schemas.microsoft.com/office/drawing/2014/main" id="{BAAD0A07-FA79-1842-0597-A05A723BF852}"/>
              </a:ext>
            </a:extLst>
          </p:cNvPr>
          <p:cNvSpPr>
            <a:spLocks noChangeShapeType="1"/>
          </p:cNvSpPr>
          <p:nvPr/>
        </p:nvSpPr>
        <p:spPr bwMode="auto">
          <a:xfrm>
            <a:off x="4147468" y="2982438"/>
            <a:ext cx="0" cy="5007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Freeform 171">
            <a:extLst>
              <a:ext uri="{FF2B5EF4-FFF2-40B4-BE49-F238E27FC236}">
                <a16:creationId xmlns:a16="http://schemas.microsoft.com/office/drawing/2014/main" id="{613921A6-2DC6-CE83-D32B-359C49603747}"/>
              </a:ext>
            </a:extLst>
          </p:cNvPr>
          <p:cNvSpPr>
            <a:spLocks/>
          </p:cNvSpPr>
          <p:nvPr/>
        </p:nvSpPr>
        <p:spPr bwMode="auto">
          <a:xfrm>
            <a:off x="5149033" y="3045036"/>
            <a:ext cx="312989" cy="375587"/>
          </a:xfrm>
          <a:custGeom>
            <a:avLst/>
            <a:gdLst>
              <a:gd name="T0" fmla="*/ 0 w 240"/>
              <a:gd name="T1" fmla="*/ 0 h 288"/>
              <a:gd name="T2" fmla="*/ 192 w 240"/>
              <a:gd name="T3" fmla="*/ 0 h 288"/>
              <a:gd name="T4" fmla="*/ 240 w 240"/>
              <a:gd name="T5" fmla="*/ 48 h 288"/>
              <a:gd name="T6" fmla="*/ 240 w 240"/>
              <a:gd name="T7" fmla="*/ 240 h 288"/>
              <a:gd name="T8" fmla="*/ 192 w 240"/>
              <a:gd name="T9" fmla="*/ 288 h 288"/>
              <a:gd name="T10" fmla="*/ 0 w 240"/>
              <a:gd name="T11" fmla="*/ 288 h 288"/>
              <a:gd name="T12" fmla="*/ 0 w 24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240" h="288">
                <a:moveTo>
                  <a:pt x="0" y="0"/>
                </a:moveTo>
                <a:lnTo>
                  <a:pt x="192" y="0"/>
                </a:lnTo>
                <a:lnTo>
                  <a:pt x="240" y="48"/>
                </a:lnTo>
                <a:lnTo>
                  <a:pt x="240" y="240"/>
                </a:lnTo>
                <a:lnTo>
                  <a:pt x="192" y="288"/>
                </a:lnTo>
                <a:lnTo>
                  <a:pt x="0" y="288"/>
                </a:lnTo>
                <a:lnTo>
                  <a:pt x="0" y="0"/>
                </a:lnTo>
                <a:close/>
              </a:path>
            </a:pathLst>
          </a:custGeom>
          <a:solidFill>
            <a:srgbClr val="0066FF"/>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Freeform 172">
            <a:extLst>
              <a:ext uri="{FF2B5EF4-FFF2-40B4-BE49-F238E27FC236}">
                <a16:creationId xmlns:a16="http://schemas.microsoft.com/office/drawing/2014/main" id="{1290EC25-11D4-7ADD-E13E-BE6AB4A77609}"/>
              </a:ext>
            </a:extLst>
          </p:cNvPr>
          <p:cNvSpPr>
            <a:spLocks/>
          </p:cNvSpPr>
          <p:nvPr/>
        </p:nvSpPr>
        <p:spPr bwMode="auto">
          <a:xfrm>
            <a:off x="5211629" y="2857243"/>
            <a:ext cx="187793" cy="187793"/>
          </a:xfrm>
          <a:custGeom>
            <a:avLst/>
            <a:gdLst>
              <a:gd name="T0" fmla="*/ 0 w 144"/>
              <a:gd name="T1" fmla="*/ 144 h 144"/>
              <a:gd name="T2" fmla="*/ 0 w 144"/>
              <a:gd name="T3" fmla="*/ 0 h 144"/>
              <a:gd name="T4" fmla="*/ 144 w 144"/>
              <a:gd name="T5" fmla="*/ 0 h 144"/>
              <a:gd name="T6" fmla="*/ 144 w 144"/>
              <a:gd name="T7" fmla="*/ 96 h 144"/>
              <a:gd name="T8" fmla="*/ 96 w 144"/>
              <a:gd name="T9" fmla="*/ 96 h 144"/>
              <a:gd name="T10" fmla="*/ 96 w 144"/>
              <a:gd name="T11" fmla="*/ 144 h 144"/>
              <a:gd name="T12" fmla="*/ 0 w 144"/>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44" h="144">
                <a:moveTo>
                  <a:pt x="0" y="144"/>
                </a:moveTo>
                <a:lnTo>
                  <a:pt x="0" y="0"/>
                </a:lnTo>
                <a:lnTo>
                  <a:pt x="144" y="0"/>
                </a:lnTo>
                <a:lnTo>
                  <a:pt x="144" y="96"/>
                </a:lnTo>
                <a:lnTo>
                  <a:pt x="96" y="96"/>
                </a:lnTo>
                <a:lnTo>
                  <a:pt x="96" y="144"/>
                </a:lnTo>
                <a:lnTo>
                  <a:pt x="0" y="144"/>
                </a:lnTo>
                <a:close/>
              </a:path>
            </a:pathLst>
          </a:custGeom>
          <a:solidFill>
            <a:schemeClr val="bg2"/>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Freeform 174">
            <a:extLst>
              <a:ext uri="{FF2B5EF4-FFF2-40B4-BE49-F238E27FC236}">
                <a16:creationId xmlns:a16="http://schemas.microsoft.com/office/drawing/2014/main" id="{E9A70A48-B60F-B946-2ACD-75B155135842}"/>
              </a:ext>
            </a:extLst>
          </p:cNvPr>
          <p:cNvSpPr>
            <a:spLocks/>
          </p:cNvSpPr>
          <p:nvPr/>
        </p:nvSpPr>
        <p:spPr bwMode="auto">
          <a:xfrm flipH="1">
            <a:off x="3333697" y="3045036"/>
            <a:ext cx="312989" cy="375587"/>
          </a:xfrm>
          <a:custGeom>
            <a:avLst/>
            <a:gdLst>
              <a:gd name="T0" fmla="*/ 0 w 240"/>
              <a:gd name="T1" fmla="*/ 0 h 288"/>
              <a:gd name="T2" fmla="*/ 192 w 240"/>
              <a:gd name="T3" fmla="*/ 0 h 288"/>
              <a:gd name="T4" fmla="*/ 240 w 240"/>
              <a:gd name="T5" fmla="*/ 48 h 288"/>
              <a:gd name="T6" fmla="*/ 240 w 240"/>
              <a:gd name="T7" fmla="*/ 240 h 288"/>
              <a:gd name="T8" fmla="*/ 192 w 240"/>
              <a:gd name="T9" fmla="*/ 288 h 288"/>
              <a:gd name="T10" fmla="*/ 0 w 240"/>
              <a:gd name="T11" fmla="*/ 288 h 288"/>
              <a:gd name="T12" fmla="*/ 0 w 24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240" h="288">
                <a:moveTo>
                  <a:pt x="0" y="0"/>
                </a:moveTo>
                <a:lnTo>
                  <a:pt x="192" y="0"/>
                </a:lnTo>
                <a:lnTo>
                  <a:pt x="240" y="48"/>
                </a:lnTo>
                <a:lnTo>
                  <a:pt x="240" y="240"/>
                </a:lnTo>
                <a:lnTo>
                  <a:pt x="192" y="288"/>
                </a:lnTo>
                <a:lnTo>
                  <a:pt x="0" y="288"/>
                </a:lnTo>
                <a:lnTo>
                  <a:pt x="0" y="0"/>
                </a:lnTo>
                <a:close/>
              </a:path>
            </a:pathLst>
          </a:custGeom>
          <a:solidFill>
            <a:srgbClr val="0066FF"/>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Freeform 175">
            <a:extLst>
              <a:ext uri="{FF2B5EF4-FFF2-40B4-BE49-F238E27FC236}">
                <a16:creationId xmlns:a16="http://schemas.microsoft.com/office/drawing/2014/main" id="{49DAB4D2-3DDD-C93D-CCA2-1807ACA06D1F}"/>
              </a:ext>
            </a:extLst>
          </p:cNvPr>
          <p:cNvSpPr>
            <a:spLocks/>
          </p:cNvSpPr>
          <p:nvPr/>
        </p:nvSpPr>
        <p:spPr bwMode="auto">
          <a:xfrm flipH="1">
            <a:off x="3396294" y="2857243"/>
            <a:ext cx="187793" cy="187793"/>
          </a:xfrm>
          <a:custGeom>
            <a:avLst/>
            <a:gdLst>
              <a:gd name="T0" fmla="*/ 0 w 144"/>
              <a:gd name="T1" fmla="*/ 144 h 144"/>
              <a:gd name="T2" fmla="*/ 0 w 144"/>
              <a:gd name="T3" fmla="*/ 0 h 144"/>
              <a:gd name="T4" fmla="*/ 144 w 144"/>
              <a:gd name="T5" fmla="*/ 0 h 144"/>
              <a:gd name="T6" fmla="*/ 144 w 144"/>
              <a:gd name="T7" fmla="*/ 96 h 144"/>
              <a:gd name="T8" fmla="*/ 96 w 144"/>
              <a:gd name="T9" fmla="*/ 96 h 144"/>
              <a:gd name="T10" fmla="*/ 96 w 144"/>
              <a:gd name="T11" fmla="*/ 144 h 144"/>
              <a:gd name="T12" fmla="*/ 0 w 144"/>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44" h="144">
                <a:moveTo>
                  <a:pt x="0" y="144"/>
                </a:moveTo>
                <a:lnTo>
                  <a:pt x="0" y="0"/>
                </a:lnTo>
                <a:lnTo>
                  <a:pt x="144" y="0"/>
                </a:lnTo>
                <a:lnTo>
                  <a:pt x="144" y="96"/>
                </a:lnTo>
                <a:lnTo>
                  <a:pt x="96" y="96"/>
                </a:lnTo>
                <a:lnTo>
                  <a:pt x="96" y="144"/>
                </a:lnTo>
                <a:lnTo>
                  <a:pt x="0" y="144"/>
                </a:lnTo>
                <a:close/>
              </a:path>
            </a:pathLst>
          </a:custGeom>
          <a:solidFill>
            <a:schemeClr val="bg2"/>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156">
            <a:extLst>
              <a:ext uri="{FF2B5EF4-FFF2-40B4-BE49-F238E27FC236}">
                <a16:creationId xmlns:a16="http://schemas.microsoft.com/office/drawing/2014/main" id="{D9E92693-98D5-4164-53C1-0E0359A2D42A}"/>
              </a:ext>
            </a:extLst>
          </p:cNvPr>
          <p:cNvSpPr>
            <a:spLocks noChangeShapeType="1"/>
          </p:cNvSpPr>
          <p:nvPr/>
        </p:nvSpPr>
        <p:spPr bwMode="auto">
          <a:xfrm flipH="1" flipV="1">
            <a:off x="3767837" y="2436935"/>
            <a:ext cx="3985866" cy="1"/>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152">
            <a:extLst>
              <a:ext uri="{FF2B5EF4-FFF2-40B4-BE49-F238E27FC236}">
                <a16:creationId xmlns:a16="http://schemas.microsoft.com/office/drawing/2014/main" id="{89ACA3B6-B157-CE97-CC82-7A6F48C301C6}"/>
              </a:ext>
            </a:extLst>
          </p:cNvPr>
          <p:cNvSpPr>
            <a:spLocks noChangeShapeType="1"/>
          </p:cNvSpPr>
          <p:nvPr/>
        </p:nvSpPr>
        <p:spPr bwMode="auto">
          <a:xfrm flipH="1">
            <a:off x="950938" y="4560324"/>
            <a:ext cx="2816900" cy="0"/>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153">
            <a:extLst>
              <a:ext uri="{FF2B5EF4-FFF2-40B4-BE49-F238E27FC236}">
                <a16:creationId xmlns:a16="http://schemas.microsoft.com/office/drawing/2014/main" id="{C6B2D458-3761-4F0F-A8C4-FCA21CE67108}"/>
              </a:ext>
            </a:extLst>
          </p:cNvPr>
          <p:cNvSpPr>
            <a:spLocks noChangeShapeType="1"/>
          </p:cNvSpPr>
          <p:nvPr/>
        </p:nvSpPr>
        <p:spPr bwMode="auto">
          <a:xfrm flipV="1">
            <a:off x="950938" y="3890103"/>
            <a:ext cx="0" cy="670220"/>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154">
            <a:extLst>
              <a:ext uri="{FF2B5EF4-FFF2-40B4-BE49-F238E27FC236}">
                <a16:creationId xmlns:a16="http://schemas.microsoft.com/office/drawing/2014/main" id="{48E93B70-8408-A3DC-D34D-10DB6CEADB15}"/>
              </a:ext>
            </a:extLst>
          </p:cNvPr>
          <p:cNvSpPr>
            <a:spLocks noChangeShapeType="1"/>
          </p:cNvSpPr>
          <p:nvPr/>
        </p:nvSpPr>
        <p:spPr bwMode="auto">
          <a:xfrm>
            <a:off x="950938" y="3858808"/>
            <a:ext cx="2816900" cy="0"/>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156">
            <a:extLst>
              <a:ext uri="{FF2B5EF4-FFF2-40B4-BE49-F238E27FC236}">
                <a16:creationId xmlns:a16="http://schemas.microsoft.com/office/drawing/2014/main" id="{606BDE02-7128-70BC-DDD5-DDD66DCA764F}"/>
              </a:ext>
            </a:extLst>
          </p:cNvPr>
          <p:cNvSpPr>
            <a:spLocks noChangeShapeType="1"/>
          </p:cNvSpPr>
          <p:nvPr/>
        </p:nvSpPr>
        <p:spPr bwMode="auto">
          <a:xfrm flipH="1" flipV="1">
            <a:off x="3767836" y="2436935"/>
            <a:ext cx="0" cy="1453169"/>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 name="组合 101">
            <a:extLst>
              <a:ext uri="{FF2B5EF4-FFF2-40B4-BE49-F238E27FC236}">
                <a16:creationId xmlns:a16="http://schemas.microsoft.com/office/drawing/2014/main" id="{990CB8DD-6A5C-80C4-D194-85AD7DD018D7}"/>
              </a:ext>
            </a:extLst>
          </p:cNvPr>
          <p:cNvGrpSpPr/>
          <p:nvPr/>
        </p:nvGrpSpPr>
        <p:grpSpPr>
          <a:xfrm>
            <a:off x="2641077" y="4560324"/>
            <a:ext cx="500783" cy="2065728"/>
            <a:chOff x="2641077" y="4460308"/>
            <a:chExt cx="500783" cy="2065728"/>
          </a:xfrm>
        </p:grpSpPr>
        <p:grpSp>
          <p:nvGrpSpPr>
            <p:cNvPr id="103" name="Group 135">
              <a:extLst>
                <a:ext uri="{FF2B5EF4-FFF2-40B4-BE49-F238E27FC236}">
                  <a16:creationId xmlns:a16="http://schemas.microsoft.com/office/drawing/2014/main" id="{777BB291-B169-83EE-A5C2-1F6EBC777E10}"/>
                </a:ext>
              </a:extLst>
            </p:cNvPr>
            <p:cNvGrpSpPr>
              <a:grpSpLocks/>
            </p:cNvGrpSpPr>
            <p:nvPr/>
          </p:nvGrpSpPr>
          <p:grpSpPr bwMode="auto">
            <a:xfrm>
              <a:off x="2641077" y="5211482"/>
              <a:ext cx="500783" cy="500783"/>
              <a:chOff x="1776" y="3024"/>
              <a:chExt cx="384" cy="384"/>
            </a:xfrm>
          </p:grpSpPr>
          <p:sp>
            <p:nvSpPr>
              <p:cNvPr id="106" name="Freeform 136">
                <a:extLst>
                  <a:ext uri="{FF2B5EF4-FFF2-40B4-BE49-F238E27FC236}">
                    <a16:creationId xmlns:a16="http://schemas.microsoft.com/office/drawing/2014/main" id="{760AE1C1-6746-C8AF-A47B-DD073861C32A}"/>
                  </a:ext>
                </a:extLst>
              </p:cNvPr>
              <p:cNvSpPr>
                <a:spLocks/>
              </p:cNvSpPr>
              <p:nvPr/>
            </p:nvSpPr>
            <p:spPr bwMode="auto">
              <a:xfrm>
                <a:off x="2016" y="3024"/>
                <a:ext cx="144" cy="384"/>
              </a:xfrm>
              <a:custGeom>
                <a:avLst/>
                <a:gdLst>
                  <a:gd name="T0" fmla="*/ 0 w 144"/>
                  <a:gd name="T1" fmla="*/ 0 h 384"/>
                  <a:gd name="T2" fmla="*/ 144 w 144"/>
                  <a:gd name="T3" fmla="*/ 0 h 384"/>
                  <a:gd name="T4" fmla="*/ 144 w 144"/>
                  <a:gd name="T5" fmla="*/ 384 h 384"/>
                  <a:gd name="T6" fmla="*/ 0 w 144"/>
                  <a:gd name="T7" fmla="*/ 384 h 384"/>
                  <a:gd name="T8" fmla="*/ 0 w 144"/>
                  <a:gd name="T9" fmla="*/ 336 h 384"/>
                  <a:gd name="T10" fmla="*/ 48 w 144"/>
                  <a:gd name="T11" fmla="*/ 336 h 384"/>
                  <a:gd name="T12" fmla="*/ 48 w 144"/>
                  <a:gd name="T13" fmla="*/ 96 h 384"/>
                  <a:gd name="T14" fmla="*/ 0 w 144"/>
                  <a:gd name="T15" fmla="*/ 96 h 384"/>
                  <a:gd name="T16" fmla="*/ 0 w 144"/>
                  <a:gd name="T17"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384">
                    <a:moveTo>
                      <a:pt x="0" y="0"/>
                    </a:moveTo>
                    <a:lnTo>
                      <a:pt x="144" y="0"/>
                    </a:lnTo>
                    <a:lnTo>
                      <a:pt x="144" y="384"/>
                    </a:lnTo>
                    <a:lnTo>
                      <a:pt x="0" y="384"/>
                    </a:lnTo>
                    <a:lnTo>
                      <a:pt x="0" y="336"/>
                    </a:lnTo>
                    <a:lnTo>
                      <a:pt x="48" y="336"/>
                    </a:lnTo>
                    <a:lnTo>
                      <a:pt x="48" y="96"/>
                    </a:lnTo>
                    <a:lnTo>
                      <a:pt x="0" y="96"/>
                    </a:lnTo>
                    <a:lnTo>
                      <a:pt x="0" y="0"/>
                    </a:lnTo>
                    <a:close/>
                  </a:path>
                </a:pathLst>
              </a:custGeom>
              <a:solidFill>
                <a:schemeClr val="bg2"/>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 name="Freeform 137">
                <a:extLst>
                  <a:ext uri="{FF2B5EF4-FFF2-40B4-BE49-F238E27FC236}">
                    <a16:creationId xmlns:a16="http://schemas.microsoft.com/office/drawing/2014/main" id="{9B6A40B7-F067-C32E-CB29-2774BC39D142}"/>
                  </a:ext>
                </a:extLst>
              </p:cNvPr>
              <p:cNvSpPr>
                <a:spLocks/>
              </p:cNvSpPr>
              <p:nvPr/>
            </p:nvSpPr>
            <p:spPr bwMode="auto">
              <a:xfrm flipH="1">
                <a:off x="1776" y="3024"/>
                <a:ext cx="144" cy="384"/>
              </a:xfrm>
              <a:custGeom>
                <a:avLst/>
                <a:gdLst>
                  <a:gd name="T0" fmla="*/ 0 w 144"/>
                  <a:gd name="T1" fmla="*/ 0 h 384"/>
                  <a:gd name="T2" fmla="*/ 144 w 144"/>
                  <a:gd name="T3" fmla="*/ 0 h 384"/>
                  <a:gd name="T4" fmla="*/ 144 w 144"/>
                  <a:gd name="T5" fmla="*/ 384 h 384"/>
                  <a:gd name="T6" fmla="*/ 0 w 144"/>
                  <a:gd name="T7" fmla="*/ 384 h 384"/>
                  <a:gd name="T8" fmla="*/ 0 w 144"/>
                  <a:gd name="T9" fmla="*/ 336 h 384"/>
                  <a:gd name="T10" fmla="*/ 48 w 144"/>
                  <a:gd name="T11" fmla="*/ 336 h 384"/>
                  <a:gd name="T12" fmla="*/ 48 w 144"/>
                  <a:gd name="T13" fmla="*/ 96 h 384"/>
                  <a:gd name="T14" fmla="*/ 0 w 144"/>
                  <a:gd name="T15" fmla="*/ 96 h 384"/>
                  <a:gd name="T16" fmla="*/ 0 w 144"/>
                  <a:gd name="T17"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384">
                    <a:moveTo>
                      <a:pt x="0" y="0"/>
                    </a:moveTo>
                    <a:lnTo>
                      <a:pt x="144" y="0"/>
                    </a:lnTo>
                    <a:lnTo>
                      <a:pt x="144" y="384"/>
                    </a:lnTo>
                    <a:lnTo>
                      <a:pt x="0" y="384"/>
                    </a:lnTo>
                    <a:lnTo>
                      <a:pt x="0" y="336"/>
                    </a:lnTo>
                    <a:lnTo>
                      <a:pt x="48" y="336"/>
                    </a:lnTo>
                    <a:lnTo>
                      <a:pt x="48" y="96"/>
                    </a:lnTo>
                    <a:lnTo>
                      <a:pt x="0" y="96"/>
                    </a:lnTo>
                    <a:lnTo>
                      <a:pt x="0" y="0"/>
                    </a:lnTo>
                    <a:close/>
                  </a:path>
                </a:pathLst>
              </a:custGeom>
              <a:solidFill>
                <a:schemeClr val="bg2"/>
              </a:solidFill>
              <a:ln w="127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 name="Oval 138">
                <a:extLst>
                  <a:ext uri="{FF2B5EF4-FFF2-40B4-BE49-F238E27FC236}">
                    <a16:creationId xmlns:a16="http://schemas.microsoft.com/office/drawing/2014/main" id="{0BF17F26-73DE-B883-DCB7-A86762C0851F}"/>
                  </a:ext>
                </a:extLst>
              </p:cNvPr>
              <p:cNvSpPr>
                <a:spLocks noChangeArrowheads="1"/>
              </p:cNvSpPr>
              <p:nvPr/>
            </p:nvSpPr>
            <p:spPr bwMode="auto">
              <a:xfrm>
                <a:off x="1910" y="3100"/>
                <a:ext cx="114" cy="114"/>
              </a:xfrm>
              <a:prstGeom prst="ellipse">
                <a:avLst/>
              </a:prstGeom>
              <a:gradFill rotWithShape="0">
                <a:gsLst>
                  <a:gs pos="0">
                    <a:schemeClr val="bg1"/>
                  </a:gs>
                  <a:gs pos="100000">
                    <a:schemeClr val="bg1">
                      <a:gamma/>
                      <a:shade val="26275"/>
                      <a:invGamma/>
                    </a:schemeClr>
                  </a:gs>
                </a:gsLst>
                <a:path path="shape">
                  <a:fillToRect l="50000" t="50000" r="50000" b="50000"/>
                </a:path>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9" name="Group 139">
                <a:extLst>
                  <a:ext uri="{FF2B5EF4-FFF2-40B4-BE49-F238E27FC236}">
                    <a16:creationId xmlns:a16="http://schemas.microsoft.com/office/drawing/2014/main" id="{DE9C6AE4-F5DB-D51B-8171-76E342DB7911}"/>
                  </a:ext>
                </a:extLst>
              </p:cNvPr>
              <p:cNvGrpSpPr>
                <a:grpSpLocks/>
              </p:cNvGrpSpPr>
              <p:nvPr/>
            </p:nvGrpSpPr>
            <p:grpSpPr bwMode="auto">
              <a:xfrm>
                <a:off x="1908" y="3214"/>
                <a:ext cx="120" cy="144"/>
                <a:chOff x="1824" y="3239"/>
                <a:chExt cx="120" cy="121"/>
              </a:xfrm>
            </p:grpSpPr>
            <p:sp>
              <p:nvSpPr>
                <p:cNvPr id="110" name="Line 140">
                  <a:extLst>
                    <a:ext uri="{FF2B5EF4-FFF2-40B4-BE49-F238E27FC236}">
                      <a16:creationId xmlns:a16="http://schemas.microsoft.com/office/drawing/2014/main" id="{DFEFDBDC-79EB-DA67-CB2C-CC3DAAA97B4D}"/>
                    </a:ext>
                  </a:extLst>
                </p:cNvPr>
                <p:cNvSpPr>
                  <a:spLocks noChangeShapeType="1"/>
                </p:cNvSpPr>
                <p:nvPr/>
              </p:nvSpPr>
              <p:spPr bwMode="auto">
                <a:xfrm>
                  <a:off x="1824" y="3239"/>
                  <a:ext cx="120" cy="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 name="Line 141">
                  <a:extLst>
                    <a:ext uri="{FF2B5EF4-FFF2-40B4-BE49-F238E27FC236}">
                      <a16:creationId xmlns:a16="http://schemas.microsoft.com/office/drawing/2014/main" id="{DB2F27EA-1C32-CBEF-C1C5-4994C375C7E7}"/>
                    </a:ext>
                  </a:extLst>
                </p:cNvPr>
                <p:cNvSpPr>
                  <a:spLocks noChangeShapeType="1"/>
                </p:cNvSpPr>
                <p:nvPr/>
              </p:nvSpPr>
              <p:spPr bwMode="auto">
                <a:xfrm flipH="1">
                  <a:off x="1824" y="3264"/>
                  <a:ext cx="120" cy="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Line 142">
                  <a:extLst>
                    <a:ext uri="{FF2B5EF4-FFF2-40B4-BE49-F238E27FC236}">
                      <a16:creationId xmlns:a16="http://schemas.microsoft.com/office/drawing/2014/main" id="{12E7FBF8-8690-819E-020F-8568C3EC805B}"/>
                    </a:ext>
                  </a:extLst>
                </p:cNvPr>
                <p:cNvSpPr>
                  <a:spLocks noChangeShapeType="1"/>
                </p:cNvSpPr>
                <p:nvPr/>
              </p:nvSpPr>
              <p:spPr bwMode="auto">
                <a:xfrm>
                  <a:off x="1824" y="3287"/>
                  <a:ext cx="120" cy="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 name="Line 143">
                  <a:extLst>
                    <a:ext uri="{FF2B5EF4-FFF2-40B4-BE49-F238E27FC236}">
                      <a16:creationId xmlns:a16="http://schemas.microsoft.com/office/drawing/2014/main" id="{0A743A08-B76C-0995-3109-601E225B594C}"/>
                    </a:ext>
                  </a:extLst>
                </p:cNvPr>
                <p:cNvSpPr>
                  <a:spLocks noChangeShapeType="1"/>
                </p:cNvSpPr>
                <p:nvPr/>
              </p:nvSpPr>
              <p:spPr bwMode="auto">
                <a:xfrm flipH="1">
                  <a:off x="1824" y="3312"/>
                  <a:ext cx="120" cy="2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Line 144">
                  <a:extLst>
                    <a:ext uri="{FF2B5EF4-FFF2-40B4-BE49-F238E27FC236}">
                      <a16:creationId xmlns:a16="http://schemas.microsoft.com/office/drawing/2014/main" id="{2A0CFF9A-308B-FEE4-62C6-8CAA553D84FA}"/>
                    </a:ext>
                  </a:extLst>
                </p:cNvPr>
                <p:cNvSpPr>
                  <a:spLocks noChangeShapeType="1"/>
                </p:cNvSpPr>
                <p:nvPr/>
              </p:nvSpPr>
              <p:spPr bwMode="auto">
                <a:xfrm>
                  <a:off x="1824" y="3335"/>
                  <a:ext cx="120" cy="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4" name="Line 165">
              <a:extLst>
                <a:ext uri="{FF2B5EF4-FFF2-40B4-BE49-F238E27FC236}">
                  <a16:creationId xmlns:a16="http://schemas.microsoft.com/office/drawing/2014/main" id="{83C7657C-800E-B425-5237-0C53A976D805}"/>
                </a:ext>
              </a:extLst>
            </p:cNvPr>
            <p:cNvSpPr>
              <a:spLocks noChangeShapeType="1"/>
            </p:cNvSpPr>
            <p:nvPr/>
          </p:nvSpPr>
          <p:spPr bwMode="auto">
            <a:xfrm flipV="1">
              <a:off x="2891469" y="4460308"/>
              <a:ext cx="0" cy="751173"/>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Line 166">
              <a:extLst>
                <a:ext uri="{FF2B5EF4-FFF2-40B4-BE49-F238E27FC236}">
                  <a16:creationId xmlns:a16="http://schemas.microsoft.com/office/drawing/2014/main" id="{79D4E07D-B7DB-1F81-F7BD-EB4D20BE48BD}"/>
                </a:ext>
              </a:extLst>
            </p:cNvPr>
            <p:cNvSpPr>
              <a:spLocks noChangeShapeType="1"/>
            </p:cNvSpPr>
            <p:nvPr/>
          </p:nvSpPr>
          <p:spPr bwMode="auto">
            <a:xfrm flipH="1">
              <a:off x="2891469" y="5712264"/>
              <a:ext cx="0" cy="813772"/>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5" name="Line 178">
            <a:extLst>
              <a:ext uri="{FF2B5EF4-FFF2-40B4-BE49-F238E27FC236}">
                <a16:creationId xmlns:a16="http://schemas.microsoft.com/office/drawing/2014/main" id="{3C555F8F-33D5-1669-67AE-D2844AFC3CA7}"/>
              </a:ext>
            </a:extLst>
          </p:cNvPr>
          <p:cNvSpPr>
            <a:spLocks noChangeShapeType="1"/>
          </p:cNvSpPr>
          <p:nvPr/>
        </p:nvSpPr>
        <p:spPr bwMode="auto">
          <a:xfrm>
            <a:off x="4022273" y="2982438"/>
            <a:ext cx="0" cy="500783"/>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Line 179">
            <a:extLst>
              <a:ext uri="{FF2B5EF4-FFF2-40B4-BE49-F238E27FC236}">
                <a16:creationId xmlns:a16="http://schemas.microsoft.com/office/drawing/2014/main" id="{82CE538E-EF36-AA21-B1D8-9D72A9EDBA29}"/>
              </a:ext>
            </a:extLst>
          </p:cNvPr>
          <p:cNvSpPr>
            <a:spLocks noChangeShapeType="1"/>
          </p:cNvSpPr>
          <p:nvPr/>
        </p:nvSpPr>
        <p:spPr bwMode="auto">
          <a:xfrm>
            <a:off x="4773445" y="2982438"/>
            <a:ext cx="250391" cy="500783"/>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Line 180">
            <a:extLst>
              <a:ext uri="{FF2B5EF4-FFF2-40B4-BE49-F238E27FC236}">
                <a16:creationId xmlns:a16="http://schemas.microsoft.com/office/drawing/2014/main" id="{C6FC2D51-FE28-4A8E-3023-DF743ACCD6F5}"/>
              </a:ext>
            </a:extLst>
          </p:cNvPr>
          <p:cNvSpPr>
            <a:spLocks noChangeShapeType="1"/>
          </p:cNvSpPr>
          <p:nvPr/>
        </p:nvSpPr>
        <p:spPr bwMode="auto">
          <a:xfrm flipH="1">
            <a:off x="4773445" y="2982438"/>
            <a:ext cx="250391" cy="500783"/>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Line 194">
            <a:extLst>
              <a:ext uri="{FF2B5EF4-FFF2-40B4-BE49-F238E27FC236}">
                <a16:creationId xmlns:a16="http://schemas.microsoft.com/office/drawing/2014/main" id="{C4C7CF15-302A-76A5-70F0-71785689BAEA}"/>
              </a:ext>
            </a:extLst>
          </p:cNvPr>
          <p:cNvSpPr>
            <a:spLocks noChangeShapeType="1"/>
          </p:cNvSpPr>
          <p:nvPr/>
        </p:nvSpPr>
        <p:spPr bwMode="auto">
          <a:xfrm>
            <a:off x="4272663" y="2982438"/>
            <a:ext cx="0" cy="125195"/>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 name="Line 195">
            <a:extLst>
              <a:ext uri="{FF2B5EF4-FFF2-40B4-BE49-F238E27FC236}">
                <a16:creationId xmlns:a16="http://schemas.microsoft.com/office/drawing/2014/main" id="{5B448369-D72D-EF0E-BC48-A60C07AAEE70}"/>
              </a:ext>
            </a:extLst>
          </p:cNvPr>
          <p:cNvSpPr>
            <a:spLocks noChangeShapeType="1"/>
          </p:cNvSpPr>
          <p:nvPr/>
        </p:nvSpPr>
        <p:spPr bwMode="auto">
          <a:xfrm>
            <a:off x="4210066" y="3107635"/>
            <a:ext cx="125195" cy="0"/>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Line 196">
            <a:extLst>
              <a:ext uri="{FF2B5EF4-FFF2-40B4-BE49-F238E27FC236}">
                <a16:creationId xmlns:a16="http://schemas.microsoft.com/office/drawing/2014/main" id="{0D92DE22-8C83-A3C7-339F-C82BBA6F8925}"/>
              </a:ext>
            </a:extLst>
          </p:cNvPr>
          <p:cNvSpPr>
            <a:spLocks noChangeShapeType="1"/>
          </p:cNvSpPr>
          <p:nvPr/>
        </p:nvSpPr>
        <p:spPr bwMode="auto">
          <a:xfrm>
            <a:off x="4523054" y="2982438"/>
            <a:ext cx="0" cy="125195"/>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 name="Line 197">
            <a:extLst>
              <a:ext uri="{FF2B5EF4-FFF2-40B4-BE49-F238E27FC236}">
                <a16:creationId xmlns:a16="http://schemas.microsoft.com/office/drawing/2014/main" id="{FE9454EF-8CDC-0643-DC43-D192C27C35DF}"/>
              </a:ext>
            </a:extLst>
          </p:cNvPr>
          <p:cNvSpPr>
            <a:spLocks noChangeShapeType="1"/>
          </p:cNvSpPr>
          <p:nvPr/>
        </p:nvSpPr>
        <p:spPr bwMode="auto">
          <a:xfrm>
            <a:off x="4460457" y="3107635"/>
            <a:ext cx="125195" cy="0"/>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2" name="Group 200">
            <a:extLst>
              <a:ext uri="{FF2B5EF4-FFF2-40B4-BE49-F238E27FC236}">
                <a16:creationId xmlns:a16="http://schemas.microsoft.com/office/drawing/2014/main" id="{DE75FA5B-4B50-03F3-A5CC-0CF697B9E322}"/>
              </a:ext>
            </a:extLst>
          </p:cNvPr>
          <p:cNvGrpSpPr>
            <a:grpSpLocks/>
          </p:cNvGrpSpPr>
          <p:nvPr/>
        </p:nvGrpSpPr>
        <p:grpSpPr bwMode="auto">
          <a:xfrm flipV="1">
            <a:off x="4460457" y="3358025"/>
            <a:ext cx="125195" cy="125195"/>
            <a:chOff x="2784" y="1296"/>
            <a:chExt cx="96" cy="96"/>
          </a:xfrm>
        </p:grpSpPr>
        <p:sp>
          <p:nvSpPr>
            <p:cNvPr id="123" name="Line 198">
              <a:extLst>
                <a:ext uri="{FF2B5EF4-FFF2-40B4-BE49-F238E27FC236}">
                  <a16:creationId xmlns:a16="http://schemas.microsoft.com/office/drawing/2014/main" id="{ED940F13-BC9A-DEF7-1239-399916B86187}"/>
                </a:ext>
              </a:extLst>
            </p:cNvPr>
            <p:cNvSpPr>
              <a:spLocks noChangeShapeType="1"/>
            </p:cNvSpPr>
            <p:nvPr/>
          </p:nvSpPr>
          <p:spPr bwMode="auto">
            <a:xfrm>
              <a:off x="2832" y="1296"/>
              <a:ext cx="0" cy="96"/>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Line 199">
              <a:extLst>
                <a:ext uri="{FF2B5EF4-FFF2-40B4-BE49-F238E27FC236}">
                  <a16:creationId xmlns:a16="http://schemas.microsoft.com/office/drawing/2014/main" id="{2DA91829-5FFD-4948-8AE7-563FEE860702}"/>
                </a:ext>
              </a:extLst>
            </p:cNvPr>
            <p:cNvSpPr>
              <a:spLocks noChangeShapeType="1"/>
            </p:cNvSpPr>
            <p:nvPr/>
          </p:nvSpPr>
          <p:spPr bwMode="auto">
            <a:xfrm>
              <a:off x="2784" y="1392"/>
              <a:ext cx="96"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5" name="Group 201">
            <a:extLst>
              <a:ext uri="{FF2B5EF4-FFF2-40B4-BE49-F238E27FC236}">
                <a16:creationId xmlns:a16="http://schemas.microsoft.com/office/drawing/2014/main" id="{CE75272A-423A-10C7-B956-289B2A8A7FC0}"/>
              </a:ext>
            </a:extLst>
          </p:cNvPr>
          <p:cNvGrpSpPr>
            <a:grpSpLocks/>
          </p:cNvGrpSpPr>
          <p:nvPr/>
        </p:nvGrpSpPr>
        <p:grpSpPr bwMode="auto">
          <a:xfrm flipV="1">
            <a:off x="4210066" y="3358025"/>
            <a:ext cx="125195" cy="125195"/>
            <a:chOff x="2784" y="1296"/>
            <a:chExt cx="96" cy="96"/>
          </a:xfrm>
        </p:grpSpPr>
        <p:sp>
          <p:nvSpPr>
            <p:cNvPr id="126" name="Line 202">
              <a:extLst>
                <a:ext uri="{FF2B5EF4-FFF2-40B4-BE49-F238E27FC236}">
                  <a16:creationId xmlns:a16="http://schemas.microsoft.com/office/drawing/2014/main" id="{7B0A2429-5678-9131-7D3A-378738FC3395}"/>
                </a:ext>
              </a:extLst>
            </p:cNvPr>
            <p:cNvSpPr>
              <a:spLocks noChangeShapeType="1"/>
            </p:cNvSpPr>
            <p:nvPr/>
          </p:nvSpPr>
          <p:spPr bwMode="auto">
            <a:xfrm>
              <a:off x="2832" y="1296"/>
              <a:ext cx="0" cy="96"/>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Line 203">
              <a:extLst>
                <a:ext uri="{FF2B5EF4-FFF2-40B4-BE49-F238E27FC236}">
                  <a16:creationId xmlns:a16="http://schemas.microsoft.com/office/drawing/2014/main" id="{B1EC204B-D601-A2EE-6016-66B7FAEDF2E4}"/>
                </a:ext>
              </a:extLst>
            </p:cNvPr>
            <p:cNvSpPr>
              <a:spLocks noChangeShapeType="1"/>
            </p:cNvSpPr>
            <p:nvPr/>
          </p:nvSpPr>
          <p:spPr bwMode="auto">
            <a:xfrm>
              <a:off x="2784" y="1392"/>
              <a:ext cx="96"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8" name="Line 205">
            <a:extLst>
              <a:ext uri="{FF2B5EF4-FFF2-40B4-BE49-F238E27FC236}">
                <a16:creationId xmlns:a16="http://schemas.microsoft.com/office/drawing/2014/main" id="{C355E0D9-F2EA-8B38-4DFA-2471EC3A9AFC}"/>
              </a:ext>
            </a:extLst>
          </p:cNvPr>
          <p:cNvSpPr>
            <a:spLocks noChangeShapeType="1"/>
          </p:cNvSpPr>
          <p:nvPr/>
        </p:nvSpPr>
        <p:spPr bwMode="auto">
          <a:xfrm>
            <a:off x="4648250" y="2982438"/>
            <a:ext cx="0" cy="5007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29" name="肘形连接符 127">
            <a:extLst>
              <a:ext uri="{FF2B5EF4-FFF2-40B4-BE49-F238E27FC236}">
                <a16:creationId xmlns:a16="http://schemas.microsoft.com/office/drawing/2014/main" id="{7818BE8C-CD99-CAE6-75E4-DD1150035A70}"/>
              </a:ext>
            </a:extLst>
          </p:cNvPr>
          <p:cNvCxnSpPr>
            <a:endCxn id="24" idx="2"/>
          </p:cNvCxnSpPr>
          <p:nvPr/>
        </p:nvCxnSpPr>
        <p:spPr bwMode="auto">
          <a:xfrm>
            <a:off x="4018230" y="2740889"/>
            <a:ext cx="3735475" cy="1439940"/>
          </a:xfrm>
          <a:prstGeom prst="bentConnector3">
            <a:avLst>
              <a:gd name="adj1" fmla="val 72099"/>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Freeform 122">
            <a:extLst>
              <a:ext uri="{FF2B5EF4-FFF2-40B4-BE49-F238E27FC236}">
                <a16:creationId xmlns:a16="http://schemas.microsoft.com/office/drawing/2014/main" id="{65161E2E-5DD8-1099-AED7-256C835E3B04}"/>
              </a:ext>
            </a:extLst>
          </p:cNvPr>
          <p:cNvSpPr>
            <a:spLocks/>
          </p:cNvSpPr>
          <p:nvPr/>
        </p:nvSpPr>
        <p:spPr bwMode="auto">
          <a:xfrm>
            <a:off x="7347822" y="5663250"/>
            <a:ext cx="1275996" cy="240560"/>
          </a:xfrm>
          <a:custGeom>
            <a:avLst/>
            <a:gdLst>
              <a:gd name="T0" fmla="*/ 0 w 720"/>
              <a:gd name="T1" fmla="*/ 3175 h 146"/>
              <a:gd name="T2" fmla="*/ 228600 w 720"/>
              <a:gd name="T3" fmla="*/ 3175 h 146"/>
              <a:gd name="T4" fmla="*/ 419100 w 720"/>
              <a:gd name="T5" fmla="*/ 158750 h 146"/>
              <a:gd name="T6" fmla="*/ 723900 w 720"/>
              <a:gd name="T7" fmla="*/ 158750 h 146"/>
              <a:gd name="T8" fmla="*/ 876300 w 720"/>
              <a:gd name="T9" fmla="*/ 0 h 146"/>
              <a:gd name="T10" fmla="*/ 1143000 w 720"/>
              <a:gd name="T11" fmla="*/ 3175 h 146"/>
              <a:gd name="T12" fmla="*/ 1143000 w 720"/>
              <a:gd name="T13" fmla="*/ 79375 h 146"/>
              <a:gd name="T14" fmla="*/ 901700 w 720"/>
              <a:gd name="T15" fmla="*/ 79375 h 146"/>
              <a:gd name="T16" fmla="*/ 746125 w 720"/>
              <a:gd name="T17" fmla="*/ 231775 h 146"/>
              <a:gd name="T18" fmla="*/ 381000 w 720"/>
              <a:gd name="T19" fmla="*/ 231775 h 146"/>
              <a:gd name="T20" fmla="*/ 206375 w 720"/>
              <a:gd name="T21" fmla="*/ 79375 h 146"/>
              <a:gd name="T22" fmla="*/ 0 w 720"/>
              <a:gd name="T23" fmla="*/ 79375 h 146"/>
              <a:gd name="T24" fmla="*/ 0 w 720"/>
              <a:gd name="T25" fmla="*/ 3175 h 1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20" h="146">
                <a:moveTo>
                  <a:pt x="0" y="2"/>
                </a:moveTo>
                <a:lnTo>
                  <a:pt x="144" y="2"/>
                </a:lnTo>
                <a:lnTo>
                  <a:pt x="264" y="100"/>
                </a:lnTo>
                <a:lnTo>
                  <a:pt x="456" y="100"/>
                </a:lnTo>
                <a:lnTo>
                  <a:pt x="552" y="0"/>
                </a:lnTo>
                <a:lnTo>
                  <a:pt x="720" y="2"/>
                </a:lnTo>
                <a:lnTo>
                  <a:pt x="720" y="50"/>
                </a:lnTo>
                <a:lnTo>
                  <a:pt x="568" y="50"/>
                </a:lnTo>
                <a:lnTo>
                  <a:pt x="470" y="146"/>
                </a:lnTo>
                <a:lnTo>
                  <a:pt x="240" y="146"/>
                </a:lnTo>
                <a:lnTo>
                  <a:pt x="130" y="50"/>
                </a:lnTo>
                <a:lnTo>
                  <a:pt x="0" y="50"/>
                </a:lnTo>
                <a:lnTo>
                  <a:pt x="0" y="2"/>
                </a:lnTo>
                <a:close/>
              </a:path>
            </a:pathLst>
          </a:cu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 name="Line 152">
            <a:extLst>
              <a:ext uri="{FF2B5EF4-FFF2-40B4-BE49-F238E27FC236}">
                <a16:creationId xmlns:a16="http://schemas.microsoft.com/office/drawing/2014/main" id="{FC7F947D-2574-EF72-8E77-47B1D087ADA9}"/>
              </a:ext>
            </a:extLst>
          </p:cNvPr>
          <p:cNvSpPr>
            <a:spLocks noChangeShapeType="1"/>
          </p:cNvSpPr>
          <p:nvPr/>
        </p:nvSpPr>
        <p:spPr bwMode="auto">
          <a:xfrm flipH="1" flipV="1">
            <a:off x="3743328" y="4560322"/>
            <a:ext cx="0" cy="688575"/>
          </a:xfrm>
          <a:prstGeom prst="line">
            <a:avLst/>
          </a:prstGeom>
          <a:noFill/>
          <a:ln w="57150">
            <a:solidFill>
              <a:srgbClr val="FE9B0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 name="TextBox 2">
            <a:extLst>
              <a:ext uri="{FF2B5EF4-FFF2-40B4-BE49-F238E27FC236}">
                <a16:creationId xmlns:a16="http://schemas.microsoft.com/office/drawing/2014/main" id="{5F7936F8-9EF0-FF3B-82FA-1377E3246441}"/>
              </a:ext>
            </a:extLst>
          </p:cNvPr>
          <p:cNvSpPr txBox="1"/>
          <p:nvPr/>
        </p:nvSpPr>
        <p:spPr>
          <a:xfrm>
            <a:off x="1066800" y="2559064"/>
            <a:ext cx="1168400" cy="369332"/>
          </a:xfrm>
          <a:prstGeom prst="rect">
            <a:avLst/>
          </a:prstGeom>
          <a:noFill/>
        </p:spPr>
        <p:txBody>
          <a:bodyPr wrap="square" rtlCol="0">
            <a:spAutoFit/>
          </a:bodyPr>
          <a:lstStyle/>
          <a:p>
            <a:pPr algn="ctr"/>
            <a:r>
              <a:rPr lang="zh-CN" altLang="en-US" b="1" dirty="0">
                <a:latin typeface="黑体" panose="02010609060101010101" pitchFamily="49" charset="-122"/>
                <a:ea typeface="黑体" panose="02010609060101010101" pitchFamily="49" charset="-122"/>
              </a:rPr>
              <a:t>节流阀</a:t>
            </a:r>
          </a:p>
        </p:txBody>
      </p:sp>
      <p:grpSp>
        <p:nvGrpSpPr>
          <p:cNvPr id="133" name="组合 132">
            <a:extLst>
              <a:ext uri="{FF2B5EF4-FFF2-40B4-BE49-F238E27FC236}">
                <a16:creationId xmlns:a16="http://schemas.microsoft.com/office/drawing/2014/main" id="{AB9F06B9-71CD-2983-6D4B-6AFDA4AF2F1C}"/>
              </a:ext>
            </a:extLst>
          </p:cNvPr>
          <p:cNvGrpSpPr/>
          <p:nvPr/>
        </p:nvGrpSpPr>
        <p:grpSpPr>
          <a:xfrm>
            <a:off x="1066800" y="3050560"/>
            <a:ext cx="1168400" cy="1215997"/>
            <a:chOff x="1066800" y="3050560"/>
            <a:chExt cx="1168400" cy="1215997"/>
          </a:xfrm>
        </p:grpSpPr>
        <p:sp>
          <p:nvSpPr>
            <p:cNvPr id="134" name="矩形 133">
              <a:extLst>
                <a:ext uri="{FF2B5EF4-FFF2-40B4-BE49-F238E27FC236}">
                  <a16:creationId xmlns:a16="http://schemas.microsoft.com/office/drawing/2014/main" id="{E4B96368-3565-7F19-B675-5BB9BC263D74}"/>
                </a:ext>
              </a:extLst>
            </p:cNvPr>
            <p:cNvSpPr/>
            <p:nvPr/>
          </p:nvSpPr>
          <p:spPr bwMode="auto">
            <a:xfrm>
              <a:off x="1158297" y="3050560"/>
              <a:ext cx="962434" cy="1215997"/>
            </a:xfrm>
            <a:prstGeom prst="rect">
              <a:avLst/>
            </a:prstGeom>
            <a:solidFill>
              <a:srgbClr val="FFFF00">
                <a:alpha val="5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cxnSp>
          <p:nvCxnSpPr>
            <p:cNvPr id="135" name="直接箭头连接符 134">
              <a:extLst>
                <a:ext uri="{FF2B5EF4-FFF2-40B4-BE49-F238E27FC236}">
                  <a16:creationId xmlns:a16="http://schemas.microsoft.com/office/drawing/2014/main" id="{8C38AB38-D231-D570-946A-1CCC2AB65D81}"/>
                </a:ext>
              </a:extLst>
            </p:cNvPr>
            <p:cNvCxnSpPr/>
            <p:nvPr/>
          </p:nvCxnSpPr>
          <p:spPr bwMode="auto">
            <a:xfrm flipV="1">
              <a:off x="1066800" y="3163519"/>
              <a:ext cx="1168400" cy="1053191"/>
            </a:xfrm>
            <a:prstGeom prst="straightConnector1">
              <a:avLst/>
            </a:prstGeom>
            <a:solidFill>
              <a:schemeClr val="accent1"/>
            </a:solidFill>
            <a:ln w="254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36" name="组合 135">
            <a:extLst>
              <a:ext uri="{FF2B5EF4-FFF2-40B4-BE49-F238E27FC236}">
                <a16:creationId xmlns:a16="http://schemas.microsoft.com/office/drawing/2014/main" id="{0B0CD4E9-6807-53F2-F3AC-14101F2CBD5C}"/>
              </a:ext>
            </a:extLst>
          </p:cNvPr>
          <p:cNvGrpSpPr/>
          <p:nvPr/>
        </p:nvGrpSpPr>
        <p:grpSpPr>
          <a:xfrm>
            <a:off x="3315113" y="4990082"/>
            <a:ext cx="1168400" cy="1215997"/>
            <a:chOff x="3315113" y="4990082"/>
            <a:chExt cx="1168400" cy="1215997"/>
          </a:xfrm>
        </p:grpSpPr>
        <p:sp>
          <p:nvSpPr>
            <p:cNvPr id="137" name="矩形 136">
              <a:extLst>
                <a:ext uri="{FF2B5EF4-FFF2-40B4-BE49-F238E27FC236}">
                  <a16:creationId xmlns:a16="http://schemas.microsoft.com/office/drawing/2014/main" id="{A718965C-366C-990B-F7E2-8A75B6234DCA}"/>
                </a:ext>
              </a:extLst>
            </p:cNvPr>
            <p:cNvSpPr/>
            <p:nvPr/>
          </p:nvSpPr>
          <p:spPr bwMode="auto">
            <a:xfrm>
              <a:off x="3431381" y="4990082"/>
              <a:ext cx="962434" cy="1215997"/>
            </a:xfrm>
            <a:prstGeom prst="rect">
              <a:avLst/>
            </a:prstGeom>
            <a:solidFill>
              <a:srgbClr val="FFFF00">
                <a:alpha val="5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cxnSp>
          <p:nvCxnSpPr>
            <p:cNvPr id="138" name="直接箭头连接符 137">
              <a:extLst>
                <a:ext uri="{FF2B5EF4-FFF2-40B4-BE49-F238E27FC236}">
                  <a16:creationId xmlns:a16="http://schemas.microsoft.com/office/drawing/2014/main" id="{0659ECE2-D6AE-09B2-18E5-35497AE26C1C}"/>
                </a:ext>
              </a:extLst>
            </p:cNvPr>
            <p:cNvCxnSpPr/>
            <p:nvPr/>
          </p:nvCxnSpPr>
          <p:spPr bwMode="auto">
            <a:xfrm flipV="1">
              <a:off x="3315113" y="5071484"/>
              <a:ext cx="1168400" cy="1053191"/>
            </a:xfrm>
            <a:prstGeom prst="straightConnector1">
              <a:avLst/>
            </a:prstGeom>
            <a:solidFill>
              <a:schemeClr val="accent1"/>
            </a:solidFill>
            <a:ln w="254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0" name="TextBox 138">
            <a:extLst>
              <a:ext uri="{FF2B5EF4-FFF2-40B4-BE49-F238E27FC236}">
                <a16:creationId xmlns:a16="http://schemas.microsoft.com/office/drawing/2014/main" id="{B30D821F-2F44-1F44-FF0F-3D8C1A1B81FE}"/>
              </a:ext>
            </a:extLst>
          </p:cNvPr>
          <p:cNvSpPr txBox="1"/>
          <p:nvPr/>
        </p:nvSpPr>
        <p:spPr>
          <a:xfrm>
            <a:off x="8973503" y="2426156"/>
            <a:ext cx="3685107" cy="400110"/>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b="1" dirty="0">
                <a:latin typeface="+mn-ea"/>
              </a:rPr>
              <a:t>对速度控制回路的要求</a:t>
            </a:r>
            <a:r>
              <a:rPr lang="en-US" altLang="zh-CN" sz="2000" b="1" dirty="0">
                <a:latin typeface="+mn-ea"/>
              </a:rPr>
              <a:t>:</a:t>
            </a:r>
            <a:endParaRPr lang="zh-CN" altLang="en-US" sz="2000" b="1" dirty="0">
              <a:latin typeface="+mn-ea"/>
            </a:endParaRPr>
          </a:p>
        </p:txBody>
      </p:sp>
      <p:sp>
        <p:nvSpPr>
          <p:cNvPr id="141" name="TextBox 139">
            <a:extLst>
              <a:ext uri="{FF2B5EF4-FFF2-40B4-BE49-F238E27FC236}">
                <a16:creationId xmlns:a16="http://schemas.microsoft.com/office/drawing/2014/main" id="{61940EDF-69B0-2F70-62A9-9F2A4EB54D5E}"/>
              </a:ext>
            </a:extLst>
          </p:cNvPr>
          <p:cNvSpPr txBox="1"/>
          <p:nvPr/>
        </p:nvSpPr>
        <p:spPr>
          <a:xfrm>
            <a:off x="9001542" y="2904192"/>
            <a:ext cx="3125033" cy="2554545"/>
          </a:xfrm>
          <a:prstGeom prst="rect">
            <a:avLst/>
          </a:prstGeom>
          <a:noFill/>
        </p:spPr>
        <p:txBody>
          <a:bodyPr wrap="square" rtlCol="0">
            <a:spAutoFit/>
          </a:bodyPr>
          <a:lstStyle/>
          <a:p>
            <a:pPr marL="342900" indent="-342900">
              <a:buFont typeface="Arial" panose="020B0604020202020204" pitchFamily="34" charset="0"/>
              <a:buChar char="•"/>
            </a:pPr>
            <a:r>
              <a:rPr lang="zh-CN" altLang="en-US" sz="2000" b="1" dirty="0">
                <a:latin typeface="+mj-ea"/>
                <a:ea typeface="+mj-ea"/>
              </a:rPr>
              <a:t>速度调节范围大，便于实现大范围无级调速</a:t>
            </a:r>
            <a:endParaRPr lang="en-US" altLang="zh-CN" sz="2000" b="1" dirty="0">
              <a:latin typeface="+mj-ea"/>
              <a:ea typeface="+mj-ea"/>
            </a:endParaRPr>
          </a:p>
          <a:p>
            <a:pPr marL="342900" indent="-342900">
              <a:buFont typeface="Arial" panose="020B0604020202020204" pitchFamily="34" charset="0"/>
              <a:buChar char="•"/>
            </a:pPr>
            <a:endParaRPr lang="en-US" altLang="zh-CN" sz="2000" b="1" dirty="0">
              <a:latin typeface="+mj-ea"/>
              <a:ea typeface="+mj-ea"/>
            </a:endParaRPr>
          </a:p>
          <a:p>
            <a:pPr marL="342900" indent="-342900">
              <a:buFont typeface="Arial" panose="020B0604020202020204" pitchFamily="34" charset="0"/>
              <a:buChar char="•"/>
            </a:pPr>
            <a:r>
              <a:rPr lang="zh-CN" altLang="en-US" sz="2000" b="1" dirty="0">
                <a:latin typeface="+mj-ea"/>
                <a:ea typeface="+mj-ea"/>
              </a:rPr>
              <a:t>速度受负载波动的影响要小</a:t>
            </a:r>
            <a:endParaRPr lang="en-US" altLang="zh-CN" sz="2000" b="1" dirty="0">
              <a:latin typeface="+mj-ea"/>
              <a:ea typeface="+mj-ea"/>
            </a:endParaRPr>
          </a:p>
          <a:p>
            <a:pPr marL="342900" indent="-342900">
              <a:buFont typeface="Arial" panose="020B0604020202020204" pitchFamily="34" charset="0"/>
              <a:buChar char="•"/>
            </a:pPr>
            <a:endParaRPr lang="en-US" altLang="zh-CN" sz="2000" b="1" dirty="0">
              <a:latin typeface="+mj-ea"/>
              <a:ea typeface="+mj-ea"/>
            </a:endParaRPr>
          </a:p>
          <a:p>
            <a:pPr marL="342900" indent="-342900">
              <a:buFont typeface="Arial" panose="020B0604020202020204" pitchFamily="34" charset="0"/>
              <a:buChar char="•"/>
            </a:pPr>
            <a:r>
              <a:rPr lang="zh-CN" altLang="en-US" sz="2000" b="1" dirty="0">
                <a:latin typeface="+mj-ea"/>
                <a:ea typeface="+mj-ea"/>
              </a:rPr>
              <a:t>调速过程中的能量损失要小，效率要高</a:t>
            </a:r>
          </a:p>
        </p:txBody>
      </p:sp>
      <p:sp>
        <p:nvSpPr>
          <p:cNvPr id="139" name="文本框 138">
            <a:extLst>
              <a:ext uri="{FF2B5EF4-FFF2-40B4-BE49-F238E27FC236}">
                <a16:creationId xmlns:a16="http://schemas.microsoft.com/office/drawing/2014/main" id="{CB1EB079-AA15-4975-AC3B-5E88D7CA7DBA}"/>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2/29</a:t>
            </a:r>
            <a:endParaRPr lang="zh-CN" altLang="en-US" dirty="0"/>
          </a:p>
        </p:txBody>
      </p:sp>
    </p:spTree>
    <p:extLst>
      <p:ext uri="{BB962C8B-B14F-4D97-AF65-F5344CB8AC3E}">
        <p14:creationId xmlns:p14="http://schemas.microsoft.com/office/powerpoint/2010/main" val="258939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9" name="文本框 8">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19" name="矩形 18">
            <a:extLst>
              <a:ext uri="{FF2B5EF4-FFF2-40B4-BE49-F238E27FC236}">
                <a16:creationId xmlns:a16="http://schemas.microsoft.com/office/drawing/2014/main" id="{004E913E-16A5-4687-91A8-FD711E92BFF5}"/>
              </a:ext>
            </a:extLst>
          </p:cNvPr>
          <p:cNvSpPr/>
          <p:nvPr/>
        </p:nvSpPr>
        <p:spPr>
          <a:xfrm>
            <a:off x="476573" y="1299315"/>
            <a:ext cx="6775984" cy="4412875"/>
          </a:xfrm>
          <a:prstGeom prst="rect">
            <a:avLst/>
          </a:prstGeom>
        </p:spPr>
        <p:txBody>
          <a:bodyPr wrap="square">
            <a:spAutoFit/>
          </a:bodyPr>
          <a:lstStyle/>
          <a:p>
            <a:pPr algn="just">
              <a:lnSpc>
                <a:spcPct val="200000"/>
              </a:lnSpc>
            </a:pPr>
            <a:r>
              <a:rPr lang="zh-CN" altLang="en-US" sz="2400" dirty="0">
                <a:solidFill>
                  <a:schemeClr val="tx1">
                    <a:lumMod val="75000"/>
                    <a:lumOff val="25000"/>
                  </a:schemeClr>
                </a:solidFill>
                <a:latin typeface="+mj-ea"/>
                <a:ea typeface="+mj-ea"/>
              </a:rPr>
              <a:t>节流调速回路的工作原理</a:t>
            </a:r>
            <a:r>
              <a:rPr lang="en-US" altLang="zh-CN" sz="2400" dirty="0">
                <a:solidFill>
                  <a:schemeClr val="tx1">
                    <a:lumMod val="75000"/>
                    <a:lumOff val="25000"/>
                  </a:schemeClr>
                </a:solidFill>
                <a:latin typeface="+mj-ea"/>
                <a:ea typeface="+mj-ea"/>
              </a:rPr>
              <a:t>,</a:t>
            </a:r>
            <a:r>
              <a:rPr lang="zh-CN" altLang="en-US" sz="2400" b="1" dirty="0">
                <a:solidFill>
                  <a:srgbClr val="FF0000"/>
                </a:solidFill>
                <a:latin typeface="+mj-ea"/>
                <a:ea typeface="+mj-ea"/>
              </a:rPr>
              <a:t>是通过改变回路中流量控制元件</a:t>
            </a:r>
            <a:r>
              <a:rPr lang="zh-CN" altLang="en-US" sz="2400" b="1" dirty="0">
                <a:solidFill>
                  <a:srgbClr val="0070C0"/>
                </a:solidFill>
                <a:latin typeface="+mj-ea"/>
                <a:ea typeface="+mj-ea"/>
              </a:rPr>
              <a:t>通流截面积的大小</a:t>
            </a:r>
            <a:r>
              <a:rPr lang="zh-CN" altLang="en-US" sz="2400" b="1" dirty="0">
                <a:solidFill>
                  <a:srgbClr val="FF0000"/>
                </a:solidFill>
                <a:latin typeface="+mj-ea"/>
                <a:ea typeface="+mj-ea"/>
              </a:rPr>
              <a:t>来控制流入执行元件或自执行元件流出的流量</a:t>
            </a:r>
            <a:r>
              <a:rPr lang="en-US" altLang="zh-CN" sz="2400" b="1" dirty="0">
                <a:solidFill>
                  <a:srgbClr val="FF0000"/>
                </a:solidFill>
                <a:latin typeface="+mj-ea"/>
                <a:ea typeface="+mj-ea"/>
              </a:rPr>
              <a:t>,</a:t>
            </a:r>
            <a:r>
              <a:rPr lang="zh-CN" altLang="en-US" sz="2400" b="1" dirty="0">
                <a:solidFill>
                  <a:srgbClr val="FF0000"/>
                </a:solidFill>
                <a:latin typeface="+mj-ea"/>
                <a:ea typeface="+mj-ea"/>
              </a:rPr>
              <a:t>以调节其运动速度</a:t>
            </a:r>
            <a:r>
              <a:rPr lang="zh-CN" altLang="en-US" sz="2400" dirty="0">
                <a:solidFill>
                  <a:schemeClr val="tx1">
                    <a:lumMod val="75000"/>
                    <a:lumOff val="25000"/>
                  </a:schemeClr>
                </a:solidFill>
                <a:latin typeface="+mj-ea"/>
                <a:ea typeface="+mj-ea"/>
              </a:rPr>
              <a:t>。      这种回路按其在工作中回路压力是否随负载变化而分成</a:t>
            </a:r>
            <a:r>
              <a:rPr lang="zh-CN" altLang="en-US" sz="2400" b="1" dirty="0">
                <a:solidFill>
                  <a:srgbClr val="0070C0"/>
                </a:solidFill>
                <a:latin typeface="+mj-ea"/>
                <a:ea typeface="+mj-ea"/>
              </a:rPr>
              <a:t>定压式</a:t>
            </a:r>
            <a:r>
              <a:rPr lang="zh-CN" altLang="en-US" sz="2400" b="1" dirty="0">
                <a:solidFill>
                  <a:srgbClr val="FF0000"/>
                </a:solidFill>
                <a:latin typeface="+mj-ea"/>
                <a:ea typeface="+mj-ea"/>
              </a:rPr>
              <a:t>节流调速回路</a:t>
            </a:r>
            <a:r>
              <a:rPr lang="zh-CN" altLang="en-US" sz="2400" dirty="0">
                <a:solidFill>
                  <a:schemeClr val="tx1">
                    <a:lumMod val="75000"/>
                    <a:lumOff val="25000"/>
                  </a:schemeClr>
                </a:solidFill>
                <a:latin typeface="+mj-ea"/>
                <a:ea typeface="+mj-ea"/>
              </a:rPr>
              <a:t>和</a:t>
            </a:r>
            <a:r>
              <a:rPr lang="zh-CN" altLang="en-US" sz="2400" b="1" dirty="0">
                <a:solidFill>
                  <a:srgbClr val="0070C0"/>
                </a:solidFill>
                <a:latin typeface="+mj-ea"/>
                <a:ea typeface="+mj-ea"/>
              </a:rPr>
              <a:t>变压式</a:t>
            </a:r>
            <a:r>
              <a:rPr lang="zh-CN" altLang="en-US" sz="2400" b="1" dirty="0">
                <a:solidFill>
                  <a:srgbClr val="FF0000"/>
                </a:solidFill>
                <a:latin typeface="+mj-ea"/>
                <a:ea typeface="+mj-ea"/>
              </a:rPr>
              <a:t>节流调速回路</a:t>
            </a:r>
            <a:r>
              <a:rPr lang="zh-CN" altLang="en-US" sz="2400" dirty="0">
                <a:solidFill>
                  <a:schemeClr val="tx1">
                    <a:lumMod val="75000"/>
                    <a:lumOff val="25000"/>
                  </a:schemeClr>
                </a:solidFill>
                <a:latin typeface="+mj-ea"/>
                <a:ea typeface="+mj-ea"/>
              </a:rPr>
              <a:t>两种。</a:t>
            </a:r>
          </a:p>
        </p:txBody>
      </p:sp>
      <p:sp>
        <p:nvSpPr>
          <p:cNvPr id="25" name="矩形 24">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9BFCFCED-C0F6-B195-E21B-BBCF57BE7665}"/>
              </a:ext>
            </a:extLst>
          </p:cNvPr>
          <p:cNvGrpSpPr/>
          <p:nvPr/>
        </p:nvGrpSpPr>
        <p:grpSpPr>
          <a:xfrm rot="16200000" flipH="1">
            <a:off x="8859430" y="860431"/>
            <a:ext cx="826382" cy="2388272"/>
            <a:chOff x="2340931" y="1616881"/>
            <a:chExt cx="826382" cy="2388272"/>
          </a:xfrm>
        </p:grpSpPr>
        <p:sp>
          <p:nvSpPr>
            <p:cNvPr id="4" name="Rectangle 5">
              <a:extLst>
                <a:ext uri="{FF2B5EF4-FFF2-40B4-BE49-F238E27FC236}">
                  <a16:creationId xmlns:a16="http://schemas.microsoft.com/office/drawing/2014/main" id="{31EF5B80-4FC1-C7C2-50E0-993C8C64247C}"/>
                </a:ext>
              </a:extLst>
            </p:cNvPr>
            <p:cNvSpPr>
              <a:spLocks noChangeArrowheads="1"/>
            </p:cNvSpPr>
            <p:nvPr/>
          </p:nvSpPr>
          <p:spPr bwMode="auto">
            <a:xfrm rot="5400000">
              <a:off x="2352785" y="2554113"/>
              <a:ext cx="802675" cy="826380"/>
            </a:xfrm>
            <a:prstGeom prst="rect">
              <a:avLst/>
            </a:prstGeom>
            <a:noFill/>
            <a:ln w="31750">
              <a:solidFill>
                <a:schemeClr val="tx1"/>
              </a:solidFill>
              <a:miter lim="800000"/>
              <a:headEnd/>
              <a:tailEnd/>
            </a:ln>
            <a:effectLst/>
          </p:spPr>
          <p:txBody>
            <a:bodyPr wrap="none" anchor="ctr"/>
            <a:lstStyle>
              <a:lvl1pPr eaLnBrk="0" hangingPunct="0">
                <a:defRPr kumimoji="1" sz="2400" b="1">
                  <a:solidFill>
                    <a:schemeClr val="tx2"/>
                  </a:solidFill>
                  <a:latin typeface="Tahoma" pitchFamily="34" charset="0"/>
                  <a:ea typeface="宋体" charset="-122"/>
                </a:defRPr>
              </a:lvl1pPr>
              <a:lvl2pPr marL="742950" indent="-285750" eaLnBrk="0" hangingPunct="0">
                <a:defRPr kumimoji="1" sz="2400" b="1">
                  <a:solidFill>
                    <a:schemeClr val="tx2"/>
                  </a:solidFill>
                  <a:latin typeface="Tahoma" pitchFamily="34" charset="0"/>
                  <a:ea typeface="宋体" charset="-122"/>
                </a:defRPr>
              </a:lvl2pPr>
              <a:lvl3pPr marL="1143000" indent="-228600" eaLnBrk="0" hangingPunct="0">
                <a:defRPr kumimoji="1" sz="2400" b="1">
                  <a:solidFill>
                    <a:schemeClr val="tx2"/>
                  </a:solidFill>
                  <a:latin typeface="Tahoma" pitchFamily="34" charset="0"/>
                  <a:ea typeface="宋体" charset="-122"/>
                </a:defRPr>
              </a:lvl3pPr>
              <a:lvl4pPr marL="1600200" indent="-228600" eaLnBrk="0" hangingPunct="0">
                <a:defRPr kumimoji="1" sz="2400" b="1">
                  <a:solidFill>
                    <a:schemeClr val="tx2"/>
                  </a:solidFill>
                  <a:latin typeface="Tahoma" pitchFamily="34" charset="0"/>
                  <a:ea typeface="宋体" charset="-122"/>
                </a:defRPr>
              </a:lvl4pPr>
              <a:lvl5pPr marL="2057400" indent="-228600" eaLnBrk="0" hangingPunct="0">
                <a:defRPr kumimoji="1" sz="2400" b="1">
                  <a:solidFill>
                    <a:schemeClr val="tx2"/>
                  </a:solidFill>
                  <a:latin typeface="Tahoma" pitchFamily="34" charset="0"/>
                  <a:ea typeface="宋体" charset="-122"/>
                </a:defRPr>
              </a:lvl5pPr>
              <a:lvl6pPr marL="2514600" indent="-228600" algn="ctr" eaLnBrk="0" fontAlgn="base" hangingPunct="0">
                <a:spcBef>
                  <a:spcPct val="0"/>
                </a:spcBef>
                <a:spcAft>
                  <a:spcPct val="0"/>
                </a:spcAft>
                <a:defRPr kumimoji="1" sz="2400" b="1">
                  <a:solidFill>
                    <a:schemeClr val="tx2"/>
                  </a:solidFill>
                  <a:latin typeface="Tahoma" pitchFamily="34" charset="0"/>
                  <a:ea typeface="宋体" charset="-122"/>
                </a:defRPr>
              </a:lvl6pPr>
              <a:lvl7pPr marL="2971800" indent="-228600" algn="ctr" eaLnBrk="0" fontAlgn="base" hangingPunct="0">
                <a:spcBef>
                  <a:spcPct val="0"/>
                </a:spcBef>
                <a:spcAft>
                  <a:spcPct val="0"/>
                </a:spcAft>
                <a:defRPr kumimoji="1" sz="2400" b="1">
                  <a:solidFill>
                    <a:schemeClr val="tx2"/>
                  </a:solidFill>
                  <a:latin typeface="Tahoma" pitchFamily="34" charset="0"/>
                  <a:ea typeface="宋体" charset="-122"/>
                </a:defRPr>
              </a:lvl7pPr>
              <a:lvl8pPr marL="3429000" indent="-228600" algn="ctr" eaLnBrk="0" fontAlgn="base" hangingPunct="0">
                <a:spcBef>
                  <a:spcPct val="0"/>
                </a:spcBef>
                <a:spcAft>
                  <a:spcPct val="0"/>
                </a:spcAft>
                <a:defRPr kumimoji="1" sz="2400" b="1">
                  <a:solidFill>
                    <a:schemeClr val="tx2"/>
                  </a:solidFill>
                  <a:latin typeface="Tahoma" pitchFamily="34" charset="0"/>
                  <a:ea typeface="宋体" charset="-122"/>
                </a:defRPr>
              </a:lvl8pPr>
              <a:lvl9pPr marL="3886200" indent="-228600" algn="ctr" eaLnBrk="0" fontAlgn="base" hangingPunct="0">
                <a:spcBef>
                  <a:spcPct val="0"/>
                </a:spcBef>
                <a:spcAft>
                  <a:spcPct val="0"/>
                </a:spcAft>
                <a:defRPr kumimoji="1" sz="2400" b="1">
                  <a:solidFill>
                    <a:schemeClr val="tx2"/>
                  </a:solidFill>
                  <a:latin typeface="Tahoma" pitchFamily="34" charset="0"/>
                  <a:ea typeface="宋体" charset="-122"/>
                </a:defRPr>
              </a:lvl9pPr>
            </a:lstStyle>
            <a:p>
              <a:pPr eaLnBrk="1" hangingPunct="1">
                <a:lnSpc>
                  <a:spcPct val="150000"/>
                </a:lnSpc>
              </a:pPr>
              <a:endParaRPr lang="zh-CN" altLang="en-US" sz="1800"/>
            </a:p>
          </p:txBody>
        </p:sp>
        <p:sp>
          <p:nvSpPr>
            <p:cNvPr id="6" name="Rectangle 5">
              <a:extLst>
                <a:ext uri="{FF2B5EF4-FFF2-40B4-BE49-F238E27FC236}">
                  <a16:creationId xmlns:a16="http://schemas.microsoft.com/office/drawing/2014/main" id="{0B8ACB4B-9776-A5D9-F6B1-6784EF8BFE29}"/>
                </a:ext>
              </a:extLst>
            </p:cNvPr>
            <p:cNvSpPr>
              <a:spLocks noChangeArrowheads="1"/>
            </p:cNvSpPr>
            <p:nvPr/>
          </p:nvSpPr>
          <p:spPr bwMode="auto">
            <a:xfrm rot="5400000">
              <a:off x="2451145" y="1506667"/>
              <a:ext cx="605952" cy="826380"/>
            </a:xfrm>
            <a:prstGeom prst="rect">
              <a:avLst/>
            </a:prstGeom>
            <a:noFill/>
            <a:ln w="31750">
              <a:solidFill>
                <a:schemeClr val="tx1"/>
              </a:solidFill>
              <a:miter lim="800000"/>
              <a:headEnd/>
              <a:tailEnd/>
            </a:ln>
            <a:effectLst/>
          </p:spPr>
          <p:txBody>
            <a:bodyPr wrap="none" anchor="ctr"/>
            <a:lstStyle>
              <a:lvl1pPr eaLnBrk="0" hangingPunct="0">
                <a:defRPr kumimoji="1" sz="2400" b="1">
                  <a:solidFill>
                    <a:schemeClr val="tx2"/>
                  </a:solidFill>
                  <a:latin typeface="Tahoma" pitchFamily="34" charset="0"/>
                  <a:ea typeface="宋体" charset="-122"/>
                </a:defRPr>
              </a:lvl1pPr>
              <a:lvl2pPr marL="742950" indent="-285750" eaLnBrk="0" hangingPunct="0">
                <a:defRPr kumimoji="1" sz="2400" b="1">
                  <a:solidFill>
                    <a:schemeClr val="tx2"/>
                  </a:solidFill>
                  <a:latin typeface="Tahoma" pitchFamily="34" charset="0"/>
                  <a:ea typeface="宋体" charset="-122"/>
                </a:defRPr>
              </a:lvl2pPr>
              <a:lvl3pPr marL="1143000" indent="-228600" eaLnBrk="0" hangingPunct="0">
                <a:defRPr kumimoji="1" sz="2400" b="1">
                  <a:solidFill>
                    <a:schemeClr val="tx2"/>
                  </a:solidFill>
                  <a:latin typeface="Tahoma" pitchFamily="34" charset="0"/>
                  <a:ea typeface="宋体" charset="-122"/>
                </a:defRPr>
              </a:lvl3pPr>
              <a:lvl4pPr marL="1600200" indent="-228600" eaLnBrk="0" hangingPunct="0">
                <a:defRPr kumimoji="1" sz="2400" b="1">
                  <a:solidFill>
                    <a:schemeClr val="tx2"/>
                  </a:solidFill>
                  <a:latin typeface="Tahoma" pitchFamily="34" charset="0"/>
                  <a:ea typeface="宋体" charset="-122"/>
                </a:defRPr>
              </a:lvl4pPr>
              <a:lvl5pPr marL="2057400" indent="-228600" eaLnBrk="0" hangingPunct="0">
                <a:defRPr kumimoji="1" sz="2400" b="1">
                  <a:solidFill>
                    <a:schemeClr val="tx2"/>
                  </a:solidFill>
                  <a:latin typeface="Tahoma" pitchFamily="34" charset="0"/>
                  <a:ea typeface="宋体" charset="-122"/>
                </a:defRPr>
              </a:lvl5pPr>
              <a:lvl6pPr marL="2514600" indent="-228600" algn="ctr" eaLnBrk="0" fontAlgn="base" hangingPunct="0">
                <a:spcBef>
                  <a:spcPct val="0"/>
                </a:spcBef>
                <a:spcAft>
                  <a:spcPct val="0"/>
                </a:spcAft>
                <a:defRPr kumimoji="1" sz="2400" b="1">
                  <a:solidFill>
                    <a:schemeClr val="tx2"/>
                  </a:solidFill>
                  <a:latin typeface="Tahoma" pitchFamily="34" charset="0"/>
                  <a:ea typeface="宋体" charset="-122"/>
                </a:defRPr>
              </a:lvl6pPr>
              <a:lvl7pPr marL="2971800" indent="-228600" algn="ctr" eaLnBrk="0" fontAlgn="base" hangingPunct="0">
                <a:spcBef>
                  <a:spcPct val="0"/>
                </a:spcBef>
                <a:spcAft>
                  <a:spcPct val="0"/>
                </a:spcAft>
                <a:defRPr kumimoji="1" sz="2400" b="1">
                  <a:solidFill>
                    <a:schemeClr val="tx2"/>
                  </a:solidFill>
                  <a:latin typeface="Tahoma" pitchFamily="34" charset="0"/>
                  <a:ea typeface="宋体" charset="-122"/>
                </a:defRPr>
              </a:lvl7pPr>
              <a:lvl8pPr marL="3429000" indent="-228600" algn="ctr" eaLnBrk="0" fontAlgn="base" hangingPunct="0">
                <a:spcBef>
                  <a:spcPct val="0"/>
                </a:spcBef>
                <a:spcAft>
                  <a:spcPct val="0"/>
                </a:spcAft>
                <a:defRPr kumimoji="1" sz="2400" b="1">
                  <a:solidFill>
                    <a:schemeClr val="tx2"/>
                  </a:solidFill>
                  <a:latin typeface="Tahoma" pitchFamily="34" charset="0"/>
                  <a:ea typeface="宋体" charset="-122"/>
                </a:defRPr>
              </a:lvl8pPr>
              <a:lvl9pPr marL="3886200" indent="-228600" algn="ctr" eaLnBrk="0" fontAlgn="base" hangingPunct="0">
                <a:spcBef>
                  <a:spcPct val="0"/>
                </a:spcBef>
                <a:spcAft>
                  <a:spcPct val="0"/>
                </a:spcAft>
                <a:defRPr kumimoji="1" sz="2400" b="1">
                  <a:solidFill>
                    <a:schemeClr val="tx2"/>
                  </a:solidFill>
                  <a:latin typeface="Tahoma" pitchFamily="34" charset="0"/>
                  <a:ea typeface="宋体" charset="-122"/>
                </a:defRPr>
              </a:lvl9pPr>
            </a:lstStyle>
            <a:p>
              <a:pPr eaLnBrk="1" hangingPunct="1">
                <a:lnSpc>
                  <a:spcPct val="150000"/>
                </a:lnSpc>
              </a:pPr>
              <a:endParaRPr lang="zh-CN" altLang="en-US" sz="1800"/>
            </a:p>
          </p:txBody>
        </p:sp>
        <p:sp>
          <p:nvSpPr>
            <p:cNvPr id="7" name="Rectangle 10">
              <a:extLst>
                <a:ext uri="{FF2B5EF4-FFF2-40B4-BE49-F238E27FC236}">
                  <a16:creationId xmlns:a16="http://schemas.microsoft.com/office/drawing/2014/main" id="{58C75FE6-7E52-4873-DEC6-8F4C18DED1AB}"/>
                </a:ext>
              </a:extLst>
            </p:cNvPr>
            <p:cNvSpPr>
              <a:spLocks noChangeArrowheads="1"/>
            </p:cNvSpPr>
            <p:nvPr/>
          </p:nvSpPr>
          <p:spPr bwMode="auto">
            <a:xfrm rot="5400000">
              <a:off x="2582555" y="1981209"/>
              <a:ext cx="343133" cy="826380"/>
            </a:xfrm>
            <a:prstGeom prst="rect">
              <a:avLst/>
            </a:prstGeom>
            <a:gradFill>
              <a:gsLst>
                <a:gs pos="12000">
                  <a:srgbClr val="7030A0"/>
                </a:gs>
                <a:gs pos="50000">
                  <a:schemeClr val="bg1"/>
                </a:gs>
                <a:gs pos="88000">
                  <a:srgbClr val="7030A0"/>
                </a:gs>
              </a:gsLst>
              <a:lin ang="5400000" scaled="0"/>
            </a:gradFill>
            <a:ln w="317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latin typeface="Arial" pitchFamily="34" charset="0"/>
              </a:endParaRPr>
            </a:p>
          </p:txBody>
        </p:sp>
        <p:sp>
          <p:nvSpPr>
            <p:cNvPr id="10" name="Rectangle 33">
              <a:extLst>
                <a:ext uri="{FF2B5EF4-FFF2-40B4-BE49-F238E27FC236}">
                  <a16:creationId xmlns:a16="http://schemas.microsoft.com/office/drawing/2014/main" id="{B445FA8D-42CD-2ED1-FB88-6D53F9D11C7D}"/>
                </a:ext>
              </a:extLst>
            </p:cNvPr>
            <p:cNvSpPr>
              <a:spLocks noChangeArrowheads="1"/>
            </p:cNvSpPr>
            <p:nvPr/>
          </p:nvSpPr>
          <p:spPr bwMode="auto">
            <a:xfrm rot="5400000">
              <a:off x="2034529" y="3158687"/>
              <a:ext cx="1439187" cy="253745"/>
            </a:xfrm>
            <a:prstGeom prst="rect">
              <a:avLst/>
            </a:prstGeom>
            <a:gradFill>
              <a:gsLst>
                <a:gs pos="12000">
                  <a:srgbClr val="7030A0"/>
                </a:gs>
                <a:gs pos="50000">
                  <a:schemeClr val="bg1"/>
                </a:gs>
                <a:gs pos="88000">
                  <a:srgbClr val="7030A0"/>
                </a:gs>
              </a:gsLst>
              <a:lin ang="5400000" scaled="0"/>
            </a:gra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latin typeface="Arial" pitchFamily="34" charset="0"/>
              </a:endParaRPr>
            </a:p>
          </p:txBody>
        </p:sp>
      </p:grpSp>
      <p:grpSp>
        <p:nvGrpSpPr>
          <p:cNvPr id="11" name="组合 10">
            <a:extLst>
              <a:ext uri="{FF2B5EF4-FFF2-40B4-BE49-F238E27FC236}">
                <a16:creationId xmlns:a16="http://schemas.microsoft.com/office/drawing/2014/main" id="{B76ED9D8-C60F-6749-363C-949AE1AB8827}"/>
              </a:ext>
            </a:extLst>
          </p:cNvPr>
          <p:cNvGrpSpPr/>
          <p:nvPr/>
        </p:nvGrpSpPr>
        <p:grpSpPr>
          <a:xfrm>
            <a:off x="7643798" y="2997487"/>
            <a:ext cx="1475324" cy="672061"/>
            <a:chOff x="1538595" y="2060117"/>
            <a:chExt cx="1475324" cy="672061"/>
          </a:xfrm>
        </p:grpSpPr>
        <p:sp>
          <p:nvSpPr>
            <p:cNvPr id="12" name="弧形 11">
              <a:extLst>
                <a:ext uri="{FF2B5EF4-FFF2-40B4-BE49-F238E27FC236}">
                  <a16:creationId xmlns:a16="http://schemas.microsoft.com/office/drawing/2014/main" id="{CB0EB2C1-9548-3589-41E1-970E9E2D2CD6}"/>
                </a:ext>
              </a:extLst>
            </p:cNvPr>
            <p:cNvSpPr/>
            <p:nvPr/>
          </p:nvSpPr>
          <p:spPr bwMode="auto">
            <a:xfrm rot="13503060">
              <a:off x="2346819" y="2065078"/>
              <a:ext cx="664366" cy="669834"/>
            </a:xfrm>
            <a:prstGeom prst="arc">
              <a:avLst/>
            </a:prstGeom>
            <a:noFill/>
            <a:ln w="349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3" name="弧形 12">
              <a:extLst>
                <a:ext uri="{FF2B5EF4-FFF2-40B4-BE49-F238E27FC236}">
                  <a16:creationId xmlns:a16="http://schemas.microsoft.com/office/drawing/2014/main" id="{BC3697FB-9F3B-090E-EC69-A52F20777842}"/>
                </a:ext>
              </a:extLst>
            </p:cNvPr>
            <p:cNvSpPr/>
            <p:nvPr/>
          </p:nvSpPr>
          <p:spPr bwMode="auto">
            <a:xfrm rot="18896940" flipV="1">
              <a:off x="1541329" y="2057383"/>
              <a:ext cx="664366" cy="669834"/>
            </a:xfrm>
            <a:prstGeom prst="arc">
              <a:avLst/>
            </a:prstGeom>
            <a:noFill/>
            <a:ln w="349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4" name="Line 21">
              <a:extLst>
                <a:ext uri="{FF2B5EF4-FFF2-40B4-BE49-F238E27FC236}">
                  <a16:creationId xmlns:a16="http://schemas.microsoft.com/office/drawing/2014/main" id="{3428F6CB-78B7-858A-7287-2CAA35B4DCF4}"/>
                </a:ext>
              </a:extLst>
            </p:cNvPr>
            <p:cNvSpPr>
              <a:spLocks noChangeShapeType="1"/>
            </p:cNvSpPr>
            <p:nvPr/>
          </p:nvSpPr>
          <p:spPr bwMode="auto">
            <a:xfrm rot="5400000" flipH="1">
              <a:off x="2050861" y="2087888"/>
              <a:ext cx="439762" cy="610099"/>
            </a:xfrm>
            <a:prstGeom prst="line">
              <a:avLst/>
            </a:prstGeom>
            <a:noFill/>
            <a:ln w="34925" cap="sq">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 name="组合 14">
            <a:extLst>
              <a:ext uri="{FF2B5EF4-FFF2-40B4-BE49-F238E27FC236}">
                <a16:creationId xmlns:a16="http://schemas.microsoft.com/office/drawing/2014/main" id="{4C194188-4EBD-F756-BF14-C9432261B2A9}"/>
              </a:ext>
            </a:extLst>
          </p:cNvPr>
          <p:cNvGrpSpPr/>
          <p:nvPr/>
        </p:nvGrpSpPr>
        <p:grpSpPr>
          <a:xfrm>
            <a:off x="8375702" y="3834385"/>
            <a:ext cx="1987928" cy="949326"/>
            <a:chOff x="3251845" y="4471423"/>
            <a:chExt cx="1987928" cy="949326"/>
          </a:xfrm>
        </p:grpSpPr>
        <p:sp>
          <p:nvSpPr>
            <p:cNvPr id="16" name="Line 33">
              <a:extLst>
                <a:ext uri="{FF2B5EF4-FFF2-40B4-BE49-F238E27FC236}">
                  <a16:creationId xmlns:a16="http://schemas.microsoft.com/office/drawing/2014/main" id="{1148BC98-BCB5-C9DB-ECEB-F87E265F4C19}"/>
                </a:ext>
              </a:extLst>
            </p:cNvPr>
            <p:cNvSpPr>
              <a:spLocks noChangeShapeType="1"/>
            </p:cNvSpPr>
            <p:nvPr/>
          </p:nvSpPr>
          <p:spPr bwMode="auto">
            <a:xfrm>
              <a:off x="3251845" y="4925506"/>
              <a:ext cx="851939" cy="0"/>
            </a:xfrm>
            <a:prstGeom prst="line">
              <a:avLst/>
            </a:prstGeom>
            <a:noFill/>
            <a:ln w="38100" cmpd="sng">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 name="组合 16">
              <a:extLst>
                <a:ext uri="{FF2B5EF4-FFF2-40B4-BE49-F238E27FC236}">
                  <a16:creationId xmlns:a16="http://schemas.microsoft.com/office/drawing/2014/main" id="{B860243D-3544-3FF7-7F2C-7DD5D816E2CC}"/>
                </a:ext>
              </a:extLst>
            </p:cNvPr>
            <p:cNvGrpSpPr/>
            <p:nvPr/>
          </p:nvGrpSpPr>
          <p:grpSpPr>
            <a:xfrm>
              <a:off x="3905345" y="4471423"/>
              <a:ext cx="1334428" cy="949326"/>
              <a:chOff x="3905345" y="4471423"/>
              <a:chExt cx="1334428" cy="949326"/>
            </a:xfrm>
          </p:grpSpPr>
          <p:sp>
            <p:nvSpPr>
              <p:cNvPr id="18" name="Line 29">
                <a:extLst>
                  <a:ext uri="{FF2B5EF4-FFF2-40B4-BE49-F238E27FC236}">
                    <a16:creationId xmlns:a16="http://schemas.microsoft.com/office/drawing/2014/main" id="{17F4298B-E021-A6EB-869A-3CDB6383EC42}"/>
                  </a:ext>
                </a:extLst>
              </p:cNvPr>
              <p:cNvSpPr>
                <a:spLocks noChangeShapeType="1"/>
              </p:cNvSpPr>
              <p:nvPr/>
            </p:nvSpPr>
            <p:spPr bwMode="auto">
              <a:xfrm>
                <a:off x="4337145" y="4471423"/>
                <a:ext cx="0" cy="233363"/>
              </a:xfrm>
              <a:prstGeom prst="line">
                <a:avLst/>
              </a:prstGeom>
              <a:noFill/>
              <a:ln w="28575" cap="sq">
                <a:solidFill>
                  <a:srgbClr val="FF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6">
                <a:extLst>
                  <a:ext uri="{FF2B5EF4-FFF2-40B4-BE49-F238E27FC236}">
                    <a16:creationId xmlns:a16="http://schemas.microsoft.com/office/drawing/2014/main" id="{7CCCCC99-9DCD-E249-DEAB-49616F09CC16}"/>
                  </a:ext>
                </a:extLst>
              </p:cNvPr>
              <p:cNvSpPr>
                <a:spLocks noChangeShapeType="1"/>
              </p:cNvSpPr>
              <p:nvPr/>
            </p:nvSpPr>
            <p:spPr bwMode="auto">
              <a:xfrm flipH="1" flipV="1">
                <a:off x="3905345" y="4669861"/>
                <a:ext cx="184150" cy="258763"/>
              </a:xfrm>
              <a:prstGeom prst="line">
                <a:avLst/>
              </a:prstGeom>
              <a:noFill/>
              <a:ln w="28575" cap="sq">
                <a:solidFill>
                  <a:srgbClr val="FF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7">
                <a:extLst>
                  <a:ext uri="{FF2B5EF4-FFF2-40B4-BE49-F238E27FC236}">
                    <a16:creationId xmlns:a16="http://schemas.microsoft.com/office/drawing/2014/main" id="{40C32DC2-5C43-A5CC-9642-885029ED9278}"/>
                  </a:ext>
                </a:extLst>
              </p:cNvPr>
              <p:cNvSpPr>
                <a:spLocks noChangeShapeType="1"/>
              </p:cNvSpPr>
              <p:nvPr/>
            </p:nvSpPr>
            <p:spPr bwMode="auto">
              <a:xfrm flipV="1">
                <a:off x="3905345" y="4477773"/>
                <a:ext cx="0" cy="192088"/>
              </a:xfrm>
              <a:prstGeom prst="line">
                <a:avLst/>
              </a:prstGeom>
              <a:noFill/>
              <a:ln w="28575" cap="sq">
                <a:solidFill>
                  <a:srgbClr val="FF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2" name="Group 12">
                <a:extLst>
                  <a:ext uri="{FF2B5EF4-FFF2-40B4-BE49-F238E27FC236}">
                    <a16:creationId xmlns:a16="http://schemas.microsoft.com/office/drawing/2014/main" id="{3D8A9373-38D4-82DC-3E38-DB356B7D99B0}"/>
                  </a:ext>
                </a:extLst>
              </p:cNvPr>
              <p:cNvGrpSpPr>
                <a:grpSpLocks/>
              </p:cNvGrpSpPr>
              <p:nvPr/>
            </p:nvGrpSpPr>
            <p:grpSpPr bwMode="auto">
              <a:xfrm flipH="1">
                <a:off x="4949260" y="5311639"/>
                <a:ext cx="290513" cy="82550"/>
                <a:chOff x="677" y="3855"/>
                <a:chExt cx="183" cy="52"/>
              </a:xfrm>
            </p:grpSpPr>
            <p:sp>
              <p:nvSpPr>
                <p:cNvPr id="33" name="Line 13">
                  <a:extLst>
                    <a:ext uri="{FF2B5EF4-FFF2-40B4-BE49-F238E27FC236}">
                      <a16:creationId xmlns:a16="http://schemas.microsoft.com/office/drawing/2014/main" id="{80C246E2-D55A-5BAF-3FC7-C2B1DFAC2CBA}"/>
                    </a:ext>
                  </a:extLst>
                </p:cNvPr>
                <p:cNvSpPr>
                  <a:spLocks noChangeShapeType="1"/>
                </p:cNvSpPr>
                <p:nvPr/>
              </p:nvSpPr>
              <p:spPr bwMode="auto">
                <a:xfrm>
                  <a:off x="677" y="3907"/>
                  <a:ext cx="182"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4">
                  <a:extLst>
                    <a:ext uri="{FF2B5EF4-FFF2-40B4-BE49-F238E27FC236}">
                      <a16:creationId xmlns:a16="http://schemas.microsoft.com/office/drawing/2014/main" id="{F8559549-576E-6765-41B7-90E9AB75A43D}"/>
                    </a:ext>
                  </a:extLst>
                </p:cNvPr>
                <p:cNvSpPr>
                  <a:spLocks noChangeShapeType="1"/>
                </p:cNvSpPr>
                <p:nvPr/>
              </p:nvSpPr>
              <p:spPr bwMode="auto">
                <a:xfrm flipV="1">
                  <a:off x="860" y="3855"/>
                  <a:ext cx="0" cy="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15">
                  <a:extLst>
                    <a:ext uri="{FF2B5EF4-FFF2-40B4-BE49-F238E27FC236}">
                      <a16:creationId xmlns:a16="http://schemas.microsoft.com/office/drawing/2014/main" id="{8A494326-DBBA-1820-1869-AF52534AE9B4}"/>
                    </a:ext>
                  </a:extLst>
                </p:cNvPr>
                <p:cNvSpPr>
                  <a:spLocks noChangeShapeType="1"/>
                </p:cNvSpPr>
                <p:nvPr/>
              </p:nvSpPr>
              <p:spPr bwMode="auto">
                <a:xfrm flipV="1">
                  <a:off x="677" y="3860"/>
                  <a:ext cx="0" cy="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3" name="Rectangle 16">
                <a:extLst>
                  <a:ext uri="{FF2B5EF4-FFF2-40B4-BE49-F238E27FC236}">
                    <a16:creationId xmlns:a16="http://schemas.microsoft.com/office/drawing/2014/main" id="{FF495103-5E28-1DE1-3FDE-98C08B6BE353}"/>
                  </a:ext>
                </a:extLst>
              </p:cNvPr>
              <p:cNvSpPr>
                <a:spLocks noChangeArrowheads="1"/>
              </p:cNvSpPr>
              <p:nvPr/>
            </p:nvSpPr>
            <p:spPr bwMode="auto">
              <a:xfrm flipH="1">
                <a:off x="4097433" y="4725424"/>
                <a:ext cx="461963" cy="428625"/>
              </a:xfrm>
              <a:prstGeom prst="rect">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2"/>
                    </a:solidFill>
                    <a:latin typeface="Tahoma" pitchFamily="34" charset="0"/>
                    <a:ea typeface="宋体" pitchFamily="2" charset="-122"/>
                  </a:defRPr>
                </a:lvl1pPr>
                <a:lvl2pPr marL="742950" indent="-285750" eaLnBrk="0" hangingPunct="0">
                  <a:defRPr kumimoji="1" sz="2400">
                    <a:solidFill>
                      <a:schemeClr val="tx2"/>
                    </a:solidFill>
                    <a:latin typeface="Tahoma" pitchFamily="34" charset="0"/>
                    <a:ea typeface="宋体" pitchFamily="2" charset="-122"/>
                  </a:defRPr>
                </a:lvl2pPr>
                <a:lvl3pPr marL="1143000" indent="-228600" eaLnBrk="0" hangingPunct="0">
                  <a:defRPr kumimoji="1" sz="2400">
                    <a:solidFill>
                      <a:schemeClr val="tx2"/>
                    </a:solidFill>
                    <a:latin typeface="Tahoma" pitchFamily="34" charset="0"/>
                    <a:ea typeface="宋体" pitchFamily="2" charset="-122"/>
                  </a:defRPr>
                </a:lvl3pPr>
                <a:lvl4pPr marL="1600200" indent="-228600" eaLnBrk="0" hangingPunct="0">
                  <a:defRPr kumimoji="1" sz="2400">
                    <a:solidFill>
                      <a:schemeClr val="tx2"/>
                    </a:solidFill>
                    <a:latin typeface="Tahoma" pitchFamily="34" charset="0"/>
                    <a:ea typeface="宋体" pitchFamily="2" charset="-122"/>
                  </a:defRPr>
                </a:lvl4pPr>
                <a:lvl5pPr marL="2057400" indent="-228600" eaLnBrk="0" hangingPunct="0">
                  <a:defRPr kumimoji="1" sz="2400">
                    <a:solidFill>
                      <a:schemeClr val="tx2"/>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2"/>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2"/>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2"/>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2"/>
                    </a:solidFill>
                    <a:latin typeface="Tahoma" pitchFamily="34" charset="0"/>
                    <a:ea typeface="宋体" pitchFamily="2" charset="-122"/>
                  </a:defRPr>
                </a:lvl9pPr>
              </a:lstStyle>
              <a:p>
                <a:pPr algn="ctr" eaLnBrk="1" hangingPunct="1"/>
                <a:endParaRPr lang="zh-CN" altLang="en-US"/>
              </a:p>
            </p:txBody>
          </p:sp>
          <p:sp>
            <p:nvSpPr>
              <p:cNvPr id="24" name="Line 21">
                <a:extLst>
                  <a:ext uri="{FF2B5EF4-FFF2-40B4-BE49-F238E27FC236}">
                    <a16:creationId xmlns:a16="http://schemas.microsoft.com/office/drawing/2014/main" id="{3FCF14E0-AFA4-A5B1-75DA-742DDA816014}"/>
                  </a:ext>
                </a:extLst>
              </p:cNvPr>
              <p:cNvSpPr>
                <a:spLocks noChangeShapeType="1"/>
              </p:cNvSpPr>
              <p:nvPr/>
            </p:nvSpPr>
            <p:spPr bwMode="auto">
              <a:xfrm>
                <a:off x="4103783" y="4838136"/>
                <a:ext cx="455613" cy="0"/>
              </a:xfrm>
              <a:prstGeom prst="line">
                <a:avLst/>
              </a:prstGeom>
              <a:noFill/>
              <a:ln w="28575" cap="sq">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2">
                <a:extLst>
                  <a:ext uri="{FF2B5EF4-FFF2-40B4-BE49-F238E27FC236}">
                    <a16:creationId xmlns:a16="http://schemas.microsoft.com/office/drawing/2014/main" id="{54C77701-0B4B-ED7C-86A8-8C9023377CA3}"/>
                  </a:ext>
                </a:extLst>
              </p:cNvPr>
              <p:cNvSpPr>
                <a:spLocks noChangeShapeType="1"/>
              </p:cNvSpPr>
              <p:nvPr/>
            </p:nvSpPr>
            <p:spPr bwMode="auto">
              <a:xfrm flipH="1">
                <a:off x="4259358" y="5154049"/>
                <a:ext cx="141288" cy="6032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3">
                <a:extLst>
                  <a:ext uri="{FF2B5EF4-FFF2-40B4-BE49-F238E27FC236}">
                    <a16:creationId xmlns:a16="http://schemas.microsoft.com/office/drawing/2014/main" id="{E7E9E836-458F-DDBC-8C20-343C9A92C847}"/>
                  </a:ext>
                </a:extLst>
              </p:cNvPr>
              <p:cNvSpPr>
                <a:spLocks noChangeShapeType="1"/>
              </p:cNvSpPr>
              <p:nvPr/>
            </p:nvSpPr>
            <p:spPr bwMode="auto">
              <a:xfrm>
                <a:off x="4259358" y="5222311"/>
                <a:ext cx="138113" cy="65088"/>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4">
                <a:extLst>
                  <a:ext uri="{FF2B5EF4-FFF2-40B4-BE49-F238E27FC236}">
                    <a16:creationId xmlns:a16="http://schemas.microsoft.com/office/drawing/2014/main" id="{97E2E72D-5124-19AC-DF38-EB8F2D5EB74E}"/>
                  </a:ext>
                </a:extLst>
              </p:cNvPr>
              <p:cNvSpPr>
                <a:spLocks noChangeShapeType="1"/>
              </p:cNvSpPr>
              <p:nvPr/>
            </p:nvSpPr>
            <p:spPr bwMode="auto">
              <a:xfrm flipH="1">
                <a:off x="4254595" y="5287399"/>
                <a:ext cx="141288" cy="6032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5">
                <a:extLst>
                  <a:ext uri="{FF2B5EF4-FFF2-40B4-BE49-F238E27FC236}">
                    <a16:creationId xmlns:a16="http://schemas.microsoft.com/office/drawing/2014/main" id="{C72EB28B-930B-082D-D337-1D0C3B098AAD}"/>
                  </a:ext>
                </a:extLst>
              </p:cNvPr>
              <p:cNvSpPr>
                <a:spLocks noChangeShapeType="1"/>
              </p:cNvSpPr>
              <p:nvPr/>
            </p:nvSpPr>
            <p:spPr bwMode="auto">
              <a:xfrm>
                <a:off x="4254595" y="5355661"/>
                <a:ext cx="138113" cy="65088"/>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0">
                <a:extLst>
                  <a:ext uri="{FF2B5EF4-FFF2-40B4-BE49-F238E27FC236}">
                    <a16:creationId xmlns:a16="http://schemas.microsoft.com/office/drawing/2014/main" id="{A716702B-094C-03A4-835B-CEA8CFE49D57}"/>
                  </a:ext>
                </a:extLst>
              </p:cNvPr>
              <p:cNvSpPr>
                <a:spLocks noChangeShapeType="1"/>
              </p:cNvSpPr>
              <p:nvPr/>
            </p:nvSpPr>
            <p:spPr bwMode="auto">
              <a:xfrm>
                <a:off x="4559396" y="4925507"/>
                <a:ext cx="552033" cy="0"/>
              </a:xfrm>
              <a:prstGeom prst="line">
                <a:avLst/>
              </a:prstGeom>
              <a:noFill/>
              <a:ln w="38100" cmpd="sng">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31">
                <a:extLst>
                  <a:ext uri="{FF2B5EF4-FFF2-40B4-BE49-F238E27FC236}">
                    <a16:creationId xmlns:a16="http://schemas.microsoft.com/office/drawing/2014/main" id="{8C20D721-816A-2477-DD7E-825BD7D6FCBE}"/>
                  </a:ext>
                </a:extLst>
              </p:cNvPr>
              <p:cNvSpPr>
                <a:spLocks noChangeShapeType="1"/>
              </p:cNvSpPr>
              <p:nvPr/>
            </p:nvSpPr>
            <p:spPr bwMode="auto">
              <a:xfrm>
                <a:off x="5095310" y="4928027"/>
                <a:ext cx="0" cy="380464"/>
              </a:xfrm>
              <a:prstGeom prst="line">
                <a:avLst/>
              </a:prstGeom>
              <a:noFill/>
              <a:ln w="38100" cmpd="sng">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8">
                <a:extLst>
                  <a:ext uri="{FF2B5EF4-FFF2-40B4-BE49-F238E27FC236}">
                    <a16:creationId xmlns:a16="http://schemas.microsoft.com/office/drawing/2014/main" id="{D77DFC68-A331-435C-3233-9F78B5388CC6}"/>
                  </a:ext>
                </a:extLst>
              </p:cNvPr>
              <p:cNvSpPr>
                <a:spLocks noChangeShapeType="1"/>
              </p:cNvSpPr>
              <p:nvPr/>
            </p:nvSpPr>
            <p:spPr bwMode="auto">
              <a:xfrm>
                <a:off x="3907519" y="4471423"/>
                <a:ext cx="420895" cy="0"/>
              </a:xfrm>
              <a:prstGeom prst="line">
                <a:avLst/>
              </a:prstGeom>
              <a:noFill/>
              <a:ln w="28575" cap="sq">
                <a:solidFill>
                  <a:srgbClr val="FF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cxnSp>
        <p:nvCxnSpPr>
          <p:cNvPr id="36" name="直接连接符 35">
            <a:extLst>
              <a:ext uri="{FF2B5EF4-FFF2-40B4-BE49-F238E27FC236}">
                <a16:creationId xmlns:a16="http://schemas.microsoft.com/office/drawing/2014/main" id="{03C5AFA8-1CD5-064E-1773-E7DDCB3EC61B}"/>
              </a:ext>
            </a:extLst>
          </p:cNvPr>
          <p:cNvCxnSpPr/>
          <p:nvPr/>
        </p:nvCxnSpPr>
        <p:spPr bwMode="auto">
          <a:xfrm>
            <a:off x="8375945" y="2481986"/>
            <a:ext cx="0" cy="2040422"/>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椭圆 36">
            <a:extLst>
              <a:ext uri="{FF2B5EF4-FFF2-40B4-BE49-F238E27FC236}">
                <a16:creationId xmlns:a16="http://schemas.microsoft.com/office/drawing/2014/main" id="{14FFF445-65A1-3D30-A2B8-71C304A47D54}"/>
              </a:ext>
            </a:extLst>
          </p:cNvPr>
          <p:cNvSpPr/>
          <p:nvPr/>
        </p:nvSpPr>
        <p:spPr bwMode="auto">
          <a:xfrm>
            <a:off x="7973988" y="5104159"/>
            <a:ext cx="803913" cy="777033"/>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38" name="等腰三角形 37">
            <a:extLst>
              <a:ext uri="{FF2B5EF4-FFF2-40B4-BE49-F238E27FC236}">
                <a16:creationId xmlns:a16="http://schemas.microsoft.com/office/drawing/2014/main" id="{4BBBFCD4-D093-7C58-E3FA-36BD3413317E}"/>
              </a:ext>
            </a:extLst>
          </p:cNvPr>
          <p:cNvSpPr/>
          <p:nvPr/>
        </p:nvSpPr>
        <p:spPr bwMode="auto">
          <a:xfrm>
            <a:off x="8247418" y="5104159"/>
            <a:ext cx="229113" cy="197542"/>
          </a:xfrm>
          <a:prstGeom prst="triangle">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a:latin typeface="Arial" pitchFamily="34" charset="0"/>
            </a:endParaRPr>
          </a:p>
        </p:txBody>
      </p:sp>
      <p:cxnSp>
        <p:nvCxnSpPr>
          <p:cNvPr id="39" name="直接连接符 38">
            <a:extLst>
              <a:ext uri="{FF2B5EF4-FFF2-40B4-BE49-F238E27FC236}">
                <a16:creationId xmlns:a16="http://schemas.microsoft.com/office/drawing/2014/main" id="{F5E664BE-F943-4E2C-D202-0DD66C650B91}"/>
              </a:ext>
            </a:extLst>
          </p:cNvPr>
          <p:cNvCxnSpPr/>
          <p:nvPr/>
        </p:nvCxnSpPr>
        <p:spPr bwMode="auto">
          <a:xfrm>
            <a:off x="7730432" y="5556903"/>
            <a:ext cx="261458" cy="0"/>
          </a:xfrm>
          <a:prstGeom prst="line">
            <a:avLst/>
          </a:pr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a:extLst>
              <a:ext uri="{FF2B5EF4-FFF2-40B4-BE49-F238E27FC236}">
                <a16:creationId xmlns:a16="http://schemas.microsoft.com/office/drawing/2014/main" id="{1B3828F3-832C-8200-69A7-669029833164}"/>
              </a:ext>
            </a:extLst>
          </p:cNvPr>
          <p:cNvCxnSpPr/>
          <p:nvPr/>
        </p:nvCxnSpPr>
        <p:spPr bwMode="auto">
          <a:xfrm>
            <a:off x="7730432" y="5374136"/>
            <a:ext cx="259991" cy="0"/>
          </a:xfrm>
          <a:prstGeom prst="line">
            <a:avLst/>
          </a:pr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a:extLst>
              <a:ext uri="{FF2B5EF4-FFF2-40B4-BE49-F238E27FC236}">
                <a16:creationId xmlns:a16="http://schemas.microsoft.com/office/drawing/2014/main" id="{FFA7657D-3398-C709-7F3A-3686CCA908DB}"/>
              </a:ext>
            </a:extLst>
          </p:cNvPr>
          <p:cNvCxnSpPr>
            <a:stCxn id="37" idx="4"/>
          </p:cNvCxnSpPr>
          <p:nvPr/>
        </p:nvCxnSpPr>
        <p:spPr bwMode="auto">
          <a:xfrm flipH="1">
            <a:off x="8375702" y="5881192"/>
            <a:ext cx="243" cy="416608"/>
          </a:xfrm>
          <a:prstGeom prst="line">
            <a:avLst/>
          </a:pr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2" name="Group 12">
            <a:extLst>
              <a:ext uri="{FF2B5EF4-FFF2-40B4-BE49-F238E27FC236}">
                <a16:creationId xmlns:a16="http://schemas.microsoft.com/office/drawing/2014/main" id="{7CC8F952-3821-404F-D647-772C2CEBB39D}"/>
              </a:ext>
            </a:extLst>
          </p:cNvPr>
          <p:cNvGrpSpPr>
            <a:grpSpLocks/>
          </p:cNvGrpSpPr>
          <p:nvPr/>
        </p:nvGrpSpPr>
        <p:grpSpPr bwMode="auto">
          <a:xfrm flipH="1">
            <a:off x="8186792" y="6203011"/>
            <a:ext cx="369074" cy="104873"/>
            <a:chOff x="677" y="3855"/>
            <a:chExt cx="183" cy="52"/>
          </a:xfrm>
        </p:grpSpPr>
        <p:sp>
          <p:nvSpPr>
            <p:cNvPr id="43" name="Line 13">
              <a:extLst>
                <a:ext uri="{FF2B5EF4-FFF2-40B4-BE49-F238E27FC236}">
                  <a16:creationId xmlns:a16="http://schemas.microsoft.com/office/drawing/2014/main" id="{D3C54420-E74D-F42B-58DF-9FB2ED642FCA}"/>
                </a:ext>
              </a:extLst>
            </p:cNvPr>
            <p:cNvSpPr>
              <a:spLocks noChangeShapeType="1"/>
            </p:cNvSpPr>
            <p:nvPr/>
          </p:nvSpPr>
          <p:spPr bwMode="auto">
            <a:xfrm>
              <a:off x="677" y="3907"/>
              <a:ext cx="182"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4">
              <a:extLst>
                <a:ext uri="{FF2B5EF4-FFF2-40B4-BE49-F238E27FC236}">
                  <a16:creationId xmlns:a16="http://schemas.microsoft.com/office/drawing/2014/main" id="{D487A176-C870-93F7-3322-657E76201F62}"/>
                </a:ext>
              </a:extLst>
            </p:cNvPr>
            <p:cNvSpPr>
              <a:spLocks noChangeShapeType="1"/>
            </p:cNvSpPr>
            <p:nvPr/>
          </p:nvSpPr>
          <p:spPr bwMode="auto">
            <a:xfrm flipV="1">
              <a:off x="860" y="3855"/>
              <a:ext cx="0" cy="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5">
              <a:extLst>
                <a:ext uri="{FF2B5EF4-FFF2-40B4-BE49-F238E27FC236}">
                  <a16:creationId xmlns:a16="http://schemas.microsoft.com/office/drawing/2014/main" id="{28B2DC89-7E22-FD02-B183-812AC1840505}"/>
                </a:ext>
              </a:extLst>
            </p:cNvPr>
            <p:cNvSpPr>
              <a:spLocks noChangeShapeType="1"/>
            </p:cNvSpPr>
            <p:nvPr/>
          </p:nvSpPr>
          <p:spPr bwMode="auto">
            <a:xfrm flipV="1">
              <a:off x="677" y="3860"/>
              <a:ext cx="0" cy="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46" name="直接连接符 45">
            <a:extLst>
              <a:ext uri="{FF2B5EF4-FFF2-40B4-BE49-F238E27FC236}">
                <a16:creationId xmlns:a16="http://schemas.microsoft.com/office/drawing/2014/main" id="{B0CF8EDA-BE73-1528-9EB0-036C8F1FDF4F}"/>
              </a:ext>
            </a:extLst>
          </p:cNvPr>
          <p:cNvCxnSpPr>
            <a:stCxn id="16" idx="0"/>
            <a:endCxn id="37" idx="0"/>
          </p:cNvCxnSpPr>
          <p:nvPr/>
        </p:nvCxnSpPr>
        <p:spPr bwMode="auto">
          <a:xfrm>
            <a:off x="8375702" y="4288468"/>
            <a:ext cx="243" cy="815691"/>
          </a:xfrm>
          <a:prstGeom prst="line">
            <a:avLst/>
          </a:prstGeom>
          <a:solidFill>
            <a:schemeClr val="accent1"/>
          </a:solidFill>
          <a:ln w="28575" cap="flat" cmpd="sng" algn="ctr">
            <a:solidFill>
              <a:schemeClr val="tx1"/>
            </a:solidFill>
            <a:prstDash val="solid"/>
            <a:round/>
            <a:headEnd type="oval" w="lg" len="lg"/>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7" name="对象 46">
            <a:extLst>
              <a:ext uri="{FF2B5EF4-FFF2-40B4-BE49-F238E27FC236}">
                <a16:creationId xmlns:a16="http://schemas.microsoft.com/office/drawing/2014/main" id="{6EFE9E5D-9E8A-2155-2699-7608190F60E3}"/>
              </a:ext>
            </a:extLst>
          </p:cNvPr>
          <p:cNvGraphicFramePr>
            <a:graphicFrameLocks noChangeAspect="1"/>
          </p:cNvGraphicFramePr>
          <p:nvPr>
            <p:extLst>
              <p:ext uri="{D42A27DB-BD31-4B8C-83A1-F6EECF244321}">
                <p14:modId xmlns:p14="http://schemas.microsoft.com/office/powerpoint/2010/main" val="3908055239"/>
              </p:ext>
            </p:extLst>
          </p:nvPr>
        </p:nvGraphicFramePr>
        <p:xfrm>
          <a:off x="7832041" y="4442841"/>
          <a:ext cx="461962" cy="568325"/>
        </p:xfrm>
        <a:graphic>
          <a:graphicData uri="http://schemas.openxmlformats.org/presentationml/2006/ole">
            <mc:AlternateContent xmlns:mc="http://schemas.openxmlformats.org/markup-compatibility/2006">
              <mc:Choice xmlns:v="urn:schemas-microsoft-com:vml" Requires="v">
                <p:oleObj spid="_x0000_s1186" name="Equation" r:id="rId4" imgW="164880" imgH="203040" progId="Equation.DSMT4">
                  <p:embed/>
                </p:oleObj>
              </mc:Choice>
              <mc:Fallback>
                <p:oleObj name="Equation" r:id="rId4" imgW="164880" imgH="203040" progId="Equation.DSMT4">
                  <p:embed/>
                  <p:pic>
                    <p:nvPicPr>
                      <p:cNvPr id="47" name="对象 46">
                        <a:extLst>
                          <a:ext uri="{FF2B5EF4-FFF2-40B4-BE49-F238E27FC236}">
                            <a16:creationId xmlns:a16="http://schemas.microsoft.com/office/drawing/2014/main" id="{6EFE9E5D-9E8A-2155-2699-7608190F60E3}"/>
                          </a:ext>
                        </a:extLst>
                      </p:cNvPr>
                      <p:cNvPicPr>
                        <a:picLocks noChangeAspect="1" noChangeArrowheads="1"/>
                      </p:cNvPicPr>
                      <p:nvPr/>
                    </p:nvPicPr>
                    <p:blipFill>
                      <a:blip r:embed="rId5"/>
                      <a:srcRect/>
                      <a:stretch>
                        <a:fillRect/>
                      </a:stretch>
                    </p:blipFill>
                    <p:spPr bwMode="auto">
                      <a:xfrm>
                        <a:off x="7832041" y="4442841"/>
                        <a:ext cx="461962"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对象 47">
            <a:extLst>
              <a:ext uri="{FF2B5EF4-FFF2-40B4-BE49-F238E27FC236}">
                <a16:creationId xmlns:a16="http://schemas.microsoft.com/office/drawing/2014/main" id="{5E0C61AB-7DE7-BBE8-BAB3-DD81CF113630}"/>
              </a:ext>
            </a:extLst>
          </p:cNvPr>
          <p:cNvGraphicFramePr>
            <a:graphicFrameLocks noChangeAspect="1"/>
          </p:cNvGraphicFramePr>
          <p:nvPr>
            <p:extLst>
              <p:ext uri="{D42A27DB-BD31-4B8C-83A1-F6EECF244321}">
                <p14:modId xmlns:p14="http://schemas.microsoft.com/office/powerpoint/2010/main" val="4070337775"/>
              </p:ext>
            </p:extLst>
          </p:nvPr>
        </p:nvGraphicFramePr>
        <p:xfrm>
          <a:off x="8450428" y="4463353"/>
          <a:ext cx="498475" cy="568325"/>
        </p:xfrm>
        <a:graphic>
          <a:graphicData uri="http://schemas.openxmlformats.org/presentationml/2006/ole">
            <mc:AlternateContent xmlns:mc="http://schemas.openxmlformats.org/markup-compatibility/2006">
              <mc:Choice xmlns:v="urn:schemas-microsoft-com:vml" Requires="v">
                <p:oleObj spid="_x0000_s1187" name="Equation" r:id="rId6" imgW="177480" imgH="203040" progId="Equation.DSMT4">
                  <p:embed/>
                </p:oleObj>
              </mc:Choice>
              <mc:Fallback>
                <p:oleObj name="Equation" r:id="rId6" imgW="177480" imgH="203040" progId="Equation.DSMT4">
                  <p:embed/>
                  <p:pic>
                    <p:nvPicPr>
                      <p:cNvPr id="48" name="对象 47">
                        <a:extLst>
                          <a:ext uri="{FF2B5EF4-FFF2-40B4-BE49-F238E27FC236}">
                            <a16:creationId xmlns:a16="http://schemas.microsoft.com/office/drawing/2014/main" id="{5E0C61AB-7DE7-BBE8-BAB3-DD81CF1136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0428" y="4463353"/>
                        <a:ext cx="4984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 name="对象 48">
            <a:extLst>
              <a:ext uri="{FF2B5EF4-FFF2-40B4-BE49-F238E27FC236}">
                <a16:creationId xmlns:a16="http://schemas.microsoft.com/office/drawing/2014/main" id="{FCB3910C-5AD8-6A38-744F-5798C63CD71E}"/>
              </a:ext>
            </a:extLst>
          </p:cNvPr>
          <p:cNvGraphicFramePr>
            <a:graphicFrameLocks noChangeAspect="1"/>
          </p:cNvGraphicFramePr>
          <p:nvPr>
            <p:extLst>
              <p:ext uri="{D42A27DB-BD31-4B8C-83A1-F6EECF244321}">
                <p14:modId xmlns:p14="http://schemas.microsoft.com/office/powerpoint/2010/main" val="2462491875"/>
              </p:ext>
            </p:extLst>
          </p:nvPr>
        </p:nvGraphicFramePr>
        <p:xfrm>
          <a:off x="8608433" y="3682037"/>
          <a:ext cx="428625" cy="569913"/>
        </p:xfrm>
        <a:graphic>
          <a:graphicData uri="http://schemas.openxmlformats.org/presentationml/2006/ole">
            <mc:AlternateContent xmlns:mc="http://schemas.openxmlformats.org/markup-compatibility/2006">
              <mc:Choice xmlns:v="urn:schemas-microsoft-com:vml" Requires="v">
                <p:oleObj spid="_x0000_s1188" name="Equation" r:id="rId8" imgW="152280" imgH="203040" progId="Equation.DSMT4">
                  <p:embed/>
                </p:oleObj>
              </mc:Choice>
              <mc:Fallback>
                <p:oleObj name="Equation" r:id="rId8" imgW="152280" imgH="203040" progId="Equation.DSMT4">
                  <p:embed/>
                  <p:pic>
                    <p:nvPicPr>
                      <p:cNvPr id="49" name="对象 48">
                        <a:extLst>
                          <a:ext uri="{FF2B5EF4-FFF2-40B4-BE49-F238E27FC236}">
                            <a16:creationId xmlns:a16="http://schemas.microsoft.com/office/drawing/2014/main" id="{FCB3910C-5AD8-6A38-744F-5798C63CD71E}"/>
                          </a:ext>
                        </a:extLst>
                      </p:cNvPr>
                      <p:cNvPicPr>
                        <a:picLocks noChangeAspect="1" noChangeArrowheads="1"/>
                      </p:cNvPicPr>
                      <p:nvPr/>
                    </p:nvPicPr>
                    <p:blipFill>
                      <a:blip r:embed="rId9"/>
                      <a:srcRect/>
                      <a:stretch>
                        <a:fillRect/>
                      </a:stretch>
                    </p:blipFill>
                    <p:spPr bwMode="auto">
                      <a:xfrm>
                        <a:off x="8608433" y="3682037"/>
                        <a:ext cx="428625"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对象 49">
            <a:extLst>
              <a:ext uri="{FF2B5EF4-FFF2-40B4-BE49-F238E27FC236}">
                <a16:creationId xmlns:a16="http://schemas.microsoft.com/office/drawing/2014/main" id="{8DA3F006-DD59-4DC7-C187-2EA4645BF0C6}"/>
              </a:ext>
            </a:extLst>
          </p:cNvPr>
          <p:cNvGraphicFramePr>
            <a:graphicFrameLocks noChangeAspect="1"/>
          </p:cNvGraphicFramePr>
          <p:nvPr>
            <p:extLst>
              <p:ext uri="{D42A27DB-BD31-4B8C-83A1-F6EECF244321}">
                <p14:modId xmlns:p14="http://schemas.microsoft.com/office/powerpoint/2010/main" val="3054209255"/>
              </p:ext>
            </p:extLst>
          </p:nvPr>
        </p:nvGraphicFramePr>
        <p:xfrm>
          <a:off x="7606616" y="3063304"/>
          <a:ext cx="392112" cy="534987"/>
        </p:xfrm>
        <a:graphic>
          <a:graphicData uri="http://schemas.openxmlformats.org/presentationml/2006/ole">
            <mc:AlternateContent xmlns:mc="http://schemas.openxmlformats.org/markup-compatibility/2006">
              <mc:Choice xmlns:v="urn:schemas-microsoft-com:vml" Requires="v">
                <p:oleObj spid="_x0000_s1189" name="Equation" r:id="rId10" imgW="139680" imgH="190440" progId="Equation.DSMT4">
                  <p:embed/>
                </p:oleObj>
              </mc:Choice>
              <mc:Fallback>
                <p:oleObj name="Equation" r:id="rId10" imgW="139680" imgH="190440" progId="Equation.DSMT4">
                  <p:embed/>
                  <p:pic>
                    <p:nvPicPr>
                      <p:cNvPr id="50" name="对象 49">
                        <a:extLst>
                          <a:ext uri="{FF2B5EF4-FFF2-40B4-BE49-F238E27FC236}">
                            <a16:creationId xmlns:a16="http://schemas.microsoft.com/office/drawing/2014/main" id="{8DA3F006-DD59-4DC7-C187-2EA4645BF0C6}"/>
                          </a:ext>
                        </a:extLst>
                      </p:cNvPr>
                      <p:cNvPicPr>
                        <a:picLocks noChangeAspect="1" noChangeArrowheads="1"/>
                      </p:cNvPicPr>
                      <p:nvPr/>
                    </p:nvPicPr>
                    <p:blipFill>
                      <a:blip r:embed="rId11"/>
                      <a:srcRect/>
                      <a:stretch>
                        <a:fillRect/>
                      </a:stretch>
                    </p:blipFill>
                    <p:spPr bwMode="auto">
                      <a:xfrm>
                        <a:off x="7606616" y="3063304"/>
                        <a:ext cx="39211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1" name="Group 12">
            <a:extLst>
              <a:ext uri="{FF2B5EF4-FFF2-40B4-BE49-F238E27FC236}">
                <a16:creationId xmlns:a16="http://schemas.microsoft.com/office/drawing/2014/main" id="{37C6F03B-904E-70A0-714E-0AF1CD40A8FF}"/>
              </a:ext>
            </a:extLst>
          </p:cNvPr>
          <p:cNvGrpSpPr>
            <a:grpSpLocks/>
          </p:cNvGrpSpPr>
          <p:nvPr/>
        </p:nvGrpSpPr>
        <p:grpSpPr bwMode="auto">
          <a:xfrm flipH="1">
            <a:off x="9419950" y="2839382"/>
            <a:ext cx="369074" cy="104873"/>
            <a:chOff x="677" y="3855"/>
            <a:chExt cx="183" cy="52"/>
          </a:xfrm>
        </p:grpSpPr>
        <p:sp>
          <p:nvSpPr>
            <p:cNvPr id="52" name="Line 13">
              <a:extLst>
                <a:ext uri="{FF2B5EF4-FFF2-40B4-BE49-F238E27FC236}">
                  <a16:creationId xmlns:a16="http://schemas.microsoft.com/office/drawing/2014/main" id="{99D2087E-3C1C-783F-AEC8-88349111C4AE}"/>
                </a:ext>
              </a:extLst>
            </p:cNvPr>
            <p:cNvSpPr>
              <a:spLocks noChangeShapeType="1"/>
            </p:cNvSpPr>
            <p:nvPr/>
          </p:nvSpPr>
          <p:spPr bwMode="auto">
            <a:xfrm>
              <a:off x="677" y="3907"/>
              <a:ext cx="182"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4">
              <a:extLst>
                <a:ext uri="{FF2B5EF4-FFF2-40B4-BE49-F238E27FC236}">
                  <a16:creationId xmlns:a16="http://schemas.microsoft.com/office/drawing/2014/main" id="{5205185E-42F9-03DA-1022-E555E6F74513}"/>
                </a:ext>
              </a:extLst>
            </p:cNvPr>
            <p:cNvSpPr>
              <a:spLocks noChangeShapeType="1"/>
            </p:cNvSpPr>
            <p:nvPr/>
          </p:nvSpPr>
          <p:spPr bwMode="auto">
            <a:xfrm flipV="1">
              <a:off x="860" y="3855"/>
              <a:ext cx="0" cy="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5">
              <a:extLst>
                <a:ext uri="{FF2B5EF4-FFF2-40B4-BE49-F238E27FC236}">
                  <a16:creationId xmlns:a16="http://schemas.microsoft.com/office/drawing/2014/main" id="{4746F6B4-6549-41FD-1994-41793D1A8DDA}"/>
                </a:ext>
              </a:extLst>
            </p:cNvPr>
            <p:cNvSpPr>
              <a:spLocks noChangeShapeType="1"/>
            </p:cNvSpPr>
            <p:nvPr/>
          </p:nvSpPr>
          <p:spPr bwMode="auto">
            <a:xfrm flipV="1">
              <a:off x="677" y="3860"/>
              <a:ext cx="0" cy="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 name="Line 31">
            <a:extLst>
              <a:ext uri="{FF2B5EF4-FFF2-40B4-BE49-F238E27FC236}">
                <a16:creationId xmlns:a16="http://schemas.microsoft.com/office/drawing/2014/main" id="{1060A6D2-328D-306F-76DA-E73EF870A1EE}"/>
              </a:ext>
            </a:extLst>
          </p:cNvPr>
          <p:cNvSpPr>
            <a:spLocks noChangeShapeType="1"/>
          </p:cNvSpPr>
          <p:nvPr/>
        </p:nvSpPr>
        <p:spPr bwMode="auto">
          <a:xfrm>
            <a:off x="9609800" y="2453410"/>
            <a:ext cx="0" cy="380464"/>
          </a:xfrm>
          <a:prstGeom prst="line">
            <a:avLst/>
          </a:prstGeom>
          <a:noFill/>
          <a:ln w="38100" cmpd="sng">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6" name="对象 55">
            <a:extLst>
              <a:ext uri="{FF2B5EF4-FFF2-40B4-BE49-F238E27FC236}">
                <a16:creationId xmlns:a16="http://schemas.microsoft.com/office/drawing/2014/main" id="{47FFC888-9F0E-55D0-9E11-1700E709D4BE}"/>
              </a:ext>
            </a:extLst>
          </p:cNvPr>
          <p:cNvGraphicFramePr>
            <a:graphicFrameLocks noChangeAspect="1"/>
          </p:cNvGraphicFramePr>
          <p:nvPr>
            <p:extLst>
              <p:ext uri="{D42A27DB-BD31-4B8C-83A1-F6EECF244321}">
                <p14:modId xmlns:p14="http://schemas.microsoft.com/office/powerpoint/2010/main" val="1444167447"/>
              </p:ext>
            </p:extLst>
          </p:nvPr>
        </p:nvGraphicFramePr>
        <p:xfrm>
          <a:off x="8169498" y="1767512"/>
          <a:ext cx="427037" cy="534988"/>
        </p:xfrm>
        <a:graphic>
          <a:graphicData uri="http://schemas.openxmlformats.org/presentationml/2006/ole">
            <mc:AlternateContent xmlns:mc="http://schemas.openxmlformats.org/markup-compatibility/2006">
              <mc:Choice xmlns:v="urn:schemas-microsoft-com:vml" Requires="v">
                <p:oleObj spid="_x0000_s1190" name="Equation" r:id="rId12" imgW="152280" imgH="190440" progId="Equation.DSMT4">
                  <p:embed/>
                </p:oleObj>
              </mc:Choice>
              <mc:Fallback>
                <p:oleObj name="Equation" r:id="rId12" imgW="152280" imgH="190440" progId="Equation.DSMT4">
                  <p:embed/>
                  <p:pic>
                    <p:nvPicPr>
                      <p:cNvPr id="56" name="对象 55">
                        <a:extLst>
                          <a:ext uri="{FF2B5EF4-FFF2-40B4-BE49-F238E27FC236}">
                            <a16:creationId xmlns:a16="http://schemas.microsoft.com/office/drawing/2014/main" id="{47FFC888-9F0E-55D0-9E11-1700E709D4BE}"/>
                          </a:ext>
                        </a:extLst>
                      </p:cNvPr>
                      <p:cNvPicPr>
                        <a:picLocks noChangeAspect="1" noChangeArrowheads="1"/>
                      </p:cNvPicPr>
                      <p:nvPr/>
                    </p:nvPicPr>
                    <p:blipFill>
                      <a:blip r:embed="rId13"/>
                      <a:srcRect/>
                      <a:stretch>
                        <a:fillRect/>
                      </a:stretch>
                    </p:blipFill>
                    <p:spPr bwMode="auto">
                      <a:xfrm>
                        <a:off x="8169498" y="1767512"/>
                        <a:ext cx="42703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对象 56">
            <a:extLst>
              <a:ext uri="{FF2B5EF4-FFF2-40B4-BE49-F238E27FC236}">
                <a16:creationId xmlns:a16="http://schemas.microsoft.com/office/drawing/2014/main" id="{B1868A5C-48D6-96FD-35E6-0A8CC734CDE9}"/>
              </a:ext>
            </a:extLst>
          </p:cNvPr>
          <p:cNvGraphicFramePr>
            <a:graphicFrameLocks noChangeAspect="1"/>
          </p:cNvGraphicFramePr>
          <p:nvPr>
            <p:extLst>
              <p:ext uri="{D42A27DB-BD31-4B8C-83A1-F6EECF244321}">
                <p14:modId xmlns:p14="http://schemas.microsoft.com/office/powerpoint/2010/main" val="2211251233"/>
              </p:ext>
            </p:extLst>
          </p:nvPr>
        </p:nvGraphicFramePr>
        <p:xfrm>
          <a:off x="9849280" y="1373882"/>
          <a:ext cx="1065213" cy="534988"/>
        </p:xfrm>
        <a:graphic>
          <a:graphicData uri="http://schemas.openxmlformats.org/presentationml/2006/ole">
            <mc:AlternateContent xmlns:mc="http://schemas.openxmlformats.org/markup-compatibility/2006">
              <mc:Choice xmlns:v="urn:schemas-microsoft-com:vml" Requires="v">
                <p:oleObj spid="_x0000_s1191" name="Equation" r:id="rId14" imgW="380880" imgH="190440" progId="Equation.DSMT4">
                  <p:embed/>
                </p:oleObj>
              </mc:Choice>
              <mc:Fallback>
                <p:oleObj name="Equation" r:id="rId14" imgW="380880" imgH="190440" progId="Equation.DSMT4">
                  <p:embed/>
                  <p:pic>
                    <p:nvPicPr>
                      <p:cNvPr id="57" name="对象 56">
                        <a:extLst>
                          <a:ext uri="{FF2B5EF4-FFF2-40B4-BE49-F238E27FC236}">
                            <a16:creationId xmlns:a16="http://schemas.microsoft.com/office/drawing/2014/main" id="{B1868A5C-48D6-96FD-35E6-0A8CC734CDE9}"/>
                          </a:ext>
                        </a:extLst>
                      </p:cNvPr>
                      <p:cNvPicPr>
                        <a:picLocks noChangeAspect="1" noChangeArrowheads="1"/>
                      </p:cNvPicPr>
                      <p:nvPr/>
                    </p:nvPicPr>
                    <p:blipFill>
                      <a:blip r:embed="rId15"/>
                      <a:srcRect/>
                      <a:stretch>
                        <a:fillRect/>
                      </a:stretch>
                    </p:blipFill>
                    <p:spPr bwMode="auto">
                      <a:xfrm>
                        <a:off x="9849280" y="1373882"/>
                        <a:ext cx="10652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8" name="直接箭头连接符 57">
            <a:extLst>
              <a:ext uri="{FF2B5EF4-FFF2-40B4-BE49-F238E27FC236}">
                <a16:creationId xmlns:a16="http://schemas.microsoft.com/office/drawing/2014/main" id="{FD263BA0-9243-FAC1-6E0C-2BE58FED8284}"/>
              </a:ext>
            </a:extLst>
          </p:cNvPr>
          <p:cNvCxnSpPr/>
          <p:nvPr/>
        </p:nvCxnSpPr>
        <p:spPr bwMode="auto">
          <a:xfrm>
            <a:off x="8696828" y="1212522"/>
            <a:ext cx="905352" cy="0"/>
          </a:xfrm>
          <a:prstGeom prst="straightConnector1">
            <a:avLst/>
          </a:prstGeom>
          <a:solidFill>
            <a:schemeClr val="accent1"/>
          </a:solidFill>
          <a:ln w="158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a:extLst>
              <a:ext uri="{FF2B5EF4-FFF2-40B4-BE49-F238E27FC236}">
                <a16:creationId xmlns:a16="http://schemas.microsoft.com/office/drawing/2014/main" id="{71172F41-01FB-AD69-1695-F157591C11A1}"/>
              </a:ext>
            </a:extLst>
          </p:cNvPr>
          <p:cNvCxnSpPr/>
          <p:nvPr/>
        </p:nvCxnSpPr>
        <p:spPr bwMode="auto">
          <a:xfrm flipV="1">
            <a:off x="8684437" y="1044882"/>
            <a:ext cx="0" cy="596494"/>
          </a:xfrm>
          <a:prstGeom prst="line">
            <a:avLst/>
          </a:prstGeom>
          <a:solidFill>
            <a:schemeClr val="accent1"/>
          </a:solidFill>
          <a:ln w="158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0" name="对象 59">
            <a:extLst>
              <a:ext uri="{FF2B5EF4-FFF2-40B4-BE49-F238E27FC236}">
                <a16:creationId xmlns:a16="http://schemas.microsoft.com/office/drawing/2014/main" id="{B49FA4AE-ADB7-7ACF-D391-C955D3939209}"/>
              </a:ext>
            </a:extLst>
          </p:cNvPr>
          <p:cNvGraphicFramePr>
            <a:graphicFrameLocks noChangeAspect="1"/>
          </p:cNvGraphicFramePr>
          <p:nvPr>
            <p:extLst>
              <p:ext uri="{D42A27DB-BD31-4B8C-83A1-F6EECF244321}">
                <p14:modId xmlns:p14="http://schemas.microsoft.com/office/powerpoint/2010/main" val="1322009152"/>
              </p:ext>
            </p:extLst>
          </p:nvPr>
        </p:nvGraphicFramePr>
        <p:xfrm>
          <a:off x="9045006" y="1197600"/>
          <a:ext cx="284163" cy="357187"/>
        </p:xfrm>
        <a:graphic>
          <a:graphicData uri="http://schemas.openxmlformats.org/presentationml/2006/ole">
            <mc:AlternateContent xmlns:mc="http://schemas.openxmlformats.org/markup-compatibility/2006">
              <mc:Choice xmlns:v="urn:schemas-microsoft-com:vml" Requires="v">
                <p:oleObj spid="_x0000_s1192" name="Equation" r:id="rId16" imgW="101520" imgH="126720" progId="Equation.DSMT4">
                  <p:embed/>
                </p:oleObj>
              </mc:Choice>
              <mc:Fallback>
                <p:oleObj name="Equation" r:id="rId16" imgW="101520" imgH="126720" progId="Equation.DSMT4">
                  <p:embed/>
                  <p:pic>
                    <p:nvPicPr>
                      <p:cNvPr id="60" name="对象 59">
                        <a:extLst>
                          <a:ext uri="{FF2B5EF4-FFF2-40B4-BE49-F238E27FC236}">
                            <a16:creationId xmlns:a16="http://schemas.microsoft.com/office/drawing/2014/main" id="{B49FA4AE-ADB7-7ACF-D391-C955D3939209}"/>
                          </a:ext>
                        </a:extLst>
                      </p:cNvPr>
                      <p:cNvPicPr>
                        <a:picLocks noChangeAspect="1" noChangeArrowheads="1"/>
                      </p:cNvPicPr>
                      <p:nvPr/>
                    </p:nvPicPr>
                    <p:blipFill>
                      <a:blip r:embed="rId17"/>
                      <a:srcRect/>
                      <a:stretch>
                        <a:fillRect/>
                      </a:stretch>
                    </p:blipFill>
                    <p:spPr bwMode="auto">
                      <a:xfrm>
                        <a:off x="9045006" y="1197600"/>
                        <a:ext cx="284163"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1" name="直接箭头连接符 60">
            <a:extLst>
              <a:ext uri="{FF2B5EF4-FFF2-40B4-BE49-F238E27FC236}">
                <a16:creationId xmlns:a16="http://schemas.microsoft.com/office/drawing/2014/main" id="{DB5D0CB1-8B52-49F4-A517-37932672AF79}"/>
              </a:ext>
            </a:extLst>
          </p:cNvPr>
          <p:cNvCxnSpPr>
            <a:endCxn id="10" idx="3"/>
          </p:cNvCxnSpPr>
          <p:nvPr/>
        </p:nvCxnSpPr>
        <p:spPr bwMode="auto">
          <a:xfrm flipH="1">
            <a:off x="10466757" y="2054567"/>
            <a:ext cx="422925" cy="0"/>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2" name="对象 61">
            <a:extLst>
              <a:ext uri="{FF2B5EF4-FFF2-40B4-BE49-F238E27FC236}">
                <a16:creationId xmlns:a16="http://schemas.microsoft.com/office/drawing/2014/main" id="{6A955582-23AA-743B-CF82-D128D1A32861}"/>
              </a:ext>
            </a:extLst>
          </p:cNvPr>
          <p:cNvGraphicFramePr>
            <a:graphicFrameLocks noChangeAspect="1"/>
          </p:cNvGraphicFramePr>
          <p:nvPr>
            <p:extLst>
              <p:ext uri="{D42A27DB-BD31-4B8C-83A1-F6EECF244321}">
                <p14:modId xmlns:p14="http://schemas.microsoft.com/office/powerpoint/2010/main" val="4226053151"/>
              </p:ext>
            </p:extLst>
          </p:nvPr>
        </p:nvGraphicFramePr>
        <p:xfrm>
          <a:off x="10428393" y="2181441"/>
          <a:ext cx="390525" cy="392112"/>
        </p:xfrm>
        <a:graphic>
          <a:graphicData uri="http://schemas.openxmlformats.org/presentationml/2006/ole">
            <mc:AlternateContent xmlns:mc="http://schemas.openxmlformats.org/markup-compatibility/2006">
              <mc:Choice xmlns:v="urn:schemas-microsoft-com:vml" Requires="v">
                <p:oleObj spid="_x0000_s1193" name="Equation" r:id="rId18" imgW="139680" imgH="139680" progId="Equation.DSMT4">
                  <p:embed/>
                </p:oleObj>
              </mc:Choice>
              <mc:Fallback>
                <p:oleObj name="Equation" r:id="rId18" imgW="139680" imgH="139680" progId="Equation.DSMT4">
                  <p:embed/>
                  <p:pic>
                    <p:nvPicPr>
                      <p:cNvPr id="62" name="对象 61">
                        <a:extLst>
                          <a:ext uri="{FF2B5EF4-FFF2-40B4-BE49-F238E27FC236}">
                            <a16:creationId xmlns:a16="http://schemas.microsoft.com/office/drawing/2014/main" id="{6A955582-23AA-743B-CF82-D128D1A32861}"/>
                          </a:ext>
                        </a:extLst>
                      </p:cNvPr>
                      <p:cNvPicPr>
                        <a:picLocks noChangeAspect="1" noChangeArrowheads="1"/>
                      </p:cNvPicPr>
                      <p:nvPr/>
                    </p:nvPicPr>
                    <p:blipFill>
                      <a:blip r:embed="rId19"/>
                      <a:srcRect/>
                      <a:stretch>
                        <a:fillRect/>
                      </a:stretch>
                    </p:blipFill>
                    <p:spPr bwMode="auto">
                      <a:xfrm>
                        <a:off x="10428393" y="2181441"/>
                        <a:ext cx="390525"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3" name="直接连接符 62">
            <a:extLst>
              <a:ext uri="{FF2B5EF4-FFF2-40B4-BE49-F238E27FC236}">
                <a16:creationId xmlns:a16="http://schemas.microsoft.com/office/drawing/2014/main" id="{F4313224-0171-883E-A6E4-0A487EA195E4}"/>
              </a:ext>
            </a:extLst>
          </p:cNvPr>
          <p:cNvCxnSpPr/>
          <p:nvPr/>
        </p:nvCxnSpPr>
        <p:spPr bwMode="auto">
          <a:xfrm flipH="1" flipV="1">
            <a:off x="7910488" y="1393251"/>
            <a:ext cx="707007" cy="3878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4" name="对象 63">
            <a:extLst>
              <a:ext uri="{FF2B5EF4-FFF2-40B4-BE49-F238E27FC236}">
                <a16:creationId xmlns:a16="http://schemas.microsoft.com/office/drawing/2014/main" id="{C5BBCDB5-8956-506B-6535-14F09E217D8A}"/>
              </a:ext>
            </a:extLst>
          </p:cNvPr>
          <p:cNvGraphicFramePr>
            <a:graphicFrameLocks noChangeAspect="1"/>
          </p:cNvGraphicFramePr>
          <p:nvPr>
            <p:extLst>
              <p:ext uri="{D42A27DB-BD31-4B8C-83A1-F6EECF244321}">
                <p14:modId xmlns:p14="http://schemas.microsoft.com/office/powerpoint/2010/main" val="2411110771"/>
              </p:ext>
            </p:extLst>
          </p:nvPr>
        </p:nvGraphicFramePr>
        <p:xfrm>
          <a:off x="7433389" y="1082167"/>
          <a:ext cx="427038" cy="534988"/>
        </p:xfrm>
        <a:graphic>
          <a:graphicData uri="http://schemas.openxmlformats.org/presentationml/2006/ole">
            <mc:AlternateContent xmlns:mc="http://schemas.openxmlformats.org/markup-compatibility/2006">
              <mc:Choice xmlns:v="urn:schemas-microsoft-com:vml" Requires="v">
                <p:oleObj spid="_x0000_s1194" name="Equation" r:id="rId20" imgW="152280" imgH="190440" progId="Equation.DSMT4">
                  <p:embed/>
                </p:oleObj>
              </mc:Choice>
              <mc:Fallback>
                <p:oleObj name="Equation" r:id="rId20" imgW="152280" imgH="190440" progId="Equation.DSMT4">
                  <p:embed/>
                  <p:pic>
                    <p:nvPicPr>
                      <p:cNvPr id="64" name="对象 63">
                        <a:extLst>
                          <a:ext uri="{FF2B5EF4-FFF2-40B4-BE49-F238E27FC236}">
                            <a16:creationId xmlns:a16="http://schemas.microsoft.com/office/drawing/2014/main" id="{C5BBCDB5-8956-506B-6535-14F09E217D8A}"/>
                          </a:ext>
                        </a:extLst>
                      </p:cNvPr>
                      <p:cNvPicPr>
                        <a:picLocks noChangeAspect="1" noChangeArrowheads="1"/>
                      </p:cNvPicPr>
                      <p:nvPr/>
                    </p:nvPicPr>
                    <p:blipFill>
                      <a:blip r:embed="rId21"/>
                      <a:srcRect/>
                      <a:stretch>
                        <a:fillRect/>
                      </a:stretch>
                    </p:blipFill>
                    <p:spPr bwMode="auto">
                      <a:xfrm>
                        <a:off x="7433389" y="1082167"/>
                        <a:ext cx="4270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5" name="直接连接符 64">
            <a:extLst>
              <a:ext uri="{FF2B5EF4-FFF2-40B4-BE49-F238E27FC236}">
                <a16:creationId xmlns:a16="http://schemas.microsoft.com/office/drawing/2014/main" id="{11D821F1-72DC-F34C-24EE-E2E44281421C}"/>
              </a:ext>
            </a:extLst>
          </p:cNvPr>
          <p:cNvCxnSpPr/>
          <p:nvPr/>
        </p:nvCxnSpPr>
        <p:spPr bwMode="auto">
          <a:xfrm flipH="1" flipV="1">
            <a:off x="9106517" y="2397167"/>
            <a:ext cx="271935" cy="7132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6" name="对象 65">
            <a:extLst>
              <a:ext uri="{FF2B5EF4-FFF2-40B4-BE49-F238E27FC236}">
                <a16:creationId xmlns:a16="http://schemas.microsoft.com/office/drawing/2014/main" id="{924705E5-ABAA-61CD-B6FD-F723DE007292}"/>
              </a:ext>
            </a:extLst>
          </p:cNvPr>
          <p:cNvGraphicFramePr>
            <a:graphicFrameLocks noChangeAspect="1"/>
          </p:cNvGraphicFramePr>
          <p:nvPr>
            <p:extLst>
              <p:ext uri="{D42A27DB-BD31-4B8C-83A1-F6EECF244321}">
                <p14:modId xmlns:p14="http://schemas.microsoft.com/office/powerpoint/2010/main" val="141915351"/>
              </p:ext>
            </p:extLst>
          </p:nvPr>
        </p:nvGraphicFramePr>
        <p:xfrm>
          <a:off x="9335519" y="2967662"/>
          <a:ext cx="461962" cy="534988"/>
        </p:xfrm>
        <a:graphic>
          <a:graphicData uri="http://schemas.openxmlformats.org/presentationml/2006/ole">
            <mc:AlternateContent xmlns:mc="http://schemas.openxmlformats.org/markup-compatibility/2006">
              <mc:Choice xmlns:v="urn:schemas-microsoft-com:vml" Requires="v">
                <p:oleObj spid="_x0000_s1195" name="Equation" r:id="rId22" imgW="164880" imgH="190440" progId="Equation.DSMT4">
                  <p:embed/>
                </p:oleObj>
              </mc:Choice>
              <mc:Fallback>
                <p:oleObj name="Equation" r:id="rId22" imgW="164880" imgH="190440" progId="Equation.DSMT4">
                  <p:embed/>
                  <p:pic>
                    <p:nvPicPr>
                      <p:cNvPr id="66" name="对象 65">
                        <a:extLst>
                          <a:ext uri="{FF2B5EF4-FFF2-40B4-BE49-F238E27FC236}">
                            <a16:creationId xmlns:a16="http://schemas.microsoft.com/office/drawing/2014/main" id="{924705E5-ABAA-61CD-B6FD-F723DE007292}"/>
                          </a:ext>
                        </a:extLst>
                      </p:cNvPr>
                      <p:cNvPicPr>
                        <a:picLocks noChangeAspect="1" noChangeArrowheads="1"/>
                      </p:cNvPicPr>
                      <p:nvPr/>
                    </p:nvPicPr>
                    <p:blipFill>
                      <a:blip r:embed="rId23"/>
                      <a:srcRect/>
                      <a:stretch>
                        <a:fillRect/>
                      </a:stretch>
                    </p:blipFill>
                    <p:spPr bwMode="auto">
                      <a:xfrm>
                        <a:off x="9335519" y="2967662"/>
                        <a:ext cx="461962"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 name="文本框 66">
            <a:extLst>
              <a:ext uri="{FF2B5EF4-FFF2-40B4-BE49-F238E27FC236}">
                <a16:creationId xmlns:a16="http://schemas.microsoft.com/office/drawing/2014/main" id="{F7850CD5-60B2-43F0-AD59-5AD4C4E9C9C4}"/>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3/29</a:t>
            </a:r>
            <a:endParaRPr lang="zh-CN" altLang="en-US" dirty="0"/>
          </a:p>
        </p:txBody>
      </p:sp>
    </p:spTree>
    <p:extLst>
      <p:ext uri="{BB962C8B-B14F-4D97-AF65-F5344CB8AC3E}">
        <p14:creationId xmlns:p14="http://schemas.microsoft.com/office/powerpoint/2010/main" val="1053559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9" name="矩形 18">
            <a:extLst>
              <a:ext uri="{FF2B5EF4-FFF2-40B4-BE49-F238E27FC236}">
                <a16:creationId xmlns:a16="http://schemas.microsoft.com/office/drawing/2014/main" id="{004E913E-16A5-4687-91A8-FD711E92BFF5}"/>
              </a:ext>
            </a:extLst>
          </p:cNvPr>
          <p:cNvSpPr/>
          <p:nvPr/>
        </p:nvSpPr>
        <p:spPr>
          <a:xfrm>
            <a:off x="203900" y="1880417"/>
            <a:ext cx="5832833" cy="4183838"/>
          </a:xfrm>
          <a:prstGeom prst="rect">
            <a:avLst/>
          </a:prstGeom>
        </p:spPr>
        <p:txBody>
          <a:bodyPr wrap="square">
            <a:spAutoFit/>
          </a:bodyPr>
          <a:lstStyle/>
          <a:p>
            <a:pPr marL="342900" indent="-342900" algn="just">
              <a:lnSpc>
                <a:spcPct val="125000"/>
              </a:lnSpc>
              <a:buFont typeface="Arial" panose="020B0604020202020204" pitchFamily="34" charset="0"/>
              <a:buChar char="•"/>
            </a:pPr>
            <a:r>
              <a:rPr lang="zh-CN" altLang="en-US" sz="2400" dirty="0">
                <a:latin typeface="+mj-ea"/>
                <a:ea typeface="+mj-ea"/>
              </a:rPr>
              <a:t>右图为定压式节流调速回路的一般形式。这种回路都使用</a:t>
            </a:r>
            <a:r>
              <a:rPr lang="zh-CN" altLang="en-US" sz="2400" b="1" dirty="0">
                <a:solidFill>
                  <a:srgbClr val="FF0000"/>
                </a:solidFill>
                <a:latin typeface="+mj-ea"/>
                <a:ea typeface="+mj-ea"/>
              </a:rPr>
              <a:t>定量泵</a:t>
            </a:r>
            <a:r>
              <a:rPr lang="zh-CN" altLang="en-US" sz="2400" dirty="0">
                <a:latin typeface="+mj-ea"/>
                <a:ea typeface="+mj-ea"/>
              </a:rPr>
              <a:t>并且必须并联一个</a:t>
            </a:r>
            <a:r>
              <a:rPr lang="zh-CN" altLang="en-US" sz="2400" b="1" dirty="0">
                <a:solidFill>
                  <a:srgbClr val="FF0000"/>
                </a:solidFill>
                <a:latin typeface="+mj-ea"/>
                <a:ea typeface="+mj-ea"/>
              </a:rPr>
              <a:t>溢流阀</a:t>
            </a:r>
            <a:r>
              <a:rPr lang="zh-CN" altLang="en-US" sz="2400" dirty="0">
                <a:latin typeface="+mj-ea"/>
                <a:ea typeface="+mj-ea"/>
              </a:rPr>
              <a:t>。</a:t>
            </a:r>
            <a:endParaRPr lang="en-US" altLang="zh-CN" sz="2400" dirty="0">
              <a:latin typeface="+mj-ea"/>
              <a:ea typeface="+mj-ea"/>
            </a:endParaRPr>
          </a:p>
          <a:p>
            <a:pPr marL="342900" indent="-342900" algn="just">
              <a:lnSpc>
                <a:spcPct val="125000"/>
              </a:lnSpc>
              <a:buFont typeface="Arial" panose="020B0604020202020204" pitchFamily="34" charset="0"/>
              <a:buChar char="•"/>
            </a:pPr>
            <a:r>
              <a:rPr lang="zh-CN" altLang="en-US" sz="2400" dirty="0">
                <a:latin typeface="+mj-ea"/>
                <a:ea typeface="+mj-ea"/>
              </a:rPr>
              <a:t>进油路上串接节流阀的结构</a:t>
            </a:r>
            <a:r>
              <a:rPr lang="en-US" altLang="zh-CN" sz="2400" dirty="0">
                <a:latin typeface="+mj-ea"/>
                <a:ea typeface="+mj-ea"/>
              </a:rPr>
              <a:t>,</a:t>
            </a:r>
            <a:r>
              <a:rPr lang="zh-CN" altLang="en-US" sz="2400" dirty="0">
                <a:latin typeface="+mj-ea"/>
                <a:ea typeface="+mj-ea"/>
              </a:rPr>
              <a:t>称为进口节流式</a:t>
            </a:r>
            <a:r>
              <a:rPr lang="en-US" altLang="zh-CN" sz="2400" dirty="0">
                <a:latin typeface="+mj-ea"/>
                <a:ea typeface="+mj-ea"/>
              </a:rPr>
              <a:t>;</a:t>
            </a:r>
            <a:r>
              <a:rPr lang="zh-CN" altLang="en-US" sz="2400" dirty="0">
                <a:latin typeface="+mj-ea"/>
                <a:ea typeface="+mj-ea"/>
              </a:rPr>
              <a:t> 回油路上串接节流阀的结构</a:t>
            </a:r>
            <a:r>
              <a:rPr lang="en-US" altLang="zh-CN" sz="2400" dirty="0">
                <a:latin typeface="+mj-ea"/>
                <a:ea typeface="+mj-ea"/>
              </a:rPr>
              <a:t>,</a:t>
            </a:r>
            <a:r>
              <a:rPr lang="zh-CN" altLang="en-US" sz="2400" dirty="0">
                <a:latin typeface="+mj-ea"/>
                <a:ea typeface="+mj-ea"/>
              </a:rPr>
              <a:t>称为出口节流式。</a:t>
            </a:r>
            <a:endParaRPr lang="en-US" altLang="zh-CN" sz="2400" dirty="0">
              <a:latin typeface="+mj-ea"/>
              <a:ea typeface="+mj-ea"/>
            </a:endParaRPr>
          </a:p>
          <a:p>
            <a:pPr marL="342900" indent="-342900" algn="just">
              <a:lnSpc>
                <a:spcPct val="125000"/>
              </a:lnSpc>
              <a:buFont typeface="Arial" panose="020B0604020202020204" pitchFamily="34" charset="0"/>
              <a:buChar char="•"/>
            </a:pPr>
            <a:r>
              <a:rPr lang="zh-CN" altLang="en-US" sz="2400" dirty="0">
                <a:latin typeface="+mj-ea"/>
                <a:ea typeface="+mj-ea"/>
              </a:rPr>
              <a:t>这些回路中</a:t>
            </a:r>
            <a:r>
              <a:rPr lang="zh-CN" altLang="en-US" sz="2400" b="1" dirty="0">
                <a:solidFill>
                  <a:srgbClr val="FF0000"/>
                </a:solidFill>
                <a:latin typeface="+mj-ea"/>
                <a:ea typeface="+mj-ea"/>
              </a:rPr>
              <a:t>泵的压力经溢流阀调定</a:t>
            </a:r>
            <a:r>
              <a:rPr lang="zh-CN" altLang="en-US" sz="2400" dirty="0">
                <a:latin typeface="+mj-ea"/>
                <a:ea typeface="+mj-ea"/>
              </a:rPr>
              <a:t>后</a:t>
            </a:r>
            <a:r>
              <a:rPr lang="en-US" altLang="zh-CN" sz="2400" dirty="0">
                <a:latin typeface="+mj-ea"/>
                <a:ea typeface="+mj-ea"/>
              </a:rPr>
              <a:t>,</a:t>
            </a:r>
            <a:r>
              <a:rPr lang="zh-CN" altLang="en-US" sz="2400" dirty="0">
                <a:latin typeface="+mj-ea"/>
                <a:ea typeface="+mj-ea"/>
              </a:rPr>
              <a:t>基本上保持恒定不变</a:t>
            </a:r>
            <a:r>
              <a:rPr lang="en-US" altLang="zh-CN" sz="2400" dirty="0">
                <a:latin typeface="+mj-ea"/>
                <a:ea typeface="+mj-ea"/>
              </a:rPr>
              <a:t>,</a:t>
            </a:r>
            <a:r>
              <a:rPr lang="zh-CN" altLang="en-US" sz="2400" dirty="0">
                <a:latin typeface="+mj-ea"/>
                <a:ea typeface="+mj-ea"/>
              </a:rPr>
              <a:t>所以称为定压式节流调速回路。</a:t>
            </a:r>
          </a:p>
        </p:txBody>
      </p:sp>
      <p:sp>
        <p:nvSpPr>
          <p:cNvPr id="25" name="矩形 24">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08E12499-BFB8-47F3-BAC4-975EC1E1E5B1}"/>
              </a:ext>
            </a:extLst>
          </p:cNvPr>
          <p:cNvSpPr/>
          <p:nvPr/>
        </p:nvSpPr>
        <p:spPr>
          <a:xfrm>
            <a:off x="142557" y="1118012"/>
            <a:ext cx="7547154" cy="581762"/>
          </a:xfrm>
          <a:prstGeom prst="rect">
            <a:avLst/>
          </a:prstGeom>
        </p:spPr>
        <p:txBody>
          <a:bodyPr wrap="square">
            <a:spAutoFit/>
          </a:bodyPr>
          <a:lstStyle/>
          <a:p>
            <a:pPr marL="457200" indent="-457200">
              <a:lnSpc>
                <a:spcPct val="125000"/>
              </a:lnSpc>
              <a:buFont typeface="Wingdings" panose="05000000000000000000" pitchFamily="2" charset="2"/>
              <a:buChar char="Ø"/>
            </a:pPr>
            <a:r>
              <a:rPr lang="zh-CN" altLang="en-US" sz="2800" b="1" dirty="0">
                <a:latin typeface="+mj-ea"/>
                <a:ea typeface="+mj-ea"/>
              </a:rPr>
              <a:t>定压式节流调速回路</a:t>
            </a:r>
          </a:p>
        </p:txBody>
      </p:sp>
      <p:sp>
        <p:nvSpPr>
          <p:cNvPr id="11" name="文本框 10">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pic>
        <p:nvPicPr>
          <p:cNvPr id="12" name="图片 11">
            <a:extLst>
              <a:ext uri="{FF2B5EF4-FFF2-40B4-BE49-F238E27FC236}">
                <a16:creationId xmlns:a16="http://schemas.microsoft.com/office/drawing/2014/main" id="{B17ABA6C-C58D-4E84-8308-710679F565BE}"/>
              </a:ext>
            </a:extLst>
          </p:cNvPr>
          <p:cNvPicPr>
            <a:picLocks noChangeAspect="1"/>
          </p:cNvPicPr>
          <p:nvPr/>
        </p:nvPicPr>
        <p:blipFill>
          <a:blip r:embed="rId3"/>
          <a:stretch>
            <a:fillRect/>
          </a:stretch>
        </p:blipFill>
        <p:spPr>
          <a:xfrm>
            <a:off x="6541365" y="1549447"/>
            <a:ext cx="5169411" cy="3962118"/>
          </a:xfrm>
          <a:prstGeom prst="rect">
            <a:avLst/>
          </a:prstGeom>
        </p:spPr>
      </p:pic>
      <p:sp>
        <p:nvSpPr>
          <p:cNvPr id="70" name="文本框 69">
            <a:extLst>
              <a:ext uri="{FF2B5EF4-FFF2-40B4-BE49-F238E27FC236}">
                <a16:creationId xmlns:a16="http://schemas.microsoft.com/office/drawing/2014/main" id="{9601B3E5-899C-76A3-6D1E-F1A525E1F924}"/>
              </a:ext>
            </a:extLst>
          </p:cNvPr>
          <p:cNvSpPr txBox="1"/>
          <p:nvPr/>
        </p:nvSpPr>
        <p:spPr>
          <a:xfrm>
            <a:off x="6880195" y="5579239"/>
            <a:ext cx="1445165" cy="369332"/>
          </a:xfrm>
          <a:prstGeom prst="rect">
            <a:avLst/>
          </a:prstGeom>
          <a:noFill/>
        </p:spPr>
        <p:txBody>
          <a:bodyPr wrap="square">
            <a:spAutoFit/>
          </a:bodyPr>
          <a:lstStyle/>
          <a:p>
            <a:r>
              <a:rPr lang="zh-CN" altLang="en-US" sz="1800" b="1" dirty="0">
                <a:latin typeface="+mj-ea"/>
                <a:ea typeface="+mj-ea"/>
              </a:rPr>
              <a:t>进口节流式</a:t>
            </a:r>
            <a:endParaRPr lang="zh-CN" altLang="en-US" b="1" dirty="0">
              <a:latin typeface="+mj-ea"/>
              <a:ea typeface="+mj-ea"/>
            </a:endParaRPr>
          </a:p>
        </p:txBody>
      </p:sp>
      <p:sp>
        <p:nvSpPr>
          <p:cNvPr id="71" name="文本框 70">
            <a:extLst>
              <a:ext uri="{FF2B5EF4-FFF2-40B4-BE49-F238E27FC236}">
                <a16:creationId xmlns:a16="http://schemas.microsoft.com/office/drawing/2014/main" id="{6CB03C8D-420E-229C-474B-488BBBE56219}"/>
              </a:ext>
            </a:extLst>
          </p:cNvPr>
          <p:cNvSpPr txBox="1"/>
          <p:nvPr/>
        </p:nvSpPr>
        <p:spPr>
          <a:xfrm>
            <a:off x="9882681" y="5594277"/>
            <a:ext cx="1344788" cy="369332"/>
          </a:xfrm>
          <a:prstGeom prst="rect">
            <a:avLst/>
          </a:prstGeom>
          <a:noFill/>
        </p:spPr>
        <p:txBody>
          <a:bodyPr wrap="square">
            <a:spAutoFit/>
          </a:bodyPr>
          <a:lstStyle>
            <a:defPPr>
              <a:defRPr lang="zh-CN"/>
            </a:defPPr>
            <a:lvl1pPr>
              <a:defRPr b="1">
                <a:latin typeface="+mj-ea"/>
                <a:ea typeface="+mj-ea"/>
              </a:defRPr>
            </a:lvl1pPr>
          </a:lstStyle>
          <a:p>
            <a:r>
              <a:rPr lang="zh-CN" altLang="en-US" dirty="0"/>
              <a:t>出口节流式</a:t>
            </a:r>
          </a:p>
        </p:txBody>
      </p:sp>
      <p:sp>
        <p:nvSpPr>
          <p:cNvPr id="13" name="文本框 12">
            <a:extLst>
              <a:ext uri="{FF2B5EF4-FFF2-40B4-BE49-F238E27FC236}">
                <a16:creationId xmlns:a16="http://schemas.microsoft.com/office/drawing/2014/main" id="{FF633AB2-03AA-4162-B7E0-669B19C170AE}"/>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4/29</a:t>
            </a:r>
            <a:endParaRPr lang="zh-CN" altLang="en-US" dirty="0"/>
          </a:p>
        </p:txBody>
      </p:sp>
    </p:spTree>
    <p:extLst>
      <p:ext uri="{BB962C8B-B14F-4D97-AF65-F5344CB8AC3E}">
        <p14:creationId xmlns:p14="http://schemas.microsoft.com/office/powerpoint/2010/main" val="199170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5" name="矩形 4">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a:ln>
            <a:noFill/>
          </a:ln>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F3B5C3B1-6577-411C-B7E0-251992F00725}"/>
                  </a:ext>
                </a:extLst>
              </p:cNvPr>
              <p:cNvSpPr/>
              <p:nvPr/>
            </p:nvSpPr>
            <p:spPr>
              <a:xfrm>
                <a:off x="252508" y="1896888"/>
                <a:ext cx="4661939" cy="162352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400" i="1">
                              <a:latin typeface="Cambria Math" panose="02040503050406030204" pitchFamily="18" charset="0"/>
                            </a:rPr>
                          </m:ctrlPr>
                        </m:mPr>
                        <m:mr>
                          <m:e>
                            <m:r>
                              <a:rPr lang="zh-CN" altLang="en-US" sz="2400" i="1">
                                <a:latin typeface="Cambria Math" panose="02040503050406030204" pitchFamily="18" charset="0"/>
                              </a:rPr>
                              <m:t>𝑣</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e>
                        </m:mr>
                        <m:m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r>
                              <a:rPr lang="zh-CN" altLang="en-US" sz="2400" i="1">
                                <a:latin typeface="Cambria Math" panose="02040503050406030204" pitchFamily="18" charset="0"/>
                              </a:rPr>
                              <m:t>𝐹</m:t>
                            </m:r>
                          </m:e>
                        </m:mr>
                        <m:m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r>
                              <m:rPr>
                                <m:sty m:val="p"/>
                              </m:rPr>
                              <a:rPr lang="zh-CN" altLang="en-US" sz="2400" i="0">
                                <a:latin typeface="Cambria Math" panose="02040503050406030204" pitchFamily="18" charset="0"/>
                              </a:rPr>
                              <m:t>Δ</m:t>
                            </m:r>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up>
                                <m:r>
                                  <a:rPr lang="zh-CN" altLang="en-US" sz="2400" i="1">
                                    <a:latin typeface="Cambria Math" panose="02040503050406030204" pitchFamily="18" charset="0"/>
                                  </a:rPr>
                                  <m:t>𝜑</m:t>
                                </m:r>
                              </m:sup>
                            </m:sSubSup>
                            <m:r>
                              <a:rPr lang="zh-CN" altLang="en-US" sz="2400" i="0">
                                <a:latin typeface="Cambria Math" panose="02040503050406030204" pitchFamily="18" charset="0"/>
                              </a:rPr>
                              <m:t>=</m:t>
                            </m:r>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p>
                              <m:sSupPr>
                                <m:ctrlPr>
                                  <a:rPr lang="zh-CN" altLang="en-US" sz="2400" i="1">
                                    <a:latin typeface="Cambria Math" panose="02040503050406030204" pitchFamily="18" charset="0"/>
                                  </a:rPr>
                                </m:ctrlPr>
                              </m:sSupPr>
                              <m:e>
                                <m:r>
                                  <m:rPr>
                                    <m:nor/>
                                  </m:rPr>
                                  <a:rPr lang="zh-CN" altLang="en-US" sz="2400" i="1">
                                    <a:latin typeface="Times New Roman" panose="02020603050405020304" pitchFamily="18" charset="0"/>
                                    <a:cs typeface="Times New Roman" panose="02020603050405020304" pitchFamily="18" charset="0"/>
                                  </a:rPr>
                                  <m:t>)</m:t>
                                </m:r>
                              </m:e>
                              <m:sup>
                                <m:r>
                                  <a:rPr lang="zh-CN" altLang="en-US" sz="2400" i="1">
                                    <a:latin typeface="Cambria Math" panose="02040503050406030204" pitchFamily="18" charset="0"/>
                                  </a:rPr>
                                  <m:t>𝜑</m:t>
                                </m:r>
                              </m:sup>
                            </m:sSup>
                          </m:e>
                        </m:mr>
                      </m:m>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F3B5C3B1-6577-411C-B7E0-251992F00725}"/>
                  </a:ext>
                </a:extLst>
              </p:cNvPr>
              <p:cNvSpPr>
                <a:spLocks noRot="1" noChangeAspect="1" noMove="1" noResize="1" noEditPoints="1" noAdjustHandles="1" noChangeArrowheads="1" noChangeShapeType="1" noTextEdit="1"/>
              </p:cNvSpPr>
              <p:nvPr/>
            </p:nvSpPr>
            <p:spPr>
              <a:xfrm>
                <a:off x="252508" y="1896888"/>
                <a:ext cx="4661939" cy="1623521"/>
              </a:xfrm>
              <a:prstGeom prst="rect">
                <a:avLst/>
              </a:prstGeom>
              <a:blipFill>
                <a:blip r:embed="rId4"/>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410AA23F-3E2C-4FE5-BD15-1EAC745394A8}"/>
              </a:ext>
            </a:extLst>
          </p:cNvPr>
          <p:cNvSpPr/>
          <p:nvPr/>
        </p:nvSpPr>
        <p:spPr>
          <a:xfrm>
            <a:off x="62768" y="4367061"/>
            <a:ext cx="3685624" cy="331694"/>
          </a:xfrm>
          <a:prstGeom prst="rect">
            <a:avLst/>
          </a:prstGeom>
        </p:spPr>
        <p:txBody>
          <a:bodyPr wrap="none">
            <a:spAutoFit/>
          </a:bodyPr>
          <a:lstStyle/>
          <a:p>
            <a:pPr indent="266700">
              <a:lnSpc>
                <a:spcPts val="1575"/>
              </a:lnSpc>
              <a:spcAft>
                <a:spcPts val="0"/>
              </a:spcAft>
            </a:pPr>
            <a:r>
              <a:rPr lang="zh-CN" altLang="en-US" sz="2800" b="1" dirty="0">
                <a:solidFill>
                  <a:srgbClr val="FF0000"/>
                </a:solidFill>
                <a:latin typeface="+mj-ea"/>
                <a:ea typeface="+mj-ea"/>
                <a:cs typeface="Times New Roman" panose="02020603050405020304" pitchFamily="18" charset="0"/>
              </a:rPr>
              <a:t>联立</a:t>
            </a:r>
            <a:r>
              <a:rPr lang="zh-CN" altLang="zh-CN" sz="2800" b="1" dirty="0">
                <a:solidFill>
                  <a:srgbClr val="FF0000"/>
                </a:solidFill>
                <a:latin typeface="+mj-ea"/>
                <a:ea typeface="+mj-ea"/>
                <a:cs typeface="Times New Roman" panose="02020603050405020304" pitchFamily="18" charset="0"/>
              </a:rPr>
              <a:t>以上三式可得</a:t>
            </a:r>
            <a:r>
              <a:rPr lang="zh-CN" altLang="en-US" sz="2800" b="1" dirty="0">
                <a:solidFill>
                  <a:srgbClr val="FF0000"/>
                </a:solidFill>
                <a:latin typeface="+mj-ea"/>
                <a:ea typeface="+mj-ea"/>
                <a:cs typeface="Times New Roman" panose="02020603050405020304" pitchFamily="18" charset="0"/>
              </a:rPr>
              <a:t>：</a:t>
            </a:r>
            <a:endParaRPr lang="zh-CN" altLang="zh-CN" sz="2800" b="1" dirty="0">
              <a:solidFill>
                <a:srgbClr val="FF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2970F024-1D1F-4B48-B842-7FCC7AAA84B9}"/>
                  </a:ext>
                </a:extLst>
              </p:cNvPr>
              <p:cNvSpPr/>
              <p:nvPr/>
            </p:nvSpPr>
            <p:spPr>
              <a:xfrm>
                <a:off x="-172157" y="4956810"/>
                <a:ext cx="7114204" cy="1026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𝑣</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Times New Roman" panose="02020603050405020304" pitchFamily="18" charset="0"/>
                                  <a:cs typeface="Times New Roman" panose="020206030504050203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𝐹</m:t>
                                  </m:r>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e>
                          </m:d>
                        </m:e>
                        <m:sup>
                          <m:r>
                            <a:rPr lang="zh-CN" altLang="en-US" sz="2400" i="1">
                              <a:latin typeface="Cambria Math" panose="02040503050406030204" pitchFamily="18" charset="0"/>
                            </a:rPr>
                            <m:t>𝜑</m:t>
                          </m:r>
                        </m:sup>
                      </m:sSup>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r>
                            <a:rPr lang="zh-CN" altLang="en-US" sz="2400" i="1">
                              <a:latin typeface="Cambria Math" panose="02040503050406030204" pitchFamily="18" charset="0"/>
                            </a:rPr>
                            <m:t>𝐹</m:t>
                          </m:r>
                          <m:sSup>
                            <m:sSupPr>
                              <m:ctrlPr>
                                <a:rPr lang="zh-CN" altLang="en-US" sz="2400" i="1">
                                  <a:latin typeface="Cambria Math" panose="02040503050406030204" pitchFamily="18" charset="0"/>
                                </a:rPr>
                              </m:ctrlPr>
                            </m:sSupPr>
                            <m:e>
                              <m:r>
                                <m:rPr>
                                  <m:nor/>
                                </m:rPr>
                                <a:rPr lang="zh-CN" altLang="en-US" sz="2400" i="1">
                                  <a:latin typeface="Times New Roman" panose="02020603050405020304" pitchFamily="18" charset="0"/>
                                  <a:cs typeface="Times New Roman" panose="02020603050405020304" pitchFamily="18" charset="0"/>
                                </a:rPr>
                                <m:t>)</m:t>
                              </m:r>
                            </m:e>
                            <m:sup>
                              <m:r>
                                <a:rPr lang="zh-CN" altLang="en-US" sz="2400" i="1">
                                  <a:latin typeface="Cambria Math" panose="02040503050406030204" pitchFamily="18" charset="0"/>
                                </a:rPr>
                                <m:t>𝜑</m:t>
                              </m:r>
                            </m:sup>
                          </m:sSup>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up>
                              <m:r>
                                <a:rPr lang="zh-CN" altLang="en-US" sz="2400" i="0">
                                  <a:latin typeface="Cambria Math" panose="02040503050406030204" pitchFamily="18" charset="0"/>
                                </a:rPr>
                                <m:t>1+</m:t>
                              </m:r>
                              <m:r>
                                <a:rPr lang="zh-CN" altLang="en-US" sz="2400" i="1">
                                  <a:latin typeface="Cambria Math" panose="02040503050406030204" pitchFamily="18" charset="0"/>
                                </a:rPr>
                                <m:t>𝜑</m:t>
                              </m:r>
                            </m:sup>
                          </m:sSubSup>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2970F024-1D1F-4B48-B842-7FCC7AAA84B9}"/>
                  </a:ext>
                </a:extLst>
              </p:cNvPr>
              <p:cNvSpPr>
                <a:spLocks noRot="1" noChangeAspect="1" noMove="1" noResize="1" noEditPoints="1" noAdjustHandles="1" noChangeArrowheads="1" noChangeShapeType="1" noTextEdit="1"/>
              </p:cNvSpPr>
              <p:nvPr/>
            </p:nvSpPr>
            <p:spPr>
              <a:xfrm>
                <a:off x="-172157" y="4956810"/>
                <a:ext cx="7114204" cy="1026820"/>
              </a:xfrm>
              <a:prstGeom prst="rect">
                <a:avLst/>
              </a:prstGeom>
              <a:blipFill>
                <a:blip r:embed="rId5"/>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A4EB2640-B9FF-950B-534C-800DB6C5A95C}"/>
              </a:ext>
            </a:extLst>
          </p:cNvPr>
          <p:cNvPicPr>
            <a:picLocks noChangeAspect="1"/>
          </p:cNvPicPr>
          <p:nvPr/>
        </p:nvPicPr>
        <p:blipFill>
          <a:blip r:embed="rId6"/>
          <a:srcRect r="50412" b="7800"/>
          <a:stretch/>
        </p:blipFill>
        <p:spPr>
          <a:xfrm>
            <a:off x="7099001" y="1061356"/>
            <a:ext cx="3612547" cy="5148242"/>
          </a:xfrm>
          <a:prstGeom prst="rect">
            <a:avLst/>
          </a:prstGeom>
        </p:spPr>
      </p:pic>
      <p:sp>
        <p:nvSpPr>
          <p:cNvPr id="11" name="文本框 10">
            <a:extLst>
              <a:ext uri="{FF2B5EF4-FFF2-40B4-BE49-F238E27FC236}">
                <a16:creationId xmlns:a16="http://schemas.microsoft.com/office/drawing/2014/main" id="{B0C8A2E6-44B1-E3A4-348E-F91B0780D999}"/>
              </a:ext>
            </a:extLst>
          </p:cNvPr>
          <p:cNvSpPr txBox="1"/>
          <p:nvPr/>
        </p:nvSpPr>
        <p:spPr>
          <a:xfrm>
            <a:off x="302214" y="973183"/>
            <a:ext cx="7332132" cy="523220"/>
          </a:xfrm>
          <a:prstGeom prst="rect">
            <a:avLst/>
          </a:prstGeom>
          <a:noFill/>
        </p:spPr>
        <p:txBody>
          <a:bodyPr wrap="square">
            <a:spAutoFit/>
          </a:bodyPr>
          <a:lstStyle/>
          <a:p>
            <a:r>
              <a:rPr lang="zh-CN" altLang="en-US" sz="2800" b="1" dirty="0">
                <a:solidFill>
                  <a:srgbClr val="FF0000"/>
                </a:solidFill>
                <a:latin typeface="+mj-ea"/>
                <a:ea typeface="+mj-ea"/>
                <a:cs typeface="Times New Roman" panose="02020603050405020304" pitchFamily="18" charset="0"/>
              </a:rPr>
              <a:t>流量连续性方程：</a:t>
            </a:r>
          </a:p>
        </p:txBody>
      </p:sp>
      <p:sp>
        <p:nvSpPr>
          <p:cNvPr id="12" name="文本框 11">
            <a:extLst>
              <a:ext uri="{FF2B5EF4-FFF2-40B4-BE49-F238E27FC236}">
                <a16:creationId xmlns:a16="http://schemas.microsoft.com/office/drawing/2014/main" id="{21A122F2-2147-4AA9-8C4C-F9278D4A0717}"/>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5/29</a:t>
            </a:r>
            <a:endParaRPr lang="zh-CN" altLang="en-US" dirty="0"/>
          </a:p>
        </p:txBody>
      </p:sp>
    </p:spTree>
    <p:extLst>
      <p:ext uri="{BB962C8B-B14F-4D97-AF65-F5344CB8AC3E}">
        <p14:creationId xmlns:p14="http://schemas.microsoft.com/office/powerpoint/2010/main" val="2437687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004E913E-16A5-4687-91A8-FD711E92BFF5}"/>
              </a:ext>
            </a:extLst>
          </p:cNvPr>
          <p:cNvSpPr/>
          <p:nvPr/>
        </p:nvSpPr>
        <p:spPr>
          <a:xfrm>
            <a:off x="-17100" y="1788082"/>
            <a:ext cx="7438178" cy="3743461"/>
          </a:xfrm>
          <a:prstGeom prst="rect">
            <a:avLst/>
          </a:prstGeom>
        </p:spPr>
        <p:txBody>
          <a:bodyPr wrap="square">
            <a:spAutoFit/>
          </a:bodyPr>
          <a:lstStyle/>
          <a:p>
            <a:pPr marL="457200" indent="-457200" algn="just">
              <a:lnSpc>
                <a:spcPct val="125000"/>
              </a:lnSpc>
              <a:buFont typeface="Arial" panose="020B0604020202020204" pitchFamily="34" charset="0"/>
              <a:buChar char="•"/>
            </a:pPr>
            <a:r>
              <a:rPr lang="zh-CN" altLang="en-US" sz="2400" dirty="0">
                <a:latin typeface="+mj-ea"/>
                <a:ea typeface="+mj-ea"/>
                <a:cs typeface="Times New Roman" panose="02020603050405020304" pitchFamily="18" charset="0"/>
              </a:rPr>
              <a:t>当溢流阀的压力</a:t>
            </a:r>
            <a:r>
              <a:rPr lang="en-US" altLang="zh-CN" sz="2400" dirty="0">
                <a:latin typeface="+mj-ea"/>
                <a:ea typeface="+mj-ea"/>
                <a:cs typeface="Times New Roman" panose="02020603050405020304" pitchFamily="18" charset="0"/>
              </a:rPr>
              <a:t>Pp</a:t>
            </a:r>
            <a:r>
              <a:rPr lang="zh-CN" altLang="en-US" sz="2400" dirty="0">
                <a:latin typeface="+mj-ea"/>
                <a:ea typeface="+mj-ea"/>
                <a:cs typeface="Times New Roman" panose="02020603050405020304" pitchFamily="18" charset="0"/>
              </a:rPr>
              <a:t>和节流阀的通流截面积</a:t>
            </a:r>
            <a:r>
              <a:rPr lang="en-US" altLang="zh-CN" sz="2400" dirty="0">
                <a:latin typeface="+mj-ea"/>
                <a:ea typeface="+mj-ea"/>
                <a:cs typeface="Times New Roman" panose="02020603050405020304" pitchFamily="18" charset="0"/>
              </a:rPr>
              <a:t>A</a:t>
            </a:r>
            <a:r>
              <a:rPr lang="en-US" altLang="zh-CN" sz="2400" baseline="-25000" dirty="0">
                <a:latin typeface="+mj-ea"/>
                <a:ea typeface="+mj-ea"/>
                <a:cs typeface="Times New Roman" panose="02020603050405020304" pitchFamily="18" charset="0"/>
              </a:rPr>
              <a:t>T1</a:t>
            </a:r>
            <a:r>
              <a:rPr lang="zh-CN" altLang="en-US" sz="2400" dirty="0">
                <a:latin typeface="+mj-ea"/>
                <a:ea typeface="+mj-ea"/>
                <a:cs typeface="Times New Roman" panose="02020603050405020304" pitchFamily="18" charset="0"/>
              </a:rPr>
              <a:t>调定之后</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活塞工作速度随负载加大而减小</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当</a:t>
            </a:r>
            <a:r>
              <a:rPr lang="en-US" altLang="zh-CN" sz="2400" dirty="0">
                <a:latin typeface="+mj-ea"/>
                <a:ea typeface="+mj-ea"/>
                <a:cs typeface="Times New Roman" panose="02020603050405020304" pitchFamily="18" charset="0"/>
              </a:rPr>
              <a:t>F=A</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Pp</a:t>
            </a:r>
            <a:r>
              <a:rPr lang="zh-CN" altLang="en-US" sz="2400" dirty="0">
                <a:latin typeface="+mj-ea"/>
                <a:ea typeface="+mj-ea"/>
                <a:cs typeface="Times New Roman" panose="02020603050405020304" pitchFamily="18" charset="0"/>
              </a:rPr>
              <a:t>时</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工作速度降为零</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活塞停止运动</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反之</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负载减小时活塞速度加大。</a:t>
            </a:r>
            <a:endParaRPr lang="en-US" altLang="zh-CN" sz="2400" dirty="0">
              <a:latin typeface="+mj-ea"/>
              <a:ea typeface="+mj-ea"/>
              <a:cs typeface="Times New Roman" panose="02020603050405020304" pitchFamily="18" charset="0"/>
            </a:endParaRPr>
          </a:p>
          <a:p>
            <a:pPr marL="457200" indent="-457200" algn="just">
              <a:lnSpc>
                <a:spcPct val="125000"/>
              </a:lnSpc>
              <a:buFont typeface="Arial" panose="020B0604020202020204" pitchFamily="34" charset="0"/>
              <a:buChar char="•"/>
            </a:pPr>
            <a:endParaRPr lang="en-US" altLang="zh-CN" sz="2400" dirty="0">
              <a:latin typeface="+mj-ea"/>
              <a:ea typeface="+mj-ea"/>
              <a:cs typeface="Times New Roman" panose="02020603050405020304" pitchFamily="18" charset="0"/>
            </a:endParaRPr>
          </a:p>
          <a:p>
            <a:pPr marL="457200" indent="-457200" algn="just">
              <a:lnSpc>
                <a:spcPct val="125000"/>
              </a:lnSpc>
              <a:buFont typeface="Arial" panose="020B0604020202020204" pitchFamily="34" charset="0"/>
              <a:buChar char="•"/>
            </a:pPr>
            <a:r>
              <a:rPr lang="zh-CN" altLang="en-US" sz="2400" dirty="0">
                <a:latin typeface="+mj-ea"/>
                <a:ea typeface="+mj-ea"/>
                <a:cs typeface="Times New Roman" panose="02020603050405020304" pitchFamily="18" charset="0"/>
              </a:rPr>
              <a:t>此外</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定压式节流调速回路的承载能力是不受节流阀通流截面积变化影响的</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各条曲线在速度为零时都汇交到同一负载点上。</a:t>
            </a:r>
          </a:p>
        </p:txBody>
      </p:sp>
      <p:sp>
        <p:nvSpPr>
          <p:cNvPr id="7" name="矩形 6">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8T2.EPS" descr="id:2147506874;FounderCES">
            <a:extLst>
              <a:ext uri="{FF2B5EF4-FFF2-40B4-BE49-F238E27FC236}">
                <a16:creationId xmlns:a16="http://schemas.microsoft.com/office/drawing/2014/main" id="{1E0A8306-1521-E80B-1442-9CC32F5CCA78}"/>
              </a:ext>
            </a:extLst>
          </p:cNvPr>
          <p:cNvPicPr/>
          <p:nvPr/>
        </p:nvPicPr>
        <p:blipFill>
          <a:blip r:embed="rId3" cstate="print"/>
          <a:stretch>
            <a:fillRect/>
          </a:stretch>
        </p:blipFill>
        <p:spPr>
          <a:xfrm>
            <a:off x="7836826" y="1788082"/>
            <a:ext cx="4212617" cy="3734592"/>
          </a:xfrm>
          <a:prstGeom prst="rect">
            <a:avLst/>
          </a:prstGeom>
        </p:spPr>
      </p:pic>
      <p:sp>
        <p:nvSpPr>
          <p:cNvPr id="9" name="文本框 8">
            <a:extLst>
              <a:ext uri="{FF2B5EF4-FFF2-40B4-BE49-F238E27FC236}">
                <a16:creationId xmlns:a16="http://schemas.microsoft.com/office/drawing/2014/main" id="{897DA6A7-420E-69AD-9708-D875478799EC}"/>
              </a:ext>
            </a:extLst>
          </p:cNvPr>
          <p:cNvSpPr txBox="1"/>
          <p:nvPr/>
        </p:nvSpPr>
        <p:spPr>
          <a:xfrm>
            <a:off x="9041940" y="5634353"/>
            <a:ext cx="1802388" cy="369332"/>
          </a:xfrm>
          <a:prstGeom prst="rect">
            <a:avLst/>
          </a:prstGeom>
          <a:noFill/>
        </p:spPr>
        <p:txBody>
          <a:bodyPr wrap="square">
            <a:spAutoFit/>
          </a:bodyPr>
          <a:lstStyle>
            <a:defPPr>
              <a:defRPr lang="zh-CN"/>
            </a:defPPr>
            <a:lvl1pPr>
              <a:defRPr b="1">
                <a:latin typeface="+mj-ea"/>
                <a:ea typeface="+mj-ea"/>
              </a:defRPr>
            </a:lvl1pPr>
          </a:lstStyle>
          <a:p>
            <a:r>
              <a:rPr lang="zh-CN" altLang="en-US" dirty="0">
                <a:solidFill>
                  <a:srgbClr val="FF0000"/>
                </a:solidFill>
              </a:rPr>
              <a:t>机械特性曲线</a:t>
            </a:r>
          </a:p>
        </p:txBody>
      </p:sp>
      <p:sp>
        <p:nvSpPr>
          <p:cNvPr id="10" name="矩形 9">
            <a:extLst>
              <a:ext uri="{FF2B5EF4-FFF2-40B4-BE49-F238E27FC236}">
                <a16:creationId xmlns:a16="http://schemas.microsoft.com/office/drawing/2014/main" id="{0429EDC9-6012-A7A1-3E2D-A8CE937E39F4}"/>
              </a:ext>
            </a:extLst>
          </p:cNvPr>
          <p:cNvSpPr/>
          <p:nvPr/>
        </p:nvSpPr>
        <p:spPr>
          <a:xfrm>
            <a:off x="-17100" y="1013589"/>
            <a:ext cx="7547154" cy="581762"/>
          </a:xfrm>
          <a:prstGeom prst="rect">
            <a:avLst/>
          </a:prstGeom>
        </p:spPr>
        <p:txBody>
          <a:bodyPr wrap="square">
            <a:spAutoFit/>
          </a:bodyPr>
          <a:lstStyle/>
          <a:p>
            <a:pPr marL="457200" indent="-457200">
              <a:lnSpc>
                <a:spcPct val="125000"/>
              </a:lnSpc>
              <a:buFont typeface="Wingdings" panose="05000000000000000000" pitchFamily="2" charset="2"/>
              <a:buChar char="Ø"/>
            </a:pPr>
            <a:r>
              <a:rPr lang="zh-CN" altLang="en-US" sz="2800" b="1" dirty="0">
                <a:latin typeface="+mj-ea"/>
                <a:ea typeface="+mj-ea"/>
              </a:rPr>
              <a:t>定压式节流调速回路机械特性</a:t>
            </a: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E74C338-01FA-4E61-BE65-AC87DB33DB95}"/>
                  </a:ext>
                </a:extLst>
              </p:cNvPr>
              <p:cNvSpPr/>
              <p:nvPr/>
            </p:nvSpPr>
            <p:spPr>
              <a:xfrm>
                <a:off x="306874" y="5670546"/>
                <a:ext cx="7114204" cy="1026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𝑣</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Times New Roman" panose="02020603050405020304" pitchFamily="18" charset="0"/>
                                  <a:cs typeface="Times New Roman" panose="020206030504050203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𝐹</m:t>
                                  </m:r>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e>
                          </m:d>
                        </m:e>
                        <m:sup>
                          <m:r>
                            <a:rPr lang="zh-CN" altLang="en-US" sz="2400" i="1">
                              <a:latin typeface="Cambria Math" panose="02040503050406030204" pitchFamily="18" charset="0"/>
                            </a:rPr>
                            <m:t>𝜑</m:t>
                          </m:r>
                        </m:sup>
                      </m:sSup>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r>
                            <a:rPr lang="zh-CN" altLang="en-US" sz="2400" i="1">
                              <a:latin typeface="Cambria Math" panose="02040503050406030204" pitchFamily="18" charset="0"/>
                            </a:rPr>
                            <m:t>𝐹</m:t>
                          </m:r>
                          <m:sSup>
                            <m:sSupPr>
                              <m:ctrlPr>
                                <a:rPr lang="zh-CN" altLang="en-US" sz="2400" i="1">
                                  <a:latin typeface="Cambria Math" panose="02040503050406030204" pitchFamily="18" charset="0"/>
                                </a:rPr>
                              </m:ctrlPr>
                            </m:sSupPr>
                            <m:e>
                              <m:r>
                                <m:rPr>
                                  <m:nor/>
                                </m:rPr>
                                <a:rPr lang="zh-CN" altLang="en-US" sz="2400" i="1">
                                  <a:latin typeface="Times New Roman" panose="02020603050405020304" pitchFamily="18" charset="0"/>
                                  <a:cs typeface="Times New Roman" panose="02020603050405020304" pitchFamily="18" charset="0"/>
                                </a:rPr>
                                <m:t>)</m:t>
                              </m:r>
                            </m:e>
                            <m:sup>
                              <m:r>
                                <a:rPr lang="zh-CN" altLang="en-US" sz="2400" i="1">
                                  <a:latin typeface="Cambria Math" panose="02040503050406030204" pitchFamily="18" charset="0"/>
                                </a:rPr>
                                <m:t>𝜑</m:t>
                              </m:r>
                            </m:sup>
                          </m:sSup>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up>
                              <m:r>
                                <a:rPr lang="zh-CN" altLang="en-US" sz="2400" i="0">
                                  <a:latin typeface="Cambria Math" panose="02040503050406030204" pitchFamily="18" charset="0"/>
                                </a:rPr>
                                <m:t>1+</m:t>
                              </m:r>
                              <m:r>
                                <a:rPr lang="zh-CN" altLang="en-US" sz="2400" i="1">
                                  <a:latin typeface="Cambria Math" panose="02040503050406030204" pitchFamily="18" charset="0"/>
                                </a:rPr>
                                <m:t>𝜑</m:t>
                              </m:r>
                            </m:sup>
                          </m:sSubSup>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CE74C338-01FA-4E61-BE65-AC87DB33DB95}"/>
                  </a:ext>
                </a:extLst>
              </p:cNvPr>
              <p:cNvSpPr>
                <a:spLocks noRot="1" noChangeAspect="1" noMove="1" noResize="1" noEditPoints="1" noAdjustHandles="1" noChangeArrowheads="1" noChangeShapeType="1" noTextEdit="1"/>
              </p:cNvSpPr>
              <p:nvPr/>
            </p:nvSpPr>
            <p:spPr>
              <a:xfrm>
                <a:off x="306874" y="5670546"/>
                <a:ext cx="7114204" cy="1026820"/>
              </a:xfrm>
              <a:prstGeom prst="rect">
                <a:avLst/>
              </a:prstGeom>
              <a:blipFill>
                <a:blip r:embed="rId4"/>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52068DEF-6FC0-4A05-80F9-B386548E57C3}"/>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6/29</a:t>
            </a:r>
            <a:endParaRPr lang="zh-CN" altLang="en-US" dirty="0"/>
          </a:p>
        </p:txBody>
      </p:sp>
    </p:spTree>
    <p:extLst>
      <p:ext uri="{BB962C8B-B14F-4D97-AF65-F5344CB8AC3E}">
        <p14:creationId xmlns:p14="http://schemas.microsoft.com/office/powerpoint/2010/main" val="140551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19" name="矩形 18">
            <a:extLst>
              <a:ext uri="{FF2B5EF4-FFF2-40B4-BE49-F238E27FC236}">
                <a16:creationId xmlns:a16="http://schemas.microsoft.com/office/drawing/2014/main" id="{004E913E-16A5-4687-91A8-FD711E92BFF5}"/>
              </a:ext>
            </a:extLst>
          </p:cNvPr>
          <p:cNvSpPr/>
          <p:nvPr/>
        </p:nvSpPr>
        <p:spPr>
          <a:xfrm>
            <a:off x="0" y="1754624"/>
            <a:ext cx="7024269" cy="3743461"/>
          </a:xfrm>
          <a:prstGeom prst="rect">
            <a:avLst/>
          </a:prstGeom>
        </p:spPr>
        <p:txBody>
          <a:bodyPr wrap="square">
            <a:spAutoFit/>
          </a:bodyPr>
          <a:lstStyle/>
          <a:p>
            <a:pPr marL="457200" indent="-457200" algn="just">
              <a:lnSpc>
                <a:spcPct val="125000"/>
              </a:lnSpc>
              <a:buFont typeface="Arial" panose="020B0604020202020204" pitchFamily="34" charset="0"/>
              <a:buChar char="•"/>
            </a:pPr>
            <a:r>
              <a:rPr lang="zh-CN" altLang="en-US" sz="2400" dirty="0">
                <a:latin typeface="+mj-ea"/>
                <a:ea typeface="+mj-ea"/>
                <a:cs typeface="Times New Roman" panose="02020603050405020304" pitchFamily="18" charset="0"/>
              </a:rPr>
              <a:t>活塞运动速度受负载影响的程度</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可以用</a:t>
            </a:r>
            <a:r>
              <a:rPr lang="zh-CN" altLang="en-US" sz="2400" b="1" dirty="0">
                <a:solidFill>
                  <a:srgbClr val="FF0000"/>
                </a:solidFill>
                <a:latin typeface="+mj-ea"/>
                <a:ea typeface="+mj-ea"/>
                <a:cs typeface="Times New Roman" panose="02020603050405020304" pitchFamily="18" charset="0"/>
              </a:rPr>
              <a:t>回路速度刚性</a:t>
            </a:r>
            <a:r>
              <a:rPr lang="zh-CN" altLang="en-US" sz="2400" dirty="0">
                <a:latin typeface="+mj-ea"/>
                <a:ea typeface="+mj-ea"/>
                <a:cs typeface="Times New Roman" panose="02020603050405020304" pitchFamily="18" charset="0"/>
              </a:rPr>
              <a:t>这个指标来评定</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速度刚性</a:t>
            </a:r>
            <a:r>
              <a:rPr lang="en-US" altLang="zh-CN" sz="2400" dirty="0">
                <a:latin typeface="+mj-ea"/>
                <a:ea typeface="+mj-ea"/>
                <a:cs typeface="Times New Roman" panose="02020603050405020304" pitchFamily="18" charset="0"/>
              </a:rPr>
              <a:t>k</a:t>
            </a:r>
            <a:r>
              <a:rPr lang="en-US" altLang="zh-CN" sz="2400" baseline="-25000" dirty="0">
                <a:latin typeface="+mj-ea"/>
                <a:ea typeface="+mj-ea"/>
                <a:cs typeface="Times New Roman" panose="02020603050405020304" pitchFamily="18" charset="0"/>
              </a:rPr>
              <a:t>v</a:t>
            </a:r>
            <a:r>
              <a:rPr lang="zh-CN" altLang="en-US" sz="2400" dirty="0">
                <a:latin typeface="+mj-ea"/>
                <a:ea typeface="+mj-ea"/>
                <a:cs typeface="Times New Roman" panose="02020603050405020304" pitchFamily="18" charset="0"/>
              </a:rPr>
              <a:t>是回路对负载变化抗衡能力的一种说明</a:t>
            </a:r>
            <a:r>
              <a:rPr lang="en-US" altLang="zh-CN" sz="2400" dirty="0">
                <a:latin typeface="+mj-ea"/>
                <a:ea typeface="+mj-ea"/>
                <a:cs typeface="Times New Roman" panose="02020603050405020304" pitchFamily="18" charset="0"/>
              </a:rPr>
              <a:t>,</a:t>
            </a:r>
            <a:r>
              <a:rPr lang="zh-CN" altLang="en-US" sz="2400" dirty="0">
                <a:latin typeface="+mj-ea"/>
                <a:ea typeface="+mj-ea"/>
                <a:cs typeface="Times New Roman" panose="02020603050405020304" pitchFamily="18" charset="0"/>
              </a:rPr>
              <a:t>它是机械特性曲线上某点处斜率的倒数。</a:t>
            </a:r>
            <a:endParaRPr lang="en-US" altLang="zh-CN" sz="2400" dirty="0">
              <a:latin typeface="+mj-ea"/>
              <a:ea typeface="+mj-ea"/>
              <a:cs typeface="Times New Roman" panose="02020603050405020304" pitchFamily="18" charset="0"/>
            </a:endParaRPr>
          </a:p>
          <a:p>
            <a:pPr marL="457200" indent="-457200" algn="just">
              <a:lnSpc>
                <a:spcPct val="125000"/>
              </a:lnSpc>
              <a:buFont typeface="Arial" panose="020B0604020202020204" pitchFamily="34" charset="0"/>
              <a:buChar char="•"/>
            </a:pPr>
            <a:endParaRPr lang="en-US" altLang="zh-CN" sz="2400" dirty="0">
              <a:latin typeface="+mj-ea"/>
              <a:ea typeface="+mj-ea"/>
              <a:cs typeface="Times New Roman" panose="02020603050405020304" pitchFamily="18" charset="0"/>
            </a:endParaRPr>
          </a:p>
          <a:p>
            <a:pPr marL="457200" indent="-457200" algn="just">
              <a:lnSpc>
                <a:spcPct val="125000"/>
              </a:lnSpc>
              <a:buFont typeface="Arial" panose="020B0604020202020204" pitchFamily="34" charset="0"/>
              <a:buChar char="•"/>
            </a:pPr>
            <a:r>
              <a:rPr lang="zh-CN" altLang="zh-CN" sz="2400" dirty="0">
                <a:latin typeface="+mj-ea"/>
                <a:ea typeface="+mj-ea"/>
                <a:cs typeface="Times New Roman" panose="02020603050405020304" pitchFamily="18" charset="0"/>
              </a:rPr>
              <a:t>特性曲线上某处的</a:t>
            </a:r>
            <a:r>
              <a:rPr lang="zh-CN" altLang="zh-CN" sz="2400" b="1" dirty="0">
                <a:solidFill>
                  <a:srgbClr val="FF0000"/>
                </a:solidFill>
                <a:latin typeface="+mj-ea"/>
                <a:ea typeface="+mj-ea"/>
                <a:cs typeface="Times New Roman" panose="02020603050405020304" pitchFamily="18" charset="0"/>
              </a:rPr>
              <a:t>斜率越小</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机械特性越硬</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速度</a:t>
            </a:r>
            <a:r>
              <a:rPr lang="zh-CN" altLang="zh-CN" sz="2400" b="1" dirty="0">
                <a:solidFill>
                  <a:srgbClr val="FF0000"/>
                </a:solidFill>
                <a:latin typeface="+mj-ea"/>
                <a:ea typeface="+mj-ea"/>
                <a:cs typeface="Times New Roman" panose="02020603050405020304" pitchFamily="18" charset="0"/>
              </a:rPr>
              <a:t>刚性就越大</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活塞运动速度受负载波动的影响就越小</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活塞在变载下的</a:t>
            </a:r>
            <a:r>
              <a:rPr lang="zh-CN" altLang="zh-CN" sz="2400" b="1" dirty="0">
                <a:solidFill>
                  <a:srgbClr val="FF0000"/>
                </a:solidFill>
                <a:latin typeface="+mj-ea"/>
                <a:ea typeface="+mj-ea"/>
                <a:cs typeface="Times New Roman" panose="02020603050405020304" pitchFamily="18" charset="0"/>
              </a:rPr>
              <a:t>运动就越平稳</a:t>
            </a:r>
            <a:r>
              <a:rPr lang="zh-CN" altLang="zh-CN" sz="2400" dirty="0">
                <a:latin typeface="+mj-ea"/>
                <a:ea typeface="+mj-ea"/>
                <a:cs typeface="Times New Roman" panose="02020603050405020304" pitchFamily="18" charset="0"/>
              </a:rPr>
              <a:t>。</a:t>
            </a:r>
          </a:p>
        </p:txBody>
      </p:sp>
      <p:sp>
        <p:nvSpPr>
          <p:cNvPr id="25" name="矩形 24">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pic>
        <p:nvPicPr>
          <p:cNvPr id="10" name="8T2.EPS" descr="id:2147506874;FounderCES">
            <a:extLst>
              <a:ext uri="{FF2B5EF4-FFF2-40B4-BE49-F238E27FC236}">
                <a16:creationId xmlns:a16="http://schemas.microsoft.com/office/drawing/2014/main" id="{CBDED851-69D4-4344-854A-A846C729410B}"/>
              </a:ext>
            </a:extLst>
          </p:cNvPr>
          <p:cNvPicPr/>
          <p:nvPr/>
        </p:nvPicPr>
        <p:blipFill>
          <a:blip r:embed="rId4" cstate="print"/>
          <a:stretch>
            <a:fillRect/>
          </a:stretch>
        </p:blipFill>
        <p:spPr>
          <a:xfrm>
            <a:off x="7845487" y="1610905"/>
            <a:ext cx="4203956" cy="3668320"/>
          </a:xfrm>
          <a:prstGeom prst="rect">
            <a:avLst/>
          </a:prstGeom>
        </p:spPr>
      </p:pic>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D03EB4EE-D5E9-4A50-835B-ACE35FBA366F}"/>
                  </a:ext>
                </a:extLst>
              </p:cNvPr>
              <p:cNvSpPr/>
              <p:nvPr/>
            </p:nvSpPr>
            <p:spPr>
              <a:xfrm>
                <a:off x="7200455" y="5797159"/>
                <a:ext cx="4991545" cy="8057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a:rPr lang="zh-CN" altLang="en-US" sz="2400" i="1">
                              <a:latin typeface="Cambria Math" panose="02040503050406030204" pitchFamily="18" charset="0"/>
                            </a:rPr>
                            <m:t>𝑣</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smtClean="0">
                              <a:latin typeface="Cambria Math" panose="02040503050406030204" pitchFamily="18" charset="0"/>
                            </a:rPr>
                            <m:t>𝜕</m:t>
                          </m:r>
                          <m:r>
                            <a:rPr lang="zh-CN" altLang="en-US" sz="2400" i="1">
                              <a:latin typeface="Cambria Math" panose="02040503050406030204" pitchFamily="18" charset="0"/>
                            </a:rPr>
                            <m:t>𝐹</m:t>
                          </m:r>
                        </m:num>
                        <m:den>
                          <m:r>
                            <a:rPr lang="zh-CN" altLang="en-US" sz="2400" i="1" smtClean="0">
                              <a:latin typeface="Cambria Math" panose="02040503050406030204" pitchFamily="18" charset="0"/>
                            </a:rPr>
                            <m:t>𝜕</m:t>
                          </m:r>
                          <m:r>
                            <a:rPr lang="zh-CN" altLang="en-US" sz="2400" i="1">
                              <a:latin typeface="Cambria Math" panose="02040503050406030204" pitchFamily="18" charset="0"/>
                            </a:rPr>
                            <m:t>𝑣</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m:rPr>
                              <m:sty m:val="p"/>
                            </m:rPr>
                            <a:rPr lang="zh-CN" altLang="en-US" sz="2400" i="0">
                              <a:latin typeface="Cambria Math" panose="02040503050406030204" pitchFamily="18" charset="0"/>
                            </a:rPr>
                            <m:t>tan</m:t>
                          </m:r>
                          <m:r>
                            <a:rPr lang="zh-CN" altLang="en-US" sz="2400" i="1">
                              <a:latin typeface="Cambria Math" panose="02040503050406030204" pitchFamily="18" charset="0"/>
                            </a:rPr>
                            <m:t>𝛼</m:t>
                          </m:r>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D03EB4EE-D5E9-4A50-835B-ACE35FBA366F}"/>
                  </a:ext>
                </a:extLst>
              </p:cNvPr>
              <p:cNvSpPr>
                <a:spLocks noRot="1" noChangeAspect="1" noMove="1" noResize="1" noEditPoints="1" noAdjustHandles="1" noChangeArrowheads="1" noChangeShapeType="1" noTextEdit="1"/>
              </p:cNvSpPr>
              <p:nvPr/>
            </p:nvSpPr>
            <p:spPr>
              <a:xfrm>
                <a:off x="7200455" y="5797159"/>
                <a:ext cx="4991545" cy="805733"/>
              </a:xfrm>
              <a:prstGeom prst="rect">
                <a:avLst/>
              </a:prstGeom>
              <a:blipFill>
                <a:blip r:embed="rId5"/>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8E182367-9C38-5C18-232D-C0C2677F8390}"/>
              </a:ext>
            </a:extLst>
          </p:cNvPr>
          <p:cNvSpPr txBox="1"/>
          <p:nvPr/>
        </p:nvSpPr>
        <p:spPr>
          <a:xfrm>
            <a:off x="8062257" y="5158433"/>
            <a:ext cx="6121666" cy="523220"/>
          </a:xfrm>
          <a:prstGeom prst="rect">
            <a:avLst/>
          </a:prstGeom>
          <a:noFill/>
        </p:spPr>
        <p:txBody>
          <a:bodyPr wrap="square">
            <a:spAutoFit/>
          </a:bodyPr>
          <a:lstStyle/>
          <a:p>
            <a:r>
              <a:rPr lang="zh-CN" altLang="en-US" sz="2800" b="1" dirty="0">
                <a:solidFill>
                  <a:srgbClr val="FF0000"/>
                </a:solidFill>
                <a:latin typeface="+mj-ea"/>
                <a:ea typeface="+mj-ea"/>
                <a:cs typeface="Times New Roman" panose="02020603050405020304" pitchFamily="18" charset="0"/>
              </a:rPr>
              <a:t>速度刚性：</a:t>
            </a:r>
          </a:p>
        </p:txBody>
      </p:sp>
      <p:sp>
        <p:nvSpPr>
          <p:cNvPr id="4" name="矩形 3">
            <a:extLst>
              <a:ext uri="{FF2B5EF4-FFF2-40B4-BE49-F238E27FC236}">
                <a16:creationId xmlns:a16="http://schemas.microsoft.com/office/drawing/2014/main" id="{D74A9A03-FC4E-1776-E0E1-5AD595944C72}"/>
              </a:ext>
            </a:extLst>
          </p:cNvPr>
          <p:cNvSpPr/>
          <p:nvPr/>
        </p:nvSpPr>
        <p:spPr>
          <a:xfrm>
            <a:off x="-17100" y="1013589"/>
            <a:ext cx="7547154" cy="581762"/>
          </a:xfrm>
          <a:prstGeom prst="rect">
            <a:avLst/>
          </a:prstGeom>
        </p:spPr>
        <p:txBody>
          <a:bodyPr wrap="square">
            <a:spAutoFit/>
          </a:bodyPr>
          <a:lstStyle/>
          <a:p>
            <a:pPr marL="457200" indent="-457200">
              <a:lnSpc>
                <a:spcPct val="125000"/>
              </a:lnSpc>
              <a:buFont typeface="Wingdings" panose="05000000000000000000" pitchFamily="2" charset="2"/>
              <a:buChar char="Ø"/>
            </a:pPr>
            <a:r>
              <a:rPr lang="zh-CN" altLang="en-US" sz="2800" b="1" dirty="0">
                <a:latin typeface="+mj-ea"/>
                <a:ea typeface="+mj-ea"/>
              </a:rPr>
              <a:t>定压式节流调速回路机械特性</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8F1BC89-FFB1-4CF6-9B6E-EE61B5146D46}"/>
                  </a:ext>
                </a:extLst>
              </p:cNvPr>
              <p:cNvSpPr/>
              <p:nvPr/>
            </p:nvSpPr>
            <p:spPr>
              <a:xfrm>
                <a:off x="306874" y="5670546"/>
                <a:ext cx="7114204" cy="1026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𝑣</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Times New Roman" panose="02020603050405020304" pitchFamily="18" charset="0"/>
                                  <a:cs typeface="Times New Roman" panose="020206030504050203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𝐹</m:t>
                                  </m:r>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e>
                          </m:d>
                        </m:e>
                        <m:sup>
                          <m:r>
                            <a:rPr lang="zh-CN" altLang="en-US" sz="2400" i="1">
                              <a:latin typeface="Cambria Math" panose="02040503050406030204" pitchFamily="18" charset="0"/>
                            </a:rPr>
                            <m:t>𝜑</m:t>
                          </m:r>
                        </m:sup>
                      </m:sSup>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r>
                            <a:rPr lang="zh-CN" altLang="en-US" sz="2400" i="1">
                              <a:latin typeface="Cambria Math" panose="02040503050406030204" pitchFamily="18" charset="0"/>
                            </a:rPr>
                            <m:t>𝐹</m:t>
                          </m:r>
                          <m:sSup>
                            <m:sSupPr>
                              <m:ctrlPr>
                                <a:rPr lang="zh-CN" altLang="en-US" sz="2400" i="1">
                                  <a:latin typeface="Cambria Math" panose="02040503050406030204" pitchFamily="18" charset="0"/>
                                </a:rPr>
                              </m:ctrlPr>
                            </m:sSupPr>
                            <m:e>
                              <m:r>
                                <m:rPr>
                                  <m:nor/>
                                </m:rPr>
                                <a:rPr lang="zh-CN" altLang="en-US" sz="2400" i="1">
                                  <a:latin typeface="Times New Roman" panose="02020603050405020304" pitchFamily="18" charset="0"/>
                                  <a:cs typeface="Times New Roman" panose="02020603050405020304" pitchFamily="18" charset="0"/>
                                </a:rPr>
                                <m:t>)</m:t>
                              </m:r>
                            </m:e>
                            <m:sup>
                              <m:r>
                                <a:rPr lang="zh-CN" altLang="en-US" sz="2400" i="1">
                                  <a:latin typeface="Cambria Math" panose="02040503050406030204" pitchFamily="18" charset="0"/>
                                </a:rPr>
                                <m:t>𝜑</m:t>
                              </m:r>
                            </m:sup>
                          </m:sSup>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up>
                              <m:r>
                                <a:rPr lang="zh-CN" altLang="en-US" sz="2400" i="0">
                                  <a:latin typeface="Cambria Math" panose="02040503050406030204" pitchFamily="18" charset="0"/>
                                </a:rPr>
                                <m:t>1+</m:t>
                              </m:r>
                              <m:r>
                                <a:rPr lang="zh-CN" altLang="en-US" sz="2400" i="1">
                                  <a:latin typeface="Cambria Math" panose="02040503050406030204" pitchFamily="18" charset="0"/>
                                </a:rPr>
                                <m:t>𝜑</m:t>
                              </m:r>
                            </m:sup>
                          </m:sSubSup>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68F1BC89-FFB1-4CF6-9B6E-EE61B5146D46}"/>
                  </a:ext>
                </a:extLst>
              </p:cNvPr>
              <p:cNvSpPr>
                <a:spLocks noRot="1" noChangeAspect="1" noMove="1" noResize="1" noEditPoints="1" noAdjustHandles="1" noChangeArrowheads="1" noChangeShapeType="1" noTextEdit="1"/>
              </p:cNvSpPr>
              <p:nvPr/>
            </p:nvSpPr>
            <p:spPr>
              <a:xfrm>
                <a:off x="306874" y="5670546"/>
                <a:ext cx="7114204" cy="1026820"/>
              </a:xfrm>
              <a:prstGeom prst="rect">
                <a:avLst/>
              </a:prstGeom>
              <a:blipFill>
                <a:blip r:embed="rId6"/>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35E643E5-BDD8-4B46-A99C-CB86379BD6BE}"/>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7/29</a:t>
            </a:r>
            <a:endParaRPr lang="zh-CN" altLang="en-US" dirty="0"/>
          </a:p>
        </p:txBody>
      </p:sp>
    </p:spTree>
    <p:extLst>
      <p:ext uri="{BB962C8B-B14F-4D97-AF65-F5344CB8AC3E}">
        <p14:creationId xmlns:p14="http://schemas.microsoft.com/office/powerpoint/2010/main" val="136378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5" name="矩形 4">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12" name="矩形 11">
            <a:extLst>
              <a:ext uri="{FF2B5EF4-FFF2-40B4-BE49-F238E27FC236}">
                <a16:creationId xmlns:a16="http://schemas.microsoft.com/office/drawing/2014/main" id="{DEF4E62B-363F-47F2-949F-E9C0C1F9869E}"/>
              </a:ext>
            </a:extLst>
          </p:cNvPr>
          <p:cNvSpPr/>
          <p:nvPr/>
        </p:nvSpPr>
        <p:spPr>
          <a:xfrm>
            <a:off x="-59644" y="1076039"/>
            <a:ext cx="10886145" cy="581057"/>
          </a:xfrm>
          <a:prstGeom prst="rect">
            <a:avLst/>
          </a:prstGeom>
        </p:spPr>
        <p:txBody>
          <a:bodyPr wrap="square">
            <a:spAutoFit/>
          </a:bodyPr>
          <a:lstStyle/>
          <a:p>
            <a:pPr indent="266700">
              <a:lnSpc>
                <a:spcPct val="150000"/>
              </a:lnSpc>
              <a:spcAft>
                <a:spcPts val="0"/>
              </a:spcAft>
            </a:pPr>
            <a:r>
              <a:rPr lang="zh-CN" altLang="zh-CN" sz="2400" dirty="0">
                <a:latin typeface="+mj-ea"/>
                <a:ea typeface="+mj-ea"/>
                <a:cs typeface="Times New Roman" panose="02020603050405020304" pitchFamily="18" charset="0"/>
              </a:rPr>
              <a:t>定压式进口节流调速回路的速度刚性求得如下</a:t>
            </a:r>
            <a:r>
              <a:rPr lang="zh-CN" altLang="en-US" sz="2400" dirty="0">
                <a:latin typeface="+mj-ea"/>
                <a:ea typeface="+mj-ea"/>
                <a:cs typeface="Times New Roman" panose="02020603050405020304" pitchFamily="18" charset="0"/>
              </a:rPr>
              <a:t>：</a:t>
            </a:r>
            <a:endParaRPr lang="zh-CN" altLang="zh-CN" sz="2400" dirty="0">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D3A5192A-9A39-41CD-B9CE-6DE9DE8019CC}"/>
                  </a:ext>
                </a:extLst>
              </p:cNvPr>
              <p:cNvSpPr/>
              <p:nvPr/>
            </p:nvSpPr>
            <p:spPr>
              <a:xfrm>
                <a:off x="74795" y="1920241"/>
                <a:ext cx="5308633" cy="10009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a:rPr lang="zh-CN" altLang="en-US" sz="2400" i="1">
                              <a:latin typeface="Cambria Math" panose="02040503050406030204" pitchFamily="18" charset="0"/>
                            </a:rPr>
                            <m:t>𝑣</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up>
                              <m:r>
                                <a:rPr lang="zh-CN" altLang="en-US" sz="2400" i="0">
                                  <a:latin typeface="Cambria Math" panose="02040503050406030204" pitchFamily="18" charset="0"/>
                                </a:rPr>
                                <m:t>1+</m:t>
                              </m:r>
                              <m:r>
                                <a:rPr lang="zh-CN" altLang="en-US" sz="2400" i="1">
                                  <a:latin typeface="Cambria Math" panose="02040503050406030204" pitchFamily="18" charset="0"/>
                                </a:rPr>
                                <m:t>𝜑</m:t>
                              </m:r>
                            </m:sup>
                          </m:sSubSup>
                        </m:num>
                        <m:den>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𝑃</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r>
                            <a:rPr lang="zh-CN" altLang="en-US" sz="2400" i="1">
                              <a:latin typeface="Cambria Math" panose="02040503050406030204" pitchFamily="18" charset="0"/>
                            </a:rPr>
                            <m:t>𝐹</m:t>
                          </m:r>
                          <m:sSup>
                            <m:sSupPr>
                              <m:ctrlPr>
                                <a:rPr lang="zh-CN" altLang="en-US" sz="2400" i="1">
                                  <a:latin typeface="Cambria Math" panose="02040503050406030204" pitchFamily="18" charset="0"/>
                                </a:rPr>
                              </m:ctrlPr>
                            </m:sSupPr>
                            <m:e>
                              <m:r>
                                <m:rPr>
                                  <m:nor/>
                                </m:rPr>
                                <a:rPr lang="zh-CN" altLang="en-US" sz="2400" i="1">
                                  <a:latin typeface="Times New Roman" panose="02020603050405020304" pitchFamily="18" charset="0"/>
                                  <a:cs typeface="Times New Roman" panose="02020603050405020304" pitchFamily="18" charset="0"/>
                                </a:rPr>
                                <m:t>)</m:t>
                              </m:r>
                            </m:e>
                            <m:sup>
                              <m:r>
                                <a:rPr lang="zh-CN" altLang="en-US" sz="2400" i="1">
                                  <a:latin typeface="Cambria Math" panose="02040503050406030204" pitchFamily="18" charset="0"/>
                                </a:rPr>
                                <m:t>𝜑</m:t>
                              </m:r>
                              <m:r>
                                <m:rPr>
                                  <m:nor/>
                                </m:rPr>
                                <a:rPr lang="zh-CN" altLang="en-US" sz="2400" i="1">
                                  <a:latin typeface="Times New Roman" panose="02020603050405020304" pitchFamily="18" charset="0"/>
                                  <a:cs typeface="Times New Roman" panose="02020603050405020304" pitchFamily="18" charset="0"/>
                                </a:rPr>
                                <m:t>−1</m:t>
                              </m:r>
                            </m:sup>
                          </m:sSup>
                          <m:r>
                            <a:rPr lang="zh-CN" altLang="en-US" sz="2400" i="1">
                              <a:latin typeface="Cambria Math" panose="02040503050406030204" pitchFamily="18" charset="0"/>
                            </a:rPr>
                            <m:t>𝜑</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r>
                            <m:rPr>
                              <m:nor/>
                            </m:rPr>
                            <a:rPr lang="zh-CN" altLang="en-US" sz="2400" i="1">
                              <a:latin typeface="Times New Roman" panose="02020603050405020304" pitchFamily="18" charset="0"/>
                              <a:cs typeface="Times New Roman" panose="02020603050405020304" pitchFamily="18" charset="0"/>
                            </a:rPr>
                            <m:t>−</m:t>
                          </m:r>
                          <m:r>
                            <a:rPr lang="zh-CN" altLang="en-US" sz="2400" i="1">
                              <a:latin typeface="Cambria Math" panose="02040503050406030204" pitchFamily="18" charset="0"/>
                            </a:rPr>
                            <m:t>𝐹</m:t>
                          </m:r>
                        </m:num>
                        <m:den>
                          <m:r>
                            <a:rPr lang="zh-CN" altLang="en-US" sz="2400" i="1">
                              <a:latin typeface="Cambria Math" panose="02040503050406030204" pitchFamily="18" charset="0"/>
                            </a:rPr>
                            <m:t>𝜑</m:t>
                          </m:r>
                          <m:r>
                            <a:rPr lang="zh-CN" altLang="en-US" sz="2400" i="1">
                              <a:latin typeface="Cambria Math" panose="02040503050406030204" pitchFamily="18" charset="0"/>
                            </a:rPr>
                            <m:t>𝑣</m:t>
                          </m:r>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D3A5192A-9A39-41CD-B9CE-6DE9DE8019CC}"/>
                  </a:ext>
                </a:extLst>
              </p:cNvPr>
              <p:cNvSpPr>
                <a:spLocks noRot="1" noChangeAspect="1" noMove="1" noResize="1" noEditPoints="1" noAdjustHandles="1" noChangeArrowheads="1" noChangeShapeType="1" noTextEdit="1"/>
              </p:cNvSpPr>
              <p:nvPr/>
            </p:nvSpPr>
            <p:spPr>
              <a:xfrm>
                <a:off x="74795" y="1920241"/>
                <a:ext cx="5308633" cy="1000915"/>
              </a:xfrm>
              <a:prstGeom prst="rect">
                <a:avLst/>
              </a:prstGeom>
              <a:blipFill>
                <a:blip r:embed="rId3"/>
                <a:stretch>
                  <a:fillRect/>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F9DB2B35-C615-47D8-98EB-4B32B5DDB79B}"/>
              </a:ext>
            </a:extLst>
          </p:cNvPr>
          <p:cNvSpPr/>
          <p:nvPr/>
        </p:nvSpPr>
        <p:spPr>
          <a:xfrm>
            <a:off x="4428067" y="5214434"/>
            <a:ext cx="8938661" cy="1135054"/>
          </a:xfrm>
          <a:prstGeom prst="rect">
            <a:avLst/>
          </a:prstGeom>
        </p:spPr>
        <p:txBody>
          <a:bodyPr wrap="square">
            <a:spAutoFit/>
          </a:bodyPr>
          <a:lstStyle/>
          <a:p>
            <a:pPr marL="457200" indent="-457200">
              <a:lnSpc>
                <a:spcPct val="150000"/>
              </a:lnSpc>
              <a:buFont typeface="Wingdings" panose="05000000000000000000" pitchFamily="2" charset="2"/>
              <a:buChar char="Ø"/>
            </a:pPr>
            <a:r>
              <a:rPr lang="zh-CN" altLang="zh-CN" sz="2400" b="1" dirty="0">
                <a:solidFill>
                  <a:srgbClr val="003F88"/>
                </a:solidFill>
                <a:latin typeface="+mj-ea"/>
                <a:ea typeface="+mj-ea"/>
                <a:cs typeface="Times New Roman" panose="02020603050405020304" pitchFamily="18" charset="0"/>
              </a:rPr>
              <a:t>节流阀通流截面积不变时</a:t>
            </a:r>
            <a:r>
              <a:rPr lang="en-US" altLang="zh-CN" sz="2400" dirty="0">
                <a:solidFill>
                  <a:srgbClr val="FF0000"/>
                </a:solidFill>
                <a:latin typeface="+mj-ea"/>
                <a:ea typeface="+mj-ea"/>
                <a:cs typeface="Times New Roman" panose="02020603050405020304" pitchFamily="18" charset="0"/>
              </a:rPr>
              <a:t>,</a:t>
            </a:r>
            <a:r>
              <a:rPr lang="zh-CN" altLang="zh-CN" sz="2400" dirty="0">
                <a:solidFill>
                  <a:srgbClr val="FF0000"/>
                </a:solidFill>
                <a:latin typeface="+mj-ea"/>
                <a:ea typeface="+mj-ea"/>
                <a:cs typeface="Times New Roman" panose="02020603050405020304" pitchFamily="18" charset="0"/>
              </a:rPr>
              <a:t>负载越小</a:t>
            </a:r>
            <a:r>
              <a:rPr lang="en-US" altLang="zh-CN" sz="2400" dirty="0">
                <a:solidFill>
                  <a:srgbClr val="FF0000"/>
                </a:solidFill>
                <a:latin typeface="+mj-ea"/>
                <a:ea typeface="+mj-ea"/>
                <a:cs typeface="Times New Roman" panose="02020603050405020304" pitchFamily="18" charset="0"/>
              </a:rPr>
              <a:t>,</a:t>
            </a:r>
            <a:r>
              <a:rPr lang="zh-CN" altLang="zh-CN" sz="2400" dirty="0">
                <a:solidFill>
                  <a:srgbClr val="FF0000"/>
                </a:solidFill>
                <a:latin typeface="+mj-ea"/>
                <a:ea typeface="+mj-ea"/>
                <a:cs typeface="Times New Roman" panose="02020603050405020304" pitchFamily="18" charset="0"/>
              </a:rPr>
              <a:t>速度刚性越高</a:t>
            </a:r>
            <a:endParaRPr lang="en-US" altLang="zh-CN" sz="2400" dirty="0">
              <a:solidFill>
                <a:srgbClr val="FF0000"/>
              </a:solidFill>
              <a:latin typeface="+mj-ea"/>
              <a:ea typeface="+mj-ea"/>
              <a:cs typeface="Times New Roman" panose="02020603050405020304" pitchFamily="18" charset="0"/>
            </a:endParaRPr>
          </a:p>
          <a:p>
            <a:pPr marL="457200" indent="-457200">
              <a:lnSpc>
                <a:spcPct val="150000"/>
              </a:lnSpc>
              <a:buFont typeface="Wingdings" panose="05000000000000000000" pitchFamily="2" charset="2"/>
              <a:buChar char="Ø"/>
            </a:pPr>
            <a:r>
              <a:rPr lang="zh-CN" altLang="zh-CN" sz="2400" b="1" dirty="0">
                <a:solidFill>
                  <a:srgbClr val="003F88"/>
                </a:solidFill>
                <a:latin typeface="+mj-ea"/>
                <a:ea typeface="+mj-ea"/>
                <a:cs typeface="Times New Roman" panose="02020603050405020304" pitchFamily="18" charset="0"/>
              </a:rPr>
              <a:t>当负载一定时</a:t>
            </a:r>
            <a:r>
              <a:rPr lang="en-US" altLang="zh-CN" sz="2400" b="1" dirty="0">
                <a:solidFill>
                  <a:srgbClr val="003F88"/>
                </a:solidFill>
                <a:latin typeface="+mj-ea"/>
                <a:ea typeface="+mj-ea"/>
                <a:cs typeface="Times New Roman" panose="02020603050405020304" pitchFamily="18" charset="0"/>
              </a:rPr>
              <a:t>,</a:t>
            </a:r>
            <a:r>
              <a:rPr lang="zh-CN" altLang="zh-CN" sz="2400" dirty="0">
                <a:solidFill>
                  <a:srgbClr val="FF0000"/>
                </a:solidFill>
                <a:latin typeface="+mj-ea"/>
                <a:ea typeface="+mj-ea"/>
                <a:cs typeface="Times New Roman" panose="02020603050405020304" pitchFamily="18" charset="0"/>
              </a:rPr>
              <a:t>节流阀通流截面积越小</a:t>
            </a:r>
            <a:r>
              <a:rPr lang="en-US" altLang="zh-CN" sz="2400" dirty="0">
                <a:solidFill>
                  <a:srgbClr val="FF0000"/>
                </a:solidFill>
                <a:latin typeface="+mj-ea"/>
                <a:ea typeface="+mj-ea"/>
                <a:cs typeface="Times New Roman" panose="02020603050405020304" pitchFamily="18" charset="0"/>
              </a:rPr>
              <a:t>,</a:t>
            </a:r>
            <a:r>
              <a:rPr lang="zh-CN" altLang="zh-CN" sz="2400" dirty="0">
                <a:solidFill>
                  <a:srgbClr val="FF0000"/>
                </a:solidFill>
                <a:latin typeface="+mj-ea"/>
                <a:ea typeface="+mj-ea"/>
                <a:cs typeface="Times New Roman" panose="02020603050405020304" pitchFamily="18" charset="0"/>
              </a:rPr>
              <a:t>速度刚性越高</a:t>
            </a:r>
            <a:endParaRPr lang="en-US" altLang="zh-CN" sz="2400" dirty="0">
              <a:solidFill>
                <a:srgbClr val="FF0000"/>
              </a:solidFill>
              <a:latin typeface="+mj-ea"/>
              <a:ea typeface="+mj-ea"/>
              <a:cs typeface="Times New Roman" panose="02020603050405020304" pitchFamily="18" charset="0"/>
            </a:endParaRPr>
          </a:p>
        </p:txBody>
      </p:sp>
      <p:pic>
        <p:nvPicPr>
          <p:cNvPr id="4" name="图片 3">
            <a:extLst>
              <a:ext uri="{FF2B5EF4-FFF2-40B4-BE49-F238E27FC236}">
                <a16:creationId xmlns:a16="http://schemas.microsoft.com/office/drawing/2014/main" id="{FE030C03-B07F-54EE-9022-0850DF220EC5}"/>
              </a:ext>
            </a:extLst>
          </p:cNvPr>
          <p:cNvPicPr>
            <a:picLocks noChangeAspect="1"/>
          </p:cNvPicPr>
          <p:nvPr/>
        </p:nvPicPr>
        <p:blipFill>
          <a:blip r:embed="rId4"/>
          <a:srcRect r="50412" b="7800"/>
          <a:stretch/>
        </p:blipFill>
        <p:spPr>
          <a:xfrm>
            <a:off x="7648342" y="1038051"/>
            <a:ext cx="2862003" cy="4078641"/>
          </a:xfrm>
          <a:prstGeom prst="rect">
            <a:avLst/>
          </a:prstGeom>
        </p:spPr>
      </p:pic>
      <p:pic>
        <p:nvPicPr>
          <p:cNvPr id="6" name="8T2.EPS" descr="id:2147506874;FounderCES">
            <a:extLst>
              <a:ext uri="{FF2B5EF4-FFF2-40B4-BE49-F238E27FC236}">
                <a16:creationId xmlns:a16="http://schemas.microsoft.com/office/drawing/2014/main" id="{46D53DAE-024B-507A-6B23-AFBDDB83B429}"/>
              </a:ext>
            </a:extLst>
          </p:cNvPr>
          <p:cNvPicPr/>
          <p:nvPr/>
        </p:nvPicPr>
        <p:blipFill>
          <a:blip r:embed="rId5" cstate="print"/>
          <a:stretch>
            <a:fillRect/>
          </a:stretch>
        </p:blipFill>
        <p:spPr>
          <a:xfrm>
            <a:off x="298322" y="3578374"/>
            <a:ext cx="3915444" cy="3034182"/>
          </a:xfrm>
          <a:prstGeom prst="rect">
            <a:avLst/>
          </a:prstGeom>
        </p:spPr>
      </p:pic>
      <p:sp>
        <p:nvSpPr>
          <p:cNvPr id="11" name="文本框 10">
            <a:extLst>
              <a:ext uri="{FF2B5EF4-FFF2-40B4-BE49-F238E27FC236}">
                <a16:creationId xmlns:a16="http://schemas.microsoft.com/office/drawing/2014/main" id="{D9776F2B-9CE4-46BF-8223-6A722E3DC363}"/>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8/29</a:t>
            </a:r>
            <a:endParaRPr lang="zh-CN" altLang="en-US" dirty="0"/>
          </a:p>
        </p:txBody>
      </p:sp>
    </p:spTree>
    <p:extLst>
      <p:ext uri="{BB962C8B-B14F-4D97-AF65-F5344CB8AC3E}">
        <p14:creationId xmlns:p14="http://schemas.microsoft.com/office/powerpoint/2010/main" val="2985535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14" name="矩形 13">
            <a:extLst>
              <a:ext uri="{FF2B5EF4-FFF2-40B4-BE49-F238E27FC236}">
                <a16:creationId xmlns:a16="http://schemas.microsoft.com/office/drawing/2014/main" id="{6C38D4CA-D768-433B-9901-51CBDFFAAF18}"/>
              </a:ext>
            </a:extLst>
          </p:cNvPr>
          <p:cNvSpPr/>
          <p:nvPr/>
        </p:nvSpPr>
        <p:spPr>
          <a:xfrm>
            <a:off x="199505" y="937058"/>
            <a:ext cx="11679228" cy="66255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Ø"/>
            </a:pPr>
            <a:r>
              <a:rPr lang="zh-CN" altLang="zh-CN" sz="2800" b="1" dirty="0">
                <a:latin typeface="+mj-ea"/>
                <a:ea typeface="+mj-ea"/>
              </a:rPr>
              <a:t>调速回路的功率特性</a:t>
            </a:r>
            <a:endParaRPr lang="zh-CN" altLang="en-US" sz="2800" b="1" dirty="0">
              <a:latin typeface="+mj-ea"/>
              <a:ea typeface="+mj-ea"/>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9528163C-14DB-4743-B41D-19E7F3560B47}"/>
                  </a:ext>
                </a:extLst>
              </p:cNvPr>
              <p:cNvSpPr/>
              <p:nvPr/>
            </p:nvSpPr>
            <p:spPr>
              <a:xfrm>
                <a:off x="-269866" y="3065664"/>
                <a:ext cx="7265739" cy="1172116"/>
              </a:xfrm>
              <a:prstGeom prst="rect">
                <a:avLst/>
              </a:prstGeom>
            </p:spPr>
            <p:txBody>
              <a:bodyPr wrap="square">
                <a:spAutoFit/>
              </a:bodyPr>
              <a:lstStyle/>
              <a:p>
                <a:pPr/>
                <a14:m>
                  <m:oMathPara xmlns:m="http://schemas.openxmlformats.org/officeDocument/2006/math">
                    <m:oMathParaPr>
                      <m:jc m:val="center"/>
                    </m:oMathParaPr>
                    <m:oMath xmlns:m="http://schemas.openxmlformats.org/officeDocument/2006/math">
                      <m:m>
                        <m:mPr>
                          <m:plcHide m:val="on"/>
                          <m:mcs>
                            <m:mc>
                              <m:mcPr>
                                <m:count m:val="1"/>
                                <m:mcJc m:val="center"/>
                              </m:mcPr>
                            </m:mc>
                          </m:mcs>
                          <m:ctrlPr>
                            <a:rPr lang="zh-CN" altLang="en-US" sz="2400" i="1" smtClean="0">
                              <a:latin typeface="Cambria Math" panose="02040503050406030204" pitchFamily="18" charset="0"/>
                            </a:rPr>
                          </m:ctrlPr>
                        </m:mPr>
                        <m:m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m:rPr>
                                    <m:sty m:val="p"/>
                                  </m:rPr>
                                  <a:rPr lang="zh-CN" altLang="en-US" sz="2400" i="0">
                                    <a:latin typeface="Cambria Math" panose="02040503050406030204" pitchFamily="18" charset="0"/>
                                  </a:rPr>
                                  <m:t>P</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e>
                        </m:mr>
                        <m:m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e>
                        </m:mr>
                        <m:mr>
                          <m:e>
                            <m:r>
                              <m:rPr>
                                <m:sty m:val="p"/>
                              </m:rPr>
                              <a:rPr lang="zh-CN" altLang="en-US" sz="2400" i="0">
                                <a:latin typeface="Cambria Math" panose="02040503050406030204" pitchFamily="18" charset="0"/>
                              </a:rPr>
                              <m:t>Δ</m:t>
                            </m:r>
                            <m:r>
                              <a:rPr lang="zh-CN" altLang="en-US" sz="2400" i="1">
                                <a:latin typeface="Cambria Math" panose="02040503050406030204" pitchFamily="18" charset="0"/>
                              </a:rPr>
                              <m:t>𝑃</m:t>
                            </m:r>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m:rPr>
                                    <m:sty m:val="p"/>
                                  </m:rPr>
                                  <a:rPr lang="zh-CN" altLang="en-US" sz="2400" i="0">
                                    <a:latin typeface="Cambria Math" panose="02040503050406030204" pitchFamily="18" charset="0"/>
                                  </a:rPr>
                                  <m:t>P</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sty m:val="p"/>
                              </m:rPr>
                              <a:rPr lang="zh-CN" altLang="en-US" sz="2400" i="0">
                                <a:latin typeface="Cambria Math" panose="02040503050406030204" pitchFamily="18" charset="0"/>
                              </a:rPr>
                              <m:t>Δ</m:t>
                            </m:r>
                            <m:r>
                              <a:rPr lang="zh-CN" altLang="en-US" sz="2400" i="1">
                                <a:latin typeface="Cambria Math" panose="02040503050406030204" pitchFamily="18" charset="0"/>
                              </a:rPr>
                              <m:t>𝑞</m:t>
                            </m:r>
                            <m:r>
                              <a:rPr lang="zh-CN" altLang="en-US" sz="2400" i="0">
                                <a:latin typeface="Cambria Math" panose="02040503050406030204" pitchFamily="18" charset="0"/>
                              </a:rPr>
                              <m:t>+</m:t>
                            </m:r>
                            <m:r>
                              <m:rPr>
                                <m:sty m:val="p"/>
                              </m:rPr>
                              <a:rPr lang="zh-CN" altLang="en-US" sz="2400" i="0">
                                <a:latin typeface="Cambria Math" panose="02040503050406030204" pitchFamily="18" charset="0"/>
                              </a:rPr>
                              <m:t>Δ</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e>
                        </m:mr>
                      </m:m>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5" name="矩形 14">
                <a:extLst>
                  <a:ext uri="{FF2B5EF4-FFF2-40B4-BE49-F238E27FC236}">
                    <a16:creationId xmlns:a16="http://schemas.microsoft.com/office/drawing/2014/main" id="{9528163C-14DB-4743-B41D-19E7F3560B47}"/>
                  </a:ext>
                </a:extLst>
              </p:cNvPr>
              <p:cNvSpPr>
                <a:spLocks noRot="1" noChangeAspect="1" noMove="1" noResize="1" noEditPoints="1" noAdjustHandles="1" noChangeArrowheads="1" noChangeShapeType="1" noTextEdit="1"/>
              </p:cNvSpPr>
              <p:nvPr/>
            </p:nvSpPr>
            <p:spPr>
              <a:xfrm>
                <a:off x="-269866" y="3065664"/>
                <a:ext cx="7265739" cy="1172116"/>
              </a:xfrm>
              <a:prstGeom prst="rect">
                <a:avLst/>
              </a:prstGeom>
              <a:blipFill>
                <a:blip r:embed="rId3"/>
                <a:stretch>
                  <a:fillRect/>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484C022D-E7FB-484E-84FB-E90855D3FB62}"/>
              </a:ext>
            </a:extLst>
          </p:cNvPr>
          <p:cNvSpPr/>
          <p:nvPr/>
        </p:nvSpPr>
        <p:spPr>
          <a:xfrm>
            <a:off x="8811" y="4324670"/>
            <a:ext cx="6708383" cy="2353658"/>
          </a:xfrm>
          <a:prstGeom prst="rect">
            <a:avLst/>
          </a:prstGeom>
        </p:spPr>
        <p:txBody>
          <a:bodyPr wrap="square">
            <a:spAutoFit/>
          </a:bodyPr>
          <a:lstStyle/>
          <a:p>
            <a:pPr indent="360000">
              <a:lnSpc>
                <a:spcPct val="125000"/>
              </a:lnSpc>
              <a:spcAft>
                <a:spcPts val="0"/>
              </a:spcAft>
            </a:pPr>
            <a:r>
              <a:rPr lang="en-US" altLang="zh-CN" sz="2400" i="1" dirty="0">
                <a:latin typeface="+mj-ea"/>
                <a:ea typeface="+mj-ea"/>
                <a:cs typeface="Times New Roman" panose="02020603050405020304" pitchFamily="18" charset="0"/>
              </a:rPr>
              <a:t>P</a:t>
            </a:r>
            <a:r>
              <a:rPr lang="en-US" altLang="zh-CN" sz="2400" baseline="-25000" dirty="0">
                <a:latin typeface="+mj-ea"/>
                <a:ea typeface="+mj-ea"/>
                <a:cs typeface="Times New Roman" panose="02020603050405020304" pitchFamily="18" charset="0"/>
              </a:rPr>
              <a:t>P</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回路的输入功率</a:t>
            </a:r>
            <a:r>
              <a:rPr lang="en-US" altLang="zh-CN" sz="2400" dirty="0">
                <a:latin typeface="+mj-ea"/>
                <a:ea typeface="+mj-ea"/>
                <a:cs typeface="Times New Roman" panose="02020603050405020304" pitchFamily="18" charset="0"/>
              </a:rPr>
              <a:t>;</a:t>
            </a:r>
            <a:endParaRPr lang="zh-CN" altLang="zh-CN" sz="2400" dirty="0">
              <a:latin typeface="+mj-ea"/>
              <a:ea typeface="+mj-ea"/>
              <a:cs typeface="Times New Roman" panose="02020603050405020304" pitchFamily="18" charset="0"/>
            </a:endParaRPr>
          </a:p>
          <a:p>
            <a:pPr indent="360000">
              <a:lnSpc>
                <a:spcPct val="125000"/>
              </a:lnSpc>
              <a:spcAft>
                <a:spcPts val="0"/>
              </a:spcAft>
            </a:pPr>
            <a:r>
              <a:rPr lang="en-US" altLang="zh-CN" sz="2400" i="1" dirty="0">
                <a:latin typeface="+mj-ea"/>
                <a:ea typeface="+mj-ea"/>
                <a:cs typeface="Times New Roman" panose="02020603050405020304" pitchFamily="18" charset="0"/>
              </a:rPr>
              <a:t>P</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回路的输出功率</a:t>
            </a:r>
            <a:r>
              <a:rPr lang="en-US" altLang="zh-CN" sz="2400" dirty="0">
                <a:latin typeface="+mj-ea"/>
                <a:ea typeface="+mj-ea"/>
                <a:cs typeface="Times New Roman" panose="02020603050405020304" pitchFamily="18" charset="0"/>
              </a:rPr>
              <a:t>;</a:t>
            </a:r>
            <a:endParaRPr lang="zh-CN" altLang="zh-CN" sz="2400" dirty="0">
              <a:latin typeface="+mj-ea"/>
              <a:ea typeface="+mj-ea"/>
              <a:cs typeface="Times New Roman" panose="02020603050405020304" pitchFamily="18" charset="0"/>
            </a:endParaRPr>
          </a:p>
          <a:p>
            <a:pPr indent="360000">
              <a:lnSpc>
                <a:spcPct val="125000"/>
              </a:lnSpc>
              <a:spcAft>
                <a:spcPts val="0"/>
              </a:spcAft>
            </a:pPr>
            <a:r>
              <a:rPr lang="en-US" altLang="zh-CN" sz="2400" dirty="0">
                <a:latin typeface="+mj-ea"/>
                <a:ea typeface="+mj-ea"/>
                <a:cs typeface="Times New Roman" panose="02020603050405020304" pitchFamily="18" charset="0"/>
              </a:rPr>
              <a:t>Δ</a:t>
            </a:r>
            <a:r>
              <a:rPr lang="en-US" altLang="zh-CN" sz="2400" i="1" dirty="0">
                <a:latin typeface="+mj-ea"/>
                <a:ea typeface="+mj-ea"/>
                <a:cs typeface="Times New Roman" panose="02020603050405020304" pitchFamily="18" charset="0"/>
              </a:rPr>
              <a:t>P</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回路的功率损失</a:t>
            </a:r>
            <a:r>
              <a:rPr lang="en-US" altLang="zh-CN" sz="2400" dirty="0">
                <a:latin typeface="+mj-ea"/>
                <a:ea typeface="+mj-ea"/>
                <a:cs typeface="Times New Roman" panose="02020603050405020304" pitchFamily="18" charset="0"/>
              </a:rPr>
              <a:t>;</a:t>
            </a:r>
            <a:endParaRPr lang="zh-CN" altLang="zh-CN" sz="2400" dirty="0">
              <a:latin typeface="+mj-ea"/>
              <a:ea typeface="+mj-ea"/>
              <a:cs typeface="Times New Roman" panose="02020603050405020304" pitchFamily="18" charset="0"/>
            </a:endParaRPr>
          </a:p>
          <a:p>
            <a:pPr indent="360000">
              <a:lnSpc>
                <a:spcPct val="125000"/>
              </a:lnSpc>
              <a:spcAft>
                <a:spcPts val="0"/>
              </a:spcAft>
            </a:pPr>
            <a:r>
              <a:rPr lang="en-US" altLang="zh-CN" sz="2400" i="1" dirty="0" err="1">
                <a:latin typeface="+mj-ea"/>
                <a:ea typeface="+mj-ea"/>
                <a:cs typeface="Times New Roman" panose="02020603050405020304" pitchFamily="18" charset="0"/>
              </a:rPr>
              <a:t>q</a:t>
            </a:r>
            <a:r>
              <a:rPr lang="en-US" altLang="zh-CN" sz="2400" baseline="-25000" dirty="0" err="1">
                <a:latin typeface="+mj-ea"/>
                <a:ea typeface="+mj-ea"/>
                <a:cs typeface="Times New Roman" panose="02020603050405020304" pitchFamily="18" charset="0"/>
              </a:rPr>
              <a:t>P</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液压泵在供油压力</a:t>
            </a:r>
            <a:r>
              <a:rPr lang="en-US" altLang="zh-CN" sz="2400" i="1" dirty="0" err="1">
                <a:latin typeface="+mj-ea"/>
                <a:ea typeface="+mj-ea"/>
                <a:cs typeface="Times New Roman" panose="02020603050405020304" pitchFamily="18" charset="0"/>
              </a:rPr>
              <a:t>p</a:t>
            </a:r>
            <a:r>
              <a:rPr lang="en-US" altLang="zh-CN" sz="2400" baseline="-25000" dirty="0" err="1">
                <a:latin typeface="+mj-ea"/>
                <a:ea typeface="+mj-ea"/>
                <a:cs typeface="Times New Roman" panose="02020603050405020304" pitchFamily="18" charset="0"/>
              </a:rPr>
              <a:t>P</a:t>
            </a:r>
            <a:r>
              <a:rPr lang="zh-CN" altLang="zh-CN" sz="2400" dirty="0">
                <a:latin typeface="+mj-ea"/>
                <a:ea typeface="+mj-ea"/>
                <a:cs typeface="Times New Roman" panose="02020603050405020304" pitchFamily="18" charset="0"/>
              </a:rPr>
              <a:t>下的输出流量</a:t>
            </a:r>
            <a:endParaRPr lang="en-US" altLang="zh-CN" sz="2400" dirty="0">
              <a:latin typeface="+mj-ea"/>
              <a:ea typeface="+mj-ea"/>
              <a:cs typeface="Times New Roman" panose="02020603050405020304" pitchFamily="18" charset="0"/>
            </a:endParaRPr>
          </a:p>
          <a:p>
            <a:pPr indent="360000">
              <a:lnSpc>
                <a:spcPct val="125000"/>
              </a:lnSpc>
              <a:spcAft>
                <a:spcPts val="0"/>
              </a:spcAft>
            </a:pPr>
            <a:r>
              <a:rPr lang="en-US" altLang="zh-CN" sz="2400" dirty="0" err="1">
                <a:latin typeface="+mj-ea"/>
                <a:ea typeface="+mj-ea"/>
                <a:cs typeface="Times New Roman" panose="02020603050405020304" pitchFamily="18" charset="0"/>
              </a:rPr>
              <a:t>Δ</a:t>
            </a:r>
            <a:r>
              <a:rPr lang="en-US" altLang="zh-CN" sz="2400" i="1" dirty="0" err="1">
                <a:latin typeface="+mj-ea"/>
                <a:ea typeface="+mj-ea"/>
                <a:cs typeface="Times New Roman" panose="02020603050405020304" pitchFamily="18" charset="0"/>
              </a:rPr>
              <a:t>q</a:t>
            </a:r>
            <a:r>
              <a:rPr lang="en-US" altLang="zh-CN" sz="2400" dirty="0">
                <a:latin typeface="+mj-ea"/>
                <a:ea typeface="+mj-ea"/>
                <a:cs typeface="Times New Roman" panose="02020603050405020304" pitchFamily="18" charset="0"/>
              </a:rPr>
              <a:t>——</a:t>
            </a:r>
            <a:r>
              <a:rPr lang="zh-CN" altLang="zh-CN" sz="2400" dirty="0">
                <a:latin typeface="+mj-ea"/>
                <a:ea typeface="+mj-ea"/>
                <a:cs typeface="Times New Roman" panose="02020603050405020304" pitchFamily="18" charset="0"/>
              </a:rPr>
              <a:t>通过溢流阀的流量</a:t>
            </a:r>
            <a:endParaRPr lang="zh-CN" altLang="zh-CN" sz="2400" dirty="0">
              <a:effectLst/>
              <a:latin typeface="+mj-ea"/>
              <a:ea typeface="+mj-ea"/>
              <a:cs typeface="Times New Roman" panose="02020603050405020304" pitchFamily="18" charset="0"/>
            </a:endParaRPr>
          </a:p>
        </p:txBody>
      </p:sp>
      <p:sp>
        <p:nvSpPr>
          <p:cNvPr id="8" name="文本框 7">
            <a:extLst>
              <a:ext uri="{FF2B5EF4-FFF2-40B4-BE49-F238E27FC236}">
                <a16:creationId xmlns:a16="http://schemas.microsoft.com/office/drawing/2014/main" id="{EC0366E9-FD7E-477B-FCF8-8E5B8D311115}"/>
              </a:ext>
            </a:extLst>
          </p:cNvPr>
          <p:cNvSpPr txBox="1"/>
          <p:nvPr/>
        </p:nvSpPr>
        <p:spPr>
          <a:xfrm>
            <a:off x="199505" y="1765111"/>
            <a:ext cx="5957383" cy="1135054"/>
          </a:xfrm>
          <a:prstGeom prst="rect">
            <a:avLst/>
          </a:prstGeom>
          <a:noFill/>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定压式进口节流调速回路的输入功率</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即定量泵的输出功率</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、输出功率和功率损失</a:t>
            </a:r>
            <a:endParaRPr lang="zh-CN" altLang="zh-CN" sz="2400" dirty="0">
              <a:solidFill>
                <a:srgbClr val="000000"/>
              </a:solidFill>
              <a:effectLst/>
              <a:latin typeface="+mj-ea"/>
              <a:ea typeface="+mj-ea"/>
              <a:cs typeface="Times New Roman" panose="02020603050405020304" pitchFamily="18" charset="0"/>
            </a:endParaRPr>
          </a:p>
        </p:txBody>
      </p:sp>
      <p:pic>
        <p:nvPicPr>
          <p:cNvPr id="9" name="图片 8">
            <a:extLst>
              <a:ext uri="{FF2B5EF4-FFF2-40B4-BE49-F238E27FC236}">
                <a16:creationId xmlns:a16="http://schemas.microsoft.com/office/drawing/2014/main" id="{AB7465F1-363C-74C3-5878-73DE629C6BA5}"/>
              </a:ext>
            </a:extLst>
          </p:cNvPr>
          <p:cNvPicPr>
            <a:picLocks noChangeAspect="1"/>
          </p:cNvPicPr>
          <p:nvPr/>
        </p:nvPicPr>
        <p:blipFill>
          <a:blip r:embed="rId4"/>
          <a:srcRect r="50412" b="7800"/>
          <a:stretch/>
        </p:blipFill>
        <p:spPr>
          <a:xfrm>
            <a:off x="7852017" y="1455679"/>
            <a:ext cx="3307050" cy="4712878"/>
          </a:xfrm>
          <a:prstGeom prst="rect">
            <a:avLst/>
          </a:prstGeom>
        </p:spPr>
      </p:pic>
      <p:sp>
        <p:nvSpPr>
          <p:cNvPr id="6" name="文本框 5">
            <a:extLst>
              <a:ext uri="{FF2B5EF4-FFF2-40B4-BE49-F238E27FC236}">
                <a16:creationId xmlns:a16="http://schemas.microsoft.com/office/drawing/2014/main" id="{E88C9A4A-3861-4A7C-8939-8A944A772ABA}"/>
              </a:ext>
            </a:extLst>
          </p:cNvPr>
          <p:cNvSpPr txBox="1"/>
          <p:nvPr/>
        </p:nvSpPr>
        <p:spPr>
          <a:xfrm>
            <a:off x="3991187" y="4324670"/>
            <a:ext cx="1107996" cy="369332"/>
          </a:xfrm>
          <a:prstGeom prst="rect">
            <a:avLst/>
          </a:prstGeom>
          <a:noFill/>
        </p:spPr>
        <p:txBody>
          <a:bodyPr wrap="none" rtlCol="0">
            <a:spAutoFit/>
          </a:bodyPr>
          <a:lstStyle/>
          <a:p>
            <a:r>
              <a:rPr lang="zh-CN" altLang="en-US" b="1" dirty="0">
                <a:solidFill>
                  <a:srgbClr val="FF0000"/>
                </a:solidFill>
              </a:rPr>
              <a:t>溢流损失</a:t>
            </a:r>
          </a:p>
        </p:txBody>
      </p:sp>
      <p:sp>
        <p:nvSpPr>
          <p:cNvPr id="12" name="文本框 11">
            <a:extLst>
              <a:ext uri="{FF2B5EF4-FFF2-40B4-BE49-F238E27FC236}">
                <a16:creationId xmlns:a16="http://schemas.microsoft.com/office/drawing/2014/main" id="{3708D72A-2F3F-4A1E-82EB-3437C87E4CDB}"/>
              </a:ext>
            </a:extLst>
          </p:cNvPr>
          <p:cNvSpPr txBox="1"/>
          <p:nvPr/>
        </p:nvSpPr>
        <p:spPr>
          <a:xfrm>
            <a:off x="5126010" y="4334912"/>
            <a:ext cx="1107996" cy="369332"/>
          </a:xfrm>
          <a:prstGeom prst="rect">
            <a:avLst/>
          </a:prstGeom>
          <a:noFill/>
        </p:spPr>
        <p:txBody>
          <a:bodyPr wrap="none" rtlCol="0">
            <a:spAutoFit/>
          </a:bodyPr>
          <a:lstStyle/>
          <a:p>
            <a:r>
              <a:rPr lang="zh-CN" altLang="en-US" b="1" dirty="0">
                <a:solidFill>
                  <a:srgbClr val="FF0000"/>
                </a:solidFill>
              </a:rPr>
              <a:t>节流损失</a:t>
            </a:r>
          </a:p>
        </p:txBody>
      </p:sp>
      <p:sp>
        <p:nvSpPr>
          <p:cNvPr id="13" name="文本框 12">
            <a:extLst>
              <a:ext uri="{FF2B5EF4-FFF2-40B4-BE49-F238E27FC236}">
                <a16:creationId xmlns:a16="http://schemas.microsoft.com/office/drawing/2014/main" id="{D32A440C-3EE2-46C3-BAD6-5DE467FA42E5}"/>
              </a:ext>
            </a:extLst>
          </p:cNvPr>
          <p:cNvSpPr txBox="1"/>
          <p:nvPr/>
        </p:nvSpPr>
        <p:spPr>
          <a:xfrm>
            <a:off x="11549472" y="6535517"/>
            <a:ext cx="642528" cy="369332"/>
          </a:xfrm>
          <a:prstGeom prst="rect">
            <a:avLst/>
          </a:prstGeom>
          <a:noFill/>
        </p:spPr>
        <p:txBody>
          <a:bodyPr wrap="square" rtlCol="0">
            <a:spAutoFit/>
          </a:bodyPr>
          <a:lstStyle/>
          <a:p>
            <a:pPr algn="r"/>
            <a:r>
              <a:rPr lang="en-US" altLang="zh-CN" dirty="0"/>
              <a:t>9/29</a:t>
            </a:r>
            <a:endParaRPr lang="zh-CN" altLang="en-US" dirty="0"/>
          </a:p>
        </p:txBody>
      </p:sp>
    </p:spTree>
    <p:extLst>
      <p:ext uri="{BB962C8B-B14F-4D97-AF65-F5344CB8AC3E}">
        <p14:creationId xmlns:p14="http://schemas.microsoft.com/office/powerpoint/2010/main" val="1355954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A13A293A-8839-4FAD-B165-3AFB07806A24}"/>
              </a:ext>
            </a:extLst>
          </p:cNvPr>
          <p:cNvSpPr/>
          <p:nvPr/>
        </p:nvSpPr>
        <p:spPr>
          <a:xfrm>
            <a:off x="132326" y="1010571"/>
            <a:ext cx="11737941" cy="2308324"/>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当液压缸在</a:t>
            </a:r>
            <a:r>
              <a:rPr lang="zh-CN" altLang="zh-CN" sz="2400" b="1" dirty="0">
                <a:solidFill>
                  <a:srgbClr val="FF0000"/>
                </a:solidFill>
                <a:latin typeface="+mj-ea"/>
                <a:ea typeface="+mj-ea"/>
                <a:cs typeface="Times New Roman" panose="02020603050405020304" pitchFamily="18" charset="0"/>
              </a:rPr>
              <a:t>恒载下</a:t>
            </a:r>
            <a:r>
              <a:rPr lang="zh-CN" altLang="zh-CN" sz="2400" dirty="0">
                <a:solidFill>
                  <a:srgbClr val="000000"/>
                </a:solidFill>
                <a:latin typeface="+mj-ea"/>
                <a:ea typeface="+mj-ea"/>
                <a:cs typeface="Times New Roman" panose="02020603050405020304" pitchFamily="18" charset="0"/>
              </a:rPr>
              <a:t>工作时</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工作压力</a:t>
            </a:r>
            <a:r>
              <a:rPr lang="en-US" altLang="zh-CN" sz="2400" dirty="0">
                <a:solidFill>
                  <a:srgbClr val="000000"/>
                </a:solidFill>
                <a:latin typeface="+mj-ea"/>
                <a:ea typeface="+mj-ea"/>
                <a:cs typeface="Times New Roman" panose="02020603050405020304" pitchFamily="18" charset="0"/>
              </a:rPr>
              <a:t>p</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、液压泵供油压力</a:t>
            </a:r>
            <a:r>
              <a:rPr lang="en-US" altLang="zh-CN" sz="2400" dirty="0">
                <a:solidFill>
                  <a:srgbClr val="000000"/>
                </a:solidFill>
                <a:latin typeface="+mj-ea"/>
                <a:ea typeface="+mj-ea"/>
                <a:cs typeface="Times New Roman" panose="02020603050405020304" pitchFamily="18" charset="0"/>
              </a:rPr>
              <a:t>Pp (</a:t>
            </a:r>
            <a:r>
              <a:rPr lang="zh-CN" altLang="zh-CN" sz="2400" dirty="0">
                <a:solidFill>
                  <a:srgbClr val="000000"/>
                </a:solidFill>
                <a:latin typeface="+mj-ea"/>
                <a:ea typeface="+mj-ea"/>
                <a:cs typeface="Times New Roman" panose="02020603050405020304" pitchFamily="18" charset="0"/>
              </a:rPr>
              <a:t>它按</a:t>
            </a:r>
            <a:r>
              <a:rPr lang="en-US" altLang="zh-CN" sz="2400" dirty="0">
                <a:solidFill>
                  <a:srgbClr val="000000"/>
                </a:solidFill>
                <a:latin typeface="+mj-ea"/>
                <a:ea typeface="+mj-ea"/>
                <a:cs typeface="Times New Roman" panose="02020603050405020304" pitchFamily="18" charset="0"/>
              </a:rPr>
              <a:t>p</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调定</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、节流阀工作压差</a:t>
            </a:r>
            <a:r>
              <a:rPr lang="en-US" altLang="zh-CN" sz="2400" dirty="0">
                <a:solidFill>
                  <a:srgbClr val="000000"/>
                </a:solidFill>
                <a:latin typeface="+mj-ea"/>
                <a:ea typeface="+mj-ea"/>
                <a:cs typeface="Times New Roman" panose="02020603050405020304" pitchFamily="18" charset="0"/>
              </a:rPr>
              <a:t>ΔpT</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都是定值</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工作流量</a:t>
            </a:r>
            <a:r>
              <a:rPr lang="en-US" altLang="zh-CN" sz="2400" dirty="0">
                <a:solidFill>
                  <a:srgbClr val="000000"/>
                </a:solidFill>
                <a:latin typeface="+mj-ea"/>
                <a:ea typeface="+mj-ea"/>
                <a:cs typeface="Times New Roman" panose="02020603050405020304" pitchFamily="18" charset="0"/>
              </a:rPr>
              <a:t>q</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只随节流阀通流截面积变化。这时调速回路的有效功率</a:t>
            </a:r>
            <a:r>
              <a:rPr lang="en-US" altLang="zh-CN" sz="2400" dirty="0">
                <a:solidFill>
                  <a:srgbClr val="000000"/>
                </a:solidFill>
                <a:latin typeface="+mj-ea"/>
                <a:ea typeface="+mj-ea"/>
                <a:cs typeface="Times New Roman" panose="02020603050405020304" pitchFamily="18" charset="0"/>
              </a:rPr>
              <a:t>P</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和节流功率损失</a:t>
            </a:r>
            <a:r>
              <a:rPr lang="en-US" altLang="zh-CN" sz="2400" dirty="0">
                <a:solidFill>
                  <a:srgbClr val="000000"/>
                </a:solidFill>
                <a:latin typeface="+mj-ea"/>
                <a:ea typeface="+mj-ea"/>
                <a:cs typeface="Times New Roman" panose="02020603050405020304" pitchFamily="18" charset="0"/>
              </a:rPr>
              <a:t>ΔP</a:t>
            </a:r>
            <a:r>
              <a:rPr lang="en-US" altLang="zh-CN" sz="2400" baseline="-25000" dirty="0">
                <a:solidFill>
                  <a:srgbClr val="000000"/>
                </a:solidFill>
                <a:latin typeface="+mj-ea"/>
                <a:ea typeface="+mj-ea"/>
                <a:cs typeface="Times New Roman" panose="02020603050405020304" pitchFamily="18" charset="0"/>
              </a:rPr>
              <a:t>2</a:t>
            </a:r>
            <a:r>
              <a:rPr lang="zh-CN" altLang="zh-CN" sz="2400" dirty="0">
                <a:solidFill>
                  <a:srgbClr val="000000"/>
                </a:solidFill>
                <a:latin typeface="+mj-ea"/>
                <a:ea typeface="+mj-ea"/>
                <a:cs typeface="Times New Roman" panose="02020603050405020304" pitchFamily="18" charset="0"/>
              </a:rPr>
              <a:t>都随工作流量加大而线性地加大</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溢流功率损失</a:t>
            </a:r>
            <a:r>
              <a:rPr lang="en-US" altLang="zh-CN" sz="2400" dirty="0">
                <a:solidFill>
                  <a:srgbClr val="000000"/>
                </a:solidFill>
                <a:latin typeface="+mj-ea"/>
                <a:ea typeface="+mj-ea"/>
                <a:cs typeface="Times New Roman" panose="02020603050405020304" pitchFamily="18" charset="0"/>
              </a:rPr>
              <a:t>ΔP</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则随工作流量加大而线 性地减小</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 这种情况下的回路效率为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BC942B6-EC3A-4F5D-8012-C00C48638D37}"/>
                  </a:ext>
                </a:extLst>
              </p:cNvPr>
              <p:cNvSpPr/>
              <p:nvPr/>
            </p:nvSpPr>
            <p:spPr>
              <a:xfrm>
                <a:off x="1324114" y="3539106"/>
                <a:ext cx="5953655" cy="79034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𝜂</m:t>
                          </m:r>
                        </m:e>
                        <m:sub>
                          <m:r>
                            <m:rPr>
                              <m:sty m:val="p"/>
                            </m:rPr>
                            <a:rPr lang="zh-CN" altLang="en-US" sz="2400" i="0">
                              <a:latin typeface="Cambria Math" panose="02040503050406030204" pitchFamily="18" charset="0"/>
                            </a:rPr>
                            <m:t>C</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r>
                            <m:rPr>
                              <m:sty m:val="p"/>
                            </m:rPr>
                            <a:rPr lang="zh-CN" altLang="en-US" sz="2400" i="0">
                              <a:latin typeface="Cambria Math" panose="02040503050406030204" pitchFamily="18" charset="0"/>
                            </a:rPr>
                            <m:t>Δ</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oMath>
                  </m:oMathPara>
                </a14:m>
                <a:endParaRPr lang="zh-CN" altLang="en-US" sz="1600" dirty="0"/>
              </a:p>
            </p:txBody>
          </p:sp>
        </mc:Choice>
        <mc:Fallback xmlns="">
          <p:sp>
            <p:nvSpPr>
              <p:cNvPr id="7" name="矩形 6">
                <a:extLst>
                  <a:ext uri="{FF2B5EF4-FFF2-40B4-BE49-F238E27FC236}">
                    <a16:creationId xmlns:a16="http://schemas.microsoft.com/office/drawing/2014/main" id="{EBC942B6-EC3A-4F5D-8012-C00C48638D37}"/>
                  </a:ext>
                </a:extLst>
              </p:cNvPr>
              <p:cNvSpPr>
                <a:spLocks noRot="1" noChangeAspect="1" noMove="1" noResize="1" noEditPoints="1" noAdjustHandles="1" noChangeArrowheads="1" noChangeShapeType="1" noTextEdit="1"/>
              </p:cNvSpPr>
              <p:nvPr/>
            </p:nvSpPr>
            <p:spPr>
              <a:xfrm>
                <a:off x="1324114" y="3539106"/>
                <a:ext cx="5953655" cy="790345"/>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F4B424CE-608E-426E-B836-0BD54DF2C3FC}"/>
              </a:ext>
            </a:extLst>
          </p:cNvPr>
          <p:cNvSpPr/>
          <p:nvPr/>
        </p:nvSpPr>
        <p:spPr>
          <a:xfrm>
            <a:off x="297072" y="4575783"/>
            <a:ext cx="8237327" cy="1684244"/>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表明</a:t>
            </a:r>
            <a:r>
              <a:rPr lang="zh-CN" altLang="en-US"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通过溢流阀的流量越小</a:t>
            </a:r>
            <a:r>
              <a:rPr lang="en-US" altLang="zh-CN" sz="2400" dirty="0">
                <a:solidFill>
                  <a:srgbClr val="000000"/>
                </a:solidFill>
                <a:latin typeface="+mj-ea"/>
                <a:ea typeface="+mj-ea"/>
                <a:cs typeface="Times New Roman" panose="02020603050405020304" pitchFamily="18" charset="0"/>
              </a:rPr>
              <a:t>,q</a:t>
            </a:r>
            <a:r>
              <a:rPr lang="en-US" altLang="zh-CN" sz="2400" baseline="-25000" dirty="0">
                <a:solidFill>
                  <a:srgbClr val="000000"/>
                </a:solidFill>
                <a:latin typeface="+mj-ea"/>
                <a:ea typeface="+mj-ea"/>
                <a:cs typeface="Times New Roman" panose="02020603050405020304" pitchFamily="18" charset="0"/>
              </a:rPr>
              <a:t>1</a:t>
            </a:r>
            <a:r>
              <a:rPr lang="en-US" altLang="zh-CN" sz="2400" dirty="0">
                <a:solidFill>
                  <a:srgbClr val="000000"/>
                </a:solidFill>
                <a:latin typeface="+mj-ea"/>
                <a:ea typeface="+mj-ea"/>
                <a:cs typeface="Times New Roman" panose="02020603050405020304" pitchFamily="18" charset="0"/>
              </a:rPr>
              <a:t>/</a:t>
            </a:r>
            <a:r>
              <a:rPr lang="en-US" altLang="zh-CN" sz="2400" dirty="0" err="1">
                <a:solidFill>
                  <a:srgbClr val="000000"/>
                </a:solidFill>
                <a:latin typeface="+mj-ea"/>
                <a:ea typeface="+mj-ea"/>
                <a:cs typeface="Times New Roman" panose="02020603050405020304" pitchFamily="18" charset="0"/>
              </a:rPr>
              <a:t>q</a:t>
            </a:r>
            <a:r>
              <a:rPr lang="en-US" altLang="zh-CN" sz="2400" baseline="-25000" dirty="0" err="1">
                <a:solidFill>
                  <a:srgbClr val="000000"/>
                </a:solidFill>
                <a:latin typeface="+mj-ea"/>
                <a:ea typeface="+mj-ea"/>
                <a:cs typeface="Times New Roman" panose="02020603050405020304" pitchFamily="18" charset="0"/>
              </a:rPr>
              <a:t>P</a:t>
            </a:r>
            <a:r>
              <a:rPr lang="zh-CN" altLang="zh-CN" sz="2400" dirty="0">
                <a:solidFill>
                  <a:srgbClr val="000000"/>
                </a:solidFill>
                <a:latin typeface="+mj-ea"/>
                <a:ea typeface="+mj-ea"/>
                <a:cs typeface="Times New Roman" panose="02020603050405020304" pitchFamily="18" charset="0"/>
              </a:rPr>
              <a:t>越大</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效率就越高</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负载越大</a:t>
            </a:r>
            <a:r>
              <a:rPr lang="en-US" altLang="zh-CN" sz="2400" dirty="0">
                <a:solidFill>
                  <a:srgbClr val="000000"/>
                </a:solidFill>
                <a:latin typeface="+mj-ea"/>
                <a:ea typeface="+mj-ea"/>
                <a:cs typeface="Times New Roman" panose="02020603050405020304" pitchFamily="18" charset="0"/>
              </a:rPr>
              <a:t>,p</a:t>
            </a:r>
            <a:r>
              <a:rPr lang="en-US" altLang="zh-CN" sz="2400" baseline="-25000" dirty="0">
                <a:solidFill>
                  <a:srgbClr val="000000"/>
                </a:solidFill>
                <a:latin typeface="+mj-ea"/>
                <a:ea typeface="+mj-ea"/>
                <a:cs typeface="Times New Roman" panose="02020603050405020304" pitchFamily="18" charset="0"/>
              </a:rPr>
              <a:t>1</a:t>
            </a:r>
            <a:r>
              <a:rPr lang="en-US" altLang="zh-CN" sz="2400" dirty="0">
                <a:solidFill>
                  <a:srgbClr val="000000"/>
                </a:solidFill>
                <a:latin typeface="+mj-ea"/>
                <a:ea typeface="+mj-ea"/>
                <a:cs typeface="Times New Roman" panose="02020603050405020304" pitchFamily="18" charset="0"/>
              </a:rPr>
              <a:t>/</a:t>
            </a:r>
            <a:r>
              <a:rPr lang="en-US" altLang="zh-CN" sz="2400" dirty="0" err="1">
                <a:solidFill>
                  <a:srgbClr val="000000"/>
                </a:solidFill>
                <a:latin typeface="+mj-ea"/>
                <a:ea typeface="+mj-ea"/>
                <a:cs typeface="Times New Roman" panose="02020603050405020304" pitchFamily="18" charset="0"/>
              </a:rPr>
              <a:t>p</a:t>
            </a:r>
            <a:r>
              <a:rPr lang="en-US" altLang="zh-CN" sz="2400" baseline="-25000" dirty="0" err="1">
                <a:solidFill>
                  <a:srgbClr val="000000"/>
                </a:solidFill>
                <a:latin typeface="+mj-ea"/>
                <a:ea typeface="+mj-ea"/>
                <a:cs typeface="Times New Roman" panose="02020603050405020304" pitchFamily="18" charset="0"/>
              </a:rPr>
              <a:t>P</a:t>
            </a:r>
            <a:r>
              <a:rPr lang="zh-CN" altLang="zh-CN" sz="2400" dirty="0">
                <a:solidFill>
                  <a:srgbClr val="000000"/>
                </a:solidFill>
                <a:latin typeface="+mj-ea"/>
                <a:ea typeface="+mj-ea"/>
                <a:cs typeface="Times New Roman" panose="02020603050405020304" pitchFamily="18" charset="0"/>
              </a:rPr>
              <a:t>越大</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效率也越高。在机床上</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节流阀处的工作压差一般为</a:t>
            </a:r>
            <a:r>
              <a:rPr lang="en-US" altLang="zh-CN" sz="2400" dirty="0">
                <a:solidFill>
                  <a:srgbClr val="000000"/>
                </a:solidFill>
                <a:latin typeface="+mj-ea"/>
                <a:ea typeface="+mj-ea"/>
                <a:cs typeface="Times New Roman" panose="02020603050405020304" pitchFamily="18" charset="0"/>
              </a:rPr>
              <a:t>0.2~0.3MPa</a:t>
            </a:r>
            <a:endParaRPr lang="zh-CN" altLang="zh-CN" sz="2400" dirty="0">
              <a:solidFill>
                <a:srgbClr val="000000"/>
              </a:solidFill>
              <a:latin typeface="+mj-ea"/>
              <a:ea typeface="+mj-ea"/>
              <a:cs typeface="Times New Roman" panose="02020603050405020304" pitchFamily="18" charset="0"/>
            </a:endParaRPr>
          </a:p>
        </p:txBody>
      </p:sp>
      <p:pic>
        <p:nvPicPr>
          <p:cNvPr id="9" name="8T3.EPS">
            <a:extLst>
              <a:ext uri="{FF2B5EF4-FFF2-40B4-BE49-F238E27FC236}">
                <a16:creationId xmlns:a16="http://schemas.microsoft.com/office/drawing/2014/main" id="{901B1E4C-7BB6-499A-B62E-41BACE071ADA}"/>
              </a:ext>
            </a:extLst>
          </p:cNvPr>
          <p:cNvPicPr/>
          <p:nvPr/>
        </p:nvPicPr>
        <p:blipFill>
          <a:blip r:embed="rId4" cstate="print"/>
          <a:stretch>
            <a:fillRect/>
          </a:stretch>
        </p:blipFill>
        <p:spPr>
          <a:xfrm>
            <a:off x="8634094" y="2989621"/>
            <a:ext cx="3425580" cy="2764325"/>
          </a:xfrm>
          <a:prstGeom prst="rect">
            <a:avLst/>
          </a:prstGeom>
        </p:spPr>
      </p:pic>
      <p:sp>
        <p:nvSpPr>
          <p:cNvPr id="10" name="矩形 9">
            <a:extLst>
              <a:ext uri="{FF2B5EF4-FFF2-40B4-BE49-F238E27FC236}">
                <a16:creationId xmlns:a16="http://schemas.microsoft.com/office/drawing/2014/main" id="{8F9C6F4D-FBEC-47AF-B9F4-AC12F486AE31}"/>
              </a:ext>
            </a:extLst>
          </p:cNvPr>
          <p:cNvSpPr/>
          <p:nvPr/>
        </p:nvSpPr>
        <p:spPr>
          <a:xfrm>
            <a:off x="8776224" y="5802073"/>
            <a:ext cx="2951912" cy="548868"/>
          </a:xfrm>
          <a:prstGeom prst="rect">
            <a:avLst/>
          </a:prstGeom>
        </p:spPr>
        <p:txBody>
          <a:bodyPr wrap="square">
            <a:spAutoFit/>
          </a:bodyPr>
          <a:lstStyle/>
          <a:p>
            <a:pPr algn="ctr">
              <a:lnSpc>
                <a:spcPts val="1350"/>
              </a:lnSpc>
              <a:spcAft>
                <a:spcPts val="0"/>
              </a:spcAft>
            </a:pPr>
            <a:r>
              <a:rPr lang="zh-CN" altLang="zh-CN" b="1" dirty="0">
                <a:solidFill>
                  <a:srgbClr val="FF0000"/>
                </a:solidFill>
                <a:latin typeface="+mj-ea"/>
                <a:ea typeface="+mj-ea"/>
              </a:rPr>
              <a:t>定压式进口速回路</a:t>
            </a:r>
          </a:p>
          <a:p>
            <a:pPr algn="ctr"/>
            <a:r>
              <a:rPr lang="zh-CN" altLang="zh-CN" b="1" dirty="0">
                <a:solidFill>
                  <a:srgbClr val="FF0000"/>
                </a:solidFill>
                <a:latin typeface="+mj-ea"/>
                <a:ea typeface="+mj-ea"/>
              </a:rPr>
              <a:t>在恒载下的功率特性</a:t>
            </a:r>
            <a:endParaRPr lang="zh-CN" altLang="en-US" b="1" dirty="0">
              <a:solidFill>
                <a:srgbClr val="FF0000"/>
              </a:solidFill>
              <a:latin typeface="+mj-ea"/>
              <a:ea typeface="+mj-ea"/>
            </a:endParaRPr>
          </a:p>
        </p:txBody>
      </p:sp>
      <p:sp>
        <p:nvSpPr>
          <p:cNvPr id="11" name="文本框 10">
            <a:extLst>
              <a:ext uri="{FF2B5EF4-FFF2-40B4-BE49-F238E27FC236}">
                <a16:creationId xmlns:a16="http://schemas.microsoft.com/office/drawing/2014/main" id="{561DC4BF-FED7-4F99-87E7-933C03ECA2F9}"/>
              </a:ext>
            </a:extLst>
          </p:cNvPr>
          <p:cNvSpPr txBox="1"/>
          <p:nvPr/>
        </p:nvSpPr>
        <p:spPr>
          <a:xfrm>
            <a:off x="11414760" y="6535517"/>
            <a:ext cx="777240" cy="369332"/>
          </a:xfrm>
          <a:prstGeom prst="rect">
            <a:avLst/>
          </a:prstGeom>
          <a:noFill/>
        </p:spPr>
        <p:txBody>
          <a:bodyPr wrap="square" rtlCol="0">
            <a:spAutoFit/>
          </a:bodyPr>
          <a:lstStyle/>
          <a:p>
            <a:pPr algn="r"/>
            <a:r>
              <a:rPr lang="en-US" altLang="zh-CN" dirty="0"/>
              <a:t>10/29</a:t>
            </a:r>
            <a:endParaRPr lang="zh-CN" altLang="en-US" dirty="0"/>
          </a:p>
        </p:txBody>
      </p:sp>
    </p:spTree>
    <p:extLst>
      <p:ext uri="{BB962C8B-B14F-4D97-AF65-F5344CB8AC3E}">
        <p14:creationId xmlns:p14="http://schemas.microsoft.com/office/powerpoint/2010/main" val="2650745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7" name="矩形 6">
            <a:extLst>
              <a:ext uri="{FF2B5EF4-FFF2-40B4-BE49-F238E27FC236}">
                <a16:creationId xmlns:a16="http://schemas.microsoft.com/office/drawing/2014/main" id="{5B69A4EF-C53E-4F4F-9DB6-1F162B231BDD}"/>
              </a:ext>
            </a:extLst>
          </p:cNvPr>
          <p:cNvSpPr/>
          <p:nvPr/>
        </p:nvSpPr>
        <p:spPr>
          <a:xfrm>
            <a:off x="247331" y="899635"/>
            <a:ext cx="11606002" cy="1689052"/>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当液压缸在</a:t>
            </a:r>
            <a:r>
              <a:rPr lang="zh-CN" altLang="zh-CN" sz="2400" b="1" dirty="0">
                <a:solidFill>
                  <a:srgbClr val="FF0000"/>
                </a:solidFill>
                <a:latin typeface="+mj-ea"/>
                <a:ea typeface="+mj-ea"/>
                <a:cs typeface="Times New Roman" panose="02020603050405020304" pitchFamily="18" charset="0"/>
              </a:rPr>
              <a:t>变载下</a:t>
            </a:r>
            <a:r>
              <a:rPr lang="zh-CN" altLang="zh-CN" sz="2400" dirty="0">
                <a:solidFill>
                  <a:srgbClr val="000000"/>
                </a:solidFill>
                <a:latin typeface="+mj-ea"/>
                <a:ea typeface="+mj-ea"/>
                <a:cs typeface="Times New Roman" panose="02020603050405020304" pitchFamily="18" charset="0"/>
              </a:rPr>
              <a:t>工作时</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工作压力</a:t>
            </a:r>
            <a:r>
              <a:rPr lang="en-US" altLang="zh-CN" sz="2400" dirty="0">
                <a:solidFill>
                  <a:srgbClr val="000000"/>
                </a:solidFill>
                <a:latin typeface="+mj-ea"/>
                <a:ea typeface="+mj-ea"/>
                <a:cs typeface="Times New Roman" panose="02020603050405020304" pitchFamily="18" charset="0"/>
              </a:rPr>
              <a:t>p</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是个变量</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液压泵供油压力</a:t>
            </a:r>
            <a:r>
              <a:rPr lang="en-US" altLang="zh-CN" sz="2400" dirty="0" err="1">
                <a:solidFill>
                  <a:srgbClr val="000000"/>
                </a:solidFill>
                <a:latin typeface="+mj-ea"/>
                <a:ea typeface="+mj-ea"/>
                <a:cs typeface="Times New Roman" panose="02020603050405020304" pitchFamily="18" charset="0"/>
              </a:rPr>
              <a:t>p</a:t>
            </a:r>
            <a:r>
              <a:rPr lang="en-US" altLang="zh-CN" sz="2400" baseline="-25000" dirty="0" err="1">
                <a:solidFill>
                  <a:srgbClr val="000000"/>
                </a:solidFill>
                <a:latin typeface="+mj-ea"/>
                <a:ea typeface="+mj-ea"/>
                <a:cs typeface="Times New Roman" panose="02020603050405020304" pitchFamily="18" charset="0"/>
              </a:rPr>
              <a:t>P</a:t>
            </a:r>
            <a:r>
              <a:rPr lang="zh-CN" altLang="zh-CN" sz="2400" dirty="0">
                <a:solidFill>
                  <a:srgbClr val="000000"/>
                </a:solidFill>
                <a:latin typeface="+mj-ea"/>
                <a:ea typeface="+mj-ea"/>
                <a:cs typeface="Times New Roman" panose="02020603050405020304" pitchFamily="18" charset="0"/>
              </a:rPr>
              <a:t>按所需的最大工作压力</a:t>
            </a:r>
            <a:r>
              <a:rPr lang="en-US" altLang="zh-CN" sz="2400" dirty="0">
                <a:solidFill>
                  <a:srgbClr val="000000"/>
                </a:solidFill>
                <a:latin typeface="+mj-ea"/>
                <a:ea typeface="+mj-ea"/>
                <a:cs typeface="Times New Roman" panose="02020603050405020304" pitchFamily="18" charset="0"/>
              </a:rPr>
              <a:t>p</a:t>
            </a:r>
            <a:r>
              <a:rPr lang="en-US" altLang="zh-CN" sz="2400" baseline="-25000" dirty="0">
                <a:solidFill>
                  <a:srgbClr val="000000"/>
                </a:solidFill>
                <a:latin typeface="+mj-ea"/>
                <a:ea typeface="+mj-ea"/>
                <a:cs typeface="Times New Roman" panose="02020603050405020304" pitchFamily="18" charset="0"/>
              </a:rPr>
              <a:t>1max</a:t>
            </a:r>
            <a:r>
              <a:rPr lang="zh-CN" altLang="zh-CN" sz="2400" dirty="0">
                <a:solidFill>
                  <a:srgbClr val="000000"/>
                </a:solidFill>
                <a:latin typeface="+mj-ea"/>
                <a:ea typeface="+mj-ea"/>
                <a:cs typeface="Times New Roman" panose="02020603050405020304" pitchFamily="18" charset="0"/>
              </a:rPr>
              <a:t>调定。这时如节流阀的</a:t>
            </a:r>
            <a:r>
              <a:rPr lang="zh-CN" altLang="zh-CN" sz="2400" b="1" dirty="0">
                <a:solidFill>
                  <a:srgbClr val="FF0000"/>
                </a:solidFill>
                <a:latin typeface="+mj-ea"/>
                <a:ea typeface="+mj-ea"/>
                <a:cs typeface="Times New Roman" panose="02020603050405020304" pitchFamily="18" charset="0"/>
              </a:rPr>
              <a:t>通流截面积保持不变</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则工作流量将随负载而变化</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 在这里回路的有效功率</a:t>
            </a:r>
            <a:r>
              <a:rPr lang="en-US" altLang="zh-CN" sz="2400" dirty="0">
                <a:solidFill>
                  <a:srgbClr val="000000"/>
                </a:solidFill>
                <a:latin typeface="+mj-ea"/>
                <a:ea typeface="+mj-ea"/>
                <a:cs typeface="Times New Roman" panose="02020603050405020304" pitchFamily="18" charset="0"/>
              </a:rPr>
              <a:t>P</a:t>
            </a:r>
            <a:r>
              <a:rPr lang="en-US" altLang="zh-CN" sz="2400" baseline="-250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可由</a:t>
            </a:r>
            <a:r>
              <a:rPr lang="zh-CN" altLang="en-US" sz="2400" dirty="0">
                <a:solidFill>
                  <a:srgbClr val="000000"/>
                </a:solidFill>
                <a:latin typeface="+mj-ea"/>
                <a:ea typeface="+mj-ea"/>
                <a:cs typeface="Times New Roman" panose="02020603050405020304" pitchFamily="18" charset="0"/>
              </a:rPr>
              <a:t>上式得到：</a:t>
            </a:r>
            <a:endParaRPr lang="zh-CN" altLang="zh-CN" sz="2400" dirty="0">
              <a:solidFill>
                <a:srgbClr val="000000"/>
              </a:solidFill>
              <a:latin typeface="+mj-ea"/>
              <a:ea typeface="+mj-ea"/>
              <a:cs typeface="Times New Roman" panose="02020603050405020304" pitchFamily="18" charset="0"/>
            </a:endParaRPr>
          </a:p>
        </p:txBody>
      </p:sp>
      <p:pic>
        <p:nvPicPr>
          <p:cNvPr id="8" name="8T4.EPS">
            <a:extLst>
              <a:ext uri="{FF2B5EF4-FFF2-40B4-BE49-F238E27FC236}">
                <a16:creationId xmlns:a16="http://schemas.microsoft.com/office/drawing/2014/main" id="{B1E45160-DC40-45A8-9350-8F0B97D8268D}"/>
              </a:ext>
            </a:extLst>
          </p:cNvPr>
          <p:cNvPicPr/>
          <p:nvPr/>
        </p:nvPicPr>
        <p:blipFill>
          <a:blip r:embed="rId4" cstate="print"/>
          <a:stretch>
            <a:fillRect/>
          </a:stretch>
        </p:blipFill>
        <p:spPr>
          <a:xfrm>
            <a:off x="8795998" y="2010213"/>
            <a:ext cx="3219471" cy="4206547"/>
          </a:xfrm>
          <a:prstGeom prst="rect">
            <a:avLst/>
          </a:prstGeom>
        </p:spPr>
      </p:pic>
      <p:sp>
        <p:nvSpPr>
          <p:cNvPr id="9" name="矩形 8">
            <a:extLst>
              <a:ext uri="{FF2B5EF4-FFF2-40B4-BE49-F238E27FC236}">
                <a16:creationId xmlns:a16="http://schemas.microsoft.com/office/drawing/2014/main" id="{2DD9FF95-D95A-47C4-B357-8AAEC1B8BDB8}"/>
              </a:ext>
            </a:extLst>
          </p:cNvPr>
          <p:cNvSpPr/>
          <p:nvPr/>
        </p:nvSpPr>
        <p:spPr>
          <a:xfrm>
            <a:off x="9126829" y="6211669"/>
            <a:ext cx="2751666" cy="646331"/>
          </a:xfrm>
          <a:prstGeom prst="rect">
            <a:avLst/>
          </a:prstGeom>
        </p:spPr>
        <p:txBody>
          <a:bodyPr wrap="square">
            <a:spAutoFit/>
          </a:bodyPr>
          <a:lstStyle/>
          <a:p>
            <a:pPr algn="ctr">
              <a:spcAft>
                <a:spcPts val="0"/>
              </a:spcAft>
            </a:pPr>
            <a:r>
              <a:rPr lang="zh-CN" altLang="zh-CN" b="1" dirty="0">
                <a:solidFill>
                  <a:srgbClr val="FF0000"/>
                </a:solidFill>
                <a:latin typeface="+mj-ea"/>
                <a:ea typeface="+mj-ea"/>
              </a:rPr>
              <a:t>定压式进口节流调速回路在变载下功率特性</a:t>
            </a:r>
            <a:endParaRPr lang="zh-CN" altLang="en-US" b="1" dirty="0">
              <a:solidFill>
                <a:srgbClr val="FF0000"/>
              </a:solidFill>
              <a:latin typeface="+mj-ea"/>
              <a:ea typeface="+mj-ea"/>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BCD74D64-58FF-4558-B00A-81066E21E260}"/>
                  </a:ext>
                </a:extLst>
              </p:cNvPr>
              <p:cNvSpPr/>
              <p:nvPr/>
            </p:nvSpPr>
            <p:spPr>
              <a:xfrm>
                <a:off x="3066773" y="2667151"/>
                <a:ext cx="32297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p>
                        <m:sSupPr>
                          <m:ctrlPr>
                            <a:rPr lang="zh-CN" altLang="en-US" sz="2400" i="1">
                              <a:latin typeface="Cambria Math" panose="02040503050406030204" pitchFamily="18" charset="0"/>
                            </a:rPr>
                          </m:ctrlPr>
                        </m:sSupPr>
                        <m:e>
                          <m:r>
                            <m:rPr>
                              <m:nor/>
                            </m:rPr>
                            <a:rPr lang="zh-CN" altLang="en-US" sz="2400" i="1">
                              <a:latin typeface="Cambria Math" panose="02040503050406030204" pitchFamily="18" charset="0"/>
                            </a:rPr>
                            <m:t>)</m:t>
                          </m:r>
                        </m:e>
                        <m:sup>
                          <m:r>
                            <a:rPr lang="zh-CN" altLang="en-US" sz="2400" i="1">
                              <a:latin typeface="Cambria Math" panose="02040503050406030204" pitchFamily="18" charset="0"/>
                            </a:rPr>
                            <m:t>𝜑</m:t>
                          </m:r>
                        </m:sup>
                      </m:sSup>
                    </m:oMath>
                  </m:oMathPara>
                </a14:m>
                <a:endParaRPr lang="zh-CN" altLang="en-US" sz="2400" dirty="0"/>
              </a:p>
            </p:txBody>
          </p:sp>
        </mc:Choice>
        <mc:Fallback xmlns="">
          <p:sp>
            <p:nvSpPr>
              <p:cNvPr id="10" name="矩形 9">
                <a:extLst>
                  <a:ext uri="{FF2B5EF4-FFF2-40B4-BE49-F238E27FC236}">
                    <a16:creationId xmlns:a16="http://schemas.microsoft.com/office/drawing/2014/main" id="{BCD74D64-58FF-4558-B00A-81066E21E260}"/>
                  </a:ext>
                </a:extLst>
              </p:cNvPr>
              <p:cNvSpPr>
                <a:spLocks noRot="1" noChangeAspect="1" noMove="1" noResize="1" noEditPoints="1" noAdjustHandles="1" noChangeArrowheads="1" noChangeShapeType="1" noTextEdit="1"/>
              </p:cNvSpPr>
              <p:nvPr/>
            </p:nvSpPr>
            <p:spPr>
              <a:xfrm>
                <a:off x="3066773" y="2667151"/>
                <a:ext cx="3229795" cy="461665"/>
              </a:xfrm>
              <a:prstGeom prst="rect">
                <a:avLst/>
              </a:prstGeom>
              <a:blipFill>
                <a:blip r:embed="rId5"/>
                <a:stretch>
                  <a:fillRect b="-21333"/>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27DB4A53-14BA-4A37-A7C2-BF62016BA378}"/>
              </a:ext>
            </a:extLst>
          </p:cNvPr>
          <p:cNvSpPr/>
          <p:nvPr/>
        </p:nvSpPr>
        <p:spPr>
          <a:xfrm>
            <a:off x="301345" y="3173096"/>
            <a:ext cx="8494653" cy="511807"/>
          </a:xfrm>
          <a:prstGeom prst="rect">
            <a:avLst/>
          </a:prstGeom>
        </p:spPr>
        <p:txBody>
          <a:bodyPr wrap="square">
            <a:spAutoFit/>
          </a:bodyPr>
          <a:lstStyle/>
          <a:p>
            <a:pPr>
              <a:lnSpc>
                <a:spcPct val="125000"/>
              </a:lnSpc>
              <a:spcAft>
                <a:spcPts val="0"/>
              </a:spcAft>
            </a:pPr>
            <a:r>
              <a:rPr lang="zh-CN" altLang="en-US" sz="2400" dirty="0">
                <a:solidFill>
                  <a:srgbClr val="000000"/>
                </a:solidFill>
                <a:latin typeface="+mj-ea"/>
                <a:ea typeface="+mj-ea"/>
                <a:cs typeface="Times New Roman" panose="02020603050405020304" pitchFamily="18" charset="0"/>
              </a:rPr>
              <a:t>求导得：</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806089C2-722A-4699-B164-21A82961B59D}"/>
                  </a:ext>
                </a:extLst>
              </p:cNvPr>
              <p:cNvSpPr/>
              <p:nvPr/>
            </p:nvSpPr>
            <p:spPr>
              <a:xfrm>
                <a:off x="2822539" y="3976307"/>
                <a:ext cx="3729804" cy="9943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a:rPr lang="zh-CN" altLang="en-US" sz="2400" i="0">
                              <a:latin typeface="Cambria Math" panose="02040503050406030204" pitchFamily="18" charset="0"/>
                            </a:rPr>
                            <m:t>1</m:t>
                          </m:r>
                          <m:r>
                            <m:rPr>
                              <m:sty m:val="p"/>
                            </m:rPr>
                            <a:rPr lang="zh-CN" altLang="en-US" sz="2400" i="0">
                              <a:latin typeface="Cambria Math" panose="02040503050406030204" pitchFamily="18" charset="0"/>
                            </a:rPr>
                            <m:t>max</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num>
                        <m:den>
                          <m:r>
                            <a:rPr lang="zh-CN" altLang="en-US" sz="2400" i="1">
                              <a:latin typeface="Cambria Math" panose="02040503050406030204" pitchFamily="18" charset="0"/>
                            </a:rPr>
                            <m:t>𝜑</m:t>
                          </m:r>
                        </m:den>
                      </m:f>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𝜑</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num>
                                <m:den>
                                  <m:r>
                                    <a:rPr lang="zh-CN" altLang="en-US" sz="2400" i="0">
                                      <a:latin typeface="Cambria Math" panose="02040503050406030204" pitchFamily="18" charset="0"/>
                                    </a:rPr>
                                    <m:t>1+</m:t>
                                  </m:r>
                                  <m:r>
                                    <a:rPr lang="zh-CN" altLang="en-US" sz="2400" i="1">
                                      <a:latin typeface="Cambria Math" panose="02040503050406030204" pitchFamily="18" charset="0"/>
                                    </a:rPr>
                                    <m:t>𝜑</m:t>
                                  </m:r>
                                </m:den>
                              </m:f>
                            </m:e>
                          </m:d>
                        </m:e>
                        <m:sup>
                          <m:r>
                            <a:rPr lang="zh-CN" altLang="en-US" sz="2400" i="0">
                              <a:latin typeface="Cambria Math" panose="02040503050406030204" pitchFamily="18" charset="0"/>
                            </a:rPr>
                            <m:t>1+</m:t>
                          </m:r>
                          <m:r>
                            <a:rPr lang="zh-CN" altLang="en-US" sz="2400" i="1">
                              <a:latin typeface="Cambria Math" panose="02040503050406030204" pitchFamily="18" charset="0"/>
                            </a:rPr>
                            <m:t>𝜑</m:t>
                          </m:r>
                        </m:sup>
                      </m:sSup>
                    </m:oMath>
                  </m:oMathPara>
                </a14:m>
                <a:endParaRPr lang="zh-CN" altLang="en-US" sz="2400" dirty="0"/>
              </a:p>
            </p:txBody>
          </p:sp>
        </mc:Choice>
        <mc:Fallback>
          <p:sp>
            <p:nvSpPr>
              <p:cNvPr id="12" name="矩形 11">
                <a:extLst>
                  <a:ext uri="{FF2B5EF4-FFF2-40B4-BE49-F238E27FC236}">
                    <a16:creationId xmlns:a16="http://schemas.microsoft.com/office/drawing/2014/main" id="{806089C2-722A-4699-B164-21A82961B59D}"/>
                  </a:ext>
                </a:extLst>
              </p:cNvPr>
              <p:cNvSpPr>
                <a:spLocks noRot="1" noChangeAspect="1" noMove="1" noResize="1" noEditPoints="1" noAdjustHandles="1" noChangeArrowheads="1" noChangeShapeType="1" noTextEdit="1"/>
              </p:cNvSpPr>
              <p:nvPr/>
            </p:nvSpPr>
            <p:spPr>
              <a:xfrm>
                <a:off x="2822539" y="3976307"/>
                <a:ext cx="3729804" cy="994375"/>
              </a:xfrm>
              <a:prstGeom prst="rect">
                <a:avLst/>
              </a:prstGeom>
              <a:blipFill>
                <a:blip r:embed="rId6"/>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2477659E-64B2-4BB8-89C2-1DC09603A707}"/>
              </a:ext>
            </a:extLst>
          </p:cNvPr>
          <p:cNvSpPr/>
          <p:nvPr/>
        </p:nvSpPr>
        <p:spPr>
          <a:xfrm>
            <a:off x="0" y="5182519"/>
            <a:ext cx="8650637" cy="511807"/>
          </a:xfrm>
          <a:prstGeom prst="rect">
            <a:avLst/>
          </a:prstGeom>
        </p:spPr>
        <p:txBody>
          <a:bodyPr wrap="square">
            <a:spAutoFit/>
          </a:bodyPr>
          <a:lstStyle/>
          <a:p>
            <a:pPr indent="266700">
              <a:lnSpc>
                <a:spcPct val="125000"/>
              </a:lnSpc>
            </a:pPr>
            <a:r>
              <a:rPr lang="zh-CN" altLang="en-US" sz="2400" dirty="0">
                <a:solidFill>
                  <a:srgbClr val="000000"/>
                </a:solidFill>
                <a:latin typeface="+mj-ea"/>
                <a:ea typeface="+mj-ea"/>
                <a:cs typeface="Times New Roman" panose="02020603050405020304" pitchFamily="18" charset="0"/>
              </a:rPr>
              <a:t>此时</a:t>
            </a:r>
            <a:r>
              <a:rPr lang="zh-CN" altLang="zh-CN" sz="2400" dirty="0">
                <a:solidFill>
                  <a:srgbClr val="000000"/>
                </a:solidFill>
                <a:latin typeface="+mj-ea"/>
                <a:ea typeface="+mj-ea"/>
                <a:cs typeface="Times New Roman" panose="02020603050405020304" pitchFamily="18" charset="0"/>
              </a:rPr>
              <a:t>回路的效率</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429E9F27-72FD-4949-8D9D-1427D831664C}"/>
                  </a:ext>
                </a:extLst>
              </p:cNvPr>
              <p:cNvSpPr/>
              <p:nvPr/>
            </p:nvSpPr>
            <p:spPr>
              <a:xfrm>
                <a:off x="2816769" y="5686452"/>
                <a:ext cx="3490956" cy="9650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𝜂</m:t>
                          </m:r>
                        </m:e>
                        <m:sub>
                          <m:r>
                            <m:rPr>
                              <m:sty m:val="p"/>
                            </m:rPr>
                            <a:rPr lang="zh-CN" altLang="en-US" sz="2400" i="1">
                              <a:latin typeface="Cambria Math" panose="02040503050406030204" pitchFamily="18" charset="0"/>
                            </a:rPr>
                            <m:t>C</m:t>
                          </m:r>
                        </m:sub>
                      </m:sSub>
                      <m:r>
                        <a:rPr lang="zh-CN" altLang="en-US" sz="2400" i="1">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1">
                                  <a:latin typeface="Cambria Math" panose="02040503050406030204" pitchFamily="18" charset="0"/>
                                </a:rPr>
                                <m:t>T</m:t>
                              </m:r>
                              <m:r>
                                <a:rPr lang="zh-CN" altLang="en-US" sz="2400" i="1">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1">
                                  <a:latin typeface="Cambria Math" panose="02040503050406030204" pitchFamily="18" charset="0"/>
                                </a:rPr>
                                <m:t>P</m:t>
                              </m:r>
                            </m:sub>
                          </m:sSub>
                          <m:r>
                            <m:rPr>
                              <m:nor/>
                            </m:rPr>
                            <a:rPr lang="zh-CN" altLang="en-US" sz="2400">
                              <a:latin typeface="Cambria Math" panose="02040503050406030204" pitchFamily="18" charset="0"/>
                            </a:rPr>
                            <m:t>(1</m:t>
                          </m:r>
                          <m:r>
                            <m:rPr>
                              <m:nor/>
                            </m:rPr>
                            <a:rPr lang="zh-CN" altLang="en-US" sz="2400" i="1">
                              <a:latin typeface="Cambria Math" panose="02040503050406030204" pitchFamily="18" charset="0"/>
                            </a:rPr>
                            <m:t>+</m:t>
                          </m:r>
                          <m:r>
                            <a:rPr lang="zh-CN" altLang="en-US" sz="2400" i="1">
                              <a:latin typeface="Cambria Math" panose="02040503050406030204" pitchFamily="18" charset="0"/>
                            </a:rPr>
                            <m:t>𝜑</m:t>
                          </m:r>
                          <m:r>
                            <m:rPr>
                              <m:nor/>
                            </m:rPr>
                            <a:rPr lang="zh-CN" altLang="en-US" sz="2400">
                              <a:latin typeface="Cambria Math" panose="02040503050406030204" pitchFamily="18" charset="0"/>
                            </a:rPr>
                            <m:t>)</m:t>
                          </m:r>
                        </m:den>
                      </m:f>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𝜑</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1">
                                          <a:latin typeface="Cambria Math" panose="02040503050406030204" pitchFamily="18" charset="0"/>
                                        </a:rPr>
                                        <m:t>P</m:t>
                                      </m:r>
                                    </m:sub>
                                  </m:sSub>
                                </m:num>
                                <m:den>
                                  <m:r>
                                    <a:rPr lang="zh-CN" altLang="en-US" sz="2400" i="1">
                                      <a:latin typeface="Cambria Math" panose="02040503050406030204" pitchFamily="18" charset="0"/>
                                    </a:rPr>
                                    <m:t>1+</m:t>
                                  </m:r>
                                  <m:r>
                                    <a:rPr lang="zh-CN" altLang="en-US" sz="2400" i="1">
                                      <a:latin typeface="Cambria Math" panose="02040503050406030204" pitchFamily="18" charset="0"/>
                                    </a:rPr>
                                    <m:t>𝜑</m:t>
                                  </m:r>
                                </m:den>
                              </m:f>
                            </m:e>
                          </m:d>
                        </m:e>
                        <m:sup>
                          <m:r>
                            <a:rPr lang="zh-CN" altLang="en-US" sz="2400" i="1">
                              <a:latin typeface="Cambria Math" panose="02040503050406030204" pitchFamily="18" charset="0"/>
                            </a:rPr>
                            <m:t>𝜑</m:t>
                          </m:r>
                        </m:sup>
                      </m:sSup>
                    </m:oMath>
                  </m:oMathPara>
                </a14:m>
                <a:endParaRPr lang="zh-CN" altLang="en-US" sz="2400" i="1" dirty="0">
                  <a:latin typeface="Cambria Math" panose="02040503050406030204" pitchFamily="18" charset="0"/>
                </a:endParaRPr>
              </a:p>
            </p:txBody>
          </p:sp>
        </mc:Choice>
        <mc:Fallback xmlns="">
          <p:sp>
            <p:nvSpPr>
              <p:cNvPr id="14" name="矩形 13">
                <a:extLst>
                  <a:ext uri="{FF2B5EF4-FFF2-40B4-BE49-F238E27FC236}">
                    <a16:creationId xmlns:a16="http://schemas.microsoft.com/office/drawing/2014/main" id="{429E9F27-72FD-4949-8D9D-1427D831664C}"/>
                  </a:ext>
                </a:extLst>
              </p:cNvPr>
              <p:cNvSpPr>
                <a:spLocks noRot="1" noChangeAspect="1" noMove="1" noResize="1" noEditPoints="1" noAdjustHandles="1" noChangeArrowheads="1" noChangeShapeType="1" noTextEdit="1"/>
              </p:cNvSpPr>
              <p:nvPr/>
            </p:nvSpPr>
            <p:spPr>
              <a:xfrm>
                <a:off x="2816769" y="5686452"/>
                <a:ext cx="3490956" cy="965072"/>
              </a:xfrm>
              <a:prstGeom prst="rect">
                <a:avLst/>
              </a:prstGeom>
              <a:blipFill>
                <a:blip r:embed="rId8"/>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D435AD14-9278-472C-8F15-5E7A99660F3B}"/>
              </a:ext>
            </a:extLst>
          </p:cNvPr>
          <p:cNvSpPr txBox="1"/>
          <p:nvPr/>
        </p:nvSpPr>
        <p:spPr>
          <a:xfrm>
            <a:off x="11399520" y="6535517"/>
            <a:ext cx="792480" cy="369332"/>
          </a:xfrm>
          <a:prstGeom prst="rect">
            <a:avLst/>
          </a:prstGeom>
          <a:noFill/>
        </p:spPr>
        <p:txBody>
          <a:bodyPr wrap="square" rtlCol="0">
            <a:spAutoFit/>
          </a:bodyPr>
          <a:lstStyle/>
          <a:p>
            <a:pPr algn="r"/>
            <a:r>
              <a:rPr lang="en-US" altLang="zh-CN" dirty="0"/>
              <a:t>11/29</a:t>
            </a:r>
            <a:endParaRPr lang="zh-CN" altLang="en-US" dirty="0"/>
          </a:p>
        </p:txBody>
      </p:sp>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2D47A47E-9C33-4251-9E1D-94E2CF918393}"/>
                  </a:ext>
                </a:extLst>
              </p:cNvPr>
              <p:cNvSpPr/>
              <p:nvPr/>
            </p:nvSpPr>
            <p:spPr>
              <a:xfrm>
                <a:off x="2367901" y="3050746"/>
                <a:ext cx="6240683" cy="8558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400" i="1" smtClean="0">
                              <a:latin typeface="Cambria Math" panose="02040503050406030204" pitchFamily="18" charset="0"/>
                            </a:rPr>
                          </m:ctrlPr>
                        </m:fPr>
                        <m:num>
                          <m:r>
                            <a:rPr lang="en-US" altLang="zh-CN" sz="2400" i="1">
                              <a:latin typeface="Cambria Math" panose="02040503050406030204" pitchFamily="18" charset="0"/>
                            </a:rPr>
                            <m:t>𝑑</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𝑃</m:t>
                              </m:r>
                            </m:e>
                            <m:sub>
                              <m:r>
                                <a:rPr lang="en-US" altLang="zh-CN" sz="2400" i="1">
                                  <a:latin typeface="Cambria Math" panose="02040503050406030204" pitchFamily="18" charset="0"/>
                                </a:rPr>
                                <m:t>1</m:t>
                              </m:r>
                            </m:sub>
                          </m:sSub>
                        </m:num>
                        <m:den>
                          <m:r>
                            <a:rPr lang="en-US" altLang="zh-CN" sz="2400" i="1">
                              <a:latin typeface="Cambria Math" panose="02040503050406030204" pitchFamily="18" charset="0"/>
                            </a:rPr>
                            <m:t>𝑑</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𝑝</m:t>
                              </m:r>
                            </m:e>
                            <m:sub>
                              <m:r>
                                <a:rPr lang="en-US" altLang="zh-CN" sz="2400" i="1">
                                  <a:latin typeface="Cambria Math" panose="02040503050406030204" pitchFamily="18" charset="0"/>
                                </a:rPr>
                                <m:t>1</m:t>
                              </m:r>
                            </m:sub>
                          </m:sSub>
                        </m:den>
                      </m:f>
                      <m:r>
                        <a:rPr lang="zh-CN" altLang="en-US" sz="2400" i="0">
                          <a:latin typeface="Cambria Math" panose="02040503050406030204" pitchFamily="18" charset="0"/>
                        </a:rPr>
                        <m:t>=</m:t>
                      </m:r>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𝑃</m:t>
                              </m:r>
                            </m:sub>
                          </m:sSub>
                          <m:r>
                            <a:rPr lang="en-US" altLang="zh-CN" sz="2400" b="0" i="1" smtClean="0">
                              <a:latin typeface="Cambria Math" panose="02040503050406030204" pitchFamily="18" charset="0"/>
                            </a:rPr>
                            <m:t>−(1+</m:t>
                          </m:r>
                          <m:r>
                            <a:rPr lang="zh-CN" altLang="en-US" sz="2400" i="1">
                              <a:latin typeface="Cambria Math" panose="02040503050406030204" pitchFamily="18" charset="0"/>
                            </a:rPr>
                            <m:t>𝜑</m:t>
                          </m:r>
                          <m:r>
                            <a:rPr lang="en-US" altLang="zh-CN" sz="2400" b="0" i="1" smtClean="0">
                              <a:latin typeface="Cambria Math" panose="02040503050406030204" pitchFamily="18" charset="0"/>
                            </a:rPr>
                            <m:t>)</m:t>
                          </m:r>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r>
                        <a:rPr lang="en-US" altLang="zh-CN" sz="2400" b="0" i="1" smtClean="0">
                          <a:latin typeface="Cambria Math" panose="02040503050406030204" pitchFamily="18" charset="0"/>
                        </a:rPr>
                        <m:t>)</m:t>
                      </m:r>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0">
                              <a:latin typeface="Cambria Math" panose="02040503050406030204" pitchFamily="18" charset="0"/>
                            </a:rPr>
                            <m:t>1</m:t>
                          </m:r>
                        </m:sub>
                      </m:sSub>
                      <m:sSup>
                        <m:sSupPr>
                          <m:ctrlPr>
                            <a:rPr lang="zh-CN" altLang="en-US" sz="2400" i="1">
                              <a:latin typeface="Cambria Math" panose="02040503050406030204" pitchFamily="18" charset="0"/>
                            </a:rPr>
                          </m:ctrlPr>
                        </m:sSupPr>
                        <m:e>
                          <m:r>
                            <m:rPr>
                              <m:nor/>
                            </m:rPr>
                            <a:rPr lang="zh-CN" altLang="en-US" sz="2400" i="1">
                              <a:latin typeface="Cambria Math" panose="02040503050406030204" pitchFamily="18" charset="0"/>
                            </a:rPr>
                            <m:t>)</m:t>
                          </m:r>
                        </m:e>
                        <m:sup>
                          <m:r>
                            <a:rPr lang="zh-CN" altLang="en-US" sz="2400" i="1">
                              <a:latin typeface="Cambria Math" panose="02040503050406030204" pitchFamily="18" charset="0"/>
                            </a:rPr>
                            <m:t>𝜑</m:t>
                          </m:r>
                          <m:r>
                            <a:rPr lang="en-US" altLang="zh-CN" sz="2400" b="0" i="1" smtClean="0">
                              <a:latin typeface="Cambria Math" panose="02040503050406030204" pitchFamily="18" charset="0"/>
                            </a:rPr>
                            <m:t>−1</m:t>
                          </m:r>
                        </m:sup>
                      </m:sSup>
                      <m:r>
                        <a:rPr lang="en-US" altLang="zh-CN" sz="2400" b="0" i="1" smtClean="0">
                          <a:latin typeface="Cambria Math" panose="02040503050406030204" pitchFamily="18" charset="0"/>
                        </a:rPr>
                        <m:t>=0</m:t>
                      </m:r>
                    </m:oMath>
                  </m:oMathPara>
                </a14:m>
                <a:endParaRPr lang="zh-CN" altLang="en-US" sz="2400" dirty="0"/>
              </a:p>
            </p:txBody>
          </p:sp>
        </mc:Choice>
        <mc:Fallback>
          <p:sp>
            <p:nvSpPr>
              <p:cNvPr id="16" name="矩形 15">
                <a:extLst>
                  <a:ext uri="{FF2B5EF4-FFF2-40B4-BE49-F238E27FC236}">
                    <a16:creationId xmlns:a16="http://schemas.microsoft.com/office/drawing/2014/main" id="{2D47A47E-9C33-4251-9E1D-94E2CF918393}"/>
                  </a:ext>
                </a:extLst>
              </p:cNvPr>
              <p:cNvSpPr>
                <a:spLocks noRot="1" noChangeAspect="1" noMove="1" noResize="1" noEditPoints="1" noAdjustHandles="1" noChangeArrowheads="1" noChangeShapeType="1" noTextEdit="1"/>
              </p:cNvSpPr>
              <p:nvPr/>
            </p:nvSpPr>
            <p:spPr>
              <a:xfrm>
                <a:off x="2367901" y="3050746"/>
                <a:ext cx="6240683" cy="855812"/>
              </a:xfrm>
              <a:prstGeom prst="rect">
                <a:avLst/>
              </a:prstGeom>
              <a:blipFill>
                <a:blip r:embed="rId9"/>
                <a:stretch>
                  <a:fillRect/>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0C1819A7-7B73-40FD-BF38-6C5D31C6EBFA}"/>
              </a:ext>
            </a:extLst>
          </p:cNvPr>
          <p:cNvSpPr/>
          <p:nvPr/>
        </p:nvSpPr>
        <p:spPr>
          <a:xfrm>
            <a:off x="314920" y="4202971"/>
            <a:ext cx="8494653" cy="511807"/>
          </a:xfrm>
          <a:prstGeom prst="rect">
            <a:avLst/>
          </a:prstGeom>
        </p:spPr>
        <p:txBody>
          <a:bodyPr wrap="square">
            <a:spAutoFit/>
          </a:bodyPr>
          <a:lstStyle/>
          <a:p>
            <a:pPr>
              <a:lnSpc>
                <a:spcPct val="125000"/>
              </a:lnSpc>
              <a:spcAft>
                <a:spcPts val="0"/>
              </a:spcAft>
            </a:pPr>
            <a:r>
              <a:rPr lang="zh-CN" altLang="en-US" sz="2400" dirty="0">
                <a:solidFill>
                  <a:srgbClr val="000000"/>
                </a:solidFill>
                <a:latin typeface="+mj-ea"/>
                <a:ea typeface="+mj-ea"/>
                <a:cs typeface="Times New Roman" panose="02020603050405020304" pitchFamily="18" charset="0"/>
              </a:rPr>
              <a:t>易得：</a:t>
            </a:r>
            <a:endParaRPr lang="zh-CN" altLang="zh-CN" sz="2400" dirty="0">
              <a:solidFill>
                <a:srgbClr val="000000"/>
              </a:solidFill>
              <a:latin typeface="+mj-ea"/>
              <a:ea typeface="+mj-ea"/>
              <a:cs typeface="Times New Roman" panose="02020603050405020304" pitchFamily="18" charset="0"/>
            </a:endParaRPr>
          </a:p>
        </p:txBody>
      </p:sp>
    </p:spTree>
    <p:extLst>
      <p:ext uri="{BB962C8B-B14F-4D97-AF65-F5344CB8AC3E}">
        <p14:creationId xmlns:p14="http://schemas.microsoft.com/office/powerpoint/2010/main" val="407218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7" name="矩形 6">
            <a:extLst>
              <a:ext uri="{FF2B5EF4-FFF2-40B4-BE49-F238E27FC236}">
                <a16:creationId xmlns:a16="http://schemas.microsoft.com/office/drawing/2014/main" id="{960C168B-F228-4980-9896-35E8C1DBED17}"/>
              </a:ext>
            </a:extLst>
          </p:cNvPr>
          <p:cNvSpPr/>
          <p:nvPr/>
        </p:nvSpPr>
        <p:spPr>
          <a:xfrm>
            <a:off x="484506" y="1794840"/>
            <a:ext cx="11465456" cy="1135054"/>
          </a:xfrm>
          <a:prstGeom prst="rect">
            <a:avLst/>
          </a:prstGeom>
        </p:spPr>
        <p:txBody>
          <a:bodyPr wrap="square">
            <a:spAutoFit/>
          </a:bodyPr>
          <a:lstStyle/>
          <a:p>
            <a:pPr algn="just">
              <a:lnSpc>
                <a:spcPct val="150000"/>
              </a:lnSpc>
              <a:spcAft>
                <a:spcPts val="0"/>
              </a:spcAft>
            </a:pPr>
            <a:r>
              <a:rPr lang="zh-CN" altLang="zh-CN" sz="2400" b="1" dirty="0">
                <a:solidFill>
                  <a:srgbClr val="FF0000"/>
                </a:solidFill>
                <a:latin typeface="+mj-ea"/>
                <a:ea typeface="+mj-ea"/>
                <a:cs typeface="Times New Roman" panose="02020603050405020304" pitchFamily="18" charset="0"/>
              </a:rPr>
              <a:t>调速回路的调速特性是以其所驱动的液压缸在某个负载下可能得到的最大工作速度和最小工作速度之比</a:t>
            </a:r>
            <a:r>
              <a:rPr lang="en-US" altLang="zh-CN" sz="2400" b="1" dirty="0">
                <a:solidFill>
                  <a:srgbClr val="FF0000"/>
                </a:solidFill>
                <a:latin typeface="+mj-ea"/>
                <a:ea typeface="+mj-ea"/>
                <a:cs typeface="Times New Roman" panose="02020603050405020304" pitchFamily="18" charset="0"/>
              </a:rPr>
              <a:t>(</a:t>
            </a:r>
            <a:r>
              <a:rPr lang="zh-CN" altLang="zh-CN" sz="2400" b="1" dirty="0">
                <a:solidFill>
                  <a:srgbClr val="FF0000"/>
                </a:solidFill>
                <a:latin typeface="+mj-ea"/>
                <a:ea typeface="+mj-ea"/>
                <a:cs typeface="Times New Roman" panose="02020603050405020304" pitchFamily="18" charset="0"/>
              </a:rPr>
              <a:t>调速范围</a:t>
            </a:r>
            <a:r>
              <a:rPr lang="en-US" altLang="zh-CN" sz="2400" b="1" dirty="0">
                <a:solidFill>
                  <a:srgbClr val="FF0000"/>
                </a:solidFill>
                <a:latin typeface="+mj-ea"/>
                <a:ea typeface="+mj-ea"/>
                <a:cs typeface="Times New Roman" panose="02020603050405020304" pitchFamily="18" charset="0"/>
              </a:rPr>
              <a:t>)</a:t>
            </a:r>
            <a:r>
              <a:rPr lang="zh-CN" altLang="zh-CN" sz="2400" b="1" dirty="0">
                <a:solidFill>
                  <a:srgbClr val="FF0000"/>
                </a:solidFill>
                <a:latin typeface="+mj-ea"/>
                <a:ea typeface="+mj-ea"/>
                <a:cs typeface="Times New Roman" panose="02020603050405020304" pitchFamily="18" charset="0"/>
              </a:rPr>
              <a:t>来表示的。</a:t>
            </a:r>
            <a:r>
              <a:rPr lang="zh-CN" altLang="zh-CN" sz="2400" dirty="0">
                <a:solidFill>
                  <a:srgbClr val="000000"/>
                </a:solidFill>
                <a:latin typeface="+mj-ea"/>
                <a:ea typeface="+mj-ea"/>
                <a:cs typeface="Times New Roman" panose="02020603050405020304" pitchFamily="18" charset="0"/>
              </a:rPr>
              <a:t>定压式进口节流调速回路的调速范围为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496DB3AE-0163-4FCE-A6FA-1200DB185A43}"/>
                  </a:ext>
                </a:extLst>
              </p:cNvPr>
              <p:cNvSpPr/>
              <p:nvPr/>
            </p:nvSpPr>
            <p:spPr>
              <a:xfrm>
                <a:off x="3799077" y="3271809"/>
                <a:ext cx="3831433" cy="8466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𝑅</m:t>
                          </m:r>
                        </m:e>
                        <m:sub>
                          <m:r>
                            <m:rPr>
                              <m:sty m:val="p"/>
                            </m:rPr>
                            <a:rPr lang="zh-CN" altLang="en-US" sz="2400">
                              <a:latin typeface="Cambria Math" panose="02040503050406030204" pitchFamily="18" charset="0"/>
                            </a:rPr>
                            <m:t>C</m:t>
                          </m:r>
                        </m:sub>
                      </m:sSub>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𝑣</m:t>
                              </m:r>
                            </m:e>
                            <m:sub>
                              <m:r>
                                <m:rPr>
                                  <m:sty m:val="p"/>
                                </m:rPr>
                                <a:rPr lang="zh-CN" altLang="en-US" sz="2400">
                                  <a:latin typeface="Cambria Math" panose="02040503050406030204" pitchFamily="18" charset="0"/>
                                </a:rPr>
                                <m:t>max</m:t>
                              </m:r>
                            </m:sub>
                          </m:sSub>
                        </m:num>
                        <m:den>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𝑣</m:t>
                              </m:r>
                            </m:e>
                            <m:sub>
                              <m:r>
                                <m:rPr>
                                  <m:sty m:val="p"/>
                                </m:rPr>
                                <a:rPr lang="zh-CN" altLang="en-US" sz="2400">
                                  <a:latin typeface="Cambria Math" panose="02040503050406030204" pitchFamily="18" charset="0"/>
                                </a:rPr>
                                <m:t>min</m:t>
                              </m:r>
                            </m:sub>
                          </m:sSub>
                        </m:den>
                      </m:f>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𝐴</m:t>
                              </m:r>
                            </m:e>
                            <m:sub>
                              <m:r>
                                <m:rPr>
                                  <m:sty m:val="p"/>
                                </m:rPr>
                                <a:rPr lang="zh-CN" altLang="en-US" sz="2400">
                                  <a:latin typeface="Cambria Math" panose="02040503050406030204" pitchFamily="18" charset="0"/>
                                </a:rPr>
                                <m:t>T</m:t>
                              </m:r>
                              <m:r>
                                <a:rPr lang="zh-CN" altLang="en-US" sz="2400">
                                  <a:latin typeface="Cambria Math" panose="02040503050406030204" pitchFamily="18" charset="0"/>
                                </a:rPr>
                                <m:t>1</m:t>
                              </m:r>
                              <m:r>
                                <m:rPr>
                                  <m:sty m:val="p"/>
                                </m:rPr>
                                <a:rPr lang="zh-CN" altLang="en-US" sz="2400">
                                  <a:latin typeface="Cambria Math" panose="02040503050406030204" pitchFamily="18" charset="0"/>
                                </a:rPr>
                                <m:t>max</m:t>
                              </m:r>
                            </m:sub>
                          </m:sSub>
                        </m:num>
                        <m:den>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𝐴</m:t>
                              </m:r>
                            </m:e>
                            <m:sub>
                              <m:r>
                                <m:rPr>
                                  <m:sty m:val="p"/>
                                </m:rPr>
                                <a:rPr lang="zh-CN" altLang="en-US" sz="2400">
                                  <a:latin typeface="Cambria Math" panose="02040503050406030204" pitchFamily="18" charset="0"/>
                                </a:rPr>
                                <m:t>T</m:t>
                              </m:r>
                              <m:r>
                                <a:rPr lang="zh-CN" altLang="en-US" sz="2400">
                                  <a:latin typeface="Cambria Math" panose="02040503050406030204" pitchFamily="18" charset="0"/>
                                </a:rPr>
                                <m:t>1</m:t>
                              </m:r>
                              <m:r>
                                <m:rPr>
                                  <m:sty m:val="p"/>
                                </m:rPr>
                                <a:rPr lang="zh-CN" altLang="en-US" sz="2400">
                                  <a:latin typeface="Cambria Math" panose="02040503050406030204" pitchFamily="18" charset="0"/>
                                </a:rPr>
                                <m:t>min</m:t>
                              </m:r>
                            </m:sub>
                          </m:sSub>
                        </m:den>
                      </m:f>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𝑅</m:t>
                          </m:r>
                        </m:e>
                        <m:sub>
                          <m:r>
                            <m:rPr>
                              <m:sty m:val="p"/>
                            </m:rPr>
                            <a:rPr lang="zh-CN" altLang="en-US" sz="2400">
                              <a:latin typeface="Cambria Math" panose="02040503050406030204" pitchFamily="18" charset="0"/>
                            </a:rPr>
                            <m:t>T</m:t>
                          </m:r>
                          <m:r>
                            <a:rPr lang="zh-CN" altLang="en-US" sz="2400">
                              <a:latin typeface="Cambria Math" panose="02040503050406030204" pitchFamily="18" charset="0"/>
                            </a:rPr>
                            <m:t>1</m:t>
                          </m:r>
                        </m:sub>
                      </m:sSub>
                    </m:oMath>
                  </m:oMathPara>
                </a14:m>
                <a:endParaRPr lang="zh-CN" altLang="en-US" sz="2400" dirty="0">
                  <a:latin typeface="Cambria Math" panose="02040503050406030204" pitchFamily="18" charset="0"/>
                </a:endParaRPr>
              </a:p>
            </p:txBody>
          </p:sp>
        </mc:Choice>
        <mc:Fallback xmlns="">
          <p:sp>
            <p:nvSpPr>
              <p:cNvPr id="8" name="矩形 7">
                <a:extLst>
                  <a:ext uri="{FF2B5EF4-FFF2-40B4-BE49-F238E27FC236}">
                    <a16:creationId xmlns:a16="http://schemas.microsoft.com/office/drawing/2014/main" id="{496DB3AE-0163-4FCE-A6FA-1200DB185A43}"/>
                  </a:ext>
                </a:extLst>
              </p:cNvPr>
              <p:cNvSpPr>
                <a:spLocks noRot="1" noChangeAspect="1" noMove="1" noResize="1" noEditPoints="1" noAdjustHandles="1" noChangeArrowheads="1" noChangeShapeType="1" noTextEdit="1"/>
              </p:cNvSpPr>
              <p:nvPr/>
            </p:nvSpPr>
            <p:spPr>
              <a:xfrm>
                <a:off x="3799077" y="3271809"/>
                <a:ext cx="3831433" cy="846642"/>
              </a:xfrm>
              <a:prstGeom prst="rect">
                <a:avLst/>
              </a:prstGeom>
              <a:blipFill>
                <a:blip r:embed="rId3"/>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10677507-35E6-4D23-A7D6-17395B2A2C9B}"/>
              </a:ext>
            </a:extLst>
          </p:cNvPr>
          <p:cNvSpPr/>
          <p:nvPr/>
        </p:nvSpPr>
        <p:spPr>
          <a:xfrm>
            <a:off x="429656" y="4440426"/>
            <a:ext cx="11378215" cy="2243050"/>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sz="2400" dirty="0">
                <a:solidFill>
                  <a:srgbClr val="000000"/>
                </a:solidFill>
                <a:latin typeface="+mj-ea"/>
                <a:ea typeface="+mj-ea"/>
                <a:cs typeface="Times New Roman" panose="02020603050405020304" pitchFamily="18" charset="0"/>
              </a:rPr>
              <a:t>定压式进口节流调速回路的调速范围只受流量控制元件调节范围的限制</a:t>
            </a:r>
            <a:endParaRPr lang="en-US" altLang="zh-CN" sz="2400" dirty="0">
              <a:solidFill>
                <a:srgbClr val="000000"/>
              </a:solidFill>
              <a:latin typeface="+mj-ea"/>
              <a:ea typeface="+mj-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sz="2400" dirty="0">
                <a:solidFill>
                  <a:srgbClr val="000000"/>
                </a:solidFill>
                <a:latin typeface="+mj-ea"/>
                <a:cs typeface="Times New Roman" panose="02020603050405020304" pitchFamily="18" charset="0"/>
              </a:rPr>
              <a:t>定压式节流调速回路中组成元件的泄漏对回路各项性能的影响不大</a:t>
            </a:r>
            <a:r>
              <a:rPr lang="en-US" altLang="zh-CN" sz="2400" dirty="0">
                <a:solidFill>
                  <a:srgbClr val="000000"/>
                </a:solidFill>
                <a:latin typeface="+mj-ea"/>
                <a:cs typeface="Times New Roman" panose="02020603050405020304" pitchFamily="18" charset="0"/>
              </a:rPr>
              <a:t>,</a:t>
            </a:r>
            <a:r>
              <a:rPr lang="zh-CN" altLang="zh-CN" sz="2400" dirty="0">
                <a:solidFill>
                  <a:srgbClr val="000000"/>
                </a:solidFill>
                <a:latin typeface="+mj-ea"/>
                <a:cs typeface="Times New Roman" panose="02020603050405020304" pitchFamily="18" charset="0"/>
              </a:rPr>
              <a:t>液压泵处的泄漏虽较大</a:t>
            </a:r>
            <a:r>
              <a:rPr lang="en-US" altLang="zh-CN" sz="2400" dirty="0">
                <a:solidFill>
                  <a:srgbClr val="000000"/>
                </a:solidFill>
                <a:latin typeface="+mj-ea"/>
                <a:cs typeface="Times New Roman" panose="02020603050405020304" pitchFamily="18" charset="0"/>
              </a:rPr>
              <a:t>,</a:t>
            </a:r>
            <a:r>
              <a:rPr lang="zh-CN" altLang="zh-CN" sz="2400" dirty="0">
                <a:solidFill>
                  <a:srgbClr val="000000"/>
                </a:solidFill>
                <a:latin typeface="+mj-ea"/>
                <a:cs typeface="Times New Roman" panose="02020603050405020304" pitchFamily="18" charset="0"/>
              </a:rPr>
              <a:t>但它只影响通过溢流阀的流量</a:t>
            </a:r>
            <a:r>
              <a:rPr lang="en-US" altLang="zh-CN" sz="2400" dirty="0">
                <a:solidFill>
                  <a:srgbClr val="000000"/>
                </a:solidFill>
                <a:latin typeface="+mj-ea"/>
                <a:cs typeface="Times New Roman" panose="02020603050405020304" pitchFamily="18" charset="0"/>
              </a:rPr>
              <a:t>,</a:t>
            </a:r>
            <a:r>
              <a:rPr lang="zh-CN" altLang="zh-CN" sz="2400" dirty="0">
                <a:solidFill>
                  <a:srgbClr val="000000"/>
                </a:solidFill>
                <a:latin typeface="+mj-ea"/>
                <a:cs typeface="Times New Roman" panose="02020603050405020304" pitchFamily="18" charset="0"/>
              </a:rPr>
              <a:t>节流阀和液压缸处的泄漏都是很小的</a:t>
            </a:r>
          </a:p>
          <a:p>
            <a:pPr indent="360000" algn="just">
              <a:lnSpc>
                <a:spcPct val="150000"/>
              </a:lnSpc>
              <a:spcAft>
                <a:spcPts val="0"/>
              </a:spcAft>
            </a:pPr>
            <a:endParaRPr lang="zh-CN" altLang="zh-CN" sz="2400" dirty="0">
              <a:solidFill>
                <a:srgbClr val="000000"/>
              </a:solidFill>
              <a:latin typeface="+mj-ea"/>
              <a:ea typeface="+mj-ea"/>
              <a:cs typeface="Times New Roman" panose="02020603050405020304" pitchFamily="18" charset="0"/>
            </a:endParaRPr>
          </a:p>
        </p:txBody>
      </p:sp>
      <p:sp>
        <p:nvSpPr>
          <p:cNvPr id="12" name="矩形 11">
            <a:extLst>
              <a:ext uri="{FF2B5EF4-FFF2-40B4-BE49-F238E27FC236}">
                <a16:creationId xmlns:a16="http://schemas.microsoft.com/office/drawing/2014/main" id="{BE606D43-FE7D-A7E5-C41A-91540E60BF32}"/>
              </a:ext>
            </a:extLst>
          </p:cNvPr>
          <p:cNvSpPr/>
          <p:nvPr/>
        </p:nvSpPr>
        <p:spPr>
          <a:xfrm>
            <a:off x="199505" y="937058"/>
            <a:ext cx="11679228" cy="66255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Ø"/>
            </a:pPr>
            <a:r>
              <a:rPr lang="zh-CN" altLang="zh-CN" sz="2800" b="1" dirty="0">
                <a:latin typeface="+mj-ea"/>
                <a:ea typeface="+mj-ea"/>
              </a:rPr>
              <a:t>调速回路的</a:t>
            </a:r>
            <a:r>
              <a:rPr lang="zh-CN" altLang="en-US" sz="2800" b="1" dirty="0">
                <a:latin typeface="+mj-ea"/>
                <a:ea typeface="+mj-ea"/>
              </a:rPr>
              <a:t>调速</a:t>
            </a:r>
            <a:r>
              <a:rPr lang="zh-CN" altLang="zh-CN" sz="2800" b="1" dirty="0">
                <a:latin typeface="+mj-ea"/>
                <a:ea typeface="+mj-ea"/>
              </a:rPr>
              <a:t>特性</a:t>
            </a:r>
            <a:endParaRPr lang="zh-CN" altLang="en-US" sz="2800" b="1" dirty="0">
              <a:latin typeface="+mj-ea"/>
              <a:ea typeface="+mj-ea"/>
            </a:endParaRPr>
          </a:p>
        </p:txBody>
      </p:sp>
      <p:sp>
        <p:nvSpPr>
          <p:cNvPr id="11" name="文本框 10">
            <a:extLst>
              <a:ext uri="{FF2B5EF4-FFF2-40B4-BE49-F238E27FC236}">
                <a16:creationId xmlns:a16="http://schemas.microsoft.com/office/drawing/2014/main" id="{58DA26DF-79E5-4690-80ED-CB216ADAF02C}"/>
              </a:ext>
            </a:extLst>
          </p:cNvPr>
          <p:cNvSpPr txBox="1"/>
          <p:nvPr/>
        </p:nvSpPr>
        <p:spPr>
          <a:xfrm>
            <a:off x="11430000" y="6535517"/>
            <a:ext cx="762000" cy="369332"/>
          </a:xfrm>
          <a:prstGeom prst="rect">
            <a:avLst/>
          </a:prstGeom>
          <a:noFill/>
        </p:spPr>
        <p:txBody>
          <a:bodyPr wrap="square" rtlCol="0">
            <a:spAutoFit/>
          </a:bodyPr>
          <a:lstStyle/>
          <a:p>
            <a:pPr algn="r"/>
            <a:r>
              <a:rPr lang="en-US" altLang="zh-CN" dirty="0"/>
              <a:t>12/29</a:t>
            </a:r>
            <a:endParaRPr lang="zh-CN" altLang="en-US" dirty="0"/>
          </a:p>
        </p:txBody>
      </p:sp>
    </p:spTree>
    <p:extLst>
      <p:ext uri="{BB962C8B-B14F-4D97-AF65-F5344CB8AC3E}">
        <p14:creationId xmlns:p14="http://schemas.microsoft.com/office/powerpoint/2010/main" val="167856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7" name="矩形 6">
            <a:extLst>
              <a:ext uri="{FF2B5EF4-FFF2-40B4-BE49-F238E27FC236}">
                <a16:creationId xmlns:a16="http://schemas.microsoft.com/office/drawing/2014/main" id="{06FE9118-E268-4888-852A-E0BB1B6A473B}"/>
              </a:ext>
            </a:extLst>
          </p:cNvPr>
          <p:cNvSpPr/>
          <p:nvPr/>
        </p:nvSpPr>
        <p:spPr>
          <a:xfrm>
            <a:off x="3709934" y="1457352"/>
            <a:ext cx="3877985" cy="281937"/>
          </a:xfrm>
          <a:prstGeom prst="rect">
            <a:avLst/>
          </a:prstGeom>
        </p:spPr>
        <p:txBody>
          <a:bodyPr wrap="none">
            <a:spAutoFit/>
          </a:bodyPr>
          <a:lstStyle/>
          <a:p>
            <a:pPr indent="228600" algn="ctr">
              <a:lnSpc>
                <a:spcPts val="1350"/>
              </a:lnSpc>
              <a:spcAft>
                <a:spcPts val="0"/>
              </a:spcAft>
            </a:pPr>
            <a:r>
              <a:rPr lang="zh-CN" altLang="zh-CN" b="1" dirty="0">
                <a:solidFill>
                  <a:srgbClr val="FF0000"/>
                </a:solidFill>
                <a:latin typeface="+mj-ea"/>
                <a:ea typeface="+mj-ea"/>
              </a:rPr>
              <a:t>定压式节流调速回路的特性表达式</a:t>
            </a:r>
          </a:p>
        </p:txBody>
      </p:sp>
      <p:graphicFrame>
        <p:nvGraphicFramePr>
          <p:cNvPr id="8" name="对象 7">
            <a:extLst>
              <a:ext uri="{FF2B5EF4-FFF2-40B4-BE49-F238E27FC236}">
                <a16:creationId xmlns:a16="http://schemas.microsoft.com/office/drawing/2014/main" id="{BFAFC394-F314-4AAF-AF19-6A6D05C757BF}"/>
              </a:ext>
            </a:extLst>
          </p:cNvPr>
          <p:cNvGraphicFramePr>
            <a:graphicFrameLocks noChangeAspect="1"/>
          </p:cNvGraphicFramePr>
          <p:nvPr>
            <p:extLst>
              <p:ext uri="{D42A27DB-BD31-4B8C-83A1-F6EECF244321}">
                <p14:modId xmlns:p14="http://schemas.microsoft.com/office/powerpoint/2010/main" val="4045387109"/>
              </p:ext>
            </p:extLst>
          </p:nvPr>
        </p:nvGraphicFramePr>
        <p:xfrm>
          <a:off x="1295400" y="1862138"/>
          <a:ext cx="8643938" cy="5089525"/>
        </p:xfrm>
        <a:graphic>
          <a:graphicData uri="http://schemas.openxmlformats.org/presentationml/2006/ole">
            <mc:AlternateContent xmlns:mc="http://schemas.openxmlformats.org/markup-compatibility/2006">
              <mc:Choice xmlns:v="urn:schemas-microsoft-com:vml" Requires="v">
                <p:oleObj spid="_x0000_s2066" name="Document" r:id="rId4" imgW="5325419" imgH="3099610" progId="Word.Document.12">
                  <p:embed/>
                </p:oleObj>
              </mc:Choice>
              <mc:Fallback>
                <p:oleObj name="Document" r:id="rId4" imgW="5325419" imgH="3099610" progId="Word.Document.12">
                  <p:embed/>
                  <p:pic>
                    <p:nvPicPr>
                      <p:cNvPr id="8" name="对象 7">
                        <a:extLst>
                          <a:ext uri="{FF2B5EF4-FFF2-40B4-BE49-F238E27FC236}">
                            <a16:creationId xmlns:a16="http://schemas.microsoft.com/office/drawing/2014/main" id="{BFAFC394-F314-4AAF-AF19-6A6D05C757BF}"/>
                          </a:ext>
                        </a:extLst>
                      </p:cNvPr>
                      <p:cNvPicPr/>
                      <p:nvPr/>
                    </p:nvPicPr>
                    <p:blipFill>
                      <a:blip r:embed="rId5"/>
                      <a:stretch>
                        <a:fillRect/>
                      </a:stretch>
                    </p:blipFill>
                    <p:spPr>
                      <a:xfrm>
                        <a:off x="1295400" y="1862138"/>
                        <a:ext cx="8643938" cy="5089525"/>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DCD68A9D-AAA5-4E26-F1C2-B84F4498C940}"/>
              </a:ext>
            </a:extLst>
          </p:cNvPr>
          <p:cNvSpPr/>
          <p:nvPr/>
        </p:nvSpPr>
        <p:spPr>
          <a:xfrm>
            <a:off x="199505" y="937058"/>
            <a:ext cx="11679228" cy="66255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Ø"/>
            </a:pPr>
            <a:r>
              <a:rPr lang="zh-CN" altLang="zh-CN" sz="2800" b="1" dirty="0">
                <a:latin typeface="+mj-ea"/>
                <a:ea typeface="+mj-ea"/>
              </a:rPr>
              <a:t>调速回路</a:t>
            </a:r>
            <a:r>
              <a:rPr lang="zh-CN" altLang="en-US" sz="2800" b="1" dirty="0">
                <a:latin typeface="+mj-ea"/>
                <a:ea typeface="+mj-ea"/>
              </a:rPr>
              <a:t>小结</a:t>
            </a:r>
          </a:p>
        </p:txBody>
      </p:sp>
      <p:sp>
        <p:nvSpPr>
          <p:cNvPr id="10" name="文本框 9">
            <a:extLst>
              <a:ext uri="{FF2B5EF4-FFF2-40B4-BE49-F238E27FC236}">
                <a16:creationId xmlns:a16="http://schemas.microsoft.com/office/drawing/2014/main" id="{D95746E5-FB51-40C4-AC73-E9DDAD9986D3}"/>
              </a:ext>
            </a:extLst>
          </p:cNvPr>
          <p:cNvSpPr txBox="1"/>
          <p:nvPr/>
        </p:nvSpPr>
        <p:spPr>
          <a:xfrm>
            <a:off x="11140440" y="6535517"/>
            <a:ext cx="1051560" cy="369332"/>
          </a:xfrm>
          <a:prstGeom prst="rect">
            <a:avLst/>
          </a:prstGeom>
          <a:noFill/>
        </p:spPr>
        <p:txBody>
          <a:bodyPr wrap="square" rtlCol="0">
            <a:spAutoFit/>
          </a:bodyPr>
          <a:lstStyle/>
          <a:p>
            <a:pPr algn="r"/>
            <a:r>
              <a:rPr lang="en-US" altLang="zh-CN" dirty="0"/>
              <a:t>13/29</a:t>
            </a:r>
            <a:endParaRPr lang="zh-CN" altLang="en-US" dirty="0"/>
          </a:p>
        </p:txBody>
      </p:sp>
    </p:spTree>
    <p:extLst>
      <p:ext uri="{BB962C8B-B14F-4D97-AF65-F5344CB8AC3E}">
        <p14:creationId xmlns:p14="http://schemas.microsoft.com/office/powerpoint/2010/main" val="241654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05FE2E49-FC8F-4924-875B-27A168110A8B}"/>
              </a:ext>
            </a:extLst>
          </p:cNvPr>
          <p:cNvSpPr/>
          <p:nvPr/>
        </p:nvSpPr>
        <p:spPr>
          <a:xfrm>
            <a:off x="660400" y="1298392"/>
            <a:ext cx="10693399" cy="2775760"/>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出口节流式调速回路能承受</a:t>
            </a:r>
            <a:r>
              <a:rPr lang="en-US" altLang="zh-CN" sz="2400" dirty="0">
                <a:solidFill>
                  <a:srgbClr val="000000"/>
                </a:solidFill>
                <a:latin typeface="+mj-ea"/>
                <a:ea typeface="+mj-ea"/>
                <a:cs typeface="Times New Roman" panose="02020603050405020304" pitchFamily="18" charset="0"/>
              </a:rPr>
              <a:t>“</a:t>
            </a:r>
            <a:r>
              <a:rPr lang="zh-CN" altLang="zh-CN" sz="2400" b="1" dirty="0">
                <a:solidFill>
                  <a:srgbClr val="FF0000"/>
                </a:solidFill>
                <a:latin typeface="+mj-ea"/>
                <a:ea typeface="+mj-ea"/>
                <a:cs typeface="Times New Roman" panose="02020603050405020304" pitchFamily="18" charset="0"/>
              </a:rPr>
              <a:t>负方向</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的负载</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即与活塞运动方向相同的负载</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进口节流式调速回路则要在其回油路上设置</a:t>
            </a:r>
            <a:r>
              <a:rPr lang="zh-CN" altLang="zh-CN" sz="2400" b="1" dirty="0">
                <a:solidFill>
                  <a:srgbClr val="FF0000"/>
                </a:solidFill>
                <a:latin typeface="+mj-ea"/>
                <a:ea typeface="+mj-ea"/>
                <a:cs typeface="Times New Roman" panose="02020603050405020304" pitchFamily="18" charset="0"/>
              </a:rPr>
              <a:t>背压阀</a:t>
            </a:r>
            <a:r>
              <a:rPr lang="zh-CN" altLang="zh-CN" sz="2400" dirty="0">
                <a:solidFill>
                  <a:srgbClr val="000000"/>
                </a:solidFill>
                <a:latin typeface="+mj-ea"/>
                <a:ea typeface="+mj-ea"/>
                <a:cs typeface="Times New Roman" panose="02020603050405020304" pitchFamily="18" charset="0"/>
              </a:rPr>
              <a:t>后才能承受这种负载</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出口节流式调速回路中油液通过节流阀所产生的</a:t>
            </a:r>
            <a:r>
              <a:rPr lang="zh-CN" altLang="zh-CN" sz="2400" b="1" dirty="0">
                <a:solidFill>
                  <a:srgbClr val="0070C0"/>
                </a:solidFill>
                <a:latin typeface="+mj-ea"/>
                <a:ea typeface="+mj-ea"/>
                <a:cs typeface="Times New Roman" panose="02020603050405020304" pitchFamily="18" charset="0"/>
              </a:rPr>
              <a:t>热量</a:t>
            </a:r>
            <a:r>
              <a:rPr lang="zh-CN" altLang="zh-CN" sz="2400" dirty="0">
                <a:solidFill>
                  <a:srgbClr val="000000"/>
                </a:solidFill>
                <a:latin typeface="+mj-ea"/>
                <a:ea typeface="+mj-ea"/>
                <a:cs typeface="Times New Roman" panose="02020603050405020304" pitchFamily="18" charset="0"/>
              </a:rPr>
              <a:t>直接排回油箱消散掉</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进口节流式调速回路中的这部分</a:t>
            </a:r>
            <a:r>
              <a:rPr lang="zh-CN" altLang="zh-CN" sz="2400" b="1" dirty="0">
                <a:solidFill>
                  <a:srgbClr val="0070C0"/>
                </a:solidFill>
                <a:latin typeface="+mj-ea"/>
                <a:ea typeface="+mj-ea"/>
                <a:cs typeface="Times New Roman" panose="02020603050405020304" pitchFamily="18" charset="0"/>
              </a:rPr>
              <a:t>热量</a:t>
            </a:r>
            <a:r>
              <a:rPr lang="zh-CN" altLang="zh-CN" sz="2400" dirty="0">
                <a:solidFill>
                  <a:srgbClr val="000000"/>
                </a:solidFill>
                <a:latin typeface="+mj-ea"/>
                <a:ea typeface="+mj-ea"/>
                <a:cs typeface="Times New Roman" panose="02020603050405020304" pitchFamily="18" charset="0"/>
              </a:rPr>
              <a:t>则随着油液进入液压缸。这些便是这两种调速回路在使用性能方面的主要差别。</a:t>
            </a:r>
            <a:endParaRPr lang="zh-CN" altLang="zh-CN" sz="2400" dirty="0">
              <a:solidFill>
                <a:srgbClr val="000000"/>
              </a:solidFill>
              <a:effectLst/>
              <a:latin typeface="+mj-ea"/>
              <a:ea typeface="+mj-ea"/>
              <a:cs typeface="Times New Roman" panose="02020603050405020304" pitchFamily="18" charset="0"/>
            </a:endParaRPr>
          </a:p>
        </p:txBody>
      </p:sp>
      <p:sp>
        <p:nvSpPr>
          <p:cNvPr id="7" name="圆角矩形 3">
            <a:extLst>
              <a:ext uri="{FF2B5EF4-FFF2-40B4-BE49-F238E27FC236}">
                <a16:creationId xmlns:a16="http://schemas.microsoft.com/office/drawing/2014/main" id="{0DD06936-551A-4113-8F0A-870C5CAB8D3D}"/>
              </a:ext>
            </a:extLst>
          </p:cNvPr>
          <p:cNvSpPr/>
          <p:nvPr/>
        </p:nvSpPr>
        <p:spPr>
          <a:xfrm>
            <a:off x="524933" y="1298392"/>
            <a:ext cx="10964334" cy="3013924"/>
          </a:xfrm>
          <a:prstGeom prst="roundRect">
            <a:avLst>
              <a:gd name="adj" fmla="val 13908"/>
            </a:avLst>
          </a:prstGeom>
          <a:no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sp>
        <p:nvSpPr>
          <p:cNvPr id="8" name="圆角矩形 7">
            <a:extLst>
              <a:ext uri="{FF2B5EF4-FFF2-40B4-BE49-F238E27FC236}">
                <a16:creationId xmlns:a16="http://schemas.microsoft.com/office/drawing/2014/main" id="{24436C74-22E5-4C71-824A-698712D12585}"/>
              </a:ext>
            </a:extLst>
          </p:cNvPr>
          <p:cNvSpPr/>
          <p:nvPr/>
        </p:nvSpPr>
        <p:spPr>
          <a:xfrm>
            <a:off x="524933" y="4429038"/>
            <a:ext cx="10964334" cy="1802428"/>
          </a:xfrm>
          <a:prstGeom prst="roundRect">
            <a:avLst/>
          </a:prstGeom>
          <a:solidFill>
            <a:srgbClr val="003F88"/>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s-ES"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矩形 8">
            <a:extLst>
              <a:ext uri="{FF2B5EF4-FFF2-40B4-BE49-F238E27FC236}">
                <a16:creationId xmlns:a16="http://schemas.microsoft.com/office/drawing/2014/main" id="{A06F726F-D11F-47AB-8C15-D0C6D5345639}"/>
              </a:ext>
            </a:extLst>
          </p:cNvPr>
          <p:cNvSpPr/>
          <p:nvPr/>
        </p:nvSpPr>
        <p:spPr>
          <a:xfrm>
            <a:off x="862785" y="4773369"/>
            <a:ext cx="10164053" cy="1135054"/>
          </a:xfrm>
          <a:prstGeom prst="rect">
            <a:avLst/>
          </a:prstGeom>
        </p:spPr>
        <p:txBody>
          <a:bodyPr wrap="square">
            <a:spAutoFit/>
          </a:bodyPr>
          <a:lstStyle/>
          <a:p>
            <a:pPr algn="just">
              <a:lnSpc>
                <a:spcPct val="150000"/>
              </a:lnSpc>
              <a:spcAft>
                <a:spcPts val="0"/>
              </a:spcAft>
            </a:pPr>
            <a:r>
              <a:rPr lang="zh-CN" altLang="zh-CN" sz="2400" dirty="0">
                <a:solidFill>
                  <a:schemeClr val="bg1"/>
                </a:solidFill>
                <a:latin typeface="+mj-ea"/>
                <a:ea typeface="+mj-ea"/>
                <a:cs typeface="Times New Roman" panose="02020603050405020304" pitchFamily="18" charset="0"/>
              </a:rPr>
              <a:t>综上所述</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 使用节流阀的定压式节流调速回路</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结构简单</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价格低廉</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但效率较低</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只宜用在负载变化不大、低速、小功率的场合。</a:t>
            </a:r>
            <a:endParaRPr lang="zh-CN" altLang="zh-CN" sz="2400" dirty="0">
              <a:solidFill>
                <a:schemeClr val="bg1"/>
              </a:solidFill>
              <a:effectLst/>
              <a:latin typeface="+mj-ea"/>
              <a:ea typeface="+mj-ea"/>
              <a:cs typeface="Times New Roman" panose="02020603050405020304" pitchFamily="18" charset="0"/>
            </a:endParaRPr>
          </a:p>
        </p:txBody>
      </p:sp>
      <p:sp>
        <p:nvSpPr>
          <p:cNvPr id="10" name="文本框 9">
            <a:extLst>
              <a:ext uri="{FF2B5EF4-FFF2-40B4-BE49-F238E27FC236}">
                <a16:creationId xmlns:a16="http://schemas.microsoft.com/office/drawing/2014/main" id="{4C3C7FBD-4C13-4703-96D6-0CC44794E1E6}"/>
              </a:ext>
            </a:extLst>
          </p:cNvPr>
          <p:cNvSpPr txBox="1"/>
          <p:nvPr/>
        </p:nvSpPr>
        <p:spPr>
          <a:xfrm>
            <a:off x="11117580" y="6535517"/>
            <a:ext cx="1074420" cy="369332"/>
          </a:xfrm>
          <a:prstGeom prst="rect">
            <a:avLst/>
          </a:prstGeom>
          <a:noFill/>
        </p:spPr>
        <p:txBody>
          <a:bodyPr wrap="square" rtlCol="0">
            <a:spAutoFit/>
          </a:bodyPr>
          <a:lstStyle/>
          <a:p>
            <a:pPr algn="r"/>
            <a:r>
              <a:rPr lang="en-US" altLang="zh-CN" dirty="0"/>
              <a:t>14/29</a:t>
            </a:r>
            <a:endParaRPr lang="zh-CN" altLang="en-US" dirty="0"/>
          </a:p>
        </p:txBody>
      </p:sp>
    </p:spTree>
    <p:extLst>
      <p:ext uri="{BB962C8B-B14F-4D97-AF65-F5344CB8AC3E}">
        <p14:creationId xmlns:p14="http://schemas.microsoft.com/office/powerpoint/2010/main" val="3844915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92A49234-6467-4897-8C0A-CBB5519F8757}"/>
              </a:ext>
            </a:extLst>
          </p:cNvPr>
          <p:cNvSpPr/>
          <p:nvPr/>
        </p:nvSpPr>
        <p:spPr>
          <a:xfrm>
            <a:off x="429656" y="1597117"/>
            <a:ext cx="8299477" cy="3900235"/>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使用比例阀、伺服阀或数字阀的定压式节流调速回路能使回路实现自动控制或远距离控制</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但在静态性能上仍与使用节流阀的回路没有区别。上面的分析、讨论对它们也都完全适用。</a:t>
            </a:r>
            <a:endParaRPr lang="en-US" altLang="zh-CN" sz="2400" dirty="0">
              <a:solidFill>
                <a:srgbClr val="000000"/>
              </a:solidFill>
              <a:latin typeface="+mj-ea"/>
              <a:ea typeface="+mj-ea"/>
              <a:cs typeface="Times New Roman" panose="02020603050405020304" pitchFamily="18" charset="0"/>
            </a:endParaRPr>
          </a:p>
          <a:p>
            <a:pPr algn="just">
              <a:lnSpc>
                <a:spcPct val="150000"/>
              </a:lnSpc>
              <a:spcAft>
                <a:spcPts val="0"/>
              </a:spcAft>
            </a:pPr>
            <a:endPar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伺服阀的回路</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可以看作是</a:t>
            </a:r>
            <a:r>
              <a:rPr lang="zh-CN" altLang="zh-CN" sz="2400" b="1" dirty="0">
                <a:solidFill>
                  <a:srgbClr val="FF0000"/>
                </a:solidFill>
                <a:latin typeface="+mj-ea"/>
                <a:ea typeface="+mj-ea"/>
                <a:cs typeface="Times New Roman" panose="02020603050405020304" pitchFamily="18" charset="0"/>
              </a:rPr>
              <a:t>进口节流和出口节流同时进行的调速回路</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不过在这里</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T1</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T2</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,Δ</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=Δ</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且</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zh-CN" altLang="zh-CN" sz="2400" dirty="0">
                <a:solidFill>
                  <a:srgbClr val="000000"/>
                </a:solidFill>
                <a:latin typeface="+mj-ea"/>
                <a:ea typeface="+mj-ea"/>
                <a:cs typeface="Times New Roman" panose="02020603050405020304" pitchFamily="18" charset="0"/>
              </a:rPr>
              <a:t>通过伺服阀阀口的流量为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6D99C00-0E5F-4A88-9F47-6B2CEAE9E88E}"/>
                  </a:ext>
                </a:extLst>
              </p:cNvPr>
              <p:cNvSpPr/>
              <p:nvPr/>
            </p:nvSpPr>
            <p:spPr>
              <a:xfrm>
                <a:off x="2419879" y="5674875"/>
                <a:ext cx="4016376" cy="96507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L</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𝐶</m:t>
                          </m:r>
                        </m:e>
                        <m:sub>
                          <m:r>
                            <m:rPr>
                              <m:sty m:val="p"/>
                            </m:rPr>
                            <a:rPr lang="zh-CN" altLang="en-US" sz="2400" i="0">
                              <a:latin typeface="Cambria Math" panose="02040503050406030204" pitchFamily="18" charset="0"/>
                            </a:rPr>
                            <m:t>d</m:t>
                          </m:r>
                        </m:sub>
                      </m:sSub>
                      <m:r>
                        <a:rPr lang="zh-CN" altLang="en-US" sz="2400" i="1">
                          <a:latin typeface="Cambria Math" panose="02040503050406030204" pitchFamily="18" charset="0"/>
                        </a:rPr>
                        <m:t>𝑤</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m:rPr>
                              <m:sty m:val="p"/>
                            </m:rPr>
                            <a:rPr lang="zh-CN" altLang="en-US" sz="2400" i="0">
                              <a:latin typeface="Cambria Math" panose="02040503050406030204" pitchFamily="18" charset="0"/>
                            </a:rPr>
                            <m:t>s</m:t>
                          </m:r>
                        </m:sub>
                      </m:sSub>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L</m:t>
                                      </m:r>
                                    </m:sub>
                                  </m:sSub>
                                </m:num>
                                <m:den>
                                  <m:r>
                                    <a:rPr lang="zh-CN" altLang="en-US" sz="2400" i="1">
                                      <a:latin typeface="Cambria Math" panose="02040503050406030204" pitchFamily="18" charset="0"/>
                                    </a:rPr>
                                    <m:t>𝜌</m:t>
                                  </m:r>
                                </m:den>
                              </m:f>
                            </m:e>
                          </m:d>
                        </m:e>
                        <m:sup>
                          <m:r>
                            <a:rPr lang="zh-CN" altLang="en-US" sz="2400" i="1">
                              <a:latin typeface="Cambria Math" panose="02040503050406030204" pitchFamily="18" charset="0"/>
                            </a:rPr>
                            <m:t>𝜑</m:t>
                          </m:r>
                        </m:sup>
                      </m:sSup>
                    </m:oMath>
                  </m:oMathPara>
                </a14:m>
                <a:endParaRPr lang="zh-CN" altLang="en-US" sz="2400" dirty="0"/>
              </a:p>
            </p:txBody>
          </p:sp>
        </mc:Choice>
        <mc:Fallback xmlns="">
          <p:sp>
            <p:nvSpPr>
              <p:cNvPr id="7" name="矩形 6">
                <a:extLst>
                  <a:ext uri="{FF2B5EF4-FFF2-40B4-BE49-F238E27FC236}">
                    <a16:creationId xmlns:a16="http://schemas.microsoft.com/office/drawing/2014/main" id="{D6D99C00-0E5F-4A88-9F47-6B2CEAE9E88E}"/>
                  </a:ext>
                </a:extLst>
              </p:cNvPr>
              <p:cNvSpPr>
                <a:spLocks noRot="1" noChangeAspect="1" noMove="1" noResize="1" noEditPoints="1" noAdjustHandles="1" noChangeArrowheads="1" noChangeShapeType="1" noTextEdit="1"/>
              </p:cNvSpPr>
              <p:nvPr/>
            </p:nvSpPr>
            <p:spPr>
              <a:xfrm>
                <a:off x="2419879" y="5674875"/>
                <a:ext cx="4016376" cy="965072"/>
              </a:xfrm>
              <a:prstGeom prst="rect">
                <a:avLst/>
              </a:prstGeom>
              <a:blipFill>
                <a:blip r:embed="rId3"/>
                <a:stretch>
                  <a:fillRect/>
                </a:stretch>
              </a:blipFill>
            </p:spPr>
            <p:txBody>
              <a:bodyPr/>
              <a:lstStyle/>
              <a:p>
                <a:r>
                  <a:rPr lang="zh-CN" altLang="en-US">
                    <a:noFill/>
                  </a:rPr>
                  <a:t> </a:t>
                </a:r>
              </a:p>
            </p:txBody>
          </p:sp>
        </mc:Fallback>
      </mc:AlternateContent>
      <p:pic>
        <p:nvPicPr>
          <p:cNvPr id="10" name="8T5.EPS">
            <a:extLst>
              <a:ext uri="{FF2B5EF4-FFF2-40B4-BE49-F238E27FC236}">
                <a16:creationId xmlns:a16="http://schemas.microsoft.com/office/drawing/2014/main" id="{46E036FF-6636-4907-8F43-D5017E8DEAE8}"/>
              </a:ext>
            </a:extLst>
          </p:cNvPr>
          <p:cNvPicPr/>
          <p:nvPr/>
        </p:nvPicPr>
        <p:blipFill>
          <a:blip r:embed="rId4" cstate="print"/>
          <a:stretch>
            <a:fillRect/>
          </a:stretch>
        </p:blipFill>
        <p:spPr>
          <a:xfrm>
            <a:off x="8737600" y="1422401"/>
            <a:ext cx="3149600" cy="4083418"/>
          </a:xfrm>
          <a:prstGeom prst="rect">
            <a:avLst/>
          </a:prstGeom>
        </p:spPr>
      </p:pic>
      <p:sp>
        <p:nvSpPr>
          <p:cNvPr id="11" name="矩形 10">
            <a:extLst>
              <a:ext uri="{FF2B5EF4-FFF2-40B4-BE49-F238E27FC236}">
                <a16:creationId xmlns:a16="http://schemas.microsoft.com/office/drawing/2014/main" id="{41244548-F346-48EE-B39F-896DD1CF3E71}"/>
              </a:ext>
            </a:extLst>
          </p:cNvPr>
          <p:cNvSpPr/>
          <p:nvPr/>
        </p:nvSpPr>
        <p:spPr>
          <a:xfrm>
            <a:off x="8970269" y="5819019"/>
            <a:ext cx="2492990" cy="369332"/>
          </a:xfrm>
          <a:prstGeom prst="rect">
            <a:avLst/>
          </a:prstGeom>
        </p:spPr>
        <p:txBody>
          <a:bodyPr wrap="none">
            <a:spAutoFit/>
          </a:bodyPr>
          <a:lstStyle/>
          <a:p>
            <a:r>
              <a:rPr lang="zh-CN" altLang="zh-CN" b="1" dirty="0">
                <a:solidFill>
                  <a:srgbClr val="FF0000"/>
                </a:solidFill>
                <a:latin typeface="+mj-ea"/>
                <a:ea typeface="+mj-ea"/>
              </a:rPr>
              <a:t>伺服阀的节流调速回路</a:t>
            </a:r>
            <a:endParaRPr lang="zh-CN" altLang="en-US" b="1" dirty="0">
              <a:solidFill>
                <a:srgbClr val="FF0000"/>
              </a:solidFill>
              <a:latin typeface="+mj-ea"/>
              <a:ea typeface="+mj-ea"/>
            </a:endParaRPr>
          </a:p>
        </p:txBody>
      </p:sp>
      <p:sp>
        <p:nvSpPr>
          <p:cNvPr id="8" name="矩形 7">
            <a:extLst>
              <a:ext uri="{FF2B5EF4-FFF2-40B4-BE49-F238E27FC236}">
                <a16:creationId xmlns:a16="http://schemas.microsoft.com/office/drawing/2014/main" id="{ABE0C8F0-4A73-6717-C6D2-713924676351}"/>
              </a:ext>
            </a:extLst>
          </p:cNvPr>
          <p:cNvSpPr/>
          <p:nvPr/>
        </p:nvSpPr>
        <p:spPr>
          <a:xfrm>
            <a:off x="199505" y="937058"/>
            <a:ext cx="11679228" cy="66255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Ø"/>
            </a:pPr>
            <a:r>
              <a:rPr lang="zh-CN" altLang="en-US" sz="2800" b="1" dirty="0">
                <a:latin typeface="+mj-ea"/>
                <a:ea typeface="+mj-ea"/>
              </a:rPr>
              <a:t>伺服阀</a:t>
            </a:r>
            <a:r>
              <a:rPr lang="zh-CN" altLang="zh-CN" sz="2800" b="1" dirty="0">
                <a:latin typeface="+mj-ea"/>
                <a:ea typeface="+mj-ea"/>
              </a:rPr>
              <a:t>调速回路</a:t>
            </a:r>
            <a:r>
              <a:rPr lang="zh-CN" altLang="en-US" sz="2800" b="1" dirty="0">
                <a:latin typeface="+mj-ea"/>
                <a:ea typeface="+mj-ea"/>
              </a:rPr>
              <a:t>小结</a:t>
            </a:r>
          </a:p>
        </p:txBody>
      </p:sp>
      <p:sp>
        <p:nvSpPr>
          <p:cNvPr id="12" name="文本框 11">
            <a:extLst>
              <a:ext uri="{FF2B5EF4-FFF2-40B4-BE49-F238E27FC236}">
                <a16:creationId xmlns:a16="http://schemas.microsoft.com/office/drawing/2014/main" id="{48C92A37-86B8-4FD1-B609-F9FC8BEC9485}"/>
              </a:ext>
            </a:extLst>
          </p:cNvPr>
          <p:cNvSpPr txBox="1"/>
          <p:nvPr/>
        </p:nvSpPr>
        <p:spPr>
          <a:xfrm>
            <a:off x="11330940" y="6535517"/>
            <a:ext cx="861060" cy="369332"/>
          </a:xfrm>
          <a:prstGeom prst="rect">
            <a:avLst/>
          </a:prstGeom>
          <a:noFill/>
        </p:spPr>
        <p:txBody>
          <a:bodyPr wrap="square" rtlCol="0">
            <a:spAutoFit/>
          </a:bodyPr>
          <a:lstStyle/>
          <a:p>
            <a:pPr algn="r"/>
            <a:r>
              <a:rPr lang="en-US" altLang="zh-CN" dirty="0"/>
              <a:t>15/29</a:t>
            </a:r>
            <a:endParaRPr lang="zh-CN" altLang="en-US" dirty="0"/>
          </a:p>
        </p:txBody>
      </p:sp>
    </p:spTree>
    <p:extLst>
      <p:ext uri="{BB962C8B-B14F-4D97-AF65-F5344CB8AC3E}">
        <p14:creationId xmlns:p14="http://schemas.microsoft.com/office/powerpoint/2010/main" val="250325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ABF5A100-5B3F-48E2-87AD-CC80A0C7AAF6}"/>
              </a:ext>
            </a:extLst>
          </p:cNvPr>
          <p:cNvSpPr/>
          <p:nvPr/>
        </p:nvSpPr>
        <p:spPr>
          <a:xfrm>
            <a:off x="101942" y="1146773"/>
            <a:ext cx="4857099" cy="581057"/>
          </a:xfrm>
          <a:prstGeom prst="rect">
            <a:avLst/>
          </a:prstGeom>
        </p:spPr>
        <p:txBody>
          <a:bodyPr wrap="none">
            <a:spAutoFit/>
          </a:bodyPr>
          <a:lstStyle/>
          <a:p>
            <a:pPr indent="360000"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得到回路的机械特性表达式为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1409742-4F03-4B28-AA66-BA5D1F750FB4}"/>
                  </a:ext>
                </a:extLst>
              </p:cNvPr>
              <p:cNvSpPr/>
              <p:nvPr/>
            </p:nvSpPr>
            <p:spPr>
              <a:xfrm>
                <a:off x="3576595" y="1957078"/>
                <a:ext cx="3677962" cy="84875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𝑣</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𝐶</m:t>
                              </m:r>
                            </m:e>
                            <m:sub>
                              <m:r>
                                <m:rPr>
                                  <m:sty m:val="p"/>
                                </m:rPr>
                                <a:rPr lang="zh-CN" altLang="en-US" sz="2400" i="0">
                                  <a:latin typeface="Cambria Math" panose="02040503050406030204" pitchFamily="18" charset="0"/>
                                </a:rPr>
                                <m:t>d</m:t>
                              </m:r>
                            </m:sub>
                          </m:sSub>
                          <m:r>
                            <a:rPr lang="zh-CN" altLang="en-US" sz="2400" i="1">
                              <a:latin typeface="Cambria Math" panose="02040503050406030204" pitchFamily="18" charset="0"/>
                            </a:rPr>
                            <m:t>𝑤</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m:rPr>
                                  <m:sty m:val="p"/>
                                </m:rPr>
                                <a:rPr lang="zh-CN" altLang="en-US" sz="2400" i="0">
                                  <a:latin typeface="Cambria Math" panose="02040503050406030204" pitchFamily="18" charset="0"/>
                                </a:rPr>
                                <m:t>s</m:t>
                              </m:r>
                            </m:sub>
                          </m:sSub>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𝐴</m:t>
                              </m:r>
                            </m:e>
                            <m:sup>
                              <m:r>
                                <a:rPr lang="zh-CN" altLang="en-US" sz="2400" i="0">
                                  <a:latin typeface="Cambria Math" panose="02040503050406030204" pitchFamily="18" charset="0"/>
                                </a:rPr>
                                <m:t>1+</m:t>
                              </m:r>
                              <m:r>
                                <a:rPr lang="zh-CN" altLang="en-US" sz="2400" i="1">
                                  <a:latin typeface="Cambria Math" panose="02040503050406030204" pitchFamily="18" charset="0"/>
                                </a:rPr>
                                <m:t>𝜑</m:t>
                              </m:r>
                            </m:sup>
                          </m:sSup>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𝜌</m:t>
                              </m:r>
                            </m:e>
                            <m:sup>
                              <m:r>
                                <a:rPr lang="zh-CN" altLang="en-US" sz="2400" i="1">
                                  <a:latin typeface="Cambria Math" panose="02040503050406030204" pitchFamily="18" charset="0"/>
                                </a:rPr>
                                <m:t>𝜑</m:t>
                              </m:r>
                            </m:sup>
                          </m:sSup>
                        </m:den>
                      </m:f>
                      <m:r>
                        <m:rPr>
                          <m:nor/>
                        </m:rPr>
                        <a:rPr lang="zh-CN" altLang="en-US" sz="2400" i="1">
                          <a:latin typeface="Cambria Math" panose="02040503050406030204" pitchFamily="18" charset="0"/>
                        </a:rPr>
                        <m:t>(</m:t>
                      </m:r>
                      <m:r>
                        <a:rPr lang="zh-CN" altLang="en-US" sz="2400" i="1">
                          <a:latin typeface="Cambria Math" panose="02040503050406030204" pitchFamily="18" charset="0"/>
                        </a:rPr>
                        <m:t>𝐴</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Cambria Math" panose="02040503050406030204" pitchFamily="18" charset="0"/>
                        </a:rPr>
                        <m:t>−</m:t>
                      </m:r>
                      <m:r>
                        <a:rPr lang="zh-CN" altLang="en-US" sz="2400" i="1">
                          <a:latin typeface="Cambria Math" panose="02040503050406030204" pitchFamily="18" charset="0"/>
                        </a:rPr>
                        <m:t>𝐹</m:t>
                      </m:r>
                      <m:sSup>
                        <m:sSupPr>
                          <m:ctrlPr>
                            <a:rPr lang="zh-CN" altLang="en-US" sz="2400" i="1">
                              <a:latin typeface="Cambria Math" panose="02040503050406030204" pitchFamily="18" charset="0"/>
                            </a:rPr>
                          </m:ctrlPr>
                        </m:sSupPr>
                        <m:e>
                          <m:r>
                            <m:rPr>
                              <m:nor/>
                            </m:rPr>
                            <a:rPr lang="zh-CN" altLang="en-US" sz="2400" i="1">
                              <a:latin typeface="Cambria Math" panose="02040503050406030204" pitchFamily="18" charset="0"/>
                            </a:rPr>
                            <m:t>)</m:t>
                          </m:r>
                        </m:e>
                        <m:sup>
                          <m:r>
                            <a:rPr lang="zh-CN" altLang="en-US" sz="2400" i="1">
                              <a:latin typeface="Cambria Math" panose="02040503050406030204" pitchFamily="18" charset="0"/>
                            </a:rPr>
                            <m:t>𝜑</m:t>
                          </m:r>
                        </m:sup>
                      </m:sSup>
                    </m:oMath>
                  </m:oMathPara>
                </a14:m>
                <a:endParaRPr lang="zh-CN" altLang="en-US" sz="2400" dirty="0"/>
              </a:p>
            </p:txBody>
          </p:sp>
        </mc:Choice>
        <mc:Fallback xmlns="">
          <p:sp>
            <p:nvSpPr>
              <p:cNvPr id="7" name="矩形 6">
                <a:extLst>
                  <a:ext uri="{FF2B5EF4-FFF2-40B4-BE49-F238E27FC236}">
                    <a16:creationId xmlns:a16="http://schemas.microsoft.com/office/drawing/2014/main" id="{61409742-4F03-4B28-AA66-BA5D1F750FB4}"/>
                  </a:ext>
                </a:extLst>
              </p:cNvPr>
              <p:cNvSpPr>
                <a:spLocks noRot="1" noChangeAspect="1" noMove="1" noResize="1" noEditPoints="1" noAdjustHandles="1" noChangeArrowheads="1" noChangeShapeType="1" noTextEdit="1"/>
              </p:cNvSpPr>
              <p:nvPr/>
            </p:nvSpPr>
            <p:spPr>
              <a:xfrm>
                <a:off x="3576595" y="1957078"/>
                <a:ext cx="3677962" cy="848758"/>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F51DEAAB-C7C3-43BB-A331-447606D6530C}"/>
              </a:ext>
            </a:extLst>
          </p:cNvPr>
          <p:cNvSpPr/>
          <p:nvPr/>
        </p:nvSpPr>
        <p:spPr>
          <a:xfrm>
            <a:off x="81348" y="3327541"/>
            <a:ext cx="11602652" cy="576248"/>
          </a:xfrm>
          <a:prstGeom prst="rect">
            <a:avLst/>
          </a:prstGeom>
        </p:spPr>
        <p:txBody>
          <a:bodyPr wrap="square">
            <a:spAutoFit/>
          </a:bodyPr>
          <a:lstStyle/>
          <a:p>
            <a:pPr indent="360000" algn="just">
              <a:lnSpc>
                <a:spcPct val="150000"/>
              </a:lnSpc>
            </a:pPr>
            <a:r>
              <a:rPr lang="zh-CN" altLang="zh-CN" sz="2400" dirty="0">
                <a:solidFill>
                  <a:srgbClr val="000000"/>
                </a:solidFill>
                <a:latin typeface="+mj-ea"/>
                <a:ea typeface="+mj-ea"/>
                <a:cs typeface="Times New Roman" panose="02020603050405020304" pitchFamily="18" charset="0"/>
              </a:rPr>
              <a:t>鉴于伺服阀的开度</a:t>
            </a:r>
            <a:r>
              <a:rPr lang="en-US" altLang="zh-CN" sz="2400" dirty="0" err="1">
                <a:solidFill>
                  <a:srgbClr val="000000"/>
                </a:solidFill>
                <a:latin typeface="+mj-ea"/>
                <a:ea typeface="+mj-ea"/>
                <a:cs typeface="Times New Roman" panose="02020603050405020304" pitchFamily="18" charset="0"/>
              </a:rPr>
              <a:t>x</a:t>
            </a:r>
            <a:r>
              <a:rPr lang="en-US" altLang="zh-CN" sz="2400" baseline="-25000" dirty="0" err="1">
                <a:solidFill>
                  <a:srgbClr val="000000"/>
                </a:solidFill>
                <a:latin typeface="+mj-ea"/>
                <a:ea typeface="+mj-ea"/>
                <a:cs typeface="Times New Roman" panose="02020603050405020304" pitchFamily="18" charset="0"/>
              </a:rPr>
              <a:t>s</a:t>
            </a:r>
            <a:r>
              <a:rPr lang="zh-CN" altLang="zh-CN" sz="2400" dirty="0">
                <a:solidFill>
                  <a:srgbClr val="000000"/>
                </a:solidFill>
                <a:latin typeface="+mj-ea"/>
                <a:ea typeface="+mj-ea"/>
                <a:cs typeface="Times New Roman" panose="02020603050405020304" pitchFamily="18" charset="0"/>
              </a:rPr>
              <a:t>是个变量</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其最大值为</a:t>
            </a:r>
            <a:r>
              <a:rPr lang="en-US" altLang="zh-CN" sz="2400" dirty="0" err="1">
                <a:solidFill>
                  <a:srgbClr val="000000"/>
                </a:solidFill>
                <a:latin typeface="+mj-ea"/>
                <a:ea typeface="+mj-ea"/>
                <a:cs typeface="Times New Roman" panose="02020603050405020304" pitchFamily="18" charset="0"/>
              </a:rPr>
              <a:t>x</a:t>
            </a:r>
            <a:r>
              <a:rPr lang="en-US" altLang="zh-CN" sz="2400" baseline="-25000" dirty="0" err="1">
                <a:solidFill>
                  <a:srgbClr val="000000"/>
                </a:solidFill>
                <a:latin typeface="+mj-ea"/>
                <a:ea typeface="+mj-ea"/>
                <a:cs typeface="Times New Roman" panose="02020603050405020304" pitchFamily="18" charset="0"/>
              </a:rPr>
              <a:t>smax</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所以上式写成无量纲表达式时成为</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A62CF0D-D697-408A-A670-9E014996FEB3}"/>
                  </a:ext>
                </a:extLst>
              </p:cNvPr>
              <p:cNvSpPr/>
              <p:nvPr/>
            </p:nvSpPr>
            <p:spPr>
              <a:xfrm>
                <a:off x="1725940" y="4041053"/>
                <a:ext cx="7379272" cy="13498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a:latin typeface="Cambria Math" panose="02040503050406030204" pitchFamily="18" charset="0"/>
                            </a:rPr>
                          </m:ctrlPr>
                        </m:sSupPr>
                        <m:e>
                          <m:d>
                            <m:dPr>
                              <m:begChr m:val="["/>
                              <m:endChr m:val="]"/>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𝑣</m:t>
                                  </m:r>
                                </m:num>
                                <m:den>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𝐶</m:t>
                                          </m:r>
                                        </m:e>
                                        <m:sub>
                                          <m:r>
                                            <m:rPr>
                                              <m:sty m:val="p"/>
                                            </m:rPr>
                                            <a:rPr lang="zh-CN" altLang="en-US" sz="2400" i="0">
                                              <a:latin typeface="Cambria Math" panose="02040503050406030204" pitchFamily="18" charset="0"/>
                                            </a:rPr>
                                            <m:t>d</m:t>
                                          </m:r>
                                        </m:sub>
                                      </m:sSub>
                                      <m:r>
                                        <a:rPr lang="zh-CN" altLang="en-US" sz="2400" i="1">
                                          <a:latin typeface="Cambria Math" panose="02040503050406030204" pitchFamily="18" charset="0"/>
                                        </a:rPr>
                                        <m:t>𝑤</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m:rPr>
                                              <m:sty m:val="p"/>
                                            </m:rPr>
                                            <a:rPr lang="zh-CN" altLang="en-US" sz="2400" i="0">
                                              <a:latin typeface="Cambria Math" panose="02040503050406030204" pitchFamily="18" charset="0"/>
                                            </a:rPr>
                                            <m:t>smax</m:t>
                                          </m:r>
                                        </m:sub>
                                      </m:sSub>
                                      <m:r>
                                        <m:rPr>
                                          <m:nor/>
                                        </m:rPr>
                                        <a:rPr lang="zh-CN" altLang="en-US" sz="2400" i="1">
                                          <a:latin typeface="Times New Roman" panose="02020603050405020304" pitchFamily="18" charset="0"/>
                                          <a:cs typeface="Times New Roman" panose="020206030504050203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r>
                                        <m:rPr>
                                          <m:nor/>
                                        </m:rPr>
                                        <a:rPr lang="zh-CN" altLang="en-US" sz="2400" i="1">
                                          <a:latin typeface="Times New Roman" panose="02020603050405020304" pitchFamily="18" charset="0"/>
                                          <a:cs typeface="Times New Roman" panose="02020603050405020304" pitchFamily="18" charset="0"/>
                                        </a:rPr>
                                        <m:t>/</m:t>
                                      </m:r>
                                      <m:r>
                                        <a:rPr lang="zh-CN" altLang="en-US" sz="2400" i="1">
                                          <a:latin typeface="Cambria Math" panose="02040503050406030204" pitchFamily="18" charset="0"/>
                                        </a:rPr>
                                        <m:t>𝜌</m:t>
                                      </m:r>
                                      <m:sSup>
                                        <m:sSupPr>
                                          <m:ctrlPr>
                                            <a:rPr lang="zh-CN" altLang="en-US" sz="2400" i="1">
                                              <a:latin typeface="Cambria Math" panose="02040503050406030204" pitchFamily="18" charset="0"/>
                                            </a:rPr>
                                          </m:ctrlPr>
                                        </m:sSupPr>
                                        <m:e>
                                          <m:r>
                                            <m:rPr>
                                              <m:nor/>
                                            </m:rPr>
                                            <a:rPr lang="zh-CN" altLang="en-US" sz="2400" i="1">
                                              <a:latin typeface="Times New Roman" panose="02020603050405020304" pitchFamily="18" charset="0"/>
                                              <a:cs typeface="Times New Roman" panose="02020603050405020304" pitchFamily="18" charset="0"/>
                                            </a:rPr>
                                            <m:t>)</m:t>
                                          </m:r>
                                        </m:e>
                                        <m:sup>
                                          <m:r>
                                            <a:rPr lang="zh-CN" altLang="en-US" sz="2400" i="1">
                                              <a:latin typeface="Cambria Math" panose="02040503050406030204" pitchFamily="18" charset="0"/>
                                            </a:rPr>
                                            <m:t>𝜑</m:t>
                                          </m:r>
                                        </m:sup>
                                      </m:sSup>
                                    </m:num>
                                    <m:den>
                                      <m:r>
                                        <a:rPr lang="zh-CN" altLang="en-US" sz="2400" i="1">
                                          <a:latin typeface="Cambria Math" panose="02040503050406030204" pitchFamily="18" charset="0"/>
                                        </a:rPr>
                                        <m:t>𝐴</m:t>
                                      </m:r>
                                    </m:den>
                                  </m:f>
                                </m:den>
                              </m:f>
                            </m:e>
                          </m:d>
                        </m:e>
                        <m:sup>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𝜑</m:t>
                              </m:r>
                            </m:den>
                          </m:f>
                        </m:sup>
                      </m:sSup>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m:rPr>
                                          <m:sty m:val="p"/>
                                        </m:rPr>
                                        <a:rPr lang="zh-CN" altLang="en-US" sz="2400" i="0">
                                          <a:latin typeface="Cambria Math" panose="02040503050406030204" pitchFamily="18" charset="0"/>
                                        </a:rPr>
                                        <m:t>s</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m:rPr>
                                          <m:sty m:val="p"/>
                                        </m:rPr>
                                        <a:rPr lang="zh-CN" altLang="en-US" sz="2400" i="0">
                                          <a:latin typeface="Cambria Math" panose="02040503050406030204" pitchFamily="18" charset="0"/>
                                        </a:rPr>
                                        <m:t>smax</m:t>
                                      </m:r>
                                    </m:sub>
                                  </m:sSub>
                                </m:den>
                              </m:f>
                            </m:e>
                          </m:d>
                        </m:e>
                        <m:sup>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𝜑</m:t>
                              </m:r>
                            </m:den>
                          </m:f>
                        </m:sup>
                      </m:sSup>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𝐹</m:t>
                              </m:r>
                            </m:num>
                            <m:den>
                              <m:r>
                                <a:rPr lang="zh-CN" altLang="en-US" sz="2400" i="1">
                                  <a:latin typeface="Cambria Math" panose="02040503050406030204" pitchFamily="18" charset="0"/>
                                </a:rPr>
                                <m:t>𝐴</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den>
                          </m:f>
                        </m:e>
                      </m:d>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AA62CF0D-D697-408A-A670-9E014996FEB3}"/>
                  </a:ext>
                </a:extLst>
              </p:cNvPr>
              <p:cNvSpPr>
                <a:spLocks noRot="1" noChangeAspect="1" noMove="1" noResize="1" noEditPoints="1" noAdjustHandles="1" noChangeArrowheads="1" noChangeShapeType="1" noTextEdit="1"/>
              </p:cNvSpPr>
              <p:nvPr/>
            </p:nvSpPr>
            <p:spPr>
              <a:xfrm>
                <a:off x="1725940" y="4041053"/>
                <a:ext cx="7379272" cy="1349857"/>
              </a:xfrm>
              <a:prstGeom prst="rect">
                <a:avLst/>
              </a:prstGeom>
              <a:blipFill>
                <a:blip r:embed="rId4"/>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37E580D0-2093-4FA7-80AB-01BFE9AC01BC}"/>
              </a:ext>
            </a:extLst>
          </p:cNvPr>
          <p:cNvSpPr txBox="1"/>
          <p:nvPr/>
        </p:nvSpPr>
        <p:spPr>
          <a:xfrm>
            <a:off x="11430000" y="6535517"/>
            <a:ext cx="762000" cy="369332"/>
          </a:xfrm>
          <a:prstGeom prst="rect">
            <a:avLst/>
          </a:prstGeom>
          <a:noFill/>
        </p:spPr>
        <p:txBody>
          <a:bodyPr wrap="square" rtlCol="0">
            <a:spAutoFit/>
          </a:bodyPr>
          <a:lstStyle/>
          <a:p>
            <a:pPr algn="r"/>
            <a:r>
              <a:rPr lang="en-US" altLang="zh-CN" dirty="0"/>
              <a:t>16/29</a:t>
            </a:r>
            <a:endParaRPr lang="zh-CN" altLang="en-US" dirty="0"/>
          </a:p>
        </p:txBody>
      </p:sp>
    </p:spTree>
    <p:extLst>
      <p:ext uri="{BB962C8B-B14F-4D97-AF65-F5344CB8AC3E}">
        <p14:creationId xmlns:p14="http://schemas.microsoft.com/office/powerpoint/2010/main" val="3401574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7" name="圆角矩形 3">
            <a:extLst>
              <a:ext uri="{FF2B5EF4-FFF2-40B4-BE49-F238E27FC236}">
                <a16:creationId xmlns:a16="http://schemas.microsoft.com/office/drawing/2014/main" id="{D059A12A-76C6-4FF6-A95B-81AB75E7F8B8}"/>
              </a:ext>
            </a:extLst>
          </p:cNvPr>
          <p:cNvSpPr/>
          <p:nvPr/>
        </p:nvSpPr>
        <p:spPr>
          <a:xfrm>
            <a:off x="430211" y="2248855"/>
            <a:ext cx="7367589" cy="3800761"/>
          </a:xfrm>
          <a:prstGeom prst="roundRect">
            <a:avLst>
              <a:gd name="adj" fmla="val 18007"/>
            </a:avLst>
          </a:prstGeom>
          <a:solidFill>
            <a:srgbClr val="003F88"/>
          </a:solid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sp>
        <p:nvSpPr>
          <p:cNvPr id="8" name="矩形 7">
            <a:extLst>
              <a:ext uri="{FF2B5EF4-FFF2-40B4-BE49-F238E27FC236}">
                <a16:creationId xmlns:a16="http://schemas.microsoft.com/office/drawing/2014/main" id="{74B9D6B6-7795-442A-A900-EE67BDC9440F}"/>
              </a:ext>
            </a:extLst>
          </p:cNvPr>
          <p:cNvSpPr/>
          <p:nvPr/>
        </p:nvSpPr>
        <p:spPr>
          <a:xfrm>
            <a:off x="506768" y="2350666"/>
            <a:ext cx="7053966" cy="3346237"/>
          </a:xfrm>
          <a:prstGeom prst="rect">
            <a:avLst/>
          </a:prstGeom>
        </p:spPr>
        <p:txBody>
          <a:bodyPr wrap="square">
            <a:spAutoFit/>
          </a:bodyPr>
          <a:lstStyle/>
          <a:p>
            <a:pPr indent="288000" algn="just">
              <a:lnSpc>
                <a:spcPct val="150000"/>
              </a:lnSpc>
              <a:spcAft>
                <a:spcPts val="0"/>
              </a:spcAft>
            </a:pPr>
            <a:r>
              <a:rPr lang="zh-CN" altLang="en-US" sz="2400" dirty="0">
                <a:solidFill>
                  <a:schemeClr val="bg1"/>
                </a:solidFill>
                <a:latin typeface="+mj-ea"/>
                <a:ea typeface="+mj-ea"/>
                <a:cs typeface="Times New Roman" panose="02020603050405020304" pitchFamily="18" charset="0"/>
              </a:rPr>
              <a:t>右</a:t>
            </a:r>
            <a:r>
              <a:rPr lang="zh-CN" altLang="zh-CN" sz="2400" dirty="0">
                <a:solidFill>
                  <a:schemeClr val="bg1"/>
                </a:solidFill>
                <a:latin typeface="+mj-ea"/>
                <a:ea typeface="+mj-ea"/>
                <a:cs typeface="Times New Roman" panose="02020603050405020304" pitchFamily="18" charset="0"/>
              </a:rPr>
              <a:t>图所示为</a:t>
            </a:r>
            <a:r>
              <a:rPr lang="zh-CN" altLang="zh-CN" sz="2400" b="1" dirty="0">
                <a:solidFill>
                  <a:srgbClr val="FFFF00"/>
                </a:solidFill>
                <a:latin typeface="+mj-ea"/>
                <a:ea typeface="+mj-ea"/>
                <a:cs typeface="Times New Roman" panose="02020603050405020304" pitchFamily="18" charset="0"/>
              </a:rPr>
              <a:t>变压式</a:t>
            </a:r>
            <a:r>
              <a:rPr lang="zh-CN" altLang="zh-CN" sz="2400" dirty="0">
                <a:solidFill>
                  <a:schemeClr val="bg1"/>
                </a:solidFill>
                <a:latin typeface="+mj-ea"/>
                <a:ea typeface="+mj-ea"/>
                <a:cs typeface="Times New Roman" panose="02020603050405020304" pitchFamily="18" charset="0"/>
              </a:rPr>
              <a:t>节流调速回路。这种回路使用定量泵</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必须并联一个</a:t>
            </a:r>
            <a:r>
              <a:rPr lang="zh-CN" altLang="zh-CN" sz="2400" b="1" dirty="0">
                <a:solidFill>
                  <a:srgbClr val="FFFF00"/>
                </a:solidFill>
                <a:latin typeface="+mj-ea"/>
                <a:ea typeface="+mj-ea"/>
                <a:cs typeface="Times New Roman" panose="02020603050405020304" pitchFamily="18" charset="0"/>
              </a:rPr>
              <a:t>安全阀</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并把节流阀接在与主油路</a:t>
            </a:r>
            <a:r>
              <a:rPr lang="zh-CN" altLang="zh-CN" sz="2400" b="1" dirty="0">
                <a:solidFill>
                  <a:srgbClr val="FFFF00"/>
                </a:solidFill>
                <a:latin typeface="+mj-ea"/>
                <a:ea typeface="+mj-ea"/>
                <a:cs typeface="Times New Roman" panose="02020603050405020304" pitchFamily="18" charset="0"/>
              </a:rPr>
              <a:t>并联</a:t>
            </a:r>
            <a:r>
              <a:rPr lang="zh-CN" altLang="zh-CN" sz="2400" dirty="0">
                <a:solidFill>
                  <a:schemeClr val="bg1"/>
                </a:solidFill>
                <a:latin typeface="+mj-ea"/>
                <a:ea typeface="+mj-ea"/>
                <a:cs typeface="Times New Roman" panose="02020603050405020304" pitchFamily="18" charset="0"/>
              </a:rPr>
              <a:t>的分支油路上</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因此它又称为</a:t>
            </a:r>
            <a:r>
              <a:rPr lang="zh-CN" altLang="zh-CN" sz="2400" b="1" dirty="0">
                <a:solidFill>
                  <a:srgbClr val="FFFF00"/>
                </a:solidFill>
                <a:latin typeface="+mj-ea"/>
                <a:ea typeface="+mj-ea"/>
                <a:cs typeface="Times New Roman" panose="02020603050405020304" pitchFamily="18" charset="0"/>
              </a:rPr>
              <a:t>旁路</a:t>
            </a:r>
            <a:r>
              <a:rPr lang="zh-CN" altLang="zh-CN" sz="2400" dirty="0">
                <a:solidFill>
                  <a:schemeClr val="bg1"/>
                </a:solidFill>
                <a:latin typeface="+mj-ea"/>
                <a:ea typeface="+mj-ea"/>
                <a:cs typeface="Times New Roman" panose="02020603050405020304" pitchFamily="18" charset="0"/>
              </a:rPr>
              <a:t>节流调速回路</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。这种回路的</a:t>
            </a:r>
            <a:r>
              <a:rPr lang="zh-CN" altLang="zh-CN" sz="2400" b="1" dirty="0">
                <a:solidFill>
                  <a:srgbClr val="FFFF00"/>
                </a:solidFill>
                <a:latin typeface="+mj-ea"/>
                <a:ea typeface="+mj-ea"/>
                <a:cs typeface="Times New Roman" panose="02020603050405020304" pitchFamily="18" charset="0"/>
              </a:rPr>
              <a:t>工作压力</a:t>
            </a:r>
            <a:r>
              <a:rPr lang="zh-CN" altLang="zh-CN" sz="2400" dirty="0">
                <a:solidFill>
                  <a:schemeClr val="bg1"/>
                </a:solidFill>
                <a:latin typeface="+mj-ea"/>
                <a:ea typeface="+mj-ea"/>
                <a:cs typeface="Times New Roman" panose="02020603050405020304" pitchFamily="18" charset="0"/>
              </a:rPr>
              <a:t>随负载而变</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节流阀调节排回油箱的流量</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从而间接地对进入液压缸的流量进行控制</a:t>
            </a:r>
            <a:r>
              <a:rPr lang="en-US" altLang="zh-CN" sz="2400" dirty="0">
                <a:solidFill>
                  <a:schemeClr val="bg1"/>
                </a:solidFill>
                <a:latin typeface="+mj-ea"/>
                <a:ea typeface="+mj-ea"/>
                <a:cs typeface="Times New Roman" panose="02020603050405020304" pitchFamily="18" charset="0"/>
              </a:rPr>
              <a:t>;</a:t>
            </a:r>
            <a:r>
              <a:rPr lang="zh-CN" altLang="zh-CN" sz="2400" b="1" dirty="0">
                <a:solidFill>
                  <a:schemeClr val="bg1"/>
                </a:solidFill>
                <a:latin typeface="+mj-ea"/>
                <a:ea typeface="+mj-ea"/>
                <a:cs typeface="Times New Roman" panose="02020603050405020304" pitchFamily="18" charset="0"/>
              </a:rPr>
              <a:t>安全阀只在回路过载时才打开</a:t>
            </a:r>
            <a:endParaRPr lang="zh-CN" altLang="zh-CN" sz="2400" b="1" dirty="0">
              <a:solidFill>
                <a:schemeClr val="bg1"/>
              </a:solidFill>
              <a:effectLst/>
              <a:latin typeface="+mj-ea"/>
              <a:ea typeface="+mj-ea"/>
              <a:cs typeface="Times New Roman" panose="02020603050405020304" pitchFamily="18" charset="0"/>
            </a:endParaRPr>
          </a:p>
        </p:txBody>
      </p:sp>
      <p:pic>
        <p:nvPicPr>
          <p:cNvPr id="9" name="8T6.EPS">
            <a:extLst>
              <a:ext uri="{FF2B5EF4-FFF2-40B4-BE49-F238E27FC236}">
                <a16:creationId xmlns:a16="http://schemas.microsoft.com/office/drawing/2014/main" id="{B55CA7E1-1764-45BF-2DFC-034266560C7B}"/>
              </a:ext>
            </a:extLst>
          </p:cNvPr>
          <p:cNvPicPr/>
          <p:nvPr/>
        </p:nvPicPr>
        <p:blipFill>
          <a:blip r:embed="rId4" cstate="print"/>
          <a:stretch>
            <a:fillRect/>
          </a:stretch>
        </p:blipFill>
        <p:spPr>
          <a:xfrm>
            <a:off x="8698860" y="2350666"/>
            <a:ext cx="3062929" cy="3800766"/>
          </a:xfrm>
          <a:prstGeom prst="rect">
            <a:avLst/>
          </a:prstGeom>
        </p:spPr>
      </p:pic>
      <p:sp>
        <p:nvSpPr>
          <p:cNvPr id="10" name="矩形 9">
            <a:extLst>
              <a:ext uri="{FF2B5EF4-FFF2-40B4-BE49-F238E27FC236}">
                <a16:creationId xmlns:a16="http://schemas.microsoft.com/office/drawing/2014/main" id="{C18D564A-359F-B323-3DB8-86D10016A142}"/>
              </a:ext>
            </a:extLst>
          </p:cNvPr>
          <p:cNvSpPr/>
          <p:nvPr/>
        </p:nvSpPr>
        <p:spPr>
          <a:xfrm>
            <a:off x="429656" y="1163309"/>
            <a:ext cx="11679228" cy="66255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变压式节流调速回路</a:t>
            </a:r>
            <a:endParaRPr lang="zh-CN" altLang="en-US" sz="2800" b="1" dirty="0">
              <a:latin typeface="+mj-ea"/>
              <a:ea typeface="+mj-ea"/>
            </a:endParaRPr>
          </a:p>
        </p:txBody>
      </p:sp>
      <p:sp>
        <p:nvSpPr>
          <p:cNvPr id="11" name="文本框 10">
            <a:extLst>
              <a:ext uri="{FF2B5EF4-FFF2-40B4-BE49-F238E27FC236}">
                <a16:creationId xmlns:a16="http://schemas.microsoft.com/office/drawing/2014/main" id="{1CD58F95-9CFB-4CB2-9E44-F6B56FEB5031}"/>
              </a:ext>
            </a:extLst>
          </p:cNvPr>
          <p:cNvSpPr txBox="1"/>
          <p:nvPr/>
        </p:nvSpPr>
        <p:spPr>
          <a:xfrm>
            <a:off x="11369040" y="6535517"/>
            <a:ext cx="822960" cy="369332"/>
          </a:xfrm>
          <a:prstGeom prst="rect">
            <a:avLst/>
          </a:prstGeom>
          <a:noFill/>
        </p:spPr>
        <p:txBody>
          <a:bodyPr wrap="square" rtlCol="0">
            <a:spAutoFit/>
          </a:bodyPr>
          <a:lstStyle/>
          <a:p>
            <a:pPr algn="r"/>
            <a:r>
              <a:rPr lang="en-US" altLang="zh-CN" dirty="0"/>
              <a:t>17/29</a:t>
            </a:r>
            <a:endParaRPr lang="zh-CN" altLang="en-US" dirty="0"/>
          </a:p>
        </p:txBody>
      </p:sp>
    </p:spTree>
    <p:extLst>
      <p:ext uri="{BB962C8B-B14F-4D97-AF65-F5344CB8AC3E}">
        <p14:creationId xmlns:p14="http://schemas.microsoft.com/office/powerpoint/2010/main" val="956697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pic>
        <p:nvPicPr>
          <p:cNvPr id="6" name="8T6.EPS">
            <a:extLst>
              <a:ext uri="{FF2B5EF4-FFF2-40B4-BE49-F238E27FC236}">
                <a16:creationId xmlns:a16="http://schemas.microsoft.com/office/drawing/2014/main" id="{A58BFF69-6F94-48C3-B4EA-973ECFC128AB}"/>
              </a:ext>
            </a:extLst>
          </p:cNvPr>
          <p:cNvPicPr/>
          <p:nvPr/>
        </p:nvPicPr>
        <p:blipFill>
          <a:blip r:embed="rId3" cstate="print"/>
          <a:stretch>
            <a:fillRect/>
          </a:stretch>
        </p:blipFill>
        <p:spPr>
          <a:xfrm>
            <a:off x="690881" y="1245367"/>
            <a:ext cx="3062929" cy="3800766"/>
          </a:xfrm>
          <a:prstGeom prst="rect">
            <a:avLst/>
          </a:prstGeom>
        </p:spPr>
      </p:pic>
      <p:sp>
        <p:nvSpPr>
          <p:cNvPr id="7" name="矩形 6">
            <a:extLst>
              <a:ext uri="{FF2B5EF4-FFF2-40B4-BE49-F238E27FC236}">
                <a16:creationId xmlns:a16="http://schemas.microsoft.com/office/drawing/2014/main" id="{11B714FA-FE8E-44BD-A8A0-5124164164F5}"/>
              </a:ext>
            </a:extLst>
          </p:cNvPr>
          <p:cNvSpPr/>
          <p:nvPr/>
        </p:nvSpPr>
        <p:spPr>
          <a:xfrm>
            <a:off x="971605" y="5252518"/>
            <a:ext cx="2262158" cy="369332"/>
          </a:xfrm>
          <a:prstGeom prst="rect">
            <a:avLst/>
          </a:prstGeom>
        </p:spPr>
        <p:txBody>
          <a:bodyPr wrap="none">
            <a:spAutoFit/>
          </a:bodyPr>
          <a:lstStyle/>
          <a:p>
            <a:r>
              <a:rPr lang="zh-CN" altLang="zh-CN" b="1" dirty="0">
                <a:solidFill>
                  <a:srgbClr val="FF0000"/>
                </a:solidFill>
                <a:latin typeface="+mj-ea"/>
                <a:ea typeface="+mj-ea"/>
              </a:rPr>
              <a:t>变压式节流调速回路</a:t>
            </a:r>
            <a:endParaRPr lang="zh-CN" altLang="en-US" b="1" dirty="0">
              <a:solidFill>
                <a:srgbClr val="FF0000"/>
              </a:solidFill>
              <a:latin typeface="+mj-ea"/>
              <a:ea typeface="+mj-ea"/>
            </a:endParaRPr>
          </a:p>
        </p:txBody>
      </p:sp>
      <p:sp>
        <p:nvSpPr>
          <p:cNvPr id="8" name="矩形 7">
            <a:extLst>
              <a:ext uri="{FF2B5EF4-FFF2-40B4-BE49-F238E27FC236}">
                <a16:creationId xmlns:a16="http://schemas.microsoft.com/office/drawing/2014/main" id="{D79DA39C-BC36-479F-845E-DC7C5AFBC9D7}"/>
              </a:ext>
            </a:extLst>
          </p:cNvPr>
          <p:cNvSpPr/>
          <p:nvPr/>
        </p:nvSpPr>
        <p:spPr>
          <a:xfrm>
            <a:off x="4282243" y="1328483"/>
            <a:ext cx="7469491" cy="2238241"/>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这种回路的机械特性可用上面同样的方法进行分析</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但是液压泵的流量损失</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主要是泄漏</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在这里对液压缸的工作速度有很大影响</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泄漏的大小则直接与回路的工作压力有关</a:t>
            </a:r>
            <a:endParaRPr lang="zh-CN" altLang="zh-CN" sz="2400" dirty="0">
              <a:solidFill>
                <a:srgbClr val="000000"/>
              </a:solidFill>
              <a:effectLst/>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19156E9-E327-4F39-8A29-67BBE427A63A}"/>
                  </a:ext>
                </a:extLst>
              </p:cNvPr>
              <p:cNvSpPr/>
              <p:nvPr/>
            </p:nvSpPr>
            <p:spPr>
              <a:xfrm>
                <a:off x="6668197" y="3645326"/>
                <a:ext cx="20439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t</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m:rPr>
                              <m:sty m:val="p"/>
                            </m:rPr>
                            <a:rPr lang="zh-CN" altLang="en-US" sz="2400" i="0">
                              <a:latin typeface="Cambria Math" panose="02040503050406030204" pitchFamily="18" charset="0"/>
                            </a:rPr>
                            <m:t>l</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oMath>
                  </m:oMathPara>
                </a14:m>
                <a:endParaRPr lang="zh-CN" altLang="en-US" sz="2400" dirty="0"/>
              </a:p>
            </p:txBody>
          </p:sp>
        </mc:Choice>
        <mc:Fallback xmlns="">
          <p:sp>
            <p:nvSpPr>
              <p:cNvPr id="10" name="矩形 9">
                <a:extLst>
                  <a:ext uri="{FF2B5EF4-FFF2-40B4-BE49-F238E27FC236}">
                    <a16:creationId xmlns:a16="http://schemas.microsoft.com/office/drawing/2014/main" id="{219156E9-E327-4F39-8A29-67BBE427A63A}"/>
                  </a:ext>
                </a:extLst>
              </p:cNvPr>
              <p:cNvSpPr>
                <a:spLocks noRot="1" noChangeAspect="1" noMove="1" noResize="1" noEditPoints="1" noAdjustHandles="1" noChangeArrowheads="1" noChangeShapeType="1" noTextEdit="1"/>
              </p:cNvSpPr>
              <p:nvPr/>
            </p:nvSpPr>
            <p:spPr>
              <a:xfrm>
                <a:off x="6668197" y="3645326"/>
                <a:ext cx="2043957" cy="461665"/>
              </a:xfrm>
              <a:prstGeom prst="rect">
                <a:avLst/>
              </a:prstGeom>
              <a:blipFill>
                <a:blip r:embed="rId4"/>
                <a:stretch>
                  <a:fillRect b="-11842"/>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2E6DFA12-B4E9-4B76-8AB0-11A7652F1AA0}"/>
              </a:ext>
            </a:extLst>
          </p:cNvPr>
          <p:cNvSpPr/>
          <p:nvPr/>
        </p:nvSpPr>
        <p:spPr>
          <a:xfrm>
            <a:off x="5766441" y="4410396"/>
            <a:ext cx="5045492" cy="1684244"/>
          </a:xfrm>
          <a:prstGeom prst="rect">
            <a:avLst/>
          </a:prstGeom>
        </p:spPr>
        <p:txBody>
          <a:bodyPr wrap="square">
            <a:spAutoFit/>
          </a:bodyPr>
          <a:lstStyle/>
          <a:p>
            <a:pPr indent="288000" algn="just">
              <a:lnSpc>
                <a:spcPct val="150000"/>
              </a:lnSpc>
              <a:spcAft>
                <a:spcPts val="0"/>
              </a:spcAft>
            </a:pPr>
            <a:r>
              <a:rPr lang="en-US" altLang="zh-CN" sz="2400" i="1" dirty="0">
                <a:solidFill>
                  <a:srgbClr val="000000"/>
                </a:solidFill>
                <a:latin typeface="+mj-ea"/>
                <a:ea typeface="+mj-ea"/>
                <a:cs typeface="Times New Roman" panose="02020603050405020304" pitchFamily="18" charset="0"/>
              </a:rPr>
              <a:t>q</a:t>
            </a:r>
            <a:r>
              <a:rPr lang="en-US" altLang="zh-CN" sz="2400" baseline="-25000" dirty="0">
                <a:solidFill>
                  <a:srgbClr val="000000"/>
                </a:solidFill>
                <a:latin typeface="+mj-ea"/>
                <a:ea typeface="+mj-ea"/>
                <a:cs typeface="Times New Roman" panose="02020603050405020304" pitchFamily="18" charset="0"/>
              </a:rPr>
              <a:t>t</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液压泵的几何流量</a:t>
            </a:r>
            <a:r>
              <a:rPr lang="en-US" altLang="zh-CN"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a:p>
            <a:pPr indent="288000" algn="just">
              <a:lnSpc>
                <a:spcPct val="150000"/>
              </a:lnSpc>
              <a:spcAft>
                <a:spcPts val="0"/>
              </a:spcAft>
            </a:pPr>
            <a:r>
              <a:rPr lang="en-US" altLang="zh-CN" sz="2400" i="1" dirty="0">
                <a:solidFill>
                  <a:srgbClr val="000000"/>
                </a:solidFill>
                <a:latin typeface="+mj-ea"/>
                <a:ea typeface="+mj-ea"/>
                <a:cs typeface="Times New Roman" panose="02020603050405020304" pitchFamily="18" charset="0"/>
              </a:rPr>
              <a:t>k</a:t>
            </a:r>
            <a:r>
              <a:rPr lang="en-US" altLang="zh-CN" sz="2400" baseline="-25000" dirty="0">
                <a:solidFill>
                  <a:srgbClr val="000000"/>
                </a:solidFill>
                <a:latin typeface="+mj-ea"/>
                <a:ea typeface="+mj-ea"/>
                <a:cs typeface="Times New Roman" panose="02020603050405020304" pitchFamily="18" charset="0"/>
              </a:rPr>
              <a:t>l</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液压泵的泄漏系数</a:t>
            </a:r>
            <a:r>
              <a:rPr lang="en-US" altLang="zh-CN"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a:p>
            <a:pPr indent="288000"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其余符号意义同前</a:t>
            </a:r>
          </a:p>
        </p:txBody>
      </p:sp>
      <p:sp>
        <p:nvSpPr>
          <p:cNvPr id="12" name="文本框 11">
            <a:extLst>
              <a:ext uri="{FF2B5EF4-FFF2-40B4-BE49-F238E27FC236}">
                <a16:creationId xmlns:a16="http://schemas.microsoft.com/office/drawing/2014/main" id="{31D89699-2942-4266-B318-F39A9EB99F35}"/>
              </a:ext>
            </a:extLst>
          </p:cNvPr>
          <p:cNvSpPr txBox="1"/>
          <p:nvPr/>
        </p:nvSpPr>
        <p:spPr>
          <a:xfrm>
            <a:off x="11010900" y="6535517"/>
            <a:ext cx="1181100" cy="369332"/>
          </a:xfrm>
          <a:prstGeom prst="rect">
            <a:avLst/>
          </a:prstGeom>
          <a:noFill/>
        </p:spPr>
        <p:txBody>
          <a:bodyPr wrap="square" rtlCol="0">
            <a:spAutoFit/>
          </a:bodyPr>
          <a:lstStyle/>
          <a:p>
            <a:pPr algn="r"/>
            <a:r>
              <a:rPr lang="en-US" altLang="zh-CN" dirty="0"/>
              <a:t>18/29</a:t>
            </a:r>
            <a:endParaRPr lang="zh-CN" altLang="en-US" dirty="0"/>
          </a:p>
        </p:txBody>
      </p:sp>
    </p:spTree>
    <p:extLst>
      <p:ext uri="{BB962C8B-B14F-4D97-AF65-F5344CB8AC3E}">
        <p14:creationId xmlns:p14="http://schemas.microsoft.com/office/powerpoint/2010/main" val="136405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6B875472-D6FC-4457-9EA6-4C00C011A1A8}"/>
                  </a:ext>
                </a:extLst>
              </p:cNvPr>
              <p:cNvSpPr/>
              <p:nvPr/>
            </p:nvSpPr>
            <p:spPr>
              <a:xfrm>
                <a:off x="4191000" y="2063791"/>
                <a:ext cx="6121400" cy="9196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𝑣</m:t>
                      </m:r>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𝑞</m:t>
                              </m:r>
                            </m:e>
                            <m:sub>
                              <m:r>
                                <m:rPr>
                                  <m:sty m:val="p"/>
                                </m:rPr>
                                <a:rPr lang="zh-CN" altLang="en-US" i="0">
                                  <a:latin typeface="Cambria Math" panose="02040503050406030204" pitchFamily="18" charset="0"/>
                                </a:rPr>
                                <m:t>P</m:t>
                              </m:r>
                            </m:sub>
                          </m:sSub>
                          <m:r>
                            <m:rPr>
                              <m:nor/>
                            </m:rPr>
                            <a:rPr lang="zh-CN" altLang="en-US" i="1">
                              <a:latin typeface="Cambria Math" panose="02040503050406030204" pitchFamily="18" charset="0"/>
                            </a:rPr>
                            <m:t>−</m:t>
                          </m:r>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m:rPr>
                                  <m:sty m:val="p"/>
                                </m:rPr>
                                <a:rPr lang="zh-CN" altLang="en-US" i="0">
                                  <a:latin typeface="Cambria Math" panose="02040503050406030204" pitchFamily="18" charset="0"/>
                                </a:rPr>
                                <m:t>T</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𝑝</m:t>
                              </m:r>
                            </m:e>
                            <m:sub>
                              <m:r>
                                <m:rPr>
                                  <m:sty m:val="p"/>
                                </m:rPr>
                                <a:rPr lang="zh-CN" altLang="en-US" i="0">
                                  <a:latin typeface="Cambria Math" panose="02040503050406030204" pitchFamily="18" charset="0"/>
                                </a:rPr>
                                <m:t>P</m:t>
                              </m:r>
                            </m:sub>
                            <m:sup>
                              <m:r>
                                <a:rPr lang="zh-CN" altLang="en-US" i="1">
                                  <a:latin typeface="Cambria Math" panose="02040503050406030204" pitchFamily="18" charset="0"/>
                                </a:rPr>
                                <m:t>𝜑</m:t>
                              </m:r>
                            </m:sup>
                          </m:sSubSup>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0">
                                  <a:latin typeface="Cambria Math" panose="02040503050406030204" pitchFamily="18" charset="0"/>
                                </a:rPr>
                                <m:t>1</m:t>
                              </m:r>
                            </m:sub>
                          </m:sSub>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𝑞</m:t>
                              </m:r>
                            </m:e>
                            <m:sub>
                              <m:r>
                                <m:rPr>
                                  <m:sty m:val="p"/>
                                </m:rPr>
                                <a:rPr lang="zh-CN" altLang="en-US" i="0">
                                  <a:latin typeface="Cambria Math" panose="02040503050406030204" pitchFamily="18" charset="0"/>
                                </a:rPr>
                                <m:t>t</m:t>
                              </m:r>
                            </m:sub>
                          </m:sSub>
                          <m:r>
                            <m:rPr>
                              <m:nor/>
                            </m:rP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m:rPr>
                                  <m:sty m:val="p"/>
                                </m:rPr>
                                <a:rPr lang="zh-CN" altLang="en-US" i="0">
                                  <a:latin typeface="Cambria Math" panose="02040503050406030204" pitchFamily="18" charset="0"/>
                                </a:rPr>
                                <m:t>l</m:t>
                              </m:r>
                            </m:sub>
                          </m:sSub>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1">
                                      <a:latin typeface="Cambria Math" panose="02040503050406030204" pitchFamily="18" charset="0"/>
                                    </a:rPr>
                                    <m:t>𝐹</m:t>
                                  </m:r>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0">
                                          <a:latin typeface="Cambria Math" panose="02040503050406030204" pitchFamily="18" charset="0"/>
                                        </a:rPr>
                                        <m:t>1</m:t>
                                      </m:r>
                                    </m:sub>
                                  </m:sSub>
                                </m:den>
                              </m:f>
                            </m:e>
                          </m:d>
                          <m:r>
                            <m:rPr>
                              <m:nor/>
                            </m:rPr>
                            <a:rPr lang="zh-CN" altLang="en-US" i="1">
                              <a:latin typeface="Cambria Math" panose="02040503050406030204" pitchFamily="18" charset="0"/>
                            </a:rPr>
                            <m:t>−</m:t>
                          </m:r>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m:rPr>
                                  <m:sty m:val="p"/>
                                </m:rPr>
                                <a:rPr lang="zh-CN" altLang="en-US" i="0">
                                  <a:latin typeface="Cambria Math" panose="02040503050406030204" pitchFamily="18" charset="0"/>
                                </a:rPr>
                                <m:t>T</m:t>
                              </m:r>
                            </m:sub>
                          </m:sSub>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1">
                                          <a:latin typeface="Cambria Math" panose="02040503050406030204" pitchFamily="18" charset="0"/>
                                        </a:rPr>
                                        <m:t>𝐹</m:t>
                                      </m:r>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0">
                                              <a:latin typeface="Cambria Math" panose="02040503050406030204" pitchFamily="18" charset="0"/>
                                            </a:rPr>
                                            <m:t>1</m:t>
                                          </m:r>
                                        </m:sub>
                                      </m:sSub>
                                    </m:den>
                                  </m:f>
                                </m:e>
                              </m:d>
                            </m:e>
                            <m:sup>
                              <m:r>
                                <a:rPr lang="zh-CN" altLang="en-US" i="1">
                                  <a:latin typeface="Cambria Math" panose="02040503050406030204" pitchFamily="18" charset="0"/>
                                </a:rPr>
                                <m:t>𝜑</m:t>
                              </m:r>
                            </m:sup>
                          </m:sSup>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0">
                                  <a:latin typeface="Cambria Math" panose="02040503050406030204" pitchFamily="18" charset="0"/>
                                </a:rPr>
                                <m:t>1</m:t>
                              </m:r>
                            </m:sub>
                          </m:sSub>
                        </m:den>
                      </m:f>
                    </m:oMath>
                  </m:oMathPara>
                </a14:m>
                <a:endParaRPr lang="zh-CN" altLang="en-US" dirty="0"/>
              </a:p>
            </p:txBody>
          </p:sp>
        </mc:Choice>
        <mc:Fallback xmlns="">
          <p:sp>
            <p:nvSpPr>
              <p:cNvPr id="6" name="矩形 5">
                <a:extLst>
                  <a:ext uri="{FF2B5EF4-FFF2-40B4-BE49-F238E27FC236}">
                    <a16:creationId xmlns:a16="http://schemas.microsoft.com/office/drawing/2014/main" id="{6B875472-D6FC-4457-9EA6-4C00C011A1A8}"/>
                  </a:ext>
                </a:extLst>
              </p:cNvPr>
              <p:cNvSpPr>
                <a:spLocks noRot="1" noChangeAspect="1" noMove="1" noResize="1" noEditPoints="1" noAdjustHandles="1" noChangeArrowheads="1" noChangeShapeType="1" noTextEdit="1"/>
              </p:cNvSpPr>
              <p:nvPr/>
            </p:nvSpPr>
            <p:spPr>
              <a:xfrm>
                <a:off x="4191000" y="2063791"/>
                <a:ext cx="6121400" cy="919675"/>
              </a:xfrm>
              <a:prstGeom prst="rect">
                <a:avLst/>
              </a:prstGeom>
              <a:blipFill>
                <a:blip r:embed="rId4"/>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97C16D09-20B3-495B-BAED-EFD851EDFAEF}"/>
              </a:ext>
            </a:extLst>
          </p:cNvPr>
          <p:cNvSpPr/>
          <p:nvPr/>
        </p:nvSpPr>
        <p:spPr>
          <a:xfrm>
            <a:off x="4747656" y="1534762"/>
            <a:ext cx="4221027" cy="319446"/>
          </a:xfrm>
          <a:prstGeom prst="rect">
            <a:avLst/>
          </a:prstGeom>
        </p:spPr>
        <p:txBody>
          <a:bodyPr wrap="none">
            <a:spAutoFit/>
          </a:bodyPr>
          <a:lstStyle/>
          <a:p>
            <a:pPr indent="266700">
              <a:lnSpc>
                <a:spcPts val="1575"/>
              </a:lnSpc>
              <a:spcAft>
                <a:spcPts val="0"/>
              </a:spcAft>
            </a:pPr>
            <a:r>
              <a:rPr lang="zh-CN" altLang="zh-CN" sz="2400" dirty="0">
                <a:solidFill>
                  <a:srgbClr val="000000"/>
                </a:solidFill>
                <a:latin typeface="+mj-ea"/>
                <a:ea typeface="+mj-ea"/>
                <a:cs typeface="Times New Roman" panose="02020603050405020304" pitchFamily="18" charset="0"/>
              </a:rPr>
              <a:t>因此</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液压缸的工作速度为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p:sp>
        <p:nvSpPr>
          <p:cNvPr id="12" name="矩形 11">
            <a:extLst>
              <a:ext uri="{FF2B5EF4-FFF2-40B4-BE49-F238E27FC236}">
                <a16:creationId xmlns:a16="http://schemas.microsoft.com/office/drawing/2014/main" id="{3C2F6497-D7BB-399C-2BA4-87187A865F75}"/>
              </a:ext>
            </a:extLst>
          </p:cNvPr>
          <p:cNvSpPr/>
          <p:nvPr/>
        </p:nvSpPr>
        <p:spPr>
          <a:xfrm>
            <a:off x="4672039" y="3650706"/>
            <a:ext cx="5993949" cy="319446"/>
          </a:xfrm>
          <a:prstGeom prst="rect">
            <a:avLst/>
          </a:prstGeom>
        </p:spPr>
        <p:txBody>
          <a:bodyPr wrap="none">
            <a:spAutoFit/>
          </a:bodyPr>
          <a:lstStyle/>
          <a:p>
            <a:pPr indent="266700">
              <a:lnSpc>
                <a:spcPts val="1575"/>
              </a:lnSpc>
              <a:spcAft>
                <a:spcPts val="0"/>
              </a:spcAft>
            </a:pPr>
            <a:r>
              <a:rPr lang="zh-CN" altLang="zh-CN" sz="2400" dirty="0">
                <a:solidFill>
                  <a:srgbClr val="000000"/>
                </a:solidFill>
                <a:latin typeface="+mj-ea"/>
                <a:ea typeface="+mj-ea"/>
                <a:cs typeface="Times New Roman" panose="02020603050405020304" pitchFamily="18" charset="0"/>
              </a:rPr>
              <a:t>旁路节流调速回路的速度刚性表达式为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E4B752AF-26BA-4306-71A9-B8901CAAE4B3}"/>
                  </a:ext>
                </a:extLst>
              </p:cNvPr>
              <p:cNvSpPr/>
              <p:nvPr/>
            </p:nvSpPr>
            <p:spPr>
              <a:xfrm>
                <a:off x="4930788" y="4245578"/>
                <a:ext cx="5476449" cy="9725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𝑘</m:t>
                          </m:r>
                        </m:e>
                        <m:sub>
                          <m:r>
                            <a:rPr lang="zh-CN" altLang="en-US" sz="2000" i="1">
                              <a:latin typeface="Cambria Math" panose="02040503050406030204" pitchFamily="18" charset="0"/>
                            </a:rPr>
                            <m:t>𝑣</m:t>
                          </m:r>
                        </m:sub>
                      </m:sSub>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r>
                            <a:rPr lang="zh-CN" altLang="en-US" sz="2000" i="1">
                              <a:latin typeface="Cambria Math" panose="02040503050406030204" pitchFamily="18" charset="0"/>
                            </a:rPr>
                            <m:t>𝐹</m:t>
                          </m:r>
                        </m:num>
                        <m:den>
                          <m:r>
                            <a:rPr lang="zh-CN" altLang="en-US" sz="2000" i="1">
                              <a:latin typeface="Cambria Math" panose="02040503050406030204" pitchFamily="18" charset="0"/>
                            </a:rPr>
                            <m:t>𝜑</m:t>
                          </m:r>
                          <m:r>
                            <m:rPr>
                              <m:nor/>
                            </m:rPr>
                            <a:rPr lang="zh-CN" altLang="en-US" sz="2000" i="1">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𝑞</m:t>
                              </m:r>
                            </m:e>
                            <m:sub>
                              <m:r>
                                <m:rPr>
                                  <m:sty m:val="p"/>
                                </m:rPr>
                                <a:rPr lang="zh-CN" altLang="en-US" sz="2000" i="0">
                                  <a:latin typeface="Cambria Math" panose="02040503050406030204" pitchFamily="18" charset="0"/>
                                </a:rPr>
                                <m:t>t</m:t>
                              </m:r>
                            </m:sub>
                          </m:sSub>
                          <m:r>
                            <m:rPr>
                              <m:nor/>
                            </m:rPr>
                            <a:rPr lang="zh-CN" altLang="en-US" sz="2000" i="1">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r>
                            <a:rPr lang="zh-CN" altLang="en-US" sz="2000" i="1">
                              <a:latin typeface="Cambria Math" panose="02040503050406030204" pitchFamily="18" charset="0"/>
                            </a:rPr>
                            <m:t>𝑣</m:t>
                          </m:r>
                          <m:r>
                            <m:rPr>
                              <m:nor/>
                            </m:rPr>
                            <a:rPr lang="zh-CN" altLang="en-US" sz="2000" i="1">
                              <a:latin typeface="Cambria Math" panose="02040503050406030204" pitchFamily="18" charset="0"/>
                            </a:rPr>
                            <m:t>)+(1−</m:t>
                          </m:r>
                          <m:r>
                            <a:rPr lang="zh-CN" altLang="en-US" sz="2000" i="1">
                              <a:latin typeface="Cambria Math" panose="02040503050406030204" pitchFamily="18" charset="0"/>
                            </a:rPr>
                            <m:t>𝜑</m:t>
                          </m:r>
                          <m:r>
                            <m:rPr>
                              <m:nor/>
                            </m:rPr>
                            <a:rPr lang="zh-CN" altLang="en-US" sz="2000" i="1">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𝑘</m:t>
                              </m:r>
                            </m:e>
                            <m:sub>
                              <m:r>
                                <m:rPr>
                                  <m:sty m:val="p"/>
                                </m:rPr>
                                <a:rPr lang="zh-CN" altLang="en-US" sz="2000" i="0">
                                  <a:latin typeface="Cambria Math" panose="02040503050406030204" pitchFamily="18" charset="0"/>
                                </a:rPr>
                                <m:t>l</m:t>
                              </m:r>
                            </m:sub>
                          </m:sSub>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𝐹</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e>
                          </m:d>
                        </m:den>
                      </m:f>
                    </m:oMath>
                  </m:oMathPara>
                </a14:m>
                <a:endParaRPr lang="zh-CN" altLang="en-US" sz="2000" dirty="0"/>
              </a:p>
            </p:txBody>
          </p:sp>
        </mc:Choice>
        <mc:Fallback xmlns="">
          <p:sp>
            <p:nvSpPr>
              <p:cNvPr id="13" name="矩形 12">
                <a:extLst>
                  <a:ext uri="{FF2B5EF4-FFF2-40B4-BE49-F238E27FC236}">
                    <a16:creationId xmlns:a16="http://schemas.microsoft.com/office/drawing/2014/main" id="{E4B752AF-26BA-4306-71A9-B8901CAAE4B3}"/>
                  </a:ext>
                </a:extLst>
              </p:cNvPr>
              <p:cNvSpPr>
                <a:spLocks noRot="1" noChangeAspect="1" noMove="1" noResize="1" noEditPoints="1" noAdjustHandles="1" noChangeArrowheads="1" noChangeShapeType="1" noTextEdit="1"/>
              </p:cNvSpPr>
              <p:nvPr/>
            </p:nvSpPr>
            <p:spPr>
              <a:xfrm>
                <a:off x="4930788" y="4245578"/>
                <a:ext cx="5476449" cy="972510"/>
              </a:xfrm>
              <a:prstGeom prst="rect">
                <a:avLst/>
              </a:prstGeom>
              <a:blipFill>
                <a:blip r:embed="rId6"/>
                <a:stretch>
                  <a:fillRect/>
                </a:stretch>
              </a:blipFill>
            </p:spPr>
            <p:txBody>
              <a:bodyPr/>
              <a:lstStyle/>
              <a:p>
                <a:r>
                  <a:rPr lang="zh-CN" altLang="en-US">
                    <a:noFill/>
                  </a:rPr>
                  <a:t> </a:t>
                </a:r>
              </a:p>
            </p:txBody>
          </p:sp>
        </mc:Fallback>
      </mc:AlternateContent>
      <p:pic>
        <p:nvPicPr>
          <p:cNvPr id="14" name="8T6.EPS">
            <a:extLst>
              <a:ext uri="{FF2B5EF4-FFF2-40B4-BE49-F238E27FC236}">
                <a16:creationId xmlns:a16="http://schemas.microsoft.com/office/drawing/2014/main" id="{3147AB0F-8539-4FCC-B254-466F3A08278C}"/>
              </a:ext>
            </a:extLst>
          </p:cNvPr>
          <p:cNvPicPr/>
          <p:nvPr/>
        </p:nvPicPr>
        <p:blipFill>
          <a:blip r:embed="rId7" cstate="print"/>
          <a:stretch>
            <a:fillRect/>
          </a:stretch>
        </p:blipFill>
        <p:spPr>
          <a:xfrm>
            <a:off x="690881" y="1245367"/>
            <a:ext cx="3062929" cy="3800766"/>
          </a:xfrm>
          <a:prstGeom prst="rect">
            <a:avLst/>
          </a:prstGeom>
        </p:spPr>
      </p:pic>
      <p:sp>
        <p:nvSpPr>
          <p:cNvPr id="15" name="矩形 14">
            <a:extLst>
              <a:ext uri="{FF2B5EF4-FFF2-40B4-BE49-F238E27FC236}">
                <a16:creationId xmlns:a16="http://schemas.microsoft.com/office/drawing/2014/main" id="{36B63455-ED72-4285-95A9-BB70A69650D8}"/>
              </a:ext>
            </a:extLst>
          </p:cNvPr>
          <p:cNvSpPr/>
          <p:nvPr/>
        </p:nvSpPr>
        <p:spPr>
          <a:xfrm>
            <a:off x="971605" y="5252518"/>
            <a:ext cx="2262158" cy="369332"/>
          </a:xfrm>
          <a:prstGeom prst="rect">
            <a:avLst/>
          </a:prstGeom>
        </p:spPr>
        <p:txBody>
          <a:bodyPr wrap="none">
            <a:spAutoFit/>
          </a:bodyPr>
          <a:lstStyle/>
          <a:p>
            <a:r>
              <a:rPr lang="zh-CN" altLang="zh-CN" b="1" dirty="0">
                <a:solidFill>
                  <a:srgbClr val="FF0000"/>
                </a:solidFill>
                <a:latin typeface="+mj-ea"/>
                <a:ea typeface="+mj-ea"/>
              </a:rPr>
              <a:t>变压式节流调速回路</a:t>
            </a:r>
            <a:endParaRPr lang="zh-CN" altLang="en-US" b="1" dirty="0">
              <a:solidFill>
                <a:srgbClr val="FF0000"/>
              </a:solidFill>
              <a:latin typeface="+mj-ea"/>
              <a:ea typeface="+mj-ea"/>
            </a:endParaRPr>
          </a:p>
        </p:txBody>
      </p:sp>
      <p:sp>
        <p:nvSpPr>
          <p:cNvPr id="16" name="文本框 15">
            <a:extLst>
              <a:ext uri="{FF2B5EF4-FFF2-40B4-BE49-F238E27FC236}">
                <a16:creationId xmlns:a16="http://schemas.microsoft.com/office/drawing/2014/main" id="{D9BB100C-8DB6-44A5-AA8D-D10589BEF7E2}"/>
              </a:ext>
            </a:extLst>
          </p:cNvPr>
          <p:cNvSpPr txBox="1"/>
          <p:nvPr/>
        </p:nvSpPr>
        <p:spPr>
          <a:xfrm>
            <a:off x="10607040" y="6535517"/>
            <a:ext cx="1584960" cy="369332"/>
          </a:xfrm>
          <a:prstGeom prst="rect">
            <a:avLst/>
          </a:prstGeom>
          <a:noFill/>
        </p:spPr>
        <p:txBody>
          <a:bodyPr wrap="square" rtlCol="0">
            <a:spAutoFit/>
          </a:bodyPr>
          <a:lstStyle/>
          <a:p>
            <a:pPr algn="r"/>
            <a:r>
              <a:rPr lang="en-US" altLang="zh-CN" dirty="0"/>
              <a:t>19/29</a:t>
            </a:r>
            <a:endParaRPr lang="zh-CN" altLang="en-US" dirty="0"/>
          </a:p>
        </p:txBody>
      </p:sp>
    </p:spTree>
    <p:extLst>
      <p:ext uri="{BB962C8B-B14F-4D97-AF65-F5344CB8AC3E}">
        <p14:creationId xmlns:p14="http://schemas.microsoft.com/office/powerpoint/2010/main" val="208644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6B875472-D6FC-4457-9EA6-4C00C011A1A8}"/>
                  </a:ext>
                </a:extLst>
              </p:cNvPr>
              <p:cNvSpPr/>
              <p:nvPr/>
            </p:nvSpPr>
            <p:spPr>
              <a:xfrm>
                <a:off x="-472440" y="5557598"/>
                <a:ext cx="6680200" cy="101175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𝑣</m:t>
                      </m:r>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𝑞</m:t>
                              </m:r>
                            </m:e>
                            <m:sub>
                              <m:r>
                                <m:rPr>
                                  <m:sty m:val="p"/>
                                </m:rPr>
                                <a:rPr lang="zh-CN" altLang="en-US" sz="2000" i="0">
                                  <a:latin typeface="Cambria Math" panose="02040503050406030204" pitchFamily="18" charset="0"/>
                                </a:rPr>
                                <m:t>P</m:t>
                              </m:r>
                            </m:sub>
                          </m:sSub>
                          <m:r>
                            <m:rPr>
                              <m:nor/>
                            </m:rPr>
                            <a:rPr lang="zh-CN" altLang="en-US" sz="2000" i="1">
                              <a:latin typeface="Cambria Math" panose="02040503050406030204" pitchFamily="18" charset="0"/>
                            </a:rPr>
                            <m:t>−</m:t>
                          </m:r>
                          <m:r>
                            <a:rPr lang="zh-CN" altLang="en-US" sz="2000" i="1">
                              <a:latin typeface="Cambria Math" panose="02040503050406030204" pitchFamily="18" charset="0"/>
                            </a:rPr>
                            <m:t>𝐶</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m:rPr>
                                  <m:sty m:val="p"/>
                                </m:rPr>
                                <a:rPr lang="zh-CN" altLang="en-US" sz="2000" i="0">
                                  <a:latin typeface="Cambria Math" panose="02040503050406030204" pitchFamily="18" charset="0"/>
                                </a:rPr>
                                <m:t>T</m:t>
                              </m:r>
                            </m:sub>
                          </m:sSub>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𝑝</m:t>
                              </m:r>
                            </m:e>
                            <m:sub>
                              <m:r>
                                <m:rPr>
                                  <m:sty m:val="p"/>
                                </m:rPr>
                                <a:rPr lang="zh-CN" altLang="en-US" sz="2000" i="0">
                                  <a:latin typeface="Cambria Math" panose="02040503050406030204" pitchFamily="18" charset="0"/>
                                </a:rPr>
                                <m:t>P</m:t>
                              </m:r>
                            </m:sub>
                            <m:sup>
                              <m:r>
                                <a:rPr lang="zh-CN" altLang="en-US" sz="2000" i="1">
                                  <a:latin typeface="Cambria Math" panose="02040503050406030204" pitchFamily="18" charset="0"/>
                                </a:rPr>
                                <m:t>𝜑</m:t>
                              </m:r>
                            </m:sup>
                          </m:sSubSup>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𝑞</m:t>
                              </m:r>
                            </m:e>
                            <m:sub>
                              <m:r>
                                <m:rPr>
                                  <m:sty m:val="p"/>
                                </m:rPr>
                                <a:rPr lang="zh-CN" altLang="en-US" sz="2000" i="0">
                                  <a:latin typeface="Cambria Math" panose="02040503050406030204" pitchFamily="18" charset="0"/>
                                </a:rPr>
                                <m:t>t</m:t>
                              </m:r>
                            </m:sub>
                          </m:sSub>
                          <m:r>
                            <m:rPr>
                              <m:nor/>
                            </m:rPr>
                            <a:rPr lang="zh-CN" altLang="en-US" sz="2000" i="1">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𝑘</m:t>
                              </m:r>
                            </m:e>
                            <m:sub>
                              <m:r>
                                <m:rPr>
                                  <m:sty m:val="p"/>
                                </m:rPr>
                                <a:rPr lang="zh-CN" altLang="en-US" sz="2000" i="0">
                                  <a:latin typeface="Cambria Math" panose="02040503050406030204" pitchFamily="18" charset="0"/>
                                </a:rPr>
                                <m:t>l</m:t>
                              </m:r>
                            </m:sub>
                          </m:sSub>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𝐹</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e>
                          </m:d>
                          <m:r>
                            <m:rPr>
                              <m:nor/>
                            </m:rPr>
                            <a:rPr lang="zh-CN" altLang="en-US" sz="2000" i="1">
                              <a:latin typeface="Cambria Math" panose="02040503050406030204" pitchFamily="18" charset="0"/>
                            </a:rPr>
                            <m:t>−</m:t>
                          </m:r>
                          <m:r>
                            <a:rPr lang="zh-CN" altLang="en-US" sz="2000" i="1">
                              <a:latin typeface="Cambria Math" panose="02040503050406030204" pitchFamily="18" charset="0"/>
                            </a:rPr>
                            <m:t>𝐶</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m:rPr>
                                  <m:sty m:val="p"/>
                                </m:rPr>
                                <a:rPr lang="zh-CN" altLang="en-US" sz="2000" i="0">
                                  <a:latin typeface="Cambria Math" panose="02040503050406030204" pitchFamily="18" charset="0"/>
                                </a:rPr>
                                <m:t>T</m:t>
                              </m:r>
                            </m:sub>
                          </m:sSub>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𝐹</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e>
                              </m:d>
                            </m:e>
                            <m:sup>
                              <m:r>
                                <a:rPr lang="zh-CN" altLang="en-US" sz="2000" i="1">
                                  <a:latin typeface="Cambria Math" panose="02040503050406030204" pitchFamily="18" charset="0"/>
                                </a:rPr>
                                <m:t>𝜑</m:t>
                              </m:r>
                            </m:sup>
                          </m:sSup>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oMath>
                  </m:oMathPara>
                </a14:m>
                <a:endParaRPr lang="zh-CN" altLang="en-US" sz="2000" dirty="0"/>
              </a:p>
            </p:txBody>
          </p:sp>
        </mc:Choice>
        <mc:Fallback xmlns="">
          <p:sp>
            <p:nvSpPr>
              <p:cNvPr id="6" name="矩形 5">
                <a:extLst>
                  <a:ext uri="{FF2B5EF4-FFF2-40B4-BE49-F238E27FC236}">
                    <a16:creationId xmlns:a16="http://schemas.microsoft.com/office/drawing/2014/main" id="{6B875472-D6FC-4457-9EA6-4C00C011A1A8}"/>
                  </a:ext>
                </a:extLst>
              </p:cNvPr>
              <p:cNvSpPr>
                <a:spLocks noRot="1" noChangeAspect="1" noMove="1" noResize="1" noEditPoints="1" noAdjustHandles="1" noChangeArrowheads="1" noChangeShapeType="1" noTextEdit="1"/>
              </p:cNvSpPr>
              <p:nvPr/>
            </p:nvSpPr>
            <p:spPr>
              <a:xfrm>
                <a:off x="-472440" y="5557598"/>
                <a:ext cx="6680200" cy="1011752"/>
              </a:xfrm>
              <a:prstGeom prst="rect">
                <a:avLst/>
              </a:prstGeom>
              <a:blipFill>
                <a:blip r:embed="rId4"/>
                <a:stretch>
                  <a:fillRect/>
                </a:stretch>
              </a:blipFill>
            </p:spPr>
            <p:txBody>
              <a:bodyPr/>
              <a:lstStyle/>
              <a:p>
                <a:r>
                  <a:rPr lang="zh-CN" altLang="en-US">
                    <a:noFill/>
                  </a:rPr>
                  <a:t> </a:t>
                </a:r>
              </a:p>
            </p:txBody>
          </p:sp>
        </mc:Fallback>
      </mc:AlternateContent>
      <p:pic>
        <p:nvPicPr>
          <p:cNvPr id="10" name="8T7.EPS" descr="id:2147506983;FounderCES">
            <a:extLst>
              <a:ext uri="{FF2B5EF4-FFF2-40B4-BE49-F238E27FC236}">
                <a16:creationId xmlns:a16="http://schemas.microsoft.com/office/drawing/2014/main" id="{375BF2EA-4099-CE96-5D17-D71BE55259C8}"/>
              </a:ext>
            </a:extLst>
          </p:cNvPr>
          <p:cNvPicPr/>
          <p:nvPr/>
        </p:nvPicPr>
        <p:blipFill>
          <a:blip r:embed="rId5" cstate="print"/>
          <a:stretch>
            <a:fillRect/>
          </a:stretch>
        </p:blipFill>
        <p:spPr>
          <a:xfrm>
            <a:off x="236616" y="1013951"/>
            <a:ext cx="4680824" cy="3705043"/>
          </a:xfrm>
          <a:prstGeom prst="rect">
            <a:avLst/>
          </a:prstGeom>
        </p:spPr>
      </p:pic>
      <p:sp>
        <p:nvSpPr>
          <p:cNvPr id="11" name="矩形 10">
            <a:extLst>
              <a:ext uri="{FF2B5EF4-FFF2-40B4-BE49-F238E27FC236}">
                <a16:creationId xmlns:a16="http://schemas.microsoft.com/office/drawing/2014/main" id="{8FE71BDF-079F-42C3-E31F-65B00F094541}"/>
              </a:ext>
            </a:extLst>
          </p:cNvPr>
          <p:cNvSpPr/>
          <p:nvPr/>
        </p:nvSpPr>
        <p:spPr>
          <a:xfrm>
            <a:off x="507748" y="4830679"/>
            <a:ext cx="3416320" cy="281937"/>
          </a:xfrm>
          <a:prstGeom prst="rect">
            <a:avLst/>
          </a:prstGeom>
        </p:spPr>
        <p:txBody>
          <a:bodyPr wrap="none">
            <a:spAutoFit/>
          </a:bodyPr>
          <a:lstStyle/>
          <a:p>
            <a:pPr indent="228600" algn="ctr">
              <a:lnSpc>
                <a:spcPts val="1350"/>
              </a:lnSpc>
              <a:spcAft>
                <a:spcPts val="0"/>
              </a:spcAft>
            </a:pPr>
            <a:r>
              <a:rPr lang="zh-CN" altLang="zh-CN" b="1" dirty="0">
                <a:solidFill>
                  <a:srgbClr val="FF0000"/>
                </a:solidFill>
                <a:latin typeface="+mj-ea"/>
                <a:ea typeface="+mj-ea"/>
              </a:rPr>
              <a:t>旁路节流调速回路的机械特性</a:t>
            </a:r>
          </a:p>
        </p:txBody>
      </p:sp>
      <p:grpSp>
        <p:nvGrpSpPr>
          <p:cNvPr id="8" name="组合 7">
            <a:extLst>
              <a:ext uri="{FF2B5EF4-FFF2-40B4-BE49-F238E27FC236}">
                <a16:creationId xmlns:a16="http://schemas.microsoft.com/office/drawing/2014/main" id="{5BB564C3-CCE3-4EBA-9991-2EE71642B2FD}"/>
              </a:ext>
            </a:extLst>
          </p:cNvPr>
          <p:cNvGrpSpPr/>
          <p:nvPr/>
        </p:nvGrpSpPr>
        <p:grpSpPr>
          <a:xfrm>
            <a:off x="5305757" y="5278436"/>
            <a:ext cx="7114204" cy="1290914"/>
            <a:chOff x="306874" y="5250704"/>
            <a:chExt cx="7114204" cy="1290914"/>
          </a:xfrm>
        </p:grpSpPr>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1432F55B-A0F0-45EA-8F9D-0DC147D3D5CB}"/>
                    </a:ext>
                  </a:extLst>
                </p:cNvPr>
                <p:cNvSpPr/>
                <p:nvPr/>
              </p:nvSpPr>
              <p:spPr>
                <a:xfrm>
                  <a:off x="306874" y="5670546"/>
                  <a:ext cx="7114204" cy="87107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𝑣</m:t>
                        </m:r>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𝑞</m:t>
                                </m:r>
                              </m:e>
                              <m:sub>
                                <m:r>
                                  <a:rPr lang="zh-CN" altLang="en-US" sz="2000" i="0">
                                    <a:latin typeface="Cambria Math" panose="02040503050406030204" pitchFamily="18" charset="0"/>
                                  </a:rPr>
                                  <m:t>1</m:t>
                                </m:r>
                              </m:sub>
                            </m:sSub>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𝐶</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m:rPr>
                                    <m:sty m:val="p"/>
                                  </m:rPr>
                                  <a:rPr lang="zh-CN" altLang="en-US" sz="2000" i="0">
                                    <a:latin typeface="Cambria Math" panose="02040503050406030204" pitchFamily="18" charset="0"/>
                                  </a:rPr>
                                  <m:t>T</m:t>
                                </m:r>
                                <m:r>
                                  <a:rPr lang="zh-CN" altLang="en-US" sz="2000" i="0">
                                    <a:latin typeface="Cambria Math" panose="02040503050406030204" pitchFamily="18" charset="0"/>
                                  </a:rPr>
                                  <m:t>1</m:t>
                                </m:r>
                              </m:sub>
                            </m:sSub>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𝑝</m:t>
                                    </m:r>
                                  </m:e>
                                  <m:sub>
                                    <m:r>
                                      <m:rPr>
                                        <m:sty m:val="p"/>
                                      </m:rPr>
                                      <a:rPr lang="zh-CN" altLang="en-US" sz="2000" i="0">
                                        <a:latin typeface="Cambria Math" panose="02040503050406030204" pitchFamily="18" charset="0"/>
                                      </a:rPr>
                                      <m:t>P</m:t>
                                    </m:r>
                                  </m:sub>
                                </m:sSub>
                                <m:r>
                                  <m:rPr>
                                    <m:nor/>
                                  </m:rPr>
                                  <a:rPr lang="zh-CN" altLang="en-US" sz="2000" i="1">
                                    <a:latin typeface="Times New Roman" panose="02020603050405020304" pitchFamily="18" charset="0"/>
                                    <a:cs typeface="Times New Roman" panose="020206030504050203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𝐹</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e>
                            </m:d>
                          </m:e>
                          <m:sup>
                            <m:r>
                              <a:rPr lang="zh-CN" altLang="en-US" sz="2000" i="1">
                                <a:latin typeface="Cambria Math" panose="02040503050406030204" pitchFamily="18" charset="0"/>
                              </a:rPr>
                              <m:t>𝜑</m:t>
                            </m:r>
                          </m:sup>
                        </m:sSup>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𝐶</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m:rPr>
                                    <m:sty m:val="p"/>
                                  </m:rPr>
                                  <a:rPr lang="zh-CN" altLang="en-US" sz="2000" i="0">
                                    <a:latin typeface="Cambria Math" panose="02040503050406030204" pitchFamily="18" charset="0"/>
                                  </a:rPr>
                                  <m:t>T</m:t>
                                </m:r>
                                <m:r>
                                  <a:rPr lang="zh-CN" altLang="en-US" sz="2000" i="0">
                                    <a:latin typeface="Cambria Math" panose="02040503050406030204" pitchFamily="18" charset="0"/>
                                  </a:rPr>
                                  <m:t>1</m:t>
                                </m:r>
                              </m:sub>
                            </m:sSub>
                            <m:r>
                              <m:rPr>
                                <m:nor/>
                              </m:rPr>
                              <a:rPr lang="zh-CN" altLang="en-US" sz="2000" i="1">
                                <a:latin typeface="Times New Roman" panose="02020603050405020304" pitchFamily="18" charset="0"/>
                                <a:cs typeface="Times New Roman" panose="020206030504050203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𝑝</m:t>
                                </m:r>
                              </m:e>
                              <m:sub>
                                <m:r>
                                  <m:rPr>
                                    <m:sty m:val="p"/>
                                  </m:rPr>
                                  <a:rPr lang="zh-CN" altLang="en-US" sz="2000" i="0">
                                    <a:latin typeface="Cambria Math" panose="02040503050406030204" pitchFamily="18" charset="0"/>
                                  </a:rPr>
                                  <m:t>P</m:t>
                                </m:r>
                              </m:sub>
                            </m:s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r>
                              <m:rPr>
                                <m:nor/>
                              </m:rPr>
                              <a:rPr lang="zh-CN" altLang="en-US" sz="2000" i="1">
                                <a:latin typeface="Times New Roman" panose="02020603050405020304" pitchFamily="18" charset="0"/>
                                <a:cs typeface="Times New Roman" panose="02020603050405020304" pitchFamily="18" charset="0"/>
                              </a:rPr>
                              <m:t>−</m:t>
                            </m:r>
                            <m:r>
                              <a:rPr lang="zh-CN" altLang="en-US" sz="2000" i="1">
                                <a:latin typeface="Cambria Math" panose="02040503050406030204" pitchFamily="18" charset="0"/>
                              </a:rPr>
                              <m:t>𝐹</m:t>
                            </m:r>
                            <m:sSup>
                              <m:sSupPr>
                                <m:ctrlPr>
                                  <a:rPr lang="zh-CN" altLang="en-US" sz="2000" i="1">
                                    <a:latin typeface="Cambria Math" panose="02040503050406030204" pitchFamily="18" charset="0"/>
                                  </a:rPr>
                                </m:ctrlPr>
                              </m:sSupPr>
                              <m:e>
                                <m:r>
                                  <m:rPr>
                                    <m:nor/>
                                  </m:rPr>
                                  <a:rPr lang="zh-CN" altLang="en-US" sz="2000" i="1">
                                    <a:latin typeface="Times New Roman" panose="02020603050405020304" pitchFamily="18" charset="0"/>
                                    <a:cs typeface="Times New Roman" panose="02020603050405020304" pitchFamily="18" charset="0"/>
                                  </a:rPr>
                                  <m:t>)</m:t>
                                </m:r>
                              </m:e>
                              <m:sup>
                                <m:r>
                                  <a:rPr lang="zh-CN" altLang="en-US" sz="2000" i="1">
                                    <a:latin typeface="Cambria Math" panose="02040503050406030204" pitchFamily="18" charset="0"/>
                                  </a:rPr>
                                  <m:t>𝜑</m:t>
                                </m:r>
                              </m:sup>
                            </m:sSup>
                          </m:num>
                          <m:den>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up>
                                <m:r>
                                  <a:rPr lang="zh-CN" altLang="en-US" sz="2000" i="0">
                                    <a:latin typeface="Cambria Math" panose="02040503050406030204" pitchFamily="18" charset="0"/>
                                  </a:rPr>
                                  <m:t>1+</m:t>
                                </m:r>
                                <m:r>
                                  <a:rPr lang="zh-CN" altLang="en-US" sz="2000" i="1">
                                    <a:latin typeface="Cambria Math" panose="02040503050406030204" pitchFamily="18" charset="0"/>
                                  </a:rPr>
                                  <m:t>𝜑</m:t>
                                </m:r>
                              </m:sup>
                            </m:sSubSup>
                          </m:den>
                        </m:f>
                      </m:oMath>
                    </m:oMathPara>
                  </a14:m>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1432F55B-A0F0-45EA-8F9D-0DC147D3D5CB}"/>
                    </a:ext>
                  </a:extLst>
                </p:cNvPr>
                <p:cNvSpPr>
                  <a:spLocks noRot="1" noChangeAspect="1" noMove="1" noResize="1" noEditPoints="1" noAdjustHandles="1" noChangeArrowheads="1" noChangeShapeType="1" noTextEdit="1"/>
                </p:cNvSpPr>
                <p:nvPr/>
              </p:nvSpPr>
              <p:spPr>
                <a:xfrm>
                  <a:off x="306874" y="5670546"/>
                  <a:ext cx="7114204" cy="871072"/>
                </a:xfrm>
                <a:prstGeom prst="rect">
                  <a:avLst/>
                </a:prstGeom>
                <a:blipFill>
                  <a:blip r:embed="rId6"/>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BAC2FBE0-2D9B-45AE-95F6-2F6414F6CDBA}"/>
                </a:ext>
              </a:extLst>
            </p:cNvPr>
            <p:cNvSpPr/>
            <p:nvPr/>
          </p:nvSpPr>
          <p:spPr>
            <a:xfrm>
              <a:off x="1382873" y="5250704"/>
              <a:ext cx="2339102" cy="461665"/>
            </a:xfrm>
            <a:prstGeom prst="rect">
              <a:avLst/>
            </a:prstGeom>
          </p:spPr>
          <p:txBody>
            <a:bodyPr wrap="none">
              <a:spAutoFit/>
            </a:bodyPr>
            <a:lstStyle/>
            <a:p>
              <a:r>
                <a:rPr lang="zh-CN" altLang="en-US" sz="2400" dirty="0">
                  <a:solidFill>
                    <a:srgbClr val="000000"/>
                  </a:solidFill>
                  <a:latin typeface="+mj-ea"/>
                  <a:cs typeface="Times New Roman" panose="02020603050405020304" pitchFamily="18" charset="0"/>
                </a:rPr>
                <a:t>定压</a:t>
              </a:r>
              <a:r>
                <a:rPr lang="zh-CN" altLang="zh-CN" sz="2400" dirty="0">
                  <a:solidFill>
                    <a:srgbClr val="000000"/>
                  </a:solidFill>
                  <a:latin typeface="+mj-ea"/>
                  <a:cs typeface="Times New Roman" panose="02020603050405020304" pitchFamily="18" charset="0"/>
                </a:rPr>
                <a:t>节流调速</a:t>
              </a:r>
              <a:r>
                <a:rPr lang="zh-CN" altLang="en-US" sz="2400" dirty="0">
                  <a:solidFill>
                    <a:srgbClr val="000000"/>
                  </a:solidFill>
                  <a:latin typeface="+mj-ea"/>
                  <a:cs typeface="Times New Roman" panose="02020603050405020304" pitchFamily="18" charset="0"/>
                </a:rPr>
                <a:t>：</a:t>
              </a:r>
              <a:endParaRPr lang="zh-CN" altLang="en-US" sz="2400" dirty="0"/>
            </a:p>
          </p:txBody>
        </p:sp>
      </p:grpSp>
      <p:pic>
        <p:nvPicPr>
          <p:cNvPr id="15" name="8T2.EPS" descr="id:2147506874;FounderCES">
            <a:extLst>
              <a:ext uri="{FF2B5EF4-FFF2-40B4-BE49-F238E27FC236}">
                <a16:creationId xmlns:a16="http://schemas.microsoft.com/office/drawing/2014/main" id="{5B1D8F29-C96C-4F94-82FE-4EA674A14043}"/>
              </a:ext>
            </a:extLst>
          </p:cNvPr>
          <p:cNvPicPr/>
          <p:nvPr/>
        </p:nvPicPr>
        <p:blipFill>
          <a:blip r:embed="rId7" cstate="print"/>
          <a:stretch>
            <a:fillRect/>
          </a:stretch>
        </p:blipFill>
        <p:spPr>
          <a:xfrm>
            <a:off x="6407478" y="1182662"/>
            <a:ext cx="4910762" cy="4095774"/>
          </a:xfrm>
          <a:prstGeom prst="rect">
            <a:avLst/>
          </a:prstGeom>
        </p:spPr>
      </p:pic>
      <p:sp>
        <p:nvSpPr>
          <p:cNvPr id="16" name="矩形 15">
            <a:extLst>
              <a:ext uri="{FF2B5EF4-FFF2-40B4-BE49-F238E27FC236}">
                <a16:creationId xmlns:a16="http://schemas.microsoft.com/office/drawing/2014/main" id="{945E5850-905D-4A57-B609-67C3F8D1D0B2}"/>
              </a:ext>
            </a:extLst>
          </p:cNvPr>
          <p:cNvSpPr/>
          <p:nvPr/>
        </p:nvSpPr>
        <p:spPr>
          <a:xfrm>
            <a:off x="507748" y="5108307"/>
            <a:ext cx="2339102" cy="461665"/>
          </a:xfrm>
          <a:prstGeom prst="rect">
            <a:avLst/>
          </a:prstGeom>
        </p:spPr>
        <p:txBody>
          <a:bodyPr wrap="none">
            <a:spAutoFit/>
          </a:bodyPr>
          <a:lstStyle/>
          <a:p>
            <a:r>
              <a:rPr lang="zh-CN" altLang="en-US" sz="2400" dirty="0">
                <a:solidFill>
                  <a:srgbClr val="000000"/>
                </a:solidFill>
                <a:latin typeface="+mj-ea"/>
                <a:cs typeface="Times New Roman" panose="02020603050405020304" pitchFamily="18" charset="0"/>
              </a:rPr>
              <a:t>变压</a:t>
            </a:r>
            <a:r>
              <a:rPr lang="zh-CN" altLang="zh-CN" sz="2400" dirty="0">
                <a:solidFill>
                  <a:srgbClr val="000000"/>
                </a:solidFill>
                <a:latin typeface="+mj-ea"/>
                <a:cs typeface="Times New Roman" panose="02020603050405020304" pitchFamily="18" charset="0"/>
              </a:rPr>
              <a:t>节流调速</a:t>
            </a:r>
            <a:r>
              <a:rPr lang="zh-CN" altLang="en-US" sz="2400" dirty="0">
                <a:solidFill>
                  <a:srgbClr val="000000"/>
                </a:solidFill>
                <a:latin typeface="+mj-ea"/>
                <a:cs typeface="Times New Roman" panose="02020603050405020304" pitchFamily="18" charset="0"/>
              </a:rPr>
              <a:t>：</a:t>
            </a:r>
            <a:endParaRPr lang="zh-CN" altLang="en-US" sz="2400" dirty="0"/>
          </a:p>
        </p:txBody>
      </p:sp>
      <p:sp>
        <p:nvSpPr>
          <p:cNvPr id="17" name="文本框 16">
            <a:extLst>
              <a:ext uri="{FF2B5EF4-FFF2-40B4-BE49-F238E27FC236}">
                <a16:creationId xmlns:a16="http://schemas.microsoft.com/office/drawing/2014/main" id="{135F8299-8F34-4AEE-BE17-8958CADB993D}"/>
              </a:ext>
            </a:extLst>
          </p:cNvPr>
          <p:cNvSpPr txBox="1"/>
          <p:nvPr/>
        </p:nvSpPr>
        <p:spPr>
          <a:xfrm>
            <a:off x="10942320" y="6535517"/>
            <a:ext cx="1249680" cy="369332"/>
          </a:xfrm>
          <a:prstGeom prst="rect">
            <a:avLst/>
          </a:prstGeom>
          <a:noFill/>
        </p:spPr>
        <p:txBody>
          <a:bodyPr wrap="square" rtlCol="0">
            <a:spAutoFit/>
          </a:bodyPr>
          <a:lstStyle/>
          <a:p>
            <a:pPr algn="r"/>
            <a:r>
              <a:rPr lang="en-US" altLang="zh-CN" dirty="0"/>
              <a:t>20/29</a:t>
            </a:r>
            <a:endParaRPr lang="zh-CN" altLang="en-US" dirty="0"/>
          </a:p>
        </p:txBody>
      </p:sp>
    </p:spTree>
    <p:extLst>
      <p:ext uri="{BB962C8B-B14F-4D97-AF65-F5344CB8AC3E}">
        <p14:creationId xmlns:p14="http://schemas.microsoft.com/office/powerpoint/2010/main" val="306074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B53AA76C-F002-43FB-8444-2E8DB5A67CCF}"/>
              </a:ext>
            </a:extLst>
          </p:cNvPr>
          <p:cNvSpPr/>
          <p:nvPr/>
        </p:nvSpPr>
        <p:spPr>
          <a:xfrm>
            <a:off x="4527785" y="1738787"/>
            <a:ext cx="5993949" cy="319446"/>
          </a:xfrm>
          <a:prstGeom prst="rect">
            <a:avLst/>
          </a:prstGeom>
        </p:spPr>
        <p:txBody>
          <a:bodyPr wrap="none">
            <a:spAutoFit/>
          </a:bodyPr>
          <a:lstStyle/>
          <a:p>
            <a:pPr indent="266700">
              <a:lnSpc>
                <a:spcPts val="1575"/>
              </a:lnSpc>
              <a:spcAft>
                <a:spcPts val="0"/>
              </a:spcAft>
            </a:pPr>
            <a:r>
              <a:rPr lang="zh-CN" altLang="zh-CN" sz="2400" dirty="0">
                <a:solidFill>
                  <a:srgbClr val="000000"/>
                </a:solidFill>
                <a:latin typeface="+mj-ea"/>
                <a:ea typeface="+mj-ea"/>
                <a:cs typeface="Times New Roman" panose="02020603050405020304" pitchFamily="18" charset="0"/>
              </a:rPr>
              <a:t>旁路节流调速回路的速度刚性表达式为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F5692DF-85FC-48A1-9B84-CF94C1F9E702}"/>
                  </a:ext>
                </a:extLst>
              </p:cNvPr>
              <p:cNvSpPr/>
              <p:nvPr/>
            </p:nvSpPr>
            <p:spPr>
              <a:xfrm>
                <a:off x="4786534" y="2333659"/>
                <a:ext cx="5476449" cy="9725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𝑘</m:t>
                          </m:r>
                        </m:e>
                        <m:sub>
                          <m:r>
                            <a:rPr lang="zh-CN" altLang="en-US" sz="2000" i="1">
                              <a:latin typeface="Cambria Math" panose="02040503050406030204" pitchFamily="18" charset="0"/>
                            </a:rPr>
                            <m:t>𝑣</m:t>
                          </m:r>
                        </m:sub>
                      </m:sSub>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r>
                            <a:rPr lang="zh-CN" altLang="en-US" sz="2000" i="1">
                              <a:latin typeface="Cambria Math" panose="02040503050406030204" pitchFamily="18" charset="0"/>
                            </a:rPr>
                            <m:t>𝐹</m:t>
                          </m:r>
                        </m:num>
                        <m:den>
                          <m:r>
                            <a:rPr lang="zh-CN" altLang="en-US" sz="2000" i="1">
                              <a:latin typeface="Cambria Math" panose="02040503050406030204" pitchFamily="18" charset="0"/>
                            </a:rPr>
                            <m:t>𝜑</m:t>
                          </m:r>
                          <m:r>
                            <m:rPr>
                              <m:nor/>
                            </m:rPr>
                            <a:rPr lang="zh-CN" altLang="en-US" sz="2000" i="1">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𝑞</m:t>
                              </m:r>
                            </m:e>
                            <m:sub>
                              <m:r>
                                <m:rPr>
                                  <m:sty m:val="p"/>
                                </m:rPr>
                                <a:rPr lang="zh-CN" altLang="en-US" sz="2000" i="0">
                                  <a:latin typeface="Cambria Math" panose="02040503050406030204" pitchFamily="18" charset="0"/>
                                </a:rPr>
                                <m:t>t</m:t>
                              </m:r>
                            </m:sub>
                          </m:sSub>
                          <m:r>
                            <m:rPr>
                              <m:nor/>
                            </m:rPr>
                            <a:rPr lang="zh-CN" altLang="en-US" sz="2000" i="1">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r>
                            <a:rPr lang="zh-CN" altLang="en-US" sz="2000" i="1">
                              <a:latin typeface="Cambria Math" panose="02040503050406030204" pitchFamily="18" charset="0"/>
                            </a:rPr>
                            <m:t>𝑣</m:t>
                          </m:r>
                          <m:r>
                            <m:rPr>
                              <m:nor/>
                            </m:rPr>
                            <a:rPr lang="zh-CN" altLang="en-US" sz="2000" i="1">
                              <a:latin typeface="Cambria Math" panose="02040503050406030204" pitchFamily="18" charset="0"/>
                            </a:rPr>
                            <m:t>)+(1−</m:t>
                          </m:r>
                          <m:r>
                            <a:rPr lang="zh-CN" altLang="en-US" sz="2000" i="1">
                              <a:latin typeface="Cambria Math" panose="02040503050406030204" pitchFamily="18" charset="0"/>
                            </a:rPr>
                            <m:t>𝜑</m:t>
                          </m:r>
                          <m:r>
                            <m:rPr>
                              <m:nor/>
                            </m:rPr>
                            <a:rPr lang="zh-CN" altLang="en-US" sz="2000" i="1">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𝑘</m:t>
                              </m:r>
                            </m:e>
                            <m:sub>
                              <m:r>
                                <m:rPr>
                                  <m:sty m:val="p"/>
                                </m:rPr>
                                <a:rPr lang="zh-CN" altLang="en-US" sz="2000" i="0">
                                  <a:latin typeface="Cambria Math" panose="02040503050406030204" pitchFamily="18" charset="0"/>
                                </a:rPr>
                                <m:t>l</m:t>
                              </m:r>
                            </m:sub>
                          </m:sSub>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𝐹</m:t>
                                  </m:r>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𝐴</m:t>
                                      </m:r>
                                    </m:e>
                                    <m:sub>
                                      <m:r>
                                        <a:rPr lang="zh-CN" altLang="en-US" sz="2000" i="0">
                                          <a:latin typeface="Cambria Math" panose="02040503050406030204" pitchFamily="18" charset="0"/>
                                        </a:rPr>
                                        <m:t>1</m:t>
                                      </m:r>
                                    </m:sub>
                                  </m:sSub>
                                </m:den>
                              </m:f>
                            </m:e>
                          </m:d>
                        </m:den>
                      </m:f>
                    </m:oMath>
                  </m:oMathPara>
                </a14:m>
                <a:endParaRPr lang="zh-CN" altLang="en-US" sz="2000" dirty="0"/>
              </a:p>
            </p:txBody>
          </p:sp>
        </mc:Choice>
        <mc:Fallback xmlns="">
          <p:sp>
            <p:nvSpPr>
              <p:cNvPr id="7" name="矩形 6">
                <a:extLst>
                  <a:ext uri="{FF2B5EF4-FFF2-40B4-BE49-F238E27FC236}">
                    <a16:creationId xmlns:a16="http://schemas.microsoft.com/office/drawing/2014/main" id="{5F5692DF-85FC-48A1-9B84-CF94C1F9E702}"/>
                  </a:ext>
                </a:extLst>
              </p:cNvPr>
              <p:cNvSpPr>
                <a:spLocks noRot="1" noChangeAspect="1" noMove="1" noResize="1" noEditPoints="1" noAdjustHandles="1" noChangeArrowheads="1" noChangeShapeType="1" noTextEdit="1"/>
              </p:cNvSpPr>
              <p:nvPr/>
            </p:nvSpPr>
            <p:spPr>
              <a:xfrm>
                <a:off x="4786534" y="2333659"/>
                <a:ext cx="5476449" cy="972510"/>
              </a:xfrm>
              <a:prstGeom prst="rect">
                <a:avLst/>
              </a:prstGeom>
              <a:blipFill>
                <a:blip r:embed="rId3"/>
                <a:stretch>
                  <a:fillRect/>
                </a:stretch>
              </a:blipFill>
            </p:spPr>
            <p:txBody>
              <a:bodyPr/>
              <a:lstStyle/>
              <a:p>
                <a:r>
                  <a:rPr lang="zh-CN" altLang="en-US">
                    <a:noFill/>
                  </a:rPr>
                  <a:t> </a:t>
                </a:r>
              </a:p>
            </p:txBody>
          </p:sp>
        </mc:Fallback>
      </mc:AlternateContent>
      <p:pic>
        <p:nvPicPr>
          <p:cNvPr id="8" name="8T7.EPS" descr="id:2147506983;FounderCES">
            <a:extLst>
              <a:ext uri="{FF2B5EF4-FFF2-40B4-BE49-F238E27FC236}">
                <a16:creationId xmlns:a16="http://schemas.microsoft.com/office/drawing/2014/main" id="{21EA3275-3BE6-425A-86C0-E3FC30FCF99D}"/>
              </a:ext>
            </a:extLst>
          </p:cNvPr>
          <p:cNvPicPr/>
          <p:nvPr/>
        </p:nvPicPr>
        <p:blipFill>
          <a:blip r:embed="rId4" cstate="print"/>
          <a:stretch>
            <a:fillRect/>
          </a:stretch>
        </p:blipFill>
        <p:spPr>
          <a:xfrm>
            <a:off x="147353" y="1833229"/>
            <a:ext cx="4380432" cy="3496734"/>
          </a:xfrm>
          <a:prstGeom prst="rect">
            <a:avLst/>
          </a:prstGeom>
        </p:spPr>
      </p:pic>
      <p:sp>
        <p:nvSpPr>
          <p:cNvPr id="9" name="矩形 8">
            <a:extLst>
              <a:ext uri="{FF2B5EF4-FFF2-40B4-BE49-F238E27FC236}">
                <a16:creationId xmlns:a16="http://schemas.microsoft.com/office/drawing/2014/main" id="{2511A58F-EFAD-4355-B046-3EA962BAE246}"/>
              </a:ext>
            </a:extLst>
          </p:cNvPr>
          <p:cNvSpPr/>
          <p:nvPr/>
        </p:nvSpPr>
        <p:spPr>
          <a:xfrm>
            <a:off x="629409" y="5419314"/>
            <a:ext cx="3416320" cy="281937"/>
          </a:xfrm>
          <a:prstGeom prst="rect">
            <a:avLst/>
          </a:prstGeom>
        </p:spPr>
        <p:txBody>
          <a:bodyPr wrap="none">
            <a:spAutoFit/>
          </a:bodyPr>
          <a:lstStyle/>
          <a:p>
            <a:pPr indent="228600" algn="ctr">
              <a:lnSpc>
                <a:spcPts val="1350"/>
              </a:lnSpc>
              <a:spcAft>
                <a:spcPts val="0"/>
              </a:spcAft>
            </a:pPr>
            <a:r>
              <a:rPr lang="zh-CN" altLang="zh-CN" b="1" dirty="0">
                <a:solidFill>
                  <a:srgbClr val="FF0000"/>
                </a:solidFill>
                <a:latin typeface="+mj-ea"/>
                <a:ea typeface="+mj-ea"/>
              </a:rPr>
              <a:t>旁路节流调速回路的机械特性</a:t>
            </a:r>
          </a:p>
        </p:txBody>
      </p:sp>
      <p:sp>
        <p:nvSpPr>
          <p:cNvPr id="11" name="矩形 10">
            <a:extLst>
              <a:ext uri="{FF2B5EF4-FFF2-40B4-BE49-F238E27FC236}">
                <a16:creationId xmlns:a16="http://schemas.microsoft.com/office/drawing/2014/main" id="{DEC80BD3-CCCA-4367-86CC-29FA61DD1BAD}"/>
              </a:ext>
            </a:extLst>
          </p:cNvPr>
          <p:cNvSpPr/>
          <p:nvPr/>
        </p:nvSpPr>
        <p:spPr>
          <a:xfrm>
            <a:off x="4732181" y="3581596"/>
            <a:ext cx="7147243" cy="2797048"/>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当节流阀通流截面积不变时</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负载越大</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速度刚性越好</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当负载一定时</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节流阀通流截面积越小</a:t>
            </a:r>
            <a:r>
              <a:rPr lang="en-US" altLang="zh-CN" sz="2400" dirty="0">
                <a:solidFill>
                  <a:srgbClr val="000000"/>
                </a:solidFill>
                <a:latin typeface="+mj-ea"/>
                <a:ea typeface="+mj-ea"/>
                <a:cs typeface="Times New Roman" panose="02020603050405020304" pitchFamily="18" charset="0"/>
              </a:rPr>
              <a:t>(</a:t>
            </a:r>
            <a:r>
              <a:rPr lang="zh-CN" altLang="zh-CN" sz="2400" b="1" dirty="0">
                <a:solidFill>
                  <a:srgbClr val="FF0000"/>
                </a:solidFill>
                <a:latin typeface="+mj-ea"/>
                <a:ea typeface="+mj-ea"/>
                <a:cs typeface="Times New Roman" panose="02020603050405020304" pitchFamily="18" charset="0"/>
              </a:rPr>
              <a:t>活塞工作速度越高</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速度刚性越好。这种回路的速度刚性是可以通过增大液压缸的有效工作面积、减小节流阀的指数、减小液压泵的泄漏系数来</a:t>
            </a:r>
            <a:r>
              <a:rPr lang="zh-CN" altLang="zh-CN" sz="2400" b="1" dirty="0">
                <a:solidFill>
                  <a:srgbClr val="003F88"/>
                </a:solidFill>
                <a:latin typeface="+mj-ea"/>
                <a:ea typeface="+mj-ea"/>
                <a:cs typeface="Times New Roman" panose="02020603050405020304" pitchFamily="18" charset="0"/>
              </a:rPr>
              <a:t>提高</a:t>
            </a:r>
            <a:r>
              <a:rPr lang="zh-CN" altLang="zh-CN" sz="2400" dirty="0">
                <a:solidFill>
                  <a:srgbClr val="000000"/>
                </a:solidFill>
                <a:latin typeface="+mj-ea"/>
                <a:ea typeface="+mj-ea"/>
                <a:cs typeface="Times New Roman" panose="02020603050405020304" pitchFamily="18" charset="0"/>
              </a:rPr>
              <a:t>的。</a:t>
            </a:r>
            <a:endParaRPr lang="zh-CN" altLang="zh-CN" sz="2400" dirty="0">
              <a:solidFill>
                <a:srgbClr val="000000"/>
              </a:solidFill>
              <a:effectLst/>
              <a:latin typeface="+mj-ea"/>
              <a:ea typeface="+mj-ea"/>
              <a:cs typeface="Times New Roman" panose="02020603050405020304" pitchFamily="18" charset="0"/>
            </a:endParaRPr>
          </a:p>
        </p:txBody>
      </p:sp>
      <p:sp>
        <p:nvSpPr>
          <p:cNvPr id="12" name="文本框 11">
            <a:extLst>
              <a:ext uri="{FF2B5EF4-FFF2-40B4-BE49-F238E27FC236}">
                <a16:creationId xmlns:a16="http://schemas.microsoft.com/office/drawing/2014/main" id="{5BE8CAB6-4AF5-4A83-BAE1-5C5F52E51B29}"/>
              </a:ext>
            </a:extLst>
          </p:cNvPr>
          <p:cNvSpPr txBox="1"/>
          <p:nvPr/>
        </p:nvSpPr>
        <p:spPr>
          <a:xfrm>
            <a:off x="10782300" y="6535517"/>
            <a:ext cx="1409700" cy="369332"/>
          </a:xfrm>
          <a:prstGeom prst="rect">
            <a:avLst/>
          </a:prstGeom>
          <a:noFill/>
        </p:spPr>
        <p:txBody>
          <a:bodyPr wrap="square" rtlCol="0">
            <a:spAutoFit/>
          </a:bodyPr>
          <a:lstStyle/>
          <a:p>
            <a:pPr algn="r"/>
            <a:r>
              <a:rPr lang="en-US" altLang="zh-CN" dirty="0"/>
              <a:t>21/29</a:t>
            </a:r>
            <a:endParaRPr lang="zh-CN" altLang="en-US" dirty="0"/>
          </a:p>
        </p:txBody>
      </p:sp>
    </p:spTree>
    <p:extLst>
      <p:ext uri="{BB962C8B-B14F-4D97-AF65-F5344CB8AC3E}">
        <p14:creationId xmlns:p14="http://schemas.microsoft.com/office/powerpoint/2010/main" val="419280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8" name="矩形 7">
            <a:extLst>
              <a:ext uri="{FF2B5EF4-FFF2-40B4-BE49-F238E27FC236}">
                <a16:creationId xmlns:a16="http://schemas.microsoft.com/office/drawing/2014/main" id="{83B13E64-495F-4B7B-8608-5148E3E4CE86}"/>
              </a:ext>
            </a:extLst>
          </p:cNvPr>
          <p:cNvSpPr/>
          <p:nvPr/>
        </p:nvSpPr>
        <p:spPr>
          <a:xfrm>
            <a:off x="-191564" y="1335207"/>
            <a:ext cx="11573933" cy="581057"/>
          </a:xfrm>
          <a:prstGeom prst="rect">
            <a:avLst/>
          </a:prstGeom>
        </p:spPr>
        <p:txBody>
          <a:bodyPr wrap="square">
            <a:spAutoFit/>
          </a:bodyPr>
          <a:lstStyle/>
          <a:p>
            <a:pPr indent="288000"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旁路节流调速回路的效率表达式为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4A0075D-BE49-4CC6-8D7E-60DF912889C6}"/>
                  </a:ext>
                </a:extLst>
              </p:cNvPr>
              <p:cNvSpPr/>
              <p:nvPr/>
            </p:nvSpPr>
            <p:spPr>
              <a:xfrm>
                <a:off x="767081" y="2012239"/>
                <a:ext cx="4327723" cy="91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𝜂</m:t>
                          </m:r>
                        </m:e>
                        <m:sub>
                          <m:r>
                            <m:rPr>
                              <m:sty m:val="p"/>
                            </m:rPr>
                            <a:rPr lang="zh-CN" altLang="en-US" sz="2400" i="0">
                              <a:latin typeface="Cambria Math" panose="02040503050406030204" pitchFamily="18" charset="0"/>
                            </a:rPr>
                            <m:t>C</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r>
                        <a:rPr lang="zh-CN" altLang="en-US" sz="2400" i="0">
                          <a:latin typeface="Cambria Math" panose="02040503050406030204" pitchFamily="18" charset="0"/>
                        </a:rPr>
                        <m:t>=1−</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up>
                              <m:r>
                                <a:rPr lang="zh-CN" altLang="en-US" sz="2400" i="1">
                                  <a:latin typeface="Cambria Math" panose="02040503050406030204" pitchFamily="18" charset="0"/>
                                </a:rPr>
                                <m:t>𝜑</m:t>
                              </m:r>
                            </m:sup>
                          </m:sSubSup>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t</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m:rPr>
                                  <m:sty m:val="p"/>
                                </m:rPr>
                                <a:rPr lang="zh-CN" altLang="en-US" sz="2400" i="0">
                                  <a:latin typeface="Cambria Math" panose="02040503050406030204" pitchFamily="18" charset="0"/>
                                </a:rPr>
                                <m:t>l</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den>
                      </m:f>
                    </m:oMath>
                  </m:oMathPara>
                </a14:m>
                <a:endParaRPr lang="zh-CN" altLang="en-US" sz="2400" dirty="0"/>
              </a:p>
            </p:txBody>
          </p:sp>
        </mc:Choice>
        <mc:Fallback xmlns="">
          <p:sp>
            <p:nvSpPr>
              <p:cNvPr id="9" name="矩形 8">
                <a:extLst>
                  <a:ext uri="{FF2B5EF4-FFF2-40B4-BE49-F238E27FC236}">
                    <a16:creationId xmlns:a16="http://schemas.microsoft.com/office/drawing/2014/main" id="{74A0075D-BE49-4CC6-8D7E-60DF912889C6}"/>
                  </a:ext>
                </a:extLst>
              </p:cNvPr>
              <p:cNvSpPr>
                <a:spLocks noRot="1" noChangeAspect="1" noMove="1" noResize="1" noEditPoints="1" noAdjustHandles="1" noChangeArrowheads="1" noChangeShapeType="1" noTextEdit="1"/>
              </p:cNvSpPr>
              <p:nvPr/>
            </p:nvSpPr>
            <p:spPr>
              <a:xfrm>
                <a:off x="767081" y="2012239"/>
                <a:ext cx="4327723" cy="914930"/>
              </a:xfrm>
              <a:prstGeom prst="rect">
                <a:avLst/>
              </a:prstGeom>
              <a:blipFill>
                <a:blip r:embed="rId3"/>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09EDF6DB-9E68-4979-879B-78E10FEB72A5}"/>
              </a:ext>
            </a:extLst>
          </p:cNvPr>
          <p:cNvSpPr/>
          <p:nvPr/>
        </p:nvSpPr>
        <p:spPr>
          <a:xfrm>
            <a:off x="454265" y="3551391"/>
            <a:ext cx="5011635" cy="2797048"/>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进入液压缸的流量越多</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活塞速度越大</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回路的效率就越高。旁路节流调速回路的效率比进口和出口节流调速回路高</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因为它的输入功率随工作压力而变化</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不是一个定值</a:t>
            </a:r>
          </a:p>
        </p:txBody>
      </p:sp>
      <p:pic>
        <p:nvPicPr>
          <p:cNvPr id="11" name="8T8.EPS">
            <a:extLst>
              <a:ext uri="{FF2B5EF4-FFF2-40B4-BE49-F238E27FC236}">
                <a16:creationId xmlns:a16="http://schemas.microsoft.com/office/drawing/2014/main" id="{6CAACD03-0D08-4C9E-B627-227B97D45991}"/>
              </a:ext>
            </a:extLst>
          </p:cNvPr>
          <p:cNvPicPr/>
          <p:nvPr/>
        </p:nvPicPr>
        <p:blipFill>
          <a:blip r:embed="rId4" cstate="print"/>
          <a:stretch>
            <a:fillRect/>
          </a:stretch>
        </p:blipFill>
        <p:spPr>
          <a:xfrm>
            <a:off x="6096000" y="2927169"/>
            <a:ext cx="2792172" cy="2987556"/>
          </a:xfrm>
          <a:prstGeom prst="rect">
            <a:avLst/>
          </a:prstGeom>
        </p:spPr>
      </p:pic>
      <p:graphicFrame>
        <p:nvGraphicFramePr>
          <p:cNvPr id="12" name="表格 11">
            <a:extLst>
              <a:ext uri="{FF2B5EF4-FFF2-40B4-BE49-F238E27FC236}">
                <a16:creationId xmlns:a16="http://schemas.microsoft.com/office/drawing/2014/main" id="{BF146E94-A3D2-429C-BAD7-16052CC01EBF}"/>
              </a:ext>
            </a:extLst>
          </p:cNvPr>
          <p:cNvGraphicFramePr>
            <a:graphicFrameLocks noGrp="1"/>
          </p:cNvGraphicFramePr>
          <p:nvPr>
            <p:extLst>
              <p:ext uri="{D42A27DB-BD31-4B8C-83A1-F6EECF244321}">
                <p14:modId xmlns:p14="http://schemas.microsoft.com/office/powerpoint/2010/main" val="147120538"/>
              </p:ext>
            </p:extLst>
          </p:nvPr>
        </p:nvGraphicFramePr>
        <p:xfrm>
          <a:off x="5970011" y="5989058"/>
          <a:ext cx="2944437" cy="548640"/>
        </p:xfrm>
        <a:graphic>
          <a:graphicData uri="http://schemas.openxmlformats.org/drawingml/2006/table">
            <a:tbl>
              <a:tblPr firstRow="1" firstCol="1" bandRow="1"/>
              <a:tblGrid>
                <a:gridCol w="2944437">
                  <a:extLst>
                    <a:ext uri="{9D8B030D-6E8A-4147-A177-3AD203B41FA5}">
                      <a16:colId xmlns:a16="http://schemas.microsoft.com/office/drawing/2014/main" val="3508956415"/>
                    </a:ext>
                  </a:extLst>
                </a:gridCol>
              </a:tblGrid>
              <a:tr h="0">
                <a:tc>
                  <a:txBody>
                    <a:bodyPr/>
                    <a:lstStyle/>
                    <a:p>
                      <a:pPr algn="ctr">
                        <a:lnSpc>
                          <a:spcPct val="100000"/>
                        </a:lnSpc>
                        <a:spcAft>
                          <a:spcPts val="0"/>
                        </a:spcAft>
                      </a:pPr>
                      <a:r>
                        <a:rPr lang="zh-CN" altLang="en-US" sz="1800" b="1" kern="1200" dirty="0">
                          <a:solidFill>
                            <a:srgbClr val="FF0000"/>
                          </a:solidFill>
                          <a:latin typeface="+mj-ea"/>
                          <a:ea typeface="+mj-ea"/>
                          <a:cs typeface="+mn-cs"/>
                        </a:rPr>
                        <a:t>旁路节流调速回路</a:t>
                      </a:r>
                    </a:p>
                    <a:p>
                      <a:pPr algn="ctr">
                        <a:lnSpc>
                          <a:spcPct val="100000"/>
                        </a:lnSpc>
                        <a:spcAft>
                          <a:spcPts val="0"/>
                        </a:spcAft>
                      </a:pPr>
                      <a:r>
                        <a:rPr lang="zh-CN" altLang="en-US" sz="1800" b="1" kern="1200" dirty="0">
                          <a:solidFill>
                            <a:srgbClr val="FF0000"/>
                          </a:solidFill>
                          <a:latin typeface="+mj-ea"/>
                          <a:ea typeface="+mj-ea"/>
                          <a:cs typeface="+mn-cs"/>
                        </a:rPr>
                        <a:t>在恒载下的功率特性</a:t>
                      </a:r>
                    </a:p>
                  </a:txBody>
                  <a:tcPr marL="0" marR="0" marT="0" marB="0" anchor="ctr">
                    <a:lnL>
                      <a:noFill/>
                    </a:lnL>
                    <a:lnR>
                      <a:noFill/>
                    </a:lnR>
                    <a:lnT>
                      <a:noFill/>
                    </a:lnT>
                    <a:lnB>
                      <a:noFill/>
                    </a:lnB>
                  </a:tcPr>
                </a:tc>
                <a:extLst>
                  <a:ext uri="{0D108BD9-81ED-4DB2-BD59-A6C34878D82A}">
                    <a16:rowId xmlns:a16="http://schemas.microsoft.com/office/drawing/2014/main" val="2443089195"/>
                  </a:ext>
                </a:extLst>
              </a:tr>
            </a:tbl>
          </a:graphicData>
        </a:graphic>
      </p:graphicFrame>
      <p:pic>
        <p:nvPicPr>
          <p:cNvPr id="13" name="8T9.EPS">
            <a:extLst>
              <a:ext uri="{FF2B5EF4-FFF2-40B4-BE49-F238E27FC236}">
                <a16:creationId xmlns:a16="http://schemas.microsoft.com/office/drawing/2014/main" id="{61DC6EF6-0CC1-4AF9-A827-BDA78240FF68}"/>
              </a:ext>
            </a:extLst>
          </p:cNvPr>
          <p:cNvPicPr/>
          <p:nvPr/>
        </p:nvPicPr>
        <p:blipFill>
          <a:blip r:embed="rId5" cstate="print"/>
          <a:stretch>
            <a:fillRect/>
          </a:stretch>
        </p:blipFill>
        <p:spPr>
          <a:xfrm>
            <a:off x="8979846" y="3424143"/>
            <a:ext cx="3142020" cy="2564915"/>
          </a:xfrm>
          <a:prstGeom prst="rect">
            <a:avLst/>
          </a:prstGeom>
        </p:spPr>
      </p:pic>
      <p:sp>
        <p:nvSpPr>
          <p:cNvPr id="15" name="圆角矩形 3">
            <a:extLst>
              <a:ext uri="{FF2B5EF4-FFF2-40B4-BE49-F238E27FC236}">
                <a16:creationId xmlns:a16="http://schemas.microsoft.com/office/drawing/2014/main" id="{EEEECA32-2379-4ADE-9461-5433F8C1B1FB}"/>
              </a:ext>
            </a:extLst>
          </p:cNvPr>
          <p:cNvSpPr/>
          <p:nvPr/>
        </p:nvSpPr>
        <p:spPr>
          <a:xfrm>
            <a:off x="142556" y="3304298"/>
            <a:ext cx="5581021" cy="3291235"/>
          </a:xfrm>
          <a:prstGeom prst="roundRect">
            <a:avLst>
              <a:gd name="adj" fmla="val 18007"/>
            </a:avLst>
          </a:prstGeom>
          <a:noFill/>
          <a:ln>
            <a:solidFill>
              <a:srgbClr val="1849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graphicFrame>
        <p:nvGraphicFramePr>
          <p:cNvPr id="16" name="表格 15">
            <a:extLst>
              <a:ext uri="{FF2B5EF4-FFF2-40B4-BE49-F238E27FC236}">
                <a16:creationId xmlns:a16="http://schemas.microsoft.com/office/drawing/2014/main" id="{BF146E94-A3D2-429C-BAD7-16052CC01EBF}"/>
              </a:ext>
            </a:extLst>
          </p:cNvPr>
          <p:cNvGraphicFramePr>
            <a:graphicFrameLocks noGrp="1"/>
          </p:cNvGraphicFramePr>
          <p:nvPr>
            <p:extLst>
              <p:ext uri="{D42A27DB-BD31-4B8C-83A1-F6EECF244321}">
                <p14:modId xmlns:p14="http://schemas.microsoft.com/office/powerpoint/2010/main" val="2440099997"/>
              </p:ext>
            </p:extLst>
          </p:nvPr>
        </p:nvGraphicFramePr>
        <p:xfrm>
          <a:off x="9153856" y="6031533"/>
          <a:ext cx="2794001" cy="548640"/>
        </p:xfrm>
        <a:graphic>
          <a:graphicData uri="http://schemas.openxmlformats.org/drawingml/2006/table">
            <a:tbl>
              <a:tblPr firstRow="1" firstCol="1" bandRow="1"/>
              <a:tblGrid>
                <a:gridCol w="2794001">
                  <a:extLst>
                    <a:ext uri="{9D8B030D-6E8A-4147-A177-3AD203B41FA5}">
                      <a16:colId xmlns:a16="http://schemas.microsoft.com/office/drawing/2014/main" val="3508956415"/>
                    </a:ext>
                  </a:extLst>
                </a:gridCol>
              </a:tblGrid>
              <a:tr h="0">
                <a:tc>
                  <a:txBody>
                    <a:bodyPr/>
                    <a:lstStyle/>
                    <a:p>
                      <a:pPr algn="ctr">
                        <a:lnSpc>
                          <a:spcPct val="100000"/>
                        </a:lnSpc>
                        <a:spcAft>
                          <a:spcPts val="0"/>
                        </a:spcAft>
                      </a:pPr>
                      <a:r>
                        <a:rPr lang="zh-CN" altLang="en-US" sz="1800" b="1" kern="1200" dirty="0">
                          <a:solidFill>
                            <a:srgbClr val="FF0000"/>
                          </a:solidFill>
                          <a:latin typeface="+mj-ea"/>
                          <a:ea typeface="+mj-ea"/>
                          <a:cs typeface="+mn-cs"/>
                        </a:rPr>
                        <a:t>使用节流阀的旁路节流调速回路在变载下的功率特性</a:t>
                      </a:r>
                    </a:p>
                  </a:txBody>
                  <a:tcPr marL="0" marR="0" marT="0" marB="0" anchor="ctr">
                    <a:lnL>
                      <a:noFill/>
                    </a:lnL>
                    <a:lnR>
                      <a:noFill/>
                    </a:lnR>
                    <a:lnT>
                      <a:noFill/>
                    </a:lnT>
                    <a:lnB>
                      <a:noFill/>
                    </a:lnB>
                  </a:tcPr>
                </a:tc>
                <a:extLst>
                  <a:ext uri="{0D108BD9-81ED-4DB2-BD59-A6C34878D82A}">
                    <a16:rowId xmlns:a16="http://schemas.microsoft.com/office/drawing/2014/main" val="2443089195"/>
                  </a:ext>
                </a:extLst>
              </a:tr>
            </a:tbl>
          </a:graphicData>
        </a:graphic>
      </p:graphicFrame>
      <p:sp>
        <p:nvSpPr>
          <p:cNvPr id="7" name="文本框 6">
            <a:extLst>
              <a:ext uri="{FF2B5EF4-FFF2-40B4-BE49-F238E27FC236}">
                <a16:creationId xmlns:a16="http://schemas.microsoft.com/office/drawing/2014/main" id="{8D519244-A949-4828-3760-2E14F6A8F429}"/>
              </a:ext>
            </a:extLst>
          </p:cNvPr>
          <p:cNvSpPr txBox="1"/>
          <p:nvPr/>
        </p:nvSpPr>
        <p:spPr>
          <a:xfrm>
            <a:off x="6096000" y="1419516"/>
            <a:ext cx="6121400" cy="830997"/>
          </a:xfrm>
          <a:prstGeom prst="rect">
            <a:avLst/>
          </a:prstGeom>
          <a:noFill/>
        </p:spPr>
        <p:txBody>
          <a:bodyPr wrap="square">
            <a:spAutoFit/>
          </a:bodyPr>
          <a:lstStyle/>
          <a:p>
            <a:r>
              <a:rPr lang="zh-CN" altLang="zh-CN" sz="2400" dirty="0">
                <a:solidFill>
                  <a:srgbClr val="000000"/>
                </a:solidFill>
                <a:latin typeface="+mj-ea"/>
                <a:ea typeface="+mj-ea"/>
                <a:cs typeface="Times New Roman" panose="02020603050405020304" pitchFamily="18" charset="0"/>
              </a:rPr>
              <a:t>旁路节流调速回路在恒载和变载下工作时的功率特性</a:t>
            </a:r>
            <a:endParaRPr lang="zh-CN" altLang="en-US" sz="2400" dirty="0">
              <a:solidFill>
                <a:srgbClr val="000000"/>
              </a:solidFill>
              <a:latin typeface="+mj-ea"/>
              <a:ea typeface="+mj-ea"/>
              <a:cs typeface="Times New Roman" panose="02020603050405020304" pitchFamily="18" charset="0"/>
            </a:endParaRPr>
          </a:p>
        </p:txBody>
      </p:sp>
      <p:sp>
        <p:nvSpPr>
          <p:cNvPr id="17" name="文本框 16">
            <a:extLst>
              <a:ext uri="{FF2B5EF4-FFF2-40B4-BE49-F238E27FC236}">
                <a16:creationId xmlns:a16="http://schemas.microsoft.com/office/drawing/2014/main" id="{41E6A8FD-54F9-4EF1-9209-4698345B4345}"/>
              </a:ext>
            </a:extLst>
          </p:cNvPr>
          <p:cNvSpPr txBox="1"/>
          <p:nvPr/>
        </p:nvSpPr>
        <p:spPr>
          <a:xfrm>
            <a:off x="11155680" y="6535517"/>
            <a:ext cx="1036320" cy="369332"/>
          </a:xfrm>
          <a:prstGeom prst="rect">
            <a:avLst/>
          </a:prstGeom>
          <a:noFill/>
        </p:spPr>
        <p:txBody>
          <a:bodyPr wrap="square" rtlCol="0">
            <a:spAutoFit/>
          </a:bodyPr>
          <a:lstStyle/>
          <a:p>
            <a:pPr algn="r"/>
            <a:r>
              <a:rPr lang="en-US" altLang="zh-CN" dirty="0"/>
              <a:t>22/29</a:t>
            </a:r>
            <a:endParaRPr lang="zh-CN" altLang="en-US" dirty="0"/>
          </a:p>
        </p:txBody>
      </p:sp>
    </p:spTree>
    <p:extLst>
      <p:ext uri="{BB962C8B-B14F-4D97-AF65-F5344CB8AC3E}">
        <p14:creationId xmlns:p14="http://schemas.microsoft.com/office/powerpoint/2010/main" val="930704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8" name="矩形 7">
            <a:extLst>
              <a:ext uri="{FF2B5EF4-FFF2-40B4-BE49-F238E27FC236}">
                <a16:creationId xmlns:a16="http://schemas.microsoft.com/office/drawing/2014/main" id="{83B13E64-495F-4B7B-8608-5148E3E4CE86}"/>
              </a:ext>
            </a:extLst>
          </p:cNvPr>
          <p:cNvSpPr/>
          <p:nvPr/>
        </p:nvSpPr>
        <p:spPr>
          <a:xfrm>
            <a:off x="-191564" y="1335207"/>
            <a:ext cx="11573933" cy="581057"/>
          </a:xfrm>
          <a:prstGeom prst="rect">
            <a:avLst/>
          </a:prstGeom>
        </p:spPr>
        <p:txBody>
          <a:bodyPr wrap="square">
            <a:spAutoFit/>
          </a:bodyPr>
          <a:lstStyle/>
          <a:p>
            <a:pPr indent="288000"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旁路节流调速回路的效率表达式为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4A0075D-BE49-4CC6-8D7E-60DF912889C6}"/>
                  </a:ext>
                </a:extLst>
              </p:cNvPr>
              <p:cNvSpPr/>
              <p:nvPr/>
            </p:nvSpPr>
            <p:spPr>
              <a:xfrm>
                <a:off x="767081" y="2012239"/>
                <a:ext cx="4327723" cy="91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𝜂</m:t>
                          </m:r>
                        </m:e>
                        <m:sub>
                          <m:r>
                            <m:rPr>
                              <m:sty m:val="p"/>
                            </m:rPr>
                            <a:rPr lang="zh-CN" altLang="en-US" sz="2400" i="0">
                              <a:latin typeface="Cambria Math" panose="02040503050406030204" pitchFamily="18" charset="0"/>
                            </a:rPr>
                            <m:t>C</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r>
                        <a:rPr lang="zh-CN" altLang="en-US" sz="2400" i="0">
                          <a:latin typeface="Cambria Math" panose="02040503050406030204" pitchFamily="18" charset="0"/>
                        </a:rPr>
                        <m:t>=1−</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up>
                              <m:r>
                                <a:rPr lang="zh-CN" altLang="en-US" sz="2400" i="1">
                                  <a:latin typeface="Cambria Math" panose="02040503050406030204" pitchFamily="18" charset="0"/>
                                </a:rPr>
                                <m:t>𝜑</m:t>
                              </m:r>
                            </m:sup>
                          </m:sSubSup>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t</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m:rPr>
                                  <m:sty m:val="p"/>
                                </m:rPr>
                                <a:rPr lang="zh-CN" altLang="en-US" sz="2400" i="0">
                                  <a:latin typeface="Cambria Math" panose="02040503050406030204" pitchFamily="18" charset="0"/>
                                </a:rPr>
                                <m:t>l</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den>
                      </m:f>
                    </m:oMath>
                  </m:oMathPara>
                </a14:m>
                <a:endParaRPr lang="zh-CN" altLang="en-US" sz="2400" dirty="0"/>
              </a:p>
            </p:txBody>
          </p:sp>
        </mc:Choice>
        <mc:Fallback xmlns="">
          <p:sp>
            <p:nvSpPr>
              <p:cNvPr id="9" name="矩形 8">
                <a:extLst>
                  <a:ext uri="{FF2B5EF4-FFF2-40B4-BE49-F238E27FC236}">
                    <a16:creationId xmlns:a16="http://schemas.microsoft.com/office/drawing/2014/main" id="{74A0075D-BE49-4CC6-8D7E-60DF912889C6}"/>
                  </a:ext>
                </a:extLst>
              </p:cNvPr>
              <p:cNvSpPr>
                <a:spLocks noRot="1" noChangeAspect="1" noMove="1" noResize="1" noEditPoints="1" noAdjustHandles="1" noChangeArrowheads="1" noChangeShapeType="1" noTextEdit="1"/>
              </p:cNvSpPr>
              <p:nvPr/>
            </p:nvSpPr>
            <p:spPr>
              <a:xfrm>
                <a:off x="767081" y="2012239"/>
                <a:ext cx="4327723" cy="914930"/>
              </a:xfrm>
              <a:prstGeom prst="rect">
                <a:avLst/>
              </a:prstGeom>
              <a:blipFill>
                <a:blip r:embed="rId3"/>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09EDF6DB-9E68-4979-879B-78E10FEB72A5}"/>
              </a:ext>
            </a:extLst>
          </p:cNvPr>
          <p:cNvSpPr/>
          <p:nvPr/>
        </p:nvSpPr>
        <p:spPr>
          <a:xfrm>
            <a:off x="454265" y="3551391"/>
            <a:ext cx="5011635" cy="2797048"/>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进入液压缸的流量越多</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活塞速度越大</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回路的效率就越高。旁路节流调速回路的效率比进口和出口节流调速回路高</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因为它的输入功率随工作压力而变化</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不是一个定值</a:t>
            </a:r>
          </a:p>
        </p:txBody>
      </p:sp>
      <p:pic>
        <p:nvPicPr>
          <p:cNvPr id="11" name="8T8.EPS">
            <a:extLst>
              <a:ext uri="{FF2B5EF4-FFF2-40B4-BE49-F238E27FC236}">
                <a16:creationId xmlns:a16="http://schemas.microsoft.com/office/drawing/2014/main" id="{6CAACD03-0D08-4C9E-B627-227B97D45991}"/>
              </a:ext>
            </a:extLst>
          </p:cNvPr>
          <p:cNvPicPr/>
          <p:nvPr/>
        </p:nvPicPr>
        <p:blipFill>
          <a:blip r:embed="rId4" cstate="print"/>
          <a:stretch>
            <a:fillRect/>
          </a:stretch>
        </p:blipFill>
        <p:spPr>
          <a:xfrm>
            <a:off x="6035286" y="2927169"/>
            <a:ext cx="2792172" cy="2987556"/>
          </a:xfrm>
          <a:prstGeom prst="rect">
            <a:avLst/>
          </a:prstGeom>
        </p:spPr>
      </p:pic>
      <p:graphicFrame>
        <p:nvGraphicFramePr>
          <p:cNvPr id="12" name="表格 11">
            <a:extLst>
              <a:ext uri="{FF2B5EF4-FFF2-40B4-BE49-F238E27FC236}">
                <a16:creationId xmlns:a16="http://schemas.microsoft.com/office/drawing/2014/main" id="{BF146E94-A3D2-429C-BAD7-16052CC01EBF}"/>
              </a:ext>
            </a:extLst>
          </p:cNvPr>
          <p:cNvGraphicFramePr>
            <a:graphicFrameLocks noGrp="1"/>
          </p:cNvGraphicFramePr>
          <p:nvPr>
            <p:extLst>
              <p:ext uri="{D42A27DB-BD31-4B8C-83A1-F6EECF244321}">
                <p14:modId xmlns:p14="http://schemas.microsoft.com/office/powerpoint/2010/main" val="3205521613"/>
              </p:ext>
            </p:extLst>
          </p:nvPr>
        </p:nvGraphicFramePr>
        <p:xfrm>
          <a:off x="5970011" y="5914839"/>
          <a:ext cx="2944437" cy="548640"/>
        </p:xfrm>
        <a:graphic>
          <a:graphicData uri="http://schemas.openxmlformats.org/drawingml/2006/table">
            <a:tbl>
              <a:tblPr firstRow="1" firstCol="1" bandRow="1"/>
              <a:tblGrid>
                <a:gridCol w="2944437">
                  <a:extLst>
                    <a:ext uri="{9D8B030D-6E8A-4147-A177-3AD203B41FA5}">
                      <a16:colId xmlns:a16="http://schemas.microsoft.com/office/drawing/2014/main" val="3508956415"/>
                    </a:ext>
                  </a:extLst>
                </a:gridCol>
              </a:tblGrid>
              <a:tr h="0">
                <a:tc>
                  <a:txBody>
                    <a:bodyPr/>
                    <a:lstStyle/>
                    <a:p>
                      <a:pPr algn="ctr">
                        <a:lnSpc>
                          <a:spcPct val="100000"/>
                        </a:lnSpc>
                        <a:spcAft>
                          <a:spcPts val="0"/>
                        </a:spcAft>
                      </a:pPr>
                      <a:r>
                        <a:rPr lang="zh-CN" altLang="en-US" sz="1800" b="1" kern="1200" dirty="0">
                          <a:solidFill>
                            <a:srgbClr val="FF0000"/>
                          </a:solidFill>
                          <a:latin typeface="+mj-ea"/>
                          <a:ea typeface="+mj-ea"/>
                          <a:cs typeface="+mn-cs"/>
                        </a:rPr>
                        <a:t>旁路节流调速回路</a:t>
                      </a:r>
                    </a:p>
                    <a:p>
                      <a:pPr algn="ctr">
                        <a:lnSpc>
                          <a:spcPct val="100000"/>
                        </a:lnSpc>
                        <a:spcAft>
                          <a:spcPts val="0"/>
                        </a:spcAft>
                      </a:pPr>
                      <a:r>
                        <a:rPr lang="zh-CN" altLang="en-US" sz="1800" b="1" kern="1200" dirty="0">
                          <a:solidFill>
                            <a:srgbClr val="FF0000"/>
                          </a:solidFill>
                          <a:latin typeface="+mj-ea"/>
                          <a:ea typeface="+mj-ea"/>
                          <a:cs typeface="+mn-cs"/>
                        </a:rPr>
                        <a:t>在恒载下的功率特性</a:t>
                      </a:r>
                    </a:p>
                  </a:txBody>
                  <a:tcPr marL="0" marR="0" marT="0" marB="0" anchor="ctr">
                    <a:lnL>
                      <a:noFill/>
                    </a:lnL>
                    <a:lnR>
                      <a:noFill/>
                    </a:lnR>
                    <a:lnT>
                      <a:noFill/>
                    </a:lnT>
                    <a:lnB>
                      <a:noFill/>
                    </a:lnB>
                  </a:tcPr>
                </a:tc>
                <a:extLst>
                  <a:ext uri="{0D108BD9-81ED-4DB2-BD59-A6C34878D82A}">
                    <a16:rowId xmlns:a16="http://schemas.microsoft.com/office/drawing/2014/main" val="2443089195"/>
                  </a:ext>
                </a:extLst>
              </a:tr>
            </a:tbl>
          </a:graphicData>
        </a:graphic>
      </p:graphicFrame>
      <p:sp>
        <p:nvSpPr>
          <p:cNvPr id="15" name="圆角矩形 3">
            <a:extLst>
              <a:ext uri="{FF2B5EF4-FFF2-40B4-BE49-F238E27FC236}">
                <a16:creationId xmlns:a16="http://schemas.microsoft.com/office/drawing/2014/main" id="{EEEECA32-2379-4ADE-9461-5433F8C1B1FB}"/>
              </a:ext>
            </a:extLst>
          </p:cNvPr>
          <p:cNvSpPr/>
          <p:nvPr/>
        </p:nvSpPr>
        <p:spPr>
          <a:xfrm>
            <a:off x="142556" y="3304298"/>
            <a:ext cx="5581021" cy="3291235"/>
          </a:xfrm>
          <a:prstGeom prst="roundRect">
            <a:avLst>
              <a:gd name="adj" fmla="val 18007"/>
            </a:avLst>
          </a:prstGeom>
          <a:noFill/>
          <a:ln>
            <a:solidFill>
              <a:srgbClr val="1849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sp>
        <p:nvSpPr>
          <p:cNvPr id="7" name="文本框 6">
            <a:extLst>
              <a:ext uri="{FF2B5EF4-FFF2-40B4-BE49-F238E27FC236}">
                <a16:creationId xmlns:a16="http://schemas.microsoft.com/office/drawing/2014/main" id="{8D519244-A949-4828-3760-2E14F6A8F429}"/>
              </a:ext>
            </a:extLst>
          </p:cNvPr>
          <p:cNvSpPr txBox="1"/>
          <p:nvPr/>
        </p:nvSpPr>
        <p:spPr>
          <a:xfrm>
            <a:off x="6096000" y="1419516"/>
            <a:ext cx="6121400" cy="830997"/>
          </a:xfrm>
          <a:prstGeom prst="rect">
            <a:avLst/>
          </a:prstGeom>
          <a:noFill/>
        </p:spPr>
        <p:txBody>
          <a:bodyPr wrap="square">
            <a:spAutoFit/>
          </a:bodyPr>
          <a:lstStyle/>
          <a:p>
            <a:r>
              <a:rPr lang="zh-CN" altLang="zh-CN" sz="2400" dirty="0">
                <a:solidFill>
                  <a:srgbClr val="000000"/>
                </a:solidFill>
                <a:latin typeface="+mj-ea"/>
                <a:ea typeface="+mj-ea"/>
                <a:cs typeface="Times New Roman" panose="02020603050405020304" pitchFamily="18" charset="0"/>
              </a:rPr>
              <a:t>旁路节流调速回路在恒载和变载下工作时的功率特性</a:t>
            </a:r>
            <a:endParaRPr lang="zh-CN" altLang="en-US" sz="2400" dirty="0">
              <a:solidFill>
                <a:srgbClr val="000000"/>
              </a:solidFill>
              <a:latin typeface="+mj-ea"/>
              <a:ea typeface="+mj-ea"/>
              <a:cs typeface="Times New Roman" panose="02020603050405020304" pitchFamily="18" charset="0"/>
            </a:endParaRPr>
          </a:p>
        </p:txBody>
      </p:sp>
      <p:pic>
        <p:nvPicPr>
          <p:cNvPr id="17" name="8T3.EPS">
            <a:extLst>
              <a:ext uri="{FF2B5EF4-FFF2-40B4-BE49-F238E27FC236}">
                <a16:creationId xmlns:a16="http://schemas.microsoft.com/office/drawing/2014/main" id="{50899F76-5D9F-45D0-9501-93148B277591}"/>
              </a:ext>
            </a:extLst>
          </p:cNvPr>
          <p:cNvPicPr/>
          <p:nvPr/>
        </p:nvPicPr>
        <p:blipFill>
          <a:blip r:embed="rId5" cstate="print"/>
          <a:stretch>
            <a:fillRect/>
          </a:stretch>
        </p:blipFill>
        <p:spPr>
          <a:xfrm>
            <a:off x="8914448" y="3150400"/>
            <a:ext cx="3210189" cy="2764325"/>
          </a:xfrm>
          <a:prstGeom prst="rect">
            <a:avLst/>
          </a:prstGeom>
        </p:spPr>
      </p:pic>
      <p:sp>
        <p:nvSpPr>
          <p:cNvPr id="18" name="矩形 17">
            <a:extLst>
              <a:ext uri="{FF2B5EF4-FFF2-40B4-BE49-F238E27FC236}">
                <a16:creationId xmlns:a16="http://schemas.microsoft.com/office/drawing/2014/main" id="{E017D4AF-9AA7-435A-891B-D387E135755F}"/>
              </a:ext>
            </a:extLst>
          </p:cNvPr>
          <p:cNvSpPr/>
          <p:nvPr/>
        </p:nvSpPr>
        <p:spPr>
          <a:xfrm>
            <a:off x="8981384" y="5914725"/>
            <a:ext cx="2951912" cy="548868"/>
          </a:xfrm>
          <a:prstGeom prst="rect">
            <a:avLst/>
          </a:prstGeom>
        </p:spPr>
        <p:txBody>
          <a:bodyPr wrap="square">
            <a:spAutoFit/>
          </a:bodyPr>
          <a:lstStyle/>
          <a:p>
            <a:pPr algn="ctr">
              <a:lnSpc>
                <a:spcPts val="1350"/>
              </a:lnSpc>
              <a:spcAft>
                <a:spcPts val="0"/>
              </a:spcAft>
            </a:pPr>
            <a:r>
              <a:rPr lang="zh-CN" altLang="zh-CN" b="1" dirty="0">
                <a:solidFill>
                  <a:srgbClr val="FF0000"/>
                </a:solidFill>
                <a:latin typeface="+mj-ea"/>
                <a:ea typeface="+mj-ea"/>
              </a:rPr>
              <a:t>定压式进口速回路</a:t>
            </a:r>
          </a:p>
          <a:p>
            <a:pPr algn="ctr"/>
            <a:r>
              <a:rPr lang="zh-CN" altLang="zh-CN" b="1" dirty="0">
                <a:solidFill>
                  <a:srgbClr val="FF0000"/>
                </a:solidFill>
                <a:latin typeface="+mj-ea"/>
                <a:ea typeface="+mj-ea"/>
              </a:rPr>
              <a:t>在恒载下的功率特性</a:t>
            </a:r>
            <a:endParaRPr lang="zh-CN" altLang="en-US" b="1" dirty="0">
              <a:solidFill>
                <a:srgbClr val="FF0000"/>
              </a:solidFill>
              <a:latin typeface="+mj-ea"/>
              <a:ea typeface="+mj-ea"/>
            </a:endParaRPr>
          </a:p>
        </p:txBody>
      </p:sp>
      <p:sp>
        <p:nvSpPr>
          <p:cNvPr id="6" name="文本框 5">
            <a:extLst>
              <a:ext uri="{FF2B5EF4-FFF2-40B4-BE49-F238E27FC236}">
                <a16:creationId xmlns:a16="http://schemas.microsoft.com/office/drawing/2014/main" id="{788D5E27-8C6B-4A6B-A578-31BFFB2B4324}"/>
              </a:ext>
            </a:extLst>
          </p:cNvPr>
          <p:cNvSpPr txBox="1"/>
          <p:nvPr/>
        </p:nvSpPr>
        <p:spPr>
          <a:xfrm>
            <a:off x="11103631" y="3059668"/>
            <a:ext cx="1107996" cy="369332"/>
          </a:xfrm>
          <a:prstGeom prst="rect">
            <a:avLst/>
          </a:prstGeom>
          <a:noFill/>
        </p:spPr>
        <p:txBody>
          <a:bodyPr wrap="none" rtlCol="0">
            <a:spAutoFit/>
          </a:bodyPr>
          <a:lstStyle/>
          <a:p>
            <a:r>
              <a:rPr lang="zh-CN" altLang="en-US" dirty="0"/>
              <a:t>必须溢流</a:t>
            </a:r>
          </a:p>
        </p:txBody>
      </p:sp>
      <p:sp>
        <p:nvSpPr>
          <p:cNvPr id="19" name="文本框 18">
            <a:extLst>
              <a:ext uri="{FF2B5EF4-FFF2-40B4-BE49-F238E27FC236}">
                <a16:creationId xmlns:a16="http://schemas.microsoft.com/office/drawing/2014/main" id="{D67F942F-8AAD-45D4-8BEC-C1D36003ED43}"/>
              </a:ext>
            </a:extLst>
          </p:cNvPr>
          <p:cNvSpPr txBox="1"/>
          <p:nvPr/>
        </p:nvSpPr>
        <p:spPr>
          <a:xfrm>
            <a:off x="7705692" y="3119632"/>
            <a:ext cx="877163" cy="369332"/>
          </a:xfrm>
          <a:prstGeom prst="rect">
            <a:avLst/>
          </a:prstGeom>
          <a:noFill/>
        </p:spPr>
        <p:txBody>
          <a:bodyPr wrap="none" rtlCol="0">
            <a:spAutoFit/>
          </a:bodyPr>
          <a:lstStyle/>
          <a:p>
            <a:r>
              <a:rPr lang="zh-CN" altLang="en-US" dirty="0"/>
              <a:t>无溢流</a:t>
            </a:r>
          </a:p>
        </p:txBody>
      </p:sp>
      <p:sp>
        <p:nvSpPr>
          <p:cNvPr id="20" name="文本框 19">
            <a:extLst>
              <a:ext uri="{FF2B5EF4-FFF2-40B4-BE49-F238E27FC236}">
                <a16:creationId xmlns:a16="http://schemas.microsoft.com/office/drawing/2014/main" id="{CAA6FA9E-5D5A-4744-A91D-C02B039BBE41}"/>
              </a:ext>
            </a:extLst>
          </p:cNvPr>
          <p:cNvSpPr txBox="1"/>
          <p:nvPr/>
        </p:nvSpPr>
        <p:spPr>
          <a:xfrm>
            <a:off x="11103631" y="6535517"/>
            <a:ext cx="1088369" cy="369332"/>
          </a:xfrm>
          <a:prstGeom prst="rect">
            <a:avLst/>
          </a:prstGeom>
          <a:noFill/>
        </p:spPr>
        <p:txBody>
          <a:bodyPr wrap="square" rtlCol="0">
            <a:spAutoFit/>
          </a:bodyPr>
          <a:lstStyle/>
          <a:p>
            <a:pPr algn="r"/>
            <a:r>
              <a:rPr lang="en-US" altLang="zh-CN" dirty="0"/>
              <a:t>23/29</a:t>
            </a:r>
            <a:endParaRPr lang="zh-CN" altLang="en-US" dirty="0"/>
          </a:p>
        </p:txBody>
      </p:sp>
    </p:spTree>
    <p:extLst>
      <p:ext uri="{BB962C8B-B14F-4D97-AF65-F5344CB8AC3E}">
        <p14:creationId xmlns:p14="http://schemas.microsoft.com/office/powerpoint/2010/main" val="1973373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8" name="矩形 7">
            <a:extLst>
              <a:ext uri="{FF2B5EF4-FFF2-40B4-BE49-F238E27FC236}">
                <a16:creationId xmlns:a16="http://schemas.microsoft.com/office/drawing/2014/main" id="{83B13E64-495F-4B7B-8608-5148E3E4CE86}"/>
              </a:ext>
            </a:extLst>
          </p:cNvPr>
          <p:cNvSpPr/>
          <p:nvPr/>
        </p:nvSpPr>
        <p:spPr>
          <a:xfrm>
            <a:off x="-191564" y="1335207"/>
            <a:ext cx="11573933" cy="581057"/>
          </a:xfrm>
          <a:prstGeom prst="rect">
            <a:avLst/>
          </a:prstGeom>
        </p:spPr>
        <p:txBody>
          <a:bodyPr wrap="square">
            <a:spAutoFit/>
          </a:bodyPr>
          <a:lstStyle/>
          <a:p>
            <a:pPr indent="288000"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旁路节流调速回路的效率表达式为</a:t>
            </a:r>
            <a:r>
              <a:rPr lang="zh-CN" altLang="en-US" sz="2400" dirty="0">
                <a:solidFill>
                  <a:srgbClr val="000000"/>
                </a:solidFill>
                <a:latin typeface="+mj-ea"/>
                <a:ea typeface="+mj-ea"/>
                <a:cs typeface="Times New Roman" panose="02020603050405020304" pitchFamily="18" charset="0"/>
              </a:rPr>
              <a:t>：</a:t>
            </a:r>
            <a:endParaRPr lang="zh-CN" altLang="zh-CN" sz="2400" dirty="0">
              <a:solidFill>
                <a:srgbClr val="000000"/>
              </a:solidFill>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4A0075D-BE49-4CC6-8D7E-60DF912889C6}"/>
                  </a:ext>
                </a:extLst>
              </p:cNvPr>
              <p:cNvSpPr/>
              <p:nvPr/>
            </p:nvSpPr>
            <p:spPr>
              <a:xfrm>
                <a:off x="767081" y="2012239"/>
                <a:ext cx="4327723" cy="914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𝜂</m:t>
                          </m:r>
                        </m:e>
                        <m:sub>
                          <m:r>
                            <m:rPr>
                              <m:sty m:val="p"/>
                            </m:rPr>
                            <a:rPr lang="zh-CN" altLang="en-US" sz="2400" i="0">
                              <a:latin typeface="Cambria Math" panose="02040503050406030204" pitchFamily="18" charset="0"/>
                            </a:rPr>
                            <m:t>C</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P</m:t>
                              </m:r>
                            </m:sub>
                          </m:sSub>
                        </m:den>
                      </m:f>
                      <m:r>
                        <a:rPr lang="zh-CN" altLang="en-US" sz="2400" i="0">
                          <a:latin typeface="Cambria Math" panose="02040503050406030204" pitchFamily="18" charset="0"/>
                        </a:rPr>
                        <m:t>=1−</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up>
                              <m:r>
                                <a:rPr lang="zh-CN" altLang="en-US" sz="2400" i="1">
                                  <a:latin typeface="Cambria Math" panose="02040503050406030204" pitchFamily="18" charset="0"/>
                                </a:rPr>
                                <m:t>𝜑</m:t>
                              </m:r>
                            </m:sup>
                          </m:sSubSup>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t</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m:rPr>
                                  <m:sty m:val="p"/>
                                </m:rPr>
                                <a:rPr lang="zh-CN" altLang="en-US" sz="2400" i="0">
                                  <a:latin typeface="Cambria Math" panose="02040503050406030204" pitchFamily="18" charset="0"/>
                                </a:rPr>
                                <m:t>l</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P</m:t>
                              </m:r>
                            </m:sub>
                          </m:sSub>
                        </m:den>
                      </m:f>
                    </m:oMath>
                  </m:oMathPara>
                </a14:m>
                <a:endParaRPr lang="zh-CN" altLang="en-US" sz="2400" dirty="0"/>
              </a:p>
            </p:txBody>
          </p:sp>
        </mc:Choice>
        <mc:Fallback xmlns="">
          <p:sp>
            <p:nvSpPr>
              <p:cNvPr id="9" name="矩形 8">
                <a:extLst>
                  <a:ext uri="{FF2B5EF4-FFF2-40B4-BE49-F238E27FC236}">
                    <a16:creationId xmlns:a16="http://schemas.microsoft.com/office/drawing/2014/main" id="{74A0075D-BE49-4CC6-8D7E-60DF912889C6}"/>
                  </a:ext>
                </a:extLst>
              </p:cNvPr>
              <p:cNvSpPr>
                <a:spLocks noRot="1" noChangeAspect="1" noMove="1" noResize="1" noEditPoints="1" noAdjustHandles="1" noChangeArrowheads="1" noChangeShapeType="1" noTextEdit="1"/>
              </p:cNvSpPr>
              <p:nvPr/>
            </p:nvSpPr>
            <p:spPr>
              <a:xfrm>
                <a:off x="767081" y="2012239"/>
                <a:ext cx="4327723" cy="914930"/>
              </a:xfrm>
              <a:prstGeom prst="rect">
                <a:avLst/>
              </a:prstGeom>
              <a:blipFill>
                <a:blip r:embed="rId3"/>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09EDF6DB-9E68-4979-879B-78E10FEB72A5}"/>
              </a:ext>
            </a:extLst>
          </p:cNvPr>
          <p:cNvSpPr/>
          <p:nvPr/>
        </p:nvSpPr>
        <p:spPr>
          <a:xfrm>
            <a:off x="454265" y="3551391"/>
            <a:ext cx="5011635" cy="2797048"/>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进入液压缸的流量越多</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活塞速度越大</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回路的效率就越高。</a:t>
            </a:r>
            <a:r>
              <a:rPr lang="zh-CN" altLang="zh-CN" sz="2400" b="1" dirty="0">
                <a:solidFill>
                  <a:srgbClr val="C00000"/>
                </a:solidFill>
                <a:latin typeface="+mj-ea"/>
                <a:ea typeface="+mj-ea"/>
                <a:cs typeface="Times New Roman" panose="02020603050405020304" pitchFamily="18" charset="0"/>
              </a:rPr>
              <a:t>旁路节流调速回路的效率比进口和出口节流调速回路高</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因为它的输入功率随工作压力而变化</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不是一个定值</a:t>
            </a:r>
          </a:p>
        </p:txBody>
      </p:sp>
      <p:pic>
        <p:nvPicPr>
          <p:cNvPr id="13" name="8T9.EPS">
            <a:extLst>
              <a:ext uri="{FF2B5EF4-FFF2-40B4-BE49-F238E27FC236}">
                <a16:creationId xmlns:a16="http://schemas.microsoft.com/office/drawing/2014/main" id="{61DC6EF6-0CC1-4AF9-A827-BDA78240FF68}"/>
              </a:ext>
            </a:extLst>
          </p:cNvPr>
          <p:cNvPicPr/>
          <p:nvPr/>
        </p:nvPicPr>
        <p:blipFill>
          <a:blip r:embed="rId4" cstate="print"/>
          <a:stretch>
            <a:fillRect/>
          </a:stretch>
        </p:blipFill>
        <p:spPr>
          <a:xfrm>
            <a:off x="8979846" y="3183372"/>
            <a:ext cx="3142020" cy="2564915"/>
          </a:xfrm>
          <a:prstGeom prst="rect">
            <a:avLst/>
          </a:prstGeom>
        </p:spPr>
      </p:pic>
      <p:sp>
        <p:nvSpPr>
          <p:cNvPr id="15" name="圆角矩形 3">
            <a:extLst>
              <a:ext uri="{FF2B5EF4-FFF2-40B4-BE49-F238E27FC236}">
                <a16:creationId xmlns:a16="http://schemas.microsoft.com/office/drawing/2014/main" id="{EEEECA32-2379-4ADE-9461-5433F8C1B1FB}"/>
              </a:ext>
            </a:extLst>
          </p:cNvPr>
          <p:cNvSpPr/>
          <p:nvPr/>
        </p:nvSpPr>
        <p:spPr>
          <a:xfrm>
            <a:off x="142556" y="3304298"/>
            <a:ext cx="5581021" cy="3291235"/>
          </a:xfrm>
          <a:prstGeom prst="roundRect">
            <a:avLst>
              <a:gd name="adj" fmla="val 18007"/>
            </a:avLst>
          </a:prstGeom>
          <a:noFill/>
          <a:ln>
            <a:solidFill>
              <a:srgbClr val="1849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graphicFrame>
        <p:nvGraphicFramePr>
          <p:cNvPr id="16" name="表格 15">
            <a:extLst>
              <a:ext uri="{FF2B5EF4-FFF2-40B4-BE49-F238E27FC236}">
                <a16:creationId xmlns:a16="http://schemas.microsoft.com/office/drawing/2014/main" id="{BF146E94-A3D2-429C-BAD7-16052CC01EBF}"/>
              </a:ext>
            </a:extLst>
          </p:cNvPr>
          <p:cNvGraphicFramePr>
            <a:graphicFrameLocks noGrp="1"/>
          </p:cNvGraphicFramePr>
          <p:nvPr>
            <p:extLst>
              <p:ext uri="{D42A27DB-BD31-4B8C-83A1-F6EECF244321}">
                <p14:modId xmlns:p14="http://schemas.microsoft.com/office/powerpoint/2010/main" val="1664405221"/>
              </p:ext>
            </p:extLst>
          </p:nvPr>
        </p:nvGraphicFramePr>
        <p:xfrm>
          <a:off x="9153856" y="5790762"/>
          <a:ext cx="2794001" cy="548640"/>
        </p:xfrm>
        <a:graphic>
          <a:graphicData uri="http://schemas.openxmlformats.org/drawingml/2006/table">
            <a:tbl>
              <a:tblPr firstRow="1" firstCol="1" bandRow="1"/>
              <a:tblGrid>
                <a:gridCol w="2794001">
                  <a:extLst>
                    <a:ext uri="{9D8B030D-6E8A-4147-A177-3AD203B41FA5}">
                      <a16:colId xmlns:a16="http://schemas.microsoft.com/office/drawing/2014/main" val="3508956415"/>
                    </a:ext>
                  </a:extLst>
                </a:gridCol>
              </a:tblGrid>
              <a:tr h="0">
                <a:tc>
                  <a:txBody>
                    <a:bodyPr/>
                    <a:lstStyle/>
                    <a:p>
                      <a:pPr algn="ctr">
                        <a:lnSpc>
                          <a:spcPct val="100000"/>
                        </a:lnSpc>
                        <a:spcAft>
                          <a:spcPts val="0"/>
                        </a:spcAft>
                      </a:pPr>
                      <a:r>
                        <a:rPr lang="zh-CN" altLang="en-US" sz="1800" b="1" kern="1200" dirty="0">
                          <a:solidFill>
                            <a:srgbClr val="FF0000"/>
                          </a:solidFill>
                          <a:latin typeface="+mj-ea"/>
                          <a:ea typeface="+mj-ea"/>
                          <a:cs typeface="+mn-cs"/>
                        </a:rPr>
                        <a:t>使用节流阀的旁路节流调速回路在变载下的功率特性</a:t>
                      </a:r>
                    </a:p>
                  </a:txBody>
                  <a:tcPr marL="0" marR="0" marT="0" marB="0" anchor="ctr">
                    <a:lnL>
                      <a:noFill/>
                    </a:lnL>
                    <a:lnR>
                      <a:noFill/>
                    </a:lnR>
                    <a:lnT>
                      <a:noFill/>
                    </a:lnT>
                    <a:lnB>
                      <a:noFill/>
                    </a:lnB>
                  </a:tcPr>
                </a:tc>
                <a:extLst>
                  <a:ext uri="{0D108BD9-81ED-4DB2-BD59-A6C34878D82A}">
                    <a16:rowId xmlns:a16="http://schemas.microsoft.com/office/drawing/2014/main" val="2443089195"/>
                  </a:ext>
                </a:extLst>
              </a:tr>
            </a:tbl>
          </a:graphicData>
        </a:graphic>
      </p:graphicFrame>
      <p:sp>
        <p:nvSpPr>
          <p:cNvPr id="7" name="文本框 6">
            <a:extLst>
              <a:ext uri="{FF2B5EF4-FFF2-40B4-BE49-F238E27FC236}">
                <a16:creationId xmlns:a16="http://schemas.microsoft.com/office/drawing/2014/main" id="{8D519244-A949-4828-3760-2E14F6A8F429}"/>
              </a:ext>
            </a:extLst>
          </p:cNvPr>
          <p:cNvSpPr txBox="1"/>
          <p:nvPr/>
        </p:nvSpPr>
        <p:spPr>
          <a:xfrm>
            <a:off x="6096000" y="1419516"/>
            <a:ext cx="6121400" cy="830997"/>
          </a:xfrm>
          <a:prstGeom prst="rect">
            <a:avLst/>
          </a:prstGeom>
          <a:noFill/>
        </p:spPr>
        <p:txBody>
          <a:bodyPr wrap="square">
            <a:spAutoFit/>
          </a:bodyPr>
          <a:lstStyle/>
          <a:p>
            <a:r>
              <a:rPr lang="zh-CN" altLang="zh-CN" sz="2400" dirty="0">
                <a:solidFill>
                  <a:srgbClr val="000000"/>
                </a:solidFill>
                <a:latin typeface="+mj-ea"/>
                <a:ea typeface="+mj-ea"/>
                <a:cs typeface="Times New Roman" panose="02020603050405020304" pitchFamily="18" charset="0"/>
              </a:rPr>
              <a:t>旁路节流调速回路在恒载和变载下工作时的功率特性</a:t>
            </a:r>
            <a:endParaRPr lang="zh-CN" altLang="en-US" sz="2400" dirty="0">
              <a:solidFill>
                <a:srgbClr val="000000"/>
              </a:solidFill>
              <a:latin typeface="+mj-ea"/>
              <a:ea typeface="+mj-ea"/>
              <a:cs typeface="Times New Roman" panose="02020603050405020304" pitchFamily="18" charset="0"/>
            </a:endParaRPr>
          </a:p>
        </p:txBody>
      </p:sp>
      <p:pic>
        <p:nvPicPr>
          <p:cNvPr id="17" name="8T4.EPS">
            <a:extLst>
              <a:ext uri="{FF2B5EF4-FFF2-40B4-BE49-F238E27FC236}">
                <a16:creationId xmlns:a16="http://schemas.microsoft.com/office/drawing/2014/main" id="{E7E5A4FC-EEC6-4503-8952-9618DFEB04F3}"/>
              </a:ext>
            </a:extLst>
          </p:cNvPr>
          <p:cNvPicPr/>
          <p:nvPr/>
        </p:nvPicPr>
        <p:blipFill>
          <a:blip r:embed="rId5" cstate="print"/>
          <a:stretch>
            <a:fillRect/>
          </a:stretch>
        </p:blipFill>
        <p:spPr>
          <a:xfrm>
            <a:off x="5777609" y="2791978"/>
            <a:ext cx="3219471" cy="2965845"/>
          </a:xfrm>
          <a:prstGeom prst="rect">
            <a:avLst/>
          </a:prstGeom>
        </p:spPr>
      </p:pic>
      <p:sp>
        <p:nvSpPr>
          <p:cNvPr id="18" name="矩形 17">
            <a:extLst>
              <a:ext uri="{FF2B5EF4-FFF2-40B4-BE49-F238E27FC236}">
                <a16:creationId xmlns:a16="http://schemas.microsoft.com/office/drawing/2014/main" id="{D6911BA6-2F09-4952-8849-2E75AE018EB2}"/>
              </a:ext>
            </a:extLst>
          </p:cNvPr>
          <p:cNvSpPr/>
          <p:nvPr/>
        </p:nvSpPr>
        <p:spPr>
          <a:xfrm>
            <a:off x="6144513" y="5784502"/>
            <a:ext cx="2751666" cy="646331"/>
          </a:xfrm>
          <a:prstGeom prst="rect">
            <a:avLst/>
          </a:prstGeom>
        </p:spPr>
        <p:txBody>
          <a:bodyPr wrap="square">
            <a:spAutoFit/>
          </a:bodyPr>
          <a:lstStyle/>
          <a:p>
            <a:pPr algn="ctr">
              <a:spcAft>
                <a:spcPts val="0"/>
              </a:spcAft>
            </a:pPr>
            <a:r>
              <a:rPr lang="zh-CN" altLang="zh-CN" b="1" dirty="0">
                <a:solidFill>
                  <a:srgbClr val="FF0000"/>
                </a:solidFill>
                <a:latin typeface="+mj-ea"/>
                <a:ea typeface="+mj-ea"/>
              </a:rPr>
              <a:t>定压式进口节流调速回路在变载下功率特性</a:t>
            </a:r>
            <a:endParaRPr lang="zh-CN" altLang="en-US" b="1" dirty="0">
              <a:solidFill>
                <a:srgbClr val="FF0000"/>
              </a:solidFill>
              <a:latin typeface="+mj-ea"/>
              <a:ea typeface="+mj-ea"/>
            </a:endParaRPr>
          </a:p>
        </p:txBody>
      </p:sp>
      <p:sp>
        <p:nvSpPr>
          <p:cNvPr id="19" name="文本框 18">
            <a:extLst>
              <a:ext uri="{FF2B5EF4-FFF2-40B4-BE49-F238E27FC236}">
                <a16:creationId xmlns:a16="http://schemas.microsoft.com/office/drawing/2014/main" id="{0794F6F6-39C2-44BC-99BF-E3AA6C25BEB8}"/>
              </a:ext>
            </a:extLst>
          </p:cNvPr>
          <p:cNvSpPr txBox="1"/>
          <p:nvPr/>
        </p:nvSpPr>
        <p:spPr>
          <a:xfrm>
            <a:off x="11103631" y="6535517"/>
            <a:ext cx="1088369" cy="369332"/>
          </a:xfrm>
          <a:prstGeom prst="rect">
            <a:avLst/>
          </a:prstGeom>
          <a:noFill/>
        </p:spPr>
        <p:txBody>
          <a:bodyPr wrap="square" rtlCol="0">
            <a:spAutoFit/>
          </a:bodyPr>
          <a:lstStyle/>
          <a:p>
            <a:pPr algn="r"/>
            <a:r>
              <a:rPr lang="en-US" altLang="zh-CN" dirty="0"/>
              <a:t>24/29</a:t>
            </a:r>
            <a:endParaRPr lang="zh-CN" altLang="en-US" dirty="0"/>
          </a:p>
        </p:txBody>
      </p:sp>
    </p:spTree>
    <p:extLst>
      <p:ext uri="{BB962C8B-B14F-4D97-AF65-F5344CB8AC3E}">
        <p14:creationId xmlns:p14="http://schemas.microsoft.com/office/powerpoint/2010/main" val="293611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4C77934B-74E4-4DF0-A759-BF723C0C8223}"/>
              </a:ext>
            </a:extLst>
          </p:cNvPr>
          <p:cNvSpPr/>
          <p:nvPr/>
        </p:nvSpPr>
        <p:spPr>
          <a:xfrm>
            <a:off x="302214" y="1315302"/>
            <a:ext cx="5686172" cy="319446"/>
          </a:xfrm>
          <a:prstGeom prst="rect">
            <a:avLst/>
          </a:prstGeom>
        </p:spPr>
        <p:txBody>
          <a:bodyPr wrap="none">
            <a:spAutoFit/>
          </a:bodyPr>
          <a:lstStyle/>
          <a:p>
            <a:pPr indent="266700">
              <a:lnSpc>
                <a:spcPts val="1575"/>
              </a:lnSpc>
              <a:spcAft>
                <a:spcPts val="0"/>
              </a:spcAft>
            </a:pPr>
            <a:r>
              <a:rPr lang="zh-CN" altLang="zh-CN" sz="2400" dirty="0">
                <a:solidFill>
                  <a:srgbClr val="000000"/>
                </a:solidFill>
                <a:latin typeface="+mj-ea"/>
                <a:ea typeface="+mj-ea"/>
                <a:cs typeface="Times New Roman" panose="02020603050405020304" pitchFamily="18" charset="0"/>
              </a:rPr>
              <a:t>旁路节流调速回路的调速特性表达式为</a:t>
            </a:r>
            <a:endParaRPr lang="zh-CN" altLang="zh-CN" sz="2400" dirty="0">
              <a:solidFill>
                <a:srgbClr val="000000"/>
              </a:solidFill>
              <a:effectLst/>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DFA3380-7BCC-4B11-918D-A1AB06567DDE}"/>
                  </a:ext>
                </a:extLst>
              </p:cNvPr>
              <p:cNvSpPr/>
              <p:nvPr/>
            </p:nvSpPr>
            <p:spPr>
              <a:xfrm>
                <a:off x="3612574" y="1734404"/>
                <a:ext cx="4027064" cy="18610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i="0">
                              <a:latin typeface="Cambria Math" panose="02040503050406030204" pitchFamily="18" charset="0"/>
                            </a:rPr>
                            <m:t>C</m:t>
                          </m:r>
                        </m:sub>
                      </m:sSub>
                      <m:r>
                        <a:rPr lang="zh-CN" altLang="en-US" sz="2400" i="0">
                          <a:latin typeface="Cambria Math" panose="02040503050406030204" pitchFamily="18" charset="0"/>
                        </a:rPr>
                        <m:t>=1+</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i="0">
                                  <a:latin typeface="Cambria Math" panose="02040503050406030204" pitchFamily="18" charset="0"/>
                                </a:rPr>
                                <m:t>T</m:t>
                              </m:r>
                            </m:sub>
                          </m:sSub>
                          <m:r>
                            <m:rPr>
                              <m:nor/>
                            </m:rPr>
                            <a:rPr lang="zh-CN" altLang="en-US" sz="2400" i="1">
                              <a:latin typeface="Cambria Math" panose="02040503050406030204" pitchFamily="18" charset="0"/>
                            </a:rPr>
                            <m:t>−1</m:t>
                          </m:r>
                        </m:num>
                        <m:den>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𝑞</m:t>
                                  </m:r>
                                </m:e>
                                <m:sub>
                                  <m:r>
                                    <m:rPr>
                                      <m:sty m:val="p"/>
                                    </m:rPr>
                                    <a:rPr lang="zh-CN" altLang="en-US" sz="2400" i="0">
                                      <a:latin typeface="Cambria Math" panose="02040503050406030204" pitchFamily="18" charset="0"/>
                                    </a:rPr>
                                    <m:t>t</m:t>
                                  </m:r>
                                </m:sub>
                              </m:sSub>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m:rPr>
                                      <m:sty m:val="p"/>
                                    </m:rPr>
                                    <a:rPr lang="zh-CN" altLang="en-US" sz="2400" i="0">
                                      <a:latin typeface="Cambria Math" panose="02040503050406030204" pitchFamily="18" charset="0"/>
                                    </a:rPr>
                                    <m:t>l</m:t>
                                  </m:r>
                                </m:sub>
                              </m:sSub>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𝐹</m:t>
                                      </m:r>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e>
                              </m:d>
                            </m:num>
                            <m:den>
                              <m:r>
                                <a:rPr lang="zh-CN" altLang="en-US" sz="2400" i="1">
                                  <a:latin typeface="Cambria Math" panose="02040503050406030204" pitchFamily="18" charset="0"/>
                                </a:rPr>
                                <m:t>𝐶</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m:rPr>
                                      <m:sty m:val="p"/>
                                    </m:rPr>
                                    <a:rPr lang="zh-CN" altLang="en-US" sz="2400" i="0">
                                      <a:latin typeface="Cambria Math" panose="02040503050406030204" pitchFamily="18" charset="0"/>
                                    </a:rPr>
                                    <m:t>Tmin</m:t>
                                  </m:r>
                                </m:sub>
                              </m:sSub>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𝐹</m:t>
                                          </m:r>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1</m:t>
                                              </m:r>
                                            </m:sub>
                                          </m:sSub>
                                        </m:den>
                                      </m:f>
                                    </m:e>
                                  </m:d>
                                </m:e>
                                <m:sup>
                                  <m:r>
                                    <a:rPr lang="zh-CN" altLang="en-US" sz="2400" i="1">
                                      <a:latin typeface="Cambria Math" panose="02040503050406030204" pitchFamily="18" charset="0"/>
                                    </a:rPr>
                                    <m:t>𝜑</m:t>
                                  </m:r>
                                </m:sup>
                              </m:sSup>
                            </m:den>
                          </m:f>
                          <m:r>
                            <m:rPr>
                              <m:nor/>
                            </m:rP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i="0">
                                  <a:latin typeface="Cambria Math" panose="02040503050406030204" pitchFamily="18" charset="0"/>
                                </a:rPr>
                                <m:t>T</m:t>
                              </m:r>
                            </m:sub>
                          </m:sSub>
                        </m:den>
                      </m:f>
                    </m:oMath>
                  </m:oMathPara>
                </a14:m>
                <a:endParaRPr lang="zh-CN" altLang="en-US" sz="2400" dirty="0"/>
              </a:p>
            </p:txBody>
          </p:sp>
        </mc:Choice>
        <mc:Fallback xmlns="">
          <p:sp>
            <p:nvSpPr>
              <p:cNvPr id="7" name="矩形 6">
                <a:extLst>
                  <a:ext uri="{FF2B5EF4-FFF2-40B4-BE49-F238E27FC236}">
                    <a16:creationId xmlns:a16="http://schemas.microsoft.com/office/drawing/2014/main" id="{EDFA3380-7BCC-4B11-918D-A1AB06567DDE}"/>
                  </a:ext>
                </a:extLst>
              </p:cNvPr>
              <p:cNvSpPr>
                <a:spLocks noRot="1" noChangeAspect="1" noMove="1" noResize="1" noEditPoints="1" noAdjustHandles="1" noChangeArrowheads="1" noChangeShapeType="1" noTextEdit="1"/>
              </p:cNvSpPr>
              <p:nvPr/>
            </p:nvSpPr>
            <p:spPr>
              <a:xfrm>
                <a:off x="3612574" y="1734404"/>
                <a:ext cx="4027064" cy="1861022"/>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9BBAF758-1E97-4144-95B7-B1C3B6B6EB0E}"/>
              </a:ext>
            </a:extLst>
          </p:cNvPr>
          <p:cNvSpPr/>
          <p:nvPr/>
        </p:nvSpPr>
        <p:spPr>
          <a:xfrm>
            <a:off x="1059868" y="3661444"/>
            <a:ext cx="9963785" cy="2797048"/>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表明</a:t>
            </a:r>
            <a:r>
              <a:rPr lang="zh-CN" altLang="en-US"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回路的调速范围不仅与节流阀可用的调速范围</a:t>
            </a:r>
            <a:r>
              <a:rPr lang="en-US" altLang="zh-CN" sz="2400" i="1" dirty="0">
                <a:solidFill>
                  <a:srgbClr val="000000"/>
                </a:solidFill>
                <a:latin typeface="+mj-ea"/>
                <a:ea typeface="+mj-ea"/>
                <a:cs typeface="Times New Roman" panose="02020603050405020304" pitchFamily="18" charset="0"/>
              </a:rPr>
              <a:t>R</a:t>
            </a:r>
            <a:r>
              <a:rPr lang="en-US" altLang="zh-CN" sz="2400" baseline="-25000" dirty="0">
                <a:solidFill>
                  <a:srgbClr val="000000"/>
                </a:solidFill>
                <a:latin typeface="+mj-ea"/>
                <a:ea typeface="+mj-ea"/>
                <a:cs typeface="Times New Roman" panose="02020603050405020304" pitchFamily="18" charset="0"/>
              </a:rPr>
              <a:t>T</a:t>
            </a:r>
            <a:r>
              <a:rPr lang="zh-CN" altLang="zh-CN" sz="2400" dirty="0">
                <a:solidFill>
                  <a:srgbClr val="000000"/>
                </a:solidFill>
                <a:latin typeface="+mj-ea"/>
                <a:ea typeface="+mj-ea"/>
                <a:cs typeface="Times New Roman" panose="02020603050405020304" pitchFamily="18" charset="0"/>
              </a:rPr>
              <a:t>有关</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而且亦与负载</a:t>
            </a:r>
            <a:r>
              <a:rPr lang="en-US" altLang="zh-CN" sz="2400" i="1" dirty="0">
                <a:solidFill>
                  <a:srgbClr val="000000"/>
                </a:solidFill>
                <a:latin typeface="+mj-ea"/>
                <a:ea typeface="+mj-ea"/>
                <a:cs typeface="Times New Roman" panose="02020603050405020304" pitchFamily="18" charset="0"/>
              </a:rPr>
              <a:t>F</a:t>
            </a:r>
            <a:r>
              <a:rPr lang="zh-CN" altLang="zh-CN" sz="2400" dirty="0">
                <a:solidFill>
                  <a:srgbClr val="000000"/>
                </a:solidFill>
                <a:latin typeface="+mj-ea"/>
                <a:ea typeface="+mj-ea"/>
                <a:cs typeface="Times New Roman" panose="02020603050405020304" pitchFamily="18" charset="0"/>
              </a:rPr>
              <a:t>、液压泵泄漏系数</a:t>
            </a:r>
            <a:r>
              <a:rPr lang="en-US" altLang="zh-CN" sz="2400" i="1" dirty="0">
                <a:solidFill>
                  <a:srgbClr val="000000"/>
                </a:solidFill>
                <a:latin typeface="+mj-ea"/>
                <a:ea typeface="+mj-ea"/>
                <a:cs typeface="Times New Roman" panose="02020603050405020304" pitchFamily="18" charset="0"/>
              </a:rPr>
              <a:t>k</a:t>
            </a:r>
            <a:r>
              <a:rPr lang="en-US" altLang="zh-CN" sz="2400" baseline="-25000" dirty="0">
                <a:solidFill>
                  <a:srgbClr val="000000"/>
                </a:solidFill>
                <a:latin typeface="+mj-ea"/>
                <a:ea typeface="+mj-ea"/>
                <a:cs typeface="Times New Roman" panose="02020603050405020304" pitchFamily="18" charset="0"/>
              </a:rPr>
              <a:t>l</a:t>
            </a:r>
            <a:r>
              <a:rPr lang="zh-CN" altLang="zh-CN" sz="2400" dirty="0">
                <a:solidFill>
                  <a:srgbClr val="000000"/>
                </a:solidFill>
                <a:latin typeface="+mj-ea"/>
                <a:ea typeface="+mj-ea"/>
                <a:cs typeface="Times New Roman" panose="02020603050405020304" pitchFamily="18" charset="0"/>
              </a:rPr>
              <a:t>等因素有关</a:t>
            </a:r>
            <a:r>
              <a:rPr lang="en-US" altLang="zh-CN" sz="2400" dirty="0">
                <a:solidFill>
                  <a:srgbClr val="000000"/>
                </a:solidFill>
                <a:latin typeface="+mj-ea"/>
                <a:ea typeface="+mj-ea"/>
                <a:cs typeface="Times New Roman" panose="02020603050405020304" pitchFamily="18" charset="0"/>
              </a:rPr>
              <a:t>,</a:t>
            </a:r>
            <a:r>
              <a:rPr lang="zh-CN" altLang="zh-CN" sz="2400" b="1" dirty="0">
                <a:solidFill>
                  <a:srgbClr val="C00000"/>
                </a:solidFill>
                <a:latin typeface="+mj-ea"/>
                <a:ea typeface="+mj-ea"/>
                <a:cs typeface="Times New Roman" panose="02020603050405020304" pitchFamily="18" charset="0"/>
              </a:rPr>
              <a:t>可见调速回路的调速范围与流量控制元件的调速范围并非总是一回事。</a:t>
            </a:r>
            <a:endParaRPr lang="en-US" altLang="zh-CN" sz="2400" b="1" dirty="0">
              <a:solidFill>
                <a:srgbClr val="C00000"/>
              </a:solidFill>
              <a:latin typeface="+mj-ea"/>
              <a:ea typeface="+mj-ea"/>
              <a:cs typeface="Times New Roman" panose="02020603050405020304" pitchFamily="18" charset="0"/>
            </a:endParaRPr>
          </a:p>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此外</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式中的</a:t>
            </a:r>
            <a:r>
              <a:rPr lang="en-US" altLang="zh-CN" sz="2400" i="1" dirty="0">
                <a:solidFill>
                  <a:srgbClr val="000000"/>
                </a:solidFill>
                <a:latin typeface="+mj-ea"/>
                <a:ea typeface="+mj-ea"/>
                <a:cs typeface="Times New Roman" panose="02020603050405020304" pitchFamily="18" charset="0"/>
              </a:rPr>
              <a:t>R</a:t>
            </a:r>
            <a:r>
              <a:rPr lang="en-US" altLang="zh-CN" sz="2400" baseline="-25000" dirty="0">
                <a:solidFill>
                  <a:srgbClr val="000000"/>
                </a:solidFill>
                <a:latin typeface="+mj-ea"/>
                <a:ea typeface="+mj-ea"/>
                <a:cs typeface="Times New Roman" panose="02020603050405020304" pitchFamily="18" charset="0"/>
              </a:rPr>
              <a:t>T</a:t>
            </a:r>
            <a:r>
              <a:rPr lang="zh-CN" altLang="zh-CN" sz="2400" dirty="0">
                <a:solidFill>
                  <a:srgbClr val="000000"/>
                </a:solidFill>
                <a:latin typeface="+mj-ea"/>
                <a:ea typeface="+mj-ea"/>
                <a:cs typeface="Times New Roman" panose="02020603050405020304" pitchFamily="18" charset="0"/>
              </a:rPr>
              <a:t>不是节流阀可能的调速范围</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因为它的通流截面积在加大到某值时已使活塞速度下降为零</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再增大已</a:t>
            </a:r>
            <a:r>
              <a:rPr lang="zh-CN" altLang="zh-CN" sz="2400" b="1" dirty="0">
                <a:solidFill>
                  <a:srgbClr val="003F88"/>
                </a:solidFill>
                <a:latin typeface="+mj-ea"/>
                <a:ea typeface="+mj-ea"/>
                <a:cs typeface="Times New Roman" panose="02020603050405020304" pitchFamily="18" charset="0"/>
              </a:rPr>
              <a:t>不起调速作用</a:t>
            </a:r>
            <a:r>
              <a:rPr lang="zh-CN" altLang="zh-CN" sz="2400" dirty="0">
                <a:solidFill>
                  <a:srgbClr val="000000"/>
                </a:solidFill>
                <a:latin typeface="+mj-ea"/>
                <a:ea typeface="+mj-ea"/>
                <a:cs typeface="Times New Roman" panose="02020603050405020304" pitchFamily="18" charset="0"/>
              </a:rPr>
              <a:t>了。</a:t>
            </a:r>
            <a:endParaRPr lang="zh-CN" altLang="zh-CN" sz="2400" dirty="0">
              <a:solidFill>
                <a:srgbClr val="000000"/>
              </a:solidFill>
              <a:effectLst/>
              <a:latin typeface="+mj-ea"/>
              <a:ea typeface="+mj-ea"/>
              <a:cs typeface="Times New Roman" panose="02020603050405020304" pitchFamily="18" charset="0"/>
            </a:endParaRPr>
          </a:p>
        </p:txBody>
      </p:sp>
      <p:sp>
        <p:nvSpPr>
          <p:cNvPr id="9" name="圆角矩形 3">
            <a:extLst>
              <a:ext uri="{FF2B5EF4-FFF2-40B4-BE49-F238E27FC236}">
                <a16:creationId xmlns:a16="http://schemas.microsoft.com/office/drawing/2014/main" id="{960D4EF2-A5A8-41E3-AE81-1B1C341460B4}"/>
              </a:ext>
            </a:extLst>
          </p:cNvPr>
          <p:cNvSpPr/>
          <p:nvPr/>
        </p:nvSpPr>
        <p:spPr>
          <a:xfrm>
            <a:off x="860415" y="3695083"/>
            <a:ext cx="10471169" cy="2861731"/>
          </a:xfrm>
          <a:prstGeom prst="roundRect">
            <a:avLst>
              <a:gd name="adj" fmla="val 18007"/>
            </a:avLst>
          </a:prstGeom>
          <a:no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sp>
        <p:nvSpPr>
          <p:cNvPr id="10" name="文本框 9">
            <a:extLst>
              <a:ext uri="{FF2B5EF4-FFF2-40B4-BE49-F238E27FC236}">
                <a16:creationId xmlns:a16="http://schemas.microsoft.com/office/drawing/2014/main" id="{57852C26-93D3-4D49-A407-206A51815C10}"/>
              </a:ext>
            </a:extLst>
          </p:cNvPr>
          <p:cNvSpPr txBox="1"/>
          <p:nvPr/>
        </p:nvSpPr>
        <p:spPr>
          <a:xfrm>
            <a:off x="11103631" y="6535517"/>
            <a:ext cx="1088369" cy="369332"/>
          </a:xfrm>
          <a:prstGeom prst="rect">
            <a:avLst/>
          </a:prstGeom>
          <a:noFill/>
        </p:spPr>
        <p:txBody>
          <a:bodyPr wrap="square" rtlCol="0">
            <a:spAutoFit/>
          </a:bodyPr>
          <a:lstStyle/>
          <a:p>
            <a:pPr algn="r"/>
            <a:r>
              <a:rPr lang="en-US" altLang="zh-CN" dirty="0"/>
              <a:t>25/29</a:t>
            </a:r>
            <a:endParaRPr lang="zh-CN" altLang="en-US" dirty="0"/>
          </a:p>
        </p:txBody>
      </p:sp>
    </p:spTree>
    <p:extLst>
      <p:ext uri="{BB962C8B-B14F-4D97-AF65-F5344CB8AC3E}">
        <p14:creationId xmlns:p14="http://schemas.microsoft.com/office/powerpoint/2010/main" val="256491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圆角矩形 5">
            <a:extLst>
              <a:ext uri="{FF2B5EF4-FFF2-40B4-BE49-F238E27FC236}">
                <a16:creationId xmlns:a16="http://schemas.microsoft.com/office/drawing/2014/main" id="{D4B9129C-3727-4396-A0EB-BB782DA79B32}"/>
              </a:ext>
            </a:extLst>
          </p:cNvPr>
          <p:cNvSpPr/>
          <p:nvPr/>
        </p:nvSpPr>
        <p:spPr>
          <a:xfrm>
            <a:off x="1099401" y="3759129"/>
            <a:ext cx="9788732" cy="2565469"/>
          </a:xfrm>
          <a:prstGeom prst="roundRect">
            <a:avLst/>
          </a:prstGeom>
          <a:solidFill>
            <a:srgbClr val="003F88"/>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s-ES"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圆角矩形 5">
            <a:extLst>
              <a:ext uri="{FF2B5EF4-FFF2-40B4-BE49-F238E27FC236}">
                <a16:creationId xmlns:a16="http://schemas.microsoft.com/office/drawing/2014/main" id="{5D4EEE4F-D506-46D8-BA5B-08D0F818F7C6}"/>
              </a:ext>
            </a:extLst>
          </p:cNvPr>
          <p:cNvSpPr/>
          <p:nvPr/>
        </p:nvSpPr>
        <p:spPr>
          <a:xfrm>
            <a:off x="1099401" y="1274477"/>
            <a:ext cx="9788732" cy="1985187"/>
          </a:xfrm>
          <a:prstGeom prst="roundRect">
            <a:avLst/>
          </a:prstGeom>
          <a:solidFill>
            <a:srgbClr val="003F88"/>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s-ES"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矩形 7">
            <a:extLst>
              <a:ext uri="{FF2B5EF4-FFF2-40B4-BE49-F238E27FC236}">
                <a16:creationId xmlns:a16="http://schemas.microsoft.com/office/drawing/2014/main" id="{64D144B5-F4E2-4FE4-8307-E799C6282DB7}"/>
              </a:ext>
            </a:extLst>
          </p:cNvPr>
          <p:cNvSpPr/>
          <p:nvPr/>
        </p:nvSpPr>
        <p:spPr>
          <a:xfrm>
            <a:off x="1511630" y="1389907"/>
            <a:ext cx="8500533" cy="1689052"/>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400" dirty="0">
                <a:solidFill>
                  <a:schemeClr val="bg1"/>
                </a:solidFill>
                <a:latin typeface="+mj-ea"/>
                <a:ea typeface="+mj-ea"/>
                <a:cs typeface="Times New Roman" panose="02020603050405020304" pitchFamily="18" charset="0"/>
              </a:rPr>
              <a:t>由以上的分析不难看出</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这种变压式旁路节流调速回路的工作特性是</a:t>
            </a:r>
            <a:r>
              <a:rPr lang="zh-CN" altLang="zh-CN" sz="2400" b="1" dirty="0">
                <a:solidFill>
                  <a:srgbClr val="FFFF00"/>
                </a:solidFill>
                <a:latin typeface="+mj-ea"/>
                <a:ea typeface="+mj-ea"/>
                <a:cs typeface="Times New Roman" panose="02020603050405020304" pitchFamily="18" charset="0"/>
              </a:rPr>
              <a:t>把液压泵的特性亦综合进去了</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这是它和定压式回路根本不同的地方。</a:t>
            </a:r>
          </a:p>
        </p:txBody>
      </p:sp>
      <p:sp>
        <p:nvSpPr>
          <p:cNvPr id="9" name="矩形 8">
            <a:extLst>
              <a:ext uri="{FF2B5EF4-FFF2-40B4-BE49-F238E27FC236}">
                <a16:creationId xmlns:a16="http://schemas.microsoft.com/office/drawing/2014/main" id="{3E61EFF9-91C3-402F-92B9-AA32CC58FAC4}"/>
              </a:ext>
            </a:extLst>
          </p:cNvPr>
          <p:cNvSpPr/>
          <p:nvPr/>
        </p:nvSpPr>
        <p:spPr>
          <a:xfrm>
            <a:off x="1511630" y="3874560"/>
            <a:ext cx="8492604" cy="2308324"/>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zh-CN" altLang="zh-CN" sz="2400" dirty="0">
                <a:solidFill>
                  <a:schemeClr val="bg1"/>
                </a:solidFill>
                <a:latin typeface="+mj-ea"/>
                <a:ea typeface="+mj-ea"/>
                <a:cs typeface="Times New Roman" panose="02020603050405020304" pitchFamily="18" charset="0"/>
              </a:rPr>
              <a:t>综上所述可以看到</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这种在主油路内不出现节流损失和发热现象、在某些负载下也能保持较高效率的调速回路</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最宜用在速度较高、负载较大、负载变化不大、对运动平稳性要求不高的场合</a:t>
            </a:r>
            <a:r>
              <a:rPr lang="en-US" altLang="zh-CN" sz="2400" dirty="0">
                <a:solidFill>
                  <a:schemeClr val="bg1"/>
                </a:solidFill>
                <a:latin typeface="+mj-ea"/>
                <a:ea typeface="+mj-ea"/>
                <a:cs typeface="Times New Roman" panose="02020603050405020304" pitchFamily="18" charset="0"/>
              </a:rPr>
              <a:t>,</a:t>
            </a:r>
            <a:r>
              <a:rPr lang="zh-CN" altLang="zh-CN" sz="2400" b="1" dirty="0">
                <a:solidFill>
                  <a:srgbClr val="FFFF00"/>
                </a:solidFill>
                <a:latin typeface="+mj-ea"/>
                <a:ea typeface="+mj-ea"/>
                <a:cs typeface="Times New Roman" panose="02020603050405020304" pitchFamily="18" charset="0"/>
              </a:rPr>
              <a:t>但是它不能承受</a:t>
            </a:r>
            <a:r>
              <a:rPr lang="en-US" altLang="zh-CN" sz="2400" b="1" dirty="0">
                <a:solidFill>
                  <a:srgbClr val="FFFF00"/>
                </a:solidFill>
                <a:latin typeface="+mj-ea"/>
                <a:ea typeface="+mj-ea"/>
                <a:cs typeface="Times New Roman" panose="02020603050405020304" pitchFamily="18" charset="0"/>
              </a:rPr>
              <a:t>“</a:t>
            </a:r>
            <a:r>
              <a:rPr lang="zh-CN" altLang="zh-CN" sz="2400" b="1" dirty="0">
                <a:solidFill>
                  <a:srgbClr val="FFFF00"/>
                </a:solidFill>
                <a:latin typeface="+mj-ea"/>
                <a:ea typeface="+mj-ea"/>
                <a:cs typeface="Times New Roman" panose="02020603050405020304" pitchFamily="18" charset="0"/>
              </a:rPr>
              <a:t>负方向</a:t>
            </a:r>
            <a:r>
              <a:rPr lang="en-US" altLang="zh-CN" sz="2400" b="1" dirty="0">
                <a:solidFill>
                  <a:srgbClr val="FFFF00"/>
                </a:solidFill>
                <a:latin typeface="+mj-ea"/>
                <a:ea typeface="+mj-ea"/>
                <a:cs typeface="Times New Roman" panose="02020603050405020304" pitchFamily="18" charset="0"/>
              </a:rPr>
              <a:t>”</a:t>
            </a:r>
            <a:r>
              <a:rPr lang="zh-CN" altLang="zh-CN" sz="2400" b="1" dirty="0">
                <a:solidFill>
                  <a:srgbClr val="FFFF00"/>
                </a:solidFill>
                <a:latin typeface="+mj-ea"/>
                <a:ea typeface="+mj-ea"/>
                <a:cs typeface="Times New Roman" panose="02020603050405020304" pitchFamily="18" charset="0"/>
              </a:rPr>
              <a:t>的负载</a:t>
            </a:r>
            <a:r>
              <a:rPr lang="zh-CN" altLang="zh-CN" sz="2400" dirty="0">
                <a:solidFill>
                  <a:schemeClr val="bg1"/>
                </a:solidFill>
                <a:latin typeface="+mj-ea"/>
                <a:ea typeface="+mj-ea"/>
                <a:cs typeface="Times New Roman" panose="02020603050405020304" pitchFamily="18" charset="0"/>
              </a:rPr>
              <a:t>。</a:t>
            </a:r>
            <a:endParaRPr lang="zh-CN" altLang="zh-CN" sz="2400" dirty="0">
              <a:solidFill>
                <a:schemeClr val="bg1"/>
              </a:solidFill>
              <a:effectLst/>
              <a:latin typeface="+mj-ea"/>
              <a:ea typeface="+mj-ea"/>
              <a:cs typeface="Times New Roman" panose="02020603050405020304" pitchFamily="18" charset="0"/>
            </a:endParaRPr>
          </a:p>
        </p:txBody>
      </p:sp>
      <p:sp>
        <p:nvSpPr>
          <p:cNvPr id="10" name="文本框 9">
            <a:extLst>
              <a:ext uri="{FF2B5EF4-FFF2-40B4-BE49-F238E27FC236}">
                <a16:creationId xmlns:a16="http://schemas.microsoft.com/office/drawing/2014/main" id="{E828FF5A-EBD9-4D38-82AF-9630A8927266}"/>
              </a:ext>
            </a:extLst>
          </p:cNvPr>
          <p:cNvSpPr txBox="1"/>
          <p:nvPr/>
        </p:nvSpPr>
        <p:spPr>
          <a:xfrm>
            <a:off x="11103631" y="6535517"/>
            <a:ext cx="1088369" cy="369332"/>
          </a:xfrm>
          <a:prstGeom prst="rect">
            <a:avLst/>
          </a:prstGeom>
          <a:noFill/>
        </p:spPr>
        <p:txBody>
          <a:bodyPr wrap="square" rtlCol="0">
            <a:spAutoFit/>
          </a:bodyPr>
          <a:lstStyle/>
          <a:p>
            <a:pPr algn="r"/>
            <a:r>
              <a:rPr lang="en-US" altLang="zh-CN" dirty="0"/>
              <a:t>26/29</a:t>
            </a:r>
            <a:endParaRPr lang="zh-CN" altLang="en-US" dirty="0"/>
          </a:p>
        </p:txBody>
      </p:sp>
    </p:spTree>
    <p:extLst>
      <p:ext uri="{BB962C8B-B14F-4D97-AF65-F5344CB8AC3E}">
        <p14:creationId xmlns:p14="http://schemas.microsoft.com/office/powerpoint/2010/main" val="1550459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9" name="矩形 8">
            <a:extLst>
              <a:ext uri="{FF2B5EF4-FFF2-40B4-BE49-F238E27FC236}">
                <a16:creationId xmlns:a16="http://schemas.microsoft.com/office/drawing/2014/main" id="{1516D23F-3747-48FB-9D4C-0CD013B47510}"/>
              </a:ext>
            </a:extLst>
          </p:cNvPr>
          <p:cNvSpPr/>
          <p:nvPr/>
        </p:nvSpPr>
        <p:spPr>
          <a:xfrm>
            <a:off x="664593" y="2167751"/>
            <a:ext cx="6523608" cy="3905043"/>
          </a:xfrm>
          <a:prstGeom prst="rect">
            <a:avLst/>
          </a:prstGeom>
        </p:spPr>
        <p:txBody>
          <a:bodyPr wrap="square">
            <a:spAutoFit/>
          </a:bodyPr>
          <a:lstStyle/>
          <a:p>
            <a:pPr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使用节流阀的节流调速回路</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机械特性</a:t>
            </a:r>
            <a:r>
              <a:rPr lang="zh-CN" altLang="zh-CN" sz="2400" b="1" dirty="0">
                <a:solidFill>
                  <a:srgbClr val="0070C0"/>
                </a:solidFill>
                <a:latin typeface="+mj-ea"/>
                <a:ea typeface="+mj-ea"/>
                <a:cs typeface="Times New Roman" panose="02020603050405020304" pitchFamily="18" charset="0"/>
              </a:rPr>
              <a:t>都比较软</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变载下的运动平稳性都比较差。为了克服这个缺点</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回路中的流量控制元件可以</a:t>
            </a:r>
            <a:r>
              <a:rPr lang="zh-CN" altLang="zh-CN" sz="2400" b="1" dirty="0">
                <a:solidFill>
                  <a:srgbClr val="FF0000"/>
                </a:solidFill>
                <a:latin typeface="+mj-ea"/>
                <a:ea typeface="+mj-ea"/>
                <a:cs typeface="Times New Roman" panose="02020603050405020304" pitchFamily="18" charset="0"/>
              </a:rPr>
              <a:t>改用调速阀或溢流节流阀</a:t>
            </a:r>
            <a:r>
              <a:rPr lang="zh-CN" altLang="en-US"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它们都能使节流阀处的工作压差在负载变化时基本上保持恒定</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使回路的机械特性得到改善。这里的变压式回路的承载能力不会因为活塞运动速度的降低而减小</a:t>
            </a:r>
            <a:endParaRPr lang="zh-CN" altLang="zh-CN" sz="2400" dirty="0">
              <a:solidFill>
                <a:srgbClr val="000000"/>
              </a:solidFill>
              <a:effectLst/>
              <a:latin typeface="+mj-ea"/>
              <a:ea typeface="+mj-ea"/>
              <a:cs typeface="Times New Roman" panose="02020603050405020304" pitchFamily="18" charset="0"/>
            </a:endParaRPr>
          </a:p>
        </p:txBody>
      </p:sp>
      <p:sp>
        <p:nvSpPr>
          <p:cNvPr id="10" name="圆角矩形 3">
            <a:extLst>
              <a:ext uri="{FF2B5EF4-FFF2-40B4-BE49-F238E27FC236}">
                <a16:creationId xmlns:a16="http://schemas.microsoft.com/office/drawing/2014/main" id="{17ED6036-3D03-41D2-BB50-266260EE0336}"/>
              </a:ext>
            </a:extLst>
          </p:cNvPr>
          <p:cNvSpPr/>
          <p:nvPr/>
        </p:nvSpPr>
        <p:spPr>
          <a:xfrm>
            <a:off x="429656" y="2047602"/>
            <a:ext cx="6944811" cy="4166932"/>
          </a:xfrm>
          <a:prstGeom prst="roundRect">
            <a:avLst>
              <a:gd name="adj" fmla="val 16275"/>
            </a:avLst>
          </a:prstGeom>
          <a:no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sp>
        <p:nvSpPr>
          <p:cNvPr id="11" name="矩形 10">
            <a:extLst>
              <a:ext uri="{FF2B5EF4-FFF2-40B4-BE49-F238E27FC236}">
                <a16:creationId xmlns:a16="http://schemas.microsoft.com/office/drawing/2014/main" id="{08E12499-BFB8-47F3-BAC4-975EC1E1E5B1}"/>
              </a:ext>
            </a:extLst>
          </p:cNvPr>
          <p:cNvSpPr/>
          <p:nvPr/>
        </p:nvSpPr>
        <p:spPr>
          <a:xfrm>
            <a:off x="540867" y="1187297"/>
            <a:ext cx="7547154" cy="556884"/>
          </a:xfrm>
          <a:prstGeom prst="rect">
            <a:avLst/>
          </a:prstGeom>
        </p:spPr>
        <p:txBody>
          <a:bodyPr wrap="square">
            <a:spAutoFit/>
          </a:bodyPr>
          <a:lstStyle/>
          <a:p>
            <a:pPr marL="457200" indent="-457200">
              <a:lnSpc>
                <a:spcPct val="125000"/>
              </a:lnSpc>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节流调速回路工作性能的改进</a:t>
            </a:r>
          </a:p>
        </p:txBody>
      </p:sp>
      <p:pic>
        <p:nvPicPr>
          <p:cNvPr id="6" name="8T10.EPS" descr="id:2147507016;FounderCES">
            <a:extLst>
              <a:ext uri="{FF2B5EF4-FFF2-40B4-BE49-F238E27FC236}">
                <a16:creationId xmlns:a16="http://schemas.microsoft.com/office/drawing/2014/main" id="{FFA8B801-AB62-F3ED-EB48-533194FCDC50}"/>
              </a:ext>
            </a:extLst>
          </p:cNvPr>
          <p:cNvPicPr/>
          <p:nvPr/>
        </p:nvPicPr>
        <p:blipFill>
          <a:blip r:embed="rId3" cstate="print"/>
          <a:srcRect b="45358"/>
          <a:stretch/>
        </p:blipFill>
        <p:spPr>
          <a:xfrm>
            <a:off x="8399112" y="1301555"/>
            <a:ext cx="3498110" cy="2925091"/>
          </a:xfrm>
          <a:prstGeom prst="rect">
            <a:avLst/>
          </a:prstGeom>
        </p:spPr>
      </p:pic>
      <p:sp>
        <p:nvSpPr>
          <p:cNvPr id="8" name="文本框 7">
            <a:extLst>
              <a:ext uri="{FF2B5EF4-FFF2-40B4-BE49-F238E27FC236}">
                <a16:creationId xmlns:a16="http://schemas.microsoft.com/office/drawing/2014/main" id="{DC656EB1-DCD5-BBAF-54BC-81D55569E98D}"/>
              </a:ext>
            </a:extLst>
          </p:cNvPr>
          <p:cNvSpPr txBox="1"/>
          <p:nvPr/>
        </p:nvSpPr>
        <p:spPr>
          <a:xfrm>
            <a:off x="9770534" y="1020962"/>
            <a:ext cx="6121400" cy="400110"/>
          </a:xfrm>
          <a:prstGeom prst="rect">
            <a:avLst/>
          </a:prstGeom>
          <a:noFill/>
        </p:spPr>
        <p:txBody>
          <a:bodyPr wrap="square">
            <a:spAutoFit/>
          </a:bodyPr>
          <a:lstStyle/>
          <a:p>
            <a:r>
              <a:rPr lang="zh-CN" altLang="zh-CN" sz="2000" b="1" dirty="0">
                <a:solidFill>
                  <a:srgbClr val="FF0000"/>
                </a:solidFill>
                <a:latin typeface="+mj-ea"/>
                <a:ea typeface="+mj-ea"/>
                <a:cs typeface="Times New Roman" panose="02020603050405020304" pitchFamily="18" charset="0"/>
              </a:rPr>
              <a:t>定压式</a:t>
            </a:r>
            <a:r>
              <a:rPr lang="zh-CN" altLang="en-US" sz="2000" b="1" dirty="0">
                <a:solidFill>
                  <a:srgbClr val="FF0000"/>
                </a:solidFill>
                <a:latin typeface="+mj-ea"/>
                <a:ea typeface="+mj-ea"/>
                <a:cs typeface="Times New Roman" panose="02020603050405020304" pitchFamily="18" charset="0"/>
              </a:rPr>
              <a:t>：</a:t>
            </a:r>
            <a:endParaRPr lang="zh-CN" altLang="en-US" sz="2000" b="1" dirty="0">
              <a:solidFill>
                <a:srgbClr val="FF0000"/>
              </a:solidFill>
            </a:endParaRPr>
          </a:p>
        </p:txBody>
      </p:sp>
      <p:sp>
        <p:nvSpPr>
          <p:cNvPr id="13" name="文本框 12">
            <a:extLst>
              <a:ext uri="{FF2B5EF4-FFF2-40B4-BE49-F238E27FC236}">
                <a16:creationId xmlns:a16="http://schemas.microsoft.com/office/drawing/2014/main" id="{A765F638-15DF-B252-6E1A-0E72181B2A9A}"/>
              </a:ext>
            </a:extLst>
          </p:cNvPr>
          <p:cNvSpPr txBox="1"/>
          <p:nvPr/>
        </p:nvSpPr>
        <p:spPr>
          <a:xfrm>
            <a:off x="9770534" y="4120272"/>
            <a:ext cx="7738532" cy="400110"/>
          </a:xfrm>
          <a:prstGeom prst="rect">
            <a:avLst/>
          </a:prstGeom>
          <a:noFill/>
        </p:spPr>
        <p:txBody>
          <a:bodyPr wrap="square">
            <a:spAutoFit/>
          </a:bodyPr>
          <a:lstStyle/>
          <a:p>
            <a:r>
              <a:rPr lang="zh-CN" altLang="zh-CN" sz="2000" b="1" dirty="0">
                <a:solidFill>
                  <a:srgbClr val="FF0000"/>
                </a:solidFill>
                <a:latin typeface="+mj-ea"/>
                <a:ea typeface="+mj-ea"/>
                <a:cs typeface="Times New Roman" panose="02020603050405020304" pitchFamily="18" charset="0"/>
              </a:rPr>
              <a:t>变压式</a:t>
            </a:r>
            <a:r>
              <a:rPr lang="en-US" altLang="zh-CN" sz="2000" b="1" dirty="0">
                <a:solidFill>
                  <a:srgbClr val="FF0000"/>
                </a:solidFill>
                <a:latin typeface="+mj-ea"/>
                <a:ea typeface="+mj-ea"/>
                <a:cs typeface="Times New Roman" panose="02020603050405020304" pitchFamily="18" charset="0"/>
              </a:rPr>
              <a:t>:</a:t>
            </a:r>
            <a:endParaRPr lang="zh-CN" altLang="en-US" sz="2000" b="1" dirty="0">
              <a:solidFill>
                <a:srgbClr val="FF0000"/>
              </a:solidFill>
              <a:latin typeface="+mj-ea"/>
              <a:ea typeface="+mj-ea"/>
              <a:cs typeface="Times New Roman" panose="02020603050405020304" pitchFamily="18" charset="0"/>
            </a:endParaRPr>
          </a:p>
        </p:txBody>
      </p:sp>
      <p:pic>
        <p:nvPicPr>
          <p:cNvPr id="14" name="8T10.EPS" descr="id:2147507016;FounderCES">
            <a:extLst>
              <a:ext uri="{FF2B5EF4-FFF2-40B4-BE49-F238E27FC236}">
                <a16:creationId xmlns:a16="http://schemas.microsoft.com/office/drawing/2014/main" id="{CE8847B9-9097-2CCB-32C7-26A1C2F25927}"/>
              </a:ext>
            </a:extLst>
          </p:cNvPr>
          <p:cNvPicPr/>
          <p:nvPr/>
        </p:nvPicPr>
        <p:blipFill>
          <a:blip r:embed="rId3" cstate="print"/>
          <a:srcRect t="55065"/>
          <a:stretch/>
        </p:blipFill>
        <p:spPr>
          <a:xfrm>
            <a:off x="8322958" y="4452603"/>
            <a:ext cx="3498110" cy="2405397"/>
          </a:xfrm>
          <a:prstGeom prst="rect">
            <a:avLst/>
          </a:prstGeom>
        </p:spPr>
      </p:pic>
      <p:sp>
        <p:nvSpPr>
          <p:cNvPr id="15" name="文本框 14">
            <a:extLst>
              <a:ext uri="{FF2B5EF4-FFF2-40B4-BE49-F238E27FC236}">
                <a16:creationId xmlns:a16="http://schemas.microsoft.com/office/drawing/2014/main" id="{4D05DA1E-2922-43ED-9E77-CC0E41AE8638}"/>
              </a:ext>
            </a:extLst>
          </p:cNvPr>
          <p:cNvSpPr txBox="1"/>
          <p:nvPr/>
        </p:nvSpPr>
        <p:spPr>
          <a:xfrm>
            <a:off x="11103631" y="6535517"/>
            <a:ext cx="1088369" cy="369332"/>
          </a:xfrm>
          <a:prstGeom prst="rect">
            <a:avLst/>
          </a:prstGeom>
          <a:noFill/>
        </p:spPr>
        <p:txBody>
          <a:bodyPr wrap="square" rtlCol="0">
            <a:spAutoFit/>
          </a:bodyPr>
          <a:lstStyle/>
          <a:p>
            <a:pPr algn="r"/>
            <a:r>
              <a:rPr lang="en-US" altLang="zh-CN" dirty="0"/>
              <a:t>27/29</a:t>
            </a:r>
            <a:endParaRPr lang="zh-CN" altLang="en-US" dirty="0"/>
          </a:p>
        </p:txBody>
      </p:sp>
    </p:spTree>
    <p:extLst>
      <p:ext uri="{BB962C8B-B14F-4D97-AF65-F5344CB8AC3E}">
        <p14:creationId xmlns:p14="http://schemas.microsoft.com/office/powerpoint/2010/main" val="148391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pic>
        <p:nvPicPr>
          <p:cNvPr id="6" name="8T10.EPS" descr="id:2147507016;FounderCES">
            <a:extLst>
              <a:ext uri="{FF2B5EF4-FFF2-40B4-BE49-F238E27FC236}">
                <a16:creationId xmlns:a16="http://schemas.microsoft.com/office/drawing/2014/main" id="{EEA4C72B-FF27-49D5-9A83-5EDEEBE7DBF2}"/>
              </a:ext>
            </a:extLst>
          </p:cNvPr>
          <p:cNvPicPr/>
          <p:nvPr/>
        </p:nvPicPr>
        <p:blipFill>
          <a:blip r:embed="rId3" cstate="print"/>
          <a:stretch>
            <a:fillRect/>
          </a:stretch>
        </p:blipFill>
        <p:spPr>
          <a:xfrm>
            <a:off x="395624" y="965994"/>
            <a:ext cx="3177871" cy="4407304"/>
          </a:xfrm>
          <a:prstGeom prst="rect">
            <a:avLst/>
          </a:prstGeom>
        </p:spPr>
      </p:pic>
      <p:sp>
        <p:nvSpPr>
          <p:cNvPr id="7" name="矩形 6">
            <a:extLst>
              <a:ext uri="{FF2B5EF4-FFF2-40B4-BE49-F238E27FC236}">
                <a16:creationId xmlns:a16="http://schemas.microsoft.com/office/drawing/2014/main" id="{0D3E3D4C-B6DE-4B9F-B32E-DD87C95A5092}"/>
              </a:ext>
            </a:extLst>
          </p:cNvPr>
          <p:cNvSpPr/>
          <p:nvPr/>
        </p:nvSpPr>
        <p:spPr>
          <a:xfrm>
            <a:off x="156321" y="5380672"/>
            <a:ext cx="4883212" cy="1477328"/>
          </a:xfrm>
          <a:prstGeom prst="rect">
            <a:avLst/>
          </a:prstGeom>
        </p:spPr>
        <p:txBody>
          <a:bodyPr wrap="square">
            <a:spAutoFit/>
          </a:bodyPr>
          <a:lstStyle/>
          <a:p>
            <a:pPr indent="228600">
              <a:spcAft>
                <a:spcPts val="0"/>
              </a:spcAft>
            </a:pPr>
            <a:r>
              <a:rPr lang="zh-CN" altLang="zh-CN" b="1" dirty="0">
                <a:latin typeface="+mj-ea"/>
                <a:ea typeface="+mj-ea"/>
              </a:rPr>
              <a:t>使用调速阀或溢流节流阀的节流调速回路</a:t>
            </a:r>
          </a:p>
          <a:p>
            <a:pPr indent="203200">
              <a:spcAft>
                <a:spcPts val="0"/>
              </a:spcAft>
            </a:pPr>
            <a:r>
              <a:rPr lang="en-US" altLang="zh-CN" b="1" dirty="0">
                <a:latin typeface="+mj-ea"/>
                <a:ea typeface="+mj-ea"/>
              </a:rPr>
              <a:t>a)</a:t>
            </a:r>
            <a:r>
              <a:rPr lang="zh-CN" altLang="zh-CN" b="1" dirty="0">
                <a:latin typeface="+mj-ea"/>
                <a:ea typeface="+mj-ea"/>
              </a:rPr>
              <a:t>调速阀在进油路上　</a:t>
            </a:r>
            <a:endParaRPr lang="en-US" altLang="zh-CN" b="1" dirty="0">
              <a:latin typeface="+mj-ea"/>
              <a:ea typeface="+mj-ea"/>
            </a:endParaRPr>
          </a:p>
          <a:p>
            <a:pPr indent="203200">
              <a:spcAft>
                <a:spcPts val="0"/>
              </a:spcAft>
            </a:pPr>
            <a:r>
              <a:rPr lang="en-US" altLang="zh-CN" b="1" dirty="0">
                <a:latin typeface="+mj-ea"/>
                <a:ea typeface="+mj-ea"/>
              </a:rPr>
              <a:t>b)</a:t>
            </a:r>
            <a:r>
              <a:rPr lang="zh-CN" altLang="zh-CN" b="1" dirty="0">
                <a:latin typeface="+mj-ea"/>
                <a:ea typeface="+mj-ea"/>
              </a:rPr>
              <a:t>调速阀在回油路上　</a:t>
            </a:r>
            <a:endParaRPr lang="en-US" altLang="zh-CN" b="1" dirty="0">
              <a:latin typeface="+mj-ea"/>
              <a:ea typeface="+mj-ea"/>
            </a:endParaRPr>
          </a:p>
          <a:p>
            <a:pPr indent="203200">
              <a:spcAft>
                <a:spcPts val="0"/>
              </a:spcAft>
            </a:pPr>
            <a:r>
              <a:rPr lang="en-US" altLang="zh-CN" b="1" dirty="0">
                <a:latin typeface="+mj-ea"/>
                <a:ea typeface="+mj-ea"/>
              </a:rPr>
              <a:t>c)</a:t>
            </a:r>
            <a:r>
              <a:rPr lang="zh-CN" altLang="zh-CN" b="1" dirty="0">
                <a:latin typeface="+mj-ea"/>
                <a:ea typeface="+mj-ea"/>
              </a:rPr>
              <a:t>调速阀在旁油路上</a:t>
            </a:r>
            <a:r>
              <a:rPr lang="en-US" altLang="zh-CN" b="1" dirty="0">
                <a:latin typeface="+mj-ea"/>
                <a:ea typeface="+mj-ea"/>
              </a:rPr>
              <a:t> </a:t>
            </a:r>
          </a:p>
          <a:p>
            <a:pPr indent="203200">
              <a:spcAft>
                <a:spcPts val="0"/>
              </a:spcAft>
            </a:pPr>
            <a:r>
              <a:rPr lang="en-US" altLang="zh-CN" b="1" dirty="0">
                <a:latin typeface="+mj-ea"/>
                <a:ea typeface="+mj-ea"/>
              </a:rPr>
              <a:t>d)</a:t>
            </a:r>
            <a:r>
              <a:rPr lang="zh-CN" altLang="zh-CN" b="1" dirty="0">
                <a:latin typeface="+mj-ea"/>
                <a:ea typeface="+mj-ea"/>
              </a:rPr>
              <a:t>溢流节流阀在进油路上</a:t>
            </a:r>
          </a:p>
        </p:txBody>
      </p:sp>
      <p:pic>
        <p:nvPicPr>
          <p:cNvPr id="8" name="8T11.EPS">
            <a:extLst>
              <a:ext uri="{FF2B5EF4-FFF2-40B4-BE49-F238E27FC236}">
                <a16:creationId xmlns:a16="http://schemas.microsoft.com/office/drawing/2014/main" id="{0E9A9F92-BD99-4FBE-841F-AD61694DDD8E}"/>
              </a:ext>
            </a:extLst>
          </p:cNvPr>
          <p:cNvPicPr/>
          <p:nvPr/>
        </p:nvPicPr>
        <p:blipFill>
          <a:blip r:embed="rId4" cstate="print"/>
          <a:stretch>
            <a:fillRect/>
          </a:stretch>
        </p:blipFill>
        <p:spPr>
          <a:xfrm>
            <a:off x="4775699" y="2554180"/>
            <a:ext cx="3177871" cy="3421947"/>
          </a:xfrm>
          <a:prstGeom prst="rect">
            <a:avLst/>
          </a:prstGeom>
        </p:spPr>
      </p:pic>
      <p:pic>
        <p:nvPicPr>
          <p:cNvPr id="9" name="8T12.EPS">
            <a:extLst>
              <a:ext uri="{FF2B5EF4-FFF2-40B4-BE49-F238E27FC236}">
                <a16:creationId xmlns:a16="http://schemas.microsoft.com/office/drawing/2014/main" id="{5B963D67-E232-4687-8E64-717FA4E0C7AC}"/>
              </a:ext>
            </a:extLst>
          </p:cNvPr>
          <p:cNvPicPr/>
          <p:nvPr/>
        </p:nvPicPr>
        <p:blipFill>
          <a:blip r:embed="rId5" cstate="print"/>
          <a:stretch>
            <a:fillRect/>
          </a:stretch>
        </p:blipFill>
        <p:spPr>
          <a:xfrm>
            <a:off x="8404929" y="2602376"/>
            <a:ext cx="2799095" cy="3325554"/>
          </a:xfrm>
          <a:prstGeom prst="rect">
            <a:avLst/>
          </a:prstGeom>
        </p:spPr>
      </p:pic>
      <p:sp>
        <p:nvSpPr>
          <p:cNvPr id="10" name="矩形 9">
            <a:extLst>
              <a:ext uri="{FF2B5EF4-FFF2-40B4-BE49-F238E27FC236}">
                <a16:creationId xmlns:a16="http://schemas.microsoft.com/office/drawing/2014/main" id="{2EB22AEB-961C-42CF-9D8A-06A3B6814A91}"/>
              </a:ext>
            </a:extLst>
          </p:cNvPr>
          <p:cNvSpPr/>
          <p:nvPr/>
        </p:nvSpPr>
        <p:spPr>
          <a:xfrm>
            <a:off x="4921265" y="5880208"/>
            <a:ext cx="2705070" cy="923330"/>
          </a:xfrm>
          <a:prstGeom prst="rect">
            <a:avLst/>
          </a:prstGeom>
        </p:spPr>
        <p:txBody>
          <a:bodyPr wrap="square">
            <a:spAutoFit/>
          </a:bodyPr>
          <a:lstStyle/>
          <a:p>
            <a:r>
              <a:rPr lang="zh-CN" altLang="zh-CN" b="1" dirty="0">
                <a:latin typeface="+mj-ea"/>
                <a:ea typeface="+mj-ea"/>
              </a:rPr>
              <a:t>使用调速阀的进口节流和出口节流调速回路在变载下的功率特性</a:t>
            </a:r>
            <a:endParaRPr lang="zh-CN" altLang="en-US" b="1" dirty="0">
              <a:latin typeface="+mj-ea"/>
              <a:ea typeface="+mj-ea"/>
            </a:endParaRPr>
          </a:p>
        </p:txBody>
      </p:sp>
      <p:sp>
        <p:nvSpPr>
          <p:cNvPr id="11" name="矩形 10">
            <a:extLst>
              <a:ext uri="{FF2B5EF4-FFF2-40B4-BE49-F238E27FC236}">
                <a16:creationId xmlns:a16="http://schemas.microsoft.com/office/drawing/2014/main" id="{B04BB9CB-8DE0-4658-BD0F-7DCEBBC218BD}"/>
              </a:ext>
            </a:extLst>
          </p:cNvPr>
          <p:cNvSpPr/>
          <p:nvPr/>
        </p:nvSpPr>
        <p:spPr>
          <a:xfrm>
            <a:off x="8861234" y="5872834"/>
            <a:ext cx="2286000" cy="923330"/>
          </a:xfrm>
          <a:prstGeom prst="rect">
            <a:avLst/>
          </a:prstGeom>
        </p:spPr>
        <p:txBody>
          <a:bodyPr wrap="square">
            <a:spAutoFit/>
          </a:bodyPr>
          <a:lstStyle/>
          <a:p>
            <a:pPr>
              <a:spcAft>
                <a:spcPts val="0"/>
              </a:spcAft>
            </a:pPr>
            <a:r>
              <a:rPr lang="zh-CN" altLang="zh-CN" b="1" dirty="0">
                <a:latin typeface="+mj-ea"/>
                <a:ea typeface="+mj-ea"/>
              </a:rPr>
              <a:t>使用调速阀的旁路节流调速回路在变载下的功率特性</a:t>
            </a:r>
            <a:endParaRPr lang="zh-CN" altLang="en-US" b="1" dirty="0">
              <a:latin typeface="+mj-ea"/>
              <a:ea typeface="+mj-ea"/>
            </a:endParaRPr>
          </a:p>
        </p:txBody>
      </p:sp>
      <p:sp>
        <p:nvSpPr>
          <p:cNvPr id="13" name="文本框 12">
            <a:extLst>
              <a:ext uri="{FF2B5EF4-FFF2-40B4-BE49-F238E27FC236}">
                <a16:creationId xmlns:a16="http://schemas.microsoft.com/office/drawing/2014/main" id="{B16A7675-91CA-9B31-C84A-A57BE79094C8}"/>
              </a:ext>
            </a:extLst>
          </p:cNvPr>
          <p:cNvSpPr txBox="1"/>
          <p:nvPr/>
        </p:nvSpPr>
        <p:spPr>
          <a:xfrm>
            <a:off x="4775699" y="949312"/>
            <a:ext cx="7128178" cy="1569660"/>
          </a:xfrm>
          <a:prstGeom prst="rect">
            <a:avLst/>
          </a:prstGeom>
          <a:noFill/>
        </p:spPr>
        <p:txBody>
          <a:bodyPr wrap="square">
            <a:spAutoFit/>
          </a:bodyPr>
          <a:lstStyle/>
          <a:p>
            <a:r>
              <a:rPr lang="zh-CN" altLang="en-US" sz="2400" b="1" dirty="0">
                <a:solidFill>
                  <a:srgbClr val="FF0000"/>
                </a:solidFill>
                <a:latin typeface="+mj-ea"/>
                <a:ea typeface="+mj-ea"/>
                <a:cs typeface="Times New Roman" panose="02020603050405020304" pitchFamily="18" charset="0"/>
              </a:rPr>
              <a:t>调速阀</a:t>
            </a:r>
            <a:r>
              <a:rPr lang="zh-CN" altLang="zh-CN" sz="2400" dirty="0">
                <a:solidFill>
                  <a:srgbClr val="000000"/>
                </a:solidFill>
                <a:latin typeface="+mj-ea"/>
                <a:ea typeface="+mj-ea"/>
                <a:cs typeface="Times New Roman" panose="02020603050405020304" pitchFamily="18" charset="0"/>
              </a:rPr>
              <a:t>在变载下工作时的功率特性分别如</a:t>
            </a:r>
            <a:r>
              <a:rPr lang="zh-CN" altLang="en-US" sz="2400" dirty="0">
                <a:solidFill>
                  <a:srgbClr val="000000"/>
                </a:solidFill>
                <a:latin typeface="+mj-ea"/>
                <a:ea typeface="+mj-ea"/>
                <a:cs typeface="Times New Roman" panose="02020603050405020304" pitchFamily="18" charset="0"/>
              </a:rPr>
              <a:t>下</a:t>
            </a:r>
            <a:r>
              <a:rPr lang="zh-CN" altLang="zh-CN" sz="2400" dirty="0">
                <a:solidFill>
                  <a:srgbClr val="000000"/>
                </a:solidFill>
                <a:latin typeface="+mj-ea"/>
                <a:ea typeface="+mj-ea"/>
                <a:cs typeface="Times New Roman" panose="02020603050405020304" pitchFamily="18" charset="0"/>
              </a:rPr>
              <a:t>图所示</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都不出现极值。所有这些性能上的改进都是以加大整个流量控制阀的工作压差为代价的</a:t>
            </a:r>
            <a:r>
              <a:rPr lang="en-US" altLang="zh-CN" sz="2400" dirty="0">
                <a:solidFill>
                  <a:srgbClr val="000000"/>
                </a:solidFill>
                <a:latin typeface="+mj-ea"/>
                <a:ea typeface="+mj-ea"/>
                <a:cs typeface="Times New Roman" panose="02020603050405020304" pitchFamily="18" charset="0"/>
              </a:rPr>
              <a:t>——</a:t>
            </a:r>
            <a:r>
              <a:rPr lang="zh-CN" altLang="zh-CN" sz="2400" dirty="0">
                <a:solidFill>
                  <a:srgbClr val="000000"/>
                </a:solidFill>
                <a:latin typeface="+mj-ea"/>
                <a:ea typeface="+mj-ea"/>
                <a:cs typeface="Times New Roman" panose="02020603050405020304" pitchFamily="18" charset="0"/>
              </a:rPr>
              <a:t>一般工作压差最少须</a:t>
            </a:r>
            <a:r>
              <a:rPr lang="en-US" altLang="zh-CN" sz="2400" dirty="0">
                <a:solidFill>
                  <a:srgbClr val="000000"/>
                </a:solidFill>
                <a:latin typeface="+mj-ea"/>
                <a:ea typeface="+mj-ea"/>
                <a:cs typeface="Times New Roman" panose="02020603050405020304" pitchFamily="18" charset="0"/>
              </a:rPr>
              <a:t>0.5MPa,</a:t>
            </a:r>
            <a:r>
              <a:rPr lang="zh-CN" altLang="zh-CN" sz="2400" dirty="0">
                <a:solidFill>
                  <a:srgbClr val="000000"/>
                </a:solidFill>
                <a:latin typeface="+mj-ea"/>
                <a:ea typeface="+mj-ea"/>
                <a:cs typeface="Times New Roman" panose="02020603050405020304" pitchFamily="18" charset="0"/>
              </a:rPr>
              <a:t>高压调速阀则须</a:t>
            </a:r>
            <a:r>
              <a:rPr lang="en-US" altLang="zh-CN" sz="2400" dirty="0">
                <a:solidFill>
                  <a:srgbClr val="000000"/>
                </a:solidFill>
                <a:latin typeface="+mj-ea"/>
                <a:ea typeface="+mj-ea"/>
                <a:cs typeface="Times New Roman" panose="02020603050405020304" pitchFamily="18" charset="0"/>
              </a:rPr>
              <a:t>1MPa</a:t>
            </a:r>
            <a:r>
              <a:rPr lang="zh-CN" altLang="zh-CN" sz="2400" dirty="0">
                <a:solidFill>
                  <a:srgbClr val="000000"/>
                </a:solidFill>
                <a:latin typeface="+mj-ea"/>
                <a:ea typeface="+mj-ea"/>
                <a:cs typeface="Times New Roman" panose="02020603050405020304" pitchFamily="18" charset="0"/>
              </a:rPr>
              <a:t>。</a:t>
            </a:r>
            <a:endParaRPr lang="zh-CN" altLang="en-US" sz="2400" dirty="0">
              <a:latin typeface="+mj-ea"/>
              <a:ea typeface="+mj-ea"/>
            </a:endParaRPr>
          </a:p>
        </p:txBody>
      </p:sp>
      <p:sp>
        <p:nvSpPr>
          <p:cNvPr id="14" name="文本框 13">
            <a:extLst>
              <a:ext uri="{FF2B5EF4-FFF2-40B4-BE49-F238E27FC236}">
                <a16:creationId xmlns:a16="http://schemas.microsoft.com/office/drawing/2014/main" id="{F487D4DA-EE92-4BA1-9763-8304F0CB1E60}"/>
              </a:ext>
            </a:extLst>
          </p:cNvPr>
          <p:cNvSpPr txBox="1"/>
          <p:nvPr/>
        </p:nvSpPr>
        <p:spPr>
          <a:xfrm>
            <a:off x="11103631" y="6535517"/>
            <a:ext cx="1088369" cy="369332"/>
          </a:xfrm>
          <a:prstGeom prst="rect">
            <a:avLst/>
          </a:prstGeom>
          <a:noFill/>
        </p:spPr>
        <p:txBody>
          <a:bodyPr wrap="square" rtlCol="0">
            <a:spAutoFit/>
          </a:bodyPr>
          <a:lstStyle/>
          <a:p>
            <a:pPr algn="r"/>
            <a:r>
              <a:rPr lang="en-US" altLang="zh-CN" dirty="0"/>
              <a:t>28/29</a:t>
            </a:r>
            <a:endParaRPr lang="zh-CN" altLang="en-US" dirty="0"/>
          </a:p>
        </p:txBody>
      </p:sp>
    </p:spTree>
    <p:extLst>
      <p:ext uri="{BB962C8B-B14F-4D97-AF65-F5344CB8AC3E}">
        <p14:creationId xmlns:p14="http://schemas.microsoft.com/office/powerpoint/2010/main" val="757208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5">
            <a:extLst>
              <a:ext uri="{FF2B5EF4-FFF2-40B4-BE49-F238E27FC236}">
                <a16:creationId xmlns:a16="http://schemas.microsoft.com/office/drawing/2014/main" id="{5329FC85-5B80-A231-54B6-0308FD204CC0}"/>
              </a:ext>
            </a:extLst>
          </p:cNvPr>
          <p:cNvSpPr/>
          <p:nvPr/>
        </p:nvSpPr>
        <p:spPr>
          <a:xfrm>
            <a:off x="1024307" y="3786868"/>
            <a:ext cx="10143386" cy="1985187"/>
          </a:xfrm>
          <a:prstGeom prst="roundRect">
            <a:avLst/>
          </a:prstGeom>
          <a:solidFill>
            <a:srgbClr val="003F88"/>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s-ES"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圆角矩形 5">
            <a:extLst>
              <a:ext uri="{FF2B5EF4-FFF2-40B4-BE49-F238E27FC236}">
                <a16:creationId xmlns:a16="http://schemas.microsoft.com/office/drawing/2014/main" id="{6F939E2B-EFCF-397C-350E-B9BFE9226137}"/>
              </a:ext>
            </a:extLst>
          </p:cNvPr>
          <p:cNvSpPr/>
          <p:nvPr/>
        </p:nvSpPr>
        <p:spPr>
          <a:xfrm>
            <a:off x="1024307" y="1301465"/>
            <a:ext cx="10143386" cy="1985187"/>
          </a:xfrm>
          <a:prstGeom prst="roundRect">
            <a:avLst/>
          </a:prstGeom>
          <a:solidFill>
            <a:srgbClr val="003F88"/>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s-ES"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2" name="直接连接符 1">
            <a:extLst>
              <a:ext uri="{FF2B5EF4-FFF2-40B4-BE49-F238E27FC236}">
                <a16:creationId xmlns:a16="http://schemas.microsoft.com/office/drawing/2014/main" id="{ABB1D33E-6A58-4E88-95E9-6A4048F9D03F}"/>
              </a:ext>
            </a:extLst>
          </p:cNvPr>
          <p:cNvCxnSpPr>
            <a:cxnSpLocks/>
          </p:cNvCxnSpPr>
          <p:nvPr/>
        </p:nvCxnSpPr>
        <p:spPr>
          <a:xfrm>
            <a:off x="0" y="854315"/>
            <a:ext cx="12192000"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DD0E7411-EFC8-4009-A22F-AE54C44AD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4234" y="174524"/>
            <a:ext cx="2045209" cy="568113"/>
          </a:xfrm>
          <a:prstGeom prst="rect">
            <a:avLst/>
          </a:prstGeom>
        </p:spPr>
      </p:pic>
      <p:sp>
        <p:nvSpPr>
          <p:cNvPr id="4" name="矩形 3">
            <a:extLst>
              <a:ext uri="{FF2B5EF4-FFF2-40B4-BE49-F238E27FC236}">
                <a16:creationId xmlns:a16="http://schemas.microsoft.com/office/drawing/2014/main" id="{1AAD606F-562C-40BC-8417-9D9D48E8CC31}"/>
              </a:ext>
            </a:extLst>
          </p:cNvPr>
          <p:cNvSpPr/>
          <p:nvPr/>
        </p:nvSpPr>
        <p:spPr>
          <a:xfrm>
            <a:off x="-17100" y="174526"/>
            <a:ext cx="319314" cy="56810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E2F821-98A7-4B7B-811D-5DAD6270ADCA}"/>
              </a:ext>
            </a:extLst>
          </p:cNvPr>
          <p:cNvSpPr txBox="1"/>
          <p:nvPr/>
        </p:nvSpPr>
        <p:spPr>
          <a:xfrm>
            <a:off x="429656" y="135415"/>
            <a:ext cx="3998411" cy="646331"/>
          </a:xfrm>
          <a:prstGeom prst="rect">
            <a:avLst/>
          </a:prstGeom>
          <a:noFill/>
        </p:spPr>
        <p:txBody>
          <a:bodyPr wrap="square" rtlCol="0">
            <a:spAutoFit/>
          </a:bodyPr>
          <a:lstStyle/>
          <a:p>
            <a:r>
              <a:rPr lang="en-US" altLang="zh-CN" sz="3600" b="1" dirty="0">
                <a:solidFill>
                  <a:srgbClr val="003F88"/>
                </a:solidFill>
                <a:latin typeface="+mn-ea"/>
              </a:rPr>
              <a:t>1.1 </a:t>
            </a:r>
            <a:r>
              <a:rPr lang="zh-CN" altLang="en-US" sz="3600" b="1" dirty="0">
                <a:solidFill>
                  <a:srgbClr val="003F88"/>
                </a:solidFill>
                <a:latin typeface="+mn-ea"/>
              </a:rPr>
              <a:t>节流调速回路</a:t>
            </a:r>
          </a:p>
        </p:txBody>
      </p:sp>
      <p:sp>
        <p:nvSpPr>
          <p:cNvPr id="6" name="矩形 5">
            <a:extLst>
              <a:ext uri="{FF2B5EF4-FFF2-40B4-BE49-F238E27FC236}">
                <a16:creationId xmlns:a16="http://schemas.microsoft.com/office/drawing/2014/main" id="{82832C05-9273-4699-BE48-A11708E849E9}"/>
              </a:ext>
            </a:extLst>
          </p:cNvPr>
          <p:cNvSpPr/>
          <p:nvPr/>
        </p:nvSpPr>
        <p:spPr>
          <a:xfrm>
            <a:off x="1024307" y="1476066"/>
            <a:ext cx="9965426" cy="1689052"/>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zh-CN" altLang="zh-CN" sz="2400" dirty="0">
                <a:solidFill>
                  <a:schemeClr val="bg1"/>
                </a:solidFill>
                <a:latin typeface="+mj-ea"/>
                <a:ea typeface="+mj-ea"/>
                <a:cs typeface="Times New Roman" panose="02020603050405020304" pitchFamily="18" charset="0"/>
              </a:rPr>
              <a:t>使用调速阀的节流调速回路在机床的中、低压小功率进给系统中得到了广泛的应用</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使用溢流节流阀的回路则适用于机床上功率较大的传动系统。</a:t>
            </a:r>
            <a:endParaRPr lang="zh-CN" altLang="zh-CN" dirty="0">
              <a:solidFill>
                <a:schemeClr val="bg1"/>
              </a:solidFill>
              <a:effectLst/>
              <a:latin typeface="+mj-ea"/>
              <a:ea typeface="+mj-ea"/>
              <a:cs typeface="Times New Roman" panose="02020603050405020304" pitchFamily="18" charset="0"/>
            </a:endParaRPr>
          </a:p>
        </p:txBody>
      </p:sp>
      <p:sp>
        <p:nvSpPr>
          <p:cNvPr id="7" name="矩形 6">
            <a:extLst>
              <a:ext uri="{FF2B5EF4-FFF2-40B4-BE49-F238E27FC236}">
                <a16:creationId xmlns:a16="http://schemas.microsoft.com/office/drawing/2014/main" id="{42F0B50C-D894-41C5-8805-3BE41C9B74F8}"/>
              </a:ext>
            </a:extLst>
          </p:cNvPr>
          <p:cNvSpPr/>
          <p:nvPr/>
        </p:nvSpPr>
        <p:spPr>
          <a:xfrm>
            <a:off x="1024307" y="3902299"/>
            <a:ext cx="10143386" cy="1754326"/>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zh-CN" altLang="zh-CN" sz="2400" b="1" dirty="0">
                <a:solidFill>
                  <a:srgbClr val="FFFF00"/>
                </a:solidFill>
                <a:latin typeface="+mj-ea"/>
                <a:ea typeface="+mj-ea"/>
                <a:cs typeface="Times New Roman" panose="02020603050405020304" pitchFamily="18" charset="0"/>
              </a:rPr>
              <a:t>使用比例阀、伺服阀或数字阀的节流调速回路如采用闭环控制</a:t>
            </a:r>
            <a:r>
              <a:rPr lang="en-US" altLang="zh-CN" sz="2400" b="1" dirty="0">
                <a:solidFill>
                  <a:srgbClr val="FFFF00"/>
                </a:solidFill>
                <a:latin typeface="+mj-ea"/>
                <a:ea typeface="+mj-ea"/>
                <a:cs typeface="Times New Roman" panose="02020603050405020304" pitchFamily="18" charset="0"/>
              </a:rPr>
              <a:t>,</a:t>
            </a:r>
            <a:r>
              <a:rPr lang="zh-CN" altLang="zh-CN" sz="2400" b="1" dirty="0">
                <a:solidFill>
                  <a:srgbClr val="FFFF00"/>
                </a:solidFill>
                <a:latin typeface="+mj-ea"/>
                <a:ea typeface="+mj-ea"/>
                <a:cs typeface="Times New Roman" panose="02020603050405020304" pitchFamily="18" charset="0"/>
              </a:rPr>
              <a:t>则回路的工作性能可以大为提高</a:t>
            </a:r>
            <a:r>
              <a:rPr lang="zh-CN" altLang="zh-CN" sz="2400" dirty="0">
                <a:solidFill>
                  <a:schemeClr val="bg1"/>
                </a:solidFill>
                <a:latin typeface="+mj-ea"/>
                <a:ea typeface="+mj-ea"/>
                <a:cs typeface="Times New Roman" panose="02020603050405020304" pitchFamily="18" charset="0"/>
              </a:rPr>
              <a:t>。这些回路的控制装置结构复杂、价格昂贵</a:t>
            </a:r>
            <a:r>
              <a:rPr lang="en-US" altLang="zh-CN" sz="2400" dirty="0">
                <a:solidFill>
                  <a:schemeClr val="bg1"/>
                </a:solidFill>
                <a:latin typeface="+mj-ea"/>
                <a:ea typeface="+mj-ea"/>
                <a:cs typeface="Times New Roman" panose="02020603050405020304" pitchFamily="18" charset="0"/>
              </a:rPr>
              <a:t>,</a:t>
            </a:r>
            <a:r>
              <a:rPr lang="zh-CN" altLang="zh-CN" sz="2400" dirty="0">
                <a:solidFill>
                  <a:schemeClr val="bg1"/>
                </a:solidFill>
                <a:latin typeface="+mj-ea"/>
                <a:ea typeface="+mj-ea"/>
                <a:cs typeface="Times New Roman" panose="02020603050405020304" pitchFamily="18" charset="0"/>
              </a:rPr>
              <a:t>因而只宜在运动精度和平稳性要求很高的场合下使用。</a:t>
            </a:r>
          </a:p>
        </p:txBody>
      </p:sp>
      <p:sp>
        <p:nvSpPr>
          <p:cNvPr id="12" name="文本框 11">
            <a:extLst>
              <a:ext uri="{FF2B5EF4-FFF2-40B4-BE49-F238E27FC236}">
                <a16:creationId xmlns:a16="http://schemas.microsoft.com/office/drawing/2014/main" id="{C5DE7CF6-77EC-49BD-95A5-832FA35DC016}"/>
              </a:ext>
            </a:extLst>
          </p:cNvPr>
          <p:cNvSpPr txBox="1"/>
          <p:nvPr/>
        </p:nvSpPr>
        <p:spPr>
          <a:xfrm>
            <a:off x="11103631" y="6535517"/>
            <a:ext cx="1088369" cy="369332"/>
          </a:xfrm>
          <a:prstGeom prst="rect">
            <a:avLst/>
          </a:prstGeom>
          <a:noFill/>
        </p:spPr>
        <p:txBody>
          <a:bodyPr wrap="square" rtlCol="0">
            <a:spAutoFit/>
          </a:bodyPr>
          <a:lstStyle/>
          <a:p>
            <a:pPr algn="r"/>
            <a:r>
              <a:rPr lang="en-US" altLang="zh-CN" dirty="0"/>
              <a:t>29/29</a:t>
            </a:r>
            <a:endParaRPr lang="zh-CN" altLang="en-US" dirty="0"/>
          </a:p>
        </p:txBody>
      </p:sp>
    </p:spTree>
    <p:extLst>
      <p:ext uri="{BB962C8B-B14F-4D97-AF65-F5344CB8AC3E}">
        <p14:creationId xmlns:p14="http://schemas.microsoft.com/office/powerpoint/2010/main" val="235268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arial">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1328</TotalTime>
  <Words>2685</Words>
  <Application>Microsoft Office PowerPoint</Application>
  <PresentationFormat>宽屏</PresentationFormat>
  <Paragraphs>218</Paragraphs>
  <Slides>30</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30</vt:i4>
      </vt:variant>
    </vt:vector>
  </HeadingPairs>
  <TitlesOfParts>
    <vt:vector size="44" baseType="lpstr">
      <vt:lpstr>等线</vt:lpstr>
      <vt:lpstr>黑体</vt:lpstr>
      <vt:lpstr>华文中宋</vt:lpstr>
      <vt:lpstr>宋体</vt:lpstr>
      <vt:lpstr>微软雅黑</vt:lpstr>
      <vt:lpstr>Arial</vt:lpstr>
      <vt:lpstr>Cambria Math</vt:lpstr>
      <vt:lpstr>Comic Sans MS</vt:lpstr>
      <vt:lpstr>Tahoma</vt:lpstr>
      <vt:lpstr>Times New Roman</vt:lpstr>
      <vt:lpstr>Wingdings</vt:lpstr>
      <vt:lpstr>Office 主题​​</vt:lpstr>
      <vt:lpstr>Equation</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dc:creator>
  <cp:lastModifiedBy>bin lou</cp:lastModifiedBy>
  <cp:revision>136</cp:revision>
  <dcterms:created xsi:type="dcterms:W3CDTF">2024-06-04T23:12:24Z</dcterms:created>
  <dcterms:modified xsi:type="dcterms:W3CDTF">2025-12-17T01:49:20Z</dcterms:modified>
</cp:coreProperties>
</file>