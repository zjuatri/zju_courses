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gif" ContentType="image/gif"/>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2"/>
  </p:notesMasterIdLst>
  <p:sldIdLst>
    <p:sldId id="348" r:id="rId2"/>
    <p:sldId id="372" r:id="rId3"/>
    <p:sldId id="351" r:id="rId4"/>
    <p:sldId id="355" r:id="rId5"/>
    <p:sldId id="356" r:id="rId6"/>
    <p:sldId id="357" r:id="rId7"/>
    <p:sldId id="369" r:id="rId8"/>
    <p:sldId id="358" r:id="rId9"/>
    <p:sldId id="370" r:id="rId10"/>
    <p:sldId id="371" r:id="rId11"/>
    <p:sldId id="360" r:id="rId12"/>
    <p:sldId id="361" r:id="rId13"/>
    <p:sldId id="362" r:id="rId14"/>
    <p:sldId id="363" r:id="rId15"/>
    <p:sldId id="364" r:id="rId16"/>
    <p:sldId id="365" r:id="rId17"/>
    <p:sldId id="366" r:id="rId18"/>
    <p:sldId id="367" r:id="rId19"/>
    <p:sldId id="368" r:id="rId20"/>
    <p:sldId id="336" r:id="rId21"/>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模板主体" id="{FC27560C-544F-432D-A08E-A637859AB426}">
          <p14:sldIdLst>
            <p14:sldId id="348"/>
            <p14:sldId id="372"/>
            <p14:sldId id="351"/>
            <p14:sldId id="355"/>
            <p14:sldId id="356"/>
            <p14:sldId id="357"/>
            <p14:sldId id="369"/>
            <p14:sldId id="358"/>
            <p14:sldId id="370"/>
            <p14:sldId id="371"/>
            <p14:sldId id="360"/>
            <p14:sldId id="361"/>
            <p14:sldId id="362"/>
            <p14:sldId id="363"/>
            <p14:sldId id="364"/>
            <p14:sldId id="365"/>
            <p14:sldId id="366"/>
            <p14:sldId id="367"/>
            <p14:sldId id="368"/>
          </p14:sldIdLst>
        </p14:section>
        <p14:section name="素材页" id="{17B3877C-3808-4C73-A1F5-D64D89A0C3AC}">
          <p14:sldIdLst>
            <p14:sldId id="33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FF"/>
    <a:srgbClr val="003F88"/>
    <a:srgbClr val="8994BD"/>
    <a:srgbClr val="96A2D0"/>
    <a:srgbClr val="93BFF5"/>
    <a:srgbClr val="E6E6E6"/>
    <a:srgbClr val="3A68B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013" autoAdjust="0"/>
    <p:restoredTop sz="94660"/>
  </p:normalViewPr>
  <p:slideViewPr>
    <p:cSldViewPr snapToGrid="0">
      <p:cViewPr varScale="1">
        <p:scale>
          <a:sx n="96" d="100"/>
          <a:sy n="96" d="100"/>
        </p:scale>
        <p:origin x="456" y="5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E9EBC71-470F-4178-8939-B7F43C998C3E}" type="datetimeFigureOut">
              <a:rPr lang="zh-CN" altLang="en-US" smtClean="0"/>
              <a:t>2025/12/21</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37F53EF-5364-44E3-BFA2-84231755F7E3}" type="slidenum">
              <a:rPr lang="zh-CN" altLang="en-US" smtClean="0"/>
              <a:t>‹#›</a:t>
            </a:fld>
            <a:endParaRPr lang="zh-CN" altLang="en-US"/>
          </a:p>
        </p:txBody>
      </p:sp>
    </p:spTree>
    <p:extLst>
      <p:ext uri="{BB962C8B-B14F-4D97-AF65-F5344CB8AC3E}">
        <p14:creationId xmlns:p14="http://schemas.microsoft.com/office/powerpoint/2010/main" val="3189640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46493049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53731249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8CF4B11-F572-4DFC-9C9B-6A3CD1BCE16B}"/>
              </a:ext>
            </a:extLst>
          </p:cNvPr>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a:extLst>
              <a:ext uri="{FF2B5EF4-FFF2-40B4-BE49-F238E27FC236}">
                <a16:creationId xmlns:a16="http://schemas.microsoft.com/office/drawing/2014/main" id="{7234C54C-1BA6-440A-8D1B-F8BCE242FF8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a:extLst>
              <a:ext uri="{FF2B5EF4-FFF2-40B4-BE49-F238E27FC236}">
                <a16:creationId xmlns:a16="http://schemas.microsoft.com/office/drawing/2014/main" id="{F756EE14-5E8C-42D6-8B1C-138B21B7F80B}"/>
              </a:ext>
            </a:extLst>
          </p:cNvPr>
          <p:cNvSpPr>
            <a:spLocks noGrp="1"/>
          </p:cNvSpPr>
          <p:nvPr>
            <p:ph type="dt" sz="half" idx="10"/>
          </p:nvPr>
        </p:nvSpPr>
        <p:spPr/>
        <p:txBody>
          <a:bodyPr/>
          <a:lstStyle/>
          <a:p>
            <a:fld id="{6FAC1865-B79A-43E4-B218-34456B6B12C9}" type="datetimeFigureOut">
              <a:rPr lang="zh-CN" altLang="en-US" smtClean="0"/>
              <a:t>2025/12/21</a:t>
            </a:fld>
            <a:endParaRPr lang="zh-CN" altLang="en-US"/>
          </a:p>
        </p:txBody>
      </p:sp>
      <p:sp>
        <p:nvSpPr>
          <p:cNvPr id="5" name="页脚占位符 4">
            <a:extLst>
              <a:ext uri="{FF2B5EF4-FFF2-40B4-BE49-F238E27FC236}">
                <a16:creationId xmlns:a16="http://schemas.microsoft.com/office/drawing/2014/main" id="{20189FBD-18D7-4E8C-AC37-C54A7E72E50A}"/>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AA2B2B56-4F25-4616-A188-56D2ACCF11D7}"/>
              </a:ext>
            </a:extLst>
          </p:cNvPr>
          <p:cNvSpPr>
            <a:spLocks noGrp="1"/>
          </p:cNvSpPr>
          <p:nvPr>
            <p:ph type="sldNum" sz="quarter" idx="12"/>
          </p:nvPr>
        </p:nvSpPr>
        <p:spPr/>
        <p:txBody>
          <a:bodyPr/>
          <a:lstStyle/>
          <a:p>
            <a:fld id="{3FEE32C2-5FDC-40E1-AD53-545CC803DDCB}" type="slidenum">
              <a:rPr lang="zh-CN" altLang="en-US" smtClean="0"/>
              <a:t>‹#›</a:t>
            </a:fld>
            <a:endParaRPr lang="zh-CN" altLang="en-US"/>
          </a:p>
        </p:txBody>
      </p:sp>
    </p:spTree>
    <p:extLst>
      <p:ext uri="{BB962C8B-B14F-4D97-AF65-F5344CB8AC3E}">
        <p14:creationId xmlns:p14="http://schemas.microsoft.com/office/powerpoint/2010/main" val="42324783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04D3867-6D2D-4593-AC3F-B8E58C87261D}"/>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0236C074-A1D1-4AA5-8442-2C11F3B581F9}"/>
              </a:ext>
            </a:extLst>
          </p:cNvPr>
          <p:cNvSpPr>
            <a:spLocks noGrp="1"/>
          </p:cNvSpPr>
          <p:nvPr>
            <p:ph idx="1"/>
          </p:nvPr>
        </p:nvSpPr>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a:extLst>
              <a:ext uri="{FF2B5EF4-FFF2-40B4-BE49-F238E27FC236}">
                <a16:creationId xmlns:a16="http://schemas.microsoft.com/office/drawing/2014/main" id="{DD4E8C40-44F5-4283-BF35-89F2C43027F0}"/>
              </a:ext>
            </a:extLst>
          </p:cNvPr>
          <p:cNvSpPr>
            <a:spLocks noGrp="1"/>
          </p:cNvSpPr>
          <p:nvPr>
            <p:ph type="dt" sz="half" idx="10"/>
          </p:nvPr>
        </p:nvSpPr>
        <p:spPr/>
        <p:txBody>
          <a:bodyPr/>
          <a:lstStyle/>
          <a:p>
            <a:fld id="{6FAC1865-B79A-43E4-B218-34456B6B12C9}" type="datetimeFigureOut">
              <a:rPr lang="zh-CN" altLang="en-US" smtClean="0"/>
              <a:t>2025/12/21</a:t>
            </a:fld>
            <a:endParaRPr lang="zh-CN" altLang="en-US"/>
          </a:p>
        </p:txBody>
      </p:sp>
      <p:sp>
        <p:nvSpPr>
          <p:cNvPr id="5" name="页脚占位符 4">
            <a:extLst>
              <a:ext uri="{FF2B5EF4-FFF2-40B4-BE49-F238E27FC236}">
                <a16:creationId xmlns:a16="http://schemas.microsoft.com/office/drawing/2014/main" id="{65CA79F0-95A9-4981-8FB9-04D63D57C763}"/>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40BEDC06-5A03-4F54-9BA2-842910E536FB}"/>
              </a:ext>
            </a:extLst>
          </p:cNvPr>
          <p:cNvSpPr>
            <a:spLocks noGrp="1"/>
          </p:cNvSpPr>
          <p:nvPr>
            <p:ph type="sldNum" sz="quarter" idx="12"/>
          </p:nvPr>
        </p:nvSpPr>
        <p:spPr/>
        <p:txBody>
          <a:bodyPr/>
          <a:lstStyle/>
          <a:p>
            <a:fld id="{3FEE32C2-5FDC-40E1-AD53-545CC803DDCB}" type="slidenum">
              <a:rPr lang="zh-CN" altLang="en-US" smtClean="0"/>
              <a:t>‹#›</a:t>
            </a:fld>
            <a:endParaRPr lang="zh-CN" altLang="en-US"/>
          </a:p>
        </p:txBody>
      </p:sp>
    </p:spTree>
    <p:extLst>
      <p:ext uri="{BB962C8B-B14F-4D97-AF65-F5344CB8AC3E}">
        <p14:creationId xmlns:p14="http://schemas.microsoft.com/office/powerpoint/2010/main" val="2359116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E733D58-C466-44BC-972E-587AD0D45D69}"/>
              </a:ext>
            </a:extLst>
          </p:cNvPr>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a:extLst>
              <a:ext uri="{FF2B5EF4-FFF2-40B4-BE49-F238E27FC236}">
                <a16:creationId xmlns:a16="http://schemas.microsoft.com/office/drawing/2014/main" id="{2E393EC4-145A-485A-A568-F282A0CC0D5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编辑母版文本样式</a:t>
            </a:r>
          </a:p>
        </p:txBody>
      </p:sp>
      <p:sp>
        <p:nvSpPr>
          <p:cNvPr id="4" name="日期占位符 3">
            <a:extLst>
              <a:ext uri="{FF2B5EF4-FFF2-40B4-BE49-F238E27FC236}">
                <a16:creationId xmlns:a16="http://schemas.microsoft.com/office/drawing/2014/main" id="{9F3AAC01-5E49-476A-88CC-1D58B2399EA7}"/>
              </a:ext>
            </a:extLst>
          </p:cNvPr>
          <p:cNvSpPr>
            <a:spLocks noGrp="1"/>
          </p:cNvSpPr>
          <p:nvPr>
            <p:ph type="dt" sz="half" idx="10"/>
          </p:nvPr>
        </p:nvSpPr>
        <p:spPr/>
        <p:txBody>
          <a:bodyPr/>
          <a:lstStyle/>
          <a:p>
            <a:fld id="{6FAC1865-B79A-43E4-B218-34456B6B12C9}" type="datetimeFigureOut">
              <a:rPr lang="zh-CN" altLang="en-US" smtClean="0"/>
              <a:t>2025/12/21</a:t>
            </a:fld>
            <a:endParaRPr lang="zh-CN" altLang="en-US"/>
          </a:p>
        </p:txBody>
      </p:sp>
      <p:sp>
        <p:nvSpPr>
          <p:cNvPr id="5" name="页脚占位符 4">
            <a:extLst>
              <a:ext uri="{FF2B5EF4-FFF2-40B4-BE49-F238E27FC236}">
                <a16:creationId xmlns:a16="http://schemas.microsoft.com/office/drawing/2014/main" id="{BC6AC38B-B467-4222-AA44-0AD3BDE40584}"/>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8370A2F9-2C51-4DAD-89D5-D291EEEBA1FC}"/>
              </a:ext>
            </a:extLst>
          </p:cNvPr>
          <p:cNvSpPr>
            <a:spLocks noGrp="1"/>
          </p:cNvSpPr>
          <p:nvPr>
            <p:ph type="sldNum" sz="quarter" idx="12"/>
          </p:nvPr>
        </p:nvSpPr>
        <p:spPr/>
        <p:txBody>
          <a:bodyPr/>
          <a:lstStyle/>
          <a:p>
            <a:fld id="{3FEE32C2-5FDC-40E1-AD53-545CC803DDCB}" type="slidenum">
              <a:rPr lang="zh-CN" altLang="en-US" smtClean="0"/>
              <a:t>‹#›</a:t>
            </a:fld>
            <a:endParaRPr lang="zh-CN" altLang="en-US"/>
          </a:p>
        </p:txBody>
      </p:sp>
    </p:spTree>
    <p:extLst>
      <p:ext uri="{BB962C8B-B14F-4D97-AF65-F5344CB8AC3E}">
        <p14:creationId xmlns:p14="http://schemas.microsoft.com/office/powerpoint/2010/main" val="34849231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23BEE30-4BA4-4E5D-91A1-423AC1F6AA84}"/>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CB4895D3-5779-4E7B-96AD-64C7403E07E4}"/>
              </a:ext>
            </a:extLst>
          </p:cNvPr>
          <p:cNvSpPr>
            <a:spLocks noGrp="1"/>
          </p:cNvSpPr>
          <p:nvPr>
            <p:ph sz="half" idx="1"/>
          </p:nvPr>
        </p:nvSpPr>
        <p:spPr>
          <a:xfrm>
            <a:off x="838200" y="1825625"/>
            <a:ext cx="5181600" cy="4351338"/>
          </a:xfrm>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a:extLst>
              <a:ext uri="{FF2B5EF4-FFF2-40B4-BE49-F238E27FC236}">
                <a16:creationId xmlns:a16="http://schemas.microsoft.com/office/drawing/2014/main" id="{B0AE0855-595B-4F82-8B46-039050CA2449}"/>
              </a:ext>
            </a:extLst>
          </p:cNvPr>
          <p:cNvSpPr>
            <a:spLocks noGrp="1"/>
          </p:cNvSpPr>
          <p:nvPr>
            <p:ph sz="half" idx="2"/>
          </p:nvPr>
        </p:nvSpPr>
        <p:spPr>
          <a:xfrm>
            <a:off x="6172200" y="1825625"/>
            <a:ext cx="5181600" cy="4351338"/>
          </a:xfrm>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日期占位符 4">
            <a:extLst>
              <a:ext uri="{FF2B5EF4-FFF2-40B4-BE49-F238E27FC236}">
                <a16:creationId xmlns:a16="http://schemas.microsoft.com/office/drawing/2014/main" id="{BAA3D155-16F0-4A38-A2D0-09D219FE70F5}"/>
              </a:ext>
            </a:extLst>
          </p:cNvPr>
          <p:cNvSpPr>
            <a:spLocks noGrp="1"/>
          </p:cNvSpPr>
          <p:nvPr>
            <p:ph type="dt" sz="half" idx="10"/>
          </p:nvPr>
        </p:nvSpPr>
        <p:spPr/>
        <p:txBody>
          <a:bodyPr/>
          <a:lstStyle/>
          <a:p>
            <a:fld id="{6FAC1865-B79A-43E4-B218-34456B6B12C9}" type="datetimeFigureOut">
              <a:rPr lang="zh-CN" altLang="en-US" smtClean="0"/>
              <a:t>2025/12/21</a:t>
            </a:fld>
            <a:endParaRPr lang="zh-CN" altLang="en-US"/>
          </a:p>
        </p:txBody>
      </p:sp>
      <p:sp>
        <p:nvSpPr>
          <p:cNvPr id="6" name="页脚占位符 5">
            <a:extLst>
              <a:ext uri="{FF2B5EF4-FFF2-40B4-BE49-F238E27FC236}">
                <a16:creationId xmlns:a16="http://schemas.microsoft.com/office/drawing/2014/main" id="{7631401B-6434-4F3F-9D1F-1E1D4889FC2F}"/>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33CDCBEC-7E66-4D99-9199-750DC27EA063}"/>
              </a:ext>
            </a:extLst>
          </p:cNvPr>
          <p:cNvSpPr>
            <a:spLocks noGrp="1"/>
          </p:cNvSpPr>
          <p:nvPr>
            <p:ph type="sldNum" sz="quarter" idx="12"/>
          </p:nvPr>
        </p:nvSpPr>
        <p:spPr/>
        <p:txBody>
          <a:bodyPr/>
          <a:lstStyle/>
          <a:p>
            <a:fld id="{3FEE32C2-5FDC-40E1-AD53-545CC803DDCB}" type="slidenum">
              <a:rPr lang="zh-CN" altLang="en-US" smtClean="0"/>
              <a:t>‹#›</a:t>
            </a:fld>
            <a:endParaRPr lang="zh-CN" altLang="en-US"/>
          </a:p>
        </p:txBody>
      </p:sp>
    </p:spTree>
    <p:extLst>
      <p:ext uri="{BB962C8B-B14F-4D97-AF65-F5344CB8AC3E}">
        <p14:creationId xmlns:p14="http://schemas.microsoft.com/office/powerpoint/2010/main" val="23963281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06667EB-8340-4492-B3A9-A728F915AC5E}"/>
              </a:ext>
            </a:extLst>
          </p:cNvPr>
          <p:cNvSpPr>
            <a:spLocks noGrp="1"/>
          </p:cNvSpPr>
          <p:nvPr>
            <p:ph type="title"/>
          </p:nvPr>
        </p:nvSpPr>
        <p:spPr>
          <a:xfrm>
            <a:off x="839788" y="365125"/>
            <a:ext cx="10515600" cy="1325563"/>
          </a:xfrm>
        </p:spPr>
        <p:txBody>
          <a:bodyPr/>
          <a:lstStyle/>
          <a:p>
            <a:r>
              <a:rPr lang="zh-CN" altLang="en-US"/>
              <a:t>单击此处编辑母版标题样式</a:t>
            </a:r>
          </a:p>
        </p:txBody>
      </p:sp>
      <p:sp>
        <p:nvSpPr>
          <p:cNvPr id="3" name="文本占位符 2">
            <a:extLst>
              <a:ext uri="{FF2B5EF4-FFF2-40B4-BE49-F238E27FC236}">
                <a16:creationId xmlns:a16="http://schemas.microsoft.com/office/drawing/2014/main" id="{99B05EE6-A0EE-49F6-8DB2-93C313DEC07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编辑母版文本样式</a:t>
            </a:r>
          </a:p>
        </p:txBody>
      </p:sp>
      <p:sp>
        <p:nvSpPr>
          <p:cNvPr id="4" name="内容占位符 3">
            <a:extLst>
              <a:ext uri="{FF2B5EF4-FFF2-40B4-BE49-F238E27FC236}">
                <a16:creationId xmlns:a16="http://schemas.microsoft.com/office/drawing/2014/main" id="{C3D33B3B-D619-44C0-B8FF-6BB33C540076}"/>
              </a:ext>
            </a:extLst>
          </p:cNvPr>
          <p:cNvSpPr>
            <a:spLocks noGrp="1"/>
          </p:cNvSpPr>
          <p:nvPr>
            <p:ph sz="half" idx="2"/>
          </p:nvPr>
        </p:nvSpPr>
        <p:spPr>
          <a:xfrm>
            <a:off x="839788" y="2505075"/>
            <a:ext cx="5157787" cy="3684588"/>
          </a:xfrm>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a:extLst>
              <a:ext uri="{FF2B5EF4-FFF2-40B4-BE49-F238E27FC236}">
                <a16:creationId xmlns:a16="http://schemas.microsoft.com/office/drawing/2014/main" id="{533DD8DF-90AF-4AA9-A4AF-7040FF4B726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编辑母版文本样式</a:t>
            </a:r>
          </a:p>
        </p:txBody>
      </p:sp>
      <p:sp>
        <p:nvSpPr>
          <p:cNvPr id="6" name="内容占位符 5">
            <a:extLst>
              <a:ext uri="{FF2B5EF4-FFF2-40B4-BE49-F238E27FC236}">
                <a16:creationId xmlns:a16="http://schemas.microsoft.com/office/drawing/2014/main" id="{5419D37D-A566-4F60-A4C3-78BCB7CF329E}"/>
              </a:ext>
            </a:extLst>
          </p:cNvPr>
          <p:cNvSpPr>
            <a:spLocks noGrp="1"/>
          </p:cNvSpPr>
          <p:nvPr>
            <p:ph sz="quarter" idx="4"/>
          </p:nvPr>
        </p:nvSpPr>
        <p:spPr>
          <a:xfrm>
            <a:off x="6172200" y="2505075"/>
            <a:ext cx="5183188" cy="3684588"/>
          </a:xfrm>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7" name="日期占位符 6">
            <a:extLst>
              <a:ext uri="{FF2B5EF4-FFF2-40B4-BE49-F238E27FC236}">
                <a16:creationId xmlns:a16="http://schemas.microsoft.com/office/drawing/2014/main" id="{A9CBCC86-6C82-4A0D-9287-32A6405E6B0A}"/>
              </a:ext>
            </a:extLst>
          </p:cNvPr>
          <p:cNvSpPr>
            <a:spLocks noGrp="1"/>
          </p:cNvSpPr>
          <p:nvPr>
            <p:ph type="dt" sz="half" idx="10"/>
          </p:nvPr>
        </p:nvSpPr>
        <p:spPr/>
        <p:txBody>
          <a:bodyPr/>
          <a:lstStyle/>
          <a:p>
            <a:fld id="{6FAC1865-B79A-43E4-B218-34456B6B12C9}" type="datetimeFigureOut">
              <a:rPr lang="zh-CN" altLang="en-US" smtClean="0"/>
              <a:t>2025/12/21</a:t>
            </a:fld>
            <a:endParaRPr lang="zh-CN" altLang="en-US"/>
          </a:p>
        </p:txBody>
      </p:sp>
      <p:sp>
        <p:nvSpPr>
          <p:cNvPr id="8" name="页脚占位符 7">
            <a:extLst>
              <a:ext uri="{FF2B5EF4-FFF2-40B4-BE49-F238E27FC236}">
                <a16:creationId xmlns:a16="http://schemas.microsoft.com/office/drawing/2014/main" id="{05E0DED7-DA23-4400-97A1-04B7573C8781}"/>
              </a:ext>
            </a:extLst>
          </p:cNvPr>
          <p:cNvSpPr>
            <a:spLocks noGrp="1"/>
          </p:cNvSpPr>
          <p:nvPr>
            <p:ph type="ftr" sz="quarter" idx="11"/>
          </p:nvPr>
        </p:nvSpPr>
        <p:spPr/>
        <p:txBody>
          <a:bodyPr/>
          <a:lstStyle/>
          <a:p>
            <a:endParaRPr lang="zh-CN" altLang="en-US"/>
          </a:p>
        </p:txBody>
      </p:sp>
      <p:sp>
        <p:nvSpPr>
          <p:cNvPr id="9" name="灯片编号占位符 8">
            <a:extLst>
              <a:ext uri="{FF2B5EF4-FFF2-40B4-BE49-F238E27FC236}">
                <a16:creationId xmlns:a16="http://schemas.microsoft.com/office/drawing/2014/main" id="{C0606BFF-B2FB-4915-9F3A-2C98A7665330}"/>
              </a:ext>
            </a:extLst>
          </p:cNvPr>
          <p:cNvSpPr>
            <a:spLocks noGrp="1"/>
          </p:cNvSpPr>
          <p:nvPr>
            <p:ph type="sldNum" sz="quarter" idx="12"/>
          </p:nvPr>
        </p:nvSpPr>
        <p:spPr/>
        <p:txBody>
          <a:bodyPr/>
          <a:lstStyle/>
          <a:p>
            <a:fld id="{3FEE32C2-5FDC-40E1-AD53-545CC803DDCB}" type="slidenum">
              <a:rPr lang="zh-CN" altLang="en-US" smtClean="0"/>
              <a:t>‹#›</a:t>
            </a:fld>
            <a:endParaRPr lang="zh-CN" altLang="en-US"/>
          </a:p>
        </p:txBody>
      </p:sp>
    </p:spTree>
    <p:extLst>
      <p:ext uri="{BB962C8B-B14F-4D97-AF65-F5344CB8AC3E}">
        <p14:creationId xmlns:p14="http://schemas.microsoft.com/office/powerpoint/2010/main" val="618317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ABA1051-BA71-4574-BFA1-AC004EC5189C}"/>
              </a:ext>
            </a:extLst>
          </p:cNvPr>
          <p:cNvSpPr>
            <a:spLocks noGrp="1"/>
          </p:cNvSpPr>
          <p:nvPr>
            <p:ph type="title"/>
          </p:nvPr>
        </p:nvSpPr>
        <p:spPr/>
        <p:txBody>
          <a:bodyPr/>
          <a:lstStyle/>
          <a:p>
            <a:r>
              <a:rPr lang="zh-CN" altLang="en-US"/>
              <a:t>单击此处编辑母版标题样式</a:t>
            </a:r>
          </a:p>
        </p:txBody>
      </p:sp>
      <p:sp>
        <p:nvSpPr>
          <p:cNvPr id="3" name="日期占位符 2">
            <a:extLst>
              <a:ext uri="{FF2B5EF4-FFF2-40B4-BE49-F238E27FC236}">
                <a16:creationId xmlns:a16="http://schemas.microsoft.com/office/drawing/2014/main" id="{7B350898-1F22-4B99-BE58-E24B18BB028D}"/>
              </a:ext>
            </a:extLst>
          </p:cNvPr>
          <p:cNvSpPr>
            <a:spLocks noGrp="1"/>
          </p:cNvSpPr>
          <p:nvPr>
            <p:ph type="dt" sz="half" idx="10"/>
          </p:nvPr>
        </p:nvSpPr>
        <p:spPr/>
        <p:txBody>
          <a:bodyPr/>
          <a:lstStyle/>
          <a:p>
            <a:fld id="{6FAC1865-B79A-43E4-B218-34456B6B12C9}" type="datetimeFigureOut">
              <a:rPr lang="zh-CN" altLang="en-US" smtClean="0"/>
              <a:t>2025/12/21</a:t>
            </a:fld>
            <a:endParaRPr lang="zh-CN" altLang="en-US"/>
          </a:p>
        </p:txBody>
      </p:sp>
      <p:sp>
        <p:nvSpPr>
          <p:cNvPr id="4" name="页脚占位符 3">
            <a:extLst>
              <a:ext uri="{FF2B5EF4-FFF2-40B4-BE49-F238E27FC236}">
                <a16:creationId xmlns:a16="http://schemas.microsoft.com/office/drawing/2014/main" id="{01EC05BB-0041-4C92-95D3-6E3D1B7E521B}"/>
              </a:ext>
            </a:extLst>
          </p:cNvPr>
          <p:cNvSpPr>
            <a:spLocks noGrp="1"/>
          </p:cNvSpPr>
          <p:nvPr>
            <p:ph type="ftr" sz="quarter" idx="11"/>
          </p:nvPr>
        </p:nvSpPr>
        <p:spPr/>
        <p:txBody>
          <a:bodyPr/>
          <a:lstStyle/>
          <a:p>
            <a:endParaRPr lang="zh-CN" altLang="en-US"/>
          </a:p>
        </p:txBody>
      </p:sp>
      <p:sp>
        <p:nvSpPr>
          <p:cNvPr id="5" name="灯片编号占位符 4">
            <a:extLst>
              <a:ext uri="{FF2B5EF4-FFF2-40B4-BE49-F238E27FC236}">
                <a16:creationId xmlns:a16="http://schemas.microsoft.com/office/drawing/2014/main" id="{6AB48AC8-E018-466A-90AF-663F9BDF9D6B}"/>
              </a:ext>
            </a:extLst>
          </p:cNvPr>
          <p:cNvSpPr>
            <a:spLocks noGrp="1"/>
          </p:cNvSpPr>
          <p:nvPr>
            <p:ph type="sldNum" sz="quarter" idx="12"/>
          </p:nvPr>
        </p:nvSpPr>
        <p:spPr/>
        <p:txBody>
          <a:bodyPr/>
          <a:lstStyle/>
          <a:p>
            <a:fld id="{3FEE32C2-5FDC-40E1-AD53-545CC803DDCB}" type="slidenum">
              <a:rPr lang="zh-CN" altLang="en-US" smtClean="0"/>
              <a:t>‹#›</a:t>
            </a:fld>
            <a:endParaRPr lang="zh-CN" altLang="en-US"/>
          </a:p>
        </p:txBody>
      </p:sp>
    </p:spTree>
    <p:extLst>
      <p:ext uri="{BB962C8B-B14F-4D97-AF65-F5344CB8AC3E}">
        <p14:creationId xmlns:p14="http://schemas.microsoft.com/office/powerpoint/2010/main" val="14843322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785E6A85-9742-4F96-B4AF-2D30690A99D2}"/>
              </a:ext>
            </a:extLst>
          </p:cNvPr>
          <p:cNvSpPr>
            <a:spLocks noGrp="1"/>
          </p:cNvSpPr>
          <p:nvPr>
            <p:ph type="dt" sz="half" idx="10"/>
          </p:nvPr>
        </p:nvSpPr>
        <p:spPr/>
        <p:txBody>
          <a:bodyPr/>
          <a:lstStyle/>
          <a:p>
            <a:fld id="{6FAC1865-B79A-43E4-B218-34456B6B12C9}" type="datetimeFigureOut">
              <a:rPr lang="zh-CN" altLang="en-US" smtClean="0"/>
              <a:t>2025/12/21</a:t>
            </a:fld>
            <a:endParaRPr lang="zh-CN" altLang="en-US"/>
          </a:p>
        </p:txBody>
      </p:sp>
      <p:sp>
        <p:nvSpPr>
          <p:cNvPr id="3" name="页脚占位符 2">
            <a:extLst>
              <a:ext uri="{FF2B5EF4-FFF2-40B4-BE49-F238E27FC236}">
                <a16:creationId xmlns:a16="http://schemas.microsoft.com/office/drawing/2014/main" id="{7C0D9671-8387-49B9-9224-F8D5E04A93B4}"/>
              </a:ext>
            </a:extLst>
          </p:cNvPr>
          <p:cNvSpPr>
            <a:spLocks noGrp="1"/>
          </p:cNvSpPr>
          <p:nvPr>
            <p:ph type="ftr" sz="quarter" idx="11"/>
          </p:nvPr>
        </p:nvSpPr>
        <p:spPr/>
        <p:txBody>
          <a:bodyPr/>
          <a:lstStyle/>
          <a:p>
            <a:endParaRPr lang="zh-CN" altLang="en-US"/>
          </a:p>
        </p:txBody>
      </p:sp>
      <p:sp>
        <p:nvSpPr>
          <p:cNvPr id="4" name="灯片编号占位符 3">
            <a:extLst>
              <a:ext uri="{FF2B5EF4-FFF2-40B4-BE49-F238E27FC236}">
                <a16:creationId xmlns:a16="http://schemas.microsoft.com/office/drawing/2014/main" id="{A3482766-12A4-4E9D-A598-FC84A590B269}"/>
              </a:ext>
            </a:extLst>
          </p:cNvPr>
          <p:cNvSpPr>
            <a:spLocks noGrp="1"/>
          </p:cNvSpPr>
          <p:nvPr>
            <p:ph type="sldNum" sz="quarter" idx="12"/>
          </p:nvPr>
        </p:nvSpPr>
        <p:spPr/>
        <p:txBody>
          <a:bodyPr/>
          <a:lstStyle/>
          <a:p>
            <a:fld id="{3FEE32C2-5FDC-40E1-AD53-545CC803DDCB}" type="slidenum">
              <a:rPr lang="zh-CN" altLang="en-US" smtClean="0"/>
              <a:t>‹#›</a:t>
            </a:fld>
            <a:endParaRPr lang="zh-CN" altLang="en-US"/>
          </a:p>
        </p:txBody>
      </p:sp>
    </p:spTree>
    <p:extLst>
      <p:ext uri="{BB962C8B-B14F-4D97-AF65-F5344CB8AC3E}">
        <p14:creationId xmlns:p14="http://schemas.microsoft.com/office/powerpoint/2010/main" val="13782934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B4EBE77-9C31-4448-92F6-8E2538C72AD0}"/>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内容占位符 2">
            <a:extLst>
              <a:ext uri="{FF2B5EF4-FFF2-40B4-BE49-F238E27FC236}">
                <a16:creationId xmlns:a16="http://schemas.microsoft.com/office/drawing/2014/main" id="{0C5A61C7-FA85-41FA-8268-50935F00E3E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a:extLst>
              <a:ext uri="{FF2B5EF4-FFF2-40B4-BE49-F238E27FC236}">
                <a16:creationId xmlns:a16="http://schemas.microsoft.com/office/drawing/2014/main" id="{65910FFD-3BF9-4DCA-AE14-49BC3137B0F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编辑母版文本样式</a:t>
            </a:r>
          </a:p>
        </p:txBody>
      </p:sp>
      <p:sp>
        <p:nvSpPr>
          <p:cNvPr id="5" name="日期占位符 4">
            <a:extLst>
              <a:ext uri="{FF2B5EF4-FFF2-40B4-BE49-F238E27FC236}">
                <a16:creationId xmlns:a16="http://schemas.microsoft.com/office/drawing/2014/main" id="{217DE66C-12DC-44D6-966F-E3121467991C}"/>
              </a:ext>
            </a:extLst>
          </p:cNvPr>
          <p:cNvSpPr>
            <a:spLocks noGrp="1"/>
          </p:cNvSpPr>
          <p:nvPr>
            <p:ph type="dt" sz="half" idx="10"/>
          </p:nvPr>
        </p:nvSpPr>
        <p:spPr/>
        <p:txBody>
          <a:bodyPr/>
          <a:lstStyle/>
          <a:p>
            <a:fld id="{6FAC1865-B79A-43E4-B218-34456B6B12C9}" type="datetimeFigureOut">
              <a:rPr lang="zh-CN" altLang="en-US" smtClean="0"/>
              <a:t>2025/12/21</a:t>
            </a:fld>
            <a:endParaRPr lang="zh-CN" altLang="en-US"/>
          </a:p>
        </p:txBody>
      </p:sp>
      <p:sp>
        <p:nvSpPr>
          <p:cNvPr id="6" name="页脚占位符 5">
            <a:extLst>
              <a:ext uri="{FF2B5EF4-FFF2-40B4-BE49-F238E27FC236}">
                <a16:creationId xmlns:a16="http://schemas.microsoft.com/office/drawing/2014/main" id="{EC991129-C6C5-40AE-B3CD-E3A8E7F5ECD4}"/>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703AA085-B50D-4BD5-BC03-E1841817F767}"/>
              </a:ext>
            </a:extLst>
          </p:cNvPr>
          <p:cNvSpPr>
            <a:spLocks noGrp="1"/>
          </p:cNvSpPr>
          <p:nvPr>
            <p:ph type="sldNum" sz="quarter" idx="12"/>
          </p:nvPr>
        </p:nvSpPr>
        <p:spPr/>
        <p:txBody>
          <a:bodyPr/>
          <a:lstStyle/>
          <a:p>
            <a:fld id="{3FEE32C2-5FDC-40E1-AD53-545CC803DDCB}" type="slidenum">
              <a:rPr lang="zh-CN" altLang="en-US" smtClean="0"/>
              <a:t>‹#›</a:t>
            </a:fld>
            <a:endParaRPr lang="zh-CN" altLang="en-US"/>
          </a:p>
        </p:txBody>
      </p:sp>
    </p:spTree>
    <p:extLst>
      <p:ext uri="{BB962C8B-B14F-4D97-AF65-F5344CB8AC3E}">
        <p14:creationId xmlns:p14="http://schemas.microsoft.com/office/powerpoint/2010/main" val="40553325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0DB4150-B2F0-479E-A721-35D82BBBDEB8}"/>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图片占位符 2">
            <a:extLst>
              <a:ext uri="{FF2B5EF4-FFF2-40B4-BE49-F238E27FC236}">
                <a16:creationId xmlns:a16="http://schemas.microsoft.com/office/drawing/2014/main" id="{F95BEBB3-457F-4B23-9EE3-8DF050B0AF1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a:extLst>
              <a:ext uri="{FF2B5EF4-FFF2-40B4-BE49-F238E27FC236}">
                <a16:creationId xmlns:a16="http://schemas.microsoft.com/office/drawing/2014/main" id="{5D000099-46C8-4A17-9C36-8398FFE23AC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编辑母版文本样式</a:t>
            </a:r>
          </a:p>
        </p:txBody>
      </p:sp>
      <p:sp>
        <p:nvSpPr>
          <p:cNvPr id="5" name="日期占位符 4">
            <a:extLst>
              <a:ext uri="{FF2B5EF4-FFF2-40B4-BE49-F238E27FC236}">
                <a16:creationId xmlns:a16="http://schemas.microsoft.com/office/drawing/2014/main" id="{7B7DE7DA-AE75-4B26-8CAD-BD9CC0EFBBD8}"/>
              </a:ext>
            </a:extLst>
          </p:cNvPr>
          <p:cNvSpPr>
            <a:spLocks noGrp="1"/>
          </p:cNvSpPr>
          <p:nvPr>
            <p:ph type="dt" sz="half" idx="10"/>
          </p:nvPr>
        </p:nvSpPr>
        <p:spPr/>
        <p:txBody>
          <a:bodyPr/>
          <a:lstStyle/>
          <a:p>
            <a:fld id="{6FAC1865-B79A-43E4-B218-34456B6B12C9}" type="datetimeFigureOut">
              <a:rPr lang="zh-CN" altLang="en-US" smtClean="0"/>
              <a:t>2025/12/21</a:t>
            </a:fld>
            <a:endParaRPr lang="zh-CN" altLang="en-US"/>
          </a:p>
        </p:txBody>
      </p:sp>
      <p:sp>
        <p:nvSpPr>
          <p:cNvPr id="6" name="页脚占位符 5">
            <a:extLst>
              <a:ext uri="{FF2B5EF4-FFF2-40B4-BE49-F238E27FC236}">
                <a16:creationId xmlns:a16="http://schemas.microsoft.com/office/drawing/2014/main" id="{5CC8E070-C62B-4610-AB79-AB28FDDB66ED}"/>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588AD57F-16AE-4378-B779-5AB42B027BDA}"/>
              </a:ext>
            </a:extLst>
          </p:cNvPr>
          <p:cNvSpPr>
            <a:spLocks noGrp="1"/>
          </p:cNvSpPr>
          <p:nvPr>
            <p:ph type="sldNum" sz="quarter" idx="12"/>
          </p:nvPr>
        </p:nvSpPr>
        <p:spPr/>
        <p:txBody>
          <a:bodyPr/>
          <a:lstStyle/>
          <a:p>
            <a:fld id="{3FEE32C2-5FDC-40E1-AD53-545CC803DDCB}" type="slidenum">
              <a:rPr lang="zh-CN" altLang="en-US" smtClean="0"/>
              <a:t>‹#›</a:t>
            </a:fld>
            <a:endParaRPr lang="zh-CN" altLang="en-US"/>
          </a:p>
        </p:txBody>
      </p:sp>
    </p:spTree>
    <p:extLst>
      <p:ext uri="{BB962C8B-B14F-4D97-AF65-F5344CB8AC3E}">
        <p14:creationId xmlns:p14="http://schemas.microsoft.com/office/powerpoint/2010/main" val="32148017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C890AB4-B48E-4BCB-AF60-2FC3CC5B8E74}"/>
              </a:ext>
            </a:extLst>
          </p:cNvPr>
          <p:cNvSpPr>
            <a:spLocks noGrp="1"/>
          </p:cNvSpPr>
          <p:nvPr>
            <p:ph type="title"/>
          </p:nvPr>
        </p:nvSpPr>
        <p:spPr/>
        <p:txBody>
          <a:bodyPr/>
          <a:lstStyle/>
          <a:p>
            <a:r>
              <a:rPr lang="zh-CN" altLang="en-US"/>
              <a:t>单击此处编辑母版标题样式</a:t>
            </a:r>
          </a:p>
        </p:txBody>
      </p:sp>
      <p:sp>
        <p:nvSpPr>
          <p:cNvPr id="3" name="竖排文字占位符 2">
            <a:extLst>
              <a:ext uri="{FF2B5EF4-FFF2-40B4-BE49-F238E27FC236}">
                <a16:creationId xmlns:a16="http://schemas.microsoft.com/office/drawing/2014/main" id="{476B1054-3F3D-42E9-B458-83921265B939}"/>
              </a:ext>
            </a:extLst>
          </p:cNvPr>
          <p:cNvSpPr>
            <a:spLocks noGrp="1"/>
          </p:cNvSpPr>
          <p:nvPr>
            <p:ph type="body" orient="vert" idx="1"/>
          </p:nvPr>
        </p:nvSpPr>
        <p:spPr/>
        <p:txBody>
          <a:bodyPr vert="eaVert"/>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a:extLst>
              <a:ext uri="{FF2B5EF4-FFF2-40B4-BE49-F238E27FC236}">
                <a16:creationId xmlns:a16="http://schemas.microsoft.com/office/drawing/2014/main" id="{D2B12639-CBE1-475E-9FA8-6C236A2A547A}"/>
              </a:ext>
            </a:extLst>
          </p:cNvPr>
          <p:cNvSpPr>
            <a:spLocks noGrp="1"/>
          </p:cNvSpPr>
          <p:nvPr>
            <p:ph type="dt" sz="half" idx="10"/>
          </p:nvPr>
        </p:nvSpPr>
        <p:spPr/>
        <p:txBody>
          <a:bodyPr/>
          <a:lstStyle/>
          <a:p>
            <a:fld id="{6FAC1865-B79A-43E4-B218-34456B6B12C9}" type="datetimeFigureOut">
              <a:rPr lang="zh-CN" altLang="en-US" smtClean="0"/>
              <a:t>2025/12/21</a:t>
            </a:fld>
            <a:endParaRPr lang="zh-CN" altLang="en-US"/>
          </a:p>
        </p:txBody>
      </p:sp>
      <p:sp>
        <p:nvSpPr>
          <p:cNvPr id="5" name="页脚占位符 4">
            <a:extLst>
              <a:ext uri="{FF2B5EF4-FFF2-40B4-BE49-F238E27FC236}">
                <a16:creationId xmlns:a16="http://schemas.microsoft.com/office/drawing/2014/main" id="{0ECAF0BD-D7A7-4B37-B11F-72418A769736}"/>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13A0119A-4817-4B57-A6DE-540FE9B78171}"/>
              </a:ext>
            </a:extLst>
          </p:cNvPr>
          <p:cNvSpPr>
            <a:spLocks noGrp="1"/>
          </p:cNvSpPr>
          <p:nvPr>
            <p:ph type="sldNum" sz="quarter" idx="12"/>
          </p:nvPr>
        </p:nvSpPr>
        <p:spPr/>
        <p:txBody>
          <a:bodyPr/>
          <a:lstStyle/>
          <a:p>
            <a:fld id="{3FEE32C2-5FDC-40E1-AD53-545CC803DDCB}" type="slidenum">
              <a:rPr lang="zh-CN" altLang="en-US" smtClean="0"/>
              <a:t>‹#›</a:t>
            </a:fld>
            <a:endParaRPr lang="zh-CN" altLang="en-US"/>
          </a:p>
        </p:txBody>
      </p:sp>
    </p:spTree>
    <p:extLst>
      <p:ext uri="{BB962C8B-B14F-4D97-AF65-F5344CB8AC3E}">
        <p14:creationId xmlns:p14="http://schemas.microsoft.com/office/powerpoint/2010/main" val="23199488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854BE39A-A81E-4A36-8807-AD97AC5A524A}"/>
              </a:ext>
            </a:extLst>
          </p:cNvPr>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a:extLst>
              <a:ext uri="{FF2B5EF4-FFF2-40B4-BE49-F238E27FC236}">
                <a16:creationId xmlns:a16="http://schemas.microsoft.com/office/drawing/2014/main" id="{0F457E41-3EA0-43C4-9FEC-F1DE8D145340}"/>
              </a:ext>
            </a:extLst>
          </p:cNvPr>
          <p:cNvSpPr>
            <a:spLocks noGrp="1"/>
          </p:cNvSpPr>
          <p:nvPr>
            <p:ph type="body" orient="vert" idx="1"/>
          </p:nvPr>
        </p:nvSpPr>
        <p:spPr>
          <a:xfrm>
            <a:off x="838200" y="365125"/>
            <a:ext cx="7734300" cy="5811838"/>
          </a:xfrm>
        </p:spPr>
        <p:txBody>
          <a:bodyPr vert="eaVert"/>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a:extLst>
              <a:ext uri="{FF2B5EF4-FFF2-40B4-BE49-F238E27FC236}">
                <a16:creationId xmlns:a16="http://schemas.microsoft.com/office/drawing/2014/main" id="{5BBE3E99-9292-4F50-A0F1-678BEFE4731A}"/>
              </a:ext>
            </a:extLst>
          </p:cNvPr>
          <p:cNvSpPr>
            <a:spLocks noGrp="1"/>
          </p:cNvSpPr>
          <p:nvPr>
            <p:ph type="dt" sz="half" idx="10"/>
          </p:nvPr>
        </p:nvSpPr>
        <p:spPr/>
        <p:txBody>
          <a:bodyPr/>
          <a:lstStyle/>
          <a:p>
            <a:fld id="{6FAC1865-B79A-43E4-B218-34456B6B12C9}" type="datetimeFigureOut">
              <a:rPr lang="zh-CN" altLang="en-US" smtClean="0"/>
              <a:t>2025/12/21</a:t>
            </a:fld>
            <a:endParaRPr lang="zh-CN" altLang="en-US"/>
          </a:p>
        </p:txBody>
      </p:sp>
      <p:sp>
        <p:nvSpPr>
          <p:cNvPr id="5" name="页脚占位符 4">
            <a:extLst>
              <a:ext uri="{FF2B5EF4-FFF2-40B4-BE49-F238E27FC236}">
                <a16:creationId xmlns:a16="http://schemas.microsoft.com/office/drawing/2014/main" id="{68EB7626-D656-4E24-BD17-27CDF45B847C}"/>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EAFC70BD-F514-4D5A-9043-DD06515B207B}"/>
              </a:ext>
            </a:extLst>
          </p:cNvPr>
          <p:cNvSpPr>
            <a:spLocks noGrp="1"/>
          </p:cNvSpPr>
          <p:nvPr>
            <p:ph type="sldNum" sz="quarter" idx="12"/>
          </p:nvPr>
        </p:nvSpPr>
        <p:spPr/>
        <p:txBody>
          <a:bodyPr/>
          <a:lstStyle/>
          <a:p>
            <a:fld id="{3FEE32C2-5FDC-40E1-AD53-545CC803DDCB}" type="slidenum">
              <a:rPr lang="zh-CN" altLang="en-US" smtClean="0"/>
              <a:t>‹#›</a:t>
            </a:fld>
            <a:endParaRPr lang="zh-CN" altLang="en-US"/>
          </a:p>
        </p:txBody>
      </p:sp>
    </p:spTree>
    <p:extLst>
      <p:ext uri="{BB962C8B-B14F-4D97-AF65-F5344CB8AC3E}">
        <p14:creationId xmlns:p14="http://schemas.microsoft.com/office/powerpoint/2010/main" val="11163157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自定义版式">
    <p:spTree>
      <p:nvGrpSpPr>
        <p:cNvPr id="1" name=""/>
        <p:cNvGrpSpPr/>
        <p:nvPr/>
      </p:nvGrpSpPr>
      <p:grpSpPr>
        <a:xfrm>
          <a:off x="0" y="0"/>
          <a:ext cx="0" cy="0"/>
          <a:chOff x="0" y="0"/>
          <a:chExt cx="0" cy="0"/>
        </a:xfrm>
      </p:grpSpPr>
    </p:spTree>
    <p:extLst>
      <p:ext uri="{BB962C8B-B14F-4D97-AF65-F5344CB8AC3E}">
        <p14:creationId xmlns:p14="http://schemas.microsoft.com/office/powerpoint/2010/main" val="26176420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804EFB9E-31F1-44AC-B2A0-70B3AD7E195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a:extLst>
              <a:ext uri="{FF2B5EF4-FFF2-40B4-BE49-F238E27FC236}">
                <a16:creationId xmlns:a16="http://schemas.microsoft.com/office/drawing/2014/main" id="{25F674FB-ADAE-4C16-9A45-55515D425D7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a:extLst>
              <a:ext uri="{FF2B5EF4-FFF2-40B4-BE49-F238E27FC236}">
                <a16:creationId xmlns:a16="http://schemas.microsoft.com/office/drawing/2014/main" id="{08525FD1-9DA9-4D47-B946-7A3EE00EA75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FAC1865-B79A-43E4-B218-34456B6B12C9}" type="datetimeFigureOut">
              <a:rPr lang="zh-CN" altLang="en-US" smtClean="0"/>
              <a:t>2025/12/21</a:t>
            </a:fld>
            <a:endParaRPr lang="zh-CN" altLang="en-US"/>
          </a:p>
        </p:txBody>
      </p:sp>
      <p:sp>
        <p:nvSpPr>
          <p:cNvPr id="5" name="页脚占位符 4">
            <a:extLst>
              <a:ext uri="{FF2B5EF4-FFF2-40B4-BE49-F238E27FC236}">
                <a16:creationId xmlns:a16="http://schemas.microsoft.com/office/drawing/2014/main" id="{E47004C3-9974-4565-85A6-888D85E56A1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a:extLst>
              <a:ext uri="{FF2B5EF4-FFF2-40B4-BE49-F238E27FC236}">
                <a16:creationId xmlns:a16="http://schemas.microsoft.com/office/drawing/2014/main" id="{ACC94A1A-F98A-49BC-BD74-896D43ADD13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FEE32C2-5FDC-40E1-AD53-545CC803DDCB}" type="slidenum">
              <a:rPr lang="zh-CN" altLang="en-US" smtClean="0"/>
              <a:t>‹#›</a:t>
            </a:fld>
            <a:endParaRPr lang="zh-CN" altLang="en-US"/>
          </a:p>
        </p:txBody>
      </p:sp>
    </p:spTree>
    <p:extLst>
      <p:ext uri="{BB962C8B-B14F-4D97-AF65-F5344CB8AC3E}">
        <p14:creationId xmlns:p14="http://schemas.microsoft.com/office/powerpoint/2010/main" val="32273082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2.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2.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0.gif"/><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1.gif"/><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17.gif"/><Relationship Id="rId2" Type="http://schemas.openxmlformats.org/officeDocument/2006/relationships/image" Target="../media/image2.png"/><Relationship Id="rId1" Type="http://schemas.openxmlformats.org/officeDocument/2006/relationships/slideLayout" Target="../slideLayouts/slideLayout7.xml"/><Relationship Id="rId4" Type="http://schemas.openxmlformats.org/officeDocument/2006/relationships/image" Target="../media/image18.png"/></Relationships>
</file>

<file path=ppt/slides/_rels/slide1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4" name="图片 43">
            <a:extLst>
              <a:ext uri="{FF2B5EF4-FFF2-40B4-BE49-F238E27FC236}">
                <a16:creationId xmlns:a16="http://schemas.microsoft.com/office/drawing/2014/main" id="{070CC29F-EA08-4A06-BDBF-1A95FC039860}"/>
              </a:ext>
            </a:extLst>
          </p:cNvPr>
          <p:cNvPicPr>
            <a:picLocks noChangeAspect="1"/>
          </p:cNvPicPr>
          <p:nvPr/>
        </p:nvPicPr>
        <p:blipFill>
          <a:blip r:embed="rId3">
            <a:alphaModFix amt="15000"/>
          </a:blip>
          <a:stretch>
            <a:fillRect/>
          </a:stretch>
        </p:blipFill>
        <p:spPr>
          <a:xfrm>
            <a:off x="4762" y="4560887"/>
            <a:ext cx="12182475" cy="2314575"/>
          </a:xfrm>
          <a:prstGeom prst="rect">
            <a:avLst/>
          </a:prstGeom>
        </p:spPr>
      </p:pic>
      <p:sp>
        <p:nvSpPr>
          <p:cNvPr id="13" name="文本框 12">
            <a:extLst>
              <a:ext uri="{FF2B5EF4-FFF2-40B4-BE49-F238E27FC236}">
                <a16:creationId xmlns:a16="http://schemas.microsoft.com/office/drawing/2014/main" id="{F5F8934E-6CAF-4F75-9A96-2ADBDFD7C2D8}"/>
              </a:ext>
            </a:extLst>
          </p:cNvPr>
          <p:cNvSpPr txBox="1"/>
          <p:nvPr/>
        </p:nvSpPr>
        <p:spPr>
          <a:xfrm>
            <a:off x="4503252" y="174524"/>
            <a:ext cx="3185487" cy="646331"/>
          </a:xfrm>
          <a:prstGeom prst="rect">
            <a:avLst/>
          </a:prstGeom>
        </p:spPr>
        <p:txBody>
          <a:bodyPr wrap="none">
            <a:spAutoFit/>
          </a:bodyPr>
          <a:lstStyle>
            <a:defPPr>
              <a:defRPr lang="zh-CN"/>
            </a:defPPr>
            <a:lvl1pPr algn="ctr">
              <a:defRPr sz="6000" b="1" spc="300">
                <a:solidFill>
                  <a:srgbClr val="003F88"/>
                </a:solidFill>
                <a:latin typeface="+mn-ea"/>
              </a:defRPr>
            </a:lvl1pPr>
          </a:lstStyle>
          <a:p>
            <a:r>
              <a:rPr lang="en-US" altLang="zh-CN" sz="3600" dirty="0"/>
              <a:t>《</a:t>
            </a:r>
            <a:r>
              <a:rPr lang="zh-CN" altLang="en-US" sz="3600" dirty="0"/>
              <a:t>液压传动</a:t>
            </a:r>
            <a:r>
              <a:rPr lang="en-US" altLang="zh-CN" sz="3600" dirty="0"/>
              <a:t>》</a:t>
            </a:r>
            <a:endParaRPr lang="zh-CN" altLang="en-US" sz="3600" dirty="0"/>
          </a:p>
        </p:txBody>
      </p:sp>
      <p:sp>
        <p:nvSpPr>
          <p:cNvPr id="20" name="矩形 19">
            <a:extLst>
              <a:ext uri="{FF2B5EF4-FFF2-40B4-BE49-F238E27FC236}">
                <a16:creationId xmlns:a16="http://schemas.microsoft.com/office/drawing/2014/main" id="{83331D23-ACF9-4E53-8F13-F876D7C312EB}"/>
              </a:ext>
            </a:extLst>
          </p:cNvPr>
          <p:cNvSpPr/>
          <p:nvPr/>
        </p:nvSpPr>
        <p:spPr>
          <a:xfrm>
            <a:off x="954213" y="1527544"/>
            <a:ext cx="10283584" cy="1015663"/>
          </a:xfrm>
          <a:prstGeom prst="rect">
            <a:avLst/>
          </a:prstGeom>
        </p:spPr>
        <p:txBody>
          <a:bodyPr wrap="none">
            <a:spAutoFit/>
          </a:bodyPr>
          <a:lstStyle/>
          <a:p>
            <a:pPr algn="ctr"/>
            <a:r>
              <a:rPr lang="zh-CN" altLang="en-US" sz="6000" b="1" spc="300" dirty="0">
                <a:solidFill>
                  <a:srgbClr val="003F88"/>
                </a:solidFill>
                <a:latin typeface="+mn-ea"/>
              </a:rPr>
              <a:t>第十四讲  其他基本回路</a:t>
            </a:r>
            <a:r>
              <a:rPr lang="en-US" altLang="zh-CN" sz="6000" b="1" spc="300" dirty="0">
                <a:solidFill>
                  <a:srgbClr val="003F88"/>
                </a:solidFill>
                <a:latin typeface="+mn-ea"/>
              </a:rPr>
              <a:t>(</a:t>
            </a:r>
            <a:r>
              <a:rPr lang="zh-CN" altLang="en-US" sz="6000" b="1" spc="300" dirty="0">
                <a:solidFill>
                  <a:srgbClr val="003F88"/>
                </a:solidFill>
                <a:latin typeface="+mn-ea"/>
              </a:rPr>
              <a:t>下</a:t>
            </a:r>
            <a:r>
              <a:rPr lang="en-US" altLang="zh-CN" sz="6000" b="1" spc="300" dirty="0">
                <a:solidFill>
                  <a:srgbClr val="003F88"/>
                </a:solidFill>
                <a:latin typeface="+mn-ea"/>
              </a:rPr>
              <a:t>)</a:t>
            </a:r>
          </a:p>
        </p:txBody>
      </p:sp>
      <p:cxnSp>
        <p:nvCxnSpPr>
          <p:cNvPr id="32" name="直接连接符 31">
            <a:extLst>
              <a:ext uri="{FF2B5EF4-FFF2-40B4-BE49-F238E27FC236}">
                <a16:creationId xmlns:a16="http://schemas.microsoft.com/office/drawing/2014/main" id="{4D7BD61E-14B6-4FE2-8261-87597607A0C0}"/>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pic>
        <p:nvPicPr>
          <p:cNvPr id="33" name="图片 32">
            <a:extLst>
              <a:ext uri="{FF2B5EF4-FFF2-40B4-BE49-F238E27FC236}">
                <a16:creationId xmlns:a16="http://schemas.microsoft.com/office/drawing/2014/main" id="{9C7D28D0-DFA2-44D6-BFC1-A9BFCE66257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sp>
        <p:nvSpPr>
          <p:cNvPr id="25" name="文本框 24">
            <a:extLst>
              <a:ext uri="{FF2B5EF4-FFF2-40B4-BE49-F238E27FC236}">
                <a16:creationId xmlns:a16="http://schemas.microsoft.com/office/drawing/2014/main" id="{85CA4716-3D7C-44F0-A479-3BE4B57FA00D}"/>
              </a:ext>
            </a:extLst>
          </p:cNvPr>
          <p:cNvSpPr txBox="1"/>
          <p:nvPr/>
        </p:nvSpPr>
        <p:spPr>
          <a:xfrm>
            <a:off x="4168555" y="2967613"/>
            <a:ext cx="3854879" cy="2243050"/>
          </a:xfrm>
          <a:prstGeom prst="rect">
            <a:avLst/>
          </a:prstGeom>
          <a:noFill/>
        </p:spPr>
        <p:txBody>
          <a:bodyPr wrap="square" numCol="1">
            <a:spAutoFit/>
          </a:bodyPr>
          <a:lstStyle/>
          <a:p>
            <a:pPr marL="457200" indent="-457200">
              <a:lnSpc>
                <a:spcPct val="150000"/>
              </a:lnSpc>
              <a:buFont typeface="+mj-lt"/>
              <a:buAutoNum type="arabicPeriod"/>
            </a:pPr>
            <a:r>
              <a:rPr lang="zh-CN" altLang="en-US" sz="2400" spc="300" dirty="0">
                <a:latin typeface="+mn-ea"/>
              </a:rPr>
              <a:t>快速运动</a:t>
            </a:r>
            <a:endParaRPr lang="en-US" altLang="zh-CN" sz="2400" spc="300" dirty="0">
              <a:latin typeface="+mn-ea"/>
            </a:endParaRPr>
          </a:p>
          <a:p>
            <a:pPr marL="457200" indent="-457200">
              <a:lnSpc>
                <a:spcPct val="150000"/>
              </a:lnSpc>
              <a:buFont typeface="+mj-lt"/>
              <a:buAutoNum type="arabicPeriod"/>
            </a:pPr>
            <a:r>
              <a:rPr lang="zh-CN" altLang="en-US" sz="2400" spc="300" dirty="0">
                <a:latin typeface="+mn-ea"/>
              </a:rPr>
              <a:t>速度换接路</a:t>
            </a:r>
            <a:endParaRPr lang="en-US" altLang="zh-CN" sz="2400" spc="300" dirty="0">
              <a:latin typeface="+mn-ea"/>
            </a:endParaRPr>
          </a:p>
          <a:p>
            <a:pPr marL="457200" indent="-457200">
              <a:lnSpc>
                <a:spcPct val="150000"/>
              </a:lnSpc>
              <a:buFont typeface="+mj-lt"/>
              <a:buAutoNum type="arabicPeriod"/>
            </a:pPr>
            <a:r>
              <a:rPr lang="zh-CN" altLang="en-US" sz="2400" spc="300" dirty="0">
                <a:latin typeface="+mn-ea"/>
              </a:rPr>
              <a:t>换向回路和锁紧回路</a:t>
            </a:r>
            <a:endParaRPr lang="en-US" altLang="zh-CN" sz="2400" spc="300" dirty="0">
              <a:latin typeface="+mn-ea"/>
            </a:endParaRPr>
          </a:p>
          <a:p>
            <a:pPr marL="457200" indent="-457200">
              <a:lnSpc>
                <a:spcPct val="150000"/>
              </a:lnSpc>
              <a:buFont typeface="+mj-lt"/>
              <a:buAutoNum type="arabicPeriod"/>
            </a:pPr>
            <a:r>
              <a:rPr lang="zh-CN" altLang="en-US" sz="2400" spc="300" dirty="0">
                <a:latin typeface="+mn-ea"/>
              </a:rPr>
              <a:t>多缸动作回路</a:t>
            </a:r>
            <a:endParaRPr lang="en-US" altLang="zh-CN" sz="2400" spc="300" dirty="0">
              <a:latin typeface="+mn-ea"/>
            </a:endParaRPr>
          </a:p>
        </p:txBody>
      </p:sp>
    </p:spTree>
    <p:extLst>
      <p:ext uri="{BB962C8B-B14F-4D97-AF65-F5344CB8AC3E}">
        <p14:creationId xmlns:p14="http://schemas.microsoft.com/office/powerpoint/2010/main" val="118621882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文本框 12">
            <a:extLst>
              <a:ext uri="{FF2B5EF4-FFF2-40B4-BE49-F238E27FC236}">
                <a16:creationId xmlns:a16="http://schemas.microsoft.com/office/drawing/2014/main" id="{F5F8934E-6CAF-4F75-9A96-2ADBDFD7C2D8}"/>
              </a:ext>
            </a:extLst>
          </p:cNvPr>
          <p:cNvSpPr txBox="1"/>
          <p:nvPr/>
        </p:nvSpPr>
        <p:spPr>
          <a:xfrm>
            <a:off x="4503252" y="174524"/>
            <a:ext cx="3185487" cy="646331"/>
          </a:xfrm>
          <a:prstGeom prst="rect">
            <a:avLst/>
          </a:prstGeom>
        </p:spPr>
        <p:txBody>
          <a:bodyPr wrap="none">
            <a:spAutoFit/>
          </a:bodyPr>
          <a:lstStyle>
            <a:defPPr>
              <a:defRPr lang="zh-CN"/>
            </a:defPPr>
            <a:lvl1pPr algn="ctr">
              <a:defRPr sz="6000" b="1" spc="300">
                <a:solidFill>
                  <a:srgbClr val="003F88"/>
                </a:solidFill>
                <a:latin typeface="+mn-ea"/>
              </a:defRPr>
            </a:lvl1pPr>
          </a:lstStyle>
          <a:p>
            <a:r>
              <a:rPr lang="en-US" altLang="zh-CN" sz="3600" dirty="0"/>
              <a:t>《</a:t>
            </a:r>
            <a:r>
              <a:rPr lang="zh-CN" altLang="en-US" sz="3600" dirty="0"/>
              <a:t>液压传动</a:t>
            </a:r>
            <a:r>
              <a:rPr lang="en-US" altLang="zh-CN" sz="3600" dirty="0"/>
              <a:t>》</a:t>
            </a:r>
            <a:endParaRPr lang="zh-CN" altLang="en-US" sz="3600" dirty="0"/>
          </a:p>
        </p:txBody>
      </p:sp>
      <p:cxnSp>
        <p:nvCxnSpPr>
          <p:cNvPr id="32" name="直接连接符 31">
            <a:extLst>
              <a:ext uri="{FF2B5EF4-FFF2-40B4-BE49-F238E27FC236}">
                <a16:creationId xmlns:a16="http://schemas.microsoft.com/office/drawing/2014/main" id="{4D7BD61E-14B6-4FE2-8261-87597607A0C0}"/>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pic>
        <p:nvPicPr>
          <p:cNvPr id="33" name="图片 32">
            <a:extLst>
              <a:ext uri="{FF2B5EF4-FFF2-40B4-BE49-F238E27FC236}">
                <a16:creationId xmlns:a16="http://schemas.microsoft.com/office/drawing/2014/main" id="{9C7D28D0-DFA2-44D6-BFC1-A9BFCE66257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pic>
        <p:nvPicPr>
          <p:cNvPr id="3" name="图片 2">
            <a:extLst>
              <a:ext uri="{FF2B5EF4-FFF2-40B4-BE49-F238E27FC236}">
                <a16:creationId xmlns:a16="http://schemas.microsoft.com/office/drawing/2014/main" id="{875EF0C5-3525-464E-98F3-CB780228E134}"/>
              </a:ext>
            </a:extLst>
          </p:cNvPr>
          <p:cNvPicPr>
            <a:picLocks noChangeAspect="1"/>
          </p:cNvPicPr>
          <p:nvPr/>
        </p:nvPicPr>
        <p:blipFill rotWithShape="1">
          <a:blip r:embed="rId4"/>
          <a:srcRect t="2744" b="-1"/>
          <a:stretch/>
        </p:blipFill>
        <p:spPr>
          <a:xfrm>
            <a:off x="528969" y="1201088"/>
            <a:ext cx="11134062" cy="4153232"/>
          </a:xfrm>
          <a:prstGeom prst="rect">
            <a:avLst/>
          </a:prstGeom>
        </p:spPr>
      </p:pic>
      <p:sp>
        <p:nvSpPr>
          <p:cNvPr id="232" name="文本框 231">
            <a:extLst>
              <a:ext uri="{FF2B5EF4-FFF2-40B4-BE49-F238E27FC236}">
                <a16:creationId xmlns:a16="http://schemas.microsoft.com/office/drawing/2014/main" id="{FA84B2DF-9E1F-403A-9067-BF5507518A7E}"/>
              </a:ext>
            </a:extLst>
          </p:cNvPr>
          <p:cNvSpPr txBox="1"/>
          <p:nvPr/>
        </p:nvSpPr>
        <p:spPr>
          <a:xfrm>
            <a:off x="1639126" y="5563264"/>
            <a:ext cx="9570592" cy="662554"/>
          </a:xfrm>
          <a:prstGeom prst="rect">
            <a:avLst/>
          </a:prstGeom>
          <a:noFill/>
        </p:spPr>
        <p:txBody>
          <a:bodyPr wrap="square" numCol="1">
            <a:spAutoFit/>
          </a:bodyPr>
          <a:lstStyle/>
          <a:p>
            <a:pPr marL="457200" indent="-457200" algn="ctr">
              <a:lnSpc>
                <a:spcPct val="150000"/>
              </a:lnSpc>
              <a:buFont typeface="+mj-lt"/>
              <a:buAutoNum type="arabicPeriod"/>
            </a:pPr>
            <a:r>
              <a:rPr lang="zh-CN" altLang="en-US" sz="2800" spc="300" dirty="0">
                <a:solidFill>
                  <a:srgbClr val="0000FF"/>
                </a:solidFill>
                <a:latin typeface="+mn-ea"/>
              </a:rPr>
              <a:t>快速运动   </a:t>
            </a:r>
            <a:r>
              <a:rPr lang="en-US" altLang="zh-CN" sz="2800" spc="300" dirty="0">
                <a:solidFill>
                  <a:srgbClr val="0000FF"/>
                </a:solidFill>
                <a:latin typeface="+mn-ea"/>
              </a:rPr>
              <a:t>2</a:t>
            </a:r>
            <a:r>
              <a:rPr lang="zh-CN" altLang="en-US" sz="2800" spc="300" dirty="0">
                <a:solidFill>
                  <a:srgbClr val="0000FF"/>
                </a:solidFill>
                <a:latin typeface="+mn-ea"/>
              </a:rPr>
              <a:t>速度换接路  </a:t>
            </a:r>
            <a:r>
              <a:rPr lang="en-US" altLang="zh-CN" sz="2800" spc="300" dirty="0">
                <a:solidFill>
                  <a:srgbClr val="0000FF"/>
                </a:solidFill>
                <a:latin typeface="+mn-ea"/>
              </a:rPr>
              <a:t>3</a:t>
            </a:r>
            <a:r>
              <a:rPr lang="zh-CN" altLang="en-US" sz="2800" spc="300" dirty="0">
                <a:solidFill>
                  <a:srgbClr val="0000FF"/>
                </a:solidFill>
                <a:latin typeface="+mn-ea"/>
              </a:rPr>
              <a:t>换向回路</a:t>
            </a:r>
            <a:endParaRPr lang="en-US" altLang="zh-CN" sz="2800" spc="300" dirty="0">
              <a:solidFill>
                <a:srgbClr val="0000FF"/>
              </a:solidFill>
              <a:latin typeface="+mn-ea"/>
            </a:endParaRPr>
          </a:p>
        </p:txBody>
      </p:sp>
    </p:spTree>
    <p:extLst>
      <p:ext uri="{BB962C8B-B14F-4D97-AF65-F5344CB8AC3E}">
        <p14:creationId xmlns:p14="http://schemas.microsoft.com/office/powerpoint/2010/main" val="186293568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 name="直接连接符 4">
            <a:extLst>
              <a:ext uri="{FF2B5EF4-FFF2-40B4-BE49-F238E27FC236}">
                <a16:creationId xmlns:a16="http://schemas.microsoft.com/office/drawing/2014/main" id="{ABB1D33E-6A58-4E88-95E9-6A4048F9D03F}"/>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pic>
        <p:nvPicPr>
          <p:cNvPr id="8" name="图片 7">
            <a:extLst>
              <a:ext uri="{FF2B5EF4-FFF2-40B4-BE49-F238E27FC236}">
                <a16:creationId xmlns:a16="http://schemas.microsoft.com/office/drawing/2014/main" id="{DD0E7411-EFC8-4009-A22F-AE54C44AD5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sp>
        <p:nvSpPr>
          <p:cNvPr id="9" name="文本框 8">
            <a:extLst>
              <a:ext uri="{FF2B5EF4-FFF2-40B4-BE49-F238E27FC236}">
                <a16:creationId xmlns:a16="http://schemas.microsoft.com/office/drawing/2014/main" id="{29E2F821-98A7-4B7B-811D-5DAD6270ADCA}"/>
              </a:ext>
            </a:extLst>
          </p:cNvPr>
          <p:cNvSpPr txBox="1"/>
          <p:nvPr/>
        </p:nvSpPr>
        <p:spPr>
          <a:xfrm>
            <a:off x="429656" y="135415"/>
            <a:ext cx="8435738" cy="646331"/>
          </a:xfrm>
          <a:prstGeom prst="rect">
            <a:avLst/>
          </a:prstGeom>
          <a:noFill/>
        </p:spPr>
        <p:txBody>
          <a:bodyPr wrap="square" rtlCol="0">
            <a:spAutoFit/>
          </a:bodyPr>
          <a:lstStyle/>
          <a:p>
            <a:r>
              <a:rPr lang="en-US" altLang="zh-CN" sz="3600" b="1" dirty="0">
                <a:solidFill>
                  <a:srgbClr val="003F88"/>
                </a:solidFill>
                <a:latin typeface="+mn-ea"/>
              </a:rPr>
              <a:t>1 </a:t>
            </a:r>
            <a:r>
              <a:rPr lang="zh-CN" altLang="en-US" sz="3600" b="1" dirty="0">
                <a:solidFill>
                  <a:srgbClr val="003F88"/>
                </a:solidFill>
                <a:latin typeface="+mn-ea"/>
              </a:rPr>
              <a:t>快速运动回路</a:t>
            </a:r>
          </a:p>
        </p:txBody>
      </p:sp>
      <p:sp>
        <p:nvSpPr>
          <p:cNvPr id="25" name="矩形 24">
            <a:extLst>
              <a:ext uri="{FF2B5EF4-FFF2-40B4-BE49-F238E27FC236}">
                <a16:creationId xmlns:a16="http://schemas.microsoft.com/office/drawing/2014/main" id="{1AAD606F-562C-40BC-8417-9D9D48E8CC31}"/>
              </a:ext>
            </a:extLst>
          </p:cNvPr>
          <p:cNvSpPr/>
          <p:nvPr/>
        </p:nvSpPr>
        <p:spPr>
          <a:xfrm>
            <a:off x="-17100" y="174526"/>
            <a:ext cx="319314" cy="56810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矩形 25">
            <a:extLst>
              <a:ext uri="{FF2B5EF4-FFF2-40B4-BE49-F238E27FC236}">
                <a16:creationId xmlns:a16="http://schemas.microsoft.com/office/drawing/2014/main" id="{08E12499-BFB8-47F3-BAC4-975EC1E1E5B1}"/>
              </a:ext>
            </a:extLst>
          </p:cNvPr>
          <p:cNvSpPr/>
          <p:nvPr/>
        </p:nvSpPr>
        <p:spPr>
          <a:xfrm>
            <a:off x="540867" y="1187297"/>
            <a:ext cx="7547154" cy="581762"/>
          </a:xfrm>
          <a:prstGeom prst="rect">
            <a:avLst/>
          </a:prstGeom>
        </p:spPr>
        <p:txBody>
          <a:bodyPr wrap="square">
            <a:spAutoFit/>
          </a:bodyPr>
          <a:lstStyle/>
          <a:p>
            <a:pPr>
              <a:lnSpc>
                <a:spcPct val="125000"/>
              </a:lnSpc>
            </a:pPr>
            <a:r>
              <a:rPr lang="zh-CN" altLang="en-US" sz="2800" b="1" dirty="0">
                <a:solidFill>
                  <a:srgbClr val="003F88"/>
                </a:solidFill>
                <a:latin typeface="+mn-ea"/>
              </a:rPr>
              <a:t>快速运动回路</a:t>
            </a:r>
          </a:p>
        </p:txBody>
      </p:sp>
      <p:sp>
        <p:nvSpPr>
          <p:cNvPr id="4" name="矩形 18">
            <a:extLst>
              <a:ext uri="{FF2B5EF4-FFF2-40B4-BE49-F238E27FC236}">
                <a16:creationId xmlns:a16="http://schemas.microsoft.com/office/drawing/2014/main" id="{52BC7FE9-CFD5-D7A6-C7FC-5F7EEC35518E}"/>
              </a:ext>
            </a:extLst>
          </p:cNvPr>
          <p:cNvSpPr/>
          <p:nvPr/>
        </p:nvSpPr>
        <p:spPr>
          <a:xfrm>
            <a:off x="540867" y="2686907"/>
            <a:ext cx="5024748" cy="3453766"/>
          </a:xfrm>
          <a:prstGeom prst="rect">
            <a:avLst/>
          </a:prstGeom>
        </p:spPr>
        <p:txBody>
          <a:bodyPr wrap="square">
            <a:spAutoFit/>
          </a:bodyPr>
          <a:lstStyle/>
          <a:p>
            <a:pPr>
              <a:lnSpc>
                <a:spcPct val="150000"/>
              </a:lnSpc>
            </a:pPr>
            <a:r>
              <a:rPr lang="en-US" altLang="zh-CN" sz="2800" b="1" dirty="0">
                <a:solidFill>
                  <a:srgbClr val="003F88"/>
                </a:solidFill>
              </a:rPr>
              <a:t>1.1 </a:t>
            </a:r>
            <a:r>
              <a:rPr lang="zh-CN" altLang="en-US" sz="2800" b="1" dirty="0">
                <a:solidFill>
                  <a:srgbClr val="003F88"/>
                </a:solidFill>
              </a:rPr>
              <a:t>液压缸差动连接回路：</a:t>
            </a:r>
            <a:endParaRPr lang="en-US" altLang="zh-CN" sz="2800" b="1" dirty="0">
              <a:solidFill>
                <a:srgbClr val="003F88"/>
              </a:solidFill>
            </a:endParaRPr>
          </a:p>
          <a:p>
            <a:pPr marL="285750" marR="0" lvl="0" indent="-285750" algn="l" defTabSz="914400" rtl="0" eaLnBrk="0" fontAlgn="base" latinLnBrk="0" hangingPunct="0">
              <a:lnSpc>
                <a:spcPct val="150000"/>
              </a:lnSpc>
              <a:spcBef>
                <a:spcPct val="0"/>
              </a:spcBef>
              <a:spcAft>
                <a:spcPct val="0"/>
              </a:spcAft>
              <a:buClrTx/>
              <a:buSzTx/>
              <a:buFont typeface="Wingdings" panose="05000000000000000000" pitchFamily="2" charset="2"/>
              <a:buChar char="Ø"/>
              <a:tabLst/>
            </a:pPr>
            <a:r>
              <a:rPr lang="zh-CN" altLang="en-US" sz="2000" dirty="0">
                <a:latin typeface="Arial" panose="020B0604020202020204" pitchFamily="34" charset="0"/>
              </a:rPr>
              <a:t>快进运动：阀</a:t>
            </a:r>
            <a:r>
              <a:rPr lang="en-US" altLang="zh-CN" sz="2000" dirty="0">
                <a:latin typeface="Arial" panose="020B0604020202020204" pitchFamily="34" charset="0"/>
              </a:rPr>
              <a:t>3</a:t>
            </a:r>
            <a:r>
              <a:rPr lang="zh-CN" altLang="en-US" sz="2000" dirty="0">
                <a:latin typeface="Arial" panose="020B0604020202020204" pitchFamily="34" charset="0"/>
              </a:rPr>
              <a:t>和阀</a:t>
            </a:r>
            <a:r>
              <a:rPr lang="en-US" altLang="zh-CN" sz="2000" dirty="0">
                <a:latin typeface="Arial" panose="020B0604020202020204" pitchFamily="34" charset="0"/>
              </a:rPr>
              <a:t>5</a:t>
            </a:r>
            <a:r>
              <a:rPr lang="zh-CN" altLang="en-US" sz="2000" dirty="0">
                <a:latin typeface="Arial" panose="020B0604020202020204" pitchFamily="34" charset="0"/>
              </a:rPr>
              <a:t>左位接入，液压缸差动连接，实现快进运动。</a:t>
            </a:r>
            <a:endParaRPr lang="en-US" altLang="zh-CN" sz="2000" dirty="0">
              <a:latin typeface="Arial" panose="020B0604020202020204" pitchFamily="34" charset="0"/>
            </a:endParaRPr>
          </a:p>
          <a:p>
            <a:pPr marL="285750" marR="0" lvl="0" indent="-285750" algn="l" defTabSz="914400" rtl="0" eaLnBrk="0" fontAlgn="base" latinLnBrk="0" hangingPunct="0">
              <a:lnSpc>
                <a:spcPct val="150000"/>
              </a:lnSpc>
              <a:spcBef>
                <a:spcPct val="0"/>
              </a:spcBef>
              <a:spcAft>
                <a:spcPct val="0"/>
              </a:spcAft>
              <a:buClrTx/>
              <a:buSzTx/>
              <a:buFont typeface="Wingdings" panose="05000000000000000000" pitchFamily="2" charset="2"/>
              <a:buChar char="Ø"/>
              <a:tabLst/>
            </a:pPr>
            <a:r>
              <a:rPr kumimoji="0" lang="zh-CN" altLang="en-US" sz="2000" b="0" i="0" u="none" strike="noStrike" cap="none" normalizeH="0" baseline="0" dirty="0">
                <a:ln>
                  <a:noFill/>
                </a:ln>
                <a:solidFill>
                  <a:schemeClr val="tx1"/>
                </a:solidFill>
                <a:effectLst/>
                <a:latin typeface="Arial" panose="020B0604020202020204" pitchFamily="34" charset="0"/>
              </a:rPr>
              <a:t>工进：</a:t>
            </a:r>
            <a:r>
              <a:rPr lang="zh-CN" altLang="en-US" sz="2000" kern="0" dirty="0">
                <a:latin typeface="微软雅黑" panose="020B0503020204020204" pitchFamily="34" charset="-122"/>
                <a:ea typeface="微软雅黑" panose="020B0503020204020204" pitchFamily="34" charset="-122"/>
              </a:rPr>
              <a:t>阀</a:t>
            </a:r>
            <a:r>
              <a:rPr lang="en-US" altLang="zh-CN" sz="2000" kern="0" dirty="0">
                <a:latin typeface="微软雅黑" panose="020B0503020204020204" pitchFamily="34" charset="-122"/>
                <a:ea typeface="微软雅黑" panose="020B0503020204020204" pitchFamily="34" charset="-122"/>
              </a:rPr>
              <a:t>3</a:t>
            </a:r>
            <a:r>
              <a:rPr lang="zh-CN" altLang="en-US" sz="2000" kern="0" dirty="0">
                <a:latin typeface="微软雅黑" panose="020B0503020204020204" pitchFamily="34" charset="-122"/>
                <a:ea typeface="微软雅黑" panose="020B0503020204020204" pitchFamily="34" charset="-122"/>
              </a:rPr>
              <a:t>左位，阀</a:t>
            </a:r>
            <a:r>
              <a:rPr lang="en-US" altLang="zh-CN" sz="2000" kern="0" dirty="0">
                <a:latin typeface="微软雅黑" panose="020B0503020204020204" pitchFamily="34" charset="-122"/>
                <a:ea typeface="微软雅黑" panose="020B0503020204020204" pitchFamily="34" charset="-122"/>
              </a:rPr>
              <a:t>5</a:t>
            </a:r>
            <a:r>
              <a:rPr lang="zh-CN" altLang="en-US" sz="2000" kern="0" dirty="0">
                <a:latin typeface="微软雅黑" panose="020B0503020204020204" pitchFamily="34" charset="-122"/>
                <a:ea typeface="微软雅黑" panose="020B0503020204020204" pitchFamily="34" charset="-122"/>
              </a:rPr>
              <a:t>右位，回油经过阀</a:t>
            </a:r>
            <a:r>
              <a:rPr lang="en-US" altLang="zh-CN" sz="2000" kern="0" dirty="0">
                <a:latin typeface="微软雅黑" panose="020B0503020204020204" pitchFamily="34" charset="-122"/>
                <a:ea typeface="微软雅黑" panose="020B0503020204020204" pitchFamily="34" charset="-122"/>
              </a:rPr>
              <a:t>6</a:t>
            </a:r>
            <a:r>
              <a:rPr lang="zh-CN" altLang="en-US" sz="2000" kern="0" dirty="0">
                <a:latin typeface="微软雅黑" panose="020B0503020204020204" pitchFamily="34" charset="-122"/>
                <a:ea typeface="微软雅黑" panose="020B0503020204020204" pitchFamily="34" charset="-122"/>
              </a:rPr>
              <a:t>单向节流阀的节流调速。</a:t>
            </a:r>
            <a:endParaRPr lang="en-US" altLang="zh-CN" sz="2000" kern="0" dirty="0">
              <a:latin typeface="微软雅黑" panose="020B0503020204020204" pitchFamily="34" charset="-122"/>
              <a:ea typeface="微软雅黑" panose="020B0503020204020204" pitchFamily="34" charset="-122"/>
            </a:endParaRPr>
          </a:p>
          <a:p>
            <a:pPr marL="285750" marR="0" lvl="0" indent="-285750" algn="l" defTabSz="914400" rtl="0" eaLnBrk="0" fontAlgn="base" latinLnBrk="0" hangingPunct="0">
              <a:lnSpc>
                <a:spcPct val="150000"/>
              </a:lnSpc>
              <a:spcBef>
                <a:spcPct val="0"/>
              </a:spcBef>
              <a:spcAft>
                <a:spcPct val="0"/>
              </a:spcAft>
              <a:buClrTx/>
              <a:buSzTx/>
              <a:buFont typeface="Wingdings" panose="05000000000000000000" pitchFamily="2" charset="2"/>
              <a:buChar char="Ø"/>
              <a:tabLst/>
            </a:pPr>
            <a:r>
              <a:rPr kumimoji="0" lang="zh-CN" altLang="en-US" sz="2000" b="0" i="0" u="none" strike="noStrike" kern="0" cap="none" normalizeH="0" baseline="0" dirty="0">
                <a:ln>
                  <a:noFill/>
                </a:ln>
                <a:solidFill>
                  <a:schemeClr val="tx1"/>
                </a:solidFill>
                <a:effectLst/>
                <a:latin typeface="微软雅黑" panose="020B0503020204020204" pitchFamily="34" charset="-122"/>
                <a:ea typeface="微软雅黑" panose="020B0503020204020204" pitchFamily="34" charset="-122"/>
              </a:rPr>
              <a:t>快退运动：</a:t>
            </a:r>
            <a:r>
              <a:rPr lang="zh-CN" altLang="en-US" sz="2000" dirty="0">
                <a:latin typeface="Arial" panose="020B0604020202020204" pitchFamily="34" charset="0"/>
              </a:rPr>
              <a:t>阀</a:t>
            </a:r>
            <a:r>
              <a:rPr lang="en-US" altLang="zh-CN" sz="2000" dirty="0">
                <a:latin typeface="Arial" panose="020B0604020202020204" pitchFamily="34" charset="0"/>
              </a:rPr>
              <a:t>3</a:t>
            </a:r>
            <a:r>
              <a:rPr lang="zh-CN" altLang="en-US" sz="2000" dirty="0">
                <a:latin typeface="Arial" panose="020B0604020202020204" pitchFamily="34" charset="0"/>
              </a:rPr>
              <a:t>和阀</a:t>
            </a:r>
            <a:r>
              <a:rPr lang="en-US" altLang="zh-CN" sz="2000" dirty="0">
                <a:latin typeface="Arial" panose="020B0604020202020204" pitchFamily="34" charset="0"/>
              </a:rPr>
              <a:t>5</a:t>
            </a:r>
            <a:r>
              <a:rPr lang="zh-CN" altLang="en-US" sz="2000" dirty="0">
                <a:latin typeface="Arial" panose="020B0604020202020204" pitchFamily="34" charset="0"/>
              </a:rPr>
              <a:t>右位接入，液压缸快退。</a:t>
            </a:r>
            <a:endParaRPr kumimoji="0" lang="zh-CN" altLang="zh-CN" sz="2000" b="0" i="0" u="none" strike="noStrike" cap="none" normalizeH="0" baseline="0" dirty="0">
              <a:ln>
                <a:noFill/>
              </a:ln>
              <a:solidFill>
                <a:schemeClr val="tx1"/>
              </a:solidFill>
              <a:effectLst/>
              <a:latin typeface="Arial" panose="020B0604020202020204" pitchFamily="34" charset="0"/>
            </a:endParaRPr>
          </a:p>
        </p:txBody>
      </p:sp>
      <p:sp>
        <p:nvSpPr>
          <p:cNvPr id="2" name="矩形 18">
            <a:extLst>
              <a:ext uri="{FF2B5EF4-FFF2-40B4-BE49-F238E27FC236}">
                <a16:creationId xmlns:a16="http://schemas.microsoft.com/office/drawing/2014/main" id="{C2CF7822-F79A-9962-705A-F838AA1408D5}"/>
              </a:ext>
            </a:extLst>
          </p:cNvPr>
          <p:cNvSpPr/>
          <p:nvPr/>
        </p:nvSpPr>
        <p:spPr>
          <a:xfrm>
            <a:off x="502594" y="1666863"/>
            <a:ext cx="11087101" cy="960776"/>
          </a:xfrm>
          <a:prstGeom prst="rect">
            <a:avLst/>
          </a:prstGeom>
        </p:spPr>
        <p:txBody>
          <a:bodyPr wrap="square">
            <a:spAutoFit/>
          </a:bodyPr>
          <a:lstStyle/>
          <a:p>
            <a:pPr>
              <a:lnSpc>
                <a:spcPct val="150000"/>
              </a:lnSpc>
            </a:pPr>
            <a:r>
              <a:rPr lang="zh-CN" altLang="en-US" sz="2000" dirty="0"/>
              <a:t>保持快速运动回路又称</a:t>
            </a:r>
            <a:r>
              <a:rPr lang="zh-CN" altLang="en-US" sz="2000" b="1" dirty="0">
                <a:solidFill>
                  <a:srgbClr val="FF0000"/>
                </a:solidFill>
              </a:rPr>
              <a:t>增速回路</a:t>
            </a:r>
            <a:r>
              <a:rPr lang="en-US" altLang="zh-CN" sz="2000" dirty="0"/>
              <a:t>,</a:t>
            </a:r>
            <a:r>
              <a:rPr lang="zh-CN" altLang="en-US" sz="2000" dirty="0"/>
              <a:t>其功用在于使液压执行元件获得所需的</a:t>
            </a:r>
            <a:r>
              <a:rPr lang="zh-CN" altLang="en-US" sz="2000" b="1" dirty="0">
                <a:solidFill>
                  <a:srgbClr val="FF0000"/>
                </a:solidFill>
              </a:rPr>
              <a:t>高速</a:t>
            </a:r>
            <a:r>
              <a:rPr lang="en-US" altLang="zh-CN" sz="2000" dirty="0"/>
              <a:t>,</a:t>
            </a:r>
            <a:r>
              <a:rPr lang="zh-CN" altLang="en-US" sz="2000" b="1" dirty="0">
                <a:solidFill>
                  <a:srgbClr val="FF0000"/>
                </a:solidFill>
              </a:rPr>
              <a:t>缩短</a:t>
            </a:r>
            <a:r>
              <a:rPr lang="zh-CN" altLang="en-US" sz="2000" dirty="0"/>
              <a:t>机械</a:t>
            </a:r>
            <a:r>
              <a:rPr lang="zh-CN" altLang="en-US" sz="2000" b="1" dirty="0">
                <a:solidFill>
                  <a:srgbClr val="0000FF"/>
                </a:solidFill>
              </a:rPr>
              <a:t>空程运动</a:t>
            </a:r>
            <a:r>
              <a:rPr lang="zh-CN" altLang="en-US" sz="2000" b="1" dirty="0">
                <a:solidFill>
                  <a:srgbClr val="FF0000"/>
                </a:solidFill>
              </a:rPr>
              <a:t>时间</a:t>
            </a:r>
            <a:r>
              <a:rPr lang="en-US" altLang="zh-CN" sz="2000" dirty="0"/>
              <a:t>,</a:t>
            </a:r>
            <a:r>
              <a:rPr lang="zh-CN" altLang="en-US" sz="2000" dirty="0"/>
              <a:t>以</a:t>
            </a:r>
            <a:r>
              <a:rPr lang="zh-CN" altLang="en-US" sz="2000" b="1" dirty="0">
                <a:solidFill>
                  <a:srgbClr val="FF0000"/>
                </a:solidFill>
              </a:rPr>
              <a:t>提高系统的工作效率</a:t>
            </a:r>
            <a:r>
              <a:rPr lang="zh-CN" altLang="en-US" sz="2000" dirty="0"/>
              <a:t>。</a:t>
            </a:r>
          </a:p>
        </p:txBody>
      </p:sp>
      <p:sp>
        <p:nvSpPr>
          <p:cNvPr id="24" name="矩形 2">
            <a:extLst>
              <a:ext uri="{FF2B5EF4-FFF2-40B4-BE49-F238E27FC236}">
                <a16:creationId xmlns:a16="http://schemas.microsoft.com/office/drawing/2014/main" id="{CD14E3AB-E38A-75C4-18C9-353DEC4320AE}"/>
              </a:ext>
            </a:extLst>
          </p:cNvPr>
          <p:cNvSpPr/>
          <p:nvPr/>
        </p:nvSpPr>
        <p:spPr>
          <a:xfrm>
            <a:off x="2519516" y="6199941"/>
            <a:ext cx="2031325" cy="461665"/>
          </a:xfrm>
          <a:prstGeom prst="rect">
            <a:avLst/>
          </a:prstGeom>
          <a:solidFill>
            <a:schemeClr val="bg1"/>
          </a:solidFill>
          <a:ln>
            <a:noFill/>
          </a:ln>
          <a:effectLst/>
        </p:spPr>
        <p:txBody>
          <a:bodyPr wrap="none" anchor="ctr">
            <a:spAutoFit/>
          </a:bodyPr>
          <a:lstStyle/>
          <a:p>
            <a:pPr algn="ctr" eaLnBrk="0" hangingPunct="0">
              <a:spcBef>
                <a:spcPts val="0"/>
              </a:spcBef>
            </a:pPr>
            <a:r>
              <a:rPr lang="zh-CN" altLang="en-US" sz="2400" b="1" kern="0" dirty="0">
                <a:solidFill>
                  <a:srgbClr val="FF0000"/>
                </a:solidFill>
                <a:latin typeface="微软雅黑" panose="020B0503020204020204" pitchFamily="34" charset="-122"/>
                <a:ea typeface="微软雅黑" panose="020B0503020204020204" pitchFamily="34" charset="-122"/>
              </a:rPr>
              <a:t>不增加泵流量</a:t>
            </a:r>
          </a:p>
        </p:txBody>
      </p:sp>
      <p:pic>
        <p:nvPicPr>
          <p:cNvPr id="17" name="图片 16">
            <a:extLst>
              <a:ext uri="{FF2B5EF4-FFF2-40B4-BE49-F238E27FC236}">
                <a16:creationId xmlns:a16="http://schemas.microsoft.com/office/drawing/2014/main" id="{48020F73-674F-465C-AE56-B3BCFEB5991E}"/>
              </a:ext>
            </a:extLst>
          </p:cNvPr>
          <p:cNvPicPr>
            <a:picLocks noChangeAspect="1"/>
          </p:cNvPicPr>
          <p:nvPr/>
        </p:nvPicPr>
        <p:blipFill>
          <a:blip r:embed="rId3"/>
          <a:stretch>
            <a:fillRect/>
          </a:stretch>
        </p:blipFill>
        <p:spPr>
          <a:xfrm>
            <a:off x="7311198" y="2508238"/>
            <a:ext cx="2956477" cy="4092345"/>
          </a:xfrm>
          <a:prstGeom prst="rect">
            <a:avLst/>
          </a:prstGeom>
        </p:spPr>
      </p:pic>
    </p:spTree>
    <p:extLst>
      <p:ext uri="{BB962C8B-B14F-4D97-AF65-F5344CB8AC3E}">
        <p14:creationId xmlns:p14="http://schemas.microsoft.com/office/powerpoint/2010/main" val="279790269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 name="直接连接符 4">
            <a:extLst>
              <a:ext uri="{FF2B5EF4-FFF2-40B4-BE49-F238E27FC236}">
                <a16:creationId xmlns:a16="http://schemas.microsoft.com/office/drawing/2014/main" id="{ABB1D33E-6A58-4E88-95E9-6A4048F9D03F}"/>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pic>
        <p:nvPicPr>
          <p:cNvPr id="8" name="图片 7">
            <a:extLst>
              <a:ext uri="{FF2B5EF4-FFF2-40B4-BE49-F238E27FC236}">
                <a16:creationId xmlns:a16="http://schemas.microsoft.com/office/drawing/2014/main" id="{DD0E7411-EFC8-4009-A22F-AE54C44AD5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sp>
        <p:nvSpPr>
          <p:cNvPr id="9" name="文本框 8">
            <a:extLst>
              <a:ext uri="{FF2B5EF4-FFF2-40B4-BE49-F238E27FC236}">
                <a16:creationId xmlns:a16="http://schemas.microsoft.com/office/drawing/2014/main" id="{29E2F821-98A7-4B7B-811D-5DAD6270ADCA}"/>
              </a:ext>
            </a:extLst>
          </p:cNvPr>
          <p:cNvSpPr txBox="1"/>
          <p:nvPr/>
        </p:nvSpPr>
        <p:spPr>
          <a:xfrm>
            <a:off x="429656" y="135415"/>
            <a:ext cx="8582416" cy="646331"/>
          </a:xfrm>
          <a:prstGeom prst="rect">
            <a:avLst/>
          </a:prstGeom>
          <a:noFill/>
        </p:spPr>
        <p:txBody>
          <a:bodyPr wrap="square" rtlCol="0">
            <a:spAutoFit/>
          </a:bodyPr>
          <a:lstStyle/>
          <a:p>
            <a:r>
              <a:rPr lang="en-US" altLang="zh-CN" sz="3600" b="1" dirty="0">
                <a:solidFill>
                  <a:srgbClr val="003F88"/>
                </a:solidFill>
                <a:latin typeface="+mn-ea"/>
              </a:rPr>
              <a:t>1 </a:t>
            </a:r>
            <a:r>
              <a:rPr lang="zh-CN" altLang="en-US" sz="3600" b="1" dirty="0">
                <a:solidFill>
                  <a:srgbClr val="003F88"/>
                </a:solidFill>
                <a:latin typeface="+mn-ea"/>
              </a:rPr>
              <a:t>快速运动回路</a:t>
            </a:r>
          </a:p>
        </p:txBody>
      </p:sp>
      <p:sp>
        <p:nvSpPr>
          <p:cNvPr id="25" name="矩形 24">
            <a:extLst>
              <a:ext uri="{FF2B5EF4-FFF2-40B4-BE49-F238E27FC236}">
                <a16:creationId xmlns:a16="http://schemas.microsoft.com/office/drawing/2014/main" id="{1AAD606F-562C-40BC-8417-9D9D48E8CC31}"/>
              </a:ext>
            </a:extLst>
          </p:cNvPr>
          <p:cNvSpPr/>
          <p:nvPr/>
        </p:nvSpPr>
        <p:spPr>
          <a:xfrm>
            <a:off x="-17100" y="174526"/>
            <a:ext cx="319314" cy="56810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矩形 25">
            <a:extLst>
              <a:ext uri="{FF2B5EF4-FFF2-40B4-BE49-F238E27FC236}">
                <a16:creationId xmlns:a16="http://schemas.microsoft.com/office/drawing/2014/main" id="{08E12499-BFB8-47F3-BAC4-975EC1E1E5B1}"/>
              </a:ext>
            </a:extLst>
          </p:cNvPr>
          <p:cNvSpPr/>
          <p:nvPr/>
        </p:nvSpPr>
        <p:spPr>
          <a:xfrm>
            <a:off x="540867" y="1187297"/>
            <a:ext cx="7547154" cy="581762"/>
          </a:xfrm>
          <a:prstGeom prst="rect">
            <a:avLst/>
          </a:prstGeom>
        </p:spPr>
        <p:txBody>
          <a:bodyPr wrap="square">
            <a:spAutoFit/>
          </a:bodyPr>
          <a:lstStyle/>
          <a:p>
            <a:pPr>
              <a:lnSpc>
                <a:spcPct val="125000"/>
              </a:lnSpc>
            </a:pPr>
            <a:r>
              <a:rPr lang="en-US" altLang="zh-CN" sz="2800" b="1" dirty="0">
                <a:solidFill>
                  <a:srgbClr val="003F88"/>
                </a:solidFill>
                <a:latin typeface="+mn-ea"/>
              </a:rPr>
              <a:t>1.2 </a:t>
            </a:r>
            <a:r>
              <a:rPr lang="zh-CN" altLang="en-US" sz="2800" b="1" dirty="0">
                <a:solidFill>
                  <a:srgbClr val="003F88"/>
                </a:solidFill>
                <a:latin typeface="+mn-ea"/>
              </a:rPr>
              <a:t>双泵供油回路</a:t>
            </a:r>
          </a:p>
        </p:txBody>
      </p:sp>
      <p:sp>
        <p:nvSpPr>
          <p:cNvPr id="6" name="文本框 5">
            <a:extLst>
              <a:ext uri="{FF2B5EF4-FFF2-40B4-BE49-F238E27FC236}">
                <a16:creationId xmlns:a16="http://schemas.microsoft.com/office/drawing/2014/main" id="{912B0CE9-3B00-DFCB-449D-C513714F09D8}"/>
              </a:ext>
            </a:extLst>
          </p:cNvPr>
          <p:cNvSpPr txBox="1"/>
          <p:nvPr/>
        </p:nvSpPr>
        <p:spPr>
          <a:xfrm>
            <a:off x="8220101" y="6099523"/>
            <a:ext cx="3114092" cy="400110"/>
          </a:xfrm>
          <a:prstGeom prst="rect">
            <a:avLst/>
          </a:prstGeom>
          <a:noFill/>
        </p:spPr>
        <p:txBody>
          <a:bodyPr wrap="square">
            <a:spAutoFit/>
          </a:bodyPr>
          <a:lstStyle/>
          <a:p>
            <a:pPr algn="ctr"/>
            <a:r>
              <a:rPr lang="zh-CN" altLang="en-US" sz="2000" kern="0" dirty="0">
                <a:latin typeface="微软雅黑" panose="020B0503020204020204" pitchFamily="34" charset="-122"/>
                <a:ea typeface="微软雅黑" panose="020B0503020204020204" pitchFamily="34" charset="-122"/>
              </a:rPr>
              <a:t>双泵供油回路原理图</a:t>
            </a:r>
            <a:endParaRPr lang="zh-CN" altLang="en-US" sz="2000" dirty="0"/>
          </a:p>
        </p:txBody>
      </p:sp>
      <p:sp>
        <p:nvSpPr>
          <p:cNvPr id="19" name="TextBox 18">
            <a:extLst>
              <a:ext uri="{FF2B5EF4-FFF2-40B4-BE49-F238E27FC236}">
                <a16:creationId xmlns:a16="http://schemas.microsoft.com/office/drawing/2014/main" id="{5ECA845E-22B2-FC2D-969E-7973583F3260}"/>
              </a:ext>
            </a:extLst>
          </p:cNvPr>
          <p:cNvSpPr txBox="1"/>
          <p:nvPr/>
        </p:nvSpPr>
        <p:spPr>
          <a:xfrm>
            <a:off x="540867" y="1767922"/>
            <a:ext cx="6528673" cy="3731278"/>
          </a:xfrm>
          <a:prstGeom prst="rect">
            <a:avLst/>
          </a:prstGeom>
          <a:noFill/>
        </p:spPr>
        <p:txBody>
          <a:bodyPr wrap="square" rtlCol="0">
            <a:spAutoFit/>
          </a:bodyPr>
          <a:lstStyle/>
          <a:p>
            <a:pPr marL="342900" indent="-342900" algn="just">
              <a:lnSpc>
                <a:spcPct val="150000"/>
              </a:lnSpc>
              <a:spcBef>
                <a:spcPts val="0"/>
              </a:spcBef>
              <a:buFont typeface="Wingdings" panose="05000000000000000000" pitchFamily="2" charset="2"/>
              <a:buChar char="Ø"/>
            </a:pPr>
            <a:r>
              <a:rPr lang="en-US" altLang="zh-CN" sz="2000" kern="0" dirty="0">
                <a:latin typeface="+mn-ea"/>
              </a:rPr>
              <a:t>1</a:t>
            </a:r>
            <a:r>
              <a:rPr lang="zh-CN" altLang="en-US" sz="2000" kern="0" dirty="0">
                <a:latin typeface="+mn-ea"/>
              </a:rPr>
              <a:t>为大流量泵，</a:t>
            </a:r>
            <a:r>
              <a:rPr lang="en-US" altLang="zh-CN" sz="2000" kern="0" dirty="0">
                <a:latin typeface="+mn-ea"/>
              </a:rPr>
              <a:t>2</a:t>
            </a:r>
            <a:r>
              <a:rPr lang="zh-CN" altLang="en-US" sz="2000" kern="0" dirty="0">
                <a:latin typeface="+mn-ea"/>
              </a:rPr>
              <a:t>为小流量泵。</a:t>
            </a:r>
            <a:endParaRPr lang="en-US" altLang="zh-CN" sz="2000" kern="0" dirty="0">
              <a:latin typeface="+mn-ea"/>
            </a:endParaRPr>
          </a:p>
          <a:p>
            <a:pPr marL="342900" indent="-342900" algn="just">
              <a:lnSpc>
                <a:spcPct val="150000"/>
              </a:lnSpc>
              <a:buFont typeface="Wingdings" panose="05000000000000000000" pitchFamily="2" charset="2"/>
              <a:buChar char="Ø"/>
            </a:pPr>
            <a:r>
              <a:rPr lang="zh-CN" altLang="en-US" sz="2000" kern="0" dirty="0">
                <a:latin typeface="+mn-ea"/>
              </a:rPr>
              <a:t>快速运动：</a:t>
            </a:r>
            <a:r>
              <a:rPr lang="zh-CN" altLang="en-US" sz="2000" kern="0" dirty="0">
                <a:latin typeface="微软雅黑" panose="020B0503020204020204" pitchFamily="34" charset="-122"/>
                <a:ea typeface="微软雅黑" panose="020B0503020204020204" pitchFamily="34" charset="-122"/>
              </a:rPr>
              <a:t>溢流阀</a:t>
            </a:r>
            <a:r>
              <a:rPr lang="en-US" altLang="zh-CN" sz="2000" kern="0" dirty="0">
                <a:latin typeface="微软雅黑" panose="020B0503020204020204" pitchFamily="34" charset="-122"/>
                <a:ea typeface="微软雅黑" panose="020B0503020204020204" pitchFamily="34" charset="-122"/>
              </a:rPr>
              <a:t>3</a:t>
            </a:r>
            <a:r>
              <a:rPr lang="zh-CN" altLang="en-US" sz="2000" kern="0" dirty="0">
                <a:latin typeface="微软雅黑" panose="020B0503020204020204" pitchFamily="34" charset="-122"/>
                <a:ea typeface="微软雅黑" panose="020B0503020204020204" pitchFamily="34" charset="-122"/>
              </a:rPr>
              <a:t>、</a:t>
            </a:r>
            <a:r>
              <a:rPr lang="en-US" altLang="zh-CN" sz="2000" kern="0" dirty="0">
                <a:latin typeface="微软雅黑" panose="020B0503020204020204" pitchFamily="34" charset="-122"/>
                <a:ea typeface="微软雅黑" panose="020B0503020204020204" pitchFamily="34" charset="-122"/>
              </a:rPr>
              <a:t>5</a:t>
            </a:r>
            <a:r>
              <a:rPr lang="zh-CN" altLang="en-US" sz="2000" kern="0" dirty="0">
                <a:latin typeface="微软雅黑" panose="020B0503020204020204" pitchFamily="34" charset="-122"/>
                <a:ea typeface="微软雅黑" panose="020B0503020204020204" pitchFamily="34" charset="-122"/>
              </a:rPr>
              <a:t>关闭，</a:t>
            </a:r>
            <a:r>
              <a:rPr lang="zh-CN" altLang="en-US" sz="2000" kern="0" dirty="0">
                <a:latin typeface="+mn-ea"/>
              </a:rPr>
              <a:t>大流量泵</a:t>
            </a:r>
            <a:r>
              <a:rPr lang="en-US" altLang="zh-CN" sz="2000" kern="0" dirty="0">
                <a:latin typeface="微软雅黑" panose="020B0503020204020204" pitchFamily="34" charset="-122"/>
                <a:ea typeface="微软雅黑" panose="020B0503020204020204" pitchFamily="34" charset="-122"/>
              </a:rPr>
              <a:t>1</a:t>
            </a:r>
            <a:r>
              <a:rPr lang="zh-CN" altLang="en-US" sz="2000" kern="0" dirty="0">
                <a:latin typeface="微软雅黑" panose="020B0503020204020204" pitchFamily="34" charset="-122"/>
                <a:ea typeface="微软雅黑" panose="020B0503020204020204" pitchFamily="34" charset="-122"/>
              </a:rPr>
              <a:t>和</a:t>
            </a:r>
            <a:r>
              <a:rPr lang="zh-CN" altLang="en-US" sz="2000" kern="0" dirty="0">
                <a:latin typeface="+mn-ea"/>
              </a:rPr>
              <a:t>小流量泵</a:t>
            </a:r>
            <a:r>
              <a:rPr lang="en-US" altLang="zh-CN" sz="2000" kern="0" dirty="0">
                <a:latin typeface="微软雅黑" panose="020B0503020204020204" pitchFamily="34" charset="-122"/>
                <a:ea typeface="微软雅黑" panose="020B0503020204020204" pitchFamily="34" charset="-122"/>
              </a:rPr>
              <a:t>2</a:t>
            </a:r>
            <a:r>
              <a:rPr lang="zh-CN" altLang="en-US" sz="2000" kern="0" dirty="0">
                <a:latin typeface="微软雅黑" panose="020B0503020204020204" pitchFamily="34" charset="-122"/>
                <a:ea typeface="微软雅黑" panose="020B0503020204020204" pitchFamily="34" charset="-122"/>
              </a:rPr>
              <a:t>共同供油。</a:t>
            </a:r>
            <a:endParaRPr lang="en-US" altLang="zh-CN" sz="2000" kern="0" dirty="0">
              <a:latin typeface="微软雅黑" panose="020B0503020204020204" pitchFamily="34" charset="-122"/>
              <a:ea typeface="微软雅黑" panose="020B0503020204020204" pitchFamily="34" charset="-122"/>
            </a:endParaRPr>
          </a:p>
          <a:p>
            <a:pPr marL="342900" indent="-342900" algn="just">
              <a:lnSpc>
                <a:spcPct val="150000"/>
              </a:lnSpc>
              <a:spcBef>
                <a:spcPts val="0"/>
              </a:spcBef>
              <a:buFont typeface="Wingdings" panose="05000000000000000000" pitchFamily="2" charset="2"/>
              <a:buChar char="Ø"/>
            </a:pPr>
            <a:r>
              <a:rPr lang="zh-CN" altLang="en-US" sz="2000" kern="0" dirty="0">
                <a:latin typeface="+mn-ea"/>
              </a:rPr>
              <a:t>工作行程：系统压力升高，</a:t>
            </a:r>
            <a:r>
              <a:rPr lang="zh-CN" altLang="en-US" sz="2000" kern="0" dirty="0">
                <a:latin typeface="微软雅黑" panose="020B0503020204020204" pitchFamily="34" charset="-122"/>
                <a:ea typeface="微软雅黑" panose="020B0503020204020204" pitchFamily="34" charset="-122"/>
              </a:rPr>
              <a:t>液控溢流阀</a:t>
            </a:r>
            <a:r>
              <a:rPr lang="en-US" altLang="zh-CN" sz="2000" kern="0" dirty="0">
                <a:latin typeface="微软雅黑" panose="020B0503020204020204" pitchFamily="34" charset="-122"/>
                <a:ea typeface="微软雅黑" panose="020B0503020204020204" pitchFamily="34" charset="-122"/>
              </a:rPr>
              <a:t>3</a:t>
            </a:r>
            <a:r>
              <a:rPr lang="zh-CN" altLang="en-US" sz="2000" kern="0" dirty="0">
                <a:latin typeface="微软雅黑" panose="020B0503020204020204" pitchFamily="34" charset="-122"/>
                <a:ea typeface="微软雅黑" panose="020B0503020204020204" pitchFamily="34" charset="-122"/>
              </a:rPr>
              <a:t>打开，泵</a:t>
            </a:r>
            <a:r>
              <a:rPr lang="en-US" altLang="zh-CN" sz="2000" kern="0" dirty="0">
                <a:latin typeface="微软雅黑" panose="020B0503020204020204" pitchFamily="34" charset="-122"/>
                <a:ea typeface="微软雅黑" panose="020B0503020204020204" pitchFamily="34" charset="-122"/>
              </a:rPr>
              <a:t>1</a:t>
            </a:r>
            <a:r>
              <a:rPr lang="zh-CN" altLang="en-US" sz="2000" kern="0" dirty="0">
                <a:latin typeface="微软雅黑" panose="020B0503020204020204" pitchFamily="34" charset="-122"/>
                <a:ea typeface="微软雅黑" panose="020B0503020204020204" pitchFamily="34" charset="-122"/>
              </a:rPr>
              <a:t>卸荷，小流量泵</a:t>
            </a:r>
            <a:r>
              <a:rPr lang="en-US" altLang="zh-CN" sz="2000" kern="0" dirty="0">
                <a:latin typeface="微软雅黑" panose="020B0503020204020204" pitchFamily="34" charset="-122"/>
                <a:ea typeface="微软雅黑" panose="020B0503020204020204" pitchFamily="34" charset="-122"/>
              </a:rPr>
              <a:t>2</a:t>
            </a:r>
            <a:r>
              <a:rPr lang="zh-CN" altLang="en-US" sz="2000" kern="0" dirty="0">
                <a:latin typeface="微软雅黑" panose="020B0503020204020204" pitchFamily="34" charset="-122"/>
                <a:ea typeface="微软雅黑" panose="020B0503020204020204" pitchFamily="34" charset="-122"/>
              </a:rPr>
              <a:t>单独供油。</a:t>
            </a:r>
            <a:endParaRPr lang="en-US" altLang="zh-CN" sz="2000" kern="0" dirty="0">
              <a:latin typeface="微软雅黑" panose="020B0503020204020204" pitchFamily="34" charset="-122"/>
              <a:ea typeface="微软雅黑" panose="020B0503020204020204" pitchFamily="34" charset="-122"/>
            </a:endParaRPr>
          </a:p>
          <a:p>
            <a:pPr marL="342900" indent="-342900" algn="just">
              <a:lnSpc>
                <a:spcPct val="150000"/>
              </a:lnSpc>
              <a:spcBef>
                <a:spcPts val="0"/>
              </a:spcBef>
              <a:buFont typeface="Wingdings" panose="05000000000000000000" pitchFamily="2" charset="2"/>
              <a:buChar char="Ø"/>
            </a:pPr>
            <a:r>
              <a:rPr lang="zh-CN" altLang="en-US" sz="2000" kern="0" dirty="0">
                <a:latin typeface="微软雅黑" panose="020B0503020204020204" pitchFamily="34" charset="-122"/>
                <a:ea typeface="微软雅黑" panose="020B0503020204020204" pitchFamily="34" charset="-122"/>
              </a:rPr>
              <a:t>系统的工作压力由溢流阀</a:t>
            </a:r>
            <a:r>
              <a:rPr lang="en-US" altLang="zh-CN" sz="2000" kern="0" dirty="0">
                <a:latin typeface="微软雅黑" panose="020B0503020204020204" pitchFamily="34" charset="-122"/>
                <a:ea typeface="微软雅黑" panose="020B0503020204020204" pitchFamily="34" charset="-122"/>
              </a:rPr>
              <a:t>5</a:t>
            </a:r>
            <a:r>
              <a:rPr lang="zh-CN" altLang="en-US" sz="2000" kern="0" dirty="0">
                <a:latin typeface="微软雅黑" panose="020B0503020204020204" pitchFamily="34" charset="-122"/>
                <a:ea typeface="微软雅黑" panose="020B0503020204020204" pitchFamily="34" charset="-122"/>
              </a:rPr>
              <a:t>调定。</a:t>
            </a:r>
            <a:endParaRPr lang="en-US" altLang="zh-CN" sz="2000" kern="0" dirty="0">
              <a:latin typeface="微软雅黑" panose="020B0503020204020204" pitchFamily="34" charset="-122"/>
              <a:ea typeface="微软雅黑" panose="020B0503020204020204" pitchFamily="34" charset="-122"/>
            </a:endParaRPr>
          </a:p>
          <a:p>
            <a:pPr algn="just">
              <a:lnSpc>
                <a:spcPct val="150000"/>
              </a:lnSpc>
              <a:spcBef>
                <a:spcPts val="0"/>
              </a:spcBef>
            </a:pPr>
            <a:endParaRPr lang="en-US" altLang="zh-CN" sz="2000" kern="0" dirty="0">
              <a:latin typeface="微软雅黑" panose="020B0503020204020204" pitchFamily="34" charset="-122"/>
              <a:ea typeface="微软雅黑" panose="020B0503020204020204" pitchFamily="34" charset="-122"/>
            </a:endParaRPr>
          </a:p>
          <a:p>
            <a:pPr algn="just">
              <a:lnSpc>
                <a:spcPct val="150000"/>
              </a:lnSpc>
              <a:spcBef>
                <a:spcPts val="0"/>
              </a:spcBef>
            </a:pPr>
            <a:r>
              <a:rPr lang="zh-CN" altLang="en-US" sz="2000" kern="0" dirty="0">
                <a:latin typeface="微软雅黑" panose="020B0503020204020204" pitchFamily="34" charset="-122"/>
                <a:ea typeface="微软雅黑" panose="020B0503020204020204" pitchFamily="34" charset="-122"/>
              </a:rPr>
              <a:t>优点：功率损耗小，系统效率高，应用广泛。</a:t>
            </a:r>
            <a:endParaRPr lang="en-US" altLang="zh-CN" sz="2000" kern="0" dirty="0">
              <a:latin typeface="+mn-ea"/>
            </a:endParaRPr>
          </a:p>
        </p:txBody>
      </p:sp>
      <p:pic>
        <p:nvPicPr>
          <p:cNvPr id="18" name="图片 17">
            <a:extLst>
              <a:ext uri="{FF2B5EF4-FFF2-40B4-BE49-F238E27FC236}">
                <a16:creationId xmlns:a16="http://schemas.microsoft.com/office/drawing/2014/main" id="{4DC86967-295C-46E3-A336-3B29454DE26F}"/>
              </a:ext>
            </a:extLst>
          </p:cNvPr>
          <p:cNvPicPr>
            <a:picLocks noChangeAspect="1"/>
          </p:cNvPicPr>
          <p:nvPr/>
        </p:nvPicPr>
        <p:blipFill>
          <a:blip r:embed="rId3"/>
          <a:stretch>
            <a:fillRect/>
          </a:stretch>
        </p:blipFill>
        <p:spPr>
          <a:xfrm>
            <a:off x="7393434" y="2459037"/>
            <a:ext cx="4524246" cy="3350618"/>
          </a:xfrm>
          <a:prstGeom prst="rect">
            <a:avLst/>
          </a:prstGeom>
        </p:spPr>
      </p:pic>
    </p:spTree>
    <p:extLst>
      <p:ext uri="{BB962C8B-B14F-4D97-AF65-F5344CB8AC3E}">
        <p14:creationId xmlns:p14="http://schemas.microsoft.com/office/powerpoint/2010/main" val="239460764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00C68A-A497-D984-A3D4-923C8CC4EEE3}"/>
            </a:ext>
          </a:extLst>
        </p:cNvPr>
        <p:cNvGrpSpPr/>
        <p:nvPr/>
      </p:nvGrpSpPr>
      <p:grpSpPr>
        <a:xfrm>
          <a:off x="0" y="0"/>
          <a:ext cx="0" cy="0"/>
          <a:chOff x="0" y="0"/>
          <a:chExt cx="0" cy="0"/>
        </a:xfrm>
      </p:grpSpPr>
      <p:cxnSp>
        <p:nvCxnSpPr>
          <p:cNvPr id="5" name="直接连接符 4">
            <a:extLst>
              <a:ext uri="{FF2B5EF4-FFF2-40B4-BE49-F238E27FC236}">
                <a16:creationId xmlns:a16="http://schemas.microsoft.com/office/drawing/2014/main" id="{A66AD187-16F6-9FBA-280C-432B12341C26}"/>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pic>
        <p:nvPicPr>
          <p:cNvPr id="8" name="图片 7">
            <a:extLst>
              <a:ext uri="{FF2B5EF4-FFF2-40B4-BE49-F238E27FC236}">
                <a16:creationId xmlns:a16="http://schemas.microsoft.com/office/drawing/2014/main" id="{632581E6-FFDD-4821-B7C5-5240EA031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sp>
        <p:nvSpPr>
          <p:cNvPr id="9" name="文本框 8">
            <a:extLst>
              <a:ext uri="{FF2B5EF4-FFF2-40B4-BE49-F238E27FC236}">
                <a16:creationId xmlns:a16="http://schemas.microsoft.com/office/drawing/2014/main" id="{92EB22B8-F86F-61D2-B91C-9FA44BC8B63C}"/>
              </a:ext>
            </a:extLst>
          </p:cNvPr>
          <p:cNvSpPr txBox="1"/>
          <p:nvPr/>
        </p:nvSpPr>
        <p:spPr>
          <a:xfrm>
            <a:off x="429656" y="135415"/>
            <a:ext cx="8582416" cy="646331"/>
          </a:xfrm>
          <a:prstGeom prst="rect">
            <a:avLst/>
          </a:prstGeom>
          <a:noFill/>
        </p:spPr>
        <p:txBody>
          <a:bodyPr wrap="square" rtlCol="0">
            <a:spAutoFit/>
          </a:bodyPr>
          <a:lstStyle/>
          <a:p>
            <a:r>
              <a:rPr lang="en-US" altLang="zh-CN" sz="3600" b="1" dirty="0">
                <a:solidFill>
                  <a:srgbClr val="003F88"/>
                </a:solidFill>
                <a:latin typeface="+mn-ea"/>
              </a:rPr>
              <a:t>1 </a:t>
            </a:r>
            <a:r>
              <a:rPr lang="zh-CN" altLang="en-US" sz="3600" b="1" dirty="0">
                <a:solidFill>
                  <a:srgbClr val="003F88"/>
                </a:solidFill>
                <a:latin typeface="+mn-ea"/>
              </a:rPr>
              <a:t>快速运动回路</a:t>
            </a:r>
          </a:p>
        </p:txBody>
      </p:sp>
      <p:sp>
        <p:nvSpPr>
          <p:cNvPr id="25" name="矩形 24">
            <a:extLst>
              <a:ext uri="{FF2B5EF4-FFF2-40B4-BE49-F238E27FC236}">
                <a16:creationId xmlns:a16="http://schemas.microsoft.com/office/drawing/2014/main" id="{D7A3F6CB-FF16-33F9-3638-19DC29EA4E76}"/>
              </a:ext>
            </a:extLst>
          </p:cNvPr>
          <p:cNvSpPr/>
          <p:nvPr/>
        </p:nvSpPr>
        <p:spPr>
          <a:xfrm>
            <a:off x="-17100" y="174526"/>
            <a:ext cx="319314" cy="56810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矩形 25">
            <a:extLst>
              <a:ext uri="{FF2B5EF4-FFF2-40B4-BE49-F238E27FC236}">
                <a16:creationId xmlns:a16="http://schemas.microsoft.com/office/drawing/2014/main" id="{49E7BC22-A260-B326-838E-80B821A26E31}"/>
              </a:ext>
            </a:extLst>
          </p:cNvPr>
          <p:cNvSpPr/>
          <p:nvPr/>
        </p:nvSpPr>
        <p:spPr>
          <a:xfrm>
            <a:off x="540867" y="1187297"/>
            <a:ext cx="7547154" cy="581762"/>
          </a:xfrm>
          <a:prstGeom prst="rect">
            <a:avLst/>
          </a:prstGeom>
        </p:spPr>
        <p:txBody>
          <a:bodyPr wrap="square">
            <a:spAutoFit/>
          </a:bodyPr>
          <a:lstStyle/>
          <a:p>
            <a:pPr>
              <a:lnSpc>
                <a:spcPct val="125000"/>
              </a:lnSpc>
            </a:pPr>
            <a:r>
              <a:rPr lang="en-US" altLang="zh-CN" sz="2800" b="1" dirty="0">
                <a:solidFill>
                  <a:srgbClr val="003F88"/>
                </a:solidFill>
                <a:latin typeface="+mn-ea"/>
              </a:rPr>
              <a:t>1.3 </a:t>
            </a:r>
            <a:r>
              <a:rPr lang="zh-CN" altLang="en-US" sz="2800" b="1" dirty="0">
                <a:solidFill>
                  <a:srgbClr val="003F88"/>
                </a:solidFill>
                <a:latin typeface="+mn-ea"/>
              </a:rPr>
              <a:t>采用增速缸的快速运动回路</a:t>
            </a:r>
          </a:p>
        </p:txBody>
      </p:sp>
      <p:sp>
        <p:nvSpPr>
          <p:cNvPr id="6" name="文本框 5">
            <a:extLst>
              <a:ext uri="{FF2B5EF4-FFF2-40B4-BE49-F238E27FC236}">
                <a16:creationId xmlns:a16="http://schemas.microsoft.com/office/drawing/2014/main" id="{96AF1F08-7514-6452-2C01-27479ED5F131}"/>
              </a:ext>
            </a:extLst>
          </p:cNvPr>
          <p:cNvSpPr txBox="1"/>
          <p:nvPr/>
        </p:nvSpPr>
        <p:spPr>
          <a:xfrm>
            <a:off x="8122109" y="6247509"/>
            <a:ext cx="3280564" cy="400110"/>
          </a:xfrm>
          <a:prstGeom prst="rect">
            <a:avLst/>
          </a:prstGeom>
          <a:noFill/>
        </p:spPr>
        <p:txBody>
          <a:bodyPr wrap="square">
            <a:spAutoFit/>
          </a:bodyPr>
          <a:lstStyle/>
          <a:p>
            <a:pPr algn="ctr"/>
            <a:r>
              <a:rPr lang="zh-CN" altLang="en-US" sz="2000" kern="0" dirty="0">
                <a:latin typeface="微软雅黑" panose="020B0503020204020204" pitchFamily="34" charset="-122"/>
                <a:ea typeface="微软雅黑" panose="020B0503020204020204" pitchFamily="34" charset="-122"/>
              </a:rPr>
              <a:t>增速缸快速运动回路原理图</a:t>
            </a:r>
            <a:endParaRPr lang="zh-CN" altLang="en-US" sz="2000" dirty="0"/>
          </a:p>
        </p:txBody>
      </p:sp>
      <p:sp>
        <p:nvSpPr>
          <p:cNvPr id="19" name="TextBox 18">
            <a:extLst>
              <a:ext uri="{FF2B5EF4-FFF2-40B4-BE49-F238E27FC236}">
                <a16:creationId xmlns:a16="http://schemas.microsoft.com/office/drawing/2014/main" id="{6CB66071-336E-2D51-2ACD-21C07ABAB74D}"/>
              </a:ext>
            </a:extLst>
          </p:cNvPr>
          <p:cNvSpPr txBox="1"/>
          <p:nvPr/>
        </p:nvSpPr>
        <p:spPr>
          <a:xfrm>
            <a:off x="540867" y="1767922"/>
            <a:ext cx="6545337" cy="3731278"/>
          </a:xfrm>
          <a:prstGeom prst="rect">
            <a:avLst/>
          </a:prstGeom>
          <a:noFill/>
        </p:spPr>
        <p:txBody>
          <a:bodyPr wrap="square" rtlCol="0">
            <a:spAutoFit/>
          </a:bodyPr>
          <a:lstStyle/>
          <a:p>
            <a:pPr marL="342900" indent="-342900" algn="just">
              <a:lnSpc>
                <a:spcPct val="150000"/>
              </a:lnSpc>
              <a:buFont typeface="Wingdings" panose="05000000000000000000" pitchFamily="2" charset="2"/>
              <a:buChar char="Ø"/>
            </a:pPr>
            <a:r>
              <a:rPr lang="en-US" altLang="zh-CN" sz="2000" kern="0" dirty="0">
                <a:latin typeface="微软雅黑" panose="020B0503020204020204" pitchFamily="34" charset="-122"/>
                <a:ea typeface="微软雅黑" panose="020B0503020204020204" pitchFamily="34" charset="-122"/>
              </a:rPr>
              <a:t>A</a:t>
            </a:r>
            <a:r>
              <a:rPr lang="zh-CN" altLang="en-US" sz="2000" kern="0" dirty="0">
                <a:latin typeface="微软雅黑" panose="020B0503020204020204" pitchFamily="34" charset="-122"/>
                <a:ea typeface="微软雅黑" panose="020B0503020204020204" pitchFamily="34" charset="-122"/>
              </a:rPr>
              <a:t>腔作用面积</a:t>
            </a:r>
            <a:r>
              <a:rPr lang="en-US" altLang="zh-CN" sz="2000" kern="0" dirty="0">
                <a:latin typeface="微软雅黑" panose="020B0503020204020204" pitchFamily="34" charset="-122"/>
                <a:ea typeface="微软雅黑" panose="020B0503020204020204" pitchFamily="34" charset="-122"/>
              </a:rPr>
              <a:t>&gt;B</a:t>
            </a:r>
            <a:r>
              <a:rPr lang="zh-CN" altLang="en-US" sz="2000" kern="0" dirty="0">
                <a:latin typeface="微软雅黑" panose="020B0503020204020204" pitchFamily="34" charset="-122"/>
                <a:ea typeface="微软雅黑" panose="020B0503020204020204" pitchFamily="34" charset="-122"/>
              </a:rPr>
              <a:t>腔作用面积</a:t>
            </a:r>
            <a:r>
              <a:rPr lang="zh-CN" altLang="en-US" sz="2000" kern="0" dirty="0">
                <a:latin typeface="+mn-ea"/>
              </a:rPr>
              <a:t>。</a:t>
            </a:r>
            <a:endParaRPr lang="en-US" altLang="zh-CN" sz="2000" kern="0" dirty="0">
              <a:latin typeface="+mn-ea"/>
            </a:endParaRPr>
          </a:p>
          <a:p>
            <a:pPr marL="342900" indent="-342900" algn="just">
              <a:lnSpc>
                <a:spcPct val="150000"/>
              </a:lnSpc>
              <a:buFont typeface="Wingdings" panose="05000000000000000000" pitchFamily="2" charset="2"/>
              <a:buChar char="Ø"/>
            </a:pPr>
            <a:r>
              <a:rPr lang="zh-CN" altLang="en-US" sz="2000" kern="0" dirty="0">
                <a:latin typeface="+mn-ea"/>
              </a:rPr>
              <a:t>快进：</a:t>
            </a:r>
            <a:r>
              <a:rPr lang="zh-CN" altLang="en-US" sz="2000" kern="0" dirty="0">
                <a:latin typeface="微软雅黑" panose="020B0503020204020204" pitchFamily="34" charset="-122"/>
                <a:ea typeface="微软雅黑" panose="020B0503020204020204" pitchFamily="34" charset="-122"/>
              </a:rPr>
              <a:t>阀</a:t>
            </a:r>
            <a:r>
              <a:rPr lang="en-US" altLang="zh-CN" sz="2000" kern="0" dirty="0">
                <a:latin typeface="微软雅黑" panose="020B0503020204020204" pitchFamily="34" charset="-122"/>
                <a:ea typeface="微软雅黑" panose="020B0503020204020204" pitchFamily="34" charset="-122"/>
              </a:rPr>
              <a:t>2</a:t>
            </a:r>
            <a:r>
              <a:rPr lang="zh-CN" altLang="en-US" sz="2000" kern="0" dirty="0">
                <a:latin typeface="微软雅黑" panose="020B0503020204020204" pitchFamily="34" charset="-122"/>
                <a:ea typeface="微软雅黑" panose="020B0503020204020204" pitchFamily="34" charset="-122"/>
              </a:rPr>
              <a:t>处于左位，阀</a:t>
            </a:r>
            <a:r>
              <a:rPr lang="en-US" altLang="zh-CN" sz="2000" kern="0" dirty="0">
                <a:latin typeface="微软雅黑" panose="020B0503020204020204" pitchFamily="34" charset="-122"/>
                <a:ea typeface="微软雅黑" panose="020B0503020204020204" pitchFamily="34" charset="-122"/>
              </a:rPr>
              <a:t>4</a:t>
            </a:r>
            <a:r>
              <a:rPr lang="zh-CN" altLang="en-US" sz="2000" kern="0" dirty="0">
                <a:latin typeface="微软雅黑" panose="020B0503020204020204" pitchFamily="34" charset="-122"/>
                <a:ea typeface="微软雅黑" panose="020B0503020204020204" pitchFamily="34" charset="-122"/>
              </a:rPr>
              <a:t>关闭，</a:t>
            </a:r>
            <a:r>
              <a:rPr lang="en-US" altLang="zh-CN" sz="2000" kern="0" dirty="0">
                <a:latin typeface="微软雅黑" panose="020B0503020204020204" pitchFamily="34" charset="-122"/>
                <a:ea typeface="微软雅黑" panose="020B0503020204020204" pitchFamily="34" charset="-122"/>
              </a:rPr>
              <a:t>B</a:t>
            </a:r>
            <a:r>
              <a:rPr lang="zh-CN" altLang="en-US" sz="2000" kern="0" dirty="0">
                <a:latin typeface="微软雅黑" panose="020B0503020204020204" pitchFamily="34" charset="-122"/>
                <a:ea typeface="微软雅黑" panose="020B0503020204020204" pitchFamily="34" charset="-122"/>
              </a:rPr>
              <a:t>腔作用，活塞快速伸出；</a:t>
            </a:r>
            <a:r>
              <a:rPr lang="en-US" altLang="zh-CN" sz="2000" b="1" kern="0" dirty="0">
                <a:solidFill>
                  <a:srgbClr val="0000FF"/>
                </a:solidFill>
                <a:latin typeface="微软雅黑" panose="020B0503020204020204" pitchFamily="34" charset="-122"/>
                <a:ea typeface="微软雅黑" panose="020B0503020204020204" pitchFamily="34" charset="-122"/>
              </a:rPr>
              <a:t>A</a:t>
            </a:r>
            <a:r>
              <a:rPr lang="zh-CN" altLang="en-US" sz="2000" b="1" kern="0" dirty="0">
                <a:solidFill>
                  <a:srgbClr val="0000FF"/>
                </a:solidFill>
                <a:latin typeface="微软雅黑" panose="020B0503020204020204" pitchFamily="34" charset="-122"/>
                <a:ea typeface="微软雅黑" panose="020B0503020204020204" pitchFamily="34" charset="-122"/>
              </a:rPr>
              <a:t>腔所需油液经液控单向阀</a:t>
            </a:r>
            <a:r>
              <a:rPr lang="en-US" altLang="zh-CN" sz="2000" b="1" kern="0" dirty="0">
                <a:solidFill>
                  <a:srgbClr val="0000FF"/>
                </a:solidFill>
                <a:latin typeface="微软雅黑" panose="020B0503020204020204" pitchFamily="34" charset="-122"/>
                <a:ea typeface="微软雅黑" panose="020B0503020204020204" pitchFamily="34" charset="-122"/>
              </a:rPr>
              <a:t>3</a:t>
            </a:r>
            <a:r>
              <a:rPr lang="zh-CN" altLang="en-US" sz="2000" b="1" kern="0" dirty="0">
                <a:solidFill>
                  <a:srgbClr val="0000FF"/>
                </a:solidFill>
                <a:latin typeface="微软雅黑" panose="020B0503020204020204" pitchFamily="34" charset="-122"/>
                <a:ea typeface="微软雅黑" panose="020B0503020204020204" pitchFamily="34" charset="-122"/>
              </a:rPr>
              <a:t>从辅助油箱吸入</a:t>
            </a:r>
            <a:r>
              <a:rPr lang="zh-CN" altLang="en-US" sz="2000" kern="0" dirty="0">
                <a:latin typeface="微软雅黑" panose="020B0503020204020204" pitchFamily="34" charset="-122"/>
                <a:ea typeface="微软雅黑" panose="020B0503020204020204" pitchFamily="34" charset="-122"/>
              </a:rPr>
              <a:t>。</a:t>
            </a:r>
            <a:endParaRPr lang="en-US" altLang="zh-CN" sz="2000" kern="0" dirty="0">
              <a:latin typeface="微软雅黑" panose="020B0503020204020204" pitchFamily="34" charset="-122"/>
              <a:ea typeface="微软雅黑" panose="020B0503020204020204" pitchFamily="34" charset="-122"/>
            </a:endParaRPr>
          </a:p>
          <a:p>
            <a:pPr marL="342900" indent="-342900" algn="just">
              <a:lnSpc>
                <a:spcPct val="150000"/>
              </a:lnSpc>
              <a:spcBef>
                <a:spcPts val="0"/>
              </a:spcBef>
              <a:buFont typeface="Wingdings" panose="05000000000000000000" pitchFamily="2" charset="2"/>
              <a:buChar char="Ø"/>
            </a:pPr>
            <a:r>
              <a:rPr lang="zh-CN" altLang="en-US" sz="2000" kern="0" dirty="0">
                <a:latin typeface="+mn-ea"/>
              </a:rPr>
              <a:t>工作行程：活塞伸出到工作位置时，由于负载加大，压力升高，</a:t>
            </a:r>
            <a:r>
              <a:rPr lang="zh-CN" altLang="en-US" sz="2000" b="1" kern="0" dirty="0">
                <a:solidFill>
                  <a:srgbClr val="0000FF"/>
                </a:solidFill>
                <a:latin typeface="+mn-ea"/>
              </a:rPr>
              <a:t>阀</a:t>
            </a:r>
            <a:r>
              <a:rPr lang="en-US" altLang="zh-CN" sz="2000" b="1" kern="0" dirty="0">
                <a:solidFill>
                  <a:srgbClr val="0000FF"/>
                </a:solidFill>
                <a:latin typeface="+mn-ea"/>
              </a:rPr>
              <a:t>4</a:t>
            </a:r>
            <a:r>
              <a:rPr lang="zh-CN" altLang="en-US" sz="2000" b="1" kern="0" dirty="0">
                <a:solidFill>
                  <a:srgbClr val="0000FF"/>
                </a:solidFill>
                <a:latin typeface="+mn-ea"/>
              </a:rPr>
              <a:t>打开</a:t>
            </a:r>
            <a:r>
              <a:rPr lang="zh-CN" altLang="en-US" sz="2000" kern="0" dirty="0">
                <a:latin typeface="+mn-ea"/>
              </a:rPr>
              <a:t>，高压油进入</a:t>
            </a:r>
            <a:r>
              <a:rPr lang="en-US" altLang="zh-CN" sz="2000" kern="0" dirty="0">
                <a:latin typeface="+mn-ea"/>
              </a:rPr>
              <a:t>A</a:t>
            </a:r>
            <a:r>
              <a:rPr lang="zh-CN" altLang="en-US" sz="2000" kern="0" dirty="0">
                <a:latin typeface="+mn-ea"/>
              </a:rPr>
              <a:t>腔，同时关闭单向阀</a:t>
            </a:r>
            <a:r>
              <a:rPr lang="en-US" altLang="zh-CN" sz="2000" kern="0" dirty="0">
                <a:latin typeface="+mn-ea"/>
              </a:rPr>
              <a:t>3</a:t>
            </a:r>
            <a:r>
              <a:rPr lang="zh-CN" altLang="en-US" sz="2000" kern="0" dirty="0">
                <a:latin typeface="+mn-ea"/>
              </a:rPr>
              <a:t>。此时活塞杆在压力油作用下继续外伸，但因</a:t>
            </a:r>
            <a:r>
              <a:rPr lang="zh-CN" altLang="en-US" sz="2000" kern="0" dirty="0">
                <a:solidFill>
                  <a:srgbClr val="FF0000"/>
                </a:solidFill>
                <a:latin typeface="+mn-ea"/>
              </a:rPr>
              <a:t>有效面积加大</a:t>
            </a:r>
            <a:r>
              <a:rPr lang="zh-CN" altLang="en-US" sz="2000" kern="0" dirty="0">
                <a:latin typeface="+mn-ea"/>
              </a:rPr>
              <a:t>，</a:t>
            </a:r>
            <a:r>
              <a:rPr lang="zh-CN" altLang="en-US" sz="2000" b="1" kern="0" dirty="0">
                <a:solidFill>
                  <a:srgbClr val="0000FF"/>
                </a:solidFill>
                <a:latin typeface="+mn-ea"/>
              </a:rPr>
              <a:t>速度变慢而推力加大</a:t>
            </a:r>
            <a:r>
              <a:rPr lang="zh-CN" altLang="en-US" sz="2000" kern="0" dirty="0">
                <a:latin typeface="+mn-ea"/>
              </a:rPr>
              <a:t>。</a:t>
            </a:r>
            <a:endParaRPr lang="en-US" altLang="zh-CN" sz="2000" kern="0" dirty="0">
              <a:latin typeface="+mn-ea"/>
            </a:endParaRPr>
          </a:p>
          <a:p>
            <a:pPr marL="342900" indent="-342900" algn="just">
              <a:lnSpc>
                <a:spcPct val="150000"/>
              </a:lnSpc>
              <a:spcBef>
                <a:spcPts val="0"/>
              </a:spcBef>
              <a:buFont typeface="Wingdings" panose="05000000000000000000" pitchFamily="2" charset="2"/>
              <a:buChar char="Ø"/>
            </a:pPr>
            <a:r>
              <a:rPr lang="zh-CN" altLang="en-US" sz="2000" kern="0" dirty="0">
                <a:latin typeface="+mn-ea"/>
              </a:rPr>
              <a:t>这种回路常被用于液压机的系统中。</a:t>
            </a:r>
            <a:endParaRPr lang="en-US" altLang="zh-CN" sz="2000" kern="0" dirty="0">
              <a:latin typeface="微软雅黑" panose="020B0503020204020204" pitchFamily="34" charset="-122"/>
              <a:ea typeface="微软雅黑" panose="020B0503020204020204" pitchFamily="34" charset="-122"/>
            </a:endParaRPr>
          </a:p>
        </p:txBody>
      </p:sp>
      <p:pic>
        <p:nvPicPr>
          <p:cNvPr id="31" name="图片 30">
            <a:extLst>
              <a:ext uri="{FF2B5EF4-FFF2-40B4-BE49-F238E27FC236}">
                <a16:creationId xmlns:a16="http://schemas.microsoft.com/office/drawing/2014/main" id="{6EA415C1-130C-4F5D-A59E-86C31832F676}"/>
              </a:ext>
            </a:extLst>
          </p:cNvPr>
          <p:cNvPicPr>
            <a:picLocks noChangeAspect="1"/>
          </p:cNvPicPr>
          <p:nvPr/>
        </p:nvPicPr>
        <p:blipFill>
          <a:blip r:embed="rId3"/>
          <a:stretch>
            <a:fillRect/>
          </a:stretch>
        </p:blipFill>
        <p:spPr>
          <a:xfrm>
            <a:off x="7747418" y="1516549"/>
            <a:ext cx="3621167" cy="4265911"/>
          </a:xfrm>
          <a:prstGeom prst="rect">
            <a:avLst/>
          </a:prstGeom>
        </p:spPr>
      </p:pic>
    </p:spTree>
    <p:extLst>
      <p:ext uri="{BB962C8B-B14F-4D97-AF65-F5344CB8AC3E}">
        <p14:creationId xmlns:p14="http://schemas.microsoft.com/office/powerpoint/2010/main" val="132327295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3255E3-F59F-A8BA-D287-C6E27C2E16F2}"/>
            </a:ext>
          </a:extLst>
        </p:cNvPr>
        <p:cNvGrpSpPr/>
        <p:nvPr/>
      </p:nvGrpSpPr>
      <p:grpSpPr>
        <a:xfrm>
          <a:off x="0" y="0"/>
          <a:ext cx="0" cy="0"/>
          <a:chOff x="0" y="0"/>
          <a:chExt cx="0" cy="0"/>
        </a:xfrm>
      </p:grpSpPr>
      <p:pic>
        <p:nvPicPr>
          <p:cNvPr id="12" name="图片 11">
            <a:extLst>
              <a:ext uri="{FF2B5EF4-FFF2-40B4-BE49-F238E27FC236}">
                <a16:creationId xmlns:a16="http://schemas.microsoft.com/office/drawing/2014/main" id="{DDB1A0D2-6FF1-4329-93F8-7F9331602D3C}"/>
              </a:ext>
            </a:extLst>
          </p:cNvPr>
          <p:cNvPicPr>
            <a:picLocks noChangeAspect="1"/>
          </p:cNvPicPr>
          <p:nvPr/>
        </p:nvPicPr>
        <p:blipFill>
          <a:blip r:embed="rId2"/>
          <a:stretch>
            <a:fillRect/>
          </a:stretch>
        </p:blipFill>
        <p:spPr>
          <a:xfrm>
            <a:off x="7682590" y="1281830"/>
            <a:ext cx="3543679" cy="4679032"/>
          </a:xfrm>
          <a:prstGeom prst="rect">
            <a:avLst/>
          </a:prstGeom>
        </p:spPr>
      </p:pic>
      <p:cxnSp>
        <p:nvCxnSpPr>
          <p:cNvPr id="5" name="直接连接符 4">
            <a:extLst>
              <a:ext uri="{FF2B5EF4-FFF2-40B4-BE49-F238E27FC236}">
                <a16:creationId xmlns:a16="http://schemas.microsoft.com/office/drawing/2014/main" id="{2F374BED-BD68-DBBF-F08F-F0CD17AA4972}"/>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pic>
        <p:nvPicPr>
          <p:cNvPr id="8" name="图片 7">
            <a:extLst>
              <a:ext uri="{FF2B5EF4-FFF2-40B4-BE49-F238E27FC236}">
                <a16:creationId xmlns:a16="http://schemas.microsoft.com/office/drawing/2014/main" id="{D7C4997B-08C6-0E71-1223-DFF562CB442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sp>
        <p:nvSpPr>
          <p:cNvPr id="9" name="文本框 8">
            <a:extLst>
              <a:ext uri="{FF2B5EF4-FFF2-40B4-BE49-F238E27FC236}">
                <a16:creationId xmlns:a16="http://schemas.microsoft.com/office/drawing/2014/main" id="{D68A9D1D-EC52-4458-3AA5-61772E8DB178}"/>
              </a:ext>
            </a:extLst>
          </p:cNvPr>
          <p:cNvSpPr txBox="1"/>
          <p:nvPr/>
        </p:nvSpPr>
        <p:spPr>
          <a:xfrm>
            <a:off x="429656" y="135415"/>
            <a:ext cx="8582416" cy="646331"/>
          </a:xfrm>
          <a:prstGeom prst="rect">
            <a:avLst/>
          </a:prstGeom>
          <a:noFill/>
        </p:spPr>
        <p:txBody>
          <a:bodyPr wrap="square" rtlCol="0">
            <a:spAutoFit/>
          </a:bodyPr>
          <a:lstStyle/>
          <a:p>
            <a:r>
              <a:rPr lang="en-US" altLang="zh-CN" sz="3600" b="1" dirty="0">
                <a:solidFill>
                  <a:srgbClr val="003F88"/>
                </a:solidFill>
                <a:latin typeface="+mn-ea"/>
              </a:rPr>
              <a:t>1 </a:t>
            </a:r>
            <a:r>
              <a:rPr lang="zh-CN" altLang="en-US" sz="3600" b="1" dirty="0">
                <a:solidFill>
                  <a:srgbClr val="003F88"/>
                </a:solidFill>
                <a:latin typeface="+mn-ea"/>
              </a:rPr>
              <a:t>快速运动回路</a:t>
            </a:r>
          </a:p>
        </p:txBody>
      </p:sp>
      <p:sp>
        <p:nvSpPr>
          <p:cNvPr id="25" name="矩形 24">
            <a:extLst>
              <a:ext uri="{FF2B5EF4-FFF2-40B4-BE49-F238E27FC236}">
                <a16:creationId xmlns:a16="http://schemas.microsoft.com/office/drawing/2014/main" id="{2454CECD-E977-82C3-86D3-C51B23953308}"/>
              </a:ext>
            </a:extLst>
          </p:cNvPr>
          <p:cNvSpPr/>
          <p:nvPr/>
        </p:nvSpPr>
        <p:spPr>
          <a:xfrm>
            <a:off x="-17100" y="174526"/>
            <a:ext cx="319314" cy="56810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矩形 25">
            <a:extLst>
              <a:ext uri="{FF2B5EF4-FFF2-40B4-BE49-F238E27FC236}">
                <a16:creationId xmlns:a16="http://schemas.microsoft.com/office/drawing/2014/main" id="{ECE737CD-8193-8A93-62FE-1932E981D100}"/>
              </a:ext>
            </a:extLst>
          </p:cNvPr>
          <p:cNvSpPr/>
          <p:nvPr/>
        </p:nvSpPr>
        <p:spPr>
          <a:xfrm>
            <a:off x="540867" y="1187297"/>
            <a:ext cx="7547154" cy="581762"/>
          </a:xfrm>
          <a:prstGeom prst="rect">
            <a:avLst/>
          </a:prstGeom>
        </p:spPr>
        <p:txBody>
          <a:bodyPr wrap="square">
            <a:spAutoFit/>
          </a:bodyPr>
          <a:lstStyle/>
          <a:p>
            <a:pPr>
              <a:lnSpc>
                <a:spcPct val="125000"/>
              </a:lnSpc>
            </a:pPr>
            <a:r>
              <a:rPr lang="en-US" altLang="zh-CN" sz="2800" b="1" dirty="0">
                <a:solidFill>
                  <a:srgbClr val="003F88"/>
                </a:solidFill>
                <a:latin typeface="+mn-ea"/>
              </a:rPr>
              <a:t>1.4 </a:t>
            </a:r>
            <a:r>
              <a:rPr lang="zh-CN" altLang="en-US" sz="2800" b="1" dirty="0">
                <a:solidFill>
                  <a:srgbClr val="003F88"/>
                </a:solidFill>
                <a:latin typeface="+mn-ea"/>
              </a:rPr>
              <a:t>采用蓄能器的快速运动回路</a:t>
            </a:r>
          </a:p>
        </p:txBody>
      </p:sp>
      <p:sp>
        <p:nvSpPr>
          <p:cNvPr id="6" name="文本框 5">
            <a:extLst>
              <a:ext uri="{FF2B5EF4-FFF2-40B4-BE49-F238E27FC236}">
                <a16:creationId xmlns:a16="http://schemas.microsoft.com/office/drawing/2014/main" id="{5B8B4C99-E650-DBB0-589E-6968165043C3}"/>
              </a:ext>
            </a:extLst>
          </p:cNvPr>
          <p:cNvSpPr txBox="1"/>
          <p:nvPr/>
        </p:nvSpPr>
        <p:spPr>
          <a:xfrm>
            <a:off x="8153954" y="6135830"/>
            <a:ext cx="3280564" cy="400110"/>
          </a:xfrm>
          <a:prstGeom prst="rect">
            <a:avLst/>
          </a:prstGeom>
          <a:noFill/>
        </p:spPr>
        <p:txBody>
          <a:bodyPr wrap="square">
            <a:spAutoFit/>
          </a:bodyPr>
          <a:lstStyle/>
          <a:p>
            <a:pPr algn="ctr"/>
            <a:r>
              <a:rPr lang="zh-CN" altLang="en-US" sz="2000" kern="0" dirty="0">
                <a:latin typeface="微软雅黑" panose="020B0503020204020204" pitchFamily="34" charset="-122"/>
                <a:ea typeface="微软雅黑" panose="020B0503020204020204" pitchFamily="34" charset="-122"/>
              </a:rPr>
              <a:t>蓄能器快速运动回路原理图</a:t>
            </a:r>
            <a:endParaRPr lang="zh-CN" altLang="en-US" sz="2000" dirty="0"/>
          </a:p>
        </p:txBody>
      </p:sp>
      <p:sp>
        <p:nvSpPr>
          <p:cNvPr id="19" name="TextBox 18">
            <a:extLst>
              <a:ext uri="{FF2B5EF4-FFF2-40B4-BE49-F238E27FC236}">
                <a16:creationId xmlns:a16="http://schemas.microsoft.com/office/drawing/2014/main" id="{65B50D78-1698-E0EC-FEDF-75CB43F01660}"/>
              </a:ext>
            </a:extLst>
          </p:cNvPr>
          <p:cNvSpPr txBox="1"/>
          <p:nvPr/>
        </p:nvSpPr>
        <p:spPr>
          <a:xfrm>
            <a:off x="540867" y="1767922"/>
            <a:ext cx="6545337" cy="3268652"/>
          </a:xfrm>
          <a:prstGeom prst="rect">
            <a:avLst/>
          </a:prstGeom>
          <a:noFill/>
        </p:spPr>
        <p:txBody>
          <a:bodyPr wrap="square" rtlCol="0">
            <a:spAutoFit/>
          </a:bodyPr>
          <a:lstStyle/>
          <a:p>
            <a:pPr marL="342900" indent="-342900" algn="just">
              <a:lnSpc>
                <a:spcPct val="150000"/>
              </a:lnSpc>
              <a:buFont typeface="Wingdings" panose="05000000000000000000" pitchFamily="2" charset="2"/>
              <a:buChar char="Ø"/>
            </a:pPr>
            <a:r>
              <a:rPr lang="zh-CN" altLang="en-US" sz="2000" kern="0" dirty="0">
                <a:latin typeface="+mn-ea"/>
              </a:rPr>
              <a:t>保压：阀</a:t>
            </a:r>
            <a:r>
              <a:rPr lang="en-US" altLang="zh-CN" sz="2000" kern="0" dirty="0">
                <a:latin typeface="+mn-ea"/>
              </a:rPr>
              <a:t>5</a:t>
            </a:r>
            <a:r>
              <a:rPr lang="zh-CN" altLang="en-US" sz="2000" kern="0" dirty="0">
                <a:latin typeface="+mn-ea"/>
              </a:rPr>
              <a:t>处于中位，泵向蓄能器充油，直到设定值，此时</a:t>
            </a:r>
            <a:r>
              <a:rPr lang="zh-CN" altLang="zh-CN" sz="2000" dirty="0">
                <a:solidFill>
                  <a:srgbClr val="000000"/>
                </a:solidFill>
                <a:latin typeface="+mn-ea"/>
                <a:cs typeface="Times New Roman" panose="02020603050405020304" pitchFamily="18" charset="0"/>
              </a:rPr>
              <a:t>卸荷阀</a:t>
            </a:r>
            <a:r>
              <a:rPr lang="en-US" altLang="zh-CN" sz="2000" kern="0" dirty="0">
                <a:latin typeface="+mn-ea"/>
              </a:rPr>
              <a:t>2</a:t>
            </a:r>
            <a:r>
              <a:rPr lang="zh-CN" altLang="en-US" sz="2000" kern="0" dirty="0">
                <a:latin typeface="+mn-ea"/>
              </a:rPr>
              <a:t>打开，泵卸荷，单向阀保持蓄能器压力；</a:t>
            </a:r>
            <a:endParaRPr lang="en-US" altLang="zh-CN" sz="2000" kern="0" dirty="0">
              <a:latin typeface="+mn-ea"/>
            </a:endParaRPr>
          </a:p>
          <a:p>
            <a:pPr marL="342900" indent="-342900" algn="just">
              <a:lnSpc>
                <a:spcPct val="150000"/>
              </a:lnSpc>
              <a:buFont typeface="Wingdings" panose="05000000000000000000" pitchFamily="2" charset="2"/>
              <a:buChar char="Ø"/>
            </a:pPr>
            <a:r>
              <a:rPr lang="zh-CN" altLang="en-US" sz="2000" kern="0" dirty="0">
                <a:latin typeface="+mn-ea"/>
              </a:rPr>
              <a:t>快速运动：阀</a:t>
            </a:r>
            <a:r>
              <a:rPr lang="en-US" altLang="zh-CN" sz="2000" kern="0" dirty="0">
                <a:latin typeface="+mn-ea"/>
              </a:rPr>
              <a:t>5</a:t>
            </a:r>
            <a:r>
              <a:rPr lang="zh-CN" altLang="en-US" sz="2000" kern="0" dirty="0">
                <a:latin typeface="+mn-ea"/>
              </a:rPr>
              <a:t>处于左位或右位时，泵和蓄能器同时供油。</a:t>
            </a:r>
            <a:endParaRPr lang="en-US" altLang="zh-CN" sz="2000" kern="0" dirty="0">
              <a:latin typeface="+mn-ea"/>
            </a:endParaRPr>
          </a:p>
          <a:p>
            <a:pPr marL="342900" indent="-342900" algn="just">
              <a:lnSpc>
                <a:spcPct val="150000"/>
              </a:lnSpc>
              <a:buFont typeface="Wingdings" panose="05000000000000000000" pitchFamily="2" charset="2"/>
              <a:buChar char="Ø"/>
            </a:pPr>
            <a:r>
              <a:rPr lang="zh-CN" altLang="zh-CN" sz="2000" dirty="0">
                <a:solidFill>
                  <a:srgbClr val="000000"/>
                </a:solidFill>
                <a:latin typeface="+mn-ea"/>
                <a:cs typeface="Times New Roman" panose="02020603050405020304" pitchFamily="18" charset="0"/>
              </a:rPr>
              <a:t>卸荷阀</a:t>
            </a:r>
            <a:r>
              <a:rPr lang="en-US" altLang="zh-CN" sz="2000" kern="0" dirty="0">
                <a:solidFill>
                  <a:srgbClr val="000000"/>
                </a:solidFill>
                <a:latin typeface="+mn-ea"/>
                <a:cs typeface="Times New Roman" panose="02020603050405020304" pitchFamily="18" charset="0"/>
              </a:rPr>
              <a:t>2</a:t>
            </a:r>
            <a:r>
              <a:rPr lang="zh-CN" altLang="zh-CN" sz="2000" dirty="0">
                <a:solidFill>
                  <a:srgbClr val="000000"/>
                </a:solidFill>
                <a:latin typeface="+mn-ea"/>
                <a:cs typeface="Times New Roman" panose="02020603050405020304" pitchFamily="18" charset="0"/>
              </a:rPr>
              <a:t>的调整压力应</a:t>
            </a:r>
            <a:r>
              <a:rPr lang="zh-CN" altLang="zh-CN" sz="2000" dirty="0">
                <a:solidFill>
                  <a:srgbClr val="FF0000"/>
                </a:solidFill>
                <a:latin typeface="+mn-ea"/>
                <a:cs typeface="Times New Roman" panose="02020603050405020304" pitchFamily="18" charset="0"/>
              </a:rPr>
              <a:t>高于</a:t>
            </a:r>
            <a:r>
              <a:rPr lang="zh-CN" altLang="zh-CN" sz="2000" dirty="0">
                <a:solidFill>
                  <a:srgbClr val="000000"/>
                </a:solidFill>
                <a:latin typeface="+mn-ea"/>
                <a:cs typeface="Times New Roman" panose="02020603050405020304" pitchFamily="18" charset="0"/>
              </a:rPr>
              <a:t>系统工作压力</a:t>
            </a:r>
            <a:r>
              <a:rPr lang="en-US" altLang="zh-CN" sz="2000" dirty="0">
                <a:solidFill>
                  <a:srgbClr val="000000"/>
                </a:solidFill>
                <a:latin typeface="+mn-ea"/>
                <a:cs typeface="Times New Roman" panose="02020603050405020304" pitchFamily="18" charset="0"/>
              </a:rPr>
              <a:t>,</a:t>
            </a:r>
            <a:r>
              <a:rPr lang="zh-CN" altLang="zh-CN" sz="2000" dirty="0">
                <a:solidFill>
                  <a:srgbClr val="000000"/>
                </a:solidFill>
                <a:latin typeface="+mn-ea"/>
                <a:cs typeface="Times New Roman" panose="02020603050405020304" pitchFamily="18" charset="0"/>
              </a:rPr>
              <a:t>以保证泵的流量全部进入系统</a:t>
            </a:r>
            <a:r>
              <a:rPr lang="zh-CN" altLang="en-US" sz="2000" dirty="0">
                <a:solidFill>
                  <a:srgbClr val="000000"/>
                </a:solidFill>
                <a:latin typeface="+mn-ea"/>
                <a:cs typeface="Times New Roman" panose="02020603050405020304" pitchFamily="18" charset="0"/>
              </a:rPr>
              <a:t>。</a:t>
            </a:r>
            <a:endParaRPr lang="en-US" altLang="zh-CN" sz="2000" dirty="0">
              <a:solidFill>
                <a:srgbClr val="000000"/>
              </a:solidFill>
              <a:latin typeface="+mn-ea"/>
              <a:cs typeface="Times New Roman" panose="02020603050405020304" pitchFamily="18" charset="0"/>
            </a:endParaRPr>
          </a:p>
          <a:p>
            <a:pPr marL="342900" indent="-342900" algn="just">
              <a:lnSpc>
                <a:spcPct val="150000"/>
              </a:lnSpc>
              <a:buFont typeface="Wingdings" panose="05000000000000000000" pitchFamily="2" charset="2"/>
              <a:buChar char="Ø"/>
            </a:pPr>
            <a:r>
              <a:rPr lang="zh-CN" altLang="en-US" sz="2000" dirty="0">
                <a:solidFill>
                  <a:srgbClr val="000000"/>
                </a:solidFill>
                <a:latin typeface="+mn-ea"/>
                <a:cs typeface="Times New Roman" panose="02020603050405020304" pitchFamily="18" charset="0"/>
              </a:rPr>
              <a:t>这种回路中，</a:t>
            </a:r>
            <a:r>
              <a:rPr lang="zh-CN" altLang="zh-CN" sz="2000" dirty="0">
                <a:solidFill>
                  <a:srgbClr val="000000"/>
                </a:solidFill>
                <a:latin typeface="+mn-ea"/>
                <a:cs typeface="Times New Roman" panose="02020603050405020304" pitchFamily="18" charset="0"/>
              </a:rPr>
              <a:t>卸荷阀</a:t>
            </a:r>
            <a:r>
              <a:rPr lang="en-US" altLang="zh-CN" sz="2000" kern="0" dirty="0">
                <a:solidFill>
                  <a:srgbClr val="000000"/>
                </a:solidFill>
                <a:latin typeface="+mn-ea"/>
                <a:cs typeface="Times New Roman" panose="02020603050405020304" pitchFamily="18" charset="0"/>
              </a:rPr>
              <a:t>2</a:t>
            </a:r>
            <a:r>
              <a:rPr lang="zh-CN" altLang="en-US" sz="2000" kern="0" dirty="0">
                <a:solidFill>
                  <a:srgbClr val="000000"/>
                </a:solidFill>
                <a:latin typeface="+mn-ea"/>
                <a:cs typeface="Times New Roman" panose="02020603050405020304" pitchFamily="18" charset="0"/>
              </a:rPr>
              <a:t>的</a:t>
            </a:r>
            <a:r>
              <a:rPr lang="zh-CN" altLang="zh-CN" sz="2000" dirty="0">
                <a:solidFill>
                  <a:srgbClr val="000000"/>
                </a:solidFill>
                <a:latin typeface="+mn-ea"/>
                <a:cs typeface="Times New Roman" panose="02020603050405020304" pitchFamily="18" charset="0"/>
              </a:rPr>
              <a:t>结构是专门设计的</a:t>
            </a:r>
            <a:r>
              <a:rPr lang="zh-CN" altLang="en-US" sz="2000" dirty="0">
                <a:solidFill>
                  <a:srgbClr val="000000"/>
                </a:solidFill>
                <a:latin typeface="+mn-ea"/>
                <a:cs typeface="Times New Roman" panose="02020603050405020304" pitchFamily="18" charset="0"/>
              </a:rPr>
              <a:t>。</a:t>
            </a:r>
            <a:endParaRPr lang="en-US" altLang="zh-CN" sz="2000" kern="0" dirty="0">
              <a:solidFill>
                <a:srgbClr val="000000"/>
              </a:solidFill>
              <a:latin typeface="+mn-ea"/>
              <a:cs typeface="Times New Roman" panose="02020603050405020304" pitchFamily="18" charset="0"/>
            </a:endParaRPr>
          </a:p>
        </p:txBody>
      </p:sp>
      <p:sp>
        <p:nvSpPr>
          <p:cNvPr id="11" name="矩形 2">
            <a:extLst>
              <a:ext uri="{FF2B5EF4-FFF2-40B4-BE49-F238E27FC236}">
                <a16:creationId xmlns:a16="http://schemas.microsoft.com/office/drawing/2014/main" id="{30A2A6DE-5182-68F6-3528-46234FA11F82}"/>
              </a:ext>
            </a:extLst>
          </p:cNvPr>
          <p:cNvSpPr/>
          <p:nvPr/>
        </p:nvSpPr>
        <p:spPr>
          <a:xfrm>
            <a:off x="540867" y="5315910"/>
            <a:ext cx="6885310" cy="1289905"/>
          </a:xfrm>
          <a:prstGeom prst="rect">
            <a:avLst/>
          </a:prstGeom>
        </p:spPr>
        <p:txBody>
          <a:bodyPr wrap="square">
            <a:spAutoFit/>
          </a:bodyPr>
          <a:lstStyle/>
          <a:p>
            <a:pPr algn="just">
              <a:lnSpc>
                <a:spcPct val="150000"/>
              </a:lnSpc>
              <a:spcAft>
                <a:spcPts val="0"/>
              </a:spcAft>
            </a:pPr>
            <a:r>
              <a:rPr lang="zh-CN" altLang="en-US" dirty="0">
                <a:latin typeface="+mn-ea"/>
                <a:cs typeface="Times New Roman" panose="02020603050405020304" pitchFamily="18" charset="0"/>
              </a:rPr>
              <a:t>这种</a:t>
            </a:r>
            <a:r>
              <a:rPr lang="zh-CN" altLang="zh-CN" dirty="0">
                <a:latin typeface="+mn-ea"/>
                <a:cs typeface="Times New Roman" panose="02020603050405020304" pitchFamily="18" charset="0"/>
              </a:rPr>
              <a:t>快速运动回路适用于短时内需要大流量、又希望以较小流量的泵提供较高速度的快速运动场合。但是系统在其整个工作循环内必须有</a:t>
            </a:r>
            <a:r>
              <a:rPr lang="zh-CN" altLang="zh-CN" dirty="0">
                <a:solidFill>
                  <a:srgbClr val="FF0000"/>
                </a:solidFill>
                <a:latin typeface="+mn-ea"/>
                <a:cs typeface="Times New Roman" panose="02020603050405020304" pitchFamily="18" charset="0"/>
              </a:rPr>
              <a:t>足够长的停歇时间</a:t>
            </a:r>
            <a:r>
              <a:rPr lang="zh-CN" altLang="en-US" dirty="0">
                <a:latin typeface="+mn-ea"/>
                <a:cs typeface="Times New Roman" panose="02020603050405020304" pitchFamily="18" charset="0"/>
              </a:rPr>
              <a:t>，</a:t>
            </a:r>
            <a:r>
              <a:rPr lang="zh-CN" altLang="zh-CN" dirty="0">
                <a:latin typeface="+mn-ea"/>
                <a:cs typeface="Times New Roman" panose="02020603050405020304" pitchFamily="18" charset="0"/>
              </a:rPr>
              <a:t>以使液压泵能对蓄能器</a:t>
            </a:r>
            <a:r>
              <a:rPr lang="zh-CN" altLang="zh-CN" dirty="0">
                <a:solidFill>
                  <a:srgbClr val="FF0000"/>
                </a:solidFill>
                <a:latin typeface="+mn-ea"/>
                <a:cs typeface="Times New Roman" panose="02020603050405020304" pitchFamily="18" charset="0"/>
              </a:rPr>
              <a:t>充分地进行充油</a:t>
            </a:r>
            <a:r>
              <a:rPr lang="zh-CN" altLang="zh-CN" dirty="0">
                <a:latin typeface="+mn-ea"/>
                <a:cs typeface="Times New Roman" panose="02020603050405020304" pitchFamily="18" charset="0"/>
              </a:rPr>
              <a:t>。</a:t>
            </a:r>
          </a:p>
        </p:txBody>
      </p:sp>
    </p:spTree>
    <p:extLst>
      <p:ext uri="{BB962C8B-B14F-4D97-AF65-F5344CB8AC3E}">
        <p14:creationId xmlns:p14="http://schemas.microsoft.com/office/powerpoint/2010/main" val="43818442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3255E3-F59F-A8BA-D287-C6E27C2E16F2}"/>
            </a:ext>
          </a:extLst>
        </p:cNvPr>
        <p:cNvGrpSpPr/>
        <p:nvPr/>
      </p:nvGrpSpPr>
      <p:grpSpPr>
        <a:xfrm>
          <a:off x="0" y="0"/>
          <a:ext cx="0" cy="0"/>
          <a:chOff x="0" y="0"/>
          <a:chExt cx="0" cy="0"/>
        </a:xfrm>
      </p:grpSpPr>
      <p:cxnSp>
        <p:nvCxnSpPr>
          <p:cNvPr id="5" name="直接连接符 4">
            <a:extLst>
              <a:ext uri="{FF2B5EF4-FFF2-40B4-BE49-F238E27FC236}">
                <a16:creationId xmlns:a16="http://schemas.microsoft.com/office/drawing/2014/main" id="{2F374BED-BD68-DBBF-F08F-F0CD17AA4972}"/>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pic>
        <p:nvPicPr>
          <p:cNvPr id="8" name="图片 7">
            <a:extLst>
              <a:ext uri="{FF2B5EF4-FFF2-40B4-BE49-F238E27FC236}">
                <a16:creationId xmlns:a16="http://schemas.microsoft.com/office/drawing/2014/main" id="{D7C4997B-08C6-0E71-1223-DFF562CB442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sp>
        <p:nvSpPr>
          <p:cNvPr id="9" name="文本框 8">
            <a:extLst>
              <a:ext uri="{FF2B5EF4-FFF2-40B4-BE49-F238E27FC236}">
                <a16:creationId xmlns:a16="http://schemas.microsoft.com/office/drawing/2014/main" id="{D68A9D1D-EC52-4458-3AA5-61772E8DB178}"/>
              </a:ext>
            </a:extLst>
          </p:cNvPr>
          <p:cNvSpPr txBox="1"/>
          <p:nvPr/>
        </p:nvSpPr>
        <p:spPr>
          <a:xfrm>
            <a:off x="429656" y="135415"/>
            <a:ext cx="8582416" cy="646331"/>
          </a:xfrm>
          <a:prstGeom prst="rect">
            <a:avLst/>
          </a:prstGeom>
          <a:noFill/>
        </p:spPr>
        <p:txBody>
          <a:bodyPr wrap="square" rtlCol="0">
            <a:spAutoFit/>
          </a:bodyPr>
          <a:lstStyle/>
          <a:p>
            <a:r>
              <a:rPr lang="en-US" altLang="zh-CN" sz="3600" b="1" dirty="0">
                <a:solidFill>
                  <a:srgbClr val="003F88"/>
                </a:solidFill>
                <a:latin typeface="+mn-ea"/>
              </a:rPr>
              <a:t>1 </a:t>
            </a:r>
            <a:r>
              <a:rPr lang="zh-CN" altLang="en-US" sz="3600" b="1" dirty="0">
                <a:solidFill>
                  <a:srgbClr val="003F88"/>
                </a:solidFill>
                <a:latin typeface="+mn-ea"/>
              </a:rPr>
              <a:t>快速运动回路</a:t>
            </a:r>
          </a:p>
        </p:txBody>
      </p:sp>
      <p:sp>
        <p:nvSpPr>
          <p:cNvPr id="25" name="矩形 24">
            <a:extLst>
              <a:ext uri="{FF2B5EF4-FFF2-40B4-BE49-F238E27FC236}">
                <a16:creationId xmlns:a16="http://schemas.microsoft.com/office/drawing/2014/main" id="{2454CECD-E977-82C3-86D3-C51B23953308}"/>
              </a:ext>
            </a:extLst>
          </p:cNvPr>
          <p:cNvSpPr/>
          <p:nvPr/>
        </p:nvSpPr>
        <p:spPr>
          <a:xfrm>
            <a:off x="-17100" y="174526"/>
            <a:ext cx="319314" cy="56810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矩形 25">
            <a:extLst>
              <a:ext uri="{FF2B5EF4-FFF2-40B4-BE49-F238E27FC236}">
                <a16:creationId xmlns:a16="http://schemas.microsoft.com/office/drawing/2014/main" id="{ECE737CD-8193-8A93-62FE-1932E981D100}"/>
              </a:ext>
            </a:extLst>
          </p:cNvPr>
          <p:cNvSpPr/>
          <p:nvPr/>
        </p:nvSpPr>
        <p:spPr>
          <a:xfrm>
            <a:off x="540867" y="1187297"/>
            <a:ext cx="7547154" cy="581762"/>
          </a:xfrm>
          <a:prstGeom prst="rect">
            <a:avLst/>
          </a:prstGeom>
        </p:spPr>
        <p:txBody>
          <a:bodyPr wrap="square">
            <a:spAutoFit/>
          </a:bodyPr>
          <a:lstStyle/>
          <a:p>
            <a:pPr>
              <a:lnSpc>
                <a:spcPct val="125000"/>
              </a:lnSpc>
            </a:pPr>
            <a:r>
              <a:rPr lang="en-US" altLang="zh-CN" sz="2800" b="1" dirty="0">
                <a:solidFill>
                  <a:srgbClr val="003F88"/>
                </a:solidFill>
                <a:latin typeface="+mn-ea"/>
              </a:rPr>
              <a:t>1.4 </a:t>
            </a:r>
            <a:r>
              <a:rPr lang="zh-CN" altLang="en-US" sz="2800" b="1" dirty="0">
                <a:solidFill>
                  <a:srgbClr val="003F88"/>
                </a:solidFill>
                <a:latin typeface="+mn-ea"/>
              </a:rPr>
              <a:t>采用蓄能器的快速运动回路</a:t>
            </a:r>
          </a:p>
        </p:txBody>
      </p:sp>
      <p:sp>
        <p:nvSpPr>
          <p:cNvPr id="6" name="文本框 5">
            <a:extLst>
              <a:ext uri="{FF2B5EF4-FFF2-40B4-BE49-F238E27FC236}">
                <a16:creationId xmlns:a16="http://schemas.microsoft.com/office/drawing/2014/main" id="{5B8B4C99-E650-DBB0-589E-6968165043C3}"/>
              </a:ext>
            </a:extLst>
          </p:cNvPr>
          <p:cNvSpPr txBox="1"/>
          <p:nvPr/>
        </p:nvSpPr>
        <p:spPr>
          <a:xfrm>
            <a:off x="8286034" y="6115510"/>
            <a:ext cx="3280564" cy="400110"/>
          </a:xfrm>
          <a:prstGeom prst="rect">
            <a:avLst/>
          </a:prstGeom>
          <a:noFill/>
        </p:spPr>
        <p:txBody>
          <a:bodyPr wrap="square">
            <a:spAutoFit/>
          </a:bodyPr>
          <a:lstStyle/>
          <a:p>
            <a:pPr algn="ctr"/>
            <a:r>
              <a:rPr lang="zh-CN" altLang="en-US" sz="2000" b="1" kern="0" dirty="0">
                <a:solidFill>
                  <a:srgbClr val="0000FF"/>
                </a:solidFill>
                <a:latin typeface="微软雅黑" panose="020B0503020204020204" pitchFamily="34" charset="-122"/>
                <a:ea typeface="微软雅黑" panose="020B0503020204020204" pitchFamily="34" charset="-122"/>
              </a:rPr>
              <a:t>专用卸荷阀结构</a:t>
            </a:r>
            <a:endParaRPr lang="zh-CN" altLang="en-US" sz="2000" b="1" dirty="0">
              <a:solidFill>
                <a:srgbClr val="0000FF"/>
              </a:solidFill>
            </a:endParaRPr>
          </a:p>
        </p:txBody>
      </p:sp>
      <p:sp>
        <p:nvSpPr>
          <p:cNvPr id="19" name="TextBox 18">
            <a:extLst>
              <a:ext uri="{FF2B5EF4-FFF2-40B4-BE49-F238E27FC236}">
                <a16:creationId xmlns:a16="http://schemas.microsoft.com/office/drawing/2014/main" id="{65B50D78-1698-E0EC-FEDF-75CB43F01660}"/>
              </a:ext>
            </a:extLst>
          </p:cNvPr>
          <p:cNvSpPr txBox="1"/>
          <p:nvPr/>
        </p:nvSpPr>
        <p:spPr>
          <a:xfrm>
            <a:off x="540867" y="1767922"/>
            <a:ext cx="6545337" cy="3268652"/>
          </a:xfrm>
          <a:prstGeom prst="rect">
            <a:avLst/>
          </a:prstGeom>
          <a:noFill/>
        </p:spPr>
        <p:txBody>
          <a:bodyPr wrap="square" rtlCol="0">
            <a:spAutoFit/>
          </a:bodyPr>
          <a:lstStyle/>
          <a:p>
            <a:pPr marL="342900" indent="-342900" algn="just">
              <a:lnSpc>
                <a:spcPct val="150000"/>
              </a:lnSpc>
              <a:buFont typeface="Wingdings" panose="05000000000000000000" pitchFamily="2" charset="2"/>
              <a:buChar char="Ø"/>
            </a:pPr>
            <a:r>
              <a:rPr lang="zh-CN" altLang="en-US" sz="2000" kern="0" dirty="0">
                <a:latin typeface="+mn-ea"/>
              </a:rPr>
              <a:t>保压：阀</a:t>
            </a:r>
            <a:r>
              <a:rPr lang="en-US" altLang="zh-CN" sz="2000" kern="0" dirty="0">
                <a:latin typeface="+mn-ea"/>
              </a:rPr>
              <a:t>5</a:t>
            </a:r>
            <a:r>
              <a:rPr lang="zh-CN" altLang="en-US" sz="2000" kern="0" dirty="0">
                <a:latin typeface="+mn-ea"/>
              </a:rPr>
              <a:t>处于中位，泵向蓄能器充油，直到设定值，此时</a:t>
            </a:r>
            <a:r>
              <a:rPr lang="zh-CN" altLang="zh-CN" sz="2000" dirty="0">
                <a:solidFill>
                  <a:srgbClr val="000000"/>
                </a:solidFill>
                <a:latin typeface="+mn-ea"/>
                <a:cs typeface="Times New Roman" panose="02020603050405020304" pitchFamily="18" charset="0"/>
              </a:rPr>
              <a:t>卸荷阀</a:t>
            </a:r>
            <a:r>
              <a:rPr lang="en-US" altLang="zh-CN" sz="2000" kern="0" dirty="0">
                <a:latin typeface="+mn-ea"/>
              </a:rPr>
              <a:t>2</a:t>
            </a:r>
            <a:r>
              <a:rPr lang="zh-CN" altLang="en-US" sz="2000" kern="0" dirty="0">
                <a:latin typeface="+mn-ea"/>
              </a:rPr>
              <a:t>打开，泵卸荷，单向阀保持蓄能器压力；</a:t>
            </a:r>
            <a:endParaRPr lang="en-US" altLang="zh-CN" sz="2000" kern="0" dirty="0">
              <a:latin typeface="+mn-ea"/>
            </a:endParaRPr>
          </a:p>
          <a:p>
            <a:pPr marL="342900" indent="-342900" algn="just">
              <a:lnSpc>
                <a:spcPct val="150000"/>
              </a:lnSpc>
              <a:buFont typeface="Wingdings" panose="05000000000000000000" pitchFamily="2" charset="2"/>
              <a:buChar char="Ø"/>
            </a:pPr>
            <a:r>
              <a:rPr lang="zh-CN" altLang="en-US" sz="2000" kern="0" dirty="0">
                <a:latin typeface="+mn-ea"/>
              </a:rPr>
              <a:t>快速运动：阀</a:t>
            </a:r>
            <a:r>
              <a:rPr lang="en-US" altLang="zh-CN" sz="2000" kern="0" dirty="0">
                <a:latin typeface="+mn-ea"/>
              </a:rPr>
              <a:t>5</a:t>
            </a:r>
            <a:r>
              <a:rPr lang="zh-CN" altLang="en-US" sz="2000" kern="0" dirty="0">
                <a:latin typeface="+mn-ea"/>
              </a:rPr>
              <a:t>处于左位或右位时，泵和蓄能器同时供油。</a:t>
            </a:r>
            <a:endParaRPr lang="en-US" altLang="zh-CN" sz="2000" kern="0" dirty="0">
              <a:latin typeface="+mn-ea"/>
            </a:endParaRPr>
          </a:p>
          <a:p>
            <a:pPr marL="342900" indent="-342900" algn="just">
              <a:lnSpc>
                <a:spcPct val="150000"/>
              </a:lnSpc>
              <a:buFont typeface="Wingdings" panose="05000000000000000000" pitchFamily="2" charset="2"/>
              <a:buChar char="Ø"/>
            </a:pPr>
            <a:r>
              <a:rPr lang="zh-CN" altLang="zh-CN" sz="2000" dirty="0">
                <a:solidFill>
                  <a:srgbClr val="000000"/>
                </a:solidFill>
                <a:latin typeface="+mn-ea"/>
                <a:cs typeface="Times New Roman" panose="02020603050405020304" pitchFamily="18" charset="0"/>
              </a:rPr>
              <a:t>卸荷阀</a:t>
            </a:r>
            <a:r>
              <a:rPr lang="en-US" altLang="zh-CN" sz="2000" kern="0" dirty="0">
                <a:solidFill>
                  <a:srgbClr val="000000"/>
                </a:solidFill>
                <a:latin typeface="+mn-ea"/>
                <a:cs typeface="Times New Roman" panose="02020603050405020304" pitchFamily="18" charset="0"/>
              </a:rPr>
              <a:t>2</a:t>
            </a:r>
            <a:r>
              <a:rPr lang="zh-CN" altLang="zh-CN" sz="2000" dirty="0">
                <a:solidFill>
                  <a:srgbClr val="000000"/>
                </a:solidFill>
                <a:latin typeface="+mn-ea"/>
                <a:cs typeface="Times New Roman" panose="02020603050405020304" pitchFamily="18" charset="0"/>
              </a:rPr>
              <a:t>的调整压力应</a:t>
            </a:r>
            <a:r>
              <a:rPr lang="zh-CN" altLang="zh-CN" sz="2000" dirty="0">
                <a:solidFill>
                  <a:srgbClr val="FF0000"/>
                </a:solidFill>
                <a:latin typeface="+mn-ea"/>
                <a:cs typeface="Times New Roman" panose="02020603050405020304" pitchFamily="18" charset="0"/>
              </a:rPr>
              <a:t>高于</a:t>
            </a:r>
            <a:r>
              <a:rPr lang="zh-CN" altLang="zh-CN" sz="2000" dirty="0">
                <a:solidFill>
                  <a:srgbClr val="000000"/>
                </a:solidFill>
                <a:latin typeface="+mn-ea"/>
                <a:cs typeface="Times New Roman" panose="02020603050405020304" pitchFamily="18" charset="0"/>
              </a:rPr>
              <a:t>系统工作压力</a:t>
            </a:r>
            <a:r>
              <a:rPr lang="en-US" altLang="zh-CN" sz="2000" dirty="0">
                <a:solidFill>
                  <a:srgbClr val="000000"/>
                </a:solidFill>
                <a:latin typeface="+mn-ea"/>
                <a:cs typeface="Times New Roman" panose="02020603050405020304" pitchFamily="18" charset="0"/>
              </a:rPr>
              <a:t>,</a:t>
            </a:r>
            <a:r>
              <a:rPr lang="zh-CN" altLang="zh-CN" sz="2000" dirty="0">
                <a:solidFill>
                  <a:srgbClr val="000000"/>
                </a:solidFill>
                <a:latin typeface="+mn-ea"/>
                <a:cs typeface="Times New Roman" panose="02020603050405020304" pitchFamily="18" charset="0"/>
              </a:rPr>
              <a:t>以保证泵的流量全部进入系统</a:t>
            </a:r>
            <a:r>
              <a:rPr lang="zh-CN" altLang="en-US" sz="2000" dirty="0">
                <a:solidFill>
                  <a:srgbClr val="000000"/>
                </a:solidFill>
                <a:latin typeface="+mn-ea"/>
                <a:cs typeface="Times New Roman" panose="02020603050405020304" pitchFamily="18" charset="0"/>
              </a:rPr>
              <a:t>。</a:t>
            </a:r>
            <a:endParaRPr lang="en-US" altLang="zh-CN" sz="2000" dirty="0">
              <a:solidFill>
                <a:srgbClr val="000000"/>
              </a:solidFill>
              <a:latin typeface="+mn-ea"/>
              <a:cs typeface="Times New Roman" panose="02020603050405020304" pitchFamily="18" charset="0"/>
            </a:endParaRPr>
          </a:p>
          <a:p>
            <a:pPr marL="342900" indent="-342900" algn="just">
              <a:lnSpc>
                <a:spcPct val="150000"/>
              </a:lnSpc>
              <a:buFont typeface="Wingdings" panose="05000000000000000000" pitchFamily="2" charset="2"/>
              <a:buChar char="Ø"/>
            </a:pPr>
            <a:r>
              <a:rPr lang="zh-CN" altLang="en-US" sz="2000" dirty="0">
                <a:solidFill>
                  <a:srgbClr val="000000"/>
                </a:solidFill>
                <a:latin typeface="+mn-ea"/>
                <a:cs typeface="Times New Roman" panose="02020603050405020304" pitchFamily="18" charset="0"/>
              </a:rPr>
              <a:t>这种回路中，</a:t>
            </a:r>
            <a:r>
              <a:rPr lang="zh-CN" altLang="zh-CN" sz="2000" dirty="0">
                <a:solidFill>
                  <a:srgbClr val="000000"/>
                </a:solidFill>
                <a:latin typeface="+mn-ea"/>
                <a:cs typeface="Times New Roman" panose="02020603050405020304" pitchFamily="18" charset="0"/>
              </a:rPr>
              <a:t>卸荷阀</a:t>
            </a:r>
            <a:r>
              <a:rPr lang="en-US" altLang="zh-CN" sz="2000" kern="0" dirty="0">
                <a:solidFill>
                  <a:srgbClr val="000000"/>
                </a:solidFill>
                <a:latin typeface="+mn-ea"/>
                <a:cs typeface="Times New Roman" panose="02020603050405020304" pitchFamily="18" charset="0"/>
              </a:rPr>
              <a:t>2</a:t>
            </a:r>
            <a:r>
              <a:rPr lang="zh-CN" altLang="en-US" sz="2000" kern="0" dirty="0">
                <a:solidFill>
                  <a:srgbClr val="000000"/>
                </a:solidFill>
                <a:latin typeface="+mn-ea"/>
                <a:cs typeface="Times New Roman" panose="02020603050405020304" pitchFamily="18" charset="0"/>
              </a:rPr>
              <a:t>的</a:t>
            </a:r>
            <a:r>
              <a:rPr lang="zh-CN" altLang="zh-CN" sz="2000" dirty="0">
                <a:solidFill>
                  <a:srgbClr val="000000"/>
                </a:solidFill>
                <a:latin typeface="+mn-ea"/>
                <a:cs typeface="Times New Roman" panose="02020603050405020304" pitchFamily="18" charset="0"/>
              </a:rPr>
              <a:t>结构是专门设计的</a:t>
            </a:r>
            <a:r>
              <a:rPr lang="zh-CN" altLang="en-US" sz="2000" dirty="0">
                <a:solidFill>
                  <a:srgbClr val="000000"/>
                </a:solidFill>
                <a:latin typeface="+mn-ea"/>
                <a:cs typeface="Times New Roman" panose="02020603050405020304" pitchFamily="18" charset="0"/>
              </a:rPr>
              <a:t>。</a:t>
            </a:r>
            <a:endParaRPr lang="en-US" altLang="zh-CN" sz="2000" kern="0" dirty="0">
              <a:solidFill>
                <a:srgbClr val="000000"/>
              </a:solidFill>
              <a:latin typeface="+mn-ea"/>
              <a:cs typeface="Times New Roman" panose="02020603050405020304" pitchFamily="18" charset="0"/>
            </a:endParaRPr>
          </a:p>
        </p:txBody>
      </p:sp>
      <p:sp>
        <p:nvSpPr>
          <p:cNvPr id="11" name="矩形 2">
            <a:extLst>
              <a:ext uri="{FF2B5EF4-FFF2-40B4-BE49-F238E27FC236}">
                <a16:creationId xmlns:a16="http://schemas.microsoft.com/office/drawing/2014/main" id="{30A2A6DE-5182-68F6-3528-46234FA11F82}"/>
              </a:ext>
            </a:extLst>
          </p:cNvPr>
          <p:cNvSpPr/>
          <p:nvPr/>
        </p:nvSpPr>
        <p:spPr>
          <a:xfrm>
            <a:off x="540867" y="5315910"/>
            <a:ext cx="6885310" cy="1289905"/>
          </a:xfrm>
          <a:prstGeom prst="rect">
            <a:avLst/>
          </a:prstGeom>
        </p:spPr>
        <p:txBody>
          <a:bodyPr wrap="square">
            <a:spAutoFit/>
          </a:bodyPr>
          <a:lstStyle/>
          <a:p>
            <a:pPr algn="just">
              <a:lnSpc>
                <a:spcPct val="150000"/>
              </a:lnSpc>
              <a:spcAft>
                <a:spcPts val="0"/>
              </a:spcAft>
            </a:pPr>
            <a:r>
              <a:rPr lang="zh-CN" altLang="en-US" dirty="0">
                <a:latin typeface="+mn-ea"/>
                <a:cs typeface="Times New Roman" panose="02020603050405020304" pitchFamily="18" charset="0"/>
              </a:rPr>
              <a:t>这种</a:t>
            </a:r>
            <a:r>
              <a:rPr lang="zh-CN" altLang="zh-CN" dirty="0">
                <a:latin typeface="+mn-ea"/>
                <a:cs typeface="Times New Roman" panose="02020603050405020304" pitchFamily="18" charset="0"/>
              </a:rPr>
              <a:t>快速运动回路适用于短时内需要大流量、又希望以较小流量的泵提供较高速度的快速运动场合。但是系统在其整个工作循环内必须有</a:t>
            </a:r>
            <a:r>
              <a:rPr lang="zh-CN" altLang="zh-CN" dirty="0">
                <a:solidFill>
                  <a:srgbClr val="FF0000"/>
                </a:solidFill>
                <a:latin typeface="+mn-ea"/>
                <a:cs typeface="Times New Roman" panose="02020603050405020304" pitchFamily="18" charset="0"/>
              </a:rPr>
              <a:t>足够长的停歇时间</a:t>
            </a:r>
            <a:r>
              <a:rPr lang="zh-CN" altLang="en-US" dirty="0">
                <a:latin typeface="+mn-ea"/>
                <a:cs typeface="Times New Roman" panose="02020603050405020304" pitchFamily="18" charset="0"/>
              </a:rPr>
              <a:t>，</a:t>
            </a:r>
            <a:r>
              <a:rPr lang="zh-CN" altLang="zh-CN" dirty="0">
                <a:latin typeface="+mn-ea"/>
                <a:cs typeface="Times New Roman" panose="02020603050405020304" pitchFamily="18" charset="0"/>
              </a:rPr>
              <a:t>以使液压泵能对蓄能器</a:t>
            </a:r>
            <a:r>
              <a:rPr lang="zh-CN" altLang="zh-CN" dirty="0">
                <a:solidFill>
                  <a:srgbClr val="FF0000"/>
                </a:solidFill>
                <a:latin typeface="+mn-ea"/>
                <a:cs typeface="Times New Roman" panose="02020603050405020304" pitchFamily="18" charset="0"/>
              </a:rPr>
              <a:t>充分地进行充油</a:t>
            </a:r>
            <a:r>
              <a:rPr lang="zh-CN" altLang="zh-CN" dirty="0">
                <a:latin typeface="+mn-ea"/>
                <a:cs typeface="Times New Roman" panose="02020603050405020304" pitchFamily="18" charset="0"/>
              </a:rPr>
              <a:t>。</a:t>
            </a:r>
          </a:p>
        </p:txBody>
      </p:sp>
      <p:pic>
        <p:nvPicPr>
          <p:cNvPr id="2" name="图片 1">
            <a:extLst>
              <a:ext uri="{FF2B5EF4-FFF2-40B4-BE49-F238E27FC236}">
                <a16:creationId xmlns:a16="http://schemas.microsoft.com/office/drawing/2014/main" id="{5EA47202-ACCC-4A61-9EB3-24515D5FC0DA}"/>
              </a:ext>
            </a:extLst>
          </p:cNvPr>
          <p:cNvPicPr>
            <a:picLocks noChangeAspect="1"/>
          </p:cNvPicPr>
          <p:nvPr/>
        </p:nvPicPr>
        <p:blipFill>
          <a:blip r:embed="rId3"/>
          <a:stretch>
            <a:fillRect/>
          </a:stretch>
        </p:blipFill>
        <p:spPr>
          <a:xfrm>
            <a:off x="7713991" y="1910079"/>
            <a:ext cx="4160489" cy="3965175"/>
          </a:xfrm>
          <a:prstGeom prst="rect">
            <a:avLst/>
          </a:prstGeom>
        </p:spPr>
      </p:pic>
    </p:spTree>
    <p:extLst>
      <p:ext uri="{BB962C8B-B14F-4D97-AF65-F5344CB8AC3E}">
        <p14:creationId xmlns:p14="http://schemas.microsoft.com/office/powerpoint/2010/main" val="403899515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6DC035-54DF-D6B0-4BC7-5CA0C3A83FE7}"/>
            </a:ext>
          </a:extLst>
        </p:cNvPr>
        <p:cNvGrpSpPr/>
        <p:nvPr/>
      </p:nvGrpSpPr>
      <p:grpSpPr>
        <a:xfrm>
          <a:off x="0" y="0"/>
          <a:ext cx="0" cy="0"/>
          <a:chOff x="0" y="0"/>
          <a:chExt cx="0" cy="0"/>
        </a:xfrm>
      </p:grpSpPr>
      <p:cxnSp>
        <p:nvCxnSpPr>
          <p:cNvPr id="5" name="直接连接符 4">
            <a:extLst>
              <a:ext uri="{FF2B5EF4-FFF2-40B4-BE49-F238E27FC236}">
                <a16:creationId xmlns:a16="http://schemas.microsoft.com/office/drawing/2014/main" id="{B9850A0D-AFC5-D4AF-82A5-2A5F935EB777}"/>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pic>
        <p:nvPicPr>
          <p:cNvPr id="8" name="图片 7">
            <a:extLst>
              <a:ext uri="{FF2B5EF4-FFF2-40B4-BE49-F238E27FC236}">
                <a16:creationId xmlns:a16="http://schemas.microsoft.com/office/drawing/2014/main" id="{5DD4CBD0-B793-4D8D-A985-D7D88E01CA4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sp>
        <p:nvSpPr>
          <p:cNvPr id="9" name="文本框 8">
            <a:extLst>
              <a:ext uri="{FF2B5EF4-FFF2-40B4-BE49-F238E27FC236}">
                <a16:creationId xmlns:a16="http://schemas.microsoft.com/office/drawing/2014/main" id="{7814574A-8CEC-0709-548E-9B69A98508BD}"/>
              </a:ext>
            </a:extLst>
          </p:cNvPr>
          <p:cNvSpPr txBox="1"/>
          <p:nvPr/>
        </p:nvSpPr>
        <p:spPr>
          <a:xfrm>
            <a:off x="429656" y="135415"/>
            <a:ext cx="8582416" cy="646331"/>
          </a:xfrm>
          <a:prstGeom prst="rect">
            <a:avLst/>
          </a:prstGeom>
          <a:noFill/>
        </p:spPr>
        <p:txBody>
          <a:bodyPr wrap="square" rtlCol="0">
            <a:spAutoFit/>
          </a:bodyPr>
          <a:lstStyle/>
          <a:p>
            <a:r>
              <a:rPr lang="en-US" altLang="zh-CN" sz="3600" b="1" dirty="0">
                <a:solidFill>
                  <a:srgbClr val="003F88"/>
                </a:solidFill>
                <a:latin typeface="+mn-ea"/>
              </a:rPr>
              <a:t>2 </a:t>
            </a:r>
            <a:r>
              <a:rPr lang="zh-CN" altLang="en-US" sz="3600" b="1" dirty="0">
                <a:solidFill>
                  <a:srgbClr val="003F88"/>
                </a:solidFill>
                <a:latin typeface="+mn-ea"/>
              </a:rPr>
              <a:t>速度换接回路</a:t>
            </a:r>
          </a:p>
        </p:txBody>
      </p:sp>
      <p:sp>
        <p:nvSpPr>
          <p:cNvPr id="25" name="矩形 24">
            <a:extLst>
              <a:ext uri="{FF2B5EF4-FFF2-40B4-BE49-F238E27FC236}">
                <a16:creationId xmlns:a16="http://schemas.microsoft.com/office/drawing/2014/main" id="{8FA0DEE5-3E7B-3CC4-1B6A-26B20C2E4946}"/>
              </a:ext>
            </a:extLst>
          </p:cNvPr>
          <p:cNvSpPr/>
          <p:nvPr/>
        </p:nvSpPr>
        <p:spPr>
          <a:xfrm>
            <a:off x="-17100" y="174526"/>
            <a:ext cx="319314" cy="56810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矩形 25">
            <a:extLst>
              <a:ext uri="{FF2B5EF4-FFF2-40B4-BE49-F238E27FC236}">
                <a16:creationId xmlns:a16="http://schemas.microsoft.com/office/drawing/2014/main" id="{FFABE469-B07A-0CB9-D844-AB198D48D6C2}"/>
              </a:ext>
            </a:extLst>
          </p:cNvPr>
          <p:cNvSpPr/>
          <p:nvPr/>
        </p:nvSpPr>
        <p:spPr>
          <a:xfrm>
            <a:off x="540867" y="1187297"/>
            <a:ext cx="7547154" cy="581762"/>
          </a:xfrm>
          <a:prstGeom prst="rect">
            <a:avLst/>
          </a:prstGeom>
        </p:spPr>
        <p:txBody>
          <a:bodyPr wrap="square">
            <a:spAutoFit/>
          </a:bodyPr>
          <a:lstStyle/>
          <a:p>
            <a:pPr>
              <a:lnSpc>
                <a:spcPct val="125000"/>
              </a:lnSpc>
            </a:pPr>
            <a:r>
              <a:rPr lang="en-US" altLang="zh-CN" sz="2800" b="1" dirty="0">
                <a:solidFill>
                  <a:srgbClr val="003F88"/>
                </a:solidFill>
                <a:latin typeface="+mn-ea"/>
              </a:rPr>
              <a:t>2.1 </a:t>
            </a:r>
            <a:r>
              <a:rPr lang="zh-CN" altLang="en-US" sz="2800" b="1" dirty="0">
                <a:solidFill>
                  <a:srgbClr val="003F88"/>
                </a:solidFill>
                <a:latin typeface="+mn-ea"/>
              </a:rPr>
              <a:t>快速转慢速的换接回路</a:t>
            </a:r>
          </a:p>
        </p:txBody>
      </p:sp>
      <p:sp>
        <p:nvSpPr>
          <p:cNvPr id="6" name="文本框 5">
            <a:extLst>
              <a:ext uri="{FF2B5EF4-FFF2-40B4-BE49-F238E27FC236}">
                <a16:creationId xmlns:a16="http://schemas.microsoft.com/office/drawing/2014/main" id="{1361F167-A4E2-F74C-9656-F9B6EF1F0D47}"/>
              </a:ext>
            </a:extLst>
          </p:cNvPr>
          <p:cNvSpPr txBox="1"/>
          <p:nvPr/>
        </p:nvSpPr>
        <p:spPr>
          <a:xfrm>
            <a:off x="8230870" y="6136669"/>
            <a:ext cx="3546727" cy="400110"/>
          </a:xfrm>
          <a:prstGeom prst="rect">
            <a:avLst/>
          </a:prstGeom>
          <a:noFill/>
        </p:spPr>
        <p:txBody>
          <a:bodyPr wrap="square">
            <a:spAutoFit/>
          </a:bodyPr>
          <a:lstStyle/>
          <a:p>
            <a:pPr algn="ctr"/>
            <a:r>
              <a:rPr lang="zh-CN" altLang="en-US" sz="2000" kern="0" dirty="0">
                <a:latin typeface="微软雅黑" panose="020B0503020204020204" pitchFamily="34" charset="-122"/>
                <a:ea typeface="微软雅黑" panose="020B0503020204020204" pitchFamily="34" charset="-122"/>
              </a:rPr>
              <a:t>采用行程阀的快慢速换接回路</a:t>
            </a:r>
            <a:endParaRPr lang="zh-CN" altLang="en-US" sz="2000" dirty="0"/>
          </a:p>
        </p:txBody>
      </p:sp>
      <p:sp>
        <p:nvSpPr>
          <p:cNvPr id="19" name="TextBox 18">
            <a:extLst>
              <a:ext uri="{FF2B5EF4-FFF2-40B4-BE49-F238E27FC236}">
                <a16:creationId xmlns:a16="http://schemas.microsoft.com/office/drawing/2014/main" id="{F11B98F4-7D89-3DED-3A16-D0C156920734}"/>
              </a:ext>
            </a:extLst>
          </p:cNvPr>
          <p:cNvSpPr txBox="1"/>
          <p:nvPr/>
        </p:nvSpPr>
        <p:spPr>
          <a:xfrm>
            <a:off x="540867" y="3067111"/>
            <a:ext cx="6545337" cy="3269613"/>
          </a:xfrm>
          <a:prstGeom prst="rect">
            <a:avLst/>
          </a:prstGeom>
          <a:noFill/>
        </p:spPr>
        <p:txBody>
          <a:bodyPr wrap="square" rtlCol="0">
            <a:spAutoFit/>
          </a:bodyPr>
          <a:lstStyle/>
          <a:p>
            <a:pPr marL="342900" indent="-342900" algn="just">
              <a:lnSpc>
                <a:spcPct val="150000"/>
              </a:lnSpc>
              <a:buFont typeface="Wingdings" panose="05000000000000000000" pitchFamily="2" charset="2"/>
              <a:buChar char="Ø"/>
            </a:pPr>
            <a:r>
              <a:rPr lang="zh-CN" altLang="en-US" sz="2000" kern="0" dirty="0">
                <a:latin typeface="微软雅黑" panose="020B0503020204020204" pitchFamily="34" charset="-122"/>
                <a:ea typeface="微软雅黑" panose="020B0503020204020204" pitchFamily="34" charset="-122"/>
              </a:rPr>
              <a:t>快进：阀</a:t>
            </a:r>
            <a:r>
              <a:rPr lang="en-US" altLang="zh-CN" sz="2000" kern="0" dirty="0">
                <a:latin typeface="微软雅黑" panose="020B0503020204020204" pitchFamily="34" charset="-122"/>
                <a:ea typeface="微软雅黑" panose="020B0503020204020204" pitchFamily="34" charset="-122"/>
              </a:rPr>
              <a:t>2</a:t>
            </a:r>
            <a:r>
              <a:rPr lang="zh-CN" altLang="en-US" sz="2000" kern="0" dirty="0">
                <a:latin typeface="微软雅黑" panose="020B0503020204020204" pitchFamily="34" charset="-122"/>
                <a:ea typeface="微软雅黑" panose="020B0503020204020204" pitchFamily="34" charset="-122"/>
              </a:rPr>
              <a:t>处于右位，回油经过阀</a:t>
            </a:r>
            <a:r>
              <a:rPr lang="en-US" altLang="zh-CN" sz="2000" kern="0" dirty="0">
                <a:latin typeface="微软雅黑" panose="020B0503020204020204" pitchFamily="34" charset="-122"/>
                <a:ea typeface="微软雅黑" panose="020B0503020204020204" pitchFamily="34" charset="-122"/>
              </a:rPr>
              <a:t>6</a:t>
            </a:r>
            <a:r>
              <a:rPr lang="zh-CN" altLang="en-US" sz="2000" kern="0" dirty="0">
                <a:latin typeface="微软雅黑" panose="020B0503020204020204" pitchFamily="34" charset="-122"/>
                <a:ea typeface="微软雅黑" panose="020B0503020204020204" pitchFamily="34" charset="-122"/>
              </a:rPr>
              <a:t>直接回油箱。</a:t>
            </a:r>
          </a:p>
          <a:p>
            <a:pPr marL="342900" indent="-342900" algn="just">
              <a:lnSpc>
                <a:spcPct val="150000"/>
              </a:lnSpc>
              <a:buFont typeface="Wingdings" panose="05000000000000000000" pitchFamily="2" charset="2"/>
              <a:buChar char="Ø"/>
            </a:pPr>
            <a:r>
              <a:rPr lang="zh-CN" altLang="en-US" sz="2000" kern="0" dirty="0">
                <a:latin typeface="微软雅黑" panose="020B0503020204020204" pitchFamily="34" charset="-122"/>
                <a:ea typeface="微软雅黑" panose="020B0503020204020204" pitchFamily="34" charset="-122"/>
              </a:rPr>
              <a:t>快进转慢速工进：活塞所连接的挡块使阀</a:t>
            </a:r>
            <a:r>
              <a:rPr lang="en-US" altLang="zh-CN" sz="2000" kern="0" dirty="0">
                <a:latin typeface="微软雅黑" panose="020B0503020204020204" pitchFamily="34" charset="-122"/>
                <a:ea typeface="微软雅黑" panose="020B0503020204020204" pitchFamily="34" charset="-122"/>
              </a:rPr>
              <a:t>6</a:t>
            </a:r>
            <a:r>
              <a:rPr lang="zh-CN" altLang="en-US" sz="2000" kern="0" dirty="0">
                <a:latin typeface="微软雅黑" panose="020B0503020204020204" pitchFamily="34" charset="-122"/>
                <a:ea typeface="微软雅黑" panose="020B0503020204020204" pitchFamily="34" charset="-122"/>
              </a:rPr>
              <a:t>关闭，回油必须经过节流阀</a:t>
            </a:r>
            <a:r>
              <a:rPr lang="en-US" altLang="zh-CN" sz="2000" kern="0" dirty="0">
                <a:latin typeface="微软雅黑" panose="020B0503020204020204" pitchFamily="34" charset="-122"/>
                <a:ea typeface="微软雅黑" panose="020B0503020204020204" pitchFamily="34" charset="-122"/>
              </a:rPr>
              <a:t>5</a:t>
            </a:r>
            <a:r>
              <a:rPr lang="zh-CN" altLang="en-US" sz="2000" kern="0" dirty="0">
                <a:latin typeface="微软雅黑" panose="020B0503020204020204" pitchFamily="34" charset="-122"/>
                <a:ea typeface="微软雅黑" panose="020B0503020204020204" pitchFamily="34" charset="-122"/>
              </a:rPr>
              <a:t>，节流调速回到油箱。</a:t>
            </a:r>
          </a:p>
          <a:p>
            <a:pPr marL="342900" indent="-342900" algn="just">
              <a:lnSpc>
                <a:spcPct val="150000"/>
              </a:lnSpc>
              <a:buFont typeface="Wingdings" panose="05000000000000000000" pitchFamily="2" charset="2"/>
              <a:buChar char="Ø"/>
            </a:pPr>
            <a:r>
              <a:rPr lang="zh-CN" altLang="en-US" sz="2000" kern="0" dirty="0">
                <a:latin typeface="微软雅黑" panose="020B0503020204020204" pitchFamily="34" charset="-122"/>
                <a:ea typeface="微软雅黑" panose="020B0503020204020204" pitchFamily="34" charset="-122"/>
              </a:rPr>
              <a:t>回程：阀</a:t>
            </a:r>
            <a:r>
              <a:rPr lang="en-US" altLang="zh-CN" sz="2000" kern="0" dirty="0">
                <a:latin typeface="微软雅黑" panose="020B0503020204020204" pitchFamily="34" charset="-122"/>
                <a:ea typeface="微软雅黑" panose="020B0503020204020204" pitchFamily="34" charset="-122"/>
              </a:rPr>
              <a:t>2</a:t>
            </a:r>
            <a:r>
              <a:rPr lang="zh-CN" altLang="en-US" sz="2000" kern="0" dirty="0">
                <a:latin typeface="微软雅黑" panose="020B0503020204020204" pitchFamily="34" charset="-122"/>
                <a:ea typeface="微软雅黑" panose="020B0503020204020204" pitchFamily="34" charset="-122"/>
              </a:rPr>
              <a:t>接入左位，油液经过单向阀</a:t>
            </a:r>
            <a:r>
              <a:rPr lang="en-US" altLang="zh-CN" sz="2000" kern="0" dirty="0">
                <a:latin typeface="微软雅黑" panose="020B0503020204020204" pitchFamily="34" charset="-122"/>
                <a:ea typeface="微软雅黑" panose="020B0503020204020204" pitchFamily="34" charset="-122"/>
              </a:rPr>
              <a:t>4</a:t>
            </a:r>
            <a:r>
              <a:rPr lang="zh-CN" altLang="en-US" sz="2000" kern="0" dirty="0">
                <a:latin typeface="微软雅黑" panose="020B0503020204020204" pitchFamily="34" charset="-122"/>
                <a:ea typeface="微软雅黑" panose="020B0503020204020204" pitchFamily="34" charset="-122"/>
              </a:rPr>
              <a:t>和阀</a:t>
            </a:r>
            <a:r>
              <a:rPr lang="en-US" altLang="zh-CN" sz="2000" kern="0" dirty="0">
                <a:latin typeface="微软雅黑" panose="020B0503020204020204" pitchFamily="34" charset="-122"/>
                <a:ea typeface="微软雅黑" panose="020B0503020204020204" pitchFamily="34" charset="-122"/>
              </a:rPr>
              <a:t>5</a:t>
            </a:r>
            <a:r>
              <a:rPr lang="zh-CN" altLang="en-US" sz="2000" kern="0" dirty="0">
                <a:latin typeface="微软雅黑" panose="020B0503020204020204" pitchFamily="34" charset="-122"/>
                <a:ea typeface="微软雅黑" panose="020B0503020204020204" pitchFamily="34" charset="-122"/>
              </a:rPr>
              <a:t>进入有杆腔，活塞快速返回。</a:t>
            </a:r>
            <a:endParaRPr lang="en-US" altLang="zh-CN" sz="2000" kern="0" dirty="0">
              <a:latin typeface="微软雅黑" panose="020B0503020204020204" pitchFamily="34" charset="-122"/>
              <a:ea typeface="微软雅黑" panose="020B0503020204020204" pitchFamily="34" charset="-122"/>
            </a:endParaRPr>
          </a:p>
          <a:p>
            <a:pPr marL="342900" indent="-342900" algn="just">
              <a:lnSpc>
                <a:spcPct val="150000"/>
              </a:lnSpc>
              <a:buFont typeface="Wingdings" panose="05000000000000000000" pitchFamily="2" charset="2"/>
              <a:buChar char="Ø"/>
            </a:pPr>
            <a:endParaRPr lang="en-US" altLang="zh-CN" sz="2000" kern="0" dirty="0">
              <a:latin typeface="微软雅黑" panose="020B0503020204020204" pitchFamily="34" charset="-122"/>
              <a:ea typeface="微软雅黑" panose="020B0503020204020204" pitchFamily="34" charset="-122"/>
            </a:endParaRPr>
          </a:p>
          <a:p>
            <a:pPr algn="just">
              <a:lnSpc>
                <a:spcPct val="150000"/>
              </a:lnSpc>
            </a:pPr>
            <a:r>
              <a:rPr lang="zh-CN" altLang="en-US" sz="2000" b="1" kern="0" dirty="0">
                <a:solidFill>
                  <a:srgbClr val="FF0000"/>
                </a:solidFill>
                <a:latin typeface="微软雅黑" panose="020B0503020204020204" pitchFamily="34" charset="-122"/>
                <a:ea typeface="微软雅黑" panose="020B0503020204020204" pitchFamily="34" charset="-122"/>
              </a:rPr>
              <a:t>换接平稳准确，但安装布置不方便。</a:t>
            </a:r>
            <a:endParaRPr lang="en-US" altLang="zh-CN" sz="2000" b="1" kern="0" dirty="0">
              <a:solidFill>
                <a:srgbClr val="FF0000"/>
              </a:solidFill>
              <a:latin typeface="微软雅黑" panose="020B0503020204020204" pitchFamily="34" charset="-122"/>
              <a:ea typeface="微软雅黑" panose="020B0503020204020204" pitchFamily="34" charset="-122"/>
            </a:endParaRPr>
          </a:p>
        </p:txBody>
      </p:sp>
      <p:pic>
        <p:nvPicPr>
          <p:cNvPr id="3" name="图片 2">
            <a:extLst>
              <a:ext uri="{FF2B5EF4-FFF2-40B4-BE49-F238E27FC236}">
                <a16:creationId xmlns:a16="http://schemas.microsoft.com/office/drawing/2014/main" id="{B7FBA347-75C8-41A3-8623-92AB855526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594719" y="1278012"/>
            <a:ext cx="4056414" cy="4620951"/>
          </a:xfrm>
          <a:prstGeom prst="rect">
            <a:avLst/>
          </a:prstGeom>
        </p:spPr>
      </p:pic>
      <p:sp>
        <p:nvSpPr>
          <p:cNvPr id="2" name="文本框 1">
            <a:extLst>
              <a:ext uri="{FF2B5EF4-FFF2-40B4-BE49-F238E27FC236}">
                <a16:creationId xmlns:a16="http://schemas.microsoft.com/office/drawing/2014/main" id="{DE082B56-D509-406F-9D5F-F3F37B542CE4}"/>
              </a:ext>
            </a:extLst>
          </p:cNvPr>
          <p:cNvSpPr txBox="1"/>
          <p:nvPr/>
        </p:nvSpPr>
        <p:spPr>
          <a:xfrm>
            <a:off x="847687" y="1879665"/>
            <a:ext cx="3339376" cy="1077218"/>
          </a:xfrm>
          <a:prstGeom prst="rect">
            <a:avLst/>
          </a:prstGeom>
          <a:noFill/>
        </p:spPr>
        <p:txBody>
          <a:bodyPr wrap="none" rtlCol="0">
            <a:spAutoFit/>
          </a:bodyPr>
          <a:lstStyle/>
          <a:p>
            <a:pPr>
              <a:spcBef>
                <a:spcPts val="600"/>
              </a:spcBef>
            </a:pPr>
            <a:r>
              <a:rPr lang="en-US" altLang="zh-CN" dirty="0"/>
              <a:t>1.1 </a:t>
            </a:r>
            <a:r>
              <a:rPr lang="zh-CN" altLang="en-US" b="1" dirty="0">
                <a:solidFill>
                  <a:srgbClr val="003F88"/>
                </a:solidFill>
              </a:rPr>
              <a:t>液压缸差动连接回路</a:t>
            </a:r>
            <a:endParaRPr lang="en-US" altLang="zh-CN" b="1" dirty="0">
              <a:solidFill>
                <a:srgbClr val="003F88"/>
              </a:solidFill>
            </a:endParaRPr>
          </a:p>
          <a:p>
            <a:pPr>
              <a:spcBef>
                <a:spcPts val="600"/>
              </a:spcBef>
            </a:pPr>
            <a:r>
              <a:rPr lang="en-US" altLang="zh-CN" dirty="0"/>
              <a:t>1.2 </a:t>
            </a:r>
            <a:r>
              <a:rPr lang="zh-CN" altLang="en-US" b="1" dirty="0">
                <a:solidFill>
                  <a:srgbClr val="003F88"/>
                </a:solidFill>
                <a:latin typeface="+mn-ea"/>
              </a:rPr>
              <a:t>双泵供油回路</a:t>
            </a:r>
            <a:endParaRPr lang="en-US" altLang="zh-CN" b="1" dirty="0">
              <a:solidFill>
                <a:srgbClr val="003F88"/>
              </a:solidFill>
              <a:latin typeface="+mn-ea"/>
            </a:endParaRPr>
          </a:p>
          <a:p>
            <a:pPr>
              <a:spcBef>
                <a:spcPts val="600"/>
              </a:spcBef>
            </a:pPr>
            <a:r>
              <a:rPr lang="en-US" altLang="zh-CN" dirty="0"/>
              <a:t>1.3 </a:t>
            </a:r>
            <a:r>
              <a:rPr lang="zh-CN" altLang="en-US" b="1" dirty="0">
                <a:solidFill>
                  <a:srgbClr val="003F88"/>
                </a:solidFill>
                <a:latin typeface="+mn-ea"/>
              </a:rPr>
              <a:t>采用增速缸的快速运动回路</a:t>
            </a:r>
            <a:endParaRPr lang="zh-CN" altLang="en-US" dirty="0"/>
          </a:p>
        </p:txBody>
      </p:sp>
    </p:spTree>
    <p:extLst>
      <p:ext uri="{BB962C8B-B14F-4D97-AF65-F5344CB8AC3E}">
        <p14:creationId xmlns:p14="http://schemas.microsoft.com/office/powerpoint/2010/main" val="391056274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1B2675-2A09-7152-63C7-694F9EC33F82}"/>
            </a:ext>
          </a:extLst>
        </p:cNvPr>
        <p:cNvGrpSpPr/>
        <p:nvPr/>
      </p:nvGrpSpPr>
      <p:grpSpPr>
        <a:xfrm>
          <a:off x="0" y="0"/>
          <a:ext cx="0" cy="0"/>
          <a:chOff x="0" y="0"/>
          <a:chExt cx="0" cy="0"/>
        </a:xfrm>
      </p:grpSpPr>
      <p:cxnSp>
        <p:nvCxnSpPr>
          <p:cNvPr id="5" name="直接连接符 4">
            <a:extLst>
              <a:ext uri="{FF2B5EF4-FFF2-40B4-BE49-F238E27FC236}">
                <a16:creationId xmlns:a16="http://schemas.microsoft.com/office/drawing/2014/main" id="{82D318B2-495E-706C-DAC1-CCE83DACFCC3}"/>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pic>
        <p:nvPicPr>
          <p:cNvPr id="8" name="图片 7">
            <a:extLst>
              <a:ext uri="{FF2B5EF4-FFF2-40B4-BE49-F238E27FC236}">
                <a16:creationId xmlns:a16="http://schemas.microsoft.com/office/drawing/2014/main" id="{49AC4C2E-FC93-26D6-BD11-B54E498C842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sp>
        <p:nvSpPr>
          <p:cNvPr id="9" name="文本框 8">
            <a:extLst>
              <a:ext uri="{FF2B5EF4-FFF2-40B4-BE49-F238E27FC236}">
                <a16:creationId xmlns:a16="http://schemas.microsoft.com/office/drawing/2014/main" id="{C6C5FF37-7122-C22F-8CB1-B872CF14835E}"/>
              </a:ext>
            </a:extLst>
          </p:cNvPr>
          <p:cNvSpPr txBox="1"/>
          <p:nvPr/>
        </p:nvSpPr>
        <p:spPr>
          <a:xfrm>
            <a:off x="429656" y="135415"/>
            <a:ext cx="8582416" cy="646331"/>
          </a:xfrm>
          <a:prstGeom prst="rect">
            <a:avLst/>
          </a:prstGeom>
          <a:noFill/>
        </p:spPr>
        <p:txBody>
          <a:bodyPr wrap="square" rtlCol="0">
            <a:spAutoFit/>
          </a:bodyPr>
          <a:lstStyle/>
          <a:p>
            <a:r>
              <a:rPr lang="en-US" altLang="zh-CN" sz="3600" b="1" dirty="0">
                <a:solidFill>
                  <a:srgbClr val="003F88"/>
                </a:solidFill>
                <a:latin typeface="+mn-ea"/>
              </a:rPr>
              <a:t>2 </a:t>
            </a:r>
            <a:r>
              <a:rPr lang="zh-CN" altLang="en-US" sz="3600" b="1" dirty="0">
                <a:solidFill>
                  <a:srgbClr val="003F88"/>
                </a:solidFill>
                <a:latin typeface="+mn-ea"/>
              </a:rPr>
              <a:t>速度换接回路</a:t>
            </a:r>
          </a:p>
        </p:txBody>
      </p:sp>
      <p:sp>
        <p:nvSpPr>
          <p:cNvPr id="25" name="矩形 24">
            <a:extLst>
              <a:ext uri="{FF2B5EF4-FFF2-40B4-BE49-F238E27FC236}">
                <a16:creationId xmlns:a16="http://schemas.microsoft.com/office/drawing/2014/main" id="{A642096C-5E2D-4190-F8CA-7D6036DCE4FB}"/>
              </a:ext>
            </a:extLst>
          </p:cNvPr>
          <p:cNvSpPr/>
          <p:nvPr/>
        </p:nvSpPr>
        <p:spPr>
          <a:xfrm>
            <a:off x="-17100" y="174526"/>
            <a:ext cx="319314" cy="56810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矩形 25">
            <a:extLst>
              <a:ext uri="{FF2B5EF4-FFF2-40B4-BE49-F238E27FC236}">
                <a16:creationId xmlns:a16="http://schemas.microsoft.com/office/drawing/2014/main" id="{1CF160C2-1857-E451-3F15-4BD23FD2DFC3}"/>
              </a:ext>
            </a:extLst>
          </p:cNvPr>
          <p:cNvSpPr/>
          <p:nvPr/>
        </p:nvSpPr>
        <p:spPr>
          <a:xfrm>
            <a:off x="540867" y="1187297"/>
            <a:ext cx="7547154" cy="581762"/>
          </a:xfrm>
          <a:prstGeom prst="rect">
            <a:avLst/>
          </a:prstGeom>
        </p:spPr>
        <p:txBody>
          <a:bodyPr wrap="square">
            <a:spAutoFit/>
          </a:bodyPr>
          <a:lstStyle/>
          <a:p>
            <a:pPr>
              <a:lnSpc>
                <a:spcPct val="125000"/>
              </a:lnSpc>
            </a:pPr>
            <a:r>
              <a:rPr lang="en-US" altLang="zh-CN" sz="2800" b="1" dirty="0">
                <a:solidFill>
                  <a:srgbClr val="003F88"/>
                </a:solidFill>
                <a:latin typeface="+mn-ea"/>
              </a:rPr>
              <a:t>2.2 </a:t>
            </a:r>
            <a:r>
              <a:rPr lang="zh-CN" altLang="en-US" sz="2800" b="1" dirty="0">
                <a:solidFill>
                  <a:srgbClr val="003F88"/>
                </a:solidFill>
                <a:latin typeface="+mn-ea"/>
              </a:rPr>
              <a:t>慢速的换接回路</a:t>
            </a:r>
            <a:r>
              <a:rPr lang="en-US" altLang="zh-CN" sz="2800" b="1" dirty="0">
                <a:solidFill>
                  <a:srgbClr val="003F88"/>
                </a:solidFill>
                <a:latin typeface="+mn-ea"/>
              </a:rPr>
              <a:t>(1)</a:t>
            </a:r>
            <a:endParaRPr lang="zh-CN" altLang="en-US" sz="2800" b="1" dirty="0">
              <a:solidFill>
                <a:srgbClr val="003F88"/>
              </a:solidFill>
              <a:latin typeface="+mn-ea"/>
            </a:endParaRPr>
          </a:p>
        </p:txBody>
      </p:sp>
      <p:sp>
        <p:nvSpPr>
          <p:cNvPr id="6" name="文本框 5">
            <a:extLst>
              <a:ext uri="{FF2B5EF4-FFF2-40B4-BE49-F238E27FC236}">
                <a16:creationId xmlns:a16="http://schemas.microsoft.com/office/drawing/2014/main" id="{79EA5546-D510-3E63-D1C4-04AEE5116885}"/>
              </a:ext>
            </a:extLst>
          </p:cNvPr>
          <p:cNvSpPr txBox="1"/>
          <p:nvPr/>
        </p:nvSpPr>
        <p:spPr>
          <a:xfrm>
            <a:off x="7215117" y="6098536"/>
            <a:ext cx="4419632" cy="400110"/>
          </a:xfrm>
          <a:prstGeom prst="rect">
            <a:avLst/>
          </a:prstGeom>
          <a:noFill/>
        </p:spPr>
        <p:txBody>
          <a:bodyPr wrap="square">
            <a:spAutoFit/>
          </a:bodyPr>
          <a:lstStyle/>
          <a:p>
            <a:pPr algn="ctr"/>
            <a:r>
              <a:rPr lang="zh-CN" altLang="en-US" sz="2000" kern="0" dirty="0">
                <a:latin typeface="微软雅黑" panose="020B0503020204020204" pitchFamily="34" charset="-122"/>
                <a:ea typeface="微软雅黑" panose="020B0503020204020204" pitchFamily="34" charset="-122"/>
              </a:rPr>
              <a:t>采用两个调速阀并联的速度换接回路</a:t>
            </a:r>
            <a:endParaRPr lang="zh-CN" altLang="en-US" sz="2000" dirty="0"/>
          </a:p>
        </p:txBody>
      </p:sp>
      <p:sp>
        <p:nvSpPr>
          <p:cNvPr id="19" name="TextBox 18">
            <a:extLst>
              <a:ext uri="{FF2B5EF4-FFF2-40B4-BE49-F238E27FC236}">
                <a16:creationId xmlns:a16="http://schemas.microsoft.com/office/drawing/2014/main" id="{0AF9BDF2-F1D9-3B76-B435-F69A76800000}"/>
              </a:ext>
            </a:extLst>
          </p:cNvPr>
          <p:cNvSpPr txBox="1"/>
          <p:nvPr/>
        </p:nvSpPr>
        <p:spPr>
          <a:xfrm>
            <a:off x="540868" y="2205773"/>
            <a:ext cx="5909974" cy="4010713"/>
          </a:xfrm>
          <a:prstGeom prst="rect">
            <a:avLst/>
          </a:prstGeom>
          <a:noFill/>
        </p:spPr>
        <p:txBody>
          <a:bodyPr wrap="square" rtlCol="0">
            <a:spAutoFit/>
          </a:bodyPr>
          <a:lstStyle/>
          <a:p>
            <a:pPr algn="just">
              <a:lnSpc>
                <a:spcPct val="150000"/>
              </a:lnSpc>
            </a:pPr>
            <a:r>
              <a:rPr lang="en-US" altLang="zh-CN" sz="2000" kern="0" dirty="0">
                <a:latin typeface="微软雅黑" panose="020B0503020204020204" pitchFamily="34" charset="-122"/>
                <a:ea typeface="微软雅黑" panose="020B0503020204020204" pitchFamily="34" charset="-122"/>
              </a:rPr>
              <a:t>1</a:t>
            </a:r>
            <a:r>
              <a:rPr lang="zh-CN" altLang="en-US" sz="2000" kern="0" dirty="0">
                <a:latin typeface="微软雅黑" panose="020B0503020204020204" pitchFamily="34" charset="-122"/>
                <a:ea typeface="微软雅黑" panose="020B0503020204020204" pitchFamily="34" charset="-122"/>
              </a:rPr>
              <a:t>）调速阀并联；</a:t>
            </a:r>
          </a:p>
          <a:p>
            <a:pPr marL="342900" indent="-342900" algn="just">
              <a:lnSpc>
                <a:spcPct val="150000"/>
              </a:lnSpc>
              <a:buFont typeface="Wingdings" panose="05000000000000000000" pitchFamily="2" charset="2"/>
              <a:buChar char="Ø"/>
            </a:pPr>
            <a:r>
              <a:rPr lang="zh-CN" altLang="en-US" sz="2000" kern="0" dirty="0">
                <a:latin typeface="微软雅黑" panose="020B0503020204020204" pitchFamily="34" charset="-122"/>
                <a:ea typeface="微软雅黑" panose="020B0503020204020204" pitchFamily="34" charset="-122"/>
              </a:rPr>
              <a:t>调速阀</a:t>
            </a:r>
            <a:r>
              <a:rPr lang="en-US" altLang="zh-CN" sz="2000" kern="0" dirty="0">
                <a:latin typeface="微软雅黑" panose="020B0503020204020204" pitchFamily="34" charset="-122"/>
                <a:ea typeface="微软雅黑" panose="020B0503020204020204" pitchFamily="34" charset="-122"/>
              </a:rPr>
              <a:t>1</a:t>
            </a:r>
            <a:r>
              <a:rPr lang="zh-CN" altLang="en-US" sz="2000" kern="0" dirty="0">
                <a:latin typeface="微软雅黑" panose="020B0503020204020204" pitchFamily="34" charset="-122"/>
                <a:ea typeface="微软雅黑" panose="020B0503020204020204" pitchFamily="34" charset="-122"/>
              </a:rPr>
              <a:t>调节：阀</a:t>
            </a:r>
            <a:r>
              <a:rPr lang="en-US" altLang="zh-CN" sz="2000" kern="0" dirty="0">
                <a:latin typeface="微软雅黑" panose="020B0503020204020204" pitchFamily="34" charset="-122"/>
                <a:ea typeface="微软雅黑" panose="020B0503020204020204" pitchFamily="34" charset="-122"/>
              </a:rPr>
              <a:t>3</a:t>
            </a:r>
            <a:r>
              <a:rPr lang="zh-CN" altLang="en-US" sz="2000" kern="0" dirty="0">
                <a:latin typeface="微软雅黑" panose="020B0503020204020204" pitchFamily="34" charset="-122"/>
                <a:ea typeface="微软雅黑" panose="020B0503020204020204" pitchFamily="34" charset="-122"/>
              </a:rPr>
              <a:t>左位；</a:t>
            </a:r>
          </a:p>
          <a:p>
            <a:pPr marL="342900" indent="-342900" algn="just">
              <a:lnSpc>
                <a:spcPct val="150000"/>
              </a:lnSpc>
              <a:buFont typeface="Wingdings" panose="05000000000000000000" pitchFamily="2" charset="2"/>
              <a:buChar char="Ø"/>
            </a:pPr>
            <a:r>
              <a:rPr lang="zh-CN" altLang="en-US" sz="2000" kern="0" dirty="0">
                <a:latin typeface="微软雅黑" panose="020B0503020204020204" pitchFamily="34" charset="-122"/>
                <a:ea typeface="微软雅黑" panose="020B0503020204020204" pitchFamily="34" charset="-122"/>
              </a:rPr>
              <a:t>调速阀</a:t>
            </a:r>
            <a:r>
              <a:rPr lang="en-US" altLang="zh-CN" sz="2000" kern="0" dirty="0">
                <a:latin typeface="微软雅黑" panose="020B0503020204020204" pitchFamily="34" charset="-122"/>
                <a:ea typeface="微软雅黑" panose="020B0503020204020204" pitchFamily="34" charset="-122"/>
              </a:rPr>
              <a:t>2</a:t>
            </a:r>
            <a:r>
              <a:rPr lang="zh-CN" altLang="en-US" sz="2000" kern="0" dirty="0">
                <a:latin typeface="微软雅黑" panose="020B0503020204020204" pitchFamily="34" charset="-122"/>
                <a:ea typeface="微软雅黑" panose="020B0503020204020204" pitchFamily="34" charset="-122"/>
              </a:rPr>
              <a:t>调节：阀</a:t>
            </a:r>
            <a:r>
              <a:rPr lang="en-US" altLang="zh-CN" sz="2000" kern="0" dirty="0">
                <a:latin typeface="微软雅黑" panose="020B0503020204020204" pitchFamily="34" charset="-122"/>
                <a:ea typeface="微软雅黑" panose="020B0503020204020204" pitchFamily="34" charset="-122"/>
              </a:rPr>
              <a:t>3</a:t>
            </a:r>
            <a:r>
              <a:rPr lang="zh-CN" altLang="en-US" sz="2000" kern="0" dirty="0">
                <a:latin typeface="微软雅黑" panose="020B0503020204020204" pitchFamily="34" charset="-122"/>
                <a:ea typeface="微软雅黑" panose="020B0503020204020204" pitchFamily="34" charset="-122"/>
              </a:rPr>
              <a:t>右位；</a:t>
            </a:r>
            <a:endParaRPr lang="en-US" altLang="zh-CN" sz="2000" kern="0" dirty="0">
              <a:latin typeface="微软雅黑" panose="020B0503020204020204" pitchFamily="34" charset="-122"/>
              <a:ea typeface="微软雅黑" panose="020B0503020204020204" pitchFamily="34" charset="-122"/>
            </a:endParaRPr>
          </a:p>
          <a:p>
            <a:pPr marL="342900" indent="-342900" algn="just">
              <a:lnSpc>
                <a:spcPct val="150000"/>
              </a:lnSpc>
              <a:buFont typeface="Wingdings" panose="05000000000000000000" pitchFamily="2" charset="2"/>
              <a:buChar char="Ø"/>
            </a:pPr>
            <a:r>
              <a:rPr lang="zh-CN" altLang="en-US" sz="2000" kern="0" dirty="0">
                <a:latin typeface="微软雅黑" panose="020B0503020204020204" pitchFamily="34" charset="-122"/>
                <a:ea typeface="微软雅黑" panose="020B0503020204020204" pitchFamily="34" charset="-122"/>
              </a:rPr>
              <a:t>两个调速阀的调节互不影响。</a:t>
            </a:r>
          </a:p>
          <a:p>
            <a:pPr marL="342900" indent="-342900" algn="just">
              <a:lnSpc>
                <a:spcPct val="150000"/>
              </a:lnSpc>
              <a:buFont typeface="Wingdings" panose="05000000000000000000" pitchFamily="2" charset="2"/>
              <a:buChar char="Ø"/>
            </a:pPr>
            <a:endParaRPr lang="en-US" altLang="zh-CN" sz="2000" kern="0" dirty="0">
              <a:latin typeface="微软雅黑" panose="020B0503020204020204" pitchFamily="34" charset="-122"/>
              <a:ea typeface="微软雅黑" panose="020B0503020204020204" pitchFamily="34" charset="-122"/>
            </a:endParaRPr>
          </a:p>
          <a:p>
            <a:pPr algn="just">
              <a:lnSpc>
                <a:spcPct val="150000"/>
              </a:lnSpc>
            </a:pPr>
            <a:r>
              <a:rPr lang="en-US" altLang="zh-CN" dirty="0">
                <a:latin typeface="+mn-ea"/>
                <a:cs typeface="Times New Roman" panose="02020603050405020304" pitchFamily="18" charset="0"/>
              </a:rPr>
              <a:t>        </a:t>
            </a:r>
            <a:r>
              <a:rPr lang="zh-CN" altLang="zh-CN" dirty="0">
                <a:latin typeface="+mn-ea"/>
                <a:cs typeface="Times New Roman" panose="02020603050405020304" pitchFamily="18" charset="0"/>
              </a:rPr>
              <a:t>一个调速阀工作时另一个调速阀内无油通过</a:t>
            </a:r>
            <a:r>
              <a:rPr lang="zh-CN" altLang="en-US" dirty="0">
                <a:latin typeface="+mn-ea"/>
                <a:cs typeface="Times New Roman" panose="02020603050405020304" pitchFamily="18" charset="0"/>
              </a:rPr>
              <a:t>，</a:t>
            </a:r>
            <a:r>
              <a:rPr lang="zh-CN" altLang="zh-CN" dirty="0">
                <a:latin typeface="+mn-ea"/>
                <a:cs typeface="Times New Roman" panose="02020603050405020304" pitchFamily="18" charset="0"/>
              </a:rPr>
              <a:t>它的</a:t>
            </a:r>
            <a:r>
              <a:rPr lang="zh-CN" altLang="zh-CN" b="1" dirty="0">
                <a:solidFill>
                  <a:srgbClr val="0000FF"/>
                </a:solidFill>
                <a:latin typeface="+mn-ea"/>
                <a:cs typeface="Times New Roman" panose="02020603050405020304" pitchFamily="18" charset="0"/>
              </a:rPr>
              <a:t>减压阀处于最大开口位置</a:t>
            </a:r>
            <a:r>
              <a:rPr lang="zh-CN" altLang="en-US" dirty="0">
                <a:latin typeface="+mn-ea"/>
                <a:cs typeface="Times New Roman" panose="02020603050405020304" pitchFamily="18" charset="0"/>
              </a:rPr>
              <a:t>，</a:t>
            </a:r>
            <a:r>
              <a:rPr lang="zh-CN" altLang="zh-CN" dirty="0">
                <a:latin typeface="+mn-ea"/>
                <a:cs typeface="Times New Roman" panose="02020603050405020304" pitchFamily="18" charset="0"/>
              </a:rPr>
              <a:t>速度换接时大量油液通过该处将使工作部件产生突然</a:t>
            </a:r>
            <a:r>
              <a:rPr lang="zh-CN" altLang="zh-CN" b="1" dirty="0">
                <a:solidFill>
                  <a:srgbClr val="0000FF"/>
                </a:solidFill>
                <a:latin typeface="+mn-ea"/>
                <a:cs typeface="Times New Roman" panose="02020603050405020304" pitchFamily="18" charset="0"/>
              </a:rPr>
              <a:t>前冲现象</a:t>
            </a:r>
            <a:r>
              <a:rPr lang="zh-CN" altLang="zh-CN" dirty="0">
                <a:latin typeface="+mn-ea"/>
                <a:cs typeface="Times New Roman" panose="02020603050405020304" pitchFamily="18" charset="0"/>
              </a:rPr>
              <a:t>。因此它不宜用于在工作过程中的速度换接</a:t>
            </a:r>
            <a:r>
              <a:rPr lang="zh-CN" altLang="en-US" dirty="0">
                <a:latin typeface="+mn-ea"/>
                <a:cs typeface="Times New Roman" panose="02020603050405020304" pitchFamily="18" charset="0"/>
              </a:rPr>
              <a:t>，</a:t>
            </a:r>
            <a:r>
              <a:rPr lang="zh-CN" altLang="zh-CN" dirty="0">
                <a:latin typeface="+mn-ea"/>
                <a:cs typeface="Times New Roman" panose="02020603050405020304" pitchFamily="18" charset="0"/>
              </a:rPr>
              <a:t>只可用在速度预选的场合。</a:t>
            </a:r>
            <a:endParaRPr lang="zh-CN" altLang="en-US" b="1" kern="0" dirty="0">
              <a:solidFill>
                <a:srgbClr val="FF0000"/>
              </a:solidFill>
              <a:latin typeface="+mn-ea"/>
            </a:endParaRPr>
          </a:p>
        </p:txBody>
      </p:sp>
      <p:grpSp>
        <p:nvGrpSpPr>
          <p:cNvPr id="27" name="Group 26">
            <a:extLst>
              <a:ext uri="{FF2B5EF4-FFF2-40B4-BE49-F238E27FC236}">
                <a16:creationId xmlns:a16="http://schemas.microsoft.com/office/drawing/2014/main" id="{11D13F49-50E3-10C4-9B8D-EFCEDCABC463}"/>
              </a:ext>
            </a:extLst>
          </p:cNvPr>
          <p:cNvGrpSpPr/>
          <p:nvPr/>
        </p:nvGrpSpPr>
        <p:grpSpPr>
          <a:xfrm>
            <a:off x="6805672" y="1154686"/>
            <a:ext cx="5386328" cy="5012051"/>
            <a:chOff x="4026728" y="1195629"/>
            <a:chExt cx="5386328" cy="5012051"/>
          </a:xfrm>
        </p:grpSpPr>
        <p:pic>
          <p:nvPicPr>
            <p:cNvPr id="28" name="图片 6">
              <a:extLst>
                <a:ext uri="{FF2B5EF4-FFF2-40B4-BE49-F238E27FC236}">
                  <a16:creationId xmlns:a16="http://schemas.microsoft.com/office/drawing/2014/main" id="{B581D9D1-8327-B5E9-F52F-F0664AB0CC7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026728" y="1195629"/>
              <a:ext cx="5386328" cy="5012051"/>
            </a:xfrm>
            <a:prstGeom prst="rect">
              <a:avLst/>
            </a:prstGeom>
            <a:ln>
              <a:noFill/>
            </a:ln>
            <a:effectLst/>
          </p:spPr>
        </p:pic>
        <p:sp>
          <p:nvSpPr>
            <p:cNvPr id="29" name="矩形 9">
              <a:extLst>
                <a:ext uri="{FF2B5EF4-FFF2-40B4-BE49-F238E27FC236}">
                  <a16:creationId xmlns:a16="http://schemas.microsoft.com/office/drawing/2014/main" id="{6C5820A2-6F58-EA8E-17A7-35F4B243E2F6}"/>
                </a:ext>
              </a:extLst>
            </p:cNvPr>
            <p:cNvSpPr/>
            <p:nvPr/>
          </p:nvSpPr>
          <p:spPr>
            <a:xfrm>
              <a:off x="4079602" y="3861048"/>
              <a:ext cx="367541" cy="37663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accent2"/>
                  </a:solidFill>
                </a:rPr>
                <a:t>1</a:t>
              </a:r>
              <a:endParaRPr lang="zh-CN" altLang="en-US" dirty="0">
                <a:solidFill>
                  <a:schemeClr val="accent2"/>
                </a:solidFill>
              </a:endParaRPr>
            </a:p>
          </p:txBody>
        </p:sp>
        <p:sp>
          <p:nvSpPr>
            <p:cNvPr id="30" name="矩形 10">
              <a:extLst>
                <a:ext uri="{FF2B5EF4-FFF2-40B4-BE49-F238E27FC236}">
                  <a16:creationId xmlns:a16="http://schemas.microsoft.com/office/drawing/2014/main" id="{17D8CBF2-5211-59FE-24BB-49CD984AA3A8}"/>
                </a:ext>
              </a:extLst>
            </p:cNvPr>
            <p:cNvSpPr/>
            <p:nvPr/>
          </p:nvSpPr>
          <p:spPr>
            <a:xfrm>
              <a:off x="5220072" y="1604557"/>
              <a:ext cx="367541" cy="37663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accent2"/>
                  </a:solidFill>
                </a:rPr>
                <a:t>4</a:t>
              </a:r>
              <a:endParaRPr lang="zh-CN" altLang="en-US" dirty="0">
                <a:solidFill>
                  <a:schemeClr val="accent2"/>
                </a:solidFill>
              </a:endParaRPr>
            </a:p>
          </p:txBody>
        </p:sp>
        <p:sp>
          <p:nvSpPr>
            <p:cNvPr id="32" name="矩形 11">
              <a:extLst>
                <a:ext uri="{FF2B5EF4-FFF2-40B4-BE49-F238E27FC236}">
                  <a16:creationId xmlns:a16="http://schemas.microsoft.com/office/drawing/2014/main" id="{0B584594-E226-2CB9-90DD-8BE8E1B44FF2}"/>
                </a:ext>
              </a:extLst>
            </p:cNvPr>
            <p:cNvSpPr/>
            <p:nvPr/>
          </p:nvSpPr>
          <p:spPr>
            <a:xfrm>
              <a:off x="6188222" y="3861048"/>
              <a:ext cx="367541" cy="37663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accent2"/>
                  </a:solidFill>
                </a:rPr>
                <a:t>2</a:t>
              </a:r>
              <a:endParaRPr lang="zh-CN" altLang="en-US" dirty="0">
                <a:solidFill>
                  <a:schemeClr val="accent2"/>
                </a:solidFill>
              </a:endParaRPr>
            </a:p>
          </p:txBody>
        </p:sp>
        <p:sp>
          <p:nvSpPr>
            <p:cNvPr id="33" name="矩形 12">
              <a:extLst>
                <a:ext uri="{FF2B5EF4-FFF2-40B4-BE49-F238E27FC236}">
                  <a16:creationId xmlns:a16="http://schemas.microsoft.com/office/drawing/2014/main" id="{DE5BEDA5-2D98-F507-A6C7-BEA4896D079F}"/>
                </a:ext>
              </a:extLst>
            </p:cNvPr>
            <p:cNvSpPr/>
            <p:nvPr/>
          </p:nvSpPr>
          <p:spPr>
            <a:xfrm>
              <a:off x="6719892" y="2924944"/>
              <a:ext cx="367541" cy="37663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accent2"/>
                  </a:solidFill>
                </a:rPr>
                <a:t>3</a:t>
              </a:r>
              <a:endParaRPr lang="zh-CN" altLang="en-US" dirty="0">
                <a:solidFill>
                  <a:schemeClr val="accent2"/>
                </a:solidFill>
              </a:endParaRPr>
            </a:p>
          </p:txBody>
        </p:sp>
        <p:sp>
          <p:nvSpPr>
            <p:cNvPr id="34" name="矩形 13">
              <a:extLst>
                <a:ext uri="{FF2B5EF4-FFF2-40B4-BE49-F238E27FC236}">
                  <a16:creationId xmlns:a16="http://schemas.microsoft.com/office/drawing/2014/main" id="{50FA73E1-B250-B935-4B2D-21FCCEEBC7D5}"/>
                </a:ext>
              </a:extLst>
            </p:cNvPr>
            <p:cNvSpPr/>
            <p:nvPr/>
          </p:nvSpPr>
          <p:spPr>
            <a:xfrm>
              <a:off x="6719892" y="5589240"/>
              <a:ext cx="367541" cy="37663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accent2"/>
                  </a:solidFill>
                </a:rPr>
                <a:t>6</a:t>
              </a:r>
              <a:endParaRPr lang="zh-CN" altLang="en-US" dirty="0">
                <a:solidFill>
                  <a:schemeClr val="accent2"/>
                </a:solidFill>
              </a:endParaRPr>
            </a:p>
          </p:txBody>
        </p:sp>
      </p:grpSp>
    </p:spTree>
    <p:extLst>
      <p:ext uri="{BB962C8B-B14F-4D97-AF65-F5344CB8AC3E}">
        <p14:creationId xmlns:p14="http://schemas.microsoft.com/office/powerpoint/2010/main" val="82990833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1B2675-2A09-7152-63C7-694F9EC33F82}"/>
            </a:ext>
          </a:extLst>
        </p:cNvPr>
        <p:cNvGrpSpPr/>
        <p:nvPr/>
      </p:nvGrpSpPr>
      <p:grpSpPr>
        <a:xfrm>
          <a:off x="0" y="0"/>
          <a:ext cx="0" cy="0"/>
          <a:chOff x="0" y="0"/>
          <a:chExt cx="0" cy="0"/>
        </a:xfrm>
      </p:grpSpPr>
      <p:cxnSp>
        <p:nvCxnSpPr>
          <p:cNvPr id="5" name="直接连接符 4">
            <a:extLst>
              <a:ext uri="{FF2B5EF4-FFF2-40B4-BE49-F238E27FC236}">
                <a16:creationId xmlns:a16="http://schemas.microsoft.com/office/drawing/2014/main" id="{82D318B2-495E-706C-DAC1-CCE83DACFCC3}"/>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pic>
        <p:nvPicPr>
          <p:cNvPr id="8" name="图片 7">
            <a:extLst>
              <a:ext uri="{FF2B5EF4-FFF2-40B4-BE49-F238E27FC236}">
                <a16:creationId xmlns:a16="http://schemas.microsoft.com/office/drawing/2014/main" id="{49AC4C2E-FC93-26D6-BD11-B54E498C842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sp>
        <p:nvSpPr>
          <p:cNvPr id="9" name="文本框 8">
            <a:extLst>
              <a:ext uri="{FF2B5EF4-FFF2-40B4-BE49-F238E27FC236}">
                <a16:creationId xmlns:a16="http://schemas.microsoft.com/office/drawing/2014/main" id="{C6C5FF37-7122-C22F-8CB1-B872CF14835E}"/>
              </a:ext>
            </a:extLst>
          </p:cNvPr>
          <p:cNvSpPr txBox="1"/>
          <p:nvPr/>
        </p:nvSpPr>
        <p:spPr>
          <a:xfrm>
            <a:off x="429656" y="135415"/>
            <a:ext cx="8582416" cy="646331"/>
          </a:xfrm>
          <a:prstGeom prst="rect">
            <a:avLst/>
          </a:prstGeom>
          <a:noFill/>
        </p:spPr>
        <p:txBody>
          <a:bodyPr wrap="square" rtlCol="0">
            <a:spAutoFit/>
          </a:bodyPr>
          <a:lstStyle/>
          <a:p>
            <a:r>
              <a:rPr lang="en-US" altLang="zh-CN" sz="3600" b="1" dirty="0">
                <a:solidFill>
                  <a:srgbClr val="003F88"/>
                </a:solidFill>
                <a:latin typeface="+mn-ea"/>
              </a:rPr>
              <a:t>2 </a:t>
            </a:r>
            <a:r>
              <a:rPr lang="zh-CN" altLang="en-US" sz="3600" b="1" dirty="0">
                <a:solidFill>
                  <a:srgbClr val="003F88"/>
                </a:solidFill>
                <a:latin typeface="+mn-ea"/>
              </a:rPr>
              <a:t>速度换接回路</a:t>
            </a:r>
          </a:p>
        </p:txBody>
      </p:sp>
      <p:sp>
        <p:nvSpPr>
          <p:cNvPr id="25" name="矩形 24">
            <a:extLst>
              <a:ext uri="{FF2B5EF4-FFF2-40B4-BE49-F238E27FC236}">
                <a16:creationId xmlns:a16="http://schemas.microsoft.com/office/drawing/2014/main" id="{A642096C-5E2D-4190-F8CA-7D6036DCE4FB}"/>
              </a:ext>
            </a:extLst>
          </p:cNvPr>
          <p:cNvSpPr/>
          <p:nvPr/>
        </p:nvSpPr>
        <p:spPr>
          <a:xfrm>
            <a:off x="-17100" y="174526"/>
            <a:ext cx="319314" cy="56810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矩形 25">
            <a:extLst>
              <a:ext uri="{FF2B5EF4-FFF2-40B4-BE49-F238E27FC236}">
                <a16:creationId xmlns:a16="http://schemas.microsoft.com/office/drawing/2014/main" id="{1CF160C2-1857-E451-3F15-4BD23FD2DFC3}"/>
              </a:ext>
            </a:extLst>
          </p:cNvPr>
          <p:cNvSpPr/>
          <p:nvPr/>
        </p:nvSpPr>
        <p:spPr>
          <a:xfrm>
            <a:off x="540867" y="1187297"/>
            <a:ext cx="7547154" cy="581762"/>
          </a:xfrm>
          <a:prstGeom prst="rect">
            <a:avLst/>
          </a:prstGeom>
        </p:spPr>
        <p:txBody>
          <a:bodyPr wrap="square">
            <a:spAutoFit/>
          </a:bodyPr>
          <a:lstStyle/>
          <a:p>
            <a:pPr>
              <a:lnSpc>
                <a:spcPct val="125000"/>
              </a:lnSpc>
            </a:pPr>
            <a:r>
              <a:rPr lang="en-US" altLang="zh-CN" sz="2800" b="1" dirty="0">
                <a:solidFill>
                  <a:srgbClr val="003F88"/>
                </a:solidFill>
                <a:latin typeface="+mn-ea"/>
              </a:rPr>
              <a:t>2.2 </a:t>
            </a:r>
            <a:r>
              <a:rPr lang="zh-CN" altLang="en-US" sz="2800" b="1" dirty="0">
                <a:solidFill>
                  <a:srgbClr val="003F88"/>
                </a:solidFill>
                <a:latin typeface="+mn-ea"/>
              </a:rPr>
              <a:t>慢速的换接回路</a:t>
            </a:r>
            <a:r>
              <a:rPr lang="en-US" altLang="zh-CN" sz="2800" b="1" dirty="0">
                <a:solidFill>
                  <a:srgbClr val="003F88"/>
                </a:solidFill>
                <a:latin typeface="+mn-ea"/>
              </a:rPr>
              <a:t>(2)</a:t>
            </a:r>
            <a:endParaRPr lang="zh-CN" altLang="en-US" sz="2800" b="1" dirty="0">
              <a:solidFill>
                <a:srgbClr val="003F88"/>
              </a:solidFill>
              <a:latin typeface="+mn-ea"/>
            </a:endParaRPr>
          </a:p>
        </p:txBody>
      </p:sp>
      <p:pic>
        <p:nvPicPr>
          <p:cNvPr id="16" name="图片 15">
            <a:extLst>
              <a:ext uri="{FF2B5EF4-FFF2-40B4-BE49-F238E27FC236}">
                <a16:creationId xmlns:a16="http://schemas.microsoft.com/office/drawing/2014/main" id="{7A3A1807-F72C-488F-B232-EB5A8499C2C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989192" y="965994"/>
            <a:ext cx="4558192" cy="4974085"/>
          </a:xfrm>
          <a:prstGeom prst="rect">
            <a:avLst/>
          </a:prstGeom>
          <a:ln>
            <a:noFill/>
          </a:ln>
          <a:effectLst/>
        </p:spPr>
      </p:pic>
      <p:sp>
        <p:nvSpPr>
          <p:cNvPr id="17" name="文本框 16">
            <a:extLst>
              <a:ext uri="{FF2B5EF4-FFF2-40B4-BE49-F238E27FC236}">
                <a16:creationId xmlns:a16="http://schemas.microsoft.com/office/drawing/2014/main" id="{6AE0A90D-3D32-43D1-B009-35D47404736A}"/>
              </a:ext>
            </a:extLst>
          </p:cNvPr>
          <p:cNvSpPr txBox="1"/>
          <p:nvPr/>
        </p:nvSpPr>
        <p:spPr>
          <a:xfrm>
            <a:off x="6989192" y="6161382"/>
            <a:ext cx="5040144" cy="400110"/>
          </a:xfrm>
          <a:prstGeom prst="rect">
            <a:avLst/>
          </a:prstGeom>
          <a:noFill/>
        </p:spPr>
        <p:txBody>
          <a:bodyPr wrap="square">
            <a:spAutoFit/>
          </a:bodyPr>
          <a:lstStyle/>
          <a:p>
            <a:pPr algn="ctr"/>
            <a:r>
              <a:rPr lang="zh-CN" altLang="en-US" sz="2000" kern="0" dirty="0">
                <a:latin typeface="微软雅黑" panose="020B0503020204020204" pitchFamily="34" charset="-122"/>
                <a:ea typeface="微软雅黑" panose="020B0503020204020204" pitchFamily="34" charset="-122"/>
              </a:rPr>
              <a:t>采用两个调速阀串联的速度换接回路</a:t>
            </a:r>
            <a:endParaRPr lang="zh-CN" altLang="en-US" sz="2000" dirty="0"/>
          </a:p>
        </p:txBody>
      </p:sp>
      <p:sp>
        <p:nvSpPr>
          <p:cNvPr id="18" name="矩形 17">
            <a:extLst>
              <a:ext uri="{FF2B5EF4-FFF2-40B4-BE49-F238E27FC236}">
                <a16:creationId xmlns:a16="http://schemas.microsoft.com/office/drawing/2014/main" id="{93933E4E-CA8A-4A3C-BDA9-799DBCD24B4B}"/>
              </a:ext>
            </a:extLst>
          </p:cNvPr>
          <p:cNvSpPr/>
          <p:nvPr/>
        </p:nvSpPr>
        <p:spPr>
          <a:xfrm>
            <a:off x="644616" y="1990362"/>
            <a:ext cx="5075464" cy="2243050"/>
          </a:xfrm>
          <a:prstGeom prst="rect">
            <a:avLst/>
          </a:prstGeom>
        </p:spPr>
        <p:txBody>
          <a:bodyPr wrap="square">
            <a:spAutoFit/>
          </a:bodyPr>
          <a:lstStyle/>
          <a:p>
            <a:pPr algn="just" eaLnBrk="0" hangingPunct="0">
              <a:lnSpc>
                <a:spcPct val="150000"/>
              </a:lnSpc>
              <a:spcBef>
                <a:spcPts val="0"/>
              </a:spcBef>
            </a:pPr>
            <a:r>
              <a:rPr lang="en-US" altLang="zh-CN" sz="2400" kern="0" dirty="0">
                <a:latin typeface="微软雅黑" panose="020B0503020204020204" pitchFamily="34" charset="-122"/>
                <a:ea typeface="微软雅黑" panose="020B0503020204020204" pitchFamily="34" charset="-122"/>
              </a:rPr>
              <a:t>2</a:t>
            </a:r>
            <a:r>
              <a:rPr lang="zh-CN" altLang="en-US" sz="2400" kern="0" dirty="0">
                <a:latin typeface="微软雅黑" panose="020B0503020204020204" pitchFamily="34" charset="-122"/>
                <a:ea typeface="微软雅黑" panose="020B0503020204020204" pitchFamily="34" charset="-122"/>
              </a:rPr>
              <a:t>）调速阀串联：</a:t>
            </a:r>
            <a:endParaRPr lang="en-US" altLang="zh-CN" sz="2400" kern="0" dirty="0">
              <a:latin typeface="微软雅黑" panose="020B0503020204020204" pitchFamily="34" charset="-122"/>
              <a:ea typeface="微软雅黑" panose="020B0503020204020204" pitchFamily="34" charset="-122"/>
            </a:endParaRPr>
          </a:p>
          <a:p>
            <a:pPr marL="342900" indent="-342900" algn="just" eaLnBrk="0" hangingPunct="0">
              <a:lnSpc>
                <a:spcPct val="150000"/>
              </a:lnSpc>
              <a:spcBef>
                <a:spcPts val="0"/>
              </a:spcBef>
              <a:buFont typeface="Arial" panose="020B0604020202020204" pitchFamily="34" charset="0"/>
              <a:buChar char="•"/>
            </a:pPr>
            <a:r>
              <a:rPr lang="zh-CN" altLang="en-US" sz="2400" kern="0" dirty="0">
                <a:latin typeface="微软雅黑" panose="020B0503020204020204" pitchFamily="34" charset="-122"/>
                <a:ea typeface="微软雅黑" panose="020B0503020204020204" pitchFamily="34" charset="-122"/>
              </a:rPr>
              <a:t>调速阀</a:t>
            </a:r>
            <a:r>
              <a:rPr lang="en-US" altLang="zh-CN" sz="2400" kern="0" dirty="0">
                <a:latin typeface="微软雅黑" panose="020B0503020204020204" pitchFamily="34" charset="-122"/>
                <a:ea typeface="微软雅黑" panose="020B0503020204020204" pitchFamily="34" charset="-122"/>
              </a:rPr>
              <a:t>1</a:t>
            </a:r>
            <a:r>
              <a:rPr lang="zh-CN" altLang="en-US" sz="2400" kern="0" dirty="0">
                <a:latin typeface="微软雅黑" panose="020B0503020204020204" pitchFamily="34" charset="-122"/>
                <a:ea typeface="微软雅黑" panose="020B0503020204020204" pitchFamily="34" charset="-122"/>
              </a:rPr>
              <a:t>调速：阀</a:t>
            </a:r>
            <a:r>
              <a:rPr lang="en-US" altLang="zh-CN" sz="2400" kern="0" dirty="0">
                <a:latin typeface="微软雅黑" panose="020B0503020204020204" pitchFamily="34" charset="-122"/>
                <a:ea typeface="微软雅黑" panose="020B0503020204020204" pitchFamily="34" charset="-122"/>
              </a:rPr>
              <a:t>6</a:t>
            </a:r>
            <a:r>
              <a:rPr lang="zh-CN" altLang="en-US" sz="2400" kern="0" dirty="0">
                <a:latin typeface="微软雅黑" panose="020B0503020204020204" pitchFamily="34" charset="-122"/>
                <a:ea typeface="微软雅黑" panose="020B0503020204020204" pitchFamily="34" charset="-122"/>
              </a:rPr>
              <a:t>、</a:t>
            </a:r>
            <a:r>
              <a:rPr lang="en-US" altLang="zh-CN" sz="2400" kern="0" dirty="0">
                <a:latin typeface="微软雅黑" panose="020B0503020204020204" pitchFamily="34" charset="-122"/>
                <a:ea typeface="微软雅黑" panose="020B0503020204020204" pitchFamily="34" charset="-122"/>
              </a:rPr>
              <a:t>5</a:t>
            </a:r>
            <a:r>
              <a:rPr lang="zh-CN" altLang="en-US" sz="2400" kern="0" dirty="0">
                <a:latin typeface="微软雅黑" panose="020B0503020204020204" pitchFamily="34" charset="-122"/>
                <a:ea typeface="微软雅黑" panose="020B0503020204020204" pitchFamily="34" charset="-122"/>
              </a:rPr>
              <a:t>左位</a:t>
            </a:r>
            <a:endParaRPr lang="en-US" altLang="zh-CN" sz="2400" kern="0" dirty="0">
              <a:latin typeface="微软雅黑" panose="020B0503020204020204" pitchFamily="34" charset="-122"/>
              <a:ea typeface="微软雅黑" panose="020B0503020204020204" pitchFamily="34" charset="-122"/>
            </a:endParaRPr>
          </a:p>
          <a:p>
            <a:pPr marL="342900" indent="-342900" algn="just" eaLnBrk="0" hangingPunct="0">
              <a:lnSpc>
                <a:spcPct val="150000"/>
              </a:lnSpc>
              <a:spcBef>
                <a:spcPts val="0"/>
              </a:spcBef>
              <a:buFont typeface="Arial" panose="020B0604020202020204" pitchFamily="34" charset="0"/>
              <a:buChar char="•"/>
            </a:pPr>
            <a:r>
              <a:rPr lang="zh-CN" altLang="en-US" sz="2400" kern="0" dirty="0">
                <a:latin typeface="微软雅黑" panose="020B0503020204020204" pitchFamily="34" charset="-122"/>
                <a:ea typeface="微软雅黑" panose="020B0503020204020204" pitchFamily="34" charset="-122"/>
              </a:rPr>
              <a:t>调速阀</a:t>
            </a:r>
            <a:r>
              <a:rPr lang="en-US" altLang="zh-CN" sz="2400" kern="0" dirty="0">
                <a:latin typeface="微软雅黑" panose="020B0503020204020204" pitchFamily="34" charset="-122"/>
                <a:ea typeface="微软雅黑" panose="020B0503020204020204" pitchFamily="34" charset="-122"/>
              </a:rPr>
              <a:t>2</a:t>
            </a:r>
            <a:r>
              <a:rPr lang="zh-CN" altLang="en-US" sz="2400" kern="0" dirty="0">
                <a:latin typeface="微软雅黑" panose="020B0503020204020204" pitchFamily="34" charset="-122"/>
                <a:ea typeface="微软雅黑" panose="020B0503020204020204" pitchFamily="34" charset="-122"/>
              </a:rPr>
              <a:t>调速：</a:t>
            </a:r>
            <a:r>
              <a:rPr lang="en-US" altLang="zh-CN" sz="2400" kern="0" dirty="0">
                <a:latin typeface="微软雅黑" panose="020B0503020204020204" pitchFamily="34" charset="-122"/>
                <a:ea typeface="微软雅黑" panose="020B0503020204020204" pitchFamily="34" charset="-122"/>
              </a:rPr>
              <a:t>6</a:t>
            </a:r>
            <a:r>
              <a:rPr lang="zh-CN" altLang="en-US" sz="2400" kern="0" dirty="0">
                <a:latin typeface="微软雅黑" panose="020B0503020204020204" pitchFamily="34" charset="-122"/>
                <a:ea typeface="微软雅黑" panose="020B0503020204020204" pitchFamily="34" charset="-122"/>
              </a:rPr>
              <a:t>左位，</a:t>
            </a:r>
            <a:r>
              <a:rPr lang="en-US" altLang="zh-CN" sz="2400" kern="0" dirty="0">
                <a:latin typeface="微软雅黑" panose="020B0503020204020204" pitchFamily="34" charset="-122"/>
                <a:ea typeface="微软雅黑" panose="020B0503020204020204" pitchFamily="34" charset="-122"/>
              </a:rPr>
              <a:t>5</a:t>
            </a:r>
            <a:r>
              <a:rPr lang="zh-CN" altLang="en-US" sz="2400" kern="0" dirty="0">
                <a:latin typeface="微软雅黑" panose="020B0503020204020204" pitchFamily="34" charset="-122"/>
                <a:ea typeface="微软雅黑" panose="020B0503020204020204" pitchFamily="34" charset="-122"/>
              </a:rPr>
              <a:t>右位（</a:t>
            </a:r>
            <a:r>
              <a:rPr lang="en-US" altLang="zh-CN" sz="2400" kern="0" dirty="0">
                <a:latin typeface="微软雅黑" panose="020B0503020204020204" pitchFamily="34" charset="-122"/>
                <a:ea typeface="微软雅黑" panose="020B0503020204020204" pitchFamily="34" charset="-122"/>
              </a:rPr>
              <a:t>2</a:t>
            </a:r>
            <a:r>
              <a:rPr lang="zh-CN" altLang="en-US" sz="2400" kern="0" dirty="0">
                <a:latin typeface="微软雅黑" panose="020B0503020204020204" pitchFamily="34" charset="-122"/>
                <a:ea typeface="微软雅黑" panose="020B0503020204020204" pitchFamily="34" charset="-122"/>
              </a:rPr>
              <a:t>的节流面积小，流量由</a:t>
            </a:r>
            <a:r>
              <a:rPr lang="en-US" altLang="zh-CN" sz="2400" kern="0" dirty="0">
                <a:latin typeface="微软雅黑" panose="020B0503020204020204" pitchFamily="34" charset="-122"/>
                <a:ea typeface="微软雅黑" panose="020B0503020204020204" pitchFamily="34" charset="-122"/>
              </a:rPr>
              <a:t>2</a:t>
            </a:r>
            <a:r>
              <a:rPr lang="zh-CN" altLang="en-US" sz="2400" kern="0" dirty="0">
                <a:latin typeface="微软雅黑" panose="020B0503020204020204" pitchFamily="34" charset="-122"/>
                <a:ea typeface="微软雅黑" panose="020B0503020204020204" pitchFamily="34" charset="-122"/>
              </a:rPr>
              <a:t>决定）</a:t>
            </a:r>
            <a:endParaRPr lang="en-US" altLang="zh-CN" sz="2400" kern="0" dirty="0">
              <a:latin typeface="微软雅黑" panose="020B0503020204020204" pitchFamily="34" charset="-122"/>
              <a:ea typeface="微软雅黑" panose="020B0503020204020204" pitchFamily="34" charset="-122"/>
            </a:endParaRPr>
          </a:p>
        </p:txBody>
      </p:sp>
      <p:sp>
        <p:nvSpPr>
          <p:cNvPr id="20" name="矩形 19">
            <a:extLst>
              <a:ext uri="{FF2B5EF4-FFF2-40B4-BE49-F238E27FC236}">
                <a16:creationId xmlns:a16="http://schemas.microsoft.com/office/drawing/2014/main" id="{DBD4FDD2-9278-4410-BA66-B9F57A8C80BC}"/>
              </a:ext>
            </a:extLst>
          </p:cNvPr>
          <p:cNvSpPr/>
          <p:nvPr/>
        </p:nvSpPr>
        <p:spPr>
          <a:xfrm>
            <a:off x="1012467" y="5515533"/>
            <a:ext cx="4707613" cy="461665"/>
          </a:xfrm>
          <a:prstGeom prst="rect">
            <a:avLst/>
          </a:prstGeom>
          <a:solidFill>
            <a:schemeClr val="bg1"/>
          </a:solidFill>
          <a:ln>
            <a:solidFill>
              <a:schemeClr val="tx1"/>
            </a:solidFill>
          </a:ln>
          <a:effectLst>
            <a:outerShdw blurRad="50800" dist="38100" dir="2700000" algn="tl" rotWithShape="0">
              <a:prstClr val="black">
                <a:alpha val="40000"/>
              </a:prstClr>
            </a:outerShdw>
          </a:effectLst>
        </p:spPr>
        <p:txBody>
          <a:bodyPr wrap="square" anchor="ctr">
            <a:spAutoFit/>
          </a:bodyPr>
          <a:lstStyle/>
          <a:p>
            <a:pPr algn="ctr" eaLnBrk="0" hangingPunct="0">
              <a:spcBef>
                <a:spcPts val="0"/>
              </a:spcBef>
            </a:pPr>
            <a:r>
              <a:rPr lang="zh-CN" altLang="en-US" sz="2400" b="1" kern="0" dirty="0">
                <a:solidFill>
                  <a:srgbClr val="0000FF"/>
                </a:solidFill>
                <a:latin typeface="微软雅黑" panose="020B0503020204020204" pitchFamily="34" charset="-122"/>
                <a:ea typeface="微软雅黑" panose="020B0503020204020204" pitchFamily="34" charset="-122"/>
              </a:rPr>
              <a:t>换接平稳，但阀串联节流损失大</a:t>
            </a:r>
            <a:endParaRPr lang="en-US" altLang="zh-CN" sz="2400" b="1" kern="0" dirty="0">
              <a:solidFill>
                <a:srgbClr val="0000FF"/>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187949312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336AF-A899-EE7C-A011-4D367996624A}"/>
            </a:ext>
          </a:extLst>
        </p:cNvPr>
        <p:cNvGrpSpPr/>
        <p:nvPr/>
      </p:nvGrpSpPr>
      <p:grpSpPr>
        <a:xfrm>
          <a:off x="0" y="0"/>
          <a:ext cx="0" cy="0"/>
          <a:chOff x="0" y="0"/>
          <a:chExt cx="0" cy="0"/>
        </a:xfrm>
      </p:grpSpPr>
      <p:cxnSp>
        <p:nvCxnSpPr>
          <p:cNvPr id="5" name="直接连接符 4">
            <a:extLst>
              <a:ext uri="{FF2B5EF4-FFF2-40B4-BE49-F238E27FC236}">
                <a16:creationId xmlns:a16="http://schemas.microsoft.com/office/drawing/2014/main" id="{1DF5E5FC-E483-4969-49A4-BF9757C6B76E}"/>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pic>
        <p:nvPicPr>
          <p:cNvPr id="8" name="图片 7">
            <a:extLst>
              <a:ext uri="{FF2B5EF4-FFF2-40B4-BE49-F238E27FC236}">
                <a16:creationId xmlns:a16="http://schemas.microsoft.com/office/drawing/2014/main" id="{EFC4FD86-36DF-C4E8-2A67-FE0DEF9B656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sp>
        <p:nvSpPr>
          <p:cNvPr id="9" name="文本框 8">
            <a:extLst>
              <a:ext uri="{FF2B5EF4-FFF2-40B4-BE49-F238E27FC236}">
                <a16:creationId xmlns:a16="http://schemas.microsoft.com/office/drawing/2014/main" id="{8C3AD9A1-D65B-5844-DC65-1488B1A4AE69}"/>
              </a:ext>
            </a:extLst>
          </p:cNvPr>
          <p:cNvSpPr txBox="1"/>
          <p:nvPr/>
        </p:nvSpPr>
        <p:spPr>
          <a:xfrm>
            <a:off x="429656" y="135415"/>
            <a:ext cx="8582416" cy="646331"/>
          </a:xfrm>
          <a:prstGeom prst="rect">
            <a:avLst/>
          </a:prstGeom>
          <a:noFill/>
        </p:spPr>
        <p:txBody>
          <a:bodyPr wrap="square" rtlCol="0">
            <a:spAutoFit/>
          </a:bodyPr>
          <a:lstStyle/>
          <a:p>
            <a:r>
              <a:rPr lang="en-US" altLang="zh-CN" sz="3600" b="1" dirty="0">
                <a:solidFill>
                  <a:srgbClr val="003F88"/>
                </a:solidFill>
                <a:latin typeface="+mn-ea"/>
              </a:rPr>
              <a:t>3 </a:t>
            </a:r>
            <a:r>
              <a:rPr lang="zh-CN" altLang="en-US" sz="3600" b="1" dirty="0">
                <a:solidFill>
                  <a:srgbClr val="003F88"/>
                </a:solidFill>
                <a:latin typeface="+mn-ea"/>
              </a:rPr>
              <a:t>换向回路和锁紧回路</a:t>
            </a:r>
          </a:p>
        </p:txBody>
      </p:sp>
      <p:sp>
        <p:nvSpPr>
          <p:cNvPr id="25" name="矩形 24">
            <a:extLst>
              <a:ext uri="{FF2B5EF4-FFF2-40B4-BE49-F238E27FC236}">
                <a16:creationId xmlns:a16="http://schemas.microsoft.com/office/drawing/2014/main" id="{424E94D4-0D82-323F-BBBF-990A93C94724}"/>
              </a:ext>
            </a:extLst>
          </p:cNvPr>
          <p:cNvSpPr/>
          <p:nvPr/>
        </p:nvSpPr>
        <p:spPr>
          <a:xfrm>
            <a:off x="-17100" y="174526"/>
            <a:ext cx="319314" cy="56810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矩形 25">
            <a:extLst>
              <a:ext uri="{FF2B5EF4-FFF2-40B4-BE49-F238E27FC236}">
                <a16:creationId xmlns:a16="http://schemas.microsoft.com/office/drawing/2014/main" id="{E4FF41F2-EBA3-5F84-27F0-159C0286495D}"/>
              </a:ext>
            </a:extLst>
          </p:cNvPr>
          <p:cNvSpPr/>
          <p:nvPr/>
        </p:nvSpPr>
        <p:spPr>
          <a:xfrm>
            <a:off x="540867" y="1187297"/>
            <a:ext cx="7547154" cy="581762"/>
          </a:xfrm>
          <a:prstGeom prst="rect">
            <a:avLst/>
          </a:prstGeom>
        </p:spPr>
        <p:txBody>
          <a:bodyPr wrap="square">
            <a:spAutoFit/>
          </a:bodyPr>
          <a:lstStyle/>
          <a:p>
            <a:pPr>
              <a:lnSpc>
                <a:spcPct val="125000"/>
              </a:lnSpc>
            </a:pPr>
            <a:r>
              <a:rPr lang="en-US" altLang="zh-CN" sz="2800" b="1" dirty="0">
                <a:solidFill>
                  <a:srgbClr val="003F88"/>
                </a:solidFill>
                <a:latin typeface="+mn-ea"/>
              </a:rPr>
              <a:t>3.1 </a:t>
            </a:r>
            <a:r>
              <a:rPr lang="zh-CN" altLang="en-US" sz="2800" b="1" dirty="0">
                <a:solidFill>
                  <a:srgbClr val="003F88"/>
                </a:solidFill>
                <a:latin typeface="+mn-ea"/>
              </a:rPr>
              <a:t>换向回路</a:t>
            </a:r>
          </a:p>
        </p:txBody>
      </p:sp>
      <p:sp>
        <p:nvSpPr>
          <p:cNvPr id="6" name="文本框 5">
            <a:extLst>
              <a:ext uri="{FF2B5EF4-FFF2-40B4-BE49-F238E27FC236}">
                <a16:creationId xmlns:a16="http://schemas.microsoft.com/office/drawing/2014/main" id="{7FF8BCA4-1178-D30E-EE88-546E974C40F3}"/>
              </a:ext>
            </a:extLst>
          </p:cNvPr>
          <p:cNvSpPr txBox="1"/>
          <p:nvPr/>
        </p:nvSpPr>
        <p:spPr>
          <a:xfrm>
            <a:off x="7739233" y="5245882"/>
            <a:ext cx="4419632" cy="615553"/>
          </a:xfrm>
          <a:prstGeom prst="rect">
            <a:avLst/>
          </a:prstGeom>
          <a:noFill/>
        </p:spPr>
        <p:txBody>
          <a:bodyPr wrap="square">
            <a:spAutoFit/>
          </a:bodyPr>
          <a:lstStyle/>
          <a:p>
            <a:pPr algn="ctr"/>
            <a:r>
              <a:rPr lang="zh-CN" altLang="en-US" sz="2000" kern="0" dirty="0">
                <a:latin typeface="微软雅黑" panose="020B0503020204020204" pitchFamily="34" charset="-122"/>
                <a:ea typeface="微软雅黑" panose="020B0503020204020204" pitchFamily="34" charset="-122"/>
              </a:rPr>
              <a:t>时间控制制动式换向回路</a:t>
            </a:r>
            <a:endParaRPr lang="en-US" altLang="zh-CN" sz="2000" kern="0" dirty="0">
              <a:latin typeface="微软雅黑" panose="020B0503020204020204" pitchFamily="34" charset="-122"/>
              <a:ea typeface="微软雅黑" panose="020B0503020204020204" pitchFamily="34" charset="-122"/>
            </a:endParaRPr>
          </a:p>
          <a:p>
            <a:pPr algn="ctr"/>
            <a:r>
              <a:rPr lang="en-US" altLang="zh-CN" sz="1400" dirty="0">
                <a:solidFill>
                  <a:srgbClr val="000000"/>
                </a:solidFill>
                <a:latin typeface="+mn-ea"/>
                <a:cs typeface="Times New Roman" panose="02020603050405020304" pitchFamily="18" charset="0"/>
              </a:rPr>
              <a:t>1—</a:t>
            </a:r>
            <a:r>
              <a:rPr lang="zh-CN" altLang="zh-CN" sz="1400" dirty="0">
                <a:solidFill>
                  <a:srgbClr val="000000"/>
                </a:solidFill>
                <a:latin typeface="+mn-ea"/>
                <a:cs typeface="Times New Roman" panose="02020603050405020304" pitchFamily="18" charset="0"/>
              </a:rPr>
              <a:t>节流阀　</a:t>
            </a:r>
            <a:r>
              <a:rPr lang="en-US" altLang="zh-CN" sz="1400" dirty="0">
                <a:solidFill>
                  <a:srgbClr val="000000"/>
                </a:solidFill>
                <a:latin typeface="+mn-ea"/>
                <a:cs typeface="Times New Roman" panose="02020603050405020304" pitchFamily="18" charset="0"/>
              </a:rPr>
              <a:t>2—</a:t>
            </a:r>
            <a:r>
              <a:rPr lang="zh-CN" altLang="zh-CN" sz="1400" dirty="0">
                <a:solidFill>
                  <a:srgbClr val="000000"/>
                </a:solidFill>
                <a:latin typeface="+mn-ea"/>
                <a:cs typeface="Times New Roman" panose="02020603050405020304" pitchFamily="18" charset="0"/>
              </a:rPr>
              <a:t>先导阀　</a:t>
            </a:r>
            <a:r>
              <a:rPr lang="en-US" altLang="zh-CN" sz="1400" dirty="0">
                <a:solidFill>
                  <a:srgbClr val="000000"/>
                </a:solidFill>
                <a:latin typeface="+mn-ea"/>
                <a:cs typeface="Times New Roman" panose="02020603050405020304" pitchFamily="18" charset="0"/>
              </a:rPr>
              <a:t>3—</a:t>
            </a:r>
            <a:r>
              <a:rPr lang="zh-CN" altLang="zh-CN" sz="1400" dirty="0">
                <a:solidFill>
                  <a:srgbClr val="000000"/>
                </a:solidFill>
                <a:latin typeface="+mn-ea"/>
                <a:cs typeface="Times New Roman" panose="02020603050405020304" pitchFamily="18" charset="0"/>
              </a:rPr>
              <a:t>换向阀　</a:t>
            </a:r>
            <a:r>
              <a:rPr lang="en-US" altLang="zh-CN" sz="1400" dirty="0">
                <a:solidFill>
                  <a:srgbClr val="000000"/>
                </a:solidFill>
                <a:latin typeface="+mn-ea"/>
                <a:cs typeface="Times New Roman" panose="02020603050405020304" pitchFamily="18" charset="0"/>
              </a:rPr>
              <a:t>4—</a:t>
            </a:r>
            <a:r>
              <a:rPr lang="zh-CN" altLang="zh-CN" sz="1400" dirty="0">
                <a:solidFill>
                  <a:srgbClr val="000000"/>
                </a:solidFill>
                <a:latin typeface="+mn-ea"/>
                <a:cs typeface="Times New Roman" panose="02020603050405020304" pitchFamily="18" charset="0"/>
              </a:rPr>
              <a:t>溢流阀</a:t>
            </a:r>
            <a:endParaRPr lang="zh-CN" altLang="en-US" sz="1400" dirty="0">
              <a:latin typeface="+mn-ea"/>
            </a:endParaRPr>
          </a:p>
        </p:txBody>
      </p:sp>
      <p:sp>
        <p:nvSpPr>
          <p:cNvPr id="19" name="TextBox 18">
            <a:extLst>
              <a:ext uri="{FF2B5EF4-FFF2-40B4-BE49-F238E27FC236}">
                <a16:creationId xmlns:a16="http://schemas.microsoft.com/office/drawing/2014/main" id="{DB20E758-DDD1-6E8E-6B10-FBB5ED3F3C93}"/>
              </a:ext>
            </a:extLst>
          </p:cNvPr>
          <p:cNvSpPr txBox="1"/>
          <p:nvPr/>
        </p:nvSpPr>
        <p:spPr>
          <a:xfrm>
            <a:off x="540867" y="1769059"/>
            <a:ext cx="6672006" cy="961289"/>
          </a:xfrm>
          <a:prstGeom prst="rect">
            <a:avLst/>
          </a:prstGeom>
          <a:noFill/>
        </p:spPr>
        <p:txBody>
          <a:bodyPr wrap="square" rtlCol="0">
            <a:spAutoFit/>
          </a:bodyPr>
          <a:lstStyle/>
          <a:p>
            <a:pPr algn="just">
              <a:lnSpc>
                <a:spcPct val="150000"/>
              </a:lnSpc>
            </a:pPr>
            <a:r>
              <a:rPr lang="zh-CN" altLang="en-US" sz="2000" kern="0" dirty="0">
                <a:latin typeface="微软雅黑" panose="020B0503020204020204" pitchFamily="34" charset="-122"/>
                <a:ea typeface="微软雅黑" panose="020B0503020204020204" pitchFamily="34" charset="-122"/>
              </a:rPr>
              <a:t>功用：使液压缸和运动部件</a:t>
            </a:r>
            <a:r>
              <a:rPr lang="zh-CN" altLang="zh-CN" sz="2000" kern="0" dirty="0">
                <a:latin typeface="微软雅黑" panose="020B0503020204020204" pitchFamily="34" charset="-122"/>
                <a:ea typeface="微软雅黑" panose="020B0503020204020204" pitchFamily="34" charset="-122"/>
              </a:rPr>
              <a:t>迅速、平稳、准确地变换运动方向</a:t>
            </a:r>
            <a:r>
              <a:rPr lang="zh-CN" altLang="en-US" sz="2000" kern="0" dirty="0">
                <a:latin typeface="微软雅黑" panose="020B0503020204020204" pitchFamily="34" charset="-122"/>
                <a:ea typeface="微软雅黑" panose="020B0503020204020204" pitchFamily="34" charset="-122"/>
              </a:rPr>
              <a:t>。</a:t>
            </a:r>
            <a:endParaRPr lang="en-US" altLang="zh-CN" sz="2000" kern="0" dirty="0">
              <a:latin typeface="微软雅黑" panose="020B0503020204020204" pitchFamily="34" charset="-122"/>
              <a:ea typeface="微软雅黑" panose="020B0503020204020204" pitchFamily="34" charset="-122"/>
            </a:endParaRPr>
          </a:p>
        </p:txBody>
      </p:sp>
      <p:pic>
        <p:nvPicPr>
          <p:cNvPr id="12" name="9Z14.EPS" descr="id:2147507450;FounderCES">
            <a:extLst>
              <a:ext uri="{FF2B5EF4-FFF2-40B4-BE49-F238E27FC236}">
                <a16:creationId xmlns:a16="http://schemas.microsoft.com/office/drawing/2014/main" id="{96669E2B-B277-493E-D9AA-463B46EDFBB6}"/>
              </a:ext>
            </a:extLst>
          </p:cNvPr>
          <p:cNvPicPr>
            <a:picLocks noChangeAspect="1"/>
          </p:cNvPicPr>
          <p:nvPr/>
        </p:nvPicPr>
        <p:blipFill>
          <a:blip r:embed="rId3" cstate="print"/>
          <a:stretch>
            <a:fillRect/>
          </a:stretch>
        </p:blipFill>
        <p:spPr>
          <a:xfrm>
            <a:off x="7739233" y="1805700"/>
            <a:ext cx="4452767" cy="3440182"/>
          </a:xfrm>
          <a:prstGeom prst="rect">
            <a:avLst/>
          </a:prstGeom>
        </p:spPr>
      </p:pic>
      <p:sp>
        <p:nvSpPr>
          <p:cNvPr id="13" name="TextBox 12">
            <a:extLst>
              <a:ext uri="{FF2B5EF4-FFF2-40B4-BE49-F238E27FC236}">
                <a16:creationId xmlns:a16="http://schemas.microsoft.com/office/drawing/2014/main" id="{9656214D-ACEF-A36F-1D64-CD350997EE24}"/>
              </a:ext>
            </a:extLst>
          </p:cNvPr>
          <p:cNvSpPr txBox="1"/>
          <p:nvPr/>
        </p:nvSpPr>
        <p:spPr>
          <a:xfrm>
            <a:off x="540867" y="2730348"/>
            <a:ext cx="7024542" cy="3315267"/>
          </a:xfrm>
          <a:prstGeom prst="rect">
            <a:avLst/>
          </a:prstGeom>
          <a:noFill/>
        </p:spPr>
        <p:txBody>
          <a:bodyPr wrap="square" rtlCol="0">
            <a:spAutoFit/>
          </a:bodyPr>
          <a:lstStyle/>
          <a:p>
            <a:pPr algn="just">
              <a:lnSpc>
                <a:spcPct val="150000"/>
              </a:lnSpc>
            </a:pPr>
            <a:r>
              <a:rPr lang="en-US" altLang="zh-CN" sz="2200" b="1" kern="0" dirty="0">
                <a:solidFill>
                  <a:srgbClr val="003F88"/>
                </a:solidFill>
                <a:latin typeface="微软雅黑" panose="020B0503020204020204" pitchFamily="34" charset="-122"/>
                <a:ea typeface="微软雅黑" panose="020B0503020204020204" pitchFamily="34" charset="-122"/>
              </a:rPr>
              <a:t>(1)</a:t>
            </a:r>
            <a:r>
              <a:rPr lang="zh-CN" altLang="en-US" sz="2200" b="1" kern="0" dirty="0">
                <a:solidFill>
                  <a:srgbClr val="003F88"/>
                </a:solidFill>
                <a:latin typeface="微软雅黑" panose="020B0503020204020204" pitchFamily="34" charset="-122"/>
                <a:ea typeface="微软雅黑" panose="020B0503020204020204" pitchFamily="34" charset="-122"/>
              </a:rPr>
              <a:t>往复直线运动换向回路</a:t>
            </a:r>
            <a:r>
              <a:rPr lang="en-US" altLang="zh-CN" sz="2000" b="1" kern="0" dirty="0">
                <a:solidFill>
                  <a:srgbClr val="003F88"/>
                </a:solidFill>
                <a:latin typeface="微软雅黑" panose="020B0503020204020204" pitchFamily="34" charset="-122"/>
                <a:ea typeface="微软雅黑" panose="020B0503020204020204" pitchFamily="34" charset="-122"/>
              </a:rPr>
              <a:t>——</a:t>
            </a:r>
            <a:r>
              <a:rPr lang="zh-CN" altLang="en-US" sz="2000" b="1" kern="0" dirty="0">
                <a:solidFill>
                  <a:srgbClr val="003F88"/>
                </a:solidFill>
                <a:latin typeface="微软雅黑" panose="020B0503020204020204" pitchFamily="34" charset="-122"/>
                <a:ea typeface="微软雅黑" panose="020B0503020204020204" pitchFamily="34" charset="-122"/>
              </a:rPr>
              <a:t>时间控制制动式换向回路</a:t>
            </a:r>
            <a:endParaRPr lang="en-US" altLang="zh-CN" sz="2000" b="1" kern="0" dirty="0">
              <a:solidFill>
                <a:srgbClr val="003F88"/>
              </a:solidFill>
              <a:latin typeface="微软雅黑" panose="020B0503020204020204" pitchFamily="34" charset="-122"/>
              <a:ea typeface="微软雅黑" panose="020B0503020204020204" pitchFamily="34" charset="-122"/>
            </a:endParaRPr>
          </a:p>
          <a:p>
            <a:pPr marL="342900" indent="-342900" algn="just">
              <a:lnSpc>
                <a:spcPct val="150000"/>
              </a:lnSpc>
              <a:buFont typeface="Wingdings" panose="05000000000000000000" pitchFamily="2" charset="2"/>
              <a:buChar char="Ø"/>
            </a:pPr>
            <a:r>
              <a:rPr lang="zh-CN" altLang="en-US" sz="2000" kern="0" dirty="0">
                <a:latin typeface="微软雅黑" panose="020B0503020204020204" pitchFamily="34" charset="-122"/>
                <a:ea typeface="微软雅黑" panose="020B0503020204020204" pitchFamily="34" charset="-122"/>
              </a:rPr>
              <a:t>挡块到达右侧，先导阀</a:t>
            </a:r>
            <a:r>
              <a:rPr lang="en-US" altLang="zh-CN" sz="2000" kern="0" dirty="0">
                <a:latin typeface="微软雅黑" panose="020B0503020204020204" pitchFamily="34" charset="-122"/>
                <a:ea typeface="微软雅黑" panose="020B0503020204020204" pitchFamily="34" charset="-122"/>
              </a:rPr>
              <a:t>2</a:t>
            </a:r>
            <a:r>
              <a:rPr lang="zh-CN" altLang="en-US" sz="2000" kern="0" dirty="0">
                <a:latin typeface="微软雅黑" panose="020B0503020204020204" pitchFamily="34" charset="-122"/>
                <a:ea typeface="微软雅黑" panose="020B0503020204020204" pitchFamily="34" charset="-122"/>
              </a:rPr>
              <a:t>在左端位置，压力油经过单向阀</a:t>
            </a:r>
            <a:r>
              <a:rPr lang="en-US" altLang="zh-CN" sz="2000" kern="0" dirty="0">
                <a:latin typeface="微软雅黑" panose="020B0503020204020204" pitchFamily="34" charset="-122"/>
                <a:ea typeface="微软雅黑" panose="020B0503020204020204" pitchFamily="34" charset="-122"/>
              </a:rPr>
              <a:t>I</a:t>
            </a:r>
            <a:r>
              <a:rPr lang="en-US" altLang="zh-CN" sz="1400" kern="0" dirty="0">
                <a:latin typeface="微软雅黑" panose="020B0503020204020204" pitchFamily="34" charset="-122"/>
                <a:ea typeface="微软雅黑" panose="020B0503020204020204" pitchFamily="34" charset="-122"/>
              </a:rPr>
              <a:t>2</a:t>
            </a:r>
            <a:r>
              <a:rPr lang="zh-CN" altLang="en-US" sz="2000" kern="0" dirty="0">
                <a:latin typeface="微软雅黑" panose="020B0503020204020204" pitchFamily="34" charset="-122"/>
                <a:ea typeface="微软雅黑" panose="020B0503020204020204" pitchFamily="34" charset="-122"/>
              </a:rPr>
              <a:t>进入换向阀</a:t>
            </a:r>
            <a:r>
              <a:rPr lang="en-US" altLang="zh-CN" sz="2000" kern="0" dirty="0">
                <a:latin typeface="微软雅黑" panose="020B0503020204020204" pitchFamily="34" charset="-122"/>
                <a:ea typeface="微软雅黑" panose="020B0503020204020204" pitchFamily="34" charset="-122"/>
              </a:rPr>
              <a:t>3</a:t>
            </a:r>
            <a:r>
              <a:rPr lang="zh-CN" altLang="en-US" sz="2000" kern="0" dirty="0">
                <a:latin typeface="微软雅黑" panose="020B0503020204020204" pitchFamily="34" charset="-122"/>
                <a:ea typeface="微软雅黑" panose="020B0503020204020204" pitchFamily="34" charset="-122"/>
              </a:rPr>
              <a:t>右端，</a:t>
            </a:r>
            <a:r>
              <a:rPr lang="zh-CN" altLang="en-US" sz="2000" b="1" kern="0" dirty="0">
                <a:solidFill>
                  <a:srgbClr val="0000FF"/>
                </a:solidFill>
                <a:latin typeface="微软雅黑" panose="020B0503020204020204" pitchFamily="34" charset="-122"/>
                <a:ea typeface="微软雅黑" panose="020B0503020204020204" pitchFamily="34" charset="-122"/>
              </a:rPr>
              <a:t>阀芯锥面</a:t>
            </a:r>
            <a:r>
              <a:rPr lang="zh-CN" altLang="en-US" sz="2000" kern="0" dirty="0">
                <a:latin typeface="微软雅黑" panose="020B0503020204020204" pitchFamily="34" charset="-122"/>
                <a:ea typeface="微软雅黑" panose="020B0503020204020204" pitchFamily="34" charset="-122"/>
              </a:rPr>
              <a:t>逐渐关小回油通道，活塞速度逐渐减慢。</a:t>
            </a:r>
          </a:p>
          <a:p>
            <a:pPr marL="342900" indent="-342900" algn="just">
              <a:lnSpc>
                <a:spcPct val="150000"/>
              </a:lnSpc>
              <a:buFont typeface="Wingdings" panose="05000000000000000000" pitchFamily="2" charset="2"/>
              <a:buChar char="Ø"/>
            </a:pPr>
            <a:r>
              <a:rPr lang="zh-CN" altLang="en-US" sz="2000" kern="0" dirty="0">
                <a:latin typeface="微软雅黑" panose="020B0503020204020204" pitchFamily="34" charset="-122"/>
                <a:ea typeface="微软雅黑" panose="020B0503020204020204" pitchFamily="34" charset="-122"/>
              </a:rPr>
              <a:t>换向阀</a:t>
            </a:r>
            <a:r>
              <a:rPr lang="en-US" altLang="zh-CN" sz="2000" kern="0" dirty="0">
                <a:latin typeface="微软雅黑" panose="020B0503020204020204" pitchFamily="34" charset="-122"/>
                <a:ea typeface="微软雅黑" panose="020B0503020204020204" pitchFamily="34" charset="-122"/>
              </a:rPr>
              <a:t>3</a:t>
            </a:r>
            <a:r>
              <a:rPr lang="zh-CN" altLang="en-US" sz="2000" kern="0" dirty="0">
                <a:latin typeface="微软雅黑" panose="020B0503020204020204" pitchFamily="34" charset="-122"/>
                <a:ea typeface="微软雅黑" panose="020B0503020204020204" pitchFamily="34" charset="-122"/>
              </a:rPr>
              <a:t>的阀芯移动 𝑙 后，将通道完全闭死，活塞完全停止。</a:t>
            </a:r>
            <a:endParaRPr lang="en-US" altLang="zh-CN" sz="2000" kern="0" dirty="0">
              <a:latin typeface="微软雅黑" panose="020B0503020204020204" pitchFamily="34" charset="-122"/>
              <a:ea typeface="微软雅黑" panose="020B0503020204020204" pitchFamily="34" charset="-122"/>
            </a:endParaRPr>
          </a:p>
          <a:p>
            <a:pPr marL="342900" indent="-342900" algn="just">
              <a:lnSpc>
                <a:spcPct val="150000"/>
              </a:lnSpc>
              <a:buFont typeface="Wingdings" panose="05000000000000000000" pitchFamily="2" charset="2"/>
              <a:buChar char="Ø"/>
            </a:pPr>
            <a:r>
              <a:rPr lang="zh-CN" altLang="en-US" sz="2000" kern="0" dirty="0">
                <a:latin typeface="微软雅黑" panose="020B0503020204020204" pitchFamily="34" charset="-122"/>
                <a:ea typeface="微软雅黑" panose="020B0503020204020204" pitchFamily="34" charset="-122"/>
              </a:rPr>
              <a:t>时间由节流阀</a:t>
            </a:r>
            <a:r>
              <a:rPr lang="en-US" altLang="zh-CN" sz="2000" kern="0" dirty="0">
                <a:latin typeface="微软雅黑" panose="020B0503020204020204" pitchFamily="34" charset="-122"/>
                <a:ea typeface="微软雅黑" panose="020B0503020204020204" pitchFamily="34" charset="-122"/>
              </a:rPr>
              <a:t>J</a:t>
            </a:r>
            <a:r>
              <a:rPr lang="en-US" altLang="zh-CN" sz="1400" kern="0" dirty="0">
                <a:latin typeface="微软雅黑" panose="020B0503020204020204" pitchFamily="34" charset="-122"/>
                <a:ea typeface="微软雅黑" panose="020B0503020204020204" pitchFamily="34" charset="-122"/>
              </a:rPr>
              <a:t>1</a:t>
            </a:r>
            <a:r>
              <a:rPr lang="zh-CN" altLang="en-US" sz="2000" kern="0" dirty="0">
                <a:latin typeface="微软雅黑" panose="020B0503020204020204" pitchFamily="34" charset="-122"/>
                <a:ea typeface="微软雅黑" panose="020B0503020204020204" pitchFamily="34" charset="-122"/>
              </a:rPr>
              <a:t>和</a:t>
            </a:r>
            <a:r>
              <a:rPr lang="en-US" altLang="zh-CN" sz="2000" kern="0" dirty="0" err="1">
                <a:latin typeface="微软雅黑" panose="020B0503020204020204" pitchFamily="34" charset="-122"/>
                <a:ea typeface="微软雅黑" panose="020B0503020204020204" pitchFamily="34" charset="-122"/>
              </a:rPr>
              <a:t>J</a:t>
            </a:r>
            <a:r>
              <a:rPr lang="en-US" altLang="zh-CN" sz="1400" kern="0" dirty="0" err="1">
                <a:latin typeface="微软雅黑" panose="020B0503020204020204" pitchFamily="34" charset="-122"/>
                <a:ea typeface="微软雅黑" panose="020B0503020204020204" pitchFamily="34" charset="-122"/>
              </a:rPr>
              <a:t>2</a:t>
            </a:r>
            <a:r>
              <a:rPr lang="zh-CN" altLang="en-US" sz="2000" kern="0" dirty="0">
                <a:latin typeface="微软雅黑" panose="020B0503020204020204" pitchFamily="34" charset="-122"/>
                <a:ea typeface="微软雅黑" panose="020B0503020204020204" pitchFamily="34" charset="-122"/>
              </a:rPr>
              <a:t>开口大小调定，调定之后，换向阀阀芯移过距离 𝑙 所需的时间就确定不变。</a:t>
            </a:r>
            <a:endParaRPr lang="en-US" altLang="zh-CN" sz="2000" kern="0" dirty="0">
              <a:latin typeface="微软雅黑" panose="020B0503020204020204" pitchFamily="34" charset="-122"/>
              <a:ea typeface="微软雅黑" panose="020B0503020204020204" pitchFamily="34" charset="-122"/>
            </a:endParaRPr>
          </a:p>
        </p:txBody>
      </p:sp>
      <p:sp>
        <p:nvSpPr>
          <p:cNvPr id="14" name="TextBox 13">
            <a:extLst>
              <a:ext uri="{FF2B5EF4-FFF2-40B4-BE49-F238E27FC236}">
                <a16:creationId xmlns:a16="http://schemas.microsoft.com/office/drawing/2014/main" id="{D2D17C33-7A6C-8D55-3193-17715B7DFE43}"/>
              </a:ext>
            </a:extLst>
          </p:cNvPr>
          <p:cNvSpPr txBox="1"/>
          <p:nvPr/>
        </p:nvSpPr>
        <p:spPr>
          <a:xfrm>
            <a:off x="540867" y="6118403"/>
            <a:ext cx="10777676" cy="458908"/>
          </a:xfrm>
          <a:prstGeom prst="rect">
            <a:avLst/>
          </a:prstGeom>
          <a:noFill/>
        </p:spPr>
        <p:txBody>
          <a:bodyPr wrap="square" rtlCol="0">
            <a:spAutoFit/>
          </a:bodyPr>
          <a:lstStyle/>
          <a:p>
            <a:pPr algn="just">
              <a:lnSpc>
                <a:spcPct val="150000"/>
              </a:lnSpc>
            </a:pPr>
            <a:r>
              <a:rPr lang="zh-CN" altLang="en-US" kern="0" dirty="0">
                <a:solidFill>
                  <a:srgbClr val="003F88"/>
                </a:solidFill>
                <a:latin typeface="微软雅黑" panose="020B0503020204020204" pitchFamily="34" charset="-122"/>
                <a:ea typeface="微软雅黑" panose="020B0503020204020204" pitchFamily="34" charset="-122"/>
              </a:rPr>
              <a:t>这种换向回路主要用于工作部件运动速度较高但换向精度要求不高的场合，例如，平面磨床的液压系统中。</a:t>
            </a:r>
            <a:endParaRPr lang="en-US" altLang="zh-CN" kern="0" dirty="0">
              <a:solidFill>
                <a:srgbClr val="003F88"/>
              </a:solidFill>
              <a:latin typeface="微软雅黑" panose="020B0503020204020204" pitchFamily="34" charset="-122"/>
              <a:ea typeface="微软雅黑" panose="020B0503020204020204" pitchFamily="34" charset="-122"/>
            </a:endParaRPr>
          </a:p>
        </p:txBody>
      </p:sp>
      <p:sp>
        <p:nvSpPr>
          <p:cNvPr id="2" name="矩形 1">
            <a:extLst>
              <a:ext uri="{FF2B5EF4-FFF2-40B4-BE49-F238E27FC236}">
                <a16:creationId xmlns:a16="http://schemas.microsoft.com/office/drawing/2014/main" id="{C42A7D57-ABBF-4273-ACC3-629021C88CB0}"/>
              </a:ext>
            </a:extLst>
          </p:cNvPr>
          <p:cNvSpPr/>
          <p:nvPr/>
        </p:nvSpPr>
        <p:spPr>
          <a:xfrm>
            <a:off x="9519920" y="3708400"/>
            <a:ext cx="152400" cy="28448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矩形 14">
            <a:extLst>
              <a:ext uri="{FF2B5EF4-FFF2-40B4-BE49-F238E27FC236}">
                <a16:creationId xmlns:a16="http://schemas.microsoft.com/office/drawing/2014/main" id="{492D6F2E-1109-4C2B-BEA3-FB3EBCCC847C}"/>
              </a:ext>
            </a:extLst>
          </p:cNvPr>
          <p:cNvSpPr/>
          <p:nvPr/>
        </p:nvSpPr>
        <p:spPr>
          <a:xfrm>
            <a:off x="9509760" y="2757016"/>
            <a:ext cx="152400" cy="28448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直接连接符 3">
            <a:extLst>
              <a:ext uri="{FF2B5EF4-FFF2-40B4-BE49-F238E27FC236}">
                <a16:creationId xmlns:a16="http://schemas.microsoft.com/office/drawing/2014/main" id="{28FB8776-C30F-4968-94CA-5A8FDA3603B3}"/>
              </a:ext>
            </a:extLst>
          </p:cNvPr>
          <p:cNvCxnSpPr>
            <a:cxnSpLocks/>
          </p:cNvCxnSpPr>
          <p:nvPr/>
        </p:nvCxnSpPr>
        <p:spPr>
          <a:xfrm>
            <a:off x="9113520" y="3149600"/>
            <a:ext cx="0" cy="108000"/>
          </a:xfrm>
          <a:prstGeom prst="line">
            <a:avLst/>
          </a:prstGeom>
          <a:ln w="28575">
            <a:solidFill>
              <a:srgbClr val="0000F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5732184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right)">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2" fill="hold" grpId="0"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wipe(right)">
                                      <p:cBhvr>
                                        <p:cTn id="12" dur="500"/>
                                        <p:tgtEl>
                                          <p:spTgt spid="15"/>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wipe(down)">
                                      <p:cBhvr>
                                        <p:cTn id="1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15"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7161F7-8983-2923-D141-73D80179B5BB}"/>
            </a:ext>
          </a:extLst>
        </p:cNvPr>
        <p:cNvGrpSpPr/>
        <p:nvPr/>
      </p:nvGrpSpPr>
      <p:grpSpPr>
        <a:xfrm>
          <a:off x="0" y="0"/>
          <a:ext cx="0" cy="0"/>
          <a:chOff x="0" y="0"/>
          <a:chExt cx="0" cy="0"/>
        </a:xfrm>
      </p:grpSpPr>
      <p:cxnSp>
        <p:nvCxnSpPr>
          <p:cNvPr id="5" name="直接连接符 4">
            <a:extLst>
              <a:ext uri="{FF2B5EF4-FFF2-40B4-BE49-F238E27FC236}">
                <a16:creationId xmlns:a16="http://schemas.microsoft.com/office/drawing/2014/main" id="{D1CD1820-372B-F168-8796-78B87D33B2FB}"/>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pic>
        <p:nvPicPr>
          <p:cNvPr id="8" name="图片 7">
            <a:extLst>
              <a:ext uri="{FF2B5EF4-FFF2-40B4-BE49-F238E27FC236}">
                <a16:creationId xmlns:a16="http://schemas.microsoft.com/office/drawing/2014/main" id="{F6CC55C0-FA58-3527-C72F-21D5A4F22FD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sp>
        <p:nvSpPr>
          <p:cNvPr id="9" name="文本框 8">
            <a:extLst>
              <a:ext uri="{FF2B5EF4-FFF2-40B4-BE49-F238E27FC236}">
                <a16:creationId xmlns:a16="http://schemas.microsoft.com/office/drawing/2014/main" id="{1C6D55E3-2267-A3DB-9DE3-60C04A334AD7}"/>
              </a:ext>
            </a:extLst>
          </p:cNvPr>
          <p:cNvSpPr txBox="1"/>
          <p:nvPr/>
        </p:nvSpPr>
        <p:spPr>
          <a:xfrm>
            <a:off x="429656" y="135415"/>
            <a:ext cx="8582416" cy="646331"/>
          </a:xfrm>
          <a:prstGeom prst="rect">
            <a:avLst/>
          </a:prstGeom>
          <a:noFill/>
        </p:spPr>
        <p:txBody>
          <a:bodyPr wrap="square" rtlCol="0">
            <a:spAutoFit/>
          </a:bodyPr>
          <a:lstStyle/>
          <a:p>
            <a:r>
              <a:rPr lang="en-US" altLang="zh-CN" sz="3600" b="1" dirty="0">
                <a:solidFill>
                  <a:srgbClr val="003F88"/>
                </a:solidFill>
                <a:latin typeface="+mn-ea"/>
              </a:rPr>
              <a:t>3 </a:t>
            </a:r>
            <a:r>
              <a:rPr lang="zh-CN" altLang="en-US" sz="3600" b="1" dirty="0">
                <a:solidFill>
                  <a:srgbClr val="003F88"/>
                </a:solidFill>
                <a:latin typeface="+mn-ea"/>
              </a:rPr>
              <a:t>换向回路和锁紧回路</a:t>
            </a:r>
          </a:p>
        </p:txBody>
      </p:sp>
      <p:sp>
        <p:nvSpPr>
          <p:cNvPr id="25" name="矩形 24">
            <a:extLst>
              <a:ext uri="{FF2B5EF4-FFF2-40B4-BE49-F238E27FC236}">
                <a16:creationId xmlns:a16="http://schemas.microsoft.com/office/drawing/2014/main" id="{8953E534-F835-45C5-7A71-0264DF7A47AA}"/>
              </a:ext>
            </a:extLst>
          </p:cNvPr>
          <p:cNvSpPr/>
          <p:nvPr/>
        </p:nvSpPr>
        <p:spPr>
          <a:xfrm>
            <a:off x="-17100" y="174526"/>
            <a:ext cx="319314" cy="56810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文本框 5">
            <a:extLst>
              <a:ext uri="{FF2B5EF4-FFF2-40B4-BE49-F238E27FC236}">
                <a16:creationId xmlns:a16="http://schemas.microsoft.com/office/drawing/2014/main" id="{55388A58-E3AD-06E3-8249-16EAF29FBB22}"/>
              </a:ext>
            </a:extLst>
          </p:cNvPr>
          <p:cNvSpPr txBox="1"/>
          <p:nvPr/>
        </p:nvSpPr>
        <p:spPr>
          <a:xfrm>
            <a:off x="7739233" y="5245882"/>
            <a:ext cx="4419632" cy="400110"/>
          </a:xfrm>
          <a:prstGeom prst="rect">
            <a:avLst/>
          </a:prstGeom>
          <a:noFill/>
        </p:spPr>
        <p:txBody>
          <a:bodyPr wrap="square">
            <a:spAutoFit/>
          </a:bodyPr>
          <a:lstStyle/>
          <a:p>
            <a:pPr algn="ctr"/>
            <a:r>
              <a:rPr lang="zh-CN" altLang="en-US" sz="2000" kern="0" dirty="0">
                <a:latin typeface="微软雅黑" panose="020B0503020204020204" pitchFamily="34" charset="-122"/>
                <a:ea typeface="微软雅黑" panose="020B0503020204020204" pitchFamily="34" charset="-122"/>
              </a:rPr>
              <a:t>行程控制制动式换向回路</a:t>
            </a:r>
            <a:endParaRPr lang="en-US" altLang="zh-CN" sz="2000" kern="0" dirty="0">
              <a:latin typeface="微软雅黑" panose="020B0503020204020204" pitchFamily="34" charset="-122"/>
              <a:ea typeface="微软雅黑" panose="020B0503020204020204" pitchFamily="34" charset="-122"/>
            </a:endParaRPr>
          </a:p>
        </p:txBody>
      </p:sp>
      <p:sp>
        <p:nvSpPr>
          <p:cNvPr id="13" name="TextBox 12">
            <a:extLst>
              <a:ext uri="{FF2B5EF4-FFF2-40B4-BE49-F238E27FC236}">
                <a16:creationId xmlns:a16="http://schemas.microsoft.com/office/drawing/2014/main" id="{653C129D-302B-CE67-825D-05EE67EB73B1}"/>
              </a:ext>
            </a:extLst>
          </p:cNvPr>
          <p:cNvSpPr txBox="1"/>
          <p:nvPr/>
        </p:nvSpPr>
        <p:spPr>
          <a:xfrm>
            <a:off x="540867" y="1006773"/>
            <a:ext cx="7024542" cy="4239109"/>
          </a:xfrm>
          <a:prstGeom prst="rect">
            <a:avLst/>
          </a:prstGeom>
          <a:noFill/>
        </p:spPr>
        <p:txBody>
          <a:bodyPr wrap="square" rtlCol="0">
            <a:spAutoFit/>
          </a:bodyPr>
          <a:lstStyle/>
          <a:p>
            <a:pPr algn="just">
              <a:lnSpc>
                <a:spcPct val="150000"/>
              </a:lnSpc>
            </a:pPr>
            <a:r>
              <a:rPr lang="en-US" altLang="zh-CN" sz="2200" b="1" kern="0" dirty="0">
                <a:solidFill>
                  <a:srgbClr val="003F88"/>
                </a:solidFill>
                <a:latin typeface="微软雅黑" panose="020B0503020204020204" pitchFamily="34" charset="-122"/>
                <a:ea typeface="微软雅黑" panose="020B0503020204020204" pitchFamily="34" charset="-122"/>
              </a:rPr>
              <a:t>(2)</a:t>
            </a:r>
            <a:r>
              <a:rPr lang="zh-CN" altLang="en-US" sz="2200" b="1" kern="0" dirty="0">
                <a:solidFill>
                  <a:srgbClr val="003F88"/>
                </a:solidFill>
                <a:latin typeface="微软雅黑" panose="020B0503020204020204" pitchFamily="34" charset="-122"/>
                <a:ea typeface="微软雅黑" panose="020B0503020204020204" pitchFamily="34" charset="-122"/>
              </a:rPr>
              <a:t>往复直线运动换向回路</a:t>
            </a:r>
            <a:r>
              <a:rPr lang="en-US" altLang="zh-CN" sz="2000" b="1" kern="0" dirty="0">
                <a:solidFill>
                  <a:srgbClr val="003F88"/>
                </a:solidFill>
                <a:latin typeface="微软雅黑" panose="020B0503020204020204" pitchFamily="34" charset="-122"/>
                <a:ea typeface="微软雅黑" panose="020B0503020204020204" pitchFamily="34" charset="-122"/>
              </a:rPr>
              <a:t>——</a:t>
            </a:r>
            <a:r>
              <a:rPr lang="zh-CN" altLang="en-US" sz="2000" b="1" kern="0" dirty="0">
                <a:solidFill>
                  <a:srgbClr val="003F88"/>
                </a:solidFill>
                <a:latin typeface="微软雅黑" panose="020B0503020204020204" pitchFamily="34" charset="-122"/>
                <a:ea typeface="微软雅黑" panose="020B0503020204020204" pitchFamily="34" charset="-122"/>
              </a:rPr>
              <a:t>行程控制制动式换向回路</a:t>
            </a:r>
            <a:endParaRPr lang="en-US" altLang="zh-CN" sz="2000" b="1" kern="0" dirty="0">
              <a:solidFill>
                <a:srgbClr val="003F88"/>
              </a:solidFill>
              <a:latin typeface="微软雅黑" panose="020B0503020204020204" pitchFamily="34" charset="-122"/>
              <a:ea typeface="微软雅黑" panose="020B0503020204020204" pitchFamily="34" charset="-122"/>
            </a:endParaRPr>
          </a:p>
          <a:p>
            <a:pPr marL="342900" indent="-342900" algn="just">
              <a:lnSpc>
                <a:spcPct val="150000"/>
              </a:lnSpc>
              <a:buFont typeface="Wingdings" panose="05000000000000000000" pitchFamily="2" charset="2"/>
              <a:buChar char="Ø"/>
            </a:pPr>
            <a:r>
              <a:rPr lang="zh-CN" altLang="en-US" sz="2000" dirty="0"/>
              <a:t>先导阀</a:t>
            </a:r>
            <a:r>
              <a:rPr lang="en-US" altLang="zh-CN" sz="2000" dirty="0"/>
              <a:t>2</a:t>
            </a:r>
            <a:r>
              <a:rPr lang="zh-CN" altLang="en-US" sz="2000" dirty="0"/>
              <a:t>在换向过程中向左移动，逐渐关闭液压缸右腔的回油通道。</a:t>
            </a:r>
            <a:endParaRPr lang="en-US" altLang="zh-CN" sz="2000" dirty="0"/>
          </a:p>
          <a:p>
            <a:pPr marL="342900" indent="-342900" algn="just">
              <a:lnSpc>
                <a:spcPct val="150000"/>
              </a:lnSpc>
              <a:buFont typeface="Wingdings" panose="05000000000000000000" pitchFamily="2" charset="2"/>
              <a:buChar char="Ø"/>
            </a:pPr>
            <a:r>
              <a:rPr lang="zh-CN" altLang="en-US" sz="2000" dirty="0"/>
              <a:t>回油通道逐渐变小，活塞速度逐渐减慢，实现</a:t>
            </a:r>
            <a:r>
              <a:rPr lang="zh-CN" altLang="en-US" sz="2000" b="1" dirty="0">
                <a:solidFill>
                  <a:srgbClr val="0000FF"/>
                </a:solidFill>
              </a:rPr>
              <a:t>预制动</a:t>
            </a:r>
            <a:r>
              <a:rPr lang="zh-CN" altLang="en-US" sz="2000" dirty="0"/>
              <a:t>。</a:t>
            </a:r>
            <a:endParaRPr lang="en-US" altLang="zh-CN" sz="2000" dirty="0"/>
          </a:p>
          <a:p>
            <a:pPr marL="342900" indent="-342900" algn="just">
              <a:lnSpc>
                <a:spcPct val="150000"/>
              </a:lnSpc>
              <a:buFont typeface="Wingdings" panose="05000000000000000000" pitchFamily="2" charset="2"/>
              <a:buChar char="Ø"/>
            </a:pPr>
            <a:r>
              <a:rPr lang="zh-CN" altLang="en-US" sz="2000" dirty="0"/>
              <a:t>当活塞速度变得很慢时，换向阀</a:t>
            </a:r>
            <a:r>
              <a:rPr lang="en-US" altLang="zh-CN" sz="2000" dirty="0"/>
              <a:t>3</a:t>
            </a:r>
            <a:r>
              <a:rPr lang="zh-CN" altLang="en-US" sz="2000" dirty="0"/>
              <a:t>的控制油路开始切换，阀心向左移动，切断主油路通道，停止活塞运动。</a:t>
            </a:r>
            <a:endParaRPr lang="en-US" altLang="zh-CN" sz="2000" dirty="0"/>
          </a:p>
          <a:p>
            <a:pPr marL="342900" indent="-342900" algn="just">
              <a:lnSpc>
                <a:spcPct val="150000"/>
              </a:lnSpc>
              <a:buFont typeface="Wingdings" panose="05000000000000000000" pitchFamily="2" charset="2"/>
              <a:buChar char="Ø"/>
            </a:pPr>
            <a:r>
              <a:rPr lang="zh-CN" altLang="en-US" sz="2000" dirty="0"/>
              <a:t>活塞停止后立即在相反方向起动。</a:t>
            </a:r>
            <a:endParaRPr lang="en-US" altLang="zh-CN" sz="2000" dirty="0"/>
          </a:p>
          <a:p>
            <a:pPr marL="342900" indent="-342900" algn="just">
              <a:lnSpc>
                <a:spcPct val="150000"/>
              </a:lnSpc>
              <a:buFont typeface="Wingdings" panose="05000000000000000000" pitchFamily="2" charset="2"/>
              <a:buChar char="Ø"/>
            </a:pPr>
            <a:r>
              <a:rPr lang="zh-CN" altLang="en-US" sz="2000" dirty="0"/>
              <a:t>先导阀在每次换向时，</a:t>
            </a:r>
            <a:r>
              <a:rPr lang="zh-CN" altLang="en-US" sz="2000" b="1" dirty="0">
                <a:solidFill>
                  <a:srgbClr val="0000FF"/>
                </a:solidFill>
              </a:rPr>
              <a:t>先移动固定行程</a:t>
            </a:r>
            <a:r>
              <a:rPr lang="en-US" altLang="zh-CN" sz="2000" b="1" dirty="0">
                <a:solidFill>
                  <a:srgbClr val="0000FF"/>
                </a:solidFill>
              </a:rPr>
              <a:t>l</a:t>
            </a:r>
            <a:r>
              <a:rPr lang="zh-CN" altLang="en-US" sz="2000" b="1" dirty="0">
                <a:solidFill>
                  <a:srgbClr val="0000FF"/>
                </a:solidFill>
              </a:rPr>
              <a:t>进行预制动，随后换向阀切换方向</a:t>
            </a:r>
            <a:r>
              <a:rPr lang="zh-CN" altLang="en-US" sz="2000" dirty="0"/>
              <a:t>。</a:t>
            </a:r>
            <a:endParaRPr lang="zh-CN" altLang="en-US" sz="2000" kern="0" dirty="0">
              <a:latin typeface="微软雅黑" panose="020B0503020204020204" pitchFamily="34" charset="-122"/>
              <a:ea typeface="微软雅黑" panose="020B0503020204020204" pitchFamily="34" charset="-122"/>
            </a:endParaRPr>
          </a:p>
        </p:txBody>
      </p:sp>
      <p:sp>
        <p:nvSpPr>
          <p:cNvPr id="14" name="TextBox 13">
            <a:extLst>
              <a:ext uri="{FF2B5EF4-FFF2-40B4-BE49-F238E27FC236}">
                <a16:creationId xmlns:a16="http://schemas.microsoft.com/office/drawing/2014/main" id="{3A878FA9-954D-0199-8F35-43DE927F8B84}"/>
              </a:ext>
            </a:extLst>
          </p:cNvPr>
          <p:cNvSpPr txBox="1"/>
          <p:nvPr/>
        </p:nvSpPr>
        <p:spPr>
          <a:xfrm>
            <a:off x="540867" y="5222699"/>
            <a:ext cx="7024542" cy="874407"/>
          </a:xfrm>
          <a:prstGeom prst="rect">
            <a:avLst/>
          </a:prstGeom>
          <a:noFill/>
        </p:spPr>
        <p:txBody>
          <a:bodyPr wrap="square" rtlCol="0">
            <a:spAutoFit/>
          </a:bodyPr>
          <a:lstStyle/>
          <a:p>
            <a:pPr algn="just">
              <a:lnSpc>
                <a:spcPct val="150000"/>
              </a:lnSpc>
            </a:pPr>
            <a:r>
              <a:rPr lang="zh-CN" altLang="en-US" kern="0" dirty="0">
                <a:latin typeface="微软雅黑" panose="020B0503020204020204" pitchFamily="34" charset="-122"/>
                <a:ea typeface="微软雅黑" panose="020B0503020204020204" pitchFamily="34" charset="-122"/>
              </a:rPr>
              <a:t>这种回路的结构和工作情况与时间控制制动式的主要差别在于这里的主油路除了受换向阀</a:t>
            </a:r>
            <a:r>
              <a:rPr lang="en-US" altLang="zh-CN" kern="0" dirty="0">
                <a:latin typeface="微软雅黑" panose="020B0503020204020204" pitchFamily="34" charset="-122"/>
                <a:ea typeface="微软雅黑" panose="020B0503020204020204" pitchFamily="34" charset="-122"/>
              </a:rPr>
              <a:t>3</a:t>
            </a:r>
            <a:r>
              <a:rPr lang="zh-CN" altLang="en-US" kern="0" dirty="0">
                <a:latin typeface="微软雅黑" panose="020B0503020204020204" pitchFamily="34" charset="-122"/>
                <a:ea typeface="微软雅黑" panose="020B0503020204020204" pitchFamily="34" charset="-122"/>
              </a:rPr>
              <a:t>控制外，还要受先导阀</a:t>
            </a:r>
            <a:r>
              <a:rPr lang="en-US" altLang="zh-CN" kern="0" dirty="0">
                <a:latin typeface="微软雅黑" panose="020B0503020204020204" pitchFamily="34" charset="-122"/>
                <a:ea typeface="微软雅黑" panose="020B0503020204020204" pitchFamily="34" charset="-122"/>
              </a:rPr>
              <a:t>2</a:t>
            </a:r>
            <a:r>
              <a:rPr lang="zh-CN" altLang="en-US" kern="0" dirty="0">
                <a:latin typeface="微软雅黑" panose="020B0503020204020204" pitchFamily="34" charset="-122"/>
                <a:ea typeface="微软雅黑" panose="020B0503020204020204" pitchFamily="34" charset="-122"/>
              </a:rPr>
              <a:t>控制。</a:t>
            </a:r>
            <a:endParaRPr lang="en-US" altLang="zh-CN" kern="0" dirty="0">
              <a:latin typeface="微软雅黑" panose="020B0503020204020204" pitchFamily="34" charset="-122"/>
              <a:ea typeface="微软雅黑" panose="020B0503020204020204" pitchFamily="34" charset="-122"/>
            </a:endParaRPr>
          </a:p>
        </p:txBody>
      </p:sp>
      <p:pic>
        <p:nvPicPr>
          <p:cNvPr id="2" name="9Z15.EPS">
            <a:extLst>
              <a:ext uri="{FF2B5EF4-FFF2-40B4-BE49-F238E27FC236}">
                <a16:creationId xmlns:a16="http://schemas.microsoft.com/office/drawing/2014/main" id="{1ED4F086-77EF-3EAA-2BDE-0DA8F60399D2}"/>
              </a:ext>
            </a:extLst>
          </p:cNvPr>
          <p:cNvPicPr>
            <a:picLocks noChangeAspect="1"/>
          </p:cNvPicPr>
          <p:nvPr/>
        </p:nvPicPr>
        <p:blipFill>
          <a:blip r:embed="rId3" cstate="print"/>
          <a:stretch>
            <a:fillRect/>
          </a:stretch>
        </p:blipFill>
        <p:spPr>
          <a:xfrm>
            <a:off x="7565592" y="1834362"/>
            <a:ext cx="4593273" cy="3456000"/>
          </a:xfrm>
          <a:prstGeom prst="rect">
            <a:avLst/>
          </a:prstGeom>
        </p:spPr>
      </p:pic>
      <p:sp>
        <p:nvSpPr>
          <p:cNvPr id="4" name="TextBox 3">
            <a:extLst>
              <a:ext uri="{FF2B5EF4-FFF2-40B4-BE49-F238E27FC236}">
                <a16:creationId xmlns:a16="http://schemas.microsoft.com/office/drawing/2014/main" id="{2DF19951-FD3E-5237-2344-DD77FBE7FC29}"/>
              </a:ext>
            </a:extLst>
          </p:cNvPr>
          <p:cNvSpPr txBox="1"/>
          <p:nvPr/>
        </p:nvSpPr>
        <p:spPr>
          <a:xfrm>
            <a:off x="540867" y="6118403"/>
            <a:ext cx="10777676" cy="458908"/>
          </a:xfrm>
          <a:prstGeom prst="rect">
            <a:avLst/>
          </a:prstGeom>
          <a:noFill/>
        </p:spPr>
        <p:txBody>
          <a:bodyPr wrap="square" rtlCol="0">
            <a:spAutoFit/>
          </a:bodyPr>
          <a:lstStyle/>
          <a:p>
            <a:pPr algn="just">
              <a:lnSpc>
                <a:spcPct val="150000"/>
              </a:lnSpc>
            </a:pPr>
            <a:r>
              <a:rPr lang="zh-CN" altLang="en-US" kern="0" dirty="0">
                <a:solidFill>
                  <a:srgbClr val="003F88"/>
                </a:solidFill>
                <a:latin typeface="微软雅黑" panose="020B0503020204020204" pitchFamily="34" charset="-122"/>
                <a:ea typeface="微软雅黑" panose="020B0503020204020204" pitchFamily="34" charset="-122"/>
              </a:rPr>
              <a:t>这种换向回路适用于主机工作部件速度较慢、换向精度要求高的液压系统，如内外圆磨床。</a:t>
            </a:r>
            <a:endParaRPr lang="en-US" altLang="zh-CN" kern="0" dirty="0">
              <a:solidFill>
                <a:srgbClr val="003F88"/>
              </a:solidFill>
              <a:latin typeface="微软雅黑" panose="020B0503020204020204" pitchFamily="34" charset="-122"/>
              <a:ea typeface="微软雅黑" panose="020B0503020204020204" pitchFamily="34" charset="-122"/>
            </a:endParaRPr>
          </a:p>
        </p:txBody>
      </p:sp>
      <p:sp>
        <p:nvSpPr>
          <p:cNvPr id="3" name="梯形 2">
            <a:extLst>
              <a:ext uri="{FF2B5EF4-FFF2-40B4-BE49-F238E27FC236}">
                <a16:creationId xmlns:a16="http://schemas.microsoft.com/office/drawing/2014/main" id="{403AA8A8-4967-4CC7-B1EF-52FD3E8B71C0}"/>
              </a:ext>
            </a:extLst>
          </p:cNvPr>
          <p:cNvSpPr/>
          <p:nvPr/>
        </p:nvSpPr>
        <p:spPr>
          <a:xfrm rot="5400000">
            <a:off x="9325781" y="3811103"/>
            <a:ext cx="317158" cy="132080"/>
          </a:xfrm>
          <a:prstGeom prst="trapezoid">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梯形 11">
            <a:extLst>
              <a:ext uri="{FF2B5EF4-FFF2-40B4-BE49-F238E27FC236}">
                <a16:creationId xmlns:a16="http://schemas.microsoft.com/office/drawing/2014/main" id="{7F6BFC8D-57C6-4853-B50C-D8F27AA51A33}"/>
              </a:ext>
            </a:extLst>
          </p:cNvPr>
          <p:cNvSpPr/>
          <p:nvPr/>
        </p:nvSpPr>
        <p:spPr>
          <a:xfrm rot="16200000" flipH="1">
            <a:off x="9854101" y="3831423"/>
            <a:ext cx="317158" cy="132080"/>
          </a:xfrm>
          <a:prstGeom prst="trapezoid">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矩形 14">
            <a:extLst>
              <a:ext uri="{FF2B5EF4-FFF2-40B4-BE49-F238E27FC236}">
                <a16:creationId xmlns:a16="http://schemas.microsoft.com/office/drawing/2014/main" id="{86A1F6B0-BD33-4550-B134-AA3E8E43E933}"/>
              </a:ext>
            </a:extLst>
          </p:cNvPr>
          <p:cNvSpPr/>
          <p:nvPr/>
        </p:nvSpPr>
        <p:spPr>
          <a:xfrm>
            <a:off x="9479280" y="2787496"/>
            <a:ext cx="152400" cy="28448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梯形 17">
            <a:extLst>
              <a:ext uri="{FF2B5EF4-FFF2-40B4-BE49-F238E27FC236}">
                <a16:creationId xmlns:a16="http://schemas.microsoft.com/office/drawing/2014/main" id="{A76FB070-D314-48A4-A688-CFDAAC72EB86}"/>
              </a:ext>
            </a:extLst>
          </p:cNvPr>
          <p:cNvSpPr/>
          <p:nvPr/>
        </p:nvSpPr>
        <p:spPr>
          <a:xfrm rot="16200000" flipH="1">
            <a:off x="9986181" y="2896699"/>
            <a:ext cx="317158" cy="132080"/>
          </a:xfrm>
          <a:prstGeom prst="trapezoid">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58742302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right)">
                                      <p:cBhvr>
                                        <p:cTn id="7" dur="500"/>
                                        <p:tgtEl>
                                          <p:spTgt spid="3"/>
                                        </p:tgtEl>
                                      </p:cBhvr>
                                    </p:animEffect>
                                  </p:childTnLst>
                                </p:cTn>
                              </p:par>
                              <p:par>
                                <p:cTn id="8" presetID="22" presetClass="entr" presetSubtype="2"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wipe(right)">
                                      <p:cBhvr>
                                        <p:cTn id="10" dur="500"/>
                                        <p:tgtEl>
                                          <p:spTgt spid="12"/>
                                        </p:tgtEl>
                                      </p:cBhvr>
                                    </p:animEffect>
                                  </p:childTnLst>
                                </p:cTn>
                              </p:par>
                            </p:childTnLst>
                          </p:cTn>
                        </p:par>
                      </p:childTnLst>
                    </p:cTn>
                  </p:par>
                  <p:par>
                    <p:cTn id="11" fill="hold">
                      <p:stCondLst>
                        <p:cond delay="indefinite"/>
                      </p:stCondLst>
                      <p:childTnLst>
                        <p:par>
                          <p:cTn id="12" fill="hold">
                            <p:stCondLst>
                              <p:cond delay="0"/>
                            </p:stCondLst>
                            <p:childTnLst>
                              <p:par>
                                <p:cTn id="13" presetID="22" presetClass="entr" presetSubtype="2" fill="hold" grpId="0" nodeType="click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wipe(right)">
                                      <p:cBhvr>
                                        <p:cTn id="15" dur="500"/>
                                        <p:tgtEl>
                                          <p:spTgt spid="15"/>
                                        </p:tgtEl>
                                      </p:cBhvr>
                                    </p:animEffect>
                                  </p:childTnLst>
                                </p:cTn>
                              </p:par>
                              <p:par>
                                <p:cTn id="16" presetID="22" presetClass="entr" presetSubtype="2" fill="hold" grpId="0" nodeType="withEffect">
                                  <p:stCondLst>
                                    <p:cond delay="0"/>
                                  </p:stCondLst>
                                  <p:childTnLst>
                                    <p:set>
                                      <p:cBhvr>
                                        <p:cTn id="17" dur="1" fill="hold">
                                          <p:stCondLst>
                                            <p:cond delay="0"/>
                                          </p:stCondLst>
                                        </p:cTn>
                                        <p:tgtEl>
                                          <p:spTgt spid="18"/>
                                        </p:tgtEl>
                                        <p:attrNameLst>
                                          <p:attrName>style.visibility</p:attrName>
                                        </p:attrNameLst>
                                      </p:cBhvr>
                                      <p:to>
                                        <p:strVal val="visible"/>
                                      </p:to>
                                    </p:set>
                                    <p:animEffect transition="in" filter="wipe(right)">
                                      <p:cBhvr>
                                        <p:cTn id="18"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2" grpId="0" animBg="1"/>
      <p:bldP spid="15" grpId="0" animBg="1"/>
      <p:bldP spid="18"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73660B-11A4-423F-5E16-D644C4940815}"/>
            </a:ext>
          </a:extLst>
        </p:cNvPr>
        <p:cNvGrpSpPr/>
        <p:nvPr/>
      </p:nvGrpSpPr>
      <p:grpSpPr>
        <a:xfrm>
          <a:off x="0" y="0"/>
          <a:ext cx="0" cy="0"/>
          <a:chOff x="0" y="0"/>
          <a:chExt cx="0" cy="0"/>
        </a:xfrm>
      </p:grpSpPr>
      <p:cxnSp>
        <p:nvCxnSpPr>
          <p:cNvPr id="5" name="直接连接符 4">
            <a:extLst>
              <a:ext uri="{FF2B5EF4-FFF2-40B4-BE49-F238E27FC236}">
                <a16:creationId xmlns:a16="http://schemas.microsoft.com/office/drawing/2014/main" id="{8B32DAFC-94B7-3B89-BB63-9CCF367C1C7A}"/>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pic>
        <p:nvPicPr>
          <p:cNvPr id="8" name="图片 7">
            <a:extLst>
              <a:ext uri="{FF2B5EF4-FFF2-40B4-BE49-F238E27FC236}">
                <a16:creationId xmlns:a16="http://schemas.microsoft.com/office/drawing/2014/main" id="{B7E05E84-D6AB-1F8A-0DB9-7285335BFD2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sp>
        <p:nvSpPr>
          <p:cNvPr id="9" name="文本框 8">
            <a:extLst>
              <a:ext uri="{FF2B5EF4-FFF2-40B4-BE49-F238E27FC236}">
                <a16:creationId xmlns:a16="http://schemas.microsoft.com/office/drawing/2014/main" id="{F4A00E81-67CA-83BA-AC6C-9295C3C60B3D}"/>
              </a:ext>
            </a:extLst>
          </p:cNvPr>
          <p:cNvSpPr txBox="1"/>
          <p:nvPr/>
        </p:nvSpPr>
        <p:spPr>
          <a:xfrm>
            <a:off x="429656" y="135415"/>
            <a:ext cx="8582416" cy="646331"/>
          </a:xfrm>
          <a:prstGeom prst="rect">
            <a:avLst/>
          </a:prstGeom>
          <a:noFill/>
        </p:spPr>
        <p:txBody>
          <a:bodyPr wrap="square" rtlCol="0">
            <a:spAutoFit/>
          </a:bodyPr>
          <a:lstStyle/>
          <a:p>
            <a:r>
              <a:rPr lang="en-US" altLang="zh-CN" sz="3600" b="1" dirty="0">
                <a:solidFill>
                  <a:srgbClr val="003F88"/>
                </a:solidFill>
                <a:latin typeface="+mn-ea"/>
              </a:rPr>
              <a:t>3 </a:t>
            </a:r>
            <a:r>
              <a:rPr lang="zh-CN" altLang="en-US" sz="3600" b="1" dirty="0">
                <a:solidFill>
                  <a:srgbClr val="003F88"/>
                </a:solidFill>
                <a:latin typeface="+mn-ea"/>
              </a:rPr>
              <a:t>换向回路和锁紧回路</a:t>
            </a:r>
          </a:p>
        </p:txBody>
      </p:sp>
      <p:sp>
        <p:nvSpPr>
          <p:cNvPr id="25" name="矩形 24">
            <a:extLst>
              <a:ext uri="{FF2B5EF4-FFF2-40B4-BE49-F238E27FC236}">
                <a16:creationId xmlns:a16="http://schemas.microsoft.com/office/drawing/2014/main" id="{D936BE03-1F5B-22FE-D800-DCD6A0149FBF}"/>
              </a:ext>
            </a:extLst>
          </p:cNvPr>
          <p:cNvSpPr/>
          <p:nvPr/>
        </p:nvSpPr>
        <p:spPr>
          <a:xfrm>
            <a:off x="-17100" y="174526"/>
            <a:ext cx="319314" cy="56810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矩形 25">
            <a:extLst>
              <a:ext uri="{FF2B5EF4-FFF2-40B4-BE49-F238E27FC236}">
                <a16:creationId xmlns:a16="http://schemas.microsoft.com/office/drawing/2014/main" id="{D8371A6E-CAF6-D222-1CC0-D18C376E1ED9}"/>
              </a:ext>
            </a:extLst>
          </p:cNvPr>
          <p:cNvSpPr/>
          <p:nvPr/>
        </p:nvSpPr>
        <p:spPr>
          <a:xfrm>
            <a:off x="540867" y="1187297"/>
            <a:ext cx="7547154" cy="581762"/>
          </a:xfrm>
          <a:prstGeom prst="rect">
            <a:avLst/>
          </a:prstGeom>
        </p:spPr>
        <p:txBody>
          <a:bodyPr wrap="square">
            <a:spAutoFit/>
          </a:bodyPr>
          <a:lstStyle/>
          <a:p>
            <a:pPr>
              <a:lnSpc>
                <a:spcPct val="125000"/>
              </a:lnSpc>
            </a:pPr>
            <a:r>
              <a:rPr lang="en-US" altLang="zh-CN" sz="2800" b="1" dirty="0">
                <a:solidFill>
                  <a:srgbClr val="003F88"/>
                </a:solidFill>
                <a:latin typeface="+mn-ea"/>
              </a:rPr>
              <a:t>3.2 </a:t>
            </a:r>
            <a:r>
              <a:rPr lang="zh-CN" altLang="en-US" sz="2800" b="1" dirty="0">
                <a:solidFill>
                  <a:srgbClr val="003F88"/>
                </a:solidFill>
                <a:latin typeface="+mn-ea"/>
              </a:rPr>
              <a:t>锁紧回路</a:t>
            </a:r>
          </a:p>
        </p:txBody>
      </p:sp>
      <p:sp>
        <p:nvSpPr>
          <p:cNvPr id="19" name="TextBox 18">
            <a:extLst>
              <a:ext uri="{FF2B5EF4-FFF2-40B4-BE49-F238E27FC236}">
                <a16:creationId xmlns:a16="http://schemas.microsoft.com/office/drawing/2014/main" id="{C55C417F-AA0B-6945-3A64-7460EE7F2A84}"/>
              </a:ext>
            </a:extLst>
          </p:cNvPr>
          <p:cNvSpPr txBox="1"/>
          <p:nvPr/>
        </p:nvSpPr>
        <p:spPr>
          <a:xfrm>
            <a:off x="540867" y="1769059"/>
            <a:ext cx="6420420" cy="961289"/>
          </a:xfrm>
          <a:prstGeom prst="rect">
            <a:avLst/>
          </a:prstGeom>
          <a:noFill/>
        </p:spPr>
        <p:txBody>
          <a:bodyPr wrap="square" rtlCol="0">
            <a:spAutoFit/>
          </a:bodyPr>
          <a:lstStyle/>
          <a:p>
            <a:pPr algn="just">
              <a:lnSpc>
                <a:spcPct val="150000"/>
              </a:lnSpc>
            </a:pPr>
            <a:r>
              <a:rPr lang="zh-CN" altLang="en-US" sz="2000" kern="0" dirty="0">
                <a:latin typeface="微软雅黑" panose="020B0503020204020204" pitchFamily="34" charset="-122"/>
                <a:ea typeface="微软雅黑" panose="020B0503020204020204" pitchFamily="34" charset="-122"/>
              </a:rPr>
              <a:t>功用：使液压缸能在任意位置上停留，且不因外力作用而移动位置。</a:t>
            </a:r>
          </a:p>
        </p:txBody>
      </p:sp>
      <p:sp>
        <p:nvSpPr>
          <p:cNvPr id="13" name="TextBox 12">
            <a:extLst>
              <a:ext uri="{FF2B5EF4-FFF2-40B4-BE49-F238E27FC236}">
                <a16:creationId xmlns:a16="http://schemas.microsoft.com/office/drawing/2014/main" id="{68A88E08-12BC-CDEE-2DB6-84BE312C56B4}"/>
              </a:ext>
            </a:extLst>
          </p:cNvPr>
          <p:cNvSpPr txBox="1"/>
          <p:nvPr/>
        </p:nvSpPr>
        <p:spPr>
          <a:xfrm>
            <a:off x="540867" y="2730348"/>
            <a:ext cx="6387285" cy="1930785"/>
          </a:xfrm>
          <a:prstGeom prst="rect">
            <a:avLst/>
          </a:prstGeom>
          <a:noFill/>
        </p:spPr>
        <p:txBody>
          <a:bodyPr wrap="square" rtlCol="0">
            <a:spAutoFit/>
          </a:bodyPr>
          <a:lstStyle/>
          <a:p>
            <a:pPr algn="just">
              <a:lnSpc>
                <a:spcPct val="150000"/>
              </a:lnSpc>
            </a:pPr>
            <a:r>
              <a:rPr lang="zh-CN" altLang="en-US" sz="2200" b="1" kern="0" dirty="0">
                <a:solidFill>
                  <a:srgbClr val="003F88"/>
                </a:solidFill>
                <a:latin typeface="微软雅黑" panose="020B0503020204020204" pitchFamily="34" charset="-122"/>
                <a:ea typeface="微软雅黑" panose="020B0503020204020204" pitchFamily="34" charset="-122"/>
              </a:rPr>
              <a:t>液控单向阀锁紧回路</a:t>
            </a:r>
            <a:endParaRPr lang="en-US" altLang="zh-CN" sz="2200" b="1" kern="0" dirty="0">
              <a:solidFill>
                <a:srgbClr val="003F88"/>
              </a:solidFill>
              <a:latin typeface="微软雅黑" panose="020B0503020204020204" pitchFamily="34" charset="-122"/>
              <a:ea typeface="微软雅黑" panose="020B0503020204020204" pitchFamily="34" charset="-122"/>
            </a:endParaRPr>
          </a:p>
          <a:p>
            <a:pPr marL="342900" indent="-342900" algn="just">
              <a:lnSpc>
                <a:spcPct val="150000"/>
              </a:lnSpc>
              <a:buFont typeface="Wingdings" panose="05000000000000000000" pitchFamily="2" charset="2"/>
              <a:buChar char="Ø"/>
            </a:pPr>
            <a:r>
              <a:rPr lang="zh-CN" altLang="en-US" sz="2000" kern="0" dirty="0">
                <a:latin typeface="微软雅黑" panose="020B0503020204020204" pitchFamily="34" charset="-122"/>
                <a:ea typeface="微软雅黑" panose="020B0503020204020204" pitchFamily="34" charset="-122"/>
              </a:rPr>
              <a:t>换向阀中位：</a:t>
            </a:r>
            <a:r>
              <a:rPr lang="en-US" altLang="zh-CN" sz="2000" b="1" kern="0" dirty="0">
                <a:solidFill>
                  <a:srgbClr val="0000FF"/>
                </a:solidFill>
                <a:latin typeface="微软雅黑" panose="020B0503020204020204" pitchFamily="34" charset="-122"/>
                <a:ea typeface="微软雅黑" panose="020B0503020204020204" pitchFamily="34" charset="-122"/>
              </a:rPr>
              <a:t>H</a:t>
            </a:r>
            <a:r>
              <a:rPr lang="zh-CN" altLang="en-US" sz="2000" b="1" kern="0" dirty="0">
                <a:solidFill>
                  <a:srgbClr val="0000FF"/>
                </a:solidFill>
                <a:latin typeface="微软雅黑" panose="020B0503020204020204" pitchFamily="34" charset="-122"/>
                <a:ea typeface="微软雅黑" panose="020B0503020204020204" pitchFamily="34" charset="-122"/>
              </a:rPr>
              <a:t>或</a:t>
            </a:r>
            <a:r>
              <a:rPr lang="en-US" altLang="zh-CN" sz="2000" b="1" kern="0" dirty="0">
                <a:solidFill>
                  <a:srgbClr val="0000FF"/>
                </a:solidFill>
                <a:latin typeface="微软雅黑" panose="020B0503020204020204" pitchFamily="34" charset="-122"/>
                <a:ea typeface="微软雅黑" panose="020B0503020204020204" pitchFamily="34" charset="-122"/>
              </a:rPr>
              <a:t>Y</a:t>
            </a:r>
            <a:r>
              <a:rPr lang="zh-CN" altLang="en-US" sz="2000" b="1" kern="0" dirty="0">
                <a:solidFill>
                  <a:srgbClr val="0000FF"/>
                </a:solidFill>
                <a:latin typeface="微软雅黑" panose="020B0503020204020204" pitchFamily="34" charset="-122"/>
                <a:ea typeface="微软雅黑" panose="020B0503020204020204" pitchFamily="34" charset="-122"/>
              </a:rPr>
              <a:t>型</a:t>
            </a:r>
            <a:r>
              <a:rPr lang="zh-CN" altLang="en-US" sz="2000" kern="0" dirty="0">
                <a:latin typeface="微软雅黑" panose="020B0503020204020204" pitchFamily="34" charset="-122"/>
                <a:ea typeface="微软雅黑" panose="020B0503020204020204" pitchFamily="34" charset="-122"/>
              </a:rPr>
              <a:t>，液控单向阀关闭，活塞双向锁紧。</a:t>
            </a:r>
          </a:p>
          <a:p>
            <a:pPr marL="342900" indent="-342900" algn="just">
              <a:lnSpc>
                <a:spcPct val="150000"/>
              </a:lnSpc>
              <a:buFont typeface="Wingdings" panose="05000000000000000000" pitchFamily="2" charset="2"/>
              <a:buChar char="Ø"/>
            </a:pPr>
            <a:r>
              <a:rPr lang="zh-CN" altLang="en-US" sz="2000" kern="0" dirty="0">
                <a:latin typeface="微软雅黑" panose="020B0503020204020204" pitchFamily="34" charset="-122"/>
                <a:ea typeface="微软雅黑" panose="020B0503020204020204" pitchFamily="34" charset="-122"/>
              </a:rPr>
              <a:t>换向阀左或右位：单向阀</a:t>
            </a:r>
            <a:r>
              <a:rPr lang="en-US" altLang="zh-CN" sz="2000" kern="0" dirty="0">
                <a:latin typeface="微软雅黑" panose="020B0503020204020204" pitchFamily="34" charset="-122"/>
                <a:ea typeface="微软雅黑" panose="020B0503020204020204" pitchFamily="34" charset="-122"/>
              </a:rPr>
              <a:t>1</a:t>
            </a:r>
            <a:r>
              <a:rPr lang="zh-CN" altLang="en-US" sz="2000" kern="0" dirty="0">
                <a:latin typeface="微软雅黑" panose="020B0503020204020204" pitchFamily="34" charset="-122"/>
                <a:ea typeface="微软雅黑" panose="020B0503020204020204" pitchFamily="34" charset="-122"/>
              </a:rPr>
              <a:t>、</a:t>
            </a:r>
            <a:r>
              <a:rPr lang="en-US" altLang="zh-CN" sz="2000" kern="0" dirty="0">
                <a:latin typeface="微软雅黑" panose="020B0503020204020204" pitchFamily="34" charset="-122"/>
                <a:ea typeface="微软雅黑" panose="020B0503020204020204" pitchFamily="34" charset="-122"/>
              </a:rPr>
              <a:t>2</a:t>
            </a:r>
            <a:r>
              <a:rPr lang="zh-CN" altLang="en-US" sz="2000" kern="0" dirty="0">
                <a:latin typeface="微软雅黑" panose="020B0503020204020204" pitchFamily="34" charset="-122"/>
                <a:ea typeface="微软雅黑" panose="020B0503020204020204" pitchFamily="34" charset="-122"/>
              </a:rPr>
              <a:t>均打开。</a:t>
            </a:r>
          </a:p>
        </p:txBody>
      </p:sp>
      <p:sp>
        <p:nvSpPr>
          <p:cNvPr id="14" name="TextBox 13">
            <a:extLst>
              <a:ext uri="{FF2B5EF4-FFF2-40B4-BE49-F238E27FC236}">
                <a16:creationId xmlns:a16="http://schemas.microsoft.com/office/drawing/2014/main" id="{7AEA2980-C429-38E1-0C36-1851EF804141}"/>
              </a:ext>
            </a:extLst>
          </p:cNvPr>
          <p:cNvSpPr txBox="1"/>
          <p:nvPr/>
        </p:nvSpPr>
        <p:spPr>
          <a:xfrm>
            <a:off x="540867" y="5519001"/>
            <a:ext cx="4199455" cy="458908"/>
          </a:xfrm>
          <a:prstGeom prst="rect">
            <a:avLst/>
          </a:prstGeom>
          <a:noFill/>
        </p:spPr>
        <p:txBody>
          <a:bodyPr wrap="square" rtlCol="0">
            <a:spAutoFit/>
          </a:bodyPr>
          <a:lstStyle/>
          <a:p>
            <a:pPr algn="just">
              <a:lnSpc>
                <a:spcPct val="150000"/>
              </a:lnSpc>
            </a:pPr>
            <a:r>
              <a:rPr lang="zh-CN" altLang="en-US" kern="0" dirty="0">
                <a:solidFill>
                  <a:srgbClr val="003F88"/>
                </a:solidFill>
                <a:latin typeface="微软雅黑" panose="020B0503020204020204" pitchFamily="34" charset="-122"/>
                <a:ea typeface="微软雅黑" panose="020B0503020204020204" pitchFamily="34" charset="-122"/>
              </a:rPr>
              <a:t>广泛用于工程机械、 起重运输机械等。</a:t>
            </a:r>
          </a:p>
        </p:txBody>
      </p:sp>
      <p:pic>
        <p:nvPicPr>
          <p:cNvPr id="4" name="图片 3">
            <a:extLst>
              <a:ext uri="{FF2B5EF4-FFF2-40B4-BE49-F238E27FC236}">
                <a16:creationId xmlns:a16="http://schemas.microsoft.com/office/drawing/2014/main" id="{1BAD695E-9924-48D9-AB6A-EC48694AC25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961287" y="1591050"/>
            <a:ext cx="4445680" cy="4828030"/>
          </a:xfrm>
          <a:prstGeom prst="rect">
            <a:avLst/>
          </a:prstGeom>
        </p:spPr>
      </p:pic>
    </p:spTree>
    <p:extLst>
      <p:ext uri="{BB962C8B-B14F-4D97-AF65-F5344CB8AC3E}">
        <p14:creationId xmlns:p14="http://schemas.microsoft.com/office/powerpoint/2010/main" val="63858669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93A4D3-884D-2411-E8DB-4F0FA304BA6F}"/>
            </a:ext>
          </a:extLst>
        </p:cNvPr>
        <p:cNvGrpSpPr/>
        <p:nvPr/>
      </p:nvGrpSpPr>
      <p:grpSpPr>
        <a:xfrm>
          <a:off x="0" y="0"/>
          <a:ext cx="0" cy="0"/>
          <a:chOff x="0" y="0"/>
          <a:chExt cx="0" cy="0"/>
        </a:xfrm>
      </p:grpSpPr>
      <p:cxnSp>
        <p:nvCxnSpPr>
          <p:cNvPr id="5" name="直接连接符 4">
            <a:extLst>
              <a:ext uri="{FF2B5EF4-FFF2-40B4-BE49-F238E27FC236}">
                <a16:creationId xmlns:a16="http://schemas.microsoft.com/office/drawing/2014/main" id="{12AB20C9-08AF-7652-1D73-A30D84DC521D}"/>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pic>
        <p:nvPicPr>
          <p:cNvPr id="8" name="图片 7">
            <a:extLst>
              <a:ext uri="{FF2B5EF4-FFF2-40B4-BE49-F238E27FC236}">
                <a16:creationId xmlns:a16="http://schemas.microsoft.com/office/drawing/2014/main" id="{08B14B1F-8E8A-9FC6-3FF2-3F13585FB77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sp>
        <p:nvSpPr>
          <p:cNvPr id="9" name="文本框 8">
            <a:extLst>
              <a:ext uri="{FF2B5EF4-FFF2-40B4-BE49-F238E27FC236}">
                <a16:creationId xmlns:a16="http://schemas.microsoft.com/office/drawing/2014/main" id="{F663BF11-6183-3EEE-B598-0143E6C2EF28}"/>
              </a:ext>
            </a:extLst>
          </p:cNvPr>
          <p:cNvSpPr txBox="1"/>
          <p:nvPr/>
        </p:nvSpPr>
        <p:spPr>
          <a:xfrm>
            <a:off x="429656" y="135415"/>
            <a:ext cx="8582416" cy="646331"/>
          </a:xfrm>
          <a:prstGeom prst="rect">
            <a:avLst/>
          </a:prstGeom>
          <a:noFill/>
        </p:spPr>
        <p:txBody>
          <a:bodyPr wrap="square" rtlCol="0">
            <a:spAutoFit/>
          </a:bodyPr>
          <a:lstStyle/>
          <a:p>
            <a:r>
              <a:rPr lang="en-US" altLang="zh-CN" sz="3600" b="1" dirty="0">
                <a:solidFill>
                  <a:srgbClr val="003F88"/>
                </a:solidFill>
                <a:latin typeface="+mn-ea"/>
              </a:rPr>
              <a:t>4 </a:t>
            </a:r>
            <a:r>
              <a:rPr lang="zh-CN" altLang="en-US" sz="3600" b="1" dirty="0">
                <a:solidFill>
                  <a:srgbClr val="003F88"/>
                </a:solidFill>
                <a:latin typeface="+mn-ea"/>
              </a:rPr>
              <a:t>多缸动作回路</a:t>
            </a:r>
          </a:p>
        </p:txBody>
      </p:sp>
      <p:sp>
        <p:nvSpPr>
          <p:cNvPr id="25" name="矩形 24">
            <a:extLst>
              <a:ext uri="{FF2B5EF4-FFF2-40B4-BE49-F238E27FC236}">
                <a16:creationId xmlns:a16="http://schemas.microsoft.com/office/drawing/2014/main" id="{65FDF76C-E238-D303-16B6-C535C7126DF7}"/>
              </a:ext>
            </a:extLst>
          </p:cNvPr>
          <p:cNvSpPr/>
          <p:nvPr/>
        </p:nvSpPr>
        <p:spPr>
          <a:xfrm>
            <a:off x="-17100" y="174526"/>
            <a:ext cx="319314" cy="56810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矩形 25">
            <a:extLst>
              <a:ext uri="{FF2B5EF4-FFF2-40B4-BE49-F238E27FC236}">
                <a16:creationId xmlns:a16="http://schemas.microsoft.com/office/drawing/2014/main" id="{B6913C52-B902-C10A-B019-CA835B47C50C}"/>
              </a:ext>
            </a:extLst>
          </p:cNvPr>
          <p:cNvSpPr/>
          <p:nvPr/>
        </p:nvSpPr>
        <p:spPr>
          <a:xfrm>
            <a:off x="540867" y="1187297"/>
            <a:ext cx="7547154" cy="581762"/>
          </a:xfrm>
          <a:prstGeom prst="rect">
            <a:avLst/>
          </a:prstGeom>
        </p:spPr>
        <p:txBody>
          <a:bodyPr wrap="square">
            <a:spAutoFit/>
          </a:bodyPr>
          <a:lstStyle/>
          <a:p>
            <a:pPr>
              <a:lnSpc>
                <a:spcPct val="125000"/>
              </a:lnSpc>
            </a:pPr>
            <a:r>
              <a:rPr lang="en-US" altLang="zh-CN" sz="2800" b="1" dirty="0">
                <a:solidFill>
                  <a:srgbClr val="003F88"/>
                </a:solidFill>
                <a:latin typeface="+mn-ea"/>
              </a:rPr>
              <a:t>4.1 </a:t>
            </a:r>
            <a:r>
              <a:rPr lang="zh-CN" altLang="en-US" sz="2800" b="1" dirty="0">
                <a:solidFill>
                  <a:srgbClr val="003F88"/>
                </a:solidFill>
                <a:latin typeface="+mn-ea"/>
              </a:rPr>
              <a:t>顺序动作回路</a:t>
            </a:r>
          </a:p>
        </p:txBody>
      </p:sp>
      <p:sp>
        <p:nvSpPr>
          <p:cNvPr id="19" name="TextBox 18">
            <a:extLst>
              <a:ext uri="{FF2B5EF4-FFF2-40B4-BE49-F238E27FC236}">
                <a16:creationId xmlns:a16="http://schemas.microsoft.com/office/drawing/2014/main" id="{5D97ED67-9A0E-916A-3D55-D7BFAD68692E}"/>
              </a:ext>
            </a:extLst>
          </p:cNvPr>
          <p:cNvSpPr txBox="1"/>
          <p:nvPr/>
        </p:nvSpPr>
        <p:spPr>
          <a:xfrm>
            <a:off x="540867" y="1769059"/>
            <a:ext cx="6387285" cy="961289"/>
          </a:xfrm>
          <a:prstGeom prst="rect">
            <a:avLst/>
          </a:prstGeom>
          <a:noFill/>
        </p:spPr>
        <p:txBody>
          <a:bodyPr wrap="square" rtlCol="0">
            <a:spAutoFit/>
          </a:bodyPr>
          <a:lstStyle/>
          <a:p>
            <a:pPr algn="just">
              <a:lnSpc>
                <a:spcPct val="150000"/>
              </a:lnSpc>
            </a:pPr>
            <a:r>
              <a:rPr lang="zh-CN" altLang="en-US" sz="2000" kern="0" dirty="0">
                <a:latin typeface="微软雅黑" panose="020B0503020204020204" pitchFamily="34" charset="-122"/>
                <a:ea typeface="微软雅黑" panose="020B0503020204020204" pitchFamily="34" charset="-122"/>
              </a:rPr>
              <a:t>功用：使多缸液压系统中的各个液压缸严格地按规定的顺序动作。</a:t>
            </a:r>
          </a:p>
        </p:txBody>
      </p:sp>
      <p:sp>
        <p:nvSpPr>
          <p:cNvPr id="13" name="TextBox 12">
            <a:extLst>
              <a:ext uri="{FF2B5EF4-FFF2-40B4-BE49-F238E27FC236}">
                <a16:creationId xmlns:a16="http://schemas.microsoft.com/office/drawing/2014/main" id="{6C25C7AD-F0B3-0449-A230-D4058C1BD134}"/>
              </a:ext>
            </a:extLst>
          </p:cNvPr>
          <p:cNvSpPr txBox="1"/>
          <p:nvPr/>
        </p:nvSpPr>
        <p:spPr>
          <a:xfrm>
            <a:off x="540867" y="2730348"/>
            <a:ext cx="7121174" cy="3777444"/>
          </a:xfrm>
          <a:prstGeom prst="rect">
            <a:avLst/>
          </a:prstGeom>
          <a:noFill/>
        </p:spPr>
        <p:txBody>
          <a:bodyPr wrap="square" rtlCol="0">
            <a:spAutoFit/>
          </a:bodyPr>
          <a:lstStyle/>
          <a:p>
            <a:pPr algn="just">
              <a:lnSpc>
                <a:spcPct val="150000"/>
              </a:lnSpc>
            </a:pPr>
            <a:r>
              <a:rPr lang="en-US" altLang="zh-CN" sz="2200" b="1" kern="0" dirty="0">
                <a:solidFill>
                  <a:srgbClr val="003F88"/>
                </a:solidFill>
                <a:latin typeface="微软雅黑" panose="020B0503020204020204" pitchFamily="34" charset="-122"/>
                <a:ea typeface="微软雅黑" panose="020B0503020204020204" pitchFamily="34" charset="-122"/>
              </a:rPr>
              <a:t>(1)</a:t>
            </a:r>
            <a:r>
              <a:rPr lang="zh-CN" altLang="en-US" sz="2200" b="1" kern="0" dirty="0">
                <a:solidFill>
                  <a:srgbClr val="003F88"/>
                </a:solidFill>
                <a:latin typeface="微软雅黑" panose="020B0503020204020204" pitchFamily="34" charset="-122"/>
                <a:ea typeface="微软雅黑" panose="020B0503020204020204" pitchFamily="34" charset="-122"/>
              </a:rPr>
              <a:t>使用顺序阀的顺序动作回路</a:t>
            </a:r>
            <a:endParaRPr lang="en-US" altLang="zh-CN" sz="2200" b="1" kern="0" dirty="0">
              <a:solidFill>
                <a:srgbClr val="003F88"/>
              </a:solidFill>
              <a:latin typeface="微软雅黑" panose="020B0503020204020204" pitchFamily="34" charset="-122"/>
              <a:ea typeface="微软雅黑" panose="020B0503020204020204" pitchFamily="34" charset="-122"/>
            </a:endParaRPr>
          </a:p>
          <a:p>
            <a:pPr marL="342900" indent="-342900" algn="just">
              <a:lnSpc>
                <a:spcPct val="150000"/>
              </a:lnSpc>
              <a:buFont typeface="Wingdings" panose="05000000000000000000" pitchFamily="2" charset="2"/>
              <a:buChar char="Ø"/>
            </a:pPr>
            <a:r>
              <a:rPr lang="zh-CN" altLang="en-US" sz="2000" kern="0" dirty="0">
                <a:latin typeface="微软雅黑" panose="020B0503020204020204" pitchFamily="34" charset="-122"/>
                <a:ea typeface="微软雅黑" panose="020B0503020204020204" pitchFamily="34" charset="-122"/>
              </a:rPr>
              <a:t>顺序阀</a:t>
            </a:r>
            <a:r>
              <a:rPr lang="en-US" altLang="zh-CN" sz="2000" kern="0" dirty="0">
                <a:latin typeface="微软雅黑" panose="020B0503020204020204" pitchFamily="34" charset="-122"/>
                <a:ea typeface="微软雅黑" panose="020B0503020204020204" pitchFamily="34" charset="-122"/>
              </a:rPr>
              <a:t>6</a:t>
            </a:r>
            <a:r>
              <a:rPr lang="zh-CN" altLang="en-US" sz="2000" kern="0" dirty="0">
                <a:latin typeface="微软雅黑" panose="020B0503020204020204" pitchFamily="34" charset="-122"/>
                <a:ea typeface="微软雅黑" panose="020B0503020204020204" pitchFamily="34" charset="-122"/>
              </a:rPr>
              <a:t>的开启压力大于液压缸</a:t>
            </a:r>
            <a:r>
              <a:rPr lang="en-US" altLang="zh-CN" sz="2000" kern="0" dirty="0">
                <a:latin typeface="微软雅黑" panose="020B0503020204020204" pitchFamily="34" charset="-122"/>
                <a:ea typeface="微软雅黑" panose="020B0503020204020204" pitchFamily="34" charset="-122"/>
              </a:rPr>
              <a:t>4</a:t>
            </a:r>
            <a:r>
              <a:rPr lang="zh-CN" altLang="en-US" sz="2000" kern="0" dirty="0">
                <a:latin typeface="微软雅黑" panose="020B0503020204020204" pitchFamily="34" charset="-122"/>
                <a:ea typeface="微软雅黑" panose="020B0503020204020204" pitchFamily="34" charset="-122"/>
              </a:rPr>
              <a:t>的最大压力。</a:t>
            </a:r>
          </a:p>
          <a:p>
            <a:pPr marL="342900" indent="-342900" algn="just">
              <a:lnSpc>
                <a:spcPct val="150000"/>
              </a:lnSpc>
              <a:buFont typeface="Wingdings" panose="05000000000000000000" pitchFamily="2" charset="2"/>
              <a:buChar char="Ø"/>
            </a:pPr>
            <a:r>
              <a:rPr lang="zh-CN" altLang="en-US" sz="2000" kern="0" dirty="0">
                <a:latin typeface="微软雅黑" panose="020B0503020204020204" pitchFamily="34" charset="-122"/>
                <a:ea typeface="微软雅黑" panose="020B0503020204020204" pitchFamily="34" charset="-122"/>
              </a:rPr>
              <a:t>换向阀</a:t>
            </a:r>
            <a:r>
              <a:rPr lang="en-US" altLang="zh-CN" sz="2000" kern="0" dirty="0">
                <a:latin typeface="微软雅黑" panose="020B0503020204020204" pitchFamily="34" charset="-122"/>
                <a:ea typeface="微软雅黑" panose="020B0503020204020204" pitchFamily="34" charset="-122"/>
              </a:rPr>
              <a:t>2</a:t>
            </a:r>
            <a:r>
              <a:rPr lang="zh-CN" altLang="en-US" sz="2000" kern="0" dirty="0">
                <a:latin typeface="微软雅黑" panose="020B0503020204020204" pitchFamily="34" charset="-122"/>
                <a:ea typeface="微软雅黑" panose="020B0503020204020204" pitchFamily="34" charset="-122"/>
              </a:rPr>
              <a:t>左位：液压缸</a:t>
            </a:r>
            <a:r>
              <a:rPr lang="en-US" altLang="zh-CN" sz="2000" kern="0" dirty="0">
                <a:latin typeface="微软雅黑" panose="020B0503020204020204" pitchFamily="34" charset="-122"/>
                <a:ea typeface="微软雅黑" panose="020B0503020204020204" pitchFamily="34" charset="-122"/>
              </a:rPr>
              <a:t>4</a:t>
            </a:r>
            <a:r>
              <a:rPr lang="zh-CN" altLang="en-US" sz="2000" kern="0" dirty="0">
                <a:latin typeface="微软雅黑" panose="020B0503020204020204" pitchFamily="34" charset="-122"/>
                <a:ea typeface="微软雅黑" panose="020B0503020204020204" pitchFamily="34" charset="-122"/>
              </a:rPr>
              <a:t>先动作，完成后系统压力升高，顺序阀</a:t>
            </a:r>
            <a:r>
              <a:rPr lang="en-US" altLang="zh-CN" sz="2000" kern="0" dirty="0">
                <a:latin typeface="微软雅黑" panose="020B0503020204020204" pitchFamily="34" charset="-122"/>
                <a:ea typeface="微软雅黑" panose="020B0503020204020204" pitchFamily="34" charset="-122"/>
              </a:rPr>
              <a:t>6</a:t>
            </a:r>
            <a:r>
              <a:rPr lang="zh-CN" altLang="en-US" sz="2000" kern="0" dirty="0">
                <a:latin typeface="微软雅黑" panose="020B0503020204020204" pitchFamily="34" charset="-122"/>
                <a:ea typeface="微软雅黑" panose="020B0503020204020204" pitchFamily="34" charset="-122"/>
              </a:rPr>
              <a:t>打开，液压缸</a:t>
            </a:r>
            <a:r>
              <a:rPr lang="en-US" altLang="zh-CN" sz="2000" kern="0" dirty="0">
                <a:latin typeface="微软雅黑" panose="020B0503020204020204" pitchFamily="34" charset="-122"/>
                <a:ea typeface="微软雅黑" panose="020B0503020204020204" pitchFamily="34" charset="-122"/>
              </a:rPr>
              <a:t>5</a:t>
            </a:r>
            <a:r>
              <a:rPr lang="zh-CN" altLang="en-US" sz="2000" kern="0" dirty="0">
                <a:latin typeface="微软雅黑" panose="020B0503020204020204" pitchFamily="34" charset="-122"/>
                <a:ea typeface="微软雅黑" panose="020B0503020204020204" pitchFamily="34" charset="-122"/>
              </a:rPr>
              <a:t>动作。</a:t>
            </a:r>
            <a:endParaRPr lang="en-US" altLang="zh-CN" sz="2000" kern="0" dirty="0">
              <a:latin typeface="微软雅黑" panose="020B0503020204020204" pitchFamily="34" charset="-122"/>
              <a:ea typeface="微软雅黑" panose="020B0503020204020204" pitchFamily="34" charset="-122"/>
            </a:endParaRPr>
          </a:p>
          <a:p>
            <a:pPr marL="342900" indent="-342900" algn="just">
              <a:lnSpc>
                <a:spcPct val="150000"/>
              </a:lnSpc>
              <a:buFont typeface="Wingdings" panose="05000000000000000000" pitchFamily="2" charset="2"/>
              <a:buChar char="Ø"/>
            </a:pPr>
            <a:r>
              <a:rPr lang="zh-CN" altLang="en-US" sz="2000" kern="0" dirty="0">
                <a:latin typeface="微软雅黑" panose="020B0503020204020204" pitchFamily="34" charset="-122"/>
                <a:ea typeface="微软雅黑" panose="020B0503020204020204" pitchFamily="34" charset="-122"/>
              </a:rPr>
              <a:t>顺序阀</a:t>
            </a:r>
            <a:r>
              <a:rPr lang="en-US" altLang="zh-CN" sz="2000" kern="0" dirty="0">
                <a:latin typeface="微软雅黑" panose="020B0503020204020204" pitchFamily="34" charset="-122"/>
                <a:ea typeface="微软雅黑" panose="020B0503020204020204" pitchFamily="34" charset="-122"/>
              </a:rPr>
              <a:t>3</a:t>
            </a:r>
            <a:r>
              <a:rPr lang="zh-CN" altLang="en-US" sz="2000" kern="0" dirty="0">
                <a:latin typeface="微软雅黑" panose="020B0503020204020204" pitchFamily="34" charset="-122"/>
                <a:ea typeface="微软雅黑" panose="020B0503020204020204" pitchFamily="34" charset="-122"/>
              </a:rPr>
              <a:t>的开启压力大于液压缸</a:t>
            </a:r>
            <a:r>
              <a:rPr lang="en-US" altLang="zh-CN" sz="2000" kern="0" dirty="0">
                <a:latin typeface="微软雅黑" panose="020B0503020204020204" pitchFamily="34" charset="-122"/>
                <a:ea typeface="微软雅黑" panose="020B0503020204020204" pitchFamily="34" charset="-122"/>
              </a:rPr>
              <a:t>5</a:t>
            </a:r>
            <a:r>
              <a:rPr lang="zh-CN" altLang="en-US" sz="2000" kern="0" dirty="0">
                <a:latin typeface="微软雅黑" panose="020B0503020204020204" pitchFamily="34" charset="-122"/>
                <a:ea typeface="微软雅黑" panose="020B0503020204020204" pitchFamily="34" charset="-122"/>
              </a:rPr>
              <a:t>的最大返回工作压力。</a:t>
            </a:r>
          </a:p>
          <a:p>
            <a:pPr marL="342900" indent="-342900" algn="just">
              <a:lnSpc>
                <a:spcPct val="150000"/>
              </a:lnSpc>
              <a:buFont typeface="Wingdings" panose="05000000000000000000" pitchFamily="2" charset="2"/>
              <a:buChar char="Ø"/>
            </a:pPr>
            <a:r>
              <a:rPr lang="zh-CN" altLang="en-US" sz="2000" kern="0" dirty="0">
                <a:latin typeface="微软雅黑" panose="020B0503020204020204" pitchFamily="34" charset="-122"/>
                <a:ea typeface="微软雅黑" panose="020B0503020204020204" pitchFamily="34" charset="-122"/>
              </a:rPr>
              <a:t>换向阀</a:t>
            </a:r>
            <a:r>
              <a:rPr lang="en-US" altLang="zh-CN" sz="2000" kern="0" dirty="0">
                <a:latin typeface="微软雅黑" panose="020B0503020204020204" pitchFamily="34" charset="-122"/>
                <a:ea typeface="微软雅黑" panose="020B0503020204020204" pitchFamily="34" charset="-122"/>
              </a:rPr>
              <a:t>2</a:t>
            </a:r>
            <a:r>
              <a:rPr lang="zh-CN" altLang="en-US" sz="2000" kern="0" dirty="0">
                <a:latin typeface="微软雅黑" panose="020B0503020204020204" pitchFamily="34" charset="-122"/>
                <a:ea typeface="微软雅黑" panose="020B0503020204020204" pitchFamily="34" charset="-122"/>
              </a:rPr>
              <a:t>右位：液压缸</a:t>
            </a:r>
            <a:r>
              <a:rPr lang="en-US" altLang="zh-CN" sz="2000" kern="0" dirty="0">
                <a:latin typeface="微软雅黑" panose="020B0503020204020204" pitchFamily="34" charset="-122"/>
                <a:ea typeface="微软雅黑" panose="020B0503020204020204" pitchFamily="34" charset="-122"/>
              </a:rPr>
              <a:t>5</a:t>
            </a:r>
            <a:r>
              <a:rPr lang="zh-CN" altLang="en-US" sz="2000" kern="0" dirty="0">
                <a:latin typeface="微软雅黑" panose="020B0503020204020204" pitchFamily="34" charset="-122"/>
                <a:ea typeface="微软雅黑" panose="020B0503020204020204" pitchFamily="34" charset="-122"/>
              </a:rPr>
              <a:t>先动作，完成后系统压力升高，顺序阀</a:t>
            </a:r>
            <a:r>
              <a:rPr lang="en-US" altLang="zh-CN" sz="2000" kern="0" dirty="0">
                <a:latin typeface="微软雅黑" panose="020B0503020204020204" pitchFamily="34" charset="-122"/>
                <a:ea typeface="微软雅黑" panose="020B0503020204020204" pitchFamily="34" charset="-122"/>
              </a:rPr>
              <a:t>3</a:t>
            </a:r>
            <a:r>
              <a:rPr lang="zh-CN" altLang="en-US" sz="2000" kern="0" dirty="0">
                <a:latin typeface="微软雅黑" panose="020B0503020204020204" pitchFamily="34" charset="-122"/>
                <a:ea typeface="微软雅黑" panose="020B0503020204020204" pitchFamily="34" charset="-122"/>
              </a:rPr>
              <a:t>打开，液压缸</a:t>
            </a:r>
            <a:r>
              <a:rPr lang="en-US" altLang="zh-CN" sz="2000" kern="0" dirty="0">
                <a:latin typeface="微软雅黑" panose="020B0503020204020204" pitchFamily="34" charset="-122"/>
                <a:ea typeface="微软雅黑" panose="020B0503020204020204" pitchFamily="34" charset="-122"/>
              </a:rPr>
              <a:t>4</a:t>
            </a:r>
            <a:r>
              <a:rPr lang="zh-CN" altLang="en-US" sz="2000" kern="0" dirty="0">
                <a:latin typeface="微软雅黑" panose="020B0503020204020204" pitchFamily="34" charset="-122"/>
                <a:ea typeface="微软雅黑" panose="020B0503020204020204" pitchFamily="34" charset="-122"/>
              </a:rPr>
              <a:t>动作。</a:t>
            </a:r>
          </a:p>
          <a:p>
            <a:pPr marL="342900" indent="-342900" algn="just">
              <a:lnSpc>
                <a:spcPct val="150000"/>
              </a:lnSpc>
              <a:buFont typeface="Wingdings" panose="05000000000000000000" pitchFamily="2" charset="2"/>
              <a:buChar char="Ø"/>
            </a:pPr>
            <a:endParaRPr lang="zh-CN" altLang="en-US" sz="2000" kern="0" dirty="0">
              <a:latin typeface="微软雅黑" panose="020B0503020204020204" pitchFamily="34" charset="-122"/>
              <a:ea typeface="微软雅黑" panose="020B0503020204020204" pitchFamily="34" charset="-122"/>
            </a:endParaRPr>
          </a:p>
        </p:txBody>
      </p:sp>
      <p:sp>
        <p:nvSpPr>
          <p:cNvPr id="14" name="TextBox 13">
            <a:extLst>
              <a:ext uri="{FF2B5EF4-FFF2-40B4-BE49-F238E27FC236}">
                <a16:creationId xmlns:a16="http://schemas.microsoft.com/office/drawing/2014/main" id="{0D2A1650-434D-0EBF-8BEB-80739F200DAF}"/>
              </a:ext>
            </a:extLst>
          </p:cNvPr>
          <p:cNvSpPr txBox="1"/>
          <p:nvPr/>
        </p:nvSpPr>
        <p:spPr>
          <a:xfrm>
            <a:off x="540867" y="6232466"/>
            <a:ext cx="5655217" cy="369332"/>
          </a:xfrm>
          <a:prstGeom prst="rect">
            <a:avLst/>
          </a:prstGeom>
          <a:noFill/>
        </p:spPr>
        <p:txBody>
          <a:bodyPr wrap="square" rtlCol="0">
            <a:spAutoFit/>
          </a:bodyPr>
          <a:lstStyle/>
          <a:p>
            <a:pPr algn="ctr" eaLnBrk="0" hangingPunct="0">
              <a:spcBef>
                <a:spcPts val="0"/>
              </a:spcBef>
            </a:pPr>
            <a:r>
              <a:rPr lang="zh-CN" altLang="en-US" sz="1800" b="1" kern="0" dirty="0">
                <a:solidFill>
                  <a:srgbClr val="FF0000"/>
                </a:solidFill>
                <a:latin typeface="微软雅黑" panose="020B0503020204020204" pitchFamily="34" charset="-122"/>
                <a:ea typeface="微软雅黑" panose="020B0503020204020204" pitchFamily="34" charset="-122"/>
              </a:rPr>
              <a:t>若顺序阀阻尼过大，系统压力波动易引起误动作</a:t>
            </a:r>
          </a:p>
        </p:txBody>
      </p:sp>
      <p:pic>
        <p:nvPicPr>
          <p:cNvPr id="2" name="图片 1">
            <a:extLst>
              <a:ext uri="{FF2B5EF4-FFF2-40B4-BE49-F238E27FC236}">
                <a16:creationId xmlns:a16="http://schemas.microsoft.com/office/drawing/2014/main" id="{C0B52EBC-7AEC-4B67-B937-0993053F8561}"/>
              </a:ext>
            </a:extLst>
          </p:cNvPr>
          <p:cNvPicPr>
            <a:picLocks noChangeAspect="1"/>
          </p:cNvPicPr>
          <p:nvPr/>
        </p:nvPicPr>
        <p:blipFill>
          <a:blip r:embed="rId3"/>
          <a:stretch>
            <a:fillRect/>
          </a:stretch>
        </p:blipFill>
        <p:spPr>
          <a:xfrm>
            <a:off x="7038460" y="1239852"/>
            <a:ext cx="4757300" cy="5177280"/>
          </a:xfrm>
          <a:prstGeom prst="rect">
            <a:avLst/>
          </a:prstGeom>
        </p:spPr>
      </p:pic>
    </p:spTree>
    <p:extLst>
      <p:ext uri="{BB962C8B-B14F-4D97-AF65-F5344CB8AC3E}">
        <p14:creationId xmlns:p14="http://schemas.microsoft.com/office/powerpoint/2010/main" val="264085491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2A12B-E173-E96E-9295-0D8451B70625}"/>
            </a:ext>
          </a:extLst>
        </p:cNvPr>
        <p:cNvGrpSpPr/>
        <p:nvPr/>
      </p:nvGrpSpPr>
      <p:grpSpPr>
        <a:xfrm>
          <a:off x="0" y="0"/>
          <a:ext cx="0" cy="0"/>
          <a:chOff x="0" y="0"/>
          <a:chExt cx="0" cy="0"/>
        </a:xfrm>
      </p:grpSpPr>
      <p:cxnSp>
        <p:nvCxnSpPr>
          <p:cNvPr id="5" name="直接连接符 4">
            <a:extLst>
              <a:ext uri="{FF2B5EF4-FFF2-40B4-BE49-F238E27FC236}">
                <a16:creationId xmlns:a16="http://schemas.microsoft.com/office/drawing/2014/main" id="{D354A5C8-FC26-E1F3-E587-984EF55D2D08}"/>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pic>
        <p:nvPicPr>
          <p:cNvPr id="8" name="图片 7">
            <a:extLst>
              <a:ext uri="{FF2B5EF4-FFF2-40B4-BE49-F238E27FC236}">
                <a16:creationId xmlns:a16="http://schemas.microsoft.com/office/drawing/2014/main" id="{73888663-34B4-1E07-946E-FC877626FBD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sp>
        <p:nvSpPr>
          <p:cNvPr id="9" name="文本框 8">
            <a:extLst>
              <a:ext uri="{FF2B5EF4-FFF2-40B4-BE49-F238E27FC236}">
                <a16:creationId xmlns:a16="http://schemas.microsoft.com/office/drawing/2014/main" id="{410056E4-219C-1355-1878-C0B3003E8B55}"/>
              </a:ext>
            </a:extLst>
          </p:cNvPr>
          <p:cNvSpPr txBox="1"/>
          <p:nvPr/>
        </p:nvSpPr>
        <p:spPr>
          <a:xfrm>
            <a:off x="429656" y="135415"/>
            <a:ext cx="8582416" cy="646331"/>
          </a:xfrm>
          <a:prstGeom prst="rect">
            <a:avLst/>
          </a:prstGeom>
          <a:noFill/>
        </p:spPr>
        <p:txBody>
          <a:bodyPr wrap="square" rtlCol="0">
            <a:spAutoFit/>
          </a:bodyPr>
          <a:lstStyle/>
          <a:p>
            <a:r>
              <a:rPr lang="en-US" altLang="zh-CN" sz="3600" b="1" dirty="0">
                <a:solidFill>
                  <a:srgbClr val="003F88"/>
                </a:solidFill>
                <a:latin typeface="+mn-ea"/>
              </a:rPr>
              <a:t>4 </a:t>
            </a:r>
            <a:r>
              <a:rPr lang="zh-CN" altLang="en-US" sz="3600" b="1" dirty="0">
                <a:solidFill>
                  <a:srgbClr val="003F88"/>
                </a:solidFill>
                <a:latin typeface="+mn-ea"/>
              </a:rPr>
              <a:t>多缸动作回路</a:t>
            </a:r>
          </a:p>
        </p:txBody>
      </p:sp>
      <p:sp>
        <p:nvSpPr>
          <p:cNvPr id="25" name="矩形 24">
            <a:extLst>
              <a:ext uri="{FF2B5EF4-FFF2-40B4-BE49-F238E27FC236}">
                <a16:creationId xmlns:a16="http://schemas.microsoft.com/office/drawing/2014/main" id="{20D0931F-AFA2-B749-495C-9931D47C6069}"/>
              </a:ext>
            </a:extLst>
          </p:cNvPr>
          <p:cNvSpPr/>
          <p:nvPr/>
        </p:nvSpPr>
        <p:spPr>
          <a:xfrm>
            <a:off x="-17100" y="174526"/>
            <a:ext cx="319314" cy="56810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TextBox 12">
            <a:extLst>
              <a:ext uri="{FF2B5EF4-FFF2-40B4-BE49-F238E27FC236}">
                <a16:creationId xmlns:a16="http://schemas.microsoft.com/office/drawing/2014/main" id="{2B9FFB2E-9481-E88E-5FD9-A46A1FD0F2DD}"/>
              </a:ext>
            </a:extLst>
          </p:cNvPr>
          <p:cNvSpPr txBox="1"/>
          <p:nvPr/>
        </p:nvSpPr>
        <p:spPr>
          <a:xfrm>
            <a:off x="540867" y="1342442"/>
            <a:ext cx="5057293" cy="1469120"/>
          </a:xfrm>
          <a:prstGeom prst="rect">
            <a:avLst/>
          </a:prstGeom>
          <a:noFill/>
        </p:spPr>
        <p:txBody>
          <a:bodyPr wrap="square" rtlCol="0">
            <a:spAutoFit/>
          </a:bodyPr>
          <a:lstStyle/>
          <a:p>
            <a:pPr algn="just">
              <a:lnSpc>
                <a:spcPct val="150000"/>
              </a:lnSpc>
            </a:pPr>
            <a:r>
              <a:rPr lang="en-US" altLang="zh-CN" sz="2200" b="1" kern="0" dirty="0">
                <a:solidFill>
                  <a:srgbClr val="003F88"/>
                </a:solidFill>
                <a:latin typeface="微软雅黑" panose="020B0503020204020204" pitchFamily="34" charset="-122"/>
                <a:ea typeface="微软雅黑" panose="020B0503020204020204" pitchFamily="34" charset="-122"/>
              </a:rPr>
              <a:t>(2)</a:t>
            </a:r>
            <a:r>
              <a:rPr lang="zh-CN" altLang="en-US" sz="2200" b="1" kern="0" dirty="0">
                <a:solidFill>
                  <a:srgbClr val="003F88"/>
                </a:solidFill>
                <a:latin typeface="微软雅黑" panose="020B0503020204020204" pitchFamily="34" charset="-122"/>
                <a:ea typeface="微软雅黑" panose="020B0503020204020204" pitchFamily="34" charset="-122"/>
              </a:rPr>
              <a:t>使用电磁阀的顺序动作回路</a:t>
            </a:r>
          </a:p>
          <a:p>
            <a:pPr marL="342900" indent="-342900" algn="just">
              <a:lnSpc>
                <a:spcPct val="150000"/>
              </a:lnSpc>
              <a:buFont typeface="Wingdings" panose="05000000000000000000" pitchFamily="2" charset="2"/>
              <a:buChar char="Ø"/>
            </a:pPr>
            <a:r>
              <a:rPr lang="zh-CN" altLang="en-US" sz="2000" kern="0" dirty="0">
                <a:latin typeface="微软雅黑" panose="020B0503020204020204" pitchFamily="34" charset="-122"/>
                <a:ea typeface="微软雅黑" panose="020B0503020204020204" pitchFamily="34" charset="-122"/>
              </a:rPr>
              <a:t>以液压缸 </a:t>
            </a:r>
            <a:r>
              <a:rPr lang="en-US" altLang="zh-CN" sz="2000" kern="0" dirty="0">
                <a:latin typeface="微软雅黑" panose="020B0503020204020204" pitchFamily="34" charset="-122"/>
                <a:ea typeface="微软雅黑" panose="020B0503020204020204" pitchFamily="34" charset="-122"/>
              </a:rPr>
              <a:t>2 </a:t>
            </a:r>
            <a:r>
              <a:rPr lang="zh-CN" altLang="en-US" sz="2000" kern="0" dirty="0">
                <a:latin typeface="微软雅黑" panose="020B0503020204020204" pitchFamily="34" charset="-122"/>
                <a:ea typeface="微软雅黑" panose="020B0503020204020204" pitchFamily="34" charset="-122"/>
              </a:rPr>
              <a:t>和 </a:t>
            </a:r>
            <a:r>
              <a:rPr lang="en-US" altLang="zh-CN" sz="2000" kern="0" dirty="0">
                <a:latin typeface="微软雅黑" panose="020B0503020204020204" pitchFamily="34" charset="-122"/>
                <a:ea typeface="微软雅黑" panose="020B0503020204020204" pitchFamily="34" charset="-122"/>
              </a:rPr>
              <a:t>5 </a:t>
            </a:r>
            <a:r>
              <a:rPr lang="zh-CN" altLang="en-US" sz="2000" kern="0" dirty="0">
                <a:latin typeface="微软雅黑" panose="020B0503020204020204" pitchFamily="34" charset="-122"/>
                <a:ea typeface="微软雅黑" panose="020B0503020204020204" pitchFamily="34" charset="-122"/>
              </a:rPr>
              <a:t>的行程位置为依据来实现相应的顺序动作。</a:t>
            </a:r>
          </a:p>
        </p:txBody>
      </p:sp>
      <p:sp>
        <p:nvSpPr>
          <p:cNvPr id="14" name="TextBox 13">
            <a:extLst>
              <a:ext uri="{FF2B5EF4-FFF2-40B4-BE49-F238E27FC236}">
                <a16:creationId xmlns:a16="http://schemas.microsoft.com/office/drawing/2014/main" id="{3EA22108-D841-CDA2-B9FE-55C0E83EE2C1}"/>
              </a:ext>
            </a:extLst>
          </p:cNvPr>
          <p:cNvSpPr txBox="1"/>
          <p:nvPr/>
        </p:nvSpPr>
        <p:spPr>
          <a:xfrm>
            <a:off x="440782" y="3651707"/>
            <a:ext cx="5655217" cy="369332"/>
          </a:xfrm>
          <a:prstGeom prst="rect">
            <a:avLst/>
          </a:prstGeom>
          <a:noFill/>
        </p:spPr>
        <p:txBody>
          <a:bodyPr wrap="square" rtlCol="0">
            <a:spAutoFit/>
          </a:bodyPr>
          <a:lstStyle/>
          <a:p>
            <a:pPr algn="ctr" eaLnBrk="0" hangingPunct="0">
              <a:spcBef>
                <a:spcPts val="0"/>
              </a:spcBef>
            </a:pPr>
            <a:r>
              <a:rPr lang="zh-CN" altLang="en-US" sz="1800" b="1" kern="0" dirty="0">
                <a:solidFill>
                  <a:srgbClr val="FF0000"/>
                </a:solidFill>
                <a:latin typeface="微软雅黑" panose="020B0503020204020204" pitchFamily="34" charset="-122"/>
                <a:ea typeface="微软雅黑" panose="020B0503020204020204" pitchFamily="34" charset="-122"/>
              </a:rPr>
              <a:t>动作行程和顺序变更方便</a:t>
            </a:r>
          </a:p>
        </p:txBody>
      </p:sp>
      <p:graphicFrame>
        <p:nvGraphicFramePr>
          <p:cNvPr id="49" name="表格 48">
            <a:extLst>
              <a:ext uri="{FF2B5EF4-FFF2-40B4-BE49-F238E27FC236}">
                <a16:creationId xmlns:a16="http://schemas.microsoft.com/office/drawing/2014/main" id="{A4B05A25-3736-E563-C142-0A4875B0B6AD}"/>
              </a:ext>
            </a:extLst>
          </p:cNvPr>
          <p:cNvGraphicFramePr>
            <a:graphicFrameLocks noGrp="1"/>
          </p:cNvGraphicFramePr>
          <p:nvPr>
            <p:extLst>
              <p:ext uri="{D42A27DB-BD31-4B8C-83A1-F6EECF244321}">
                <p14:modId xmlns:p14="http://schemas.microsoft.com/office/powerpoint/2010/main" val="3151864897"/>
              </p:ext>
            </p:extLst>
          </p:nvPr>
        </p:nvGraphicFramePr>
        <p:xfrm>
          <a:off x="728769" y="4422727"/>
          <a:ext cx="10734461" cy="2223944"/>
        </p:xfrm>
        <a:graphic>
          <a:graphicData uri="http://schemas.openxmlformats.org/drawingml/2006/table">
            <a:tbl>
              <a:tblPr firstRow="1" firstCol="1" bandRow="1">
                <a:tableStyleId>{3B4B98B0-60AC-42C2-AFA5-B58CD77FA1E5}</a:tableStyleId>
              </a:tblPr>
              <a:tblGrid>
                <a:gridCol w="2433483">
                  <a:extLst>
                    <a:ext uri="{9D8B030D-6E8A-4147-A177-3AD203B41FA5}">
                      <a16:colId xmlns:a16="http://schemas.microsoft.com/office/drawing/2014/main" val="4220742076"/>
                    </a:ext>
                  </a:extLst>
                </a:gridCol>
                <a:gridCol w="1014479">
                  <a:extLst>
                    <a:ext uri="{9D8B030D-6E8A-4147-A177-3AD203B41FA5}">
                      <a16:colId xmlns:a16="http://schemas.microsoft.com/office/drawing/2014/main" val="3774232790"/>
                    </a:ext>
                  </a:extLst>
                </a:gridCol>
                <a:gridCol w="1014479">
                  <a:extLst>
                    <a:ext uri="{9D8B030D-6E8A-4147-A177-3AD203B41FA5}">
                      <a16:colId xmlns:a16="http://schemas.microsoft.com/office/drawing/2014/main" val="288078809"/>
                    </a:ext>
                  </a:extLst>
                </a:gridCol>
                <a:gridCol w="1014479">
                  <a:extLst>
                    <a:ext uri="{9D8B030D-6E8A-4147-A177-3AD203B41FA5}">
                      <a16:colId xmlns:a16="http://schemas.microsoft.com/office/drawing/2014/main" val="1484891509"/>
                    </a:ext>
                  </a:extLst>
                </a:gridCol>
                <a:gridCol w="1014479">
                  <a:extLst>
                    <a:ext uri="{9D8B030D-6E8A-4147-A177-3AD203B41FA5}">
                      <a16:colId xmlns:a16="http://schemas.microsoft.com/office/drawing/2014/main" val="4111072553"/>
                    </a:ext>
                  </a:extLst>
                </a:gridCol>
                <a:gridCol w="1014479">
                  <a:extLst>
                    <a:ext uri="{9D8B030D-6E8A-4147-A177-3AD203B41FA5}">
                      <a16:colId xmlns:a16="http://schemas.microsoft.com/office/drawing/2014/main" val="3356331104"/>
                    </a:ext>
                  </a:extLst>
                </a:gridCol>
                <a:gridCol w="1014479">
                  <a:extLst>
                    <a:ext uri="{9D8B030D-6E8A-4147-A177-3AD203B41FA5}">
                      <a16:colId xmlns:a16="http://schemas.microsoft.com/office/drawing/2014/main" val="3645836935"/>
                    </a:ext>
                  </a:extLst>
                </a:gridCol>
                <a:gridCol w="1107052">
                  <a:extLst>
                    <a:ext uri="{9D8B030D-6E8A-4147-A177-3AD203B41FA5}">
                      <a16:colId xmlns:a16="http://schemas.microsoft.com/office/drawing/2014/main" val="924775730"/>
                    </a:ext>
                  </a:extLst>
                </a:gridCol>
                <a:gridCol w="1107052">
                  <a:extLst>
                    <a:ext uri="{9D8B030D-6E8A-4147-A177-3AD203B41FA5}">
                      <a16:colId xmlns:a16="http://schemas.microsoft.com/office/drawing/2014/main" val="3705813448"/>
                    </a:ext>
                  </a:extLst>
                </a:gridCol>
              </a:tblGrid>
              <a:tr h="313352">
                <a:tc rowSpan="2">
                  <a:txBody>
                    <a:bodyPr/>
                    <a:lstStyle/>
                    <a:p>
                      <a:pPr algn="ctr">
                        <a:lnSpc>
                          <a:spcPct val="100000"/>
                        </a:lnSpc>
                        <a:spcAft>
                          <a:spcPts val="0"/>
                        </a:spcAft>
                      </a:pPr>
                      <a:r>
                        <a:rPr lang="zh-CN" sz="1400" dirty="0">
                          <a:effectLst/>
                        </a:rPr>
                        <a:t>信号来源</a:t>
                      </a:r>
                      <a:endParaRPr lang="zh-CN" sz="1800" b="1" dirty="0">
                        <a:solidFill>
                          <a:srgbClr val="000000"/>
                        </a:solidFill>
                        <a:effectLst/>
                        <a:latin typeface="NEU-BZ-S92"/>
                        <a:ea typeface="方正书宋_GBK"/>
                        <a:cs typeface="Times New Roman" panose="02020603050405020304" pitchFamily="18" charset="0"/>
                      </a:endParaRPr>
                    </a:p>
                  </a:txBody>
                  <a:tcPr marL="130471" marR="130471" marT="65236" marB="65236" anchor="ctr"/>
                </a:tc>
                <a:tc gridSpan="4">
                  <a:txBody>
                    <a:bodyPr/>
                    <a:lstStyle/>
                    <a:p>
                      <a:pPr algn="ctr">
                        <a:lnSpc>
                          <a:spcPct val="100000"/>
                        </a:lnSpc>
                        <a:spcAft>
                          <a:spcPts val="0"/>
                        </a:spcAft>
                      </a:pPr>
                      <a:r>
                        <a:rPr lang="zh-CN" sz="1400" dirty="0">
                          <a:effectLst/>
                        </a:rPr>
                        <a:t>电磁铁状态</a:t>
                      </a:r>
                      <a:endParaRPr lang="zh-CN" sz="1800" b="1" dirty="0">
                        <a:solidFill>
                          <a:srgbClr val="000000"/>
                        </a:solidFill>
                        <a:effectLst/>
                        <a:latin typeface="NEU-BZ-S92"/>
                        <a:ea typeface="方正书宋_GBK"/>
                        <a:cs typeface="Times New Roman" panose="02020603050405020304" pitchFamily="18" charset="0"/>
                      </a:endParaRPr>
                    </a:p>
                  </a:txBody>
                  <a:tcPr marL="130471" marR="130471" marT="65236" marB="65236" anchor="ct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gridSpan="2">
                  <a:txBody>
                    <a:bodyPr/>
                    <a:lstStyle/>
                    <a:p>
                      <a:pPr algn="ctr">
                        <a:lnSpc>
                          <a:spcPct val="100000"/>
                        </a:lnSpc>
                        <a:spcAft>
                          <a:spcPts val="0"/>
                        </a:spcAft>
                      </a:pPr>
                      <a:r>
                        <a:rPr lang="zh-CN" sz="1400" dirty="0">
                          <a:effectLst/>
                        </a:rPr>
                        <a:t>换向阀位置</a:t>
                      </a:r>
                      <a:endParaRPr lang="zh-CN" sz="1800" b="1" dirty="0">
                        <a:solidFill>
                          <a:srgbClr val="000000"/>
                        </a:solidFill>
                        <a:effectLst/>
                        <a:latin typeface="NEU-BZ-S92"/>
                        <a:ea typeface="方正书宋_GBK"/>
                        <a:cs typeface="Times New Roman" panose="02020603050405020304" pitchFamily="18" charset="0"/>
                      </a:endParaRPr>
                    </a:p>
                  </a:txBody>
                  <a:tcPr marL="130471" marR="130471" marT="65236" marB="65236" anchor="ctr"/>
                </a:tc>
                <a:tc hMerge="1">
                  <a:txBody>
                    <a:bodyPr/>
                    <a:lstStyle/>
                    <a:p>
                      <a:endParaRPr lang="zh-CN" altLang="en-US"/>
                    </a:p>
                  </a:txBody>
                  <a:tcPr/>
                </a:tc>
                <a:tc gridSpan="2">
                  <a:txBody>
                    <a:bodyPr/>
                    <a:lstStyle/>
                    <a:p>
                      <a:pPr algn="ctr">
                        <a:lnSpc>
                          <a:spcPct val="100000"/>
                        </a:lnSpc>
                        <a:spcAft>
                          <a:spcPts val="0"/>
                        </a:spcAft>
                      </a:pPr>
                      <a:r>
                        <a:rPr lang="zh-CN" sz="1400">
                          <a:effectLst/>
                        </a:rPr>
                        <a:t>液压缸状态</a:t>
                      </a:r>
                      <a:endParaRPr lang="zh-CN" sz="1800" b="1">
                        <a:solidFill>
                          <a:srgbClr val="000000"/>
                        </a:solidFill>
                        <a:effectLst/>
                        <a:latin typeface="NEU-BZ-S92"/>
                        <a:ea typeface="方正书宋_GBK"/>
                        <a:cs typeface="Times New Roman" panose="02020603050405020304" pitchFamily="18" charset="0"/>
                      </a:endParaRPr>
                    </a:p>
                  </a:txBody>
                  <a:tcPr marL="130471" marR="130471" marT="65236" marB="65236" anchor="ctr"/>
                </a:tc>
                <a:tc hMerge="1">
                  <a:txBody>
                    <a:bodyPr/>
                    <a:lstStyle/>
                    <a:p>
                      <a:endParaRPr lang="zh-CN" altLang="en-US"/>
                    </a:p>
                  </a:txBody>
                  <a:tcPr/>
                </a:tc>
                <a:extLst>
                  <a:ext uri="{0D108BD9-81ED-4DB2-BD59-A6C34878D82A}">
                    <a16:rowId xmlns:a16="http://schemas.microsoft.com/office/drawing/2014/main" val="3680694280"/>
                  </a:ext>
                </a:extLst>
              </a:tr>
              <a:tr h="313352">
                <a:tc vMerge="1">
                  <a:txBody>
                    <a:bodyPr/>
                    <a:lstStyle/>
                    <a:p>
                      <a:endParaRPr lang="zh-CN" altLang="en-US"/>
                    </a:p>
                  </a:txBody>
                  <a:tcPr/>
                </a:tc>
                <a:tc>
                  <a:txBody>
                    <a:bodyPr/>
                    <a:lstStyle/>
                    <a:p>
                      <a:pPr algn="ctr">
                        <a:lnSpc>
                          <a:spcPct val="100000"/>
                        </a:lnSpc>
                        <a:spcAft>
                          <a:spcPts val="0"/>
                        </a:spcAft>
                      </a:pPr>
                      <a:r>
                        <a:rPr lang="en-US" sz="1400" dirty="0">
                          <a:effectLst/>
                        </a:rPr>
                        <a:t>1YA</a:t>
                      </a:r>
                      <a:endParaRPr lang="zh-CN" sz="1800" b="1" dirty="0">
                        <a:solidFill>
                          <a:srgbClr val="000000"/>
                        </a:solidFill>
                        <a:effectLst/>
                        <a:latin typeface="NEU-BZ-S92"/>
                        <a:ea typeface="方正书宋_GBK"/>
                        <a:cs typeface="Times New Roman" panose="02020603050405020304" pitchFamily="18" charset="0"/>
                      </a:endParaRPr>
                    </a:p>
                  </a:txBody>
                  <a:tcPr marL="0" marR="0" marT="0" marB="0" anchor="ctr"/>
                </a:tc>
                <a:tc>
                  <a:txBody>
                    <a:bodyPr/>
                    <a:lstStyle/>
                    <a:p>
                      <a:pPr algn="ctr">
                        <a:lnSpc>
                          <a:spcPct val="100000"/>
                        </a:lnSpc>
                        <a:spcAft>
                          <a:spcPts val="0"/>
                        </a:spcAft>
                      </a:pPr>
                      <a:r>
                        <a:rPr lang="en-US" sz="1400">
                          <a:effectLst/>
                        </a:rPr>
                        <a:t>2YA</a:t>
                      </a:r>
                      <a:endParaRPr lang="zh-CN" sz="1800" b="1">
                        <a:solidFill>
                          <a:srgbClr val="000000"/>
                        </a:solidFill>
                        <a:effectLst/>
                        <a:latin typeface="NEU-BZ-S92"/>
                        <a:ea typeface="方正书宋_GBK"/>
                        <a:cs typeface="Times New Roman" panose="02020603050405020304" pitchFamily="18" charset="0"/>
                      </a:endParaRPr>
                    </a:p>
                  </a:txBody>
                  <a:tcPr marL="0" marR="0" marT="0" marB="0" anchor="ctr"/>
                </a:tc>
                <a:tc>
                  <a:txBody>
                    <a:bodyPr/>
                    <a:lstStyle/>
                    <a:p>
                      <a:pPr algn="ctr">
                        <a:lnSpc>
                          <a:spcPct val="100000"/>
                        </a:lnSpc>
                        <a:spcAft>
                          <a:spcPts val="0"/>
                        </a:spcAft>
                      </a:pPr>
                      <a:r>
                        <a:rPr lang="en-US" sz="1400">
                          <a:effectLst/>
                        </a:rPr>
                        <a:t>3YA</a:t>
                      </a:r>
                      <a:endParaRPr lang="zh-CN" sz="1800" b="1">
                        <a:solidFill>
                          <a:srgbClr val="000000"/>
                        </a:solidFill>
                        <a:effectLst/>
                        <a:latin typeface="NEU-BZ-S92"/>
                        <a:ea typeface="方正书宋_GBK"/>
                        <a:cs typeface="Times New Roman" panose="02020603050405020304" pitchFamily="18" charset="0"/>
                      </a:endParaRPr>
                    </a:p>
                  </a:txBody>
                  <a:tcPr marL="0" marR="0" marT="0" marB="0" anchor="ctr"/>
                </a:tc>
                <a:tc>
                  <a:txBody>
                    <a:bodyPr/>
                    <a:lstStyle/>
                    <a:p>
                      <a:pPr algn="ctr">
                        <a:lnSpc>
                          <a:spcPct val="100000"/>
                        </a:lnSpc>
                        <a:spcAft>
                          <a:spcPts val="0"/>
                        </a:spcAft>
                      </a:pPr>
                      <a:r>
                        <a:rPr lang="en-US" sz="1400">
                          <a:effectLst/>
                        </a:rPr>
                        <a:t>4YA</a:t>
                      </a:r>
                      <a:endParaRPr lang="zh-CN" sz="1800" b="1">
                        <a:solidFill>
                          <a:srgbClr val="000000"/>
                        </a:solidFill>
                        <a:effectLst/>
                        <a:latin typeface="NEU-BZ-S92"/>
                        <a:ea typeface="方正书宋_GBK"/>
                        <a:cs typeface="Times New Roman" panose="02020603050405020304" pitchFamily="18" charset="0"/>
                      </a:endParaRPr>
                    </a:p>
                  </a:txBody>
                  <a:tcPr marL="0" marR="0" marT="0" marB="0" anchor="ctr"/>
                </a:tc>
                <a:tc>
                  <a:txBody>
                    <a:bodyPr/>
                    <a:lstStyle/>
                    <a:p>
                      <a:pPr algn="ctr">
                        <a:lnSpc>
                          <a:spcPct val="100000"/>
                        </a:lnSpc>
                        <a:spcAft>
                          <a:spcPts val="0"/>
                        </a:spcAft>
                      </a:pPr>
                      <a:r>
                        <a:rPr lang="zh-CN" sz="1400">
                          <a:effectLst/>
                        </a:rPr>
                        <a:t>阀</a:t>
                      </a:r>
                      <a:r>
                        <a:rPr lang="en-US" sz="1400">
                          <a:effectLst/>
                        </a:rPr>
                        <a:t>1</a:t>
                      </a:r>
                      <a:endParaRPr lang="zh-CN" sz="1800" b="1">
                        <a:solidFill>
                          <a:srgbClr val="000000"/>
                        </a:solidFill>
                        <a:effectLst/>
                        <a:latin typeface="NEU-BZ-S92"/>
                        <a:ea typeface="方正书宋_GBK"/>
                        <a:cs typeface="Times New Roman" panose="02020603050405020304" pitchFamily="18" charset="0"/>
                      </a:endParaRPr>
                    </a:p>
                  </a:txBody>
                  <a:tcPr marL="0" marR="0" marT="0" marB="0" anchor="ctr"/>
                </a:tc>
                <a:tc>
                  <a:txBody>
                    <a:bodyPr/>
                    <a:lstStyle/>
                    <a:p>
                      <a:pPr algn="ctr">
                        <a:lnSpc>
                          <a:spcPct val="100000"/>
                        </a:lnSpc>
                        <a:spcAft>
                          <a:spcPts val="0"/>
                        </a:spcAft>
                      </a:pPr>
                      <a:r>
                        <a:rPr lang="zh-CN" sz="1400">
                          <a:effectLst/>
                        </a:rPr>
                        <a:t>阀</a:t>
                      </a:r>
                      <a:r>
                        <a:rPr lang="en-US" sz="1400">
                          <a:effectLst/>
                        </a:rPr>
                        <a:t>8</a:t>
                      </a:r>
                      <a:endParaRPr lang="zh-CN" sz="1800" b="1">
                        <a:solidFill>
                          <a:srgbClr val="000000"/>
                        </a:solidFill>
                        <a:effectLst/>
                        <a:latin typeface="NEU-BZ-S92"/>
                        <a:ea typeface="方正书宋_GBK"/>
                        <a:cs typeface="Times New Roman" panose="02020603050405020304" pitchFamily="18" charset="0"/>
                      </a:endParaRPr>
                    </a:p>
                  </a:txBody>
                  <a:tcPr marL="0" marR="0" marT="0" marB="0" anchor="ctr"/>
                </a:tc>
                <a:tc>
                  <a:txBody>
                    <a:bodyPr/>
                    <a:lstStyle/>
                    <a:p>
                      <a:pPr algn="ctr">
                        <a:lnSpc>
                          <a:spcPct val="100000"/>
                        </a:lnSpc>
                        <a:spcAft>
                          <a:spcPts val="0"/>
                        </a:spcAft>
                      </a:pPr>
                      <a:r>
                        <a:rPr lang="zh-CN" sz="1400">
                          <a:effectLst/>
                        </a:rPr>
                        <a:t>缸</a:t>
                      </a:r>
                      <a:r>
                        <a:rPr lang="en-US" sz="1400">
                          <a:effectLst/>
                        </a:rPr>
                        <a:t>2</a:t>
                      </a:r>
                      <a:endParaRPr lang="zh-CN" sz="1800" b="1">
                        <a:solidFill>
                          <a:srgbClr val="000000"/>
                        </a:solidFill>
                        <a:effectLst/>
                        <a:latin typeface="NEU-BZ-S92"/>
                        <a:ea typeface="方正书宋_GBK"/>
                        <a:cs typeface="Times New Roman" panose="02020603050405020304" pitchFamily="18" charset="0"/>
                      </a:endParaRPr>
                    </a:p>
                  </a:txBody>
                  <a:tcPr marL="0" marR="0" marT="0" marB="0" anchor="ctr"/>
                </a:tc>
                <a:tc>
                  <a:txBody>
                    <a:bodyPr/>
                    <a:lstStyle/>
                    <a:p>
                      <a:pPr algn="ctr">
                        <a:lnSpc>
                          <a:spcPct val="100000"/>
                        </a:lnSpc>
                        <a:spcAft>
                          <a:spcPts val="0"/>
                        </a:spcAft>
                      </a:pPr>
                      <a:r>
                        <a:rPr lang="zh-CN" sz="1400">
                          <a:effectLst/>
                        </a:rPr>
                        <a:t>缸</a:t>
                      </a:r>
                      <a:r>
                        <a:rPr lang="en-US" sz="1400">
                          <a:effectLst/>
                        </a:rPr>
                        <a:t>5</a:t>
                      </a:r>
                      <a:endParaRPr lang="zh-CN" sz="1800" b="1">
                        <a:solidFill>
                          <a:srgbClr val="000000"/>
                        </a:solidFill>
                        <a:effectLst/>
                        <a:latin typeface="NEU-BZ-S92"/>
                        <a:ea typeface="方正书宋_GBK"/>
                        <a:cs typeface="Times New Roman" panose="02020603050405020304" pitchFamily="18" charset="0"/>
                      </a:endParaRPr>
                    </a:p>
                  </a:txBody>
                  <a:tcPr marL="0" marR="0" marT="0" marB="0" anchor="ctr"/>
                </a:tc>
                <a:extLst>
                  <a:ext uri="{0D108BD9-81ED-4DB2-BD59-A6C34878D82A}">
                    <a16:rowId xmlns:a16="http://schemas.microsoft.com/office/drawing/2014/main" val="1375863302"/>
                  </a:ext>
                </a:extLst>
              </a:tr>
              <a:tr h="313352">
                <a:tc>
                  <a:txBody>
                    <a:bodyPr/>
                    <a:lstStyle/>
                    <a:p>
                      <a:pPr algn="ctr">
                        <a:lnSpc>
                          <a:spcPct val="100000"/>
                        </a:lnSpc>
                        <a:spcAft>
                          <a:spcPts val="0"/>
                        </a:spcAft>
                      </a:pPr>
                      <a:r>
                        <a:rPr lang="zh-CN" sz="1400" dirty="0">
                          <a:effectLst/>
                        </a:rPr>
                        <a:t>按下起动电钮</a:t>
                      </a:r>
                      <a:endParaRPr lang="zh-CN" sz="1800" b="1" dirty="0">
                        <a:solidFill>
                          <a:srgbClr val="000000"/>
                        </a:solidFill>
                        <a:effectLst/>
                        <a:latin typeface="NEU-BZ-S92"/>
                        <a:ea typeface="方正书宋_GBK"/>
                        <a:cs typeface="Times New Roman" panose="02020603050405020304" pitchFamily="18" charset="0"/>
                      </a:endParaRPr>
                    </a:p>
                  </a:txBody>
                  <a:tcPr marL="0" marR="0" marT="0" marB="0" anchor="ctr"/>
                </a:tc>
                <a:tc>
                  <a:txBody>
                    <a:bodyPr/>
                    <a:lstStyle/>
                    <a:p>
                      <a:pPr algn="ctr">
                        <a:lnSpc>
                          <a:spcPct val="100000"/>
                        </a:lnSpc>
                        <a:spcAft>
                          <a:spcPts val="0"/>
                        </a:spcAft>
                      </a:pPr>
                      <a:r>
                        <a:rPr lang="en-US" sz="1400" dirty="0">
                          <a:effectLst/>
                        </a:rPr>
                        <a:t>+</a:t>
                      </a:r>
                      <a:endParaRPr lang="zh-CN" sz="1800" b="1" dirty="0">
                        <a:solidFill>
                          <a:srgbClr val="000000"/>
                        </a:solidFill>
                        <a:effectLst/>
                        <a:latin typeface="NEU-BZ-S92"/>
                        <a:ea typeface="方正书宋_GBK"/>
                        <a:cs typeface="Times New Roman" panose="02020603050405020304" pitchFamily="18" charset="0"/>
                      </a:endParaRPr>
                    </a:p>
                  </a:txBody>
                  <a:tcPr marL="0" marR="0" marT="0" marB="0" anchor="ctr"/>
                </a:tc>
                <a:tc>
                  <a:txBody>
                    <a:bodyPr/>
                    <a:lstStyle/>
                    <a:p>
                      <a:pPr algn="ctr">
                        <a:lnSpc>
                          <a:spcPct val="100000"/>
                        </a:lnSpc>
                        <a:spcAft>
                          <a:spcPts val="0"/>
                        </a:spcAft>
                      </a:pPr>
                      <a:r>
                        <a:rPr lang="en-US" sz="1400">
                          <a:effectLst/>
                        </a:rPr>
                        <a:t>-</a:t>
                      </a:r>
                      <a:endParaRPr lang="zh-CN" sz="1800" b="1">
                        <a:solidFill>
                          <a:srgbClr val="000000"/>
                        </a:solidFill>
                        <a:effectLst/>
                        <a:latin typeface="NEU-BZ-S92"/>
                        <a:ea typeface="方正书宋_GBK"/>
                        <a:cs typeface="Times New Roman" panose="02020603050405020304" pitchFamily="18" charset="0"/>
                      </a:endParaRPr>
                    </a:p>
                  </a:txBody>
                  <a:tcPr marL="0" marR="0" marT="0" marB="0" anchor="ctr"/>
                </a:tc>
                <a:tc>
                  <a:txBody>
                    <a:bodyPr/>
                    <a:lstStyle/>
                    <a:p>
                      <a:pPr algn="ctr">
                        <a:lnSpc>
                          <a:spcPct val="100000"/>
                        </a:lnSpc>
                        <a:spcAft>
                          <a:spcPts val="0"/>
                        </a:spcAft>
                      </a:pPr>
                      <a:r>
                        <a:rPr lang="en-US" sz="1400">
                          <a:effectLst/>
                        </a:rPr>
                        <a:t>-</a:t>
                      </a:r>
                      <a:endParaRPr lang="zh-CN" sz="1800" b="1">
                        <a:solidFill>
                          <a:srgbClr val="000000"/>
                        </a:solidFill>
                        <a:effectLst/>
                        <a:latin typeface="NEU-BZ-S92"/>
                        <a:ea typeface="方正书宋_GBK"/>
                        <a:cs typeface="Times New Roman" panose="02020603050405020304" pitchFamily="18" charset="0"/>
                      </a:endParaRPr>
                    </a:p>
                  </a:txBody>
                  <a:tcPr marL="0" marR="0" marT="0" marB="0" anchor="ctr"/>
                </a:tc>
                <a:tc>
                  <a:txBody>
                    <a:bodyPr/>
                    <a:lstStyle/>
                    <a:p>
                      <a:pPr algn="ctr">
                        <a:lnSpc>
                          <a:spcPct val="100000"/>
                        </a:lnSpc>
                        <a:spcAft>
                          <a:spcPts val="0"/>
                        </a:spcAft>
                      </a:pPr>
                      <a:r>
                        <a:rPr lang="en-US" sz="1400">
                          <a:effectLst/>
                        </a:rPr>
                        <a:t>-</a:t>
                      </a:r>
                      <a:endParaRPr lang="zh-CN" sz="1800" b="1">
                        <a:solidFill>
                          <a:srgbClr val="000000"/>
                        </a:solidFill>
                        <a:effectLst/>
                        <a:latin typeface="NEU-BZ-S92"/>
                        <a:ea typeface="方正书宋_GBK"/>
                        <a:cs typeface="Times New Roman" panose="02020603050405020304" pitchFamily="18" charset="0"/>
                      </a:endParaRPr>
                    </a:p>
                  </a:txBody>
                  <a:tcPr marL="0" marR="0" marT="0" marB="0" anchor="ctr"/>
                </a:tc>
                <a:tc>
                  <a:txBody>
                    <a:bodyPr/>
                    <a:lstStyle/>
                    <a:p>
                      <a:pPr algn="ctr">
                        <a:lnSpc>
                          <a:spcPct val="100000"/>
                        </a:lnSpc>
                        <a:spcAft>
                          <a:spcPts val="0"/>
                        </a:spcAft>
                      </a:pPr>
                      <a:r>
                        <a:rPr lang="zh-CN" sz="1400">
                          <a:effectLst/>
                        </a:rPr>
                        <a:t>左位</a:t>
                      </a:r>
                      <a:endParaRPr lang="zh-CN" sz="1800" b="1">
                        <a:solidFill>
                          <a:srgbClr val="000000"/>
                        </a:solidFill>
                        <a:effectLst/>
                        <a:latin typeface="NEU-BZ-S92"/>
                        <a:ea typeface="方正书宋_GBK"/>
                        <a:cs typeface="Times New Roman" panose="02020603050405020304" pitchFamily="18" charset="0"/>
                      </a:endParaRPr>
                    </a:p>
                  </a:txBody>
                  <a:tcPr marL="0" marR="0" marT="0" marB="0" anchor="ctr"/>
                </a:tc>
                <a:tc>
                  <a:txBody>
                    <a:bodyPr/>
                    <a:lstStyle/>
                    <a:p>
                      <a:pPr algn="ctr">
                        <a:lnSpc>
                          <a:spcPct val="100000"/>
                        </a:lnSpc>
                        <a:spcAft>
                          <a:spcPts val="0"/>
                        </a:spcAft>
                      </a:pPr>
                      <a:r>
                        <a:rPr lang="zh-CN" sz="1400">
                          <a:effectLst/>
                        </a:rPr>
                        <a:t>中位</a:t>
                      </a:r>
                      <a:endParaRPr lang="zh-CN" sz="1800" b="1">
                        <a:solidFill>
                          <a:srgbClr val="000000"/>
                        </a:solidFill>
                        <a:effectLst/>
                        <a:latin typeface="NEU-BZ-S92"/>
                        <a:ea typeface="方正书宋_GBK"/>
                        <a:cs typeface="Times New Roman" panose="02020603050405020304" pitchFamily="18" charset="0"/>
                      </a:endParaRPr>
                    </a:p>
                  </a:txBody>
                  <a:tcPr marL="0" marR="0" marT="0" marB="0" anchor="ctr"/>
                </a:tc>
                <a:tc>
                  <a:txBody>
                    <a:bodyPr/>
                    <a:lstStyle/>
                    <a:p>
                      <a:pPr algn="ctr">
                        <a:lnSpc>
                          <a:spcPct val="100000"/>
                        </a:lnSpc>
                        <a:spcAft>
                          <a:spcPts val="0"/>
                        </a:spcAft>
                      </a:pPr>
                      <a:r>
                        <a:rPr lang="zh-CN" sz="1400">
                          <a:effectLst/>
                        </a:rPr>
                        <a:t>前进①</a:t>
                      </a:r>
                      <a:endParaRPr lang="zh-CN" sz="1800" b="1">
                        <a:solidFill>
                          <a:srgbClr val="000000"/>
                        </a:solidFill>
                        <a:effectLst/>
                        <a:latin typeface="NEU-BZ-S92"/>
                        <a:ea typeface="方正书宋_GBK"/>
                        <a:cs typeface="Times New Roman" panose="02020603050405020304" pitchFamily="18" charset="0"/>
                      </a:endParaRPr>
                    </a:p>
                  </a:txBody>
                  <a:tcPr marL="0" marR="0" marT="0" marB="0" anchor="ctr"/>
                </a:tc>
                <a:tc>
                  <a:txBody>
                    <a:bodyPr/>
                    <a:lstStyle/>
                    <a:p>
                      <a:pPr algn="ctr">
                        <a:lnSpc>
                          <a:spcPct val="100000"/>
                        </a:lnSpc>
                        <a:spcAft>
                          <a:spcPts val="0"/>
                        </a:spcAft>
                      </a:pPr>
                      <a:r>
                        <a:rPr lang="zh-CN" sz="1400">
                          <a:effectLst/>
                        </a:rPr>
                        <a:t>停止</a:t>
                      </a:r>
                      <a:endParaRPr lang="zh-CN" sz="1800" b="1">
                        <a:solidFill>
                          <a:srgbClr val="000000"/>
                        </a:solidFill>
                        <a:effectLst/>
                        <a:latin typeface="NEU-BZ-S92"/>
                        <a:ea typeface="方正书宋_GBK"/>
                        <a:cs typeface="Times New Roman" panose="02020603050405020304" pitchFamily="18" charset="0"/>
                      </a:endParaRPr>
                    </a:p>
                  </a:txBody>
                  <a:tcPr marL="0" marR="0" marT="0" marB="0" anchor="ctr"/>
                </a:tc>
                <a:extLst>
                  <a:ext uri="{0D108BD9-81ED-4DB2-BD59-A6C34878D82A}">
                    <a16:rowId xmlns:a16="http://schemas.microsoft.com/office/drawing/2014/main" val="2142065831"/>
                  </a:ext>
                </a:extLst>
              </a:tr>
              <a:tr h="313352">
                <a:tc>
                  <a:txBody>
                    <a:bodyPr/>
                    <a:lstStyle/>
                    <a:p>
                      <a:pPr algn="ctr">
                        <a:lnSpc>
                          <a:spcPct val="100000"/>
                        </a:lnSpc>
                        <a:spcAft>
                          <a:spcPts val="0"/>
                        </a:spcAft>
                      </a:pPr>
                      <a:r>
                        <a:rPr lang="zh-CN" sz="1400">
                          <a:effectLst/>
                        </a:rPr>
                        <a:t>缸</a:t>
                      </a:r>
                      <a:r>
                        <a:rPr lang="en-US" sz="1400">
                          <a:effectLst/>
                        </a:rPr>
                        <a:t>2</a:t>
                      </a:r>
                      <a:r>
                        <a:rPr lang="zh-CN" sz="1400">
                          <a:effectLst/>
                        </a:rPr>
                        <a:t>挡块压下行程开关</a:t>
                      </a:r>
                      <a:r>
                        <a:rPr lang="en-US" sz="1400">
                          <a:effectLst/>
                        </a:rPr>
                        <a:t>4</a:t>
                      </a:r>
                      <a:endParaRPr lang="zh-CN" sz="1800" b="1">
                        <a:solidFill>
                          <a:srgbClr val="000000"/>
                        </a:solidFill>
                        <a:effectLst/>
                        <a:latin typeface="NEU-BZ-S92"/>
                        <a:ea typeface="方正书宋_GBK"/>
                        <a:cs typeface="Times New Roman" panose="02020603050405020304" pitchFamily="18" charset="0"/>
                      </a:endParaRPr>
                    </a:p>
                  </a:txBody>
                  <a:tcPr marL="0" marR="0" marT="0" marB="0" anchor="ctr"/>
                </a:tc>
                <a:tc>
                  <a:txBody>
                    <a:bodyPr/>
                    <a:lstStyle/>
                    <a:p>
                      <a:pPr algn="ctr">
                        <a:lnSpc>
                          <a:spcPct val="100000"/>
                        </a:lnSpc>
                        <a:spcAft>
                          <a:spcPts val="0"/>
                        </a:spcAft>
                      </a:pPr>
                      <a:r>
                        <a:rPr lang="en-US" sz="1400" dirty="0">
                          <a:effectLst/>
                        </a:rPr>
                        <a:t>-</a:t>
                      </a:r>
                      <a:endParaRPr lang="zh-CN" sz="1800" b="1" dirty="0">
                        <a:solidFill>
                          <a:srgbClr val="000000"/>
                        </a:solidFill>
                        <a:effectLst/>
                        <a:latin typeface="NEU-BZ-S92"/>
                        <a:ea typeface="方正书宋_GBK"/>
                        <a:cs typeface="Times New Roman" panose="02020603050405020304" pitchFamily="18" charset="0"/>
                      </a:endParaRPr>
                    </a:p>
                  </a:txBody>
                  <a:tcPr marL="0" marR="0" marT="0" marB="0" anchor="ctr"/>
                </a:tc>
                <a:tc>
                  <a:txBody>
                    <a:bodyPr/>
                    <a:lstStyle/>
                    <a:p>
                      <a:pPr algn="ctr">
                        <a:lnSpc>
                          <a:spcPct val="100000"/>
                        </a:lnSpc>
                        <a:spcAft>
                          <a:spcPts val="0"/>
                        </a:spcAft>
                      </a:pPr>
                      <a:r>
                        <a:rPr lang="en-US" sz="1400">
                          <a:effectLst/>
                        </a:rPr>
                        <a:t>-</a:t>
                      </a:r>
                      <a:endParaRPr lang="zh-CN" sz="1800" b="1">
                        <a:solidFill>
                          <a:srgbClr val="000000"/>
                        </a:solidFill>
                        <a:effectLst/>
                        <a:latin typeface="NEU-BZ-S92"/>
                        <a:ea typeface="方正书宋_GBK"/>
                        <a:cs typeface="Times New Roman" panose="02020603050405020304" pitchFamily="18" charset="0"/>
                      </a:endParaRPr>
                    </a:p>
                  </a:txBody>
                  <a:tcPr marL="0" marR="0" marT="0" marB="0" anchor="ctr"/>
                </a:tc>
                <a:tc>
                  <a:txBody>
                    <a:bodyPr/>
                    <a:lstStyle/>
                    <a:p>
                      <a:pPr algn="ctr">
                        <a:lnSpc>
                          <a:spcPct val="100000"/>
                        </a:lnSpc>
                        <a:spcAft>
                          <a:spcPts val="0"/>
                        </a:spcAft>
                      </a:pPr>
                      <a:r>
                        <a:rPr lang="en-US" sz="1400">
                          <a:effectLst/>
                        </a:rPr>
                        <a:t>+</a:t>
                      </a:r>
                      <a:endParaRPr lang="zh-CN" sz="1800" b="1">
                        <a:solidFill>
                          <a:srgbClr val="000000"/>
                        </a:solidFill>
                        <a:effectLst/>
                        <a:latin typeface="NEU-BZ-S92"/>
                        <a:ea typeface="方正书宋_GBK"/>
                        <a:cs typeface="Times New Roman" panose="02020603050405020304" pitchFamily="18" charset="0"/>
                      </a:endParaRPr>
                    </a:p>
                  </a:txBody>
                  <a:tcPr marL="0" marR="0" marT="0" marB="0" anchor="ctr"/>
                </a:tc>
                <a:tc>
                  <a:txBody>
                    <a:bodyPr/>
                    <a:lstStyle/>
                    <a:p>
                      <a:pPr algn="ctr">
                        <a:lnSpc>
                          <a:spcPct val="100000"/>
                        </a:lnSpc>
                        <a:spcAft>
                          <a:spcPts val="0"/>
                        </a:spcAft>
                      </a:pPr>
                      <a:r>
                        <a:rPr lang="en-US" sz="1400">
                          <a:effectLst/>
                        </a:rPr>
                        <a:t>-</a:t>
                      </a:r>
                      <a:endParaRPr lang="zh-CN" sz="1800" b="1">
                        <a:solidFill>
                          <a:srgbClr val="000000"/>
                        </a:solidFill>
                        <a:effectLst/>
                        <a:latin typeface="NEU-BZ-S92"/>
                        <a:ea typeface="方正书宋_GBK"/>
                        <a:cs typeface="Times New Roman" panose="02020603050405020304" pitchFamily="18" charset="0"/>
                      </a:endParaRPr>
                    </a:p>
                  </a:txBody>
                  <a:tcPr marL="0" marR="0" marT="0" marB="0" anchor="ctr"/>
                </a:tc>
                <a:tc>
                  <a:txBody>
                    <a:bodyPr/>
                    <a:lstStyle/>
                    <a:p>
                      <a:pPr algn="ctr">
                        <a:lnSpc>
                          <a:spcPct val="100000"/>
                        </a:lnSpc>
                        <a:spcAft>
                          <a:spcPts val="0"/>
                        </a:spcAft>
                      </a:pPr>
                      <a:r>
                        <a:rPr lang="zh-CN" sz="1400" dirty="0">
                          <a:effectLst/>
                        </a:rPr>
                        <a:t>中位</a:t>
                      </a:r>
                      <a:endParaRPr lang="zh-CN" sz="1800" b="1" dirty="0">
                        <a:solidFill>
                          <a:srgbClr val="000000"/>
                        </a:solidFill>
                        <a:effectLst/>
                        <a:latin typeface="NEU-BZ-S92"/>
                        <a:ea typeface="方正书宋_GBK"/>
                        <a:cs typeface="Times New Roman" panose="02020603050405020304" pitchFamily="18" charset="0"/>
                      </a:endParaRPr>
                    </a:p>
                  </a:txBody>
                  <a:tcPr marL="0" marR="0" marT="0" marB="0" anchor="ctr"/>
                </a:tc>
                <a:tc>
                  <a:txBody>
                    <a:bodyPr/>
                    <a:lstStyle/>
                    <a:p>
                      <a:pPr algn="ctr">
                        <a:lnSpc>
                          <a:spcPct val="100000"/>
                        </a:lnSpc>
                        <a:spcAft>
                          <a:spcPts val="0"/>
                        </a:spcAft>
                      </a:pPr>
                      <a:r>
                        <a:rPr lang="zh-CN" sz="1400">
                          <a:effectLst/>
                        </a:rPr>
                        <a:t>左位</a:t>
                      </a:r>
                      <a:endParaRPr lang="zh-CN" sz="1800" b="1">
                        <a:solidFill>
                          <a:srgbClr val="000000"/>
                        </a:solidFill>
                        <a:effectLst/>
                        <a:latin typeface="NEU-BZ-S92"/>
                        <a:ea typeface="方正书宋_GBK"/>
                        <a:cs typeface="Times New Roman" panose="02020603050405020304" pitchFamily="18" charset="0"/>
                      </a:endParaRPr>
                    </a:p>
                  </a:txBody>
                  <a:tcPr marL="0" marR="0" marT="0" marB="0" anchor="ctr"/>
                </a:tc>
                <a:tc>
                  <a:txBody>
                    <a:bodyPr/>
                    <a:lstStyle/>
                    <a:p>
                      <a:pPr algn="ctr">
                        <a:lnSpc>
                          <a:spcPct val="100000"/>
                        </a:lnSpc>
                        <a:spcAft>
                          <a:spcPts val="0"/>
                        </a:spcAft>
                      </a:pPr>
                      <a:r>
                        <a:rPr lang="zh-CN" sz="1400">
                          <a:effectLst/>
                        </a:rPr>
                        <a:t>停止</a:t>
                      </a:r>
                      <a:endParaRPr lang="zh-CN" sz="1800" b="1">
                        <a:solidFill>
                          <a:srgbClr val="000000"/>
                        </a:solidFill>
                        <a:effectLst/>
                        <a:latin typeface="NEU-BZ-S92"/>
                        <a:ea typeface="方正书宋_GBK"/>
                        <a:cs typeface="Times New Roman" panose="02020603050405020304" pitchFamily="18" charset="0"/>
                      </a:endParaRPr>
                    </a:p>
                  </a:txBody>
                  <a:tcPr marL="0" marR="0" marT="0" marB="0" anchor="ctr"/>
                </a:tc>
                <a:tc>
                  <a:txBody>
                    <a:bodyPr/>
                    <a:lstStyle/>
                    <a:p>
                      <a:pPr algn="ctr">
                        <a:lnSpc>
                          <a:spcPct val="100000"/>
                        </a:lnSpc>
                        <a:spcAft>
                          <a:spcPts val="0"/>
                        </a:spcAft>
                      </a:pPr>
                      <a:r>
                        <a:rPr lang="zh-CN" sz="1400">
                          <a:effectLst/>
                        </a:rPr>
                        <a:t>前进②</a:t>
                      </a:r>
                      <a:endParaRPr lang="zh-CN" sz="1800" b="1">
                        <a:solidFill>
                          <a:srgbClr val="000000"/>
                        </a:solidFill>
                        <a:effectLst/>
                        <a:latin typeface="NEU-BZ-S92"/>
                        <a:ea typeface="方正书宋_GBK"/>
                        <a:cs typeface="Times New Roman" panose="02020603050405020304" pitchFamily="18" charset="0"/>
                      </a:endParaRPr>
                    </a:p>
                  </a:txBody>
                  <a:tcPr marL="0" marR="0" marT="0" marB="0" anchor="ctr"/>
                </a:tc>
                <a:extLst>
                  <a:ext uri="{0D108BD9-81ED-4DB2-BD59-A6C34878D82A}">
                    <a16:rowId xmlns:a16="http://schemas.microsoft.com/office/drawing/2014/main" val="2847163509"/>
                  </a:ext>
                </a:extLst>
              </a:tr>
              <a:tr h="313352">
                <a:tc>
                  <a:txBody>
                    <a:bodyPr/>
                    <a:lstStyle/>
                    <a:p>
                      <a:pPr algn="ctr">
                        <a:lnSpc>
                          <a:spcPct val="100000"/>
                        </a:lnSpc>
                        <a:spcAft>
                          <a:spcPts val="0"/>
                        </a:spcAft>
                      </a:pPr>
                      <a:r>
                        <a:rPr lang="zh-CN" sz="1400">
                          <a:effectLst/>
                        </a:rPr>
                        <a:t>缸</a:t>
                      </a:r>
                      <a:r>
                        <a:rPr lang="en-US" sz="1400">
                          <a:effectLst/>
                        </a:rPr>
                        <a:t>5</a:t>
                      </a:r>
                      <a:r>
                        <a:rPr lang="zh-CN" sz="1400">
                          <a:effectLst/>
                        </a:rPr>
                        <a:t>挡块压下行程开关</a:t>
                      </a:r>
                      <a:r>
                        <a:rPr lang="en-US" sz="1400">
                          <a:effectLst/>
                        </a:rPr>
                        <a:t>7</a:t>
                      </a:r>
                      <a:endParaRPr lang="zh-CN" sz="1800" b="1">
                        <a:solidFill>
                          <a:srgbClr val="000000"/>
                        </a:solidFill>
                        <a:effectLst/>
                        <a:latin typeface="NEU-BZ-S92"/>
                        <a:ea typeface="方正书宋_GBK"/>
                        <a:cs typeface="Times New Roman" panose="02020603050405020304" pitchFamily="18" charset="0"/>
                      </a:endParaRPr>
                    </a:p>
                  </a:txBody>
                  <a:tcPr marL="0" marR="0" marT="0" marB="0" anchor="ctr"/>
                </a:tc>
                <a:tc>
                  <a:txBody>
                    <a:bodyPr/>
                    <a:lstStyle/>
                    <a:p>
                      <a:pPr algn="ctr">
                        <a:lnSpc>
                          <a:spcPct val="100000"/>
                        </a:lnSpc>
                        <a:spcAft>
                          <a:spcPts val="0"/>
                        </a:spcAft>
                      </a:pPr>
                      <a:r>
                        <a:rPr lang="en-US" sz="1400" dirty="0">
                          <a:effectLst/>
                        </a:rPr>
                        <a:t>-</a:t>
                      </a:r>
                      <a:endParaRPr lang="zh-CN" sz="1800" b="1" dirty="0">
                        <a:solidFill>
                          <a:srgbClr val="000000"/>
                        </a:solidFill>
                        <a:effectLst/>
                        <a:latin typeface="NEU-BZ-S92"/>
                        <a:ea typeface="方正书宋_GBK"/>
                        <a:cs typeface="Times New Roman" panose="02020603050405020304" pitchFamily="18" charset="0"/>
                      </a:endParaRPr>
                    </a:p>
                  </a:txBody>
                  <a:tcPr marL="0" marR="0" marT="0" marB="0" anchor="ctr"/>
                </a:tc>
                <a:tc>
                  <a:txBody>
                    <a:bodyPr/>
                    <a:lstStyle/>
                    <a:p>
                      <a:pPr algn="ctr">
                        <a:lnSpc>
                          <a:spcPct val="100000"/>
                        </a:lnSpc>
                        <a:spcAft>
                          <a:spcPts val="0"/>
                        </a:spcAft>
                      </a:pPr>
                      <a:r>
                        <a:rPr lang="en-US" sz="1400">
                          <a:effectLst/>
                        </a:rPr>
                        <a:t>+</a:t>
                      </a:r>
                      <a:endParaRPr lang="zh-CN" sz="1800" b="1">
                        <a:solidFill>
                          <a:srgbClr val="000000"/>
                        </a:solidFill>
                        <a:effectLst/>
                        <a:latin typeface="NEU-BZ-S92"/>
                        <a:ea typeface="方正书宋_GBK"/>
                        <a:cs typeface="Times New Roman" panose="02020603050405020304" pitchFamily="18" charset="0"/>
                      </a:endParaRPr>
                    </a:p>
                  </a:txBody>
                  <a:tcPr marL="0" marR="0" marT="0" marB="0" anchor="ctr"/>
                </a:tc>
                <a:tc>
                  <a:txBody>
                    <a:bodyPr/>
                    <a:lstStyle/>
                    <a:p>
                      <a:pPr algn="ctr">
                        <a:lnSpc>
                          <a:spcPct val="100000"/>
                        </a:lnSpc>
                        <a:spcAft>
                          <a:spcPts val="0"/>
                        </a:spcAft>
                      </a:pPr>
                      <a:r>
                        <a:rPr lang="en-US" sz="1400">
                          <a:effectLst/>
                        </a:rPr>
                        <a:t>-</a:t>
                      </a:r>
                      <a:endParaRPr lang="zh-CN" sz="1800" b="1">
                        <a:solidFill>
                          <a:srgbClr val="000000"/>
                        </a:solidFill>
                        <a:effectLst/>
                        <a:latin typeface="NEU-BZ-S92"/>
                        <a:ea typeface="方正书宋_GBK"/>
                        <a:cs typeface="Times New Roman" panose="02020603050405020304" pitchFamily="18" charset="0"/>
                      </a:endParaRPr>
                    </a:p>
                  </a:txBody>
                  <a:tcPr marL="0" marR="0" marT="0" marB="0" anchor="ctr"/>
                </a:tc>
                <a:tc>
                  <a:txBody>
                    <a:bodyPr/>
                    <a:lstStyle/>
                    <a:p>
                      <a:pPr algn="ctr">
                        <a:lnSpc>
                          <a:spcPct val="100000"/>
                        </a:lnSpc>
                        <a:spcAft>
                          <a:spcPts val="0"/>
                        </a:spcAft>
                      </a:pPr>
                      <a:r>
                        <a:rPr lang="en-US" sz="1400">
                          <a:effectLst/>
                        </a:rPr>
                        <a:t>-</a:t>
                      </a:r>
                      <a:endParaRPr lang="zh-CN" sz="1800" b="1">
                        <a:solidFill>
                          <a:srgbClr val="000000"/>
                        </a:solidFill>
                        <a:effectLst/>
                        <a:latin typeface="NEU-BZ-S92"/>
                        <a:ea typeface="方正书宋_GBK"/>
                        <a:cs typeface="Times New Roman" panose="02020603050405020304" pitchFamily="18" charset="0"/>
                      </a:endParaRPr>
                    </a:p>
                  </a:txBody>
                  <a:tcPr marL="0" marR="0" marT="0" marB="0" anchor="ctr"/>
                </a:tc>
                <a:tc>
                  <a:txBody>
                    <a:bodyPr/>
                    <a:lstStyle/>
                    <a:p>
                      <a:pPr algn="ctr">
                        <a:lnSpc>
                          <a:spcPct val="100000"/>
                        </a:lnSpc>
                        <a:spcAft>
                          <a:spcPts val="0"/>
                        </a:spcAft>
                      </a:pPr>
                      <a:r>
                        <a:rPr lang="zh-CN" sz="1400">
                          <a:effectLst/>
                        </a:rPr>
                        <a:t>右位</a:t>
                      </a:r>
                      <a:endParaRPr lang="zh-CN" sz="1800" b="1">
                        <a:solidFill>
                          <a:srgbClr val="000000"/>
                        </a:solidFill>
                        <a:effectLst/>
                        <a:latin typeface="NEU-BZ-S92"/>
                        <a:ea typeface="方正书宋_GBK"/>
                        <a:cs typeface="Times New Roman" panose="02020603050405020304" pitchFamily="18" charset="0"/>
                      </a:endParaRPr>
                    </a:p>
                  </a:txBody>
                  <a:tcPr marL="0" marR="0" marT="0" marB="0" anchor="ctr"/>
                </a:tc>
                <a:tc>
                  <a:txBody>
                    <a:bodyPr/>
                    <a:lstStyle/>
                    <a:p>
                      <a:pPr algn="ctr">
                        <a:lnSpc>
                          <a:spcPct val="100000"/>
                        </a:lnSpc>
                        <a:spcAft>
                          <a:spcPts val="0"/>
                        </a:spcAft>
                      </a:pPr>
                      <a:r>
                        <a:rPr lang="zh-CN" sz="1400">
                          <a:effectLst/>
                        </a:rPr>
                        <a:t>中位</a:t>
                      </a:r>
                      <a:endParaRPr lang="zh-CN" sz="1800" b="1">
                        <a:solidFill>
                          <a:srgbClr val="000000"/>
                        </a:solidFill>
                        <a:effectLst/>
                        <a:latin typeface="NEU-BZ-S92"/>
                        <a:ea typeface="方正书宋_GBK"/>
                        <a:cs typeface="Times New Roman" panose="02020603050405020304" pitchFamily="18" charset="0"/>
                      </a:endParaRPr>
                    </a:p>
                  </a:txBody>
                  <a:tcPr marL="0" marR="0" marT="0" marB="0" anchor="ctr"/>
                </a:tc>
                <a:tc>
                  <a:txBody>
                    <a:bodyPr/>
                    <a:lstStyle/>
                    <a:p>
                      <a:pPr algn="ctr">
                        <a:lnSpc>
                          <a:spcPct val="100000"/>
                        </a:lnSpc>
                        <a:spcAft>
                          <a:spcPts val="0"/>
                        </a:spcAft>
                      </a:pPr>
                      <a:r>
                        <a:rPr lang="zh-CN" sz="1400">
                          <a:effectLst/>
                        </a:rPr>
                        <a:t>返回③</a:t>
                      </a:r>
                      <a:endParaRPr lang="zh-CN" sz="1800" b="1">
                        <a:solidFill>
                          <a:srgbClr val="000000"/>
                        </a:solidFill>
                        <a:effectLst/>
                        <a:latin typeface="NEU-BZ-S92"/>
                        <a:ea typeface="方正书宋_GBK"/>
                        <a:cs typeface="Times New Roman" panose="02020603050405020304" pitchFamily="18" charset="0"/>
                      </a:endParaRPr>
                    </a:p>
                  </a:txBody>
                  <a:tcPr marL="0" marR="0" marT="0" marB="0" anchor="ctr"/>
                </a:tc>
                <a:tc>
                  <a:txBody>
                    <a:bodyPr/>
                    <a:lstStyle/>
                    <a:p>
                      <a:pPr algn="ctr">
                        <a:lnSpc>
                          <a:spcPct val="100000"/>
                        </a:lnSpc>
                        <a:spcAft>
                          <a:spcPts val="0"/>
                        </a:spcAft>
                      </a:pPr>
                      <a:r>
                        <a:rPr lang="zh-CN" sz="1400">
                          <a:effectLst/>
                        </a:rPr>
                        <a:t>停止</a:t>
                      </a:r>
                      <a:endParaRPr lang="zh-CN" sz="1800" b="1">
                        <a:solidFill>
                          <a:srgbClr val="000000"/>
                        </a:solidFill>
                        <a:effectLst/>
                        <a:latin typeface="NEU-BZ-S92"/>
                        <a:ea typeface="方正书宋_GBK"/>
                        <a:cs typeface="Times New Roman" panose="02020603050405020304" pitchFamily="18" charset="0"/>
                      </a:endParaRPr>
                    </a:p>
                  </a:txBody>
                  <a:tcPr marL="0" marR="0" marT="0" marB="0" anchor="ctr"/>
                </a:tc>
                <a:extLst>
                  <a:ext uri="{0D108BD9-81ED-4DB2-BD59-A6C34878D82A}">
                    <a16:rowId xmlns:a16="http://schemas.microsoft.com/office/drawing/2014/main" val="2584942552"/>
                  </a:ext>
                </a:extLst>
              </a:tr>
              <a:tr h="313352">
                <a:tc>
                  <a:txBody>
                    <a:bodyPr/>
                    <a:lstStyle/>
                    <a:p>
                      <a:pPr algn="ctr">
                        <a:lnSpc>
                          <a:spcPct val="100000"/>
                        </a:lnSpc>
                        <a:spcAft>
                          <a:spcPts val="0"/>
                        </a:spcAft>
                      </a:pPr>
                      <a:r>
                        <a:rPr lang="zh-CN" sz="1400" dirty="0">
                          <a:effectLst/>
                        </a:rPr>
                        <a:t>缸</a:t>
                      </a:r>
                      <a:r>
                        <a:rPr lang="en-US" sz="1400" dirty="0">
                          <a:effectLst/>
                        </a:rPr>
                        <a:t>2</a:t>
                      </a:r>
                      <a:r>
                        <a:rPr lang="zh-CN" sz="1400" dirty="0">
                          <a:effectLst/>
                        </a:rPr>
                        <a:t>挡块压下行程开关</a:t>
                      </a:r>
                      <a:r>
                        <a:rPr lang="en-US" sz="1400" dirty="0">
                          <a:effectLst/>
                        </a:rPr>
                        <a:t>3</a:t>
                      </a:r>
                      <a:endParaRPr lang="zh-CN" sz="1800" b="1" dirty="0">
                        <a:solidFill>
                          <a:srgbClr val="000000"/>
                        </a:solidFill>
                        <a:effectLst/>
                        <a:latin typeface="NEU-BZ-S92"/>
                        <a:ea typeface="方正书宋_GBK"/>
                        <a:cs typeface="Times New Roman" panose="02020603050405020304" pitchFamily="18" charset="0"/>
                      </a:endParaRPr>
                    </a:p>
                  </a:txBody>
                  <a:tcPr marL="0" marR="0" marT="0" marB="0" anchor="ctr"/>
                </a:tc>
                <a:tc>
                  <a:txBody>
                    <a:bodyPr/>
                    <a:lstStyle/>
                    <a:p>
                      <a:pPr algn="ctr">
                        <a:lnSpc>
                          <a:spcPct val="100000"/>
                        </a:lnSpc>
                        <a:spcAft>
                          <a:spcPts val="0"/>
                        </a:spcAft>
                      </a:pPr>
                      <a:r>
                        <a:rPr lang="en-US" sz="1400" dirty="0">
                          <a:effectLst/>
                        </a:rPr>
                        <a:t>-</a:t>
                      </a:r>
                      <a:endParaRPr lang="zh-CN" sz="1800" b="1" dirty="0">
                        <a:solidFill>
                          <a:srgbClr val="000000"/>
                        </a:solidFill>
                        <a:effectLst/>
                        <a:latin typeface="NEU-BZ-S92"/>
                        <a:ea typeface="方正书宋_GBK"/>
                        <a:cs typeface="Times New Roman" panose="02020603050405020304" pitchFamily="18" charset="0"/>
                      </a:endParaRPr>
                    </a:p>
                  </a:txBody>
                  <a:tcPr marL="0" marR="0" marT="0" marB="0" anchor="ctr"/>
                </a:tc>
                <a:tc>
                  <a:txBody>
                    <a:bodyPr/>
                    <a:lstStyle/>
                    <a:p>
                      <a:pPr algn="ctr">
                        <a:lnSpc>
                          <a:spcPct val="100000"/>
                        </a:lnSpc>
                        <a:spcAft>
                          <a:spcPts val="0"/>
                        </a:spcAft>
                      </a:pPr>
                      <a:r>
                        <a:rPr lang="en-US" sz="1400">
                          <a:effectLst/>
                        </a:rPr>
                        <a:t>-</a:t>
                      </a:r>
                      <a:endParaRPr lang="zh-CN" sz="1800" b="1">
                        <a:solidFill>
                          <a:srgbClr val="000000"/>
                        </a:solidFill>
                        <a:effectLst/>
                        <a:latin typeface="NEU-BZ-S92"/>
                        <a:ea typeface="方正书宋_GBK"/>
                        <a:cs typeface="Times New Roman" panose="02020603050405020304" pitchFamily="18" charset="0"/>
                      </a:endParaRPr>
                    </a:p>
                  </a:txBody>
                  <a:tcPr marL="0" marR="0" marT="0" marB="0" anchor="ctr"/>
                </a:tc>
                <a:tc>
                  <a:txBody>
                    <a:bodyPr/>
                    <a:lstStyle/>
                    <a:p>
                      <a:pPr algn="ctr">
                        <a:lnSpc>
                          <a:spcPct val="100000"/>
                        </a:lnSpc>
                        <a:spcAft>
                          <a:spcPts val="0"/>
                        </a:spcAft>
                      </a:pPr>
                      <a:r>
                        <a:rPr lang="en-US" sz="1400">
                          <a:effectLst/>
                        </a:rPr>
                        <a:t>-</a:t>
                      </a:r>
                      <a:endParaRPr lang="zh-CN" sz="1800" b="1">
                        <a:solidFill>
                          <a:srgbClr val="000000"/>
                        </a:solidFill>
                        <a:effectLst/>
                        <a:latin typeface="NEU-BZ-S92"/>
                        <a:ea typeface="方正书宋_GBK"/>
                        <a:cs typeface="Times New Roman" panose="02020603050405020304" pitchFamily="18" charset="0"/>
                      </a:endParaRPr>
                    </a:p>
                  </a:txBody>
                  <a:tcPr marL="0" marR="0" marT="0" marB="0" anchor="ctr"/>
                </a:tc>
                <a:tc>
                  <a:txBody>
                    <a:bodyPr/>
                    <a:lstStyle/>
                    <a:p>
                      <a:pPr algn="ctr">
                        <a:lnSpc>
                          <a:spcPct val="100000"/>
                        </a:lnSpc>
                        <a:spcAft>
                          <a:spcPts val="0"/>
                        </a:spcAft>
                      </a:pPr>
                      <a:r>
                        <a:rPr lang="en-US" sz="1400">
                          <a:effectLst/>
                        </a:rPr>
                        <a:t>+</a:t>
                      </a:r>
                      <a:endParaRPr lang="zh-CN" sz="1800" b="1">
                        <a:solidFill>
                          <a:srgbClr val="000000"/>
                        </a:solidFill>
                        <a:effectLst/>
                        <a:latin typeface="NEU-BZ-S92"/>
                        <a:ea typeface="方正书宋_GBK"/>
                        <a:cs typeface="Times New Roman" panose="02020603050405020304" pitchFamily="18" charset="0"/>
                      </a:endParaRPr>
                    </a:p>
                  </a:txBody>
                  <a:tcPr marL="0" marR="0" marT="0" marB="0" anchor="ctr"/>
                </a:tc>
                <a:tc>
                  <a:txBody>
                    <a:bodyPr/>
                    <a:lstStyle/>
                    <a:p>
                      <a:pPr algn="ctr">
                        <a:lnSpc>
                          <a:spcPct val="100000"/>
                        </a:lnSpc>
                        <a:spcAft>
                          <a:spcPts val="0"/>
                        </a:spcAft>
                      </a:pPr>
                      <a:r>
                        <a:rPr lang="zh-CN" sz="1400">
                          <a:effectLst/>
                        </a:rPr>
                        <a:t>中位</a:t>
                      </a:r>
                      <a:endParaRPr lang="zh-CN" sz="1800" b="1">
                        <a:solidFill>
                          <a:srgbClr val="000000"/>
                        </a:solidFill>
                        <a:effectLst/>
                        <a:latin typeface="NEU-BZ-S92"/>
                        <a:ea typeface="方正书宋_GBK"/>
                        <a:cs typeface="Times New Roman" panose="02020603050405020304" pitchFamily="18" charset="0"/>
                      </a:endParaRPr>
                    </a:p>
                  </a:txBody>
                  <a:tcPr marL="0" marR="0" marT="0" marB="0" anchor="ctr"/>
                </a:tc>
                <a:tc>
                  <a:txBody>
                    <a:bodyPr/>
                    <a:lstStyle/>
                    <a:p>
                      <a:pPr algn="ctr">
                        <a:lnSpc>
                          <a:spcPct val="100000"/>
                        </a:lnSpc>
                        <a:spcAft>
                          <a:spcPts val="0"/>
                        </a:spcAft>
                      </a:pPr>
                      <a:r>
                        <a:rPr lang="zh-CN" sz="1400">
                          <a:effectLst/>
                        </a:rPr>
                        <a:t>右位</a:t>
                      </a:r>
                      <a:endParaRPr lang="zh-CN" sz="1800" b="1">
                        <a:solidFill>
                          <a:srgbClr val="000000"/>
                        </a:solidFill>
                        <a:effectLst/>
                        <a:latin typeface="NEU-BZ-S92"/>
                        <a:ea typeface="方正书宋_GBK"/>
                        <a:cs typeface="Times New Roman" panose="02020603050405020304" pitchFamily="18" charset="0"/>
                      </a:endParaRPr>
                    </a:p>
                  </a:txBody>
                  <a:tcPr marL="0" marR="0" marT="0" marB="0" anchor="ctr"/>
                </a:tc>
                <a:tc>
                  <a:txBody>
                    <a:bodyPr/>
                    <a:lstStyle/>
                    <a:p>
                      <a:pPr algn="ctr">
                        <a:lnSpc>
                          <a:spcPct val="100000"/>
                        </a:lnSpc>
                        <a:spcAft>
                          <a:spcPts val="0"/>
                        </a:spcAft>
                      </a:pPr>
                      <a:r>
                        <a:rPr lang="zh-CN" sz="1400">
                          <a:effectLst/>
                        </a:rPr>
                        <a:t>停止</a:t>
                      </a:r>
                      <a:endParaRPr lang="zh-CN" sz="1800" b="1">
                        <a:solidFill>
                          <a:srgbClr val="000000"/>
                        </a:solidFill>
                        <a:effectLst/>
                        <a:latin typeface="NEU-BZ-S92"/>
                        <a:ea typeface="方正书宋_GBK"/>
                        <a:cs typeface="Times New Roman" panose="02020603050405020304" pitchFamily="18" charset="0"/>
                      </a:endParaRPr>
                    </a:p>
                  </a:txBody>
                  <a:tcPr marL="0" marR="0" marT="0" marB="0" anchor="ctr"/>
                </a:tc>
                <a:tc>
                  <a:txBody>
                    <a:bodyPr/>
                    <a:lstStyle/>
                    <a:p>
                      <a:pPr algn="ctr">
                        <a:lnSpc>
                          <a:spcPct val="100000"/>
                        </a:lnSpc>
                        <a:spcAft>
                          <a:spcPts val="0"/>
                        </a:spcAft>
                      </a:pPr>
                      <a:r>
                        <a:rPr lang="zh-CN" sz="1400">
                          <a:effectLst/>
                        </a:rPr>
                        <a:t>返回④</a:t>
                      </a:r>
                      <a:endParaRPr lang="zh-CN" sz="1800" b="1">
                        <a:solidFill>
                          <a:srgbClr val="000000"/>
                        </a:solidFill>
                        <a:effectLst/>
                        <a:latin typeface="NEU-BZ-S92"/>
                        <a:ea typeface="方正书宋_GBK"/>
                        <a:cs typeface="Times New Roman" panose="02020603050405020304" pitchFamily="18" charset="0"/>
                      </a:endParaRPr>
                    </a:p>
                  </a:txBody>
                  <a:tcPr marL="0" marR="0" marT="0" marB="0" anchor="ctr"/>
                </a:tc>
                <a:extLst>
                  <a:ext uri="{0D108BD9-81ED-4DB2-BD59-A6C34878D82A}">
                    <a16:rowId xmlns:a16="http://schemas.microsoft.com/office/drawing/2014/main" val="1062234159"/>
                  </a:ext>
                </a:extLst>
              </a:tr>
              <a:tr h="313352">
                <a:tc>
                  <a:txBody>
                    <a:bodyPr/>
                    <a:lstStyle/>
                    <a:p>
                      <a:pPr algn="ctr">
                        <a:lnSpc>
                          <a:spcPct val="100000"/>
                        </a:lnSpc>
                        <a:spcAft>
                          <a:spcPts val="0"/>
                        </a:spcAft>
                      </a:pPr>
                      <a:r>
                        <a:rPr lang="zh-CN" sz="1400" dirty="0">
                          <a:effectLst/>
                        </a:rPr>
                        <a:t>缸</a:t>
                      </a:r>
                      <a:r>
                        <a:rPr lang="en-US" sz="1400" dirty="0">
                          <a:effectLst/>
                        </a:rPr>
                        <a:t>5</a:t>
                      </a:r>
                      <a:r>
                        <a:rPr lang="zh-CN" sz="1400" dirty="0">
                          <a:effectLst/>
                        </a:rPr>
                        <a:t>挡块压下行程开关</a:t>
                      </a:r>
                      <a:r>
                        <a:rPr lang="en-US" sz="1400" dirty="0">
                          <a:effectLst/>
                        </a:rPr>
                        <a:t>6</a:t>
                      </a:r>
                      <a:endParaRPr lang="zh-CN" sz="1800" b="1" dirty="0">
                        <a:solidFill>
                          <a:srgbClr val="000000"/>
                        </a:solidFill>
                        <a:effectLst/>
                        <a:latin typeface="NEU-BZ-S92"/>
                        <a:ea typeface="方正书宋_GBK"/>
                        <a:cs typeface="Times New Roman" panose="02020603050405020304" pitchFamily="18" charset="0"/>
                      </a:endParaRPr>
                    </a:p>
                  </a:txBody>
                  <a:tcPr marL="0" marR="0" marT="0" marB="0" anchor="ctr"/>
                </a:tc>
                <a:tc>
                  <a:txBody>
                    <a:bodyPr/>
                    <a:lstStyle/>
                    <a:p>
                      <a:pPr algn="ctr">
                        <a:lnSpc>
                          <a:spcPct val="100000"/>
                        </a:lnSpc>
                        <a:spcAft>
                          <a:spcPts val="0"/>
                        </a:spcAft>
                      </a:pPr>
                      <a:r>
                        <a:rPr lang="en-US" sz="1400" dirty="0">
                          <a:effectLst/>
                        </a:rPr>
                        <a:t>-</a:t>
                      </a:r>
                      <a:endParaRPr lang="zh-CN" sz="1800" b="1" dirty="0">
                        <a:solidFill>
                          <a:srgbClr val="000000"/>
                        </a:solidFill>
                        <a:effectLst/>
                        <a:latin typeface="NEU-BZ-S92"/>
                        <a:ea typeface="方正书宋_GBK"/>
                        <a:cs typeface="Times New Roman" panose="02020603050405020304" pitchFamily="18" charset="0"/>
                      </a:endParaRPr>
                    </a:p>
                  </a:txBody>
                  <a:tcPr marL="0" marR="0" marT="0" marB="0" anchor="ctr"/>
                </a:tc>
                <a:tc>
                  <a:txBody>
                    <a:bodyPr/>
                    <a:lstStyle/>
                    <a:p>
                      <a:pPr algn="ctr">
                        <a:lnSpc>
                          <a:spcPct val="100000"/>
                        </a:lnSpc>
                        <a:spcAft>
                          <a:spcPts val="0"/>
                        </a:spcAft>
                      </a:pPr>
                      <a:r>
                        <a:rPr lang="en-US" sz="1400" dirty="0">
                          <a:effectLst/>
                        </a:rPr>
                        <a:t>-</a:t>
                      </a:r>
                      <a:endParaRPr lang="zh-CN" sz="1800" b="1" dirty="0">
                        <a:solidFill>
                          <a:srgbClr val="000000"/>
                        </a:solidFill>
                        <a:effectLst/>
                        <a:latin typeface="NEU-BZ-S92"/>
                        <a:ea typeface="方正书宋_GBK"/>
                        <a:cs typeface="Times New Roman" panose="02020603050405020304" pitchFamily="18" charset="0"/>
                      </a:endParaRPr>
                    </a:p>
                  </a:txBody>
                  <a:tcPr marL="0" marR="0" marT="0" marB="0" anchor="ctr"/>
                </a:tc>
                <a:tc>
                  <a:txBody>
                    <a:bodyPr/>
                    <a:lstStyle/>
                    <a:p>
                      <a:pPr algn="ctr">
                        <a:lnSpc>
                          <a:spcPct val="100000"/>
                        </a:lnSpc>
                        <a:spcAft>
                          <a:spcPts val="0"/>
                        </a:spcAft>
                      </a:pPr>
                      <a:r>
                        <a:rPr lang="en-US" sz="1400">
                          <a:effectLst/>
                        </a:rPr>
                        <a:t>-</a:t>
                      </a:r>
                      <a:endParaRPr lang="zh-CN" sz="1800" b="1">
                        <a:solidFill>
                          <a:srgbClr val="000000"/>
                        </a:solidFill>
                        <a:effectLst/>
                        <a:latin typeface="NEU-BZ-S92"/>
                        <a:ea typeface="方正书宋_GBK"/>
                        <a:cs typeface="Times New Roman" panose="02020603050405020304" pitchFamily="18" charset="0"/>
                      </a:endParaRPr>
                    </a:p>
                  </a:txBody>
                  <a:tcPr marL="0" marR="0" marT="0" marB="0" anchor="ctr"/>
                </a:tc>
                <a:tc>
                  <a:txBody>
                    <a:bodyPr/>
                    <a:lstStyle/>
                    <a:p>
                      <a:pPr algn="ctr">
                        <a:lnSpc>
                          <a:spcPct val="100000"/>
                        </a:lnSpc>
                        <a:spcAft>
                          <a:spcPts val="0"/>
                        </a:spcAft>
                      </a:pPr>
                      <a:r>
                        <a:rPr lang="en-US" sz="1400">
                          <a:effectLst/>
                        </a:rPr>
                        <a:t>-</a:t>
                      </a:r>
                      <a:endParaRPr lang="zh-CN" sz="1800" b="1">
                        <a:solidFill>
                          <a:srgbClr val="000000"/>
                        </a:solidFill>
                        <a:effectLst/>
                        <a:latin typeface="NEU-BZ-S92"/>
                        <a:ea typeface="方正书宋_GBK"/>
                        <a:cs typeface="Times New Roman" panose="02020603050405020304" pitchFamily="18" charset="0"/>
                      </a:endParaRPr>
                    </a:p>
                  </a:txBody>
                  <a:tcPr marL="0" marR="0" marT="0" marB="0" anchor="ctr"/>
                </a:tc>
                <a:tc>
                  <a:txBody>
                    <a:bodyPr/>
                    <a:lstStyle/>
                    <a:p>
                      <a:pPr algn="ctr">
                        <a:lnSpc>
                          <a:spcPct val="100000"/>
                        </a:lnSpc>
                        <a:spcAft>
                          <a:spcPts val="0"/>
                        </a:spcAft>
                      </a:pPr>
                      <a:r>
                        <a:rPr lang="zh-CN" sz="1400">
                          <a:effectLst/>
                        </a:rPr>
                        <a:t>中位</a:t>
                      </a:r>
                      <a:endParaRPr lang="zh-CN" sz="1800" b="1">
                        <a:solidFill>
                          <a:srgbClr val="000000"/>
                        </a:solidFill>
                        <a:effectLst/>
                        <a:latin typeface="NEU-BZ-S92"/>
                        <a:ea typeface="方正书宋_GBK"/>
                        <a:cs typeface="Times New Roman" panose="02020603050405020304" pitchFamily="18" charset="0"/>
                      </a:endParaRPr>
                    </a:p>
                  </a:txBody>
                  <a:tcPr marL="0" marR="0" marT="0" marB="0" anchor="ctr"/>
                </a:tc>
                <a:tc>
                  <a:txBody>
                    <a:bodyPr/>
                    <a:lstStyle/>
                    <a:p>
                      <a:pPr algn="ctr">
                        <a:lnSpc>
                          <a:spcPct val="100000"/>
                        </a:lnSpc>
                        <a:spcAft>
                          <a:spcPts val="0"/>
                        </a:spcAft>
                      </a:pPr>
                      <a:r>
                        <a:rPr lang="zh-CN" sz="1400" dirty="0">
                          <a:effectLst/>
                        </a:rPr>
                        <a:t>中位</a:t>
                      </a:r>
                      <a:endParaRPr lang="zh-CN" sz="1800" b="1" dirty="0">
                        <a:solidFill>
                          <a:srgbClr val="000000"/>
                        </a:solidFill>
                        <a:effectLst/>
                        <a:latin typeface="NEU-BZ-S92"/>
                        <a:ea typeface="方正书宋_GBK"/>
                        <a:cs typeface="Times New Roman" panose="02020603050405020304" pitchFamily="18" charset="0"/>
                      </a:endParaRPr>
                    </a:p>
                  </a:txBody>
                  <a:tcPr marL="0" marR="0" marT="0" marB="0" anchor="ctr"/>
                </a:tc>
                <a:tc>
                  <a:txBody>
                    <a:bodyPr/>
                    <a:lstStyle/>
                    <a:p>
                      <a:pPr algn="ctr">
                        <a:lnSpc>
                          <a:spcPct val="100000"/>
                        </a:lnSpc>
                        <a:spcAft>
                          <a:spcPts val="0"/>
                        </a:spcAft>
                      </a:pPr>
                      <a:r>
                        <a:rPr lang="zh-CN" sz="1400">
                          <a:effectLst/>
                        </a:rPr>
                        <a:t>停止</a:t>
                      </a:r>
                      <a:endParaRPr lang="zh-CN" sz="1800" b="1">
                        <a:solidFill>
                          <a:srgbClr val="000000"/>
                        </a:solidFill>
                        <a:effectLst/>
                        <a:latin typeface="NEU-BZ-S92"/>
                        <a:ea typeface="方正书宋_GBK"/>
                        <a:cs typeface="Times New Roman" panose="02020603050405020304" pitchFamily="18" charset="0"/>
                      </a:endParaRPr>
                    </a:p>
                  </a:txBody>
                  <a:tcPr marL="0" marR="0" marT="0" marB="0" anchor="ctr"/>
                </a:tc>
                <a:tc>
                  <a:txBody>
                    <a:bodyPr/>
                    <a:lstStyle/>
                    <a:p>
                      <a:pPr algn="ctr">
                        <a:lnSpc>
                          <a:spcPct val="100000"/>
                        </a:lnSpc>
                        <a:spcAft>
                          <a:spcPts val="0"/>
                        </a:spcAft>
                      </a:pPr>
                      <a:r>
                        <a:rPr lang="zh-CN" sz="1400" dirty="0">
                          <a:effectLst/>
                        </a:rPr>
                        <a:t>停止</a:t>
                      </a:r>
                      <a:endParaRPr lang="zh-CN" sz="1800" b="1" dirty="0">
                        <a:solidFill>
                          <a:srgbClr val="000000"/>
                        </a:solidFill>
                        <a:effectLst/>
                        <a:latin typeface="NEU-BZ-S92"/>
                        <a:ea typeface="方正书宋_GBK"/>
                        <a:cs typeface="Times New Roman" panose="02020603050405020304" pitchFamily="18" charset="0"/>
                      </a:endParaRPr>
                    </a:p>
                  </a:txBody>
                  <a:tcPr marL="0" marR="0" marT="0" marB="0" anchor="ctr"/>
                </a:tc>
                <a:extLst>
                  <a:ext uri="{0D108BD9-81ED-4DB2-BD59-A6C34878D82A}">
                    <a16:rowId xmlns:a16="http://schemas.microsoft.com/office/drawing/2014/main" val="3646324573"/>
                  </a:ext>
                </a:extLst>
              </a:tr>
            </a:tbl>
          </a:graphicData>
        </a:graphic>
      </p:graphicFrame>
      <p:pic>
        <p:nvPicPr>
          <p:cNvPr id="12" name="图片 11">
            <a:extLst>
              <a:ext uri="{FF2B5EF4-FFF2-40B4-BE49-F238E27FC236}">
                <a16:creationId xmlns:a16="http://schemas.microsoft.com/office/drawing/2014/main" id="{F6A5CEC8-FF38-4A88-A771-3C93818602BF}"/>
              </a:ext>
            </a:extLst>
          </p:cNvPr>
          <p:cNvPicPr>
            <a:picLocks noChangeAspect="1"/>
          </p:cNvPicPr>
          <p:nvPr/>
        </p:nvPicPr>
        <p:blipFill>
          <a:blip r:embed="rId3"/>
          <a:stretch>
            <a:fillRect/>
          </a:stretch>
        </p:blipFill>
        <p:spPr>
          <a:xfrm>
            <a:off x="7273593" y="873670"/>
            <a:ext cx="4095448" cy="3529702"/>
          </a:xfrm>
          <a:prstGeom prst="rect">
            <a:avLst/>
          </a:prstGeom>
        </p:spPr>
      </p:pic>
    </p:spTree>
    <p:extLst>
      <p:ext uri="{BB962C8B-B14F-4D97-AF65-F5344CB8AC3E}">
        <p14:creationId xmlns:p14="http://schemas.microsoft.com/office/powerpoint/2010/main" val="141859092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EA0517-F4D7-25BE-9A2A-3AC5668F5188}"/>
            </a:ext>
          </a:extLst>
        </p:cNvPr>
        <p:cNvGrpSpPr/>
        <p:nvPr/>
      </p:nvGrpSpPr>
      <p:grpSpPr>
        <a:xfrm>
          <a:off x="0" y="0"/>
          <a:ext cx="0" cy="0"/>
          <a:chOff x="0" y="0"/>
          <a:chExt cx="0" cy="0"/>
        </a:xfrm>
      </p:grpSpPr>
      <p:cxnSp>
        <p:nvCxnSpPr>
          <p:cNvPr id="5" name="直接连接符 4">
            <a:extLst>
              <a:ext uri="{FF2B5EF4-FFF2-40B4-BE49-F238E27FC236}">
                <a16:creationId xmlns:a16="http://schemas.microsoft.com/office/drawing/2014/main" id="{27021A13-5763-2EDD-D8AE-1C5E19CA5804}"/>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pic>
        <p:nvPicPr>
          <p:cNvPr id="8" name="图片 7">
            <a:extLst>
              <a:ext uri="{FF2B5EF4-FFF2-40B4-BE49-F238E27FC236}">
                <a16:creationId xmlns:a16="http://schemas.microsoft.com/office/drawing/2014/main" id="{8B6F1F00-A6FF-563E-F306-59ECE80CD94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sp>
        <p:nvSpPr>
          <p:cNvPr id="9" name="文本框 8">
            <a:extLst>
              <a:ext uri="{FF2B5EF4-FFF2-40B4-BE49-F238E27FC236}">
                <a16:creationId xmlns:a16="http://schemas.microsoft.com/office/drawing/2014/main" id="{24BA97A5-B142-5C03-3C33-9EF6BAE8C2A0}"/>
              </a:ext>
            </a:extLst>
          </p:cNvPr>
          <p:cNvSpPr txBox="1"/>
          <p:nvPr/>
        </p:nvSpPr>
        <p:spPr>
          <a:xfrm>
            <a:off x="429656" y="135415"/>
            <a:ext cx="8582416" cy="646331"/>
          </a:xfrm>
          <a:prstGeom prst="rect">
            <a:avLst/>
          </a:prstGeom>
          <a:noFill/>
        </p:spPr>
        <p:txBody>
          <a:bodyPr wrap="square" rtlCol="0">
            <a:spAutoFit/>
          </a:bodyPr>
          <a:lstStyle/>
          <a:p>
            <a:r>
              <a:rPr lang="en-US" altLang="zh-CN" sz="3600" b="1" dirty="0">
                <a:solidFill>
                  <a:srgbClr val="003F88"/>
                </a:solidFill>
                <a:latin typeface="+mn-ea"/>
              </a:rPr>
              <a:t>4 </a:t>
            </a:r>
            <a:r>
              <a:rPr lang="zh-CN" altLang="en-US" sz="3600" b="1" dirty="0">
                <a:solidFill>
                  <a:srgbClr val="003F88"/>
                </a:solidFill>
                <a:latin typeface="+mn-ea"/>
              </a:rPr>
              <a:t>多缸动作回路</a:t>
            </a:r>
          </a:p>
        </p:txBody>
      </p:sp>
      <p:sp>
        <p:nvSpPr>
          <p:cNvPr id="25" name="矩形 24">
            <a:extLst>
              <a:ext uri="{FF2B5EF4-FFF2-40B4-BE49-F238E27FC236}">
                <a16:creationId xmlns:a16="http://schemas.microsoft.com/office/drawing/2014/main" id="{C718722E-F5D5-2D32-DD9A-F38D32497436}"/>
              </a:ext>
            </a:extLst>
          </p:cNvPr>
          <p:cNvSpPr/>
          <p:nvPr/>
        </p:nvSpPr>
        <p:spPr>
          <a:xfrm>
            <a:off x="-17100" y="174526"/>
            <a:ext cx="319314" cy="56810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矩形 25">
            <a:extLst>
              <a:ext uri="{FF2B5EF4-FFF2-40B4-BE49-F238E27FC236}">
                <a16:creationId xmlns:a16="http://schemas.microsoft.com/office/drawing/2014/main" id="{EC6BE023-3DE3-AE98-DB93-610A6E3A5659}"/>
              </a:ext>
            </a:extLst>
          </p:cNvPr>
          <p:cNvSpPr/>
          <p:nvPr/>
        </p:nvSpPr>
        <p:spPr>
          <a:xfrm>
            <a:off x="540867" y="1187297"/>
            <a:ext cx="7547154" cy="581762"/>
          </a:xfrm>
          <a:prstGeom prst="rect">
            <a:avLst/>
          </a:prstGeom>
        </p:spPr>
        <p:txBody>
          <a:bodyPr wrap="square">
            <a:spAutoFit/>
          </a:bodyPr>
          <a:lstStyle/>
          <a:p>
            <a:pPr>
              <a:lnSpc>
                <a:spcPct val="125000"/>
              </a:lnSpc>
            </a:pPr>
            <a:r>
              <a:rPr lang="en-US" altLang="zh-CN" sz="2800" b="1" dirty="0">
                <a:solidFill>
                  <a:srgbClr val="003F88"/>
                </a:solidFill>
                <a:latin typeface="+mn-ea"/>
              </a:rPr>
              <a:t>4.2 </a:t>
            </a:r>
            <a:r>
              <a:rPr lang="zh-CN" altLang="en-US" sz="2800" b="1" dirty="0">
                <a:solidFill>
                  <a:srgbClr val="003F88"/>
                </a:solidFill>
                <a:latin typeface="+mn-ea"/>
              </a:rPr>
              <a:t>同步回路</a:t>
            </a:r>
          </a:p>
        </p:txBody>
      </p:sp>
      <p:sp>
        <p:nvSpPr>
          <p:cNvPr id="6" name="文本框 5">
            <a:extLst>
              <a:ext uri="{FF2B5EF4-FFF2-40B4-BE49-F238E27FC236}">
                <a16:creationId xmlns:a16="http://schemas.microsoft.com/office/drawing/2014/main" id="{742806DD-6E91-4008-7C6B-53AFB56F4DFE}"/>
              </a:ext>
            </a:extLst>
          </p:cNvPr>
          <p:cNvSpPr txBox="1"/>
          <p:nvPr/>
        </p:nvSpPr>
        <p:spPr>
          <a:xfrm>
            <a:off x="7511770" y="5822224"/>
            <a:ext cx="4419632" cy="400110"/>
          </a:xfrm>
          <a:prstGeom prst="rect">
            <a:avLst/>
          </a:prstGeom>
          <a:noFill/>
        </p:spPr>
        <p:txBody>
          <a:bodyPr wrap="square">
            <a:spAutoFit/>
          </a:bodyPr>
          <a:lstStyle/>
          <a:p>
            <a:pPr algn="ctr"/>
            <a:r>
              <a:rPr lang="zh-CN" altLang="en-US" sz="2000" kern="0" dirty="0">
                <a:latin typeface="微软雅黑" panose="020B0503020204020204" pitchFamily="34" charset="-122"/>
                <a:ea typeface="微软雅黑" panose="020B0503020204020204" pitchFamily="34" charset="-122"/>
              </a:rPr>
              <a:t>带补偿措施的串联液压缸同步回路</a:t>
            </a:r>
            <a:endParaRPr lang="zh-CN" altLang="en-US" sz="2000" dirty="0"/>
          </a:p>
        </p:txBody>
      </p:sp>
      <p:sp>
        <p:nvSpPr>
          <p:cNvPr id="19" name="TextBox 18">
            <a:extLst>
              <a:ext uri="{FF2B5EF4-FFF2-40B4-BE49-F238E27FC236}">
                <a16:creationId xmlns:a16="http://schemas.microsoft.com/office/drawing/2014/main" id="{70966F0E-6469-38E9-3625-AAAC4CFD8740}"/>
              </a:ext>
            </a:extLst>
          </p:cNvPr>
          <p:cNvSpPr txBox="1"/>
          <p:nvPr/>
        </p:nvSpPr>
        <p:spPr>
          <a:xfrm>
            <a:off x="540867" y="1769059"/>
            <a:ext cx="6387285" cy="961289"/>
          </a:xfrm>
          <a:prstGeom prst="rect">
            <a:avLst/>
          </a:prstGeom>
          <a:noFill/>
        </p:spPr>
        <p:txBody>
          <a:bodyPr wrap="square" rtlCol="0">
            <a:spAutoFit/>
          </a:bodyPr>
          <a:lstStyle/>
          <a:p>
            <a:pPr algn="just">
              <a:lnSpc>
                <a:spcPct val="150000"/>
              </a:lnSpc>
            </a:pPr>
            <a:r>
              <a:rPr lang="zh-CN" altLang="en-US" sz="2000" kern="0" dirty="0">
                <a:latin typeface="微软雅黑" panose="020B0503020204020204" pitchFamily="34" charset="-122"/>
                <a:ea typeface="微软雅黑" panose="020B0503020204020204" pitchFamily="34" charset="-122"/>
              </a:rPr>
              <a:t>功用：保证系统中多个液压缸位移量相同或以相同的速度运动。</a:t>
            </a:r>
          </a:p>
        </p:txBody>
      </p:sp>
      <p:sp>
        <p:nvSpPr>
          <p:cNvPr id="13" name="TextBox 12">
            <a:extLst>
              <a:ext uri="{FF2B5EF4-FFF2-40B4-BE49-F238E27FC236}">
                <a16:creationId xmlns:a16="http://schemas.microsoft.com/office/drawing/2014/main" id="{50249212-5531-8974-36F3-86ED8748CE01}"/>
              </a:ext>
            </a:extLst>
          </p:cNvPr>
          <p:cNvSpPr txBox="1"/>
          <p:nvPr/>
        </p:nvSpPr>
        <p:spPr>
          <a:xfrm>
            <a:off x="540867" y="2730348"/>
            <a:ext cx="6387285" cy="2392450"/>
          </a:xfrm>
          <a:prstGeom prst="rect">
            <a:avLst/>
          </a:prstGeom>
          <a:noFill/>
        </p:spPr>
        <p:txBody>
          <a:bodyPr wrap="square" rtlCol="0">
            <a:spAutoFit/>
          </a:bodyPr>
          <a:lstStyle/>
          <a:p>
            <a:pPr algn="just">
              <a:lnSpc>
                <a:spcPct val="150000"/>
              </a:lnSpc>
            </a:pPr>
            <a:r>
              <a:rPr lang="en-US" altLang="zh-CN" sz="2200" b="1" kern="0" dirty="0">
                <a:solidFill>
                  <a:srgbClr val="003F88"/>
                </a:solidFill>
                <a:latin typeface="微软雅黑" panose="020B0503020204020204" pitchFamily="34" charset="-122"/>
                <a:ea typeface="微软雅黑" panose="020B0503020204020204" pitchFamily="34" charset="-122"/>
              </a:rPr>
              <a:t>(1)</a:t>
            </a:r>
            <a:r>
              <a:rPr lang="zh-CN" altLang="en-US" sz="2200" b="1" kern="0" dirty="0">
                <a:solidFill>
                  <a:srgbClr val="003F88"/>
                </a:solidFill>
                <a:latin typeface="微软雅黑" panose="020B0503020204020204" pitchFamily="34" charset="-122"/>
                <a:ea typeface="微软雅黑" panose="020B0503020204020204" pitchFamily="34" charset="-122"/>
              </a:rPr>
              <a:t>串联液压缸同步回路</a:t>
            </a:r>
            <a:endParaRPr lang="en-US" altLang="zh-CN" sz="2200" b="1" kern="0" dirty="0">
              <a:solidFill>
                <a:srgbClr val="003F88"/>
              </a:solidFill>
              <a:latin typeface="微软雅黑" panose="020B0503020204020204" pitchFamily="34" charset="-122"/>
              <a:ea typeface="微软雅黑" panose="020B0503020204020204" pitchFamily="34" charset="-122"/>
            </a:endParaRPr>
          </a:p>
          <a:p>
            <a:pPr marL="342900" indent="-342900" algn="just">
              <a:lnSpc>
                <a:spcPct val="150000"/>
              </a:lnSpc>
              <a:buFont typeface="Wingdings" panose="05000000000000000000" pitchFamily="2" charset="2"/>
              <a:buChar char="Ø"/>
            </a:pPr>
            <a:r>
              <a:rPr lang="zh-CN" altLang="en-US" sz="2000" kern="0" dirty="0">
                <a:latin typeface="微软雅黑" panose="020B0503020204020204" pitchFamily="34" charset="-122"/>
                <a:ea typeface="微软雅黑" panose="020B0503020204020204" pitchFamily="34" charset="-122"/>
              </a:rPr>
              <a:t>液压缸</a:t>
            </a:r>
            <a:r>
              <a:rPr lang="en-US" altLang="zh-CN" sz="2000" kern="0" dirty="0">
                <a:latin typeface="微软雅黑" panose="020B0503020204020204" pitchFamily="34" charset="-122"/>
                <a:ea typeface="微软雅黑" panose="020B0503020204020204" pitchFamily="34" charset="-122"/>
              </a:rPr>
              <a:t>1</a:t>
            </a:r>
            <a:r>
              <a:rPr lang="zh-CN" altLang="en-US" sz="2000" kern="0" dirty="0">
                <a:latin typeface="微软雅黑" panose="020B0503020204020204" pitchFamily="34" charset="-122"/>
                <a:ea typeface="微软雅黑" panose="020B0503020204020204" pitchFamily="34" charset="-122"/>
              </a:rPr>
              <a:t>的有杆腔面积与液压缸</a:t>
            </a:r>
            <a:r>
              <a:rPr lang="en-US" altLang="zh-CN" sz="2000" kern="0" dirty="0">
                <a:latin typeface="微软雅黑" panose="020B0503020204020204" pitchFamily="34" charset="-122"/>
                <a:ea typeface="微软雅黑" panose="020B0503020204020204" pitchFamily="34" charset="-122"/>
              </a:rPr>
              <a:t>2</a:t>
            </a:r>
            <a:r>
              <a:rPr lang="zh-CN" altLang="en-US" sz="2000" kern="0" dirty="0">
                <a:latin typeface="微软雅黑" panose="020B0503020204020204" pitchFamily="34" charset="-122"/>
                <a:ea typeface="微软雅黑" panose="020B0503020204020204" pitchFamily="34" charset="-122"/>
              </a:rPr>
              <a:t>的无杆腔面积相等。</a:t>
            </a:r>
          </a:p>
          <a:p>
            <a:pPr marL="342900" indent="-342900" algn="just">
              <a:lnSpc>
                <a:spcPct val="150000"/>
              </a:lnSpc>
              <a:buFont typeface="Wingdings" panose="05000000000000000000" pitchFamily="2" charset="2"/>
              <a:buChar char="Ø"/>
            </a:pPr>
            <a:r>
              <a:rPr lang="zh-CN" altLang="en-US" sz="2000" kern="0" dirty="0">
                <a:latin typeface="微软雅黑" panose="020B0503020204020204" pitchFamily="34" charset="-122"/>
                <a:ea typeface="微软雅黑" panose="020B0503020204020204" pitchFamily="34" charset="-122"/>
              </a:rPr>
              <a:t>若缸</a:t>
            </a:r>
            <a:r>
              <a:rPr lang="en-US" altLang="zh-CN" sz="2000" kern="0" dirty="0">
                <a:latin typeface="微软雅黑" panose="020B0503020204020204" pitchFamily="34" charset="-122"/>
                <a:ea typeface="微软雅黑" panose="020B0503020204020204" pitchFamily="34" charset="-122"/>
              </a:rPr>
              <a:t>1</a:t>
            </a:r>
            <a:r>
              <a:rPr lang="zh-CN" altLang="en-US" sz="2000" kern="0" dirty="0">
                <a:latin typeface="微软雅黑" panose="020B0503020204020204" pitchFamily="34" charset="-122"/>
                <a:ea typeface="微软雅黑" panose="020B0503020204020204" pitchFamily="34" charset="-122"/>
              </a:rPr>
              <a:t>先到底，阀</a:t>
            </a:r>
            <a:r>
              <a:rPr lang="en-US" altLang="zh-CN" sz="2000" kern="0" dirty="0">
                <a:latin typeface="微软雅黑" panose="020B0503020204020204" pitchFamily="34" charset="-122"/>
                <a:ea typeface="微软雅黑" panose="020B0503020204020204" pitchFamily="34" charset="-122"/>
              </a:rPr>
              <a:t>5</a:t>
            </a:r>
            <a:r>
              <a:rPr lang="zh-CN" altLang="en-US" sz="2000" kern="0" dirty="0">
                <a:latin typeface="微软雅黑" panose="020B0503020204020204" pitchFamily="34" charset="-122"/>
                <a:ea typeface="微软雅黑" panose="020B0503020204020204" pitchFamily="34" charset="-122"/>
              </a:rPr>
              <a:t>通电，向液压缸</a:t>
            </a:r>
            <a:r>
              <a:rPr lang="en-US" altLang="zh-CN" sz="2000" kern="0" dirty="0">
                <a:latin typeface="微软雅黑" panose="020B0503020204020204" pitchFamily="34" charset="-122"/>
                <a:ea typeface="微软雅黑" panose="020B0503020204020204" pitchFamily="34" charset="-122"/>
              </a:rPr>
              <a:t>2</a:t>
            </a:r>
            <a:r>
              <a:rPr lang="zh-CN" altLang="en-US" sz="2000" kern="0" dirty="0">
                <a:latin typeface="微软雅黑" panose="020B0503020204020204" pitchFamily="34" charset="-122"/>
                <a:ea typeface="微软雅黑" panose="020B0503020204020204" pitchFamily="34" charset="-122"/>
              </a:rPr>
              <a:t>的</a:t>
            </a:r>
            <a:r>
              <a:rPr lang="en-US" altLang="zh-CN" sz="2000" kern="0" dirty="0">
                <a:latin typeface="微软雅黑" panose="020B0503020204020204" pitchFamily="34" charset="-122"/>
                <a:ea typeface="微软雅黑" panose="020B0503020204020204" pitchFamily="34" charset="-122"/>
              </a:rPr>
              <a:t>B</a:t>
            </a:r>
            <a:r>
              <a:rPr lang="zh-CN" altLang="en-US" sz="2000" kern="0" dirty="0">
                <a:latin typeface="微软雅黑" panose="020B0503020204020204" pitchFamily="34" charset="-122"/>
                <a:ea typeface="微软雅黑" panose="020B0503020204020204" pitchFamily="34" charset="-122"/>
              </a:rPr>
              <a:t>腔补油。</a:t>
            </a:r>
          </a:p>
          <a:p>
            <a:pPr marL="342900" indent="-342900" algn="just">
              <a:lnSpc>
                <a:spcPct val="150000"/>
              </a:lnSpc>
              <a:buFont typeface="Wingdings" panose="05000000000000000000" pitchFamily="2" charset="2"/>
              <a:buChar char="Ø"/>
            </a:pPr>
            <a:r>
              <a:rPr lang="zh-CN" altLang="en-US" sz="2000" kern="0" dirty="0">
                <a:latin typeface="微软雅黑" panose="020B0503020204020204" pitchFamily="34" charset="-122"/>
                <a:ea typeface="微软雅黑" panose="020B0503020204020204" pitchFamily="34" charset="-122"/>
              </a:rPr>
              <a:t>若缸</a:t>
            </a:r>
            <a:r>
              <a:rPr lang="en-US" altLang="zh-CN" sz="2000" kern="0" dirty="0">
                <a:latin typeface="微软雅黑" panose="020B0503020204020204" pitchFamily="34" charset="-122"/>
                <a:ea typeface="微软雅黑" panose="020B0503020204020204" pitchFamily="34" charset="-122"/>
              </a:rPr>
              <a:t>2</a:t>
            </a:r>
            <a:r>
              <a:rPr lang="zh-CN" altLang="en-US" sz="2000" kern="0" dirty="0">
                <a:latin typeface="微软雅黑" panose="020B0503020204020204" pitchFamily="34" charset="-122"/>
                <a:ea typeface="微软雅黑" panose="020B0503020204020204" pitchFamily="34" charset="-122"/>
              </a:rPr>
              <a:t>先到底，阀</a:t>
            </a:r>
            <a:r>
              <a:rPr lang="en-US" altLang="zh-CN" sz="2000" kern="0" dirty="0">
                <a:latin typeface="微软雅黑" panose="020B0503020204020204" pitchFamily="34" charset="-122"/>
                <a:ea typeface="微软雅黑" panose="020B0503020204020204" pitchFamily="34" charset="-122"/>
              </a:rPr>
              <a:t>4</a:t>
            </a:r>
            <a:r>
              <a:rPr lang="zh-CN" altLang="en-US" sz="2000" kern="0" dirty="0">
                <a:latin typeface="微软雅黑" panose="020B0503020204020204" pitchFamily="34" charset="-122"/>
                <a:ea typeface="微软雅黑" panose="020B0503020204020204" pitchFamily="34" charset="-122"/>
              </a:rPr>
              <a:t>通电，液控单向阀</a:t>
            </a:r>
            <a:r>
              <a:rPr lang="en-US" altLang="zh-CN" sz="2000" kern="0" dirty="0">
                <a:latin typeface="微软雅黑" panose="020B0503020204020204" pitchFamily="34" charset="-122"/>
                <a:ea typeface="微软雅黑" panose="020B0503020204020204" pitchFamily="34" charset="-122"/>
              </a:rPr>
              <a:t>3</a:t>
            </a:r>
            <a:r>
              <a:rPr lang="zh-CN" altLang="en-US" sz="2000" kern="0" dirty="0">
                <a:latin typeface="微软雅黑" panose="020B0503020204020204" pitchFamily="34" charset="-122"/>
                <a:ea typeface="微软雅黑" panose="020B0503020204020204" pitchFamily="34" charset="-122"/>
              </a:rPr>
              <a:t>打开，液压缸</a:t>
            </a:r>
            <a:r>
              <a:rPr lang="en-US" altLang="zh-CN" sz="2000" kern="0" dirty="0">
                <a:latin typeface="微软雅黑" panose="020B0503020204020204" pitchFamily="34" charset="-122"/>
                <a:ea typeface="微软雅黑" panose="020B0503020204020204" pitchFamily="34" charset="-122"/>
              </a:rPr>
              <a:t>1</a:t>
            </a:r>
            <a:r>
              <a:rPr lang="zh-CN" altLang="en-US" sz="2000" kern="0" dirty="0">
                <a:latin typeface="微软雅黑" panose="020B0503020204020204" pitchFamily="34" charset="-122"/>
                <a:ea typeface="微软雅黑" panose="020B0503020204020204" pitchFamily="34" charset="-122"/>
              </a:rPr>
              <a:t>的</a:t>
            </a:r>
            <a:r>
              <a:rPr lang="en-US" altLang="zh-CN" sz="2000" kern="0" dirty="0">
                <a:latin typeface="微软雅黑" panose="020B0503020204020204" pitchFamily="34" charset="-122"/>
                <a:ea typeface="微软雅黑" panose="020B0503020204020204" pitchFamily="34" charset="-122"/>
              </a:rPr>
              <a:t>A</a:t>
            </a:r>
            <a:r>
              <a:rPr lang="zh-CN" altLang="en-US" sz="2000" kern="0" dirty="0">
                <a:latin typeface="微软雅黑" panose="020B0503020204020204" pitchFamily="34" charset="-122"/>
                <a:ea typeface="微软雅黑" panose="020B0503020204020204" pitchFamily="34" charset="-122"/>
              </a:rPr>
              <a:t>腔回油。</a:t>
            </a:r>
          </a:p>
        </p:txBody>
      </p:sp>
      <p:sp>
        <p:nvSpPr>
          <p:cNvPr id="14" name="TextBox 13">
            <a:extLst>
              <a:ext uri="{FF2B5EF4-FFF2-40B4-BE49-F238E27FC236}">
                <a16:creationId xmlns:a16="http://schemas.microsoft.com/office/drawing/2014/main" id="{19A924BC-1EA9-536C-C4E7-3C53A53E6A0B}"/>
              </a:ext>
            </a:extLst>
          </p:cNvPr>
          <p:cNvSpPr txBox="1"/>
          <p:nvPr/>
        </p:nvSpPr>
        <p:spPr>
          <a:xfrm>
            <a:off x="540867" y="5519001"/>
            <a:ext cx="5655217" cy="369332"/>
          </a:xfrm>
          <a:prstGeom prst="rect">
            <a:avLst/>
          </a:prstGeom>
          <a:noFill/>
        </p:spPr>
        <p:txBody>
          <a:bodyPr wrap="square" rtlCol="0">
            <a:spAutoFit/>
          </a:bodyPr>
          <a:lstStyle/>
          <a:p>
            <a:pPr algn="ctr" eaLnBrk="0" hangingPunct="0">
              <a:spcBef>
                <a:spcPts val="0"/>
              </a:spcBef>
            </a:pPr>
            <a:r>
              <a:rPr lang="zh-CN" altLang="en-US" sz="1800" b="1" kern="0" dirty="0">
                <a:solidFill>
                  <a:srgbClr val="FF0000"/>
                </a:solidFill>
                <a:latin typeface="微软雅黑" panose="020B0503020204020204" pitchFamily="34" charset="-122"/>
                <a:ea typeface="微软雅黑" panose="020B0503020204020204" pitchFamily="34" charset="-122"/>
              </a:rPr>
              <a:t>只适用于负载较小的液压系统 </a:t>
            </a:r>
          </a:p>
        </p:txBody>
      </p:sp>
      <p:grpSp>
        <p:nvGrpSpPr>
          <p:cNvPr id="2" name="组合 43">
            <a:extLst>
              <a:ext uri="{FF2B5EF4-FFF2-40B4-BE49-F238E27FC236}">
                <a16:creationId xmlns:a16="http://schemas.microsoft.com/office/drawing/2014/main" id="{76324365-0261-B6A6-2949-66431109F93E}"/>
              </a:ext>
            </a:extLst>
          </p:cNvPr>
          <p:cNvGrpSpPr/>
          <p:nvPr/>
        </p:nvGrpSpPr>
        <p:grpSpPr>
          <a:xfrm>
            <a:off x="6972300" y="1614795"/>
            <a:ext cx="5219700" cy="4095750"/>
            <a:chOff x="3855290" y="2029300"/>
            <a:chExt cx="5219700" cy="4095750"/>
          </a:xfrm>
        </p:grpSpPr>
        <p:pic>
          <p:nvPicPr>
            <p:cNvPr id="3" name="图片 6">
              <a:extLst>
                <a:ext uri="{FF2B5EF4-FFF2-40B4-BE49-F238E27FC236}">
                  <a16:creationId xmlns:a16="http://schemas.microsoft.com/office/drawing/2014/main" id="{9F77C2F1-D0C1-0C2F-47A0-38CCD666D7D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55290" y="2029300"/>
              <a:ext cx="5219700" cy="4095750"/>
            </a:xfrm>
            <a:prstGeom prst="rect">
              <a:avLst/>
            </a:prstGeom>
          </p:spPr>
        </p:pic>
        <p:sp>
          <p:nvSpPr>
            <p:cNvPr id="4" name="矩形 11">
              <a:extLst>
                <a:ext uri="{FF2B5EF4-FFF2-40B4-BE49-F238E27FC236}">
                  <a16:creationId xmlns:a16="http://schemas.microsoft.com/office/drawing/2014/main" id="{50AA70AC-A574-8EBD-EFBD-34CEB3BAC55A}"/>
                </a:ext>
              </a:extLst>
            </p:cNvPr>
            <p:cNvSpPr/>
            <p:nvPr/>
          </p:nvSpPr>
          <p:spPr>
            <a:xfrm>
              <a:off x="5292080" y="5445224"/>
              <a:ext cx="381235" cy="390671"/>
            </a:xfrm>
            <a:prstGeom prst="rect">
              <a:avLst/>
            </a:prstGeom>
            <a:solidFill>
              <a:srgbClr val="FAFAE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accent2"/>
                  </a:solidFill>
                </a:rPr>
                <a:t>6</a:t>
              </a:r>
              <a:endParaRPr lang="zh-CN" altLang="en-US" dirty="0">
                <a:solidFill>
                  <a:schemeClr val="accent2"/>
                </a:solidFill>
              </a:endParaRPr>
            </a:p>
          </p:txBody>
        </p:sp>
        <p:sp>
          <p:nvSpPr>
            <p:cNvPr id="7" name="矩形 12">
              <a:extLst>
                <a:ext uri="{FF2B5EF4-FFF2-40B4-BE49-F238E27FC236}">
                  <a16:creationId xmlns:a16="http://schemas.microsoft.com/office/drawing/2014/main" id="{A0D039AA-C15A-71EF-BD01-1FEF613F99FC}"/>
                </a:ext>
              </a:extLst>
            </p:cNvPr>
            <p:cNvSpPr/>
            <p:nvPr/>
          </p:nvSpPr>
          <p:spPr>
            <a:xfrm>
              <a:off x="6156176" y="4437112"/>
              <a:ext cx="191155" cy="246655"/>
            </a:xfrm>
            <a:prstGeom prst="rect">
              <a:avLst/>
            </a:prstGeom>
            <a:solidFill>
              <a:srgbClr val="FAFAE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accent2"/>
                  </a:solidFill>
                </a:rPr>
                <a:t>5</a:t>
              </a:r>
              <a:endParaRPr lang="zh-CN" altLang="en-US" dirty="0">
                <a:solidFill>
                  <a:schemeClr val="accent2"/>
                </a:solidFill>
              </a:endParaRPr>
            </a:p>
          </p:txBody>
        </p:sp>
        <p:sp>
          <p:nvSpPr>
            <p:cNvPr id="10" name="矩形 13">
              <a:extLst>
                <a:ext uri="{FF2B5EF4-FFF2-40B4-BE49-F238E27FC236}">
                  <a16:creationId xmlns:a16="http://schemas.microsoft.com/office/drawing/2014/main" id="{4D48BCDE-9E1C-82EC-B121-DFA0D5F082E8}"/>
                </a:ext>
              </a:extLst>
            </p:cNvPr>
            <p:cNvSpPr/>
            <p:nvPr/>
          </p:nvSpPr>
          <p:spPr>
            <a:xfrm>
              <a:off x="6732241" y="3645024"/>
              <a:ext cx="144016" cy="246655"/>
            </a:xfrm>
            <a:prstGeom prst="rect">
              <a:avLst/>
            </a:prstGeom>
            <a:solidFill>
              <a:srgbClr val="FAFAE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accent2"/>
                  </a:solidFill>
                </a:rPr>
                <a:t>4</a:t>
              </a:r>
              <a:endParaRPr lang="zh-CN" altLang="en-US" dirty="0">
                <a:solidFill>
                  <a:schemeClr val="accent2"/>
                </a:solidFill>
              </a:endParaRPr>
            </a:p>
          </p:txBody>
        </p:sp>
        <p:sp>
          <p:nvSpPr>
            <p:cNvPr id="11" name="矩形 14">
              <a:extLst>
                <a:ext uri="{FF2B5EF4-FFF2-40B4-BE49-F238E27FC236}">
                  <a16:creationId xmlns:a16="http://schemas.microsoft.com/office/drawing/2014/main" id="{F0E654AF-271A-C009-D0C9-5F7EC64742E1}"/>
                </a:ext>
              </a:extLst>
            </p:cNvPr>
            <p:cNvSpPr/>
            <p:nvPr/>
          </p:nvSpPr>
          <p:spPr>
            <a:xfrm>
              <a:off x="5580112" y="3768351"/>
              <a:ext cx="144016" cy="246655"/>
            </a:xfrm>
            <a:prstGeom prst="rect">
              <a:avLst/>
            </a:prstGeom>
            <a:solidFill>
              <a:srgbClr val="FAFAE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accent2"/>
                  </a:solidFill>
                </a:rPr>
                <a:t>3</a:t>
              </a:r>
              <a:endParaRPr lang="zh-CN" altLang="en-US" dirty="0">
                <a:solidFill>
                  <a:schemeClr val="accent2"/>
                </a:solidFill>
              </a:endParaRPr>
            </a:p>
          </p:txBody>
        </p:sp>
        <p:grpSp>
          <p:nvGrpSpPr>
            <p:cNvPr id="29" name="组合 27">
              <a:extLst>
                <a:ext uri="{FF2B5EF4-FFF2-40B4-BE49-F238E27FC236}">
                  <a16:creationId xmlns:a16="http://schemas.microsoft.com/office/drawing/2014/main" id="{FD574A51-FCAE-240C-81DF-52323F316DA6}"/>
                </a:ext>
              </a:extLst>
            </p:cNvPr>
            <p:cNvGrpSpPr/>
            <p:nvPr/>
          </p:nvGrpSpPr>
          <p:grpSpPr>
            <a:xfrm flipH="1">
              <a:off x="4788024" y="4438567"/>
              <a:ext cx="394543" cy="190288"/>
              <a:chOff x="4497760" y="4077072"/>
              <a:chExt cx="394543" cy="190288"/>
            </a:xfrm>
          </p:grpSpPr>
          <p:sp>
            <p:nvSpPr>
              <p:cNvPr id="39" name="矩形 8">
                <a:extLst>
                  <a:ext uri="{FF2B5EF4-FFF2-40B4-BE49-F238E27FC236}">
                    <a16:creationId xmlns:a16="http://schemas.microsoft.com/office/drawing/2014/main" id="{12CA751D-0516-0643-3B0C-ED6316E24D71}"/>
                  </a:ext>
                </a:extLst>
              </p:cNvPr>
              <p:cNvSpPr/>
              <p:nvPr/>
            </p:nvSpPr>
            <p:spPr>
              <a:xfrm>
                <a:off x="4497760" y="4077072"/>
                <a:ext cx="216024" cy="190288"/>
              </a:xfrm>
              <a:prstGeom prst="rect">
                <a:avLst/>
              </a:prstGeom>
              <a:solidFill>
                <a:srgbClr val="FAFAEB"/>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椭圆 9">
                <a:extLst>
                  <a:ext uri="{FF2B5EF4-FFF2-40B4-BE49-F238E27FC236}">
                    <a16:creationId xmlns:a16="http://schemas.microsoft.com/office/drawing/2014/main" id="{FDFA493F-074A-80E9-C179-07E2ECF85C81}"/>
                  </a:ext>
                </a:extLst>
              </p:cNvPr>
              <p:cNvSpPr/>
              <p:nvPr/>
            </p:nvSpPr>
            <p:spPr>
              <a:xfrm>
                <a:off x="4820295" y="4149080"/>
                <a:ext cx="72008" cy="72008"/>
              </a:xfrm>
              <a:prstGeom prst="ellipse">
                <a:avLst/>
              </a:prstGeom>
              <a:solidFill>
                <a:srgbClr val="FAFAEB"/>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1" name="直接连接符 17">
                <a:extLst>
                  <a:ext uri="{FF2B5EF4-FFF2-40B4-BE49-F238E27FC236}">
                    <a16:creationId xmlns:a16="http://schemas.microsoft.com/office/drawing/2014/main" id="{C7DB3017-60A5-C97C-87C4-C0197868958C}"/>
                  </a:ext>
                </a:extLst>
              </p:cNvPr>
              <p:cNvCxnSpPr>
                <a:cxnSpLocks/>
                <a:endCxn id="40" idx="3"/>
              </p:cNvCxnSpPr>
              <p:nvPr/>
            </p:nvCxnSpPr>
            <p:spPr>
              <a:xfrm flipV="1">
                <a:off x="4716016" y="4210543"/>
                <a:ext cx="114824" cy="56817"/>
              </a:xfrm>
              <a:prstGeom prst="line">
                <a:avLst/>
              </a:prstGeom>
              <a:solidFill>
                <a:srgbClr val="FAFAEB"/>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cxnSp>
        </p:grpSp>
        <p:sp>
          <p:nvSpPr>
            <p:cNvPr id="30" name="矩形 32">
              <a:extLst>
                <a:ext uri="{FF2B5EF4-FFF2-40B4-BE49-F238E27FC236}">
                  <a16:creationId xmlns:a16="http://schemas.microsoft.com/office/drawing/2014/main" id="{88AA5F9A-E293-E05C-23E2-B8F3DF2F43DD}"/>
                </a:ext>
              </a:extLst>
            </p:cNvPr>
            <p:cNvSpPr/>
            <p:nvPr/>
          </p:nvSpPr>
          <p:spPr>
            <a:xfrm>
              <a:off x="6787490" y="4349915"/>
              <a:ext cx="268163" cy="402268"/>
            </a:xfrm>
            <a:prstGeom prst="rect">
              <a:avLst/>
            </a:prstGeom>
            <a:solidFill>
              <a:srgbClr val="FAFAE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accent2"/>
                </a:solidFill>
              </a:endParaRPr>
            </a:p>
          </p:txBody>
        </p:sp>
        <p:grpSp>
          <p:nvGrpSpPr>
            <p:cNvPr id="31" name="组合 28">
              <a:extLst>
                <a:ext uri="{FF2B5EF4-FFF2-40B4-BE49-F238E27FC236}">
                  <a16:creationId xmlns:a16="http://schemas.microsoft.com/office/drawing/2014/main" id="{A2247EFE-83AB-2D19-9DEE-F82A96779440}"/>
                </a:ext>
              </a:extLst>
            </p:cNvPr>
            <p:cNvGrpSpPr/>
            <p:nvPr/>
          </p:nvGrpSpPr>
          <p:grpSpPr>
            <a:xfrm flipH="1">
              <a:off x="6879367" y="4438567"/>
              <a:ext cx="394543" cy="190288"/>
              <a:chOff x="4497760" y="4077072"/>
              <a:chExt cx="394543" cy="190288"/>
            </a:xfrm>
          </p:grpSpPr>
          <p:sp>
            <p:nvSpPr>
              <p:cNvPr id="36" name="矩形 29">
                <a:extLst>
                  <a:ext uri="{FF2B5EF4-FFF2-40B4-BE49-F238E27FC236}">
                    <a16:creationId xmlns:a16="http://schemas.microsoft.com/office/drawing/2014/main" id="{0F8BF152-752C-A91D-8E2A-6F00A9A1D883}"/>
                  </a:ext>
                </a:extLst>
              </p:cNvPr>
              <p:cNvSpPr/>
              <p:nvPr/>
            </p:nvSpPr>
            <p:spPr>
              <a:xfrm>
                <a:off x="4497760" y="4077072"/>
                <a:ext cx="216024" cy="190288"/>
              </a:xfrm>
              <a:prstGeom prst="rect">
                <a:avLst/>
              </a:prstGeom>
              <a:solidFill>
                <a:srgbClr val="FAFAEB"/>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7" name="椭圆 30">
                <a:extLst>
                  <a:ext uri="{FF2B5EF4-FFF2-40B4-BE49-F238E27FC236}">
                    <a16:creationId xmlns:a16="http://schemas.microsoft.com/office/drawing/2014/main" id="{24512B49-A688-A317-9F65-B1808855773A}"/>
                  </a:ext>
                </a:extLst>
              </p:cNvPr>
              <p:cNvSpPr/>
              <p:nvPr/>
            </p:nvSpPr>
            <p:spPr>
              <a:xfrm>
                <a:off x="4820295" y="4149080"/>
                <a:ext cx="72008" cy="72008"/>
              </a:xfrm>
              <a:prstGeom prst="ellipse">
                <a:avLst/>
              </a:prstGeom>
              <a:solidFill>
                <a:srgbClr val="FAFAEB"/>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38" name="直接连接符 31">
                <a:extLst>
                  <a:ext uri="{FF2B5EF4-FFF2-40B4-BE49-F238E27FC236}">
                    <a16:creationId xmlns:a16="http://schemas.microsoft.com/office/drawing/2014/main" id="{105BC208-39F3-631B-D9A3-F217C9A8C7A8}"/>
                  </a:ext>
                </a:extLst>
              </p:cNvPr>
              <p:cNvCxnSpPr>
                <a:cxnSpLocks/>
                <a:endCxn id="37" idx="3"/>
              </p:cNvCxnSpPr>
              <p:nvPr/>
            </p:nvCxnSpPr>
            <p:spPr>
              <a:xfrm flipV="1">
                <a:off x="4716016" y="4210543"/>
                <a:ext cx="114824" cy="56817"/>
              </a:xfrm>
              <a:prstGeom prst="line">
                <a:avLst/>
              </a:prstGeom>
              <a:solidFill>
                <a:srgbClr val="FAFAEB"/>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cxnSp>
        </p:grpSp>
        <p:pic>
          <p:nvPicPr>
            <p:cNvPr id="32" name="图片 35">
              <a:extLst>
                <a:ext uri="{FF2B5EF4-FFF2-40B4-BE49-F238E27FC236}">
                  <a16:creationId xmlns:a16="http://schemas.microsoft.com/office/drawing/2014/main" id="{3E5D8AF6-94A9-72AE-BFFB-D4C347BE9C68}"/>
                </a:ext>
              </a:extLst>
            </p:cNvPr>
            <p:cNvPicPr>
              <a:picLocks noChangeAspect="1"/>
            </p:cNvPicPr>
            <p:nvPr/>
          </p:nvPicPr>
          <p:blipFill>
            <a:blip r:embed="rId4"/>
            <a:stretch>
              <a:fillRect/>
            </a:stretch>
          </p:blipFill>
          <p:spPr>
            <a:xfrm>
              <a:off x="6657886" y="4707464"/>
              <a:ext cx="293489" cy="178190"/>
            </a:xfrm>
            <a:prstGeom prst="rect">
              <a:avLst/>
            </a:prstGeom>
          </p:spPr>
        </p:pic>
        <p:cxnSp>
          <p:nvCxnSpPr>
            <p:cNvPr id="33" name="直接连接符 37">
              <a:extLst>
                <a:ext uri="{FF2B5EF4-FFF2-40B4-BE49-F238E27FC236}">
                  <a16:creationId xmlns:a16="http://schemas.microsoft.com/office/drawing/2014/main" id="{91CD020A-AB51-A42D-EB73-A407B4B9A982}"/>
                </a:ext>
              </a:extLst>
            </p:cNvPr>
            <p:cNvCxnSpPr>
              <a:cxnSpLocks/>
            </p:cNvCxnSpPr>
            <p:nvPr/>
          </p:nvCxnSpPr>
          <p:spPr>
            <a:xfrm>
              <a:off x="6788508" y="4387106"/>
              <a:ext cx="0" cy="442069"/>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4" name="矩形 44">
              <a:extLst>
                <a:ext uri="{FF2B5EF4-FFF2-40B4-BE49-F238E27FC236}">
                  <a16:creationId xmlns:a16="http://schemas.microsoft.com/office/drawing/2014/main" id="{10A5EC48-3F0F-612B-26A2-346119861F3B}"/>
                </a:ext>
              </a:extLst>
            </p:cNvPr>
            <p:cNvSpPr/>
            <p:nvPr/>
          </p:nvSpPr>
          <p:spPr>
            <a:xfrm>
              <a:off x="4827195" y="2266851"/>
              <a:ext cx="144016" cy="24665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rgbClr val="0000FF"/>
                  </a:solidFill>
                </a:rPr>
                <a:t>B</a:t>
              </a:r>
              <a:endParaRPr lang="zh-CN" altLang="en-US" dirty="0">
                <a:solidFill>
                  <a:srgbClr val="0000FF"/>
                </a:solidFill>
              </a:endParaRPr>
            </a:p>
          </p:txBody>
        </p:sp>
        <p:sp>
          <p:nvSpPr>
            <p:cNvPr id="35" name="矩形 45">
              <a:extLst>
                <a:ext uri="{FF2B5EF4-FFF2-40B4-BE49-F238E27FC236}">
                  <a16:creationId xmlns:a16="http://schemas.microsoft.com/office/drawing/2014/main" id="{3B92F5CF-525D-ECA7-F541-B626B057788D}"/>
                </a:ext>
              </a:extLst>
            </p:cNvPr>
            <p:cNvSpPr/>
            <p:nvPr/>
          </p:nvSpPr>
          <p:spPr>
            <a:xfrm>
              <a:off x="7021882" y="2947222"/>
              <a:ext cx="144016" cy="24665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rgbClr val="0000FF"/>
                  </a:solidFill>
                </a:rPr>
                <a:t>A</a:t>
              </a:r>
              <a:endParaRPr lang="zh-CN" altLang="en-US" dirty="0">
                <a:solidFill>
                  <a:srgbClr val="0000FF"/>
                </a:solidFill>
              </a:endParaRPr>
            </a:p>
          </p:txBody>
        </p:sp>
      </p:grpSp>
    </p:spTree>
    <p:extLst>
      <p:ext uri="{BB962C8B-B14F-4D97-AF65-F5344CB8AC3E}">
        <p14:creationId xmlns:p14="http://schemas.microsoft.com/office/powerpoint/2010/main" val="271158730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C31E90-9D42-CECF-0507-773CA9B523D6}"/>
            </a:ext>
          </a:extLst>
        </p:cNvPr>
        <p:cNvGrpSpPr/>
        <p:nvPr/>
      </p:nvGrpSpPr>
      <p:grpSpPr>
        <a:xfrm>
          <a:off x="0" y="0"/>
          <a:ext cx="0" cy="0"/>
          <a:chOff x="0" y="0"/>
          <a:chExt cx="0" cy="0"/>
        </a:xfrm>
      </p:grpSpPr>
      <p:cxnSp>
        <p:nvCxnSpPr>
          <p:cNvPr id="5" name="直接连接符 4">
            <a:extLst>
              <a:ext uri="{FF2B5EF4-FFF2-40B4-BE49-F238E27FC236}">
                <a16:creationId xmlns:a16="http://schemas.microsoft.com/office/drawing/2014/main" id="{D96A8547-8392-3F59-21FE-0B2DC3748D4D}"/>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pic>
        <p:nvPicPr>
          <p:cNvPr id="8" name="图片 7">
            <a:extLst>
              <a:ext uri="{FF2B5EF4-FFF2-40B4-BE49-F238E27FC236}">
                <a16:creationId xmlns:a16="http://schemas.microsoft.com/office/drawing/2014/main" id="{4A24AA6A-C3B8-BE27-CD8B-AF2DC29A54A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sp>
        <p:nvSpPr>
          <p:cNvPr id="9" name="文本框 8">
            <a:extLst>
              <a:ext uri="{FF2B5EF4-FFF2-40B4-BE49-F238E27FC236}">
                <a16:creationId xmlns:a16="http://schemas.microsoft.com/office/drawing/2014/main" id="{729C0F86-8483-FA32-ACCC-D066B756681F}"/>
              </a:ext>
            </a:extLst>
          </p:cNvPr>
          <p:cNvSpPr txBox="1"/>
          <p:nvPr/>
        </p:nvSpPr>
        <p:spPr>
          <a:xfrm>
            <a:off x="429656" y="135415"/>
            <a:ext cx="8582416" cy="646331"/>
          </a:xfrm>
          <a:prstGeom prst="rect">
            <a:avLst/>
          </a:prstGeom>
          <a:noFill/>
        </p:spPr>
        <p:txBody>
          <a:bodyPr wrap="square" rtlCol="0">
            <a:spAutoFit/>
          </a:bodyPr>
          <a:lstStyle/>
          <a:p>
            <a:r>
              <a:rPr lang="en-US" altLang="zh-CN" sz="3600" b="1" dirty="0">
                <a:solidFill>
                  <a:srgbClr val="003F88"/>
                </a:solidFill>
                <a:latin typeface="+mn-ea"/>
              </a:rPr>
              <a:t>4 </a:t>
            </a:r>
            <a:r>
              <a:rPr lang="zh-CN" altLang="en-US" sz="3600" b="1" dirty="0">
                <a:solidFill>
                  <a:srgbClr val="003F88"/>
                </a:solidFill>
                <a:latin typeface="+mn-ea"/>
              </a:rPr>
              <a:t>多缸动作回路</a:t>
            </a:r>
          </a:p>
        </p:txBody>
      </p:sp>
      <p:sp>
        <p:nvSpPr>
          <p:cNvPr id="25" name="矩形 24">
            <a:extLst>
              <a:ext uri="{FF2B5EF4-FFF2-40B4-BE49-F238E27FC236}">
                <a16:creationId xmlns:a16="http://schemas.microsoft.com/office/drawing/2014/main" id="{B6BEE3B8-0754-E840-E615-5D21F5ADBCBA}"/>
              </a:ext>
            </a:extLst>
          </p:cNvPr>
          <p:cNvSpPr/>
          <p:nvPr/>
        </p:nvSpPr>
        <p:spPr>
          <a:xfrm>
            <a:off x="-17100" y="174526"/>
            <a:ext cx="319314" cy="56810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TextBox 12">
            <a:extLst>
              <a:ext uri="{FF2B5EF4-FFF2-40B4-BE49-F238E27FC236}">
                <a16:creationId xmlns:a16="http://schemas.microsoft.com/office/drawing/2014/main" id="{7D3010D1-1CF6-7875-1641-CC80CAEC4A6D}"/>
              </a:ext>
            </a:extLst>
          </p:cNvPr>
          <p:cNvSpPr txBox="1"/>
          <p:nvPr/>
        </p:nvSpPr>
        <p:spPr>
          <a:xfrm>
            <a:off x="481726" y="1129417"/>
            <a:ext cx="6397171" cy="3777444"/>
          </a:xfrm>
          <a:prstGeom prst="rect">
            <a:avLst/>
          </a:prstGeom>
          <a:noFill/>
        </p:spPr>
        <p:txBody>
          <a:bodyPr wrap="square" rtlCol="0">
            <a:spAutoFit/>
          </a:bodyPr>
          <a:lstStyle/>
          <a:p>
            <a:pPr algn="just">
              <a:lnSpc>
                <a:spcPct val="150000"/>
              </a:lnSpc>
            </a:pPr>
            <a:r>
              <a:rPr lang="en-US" altLang="zh-CN" sz="2200" b="1" kern="0" dirty="0">
                <a:solidFill>
                  <a:srgbClr val="003F88"/>
                </a:solidFill>
                <a:latin typeface="微软雅黑" panose="020B0503020204020204" pitchFamily="34" charset="-122"/>
                <a:ea typeface="微软雅黑" panose="020B0503020204020204" pitchFamily="34" charset="-122"/>
              </a:rPr>
              <a:t>(2)</a:t>
            </a:r>
            <a:r>
              <a:rPr lang="zh-CN" altLang="en-US" sz="2200" b="1" kern="0" dirty="0">
                <a:solidFill>
                  <a:srgbClr val="003F88"/>
                </a:solidFill>
                <a:latin typeface="微软雅黑" panose="020B0503020204020204" pitchFamily="34" charset="-122"/>
                <a:ea typeface="微软雅黑" panose="020B0503020204020204" pitchFamily="34" charset="-122"/>
              </a:rPr>
              <a:t>采用电液伺服阀的同步回路</a:t>
            </a:r>
            <a:endParaRPr lang="en-US" altLang="zh-CN" sz="2200" b="1" kern="0" dirty="0">
              <a:solidFill>
                <a:srgbClr val="003F88"/>
              </a:solidFill>
              <a:latin typeface="微软雅黑" panose="020B0503020204020204" pitchFamily="34" charset="-122"/>
              <a:ea typeface="微软雅黑" panose="020B0503020204020204" pitchFamily="34" charset="-122"/>
            </a:endParaRPr>
          </a:p>
          <a:p>
            <a:pPr marL="342900" indent="-342900" algn="just">
              <a:lnSpc>
                <a:spcPct val="150000"/>
              </a:lnSpc>
              <a:buFont typeface="Wingdings" panose="05000000000000000000" pitchFamily="2" charset="2"/>
              <a:buChar char="Ø"/>
            </a:pPr>
            <a:r>
              <a:rPr lang="zh-CN" altLang="en-US" sz="2000" kern="0" dirty="0">
                <a:latin typeface="微软雅黑" panose="020B0503020204020204" pitchFamily="34" charset="-122"/>
                <a:ea typeface="微软雅黑" panose="020B0503020204020204" pitchFamily="34" charset="-122"/>
              </a:rPr>
              <a:t>如图</a:t>
            </a:r>
            <a:r>
              <a:rPr lang="en-US" altLang="zh-CN" sz="2000" kern="0" dirty="0">
                <a:latin typeface="微软雅黑" panose="020B0503020204020204" pitchFamily="34" charset="-122"/>
                <a:ea typeface="微软雅黑" panose="020B0503020204020204" pitchFamily="34" charset="-122"/>
              </a:rPr>
              <a:t>a)</a:t>
            </a:r>
            <a:r>
              <a:rPr lang="zh-CN" altLang="en-US" sz="2000" kern="0" dirty="0">
                <a:latin typeface="微软雅黑" panose="020B0503020204020204" pitchFamily="34" charset="-122"/>
                <a:ea typeface="微软雅黑" panose="020B0503020204020204" pitchFamily="34" charset="-122"/>
              </a:rPr>
              <a:t>所示，通过位移传感器 </a:t>
            </a:r>
            <a:r>
              <a:rPr lang="en-US" altLang="zh-CN" sz="2000" kern="0" dirty="0">
                <a:latin typeface="微软雅黑" panose="020B0503020204020204" pitchFamily="34" charset="-122"/>
                <a:ea typeface="微软雅黑" panose="020B0503020204020204" pitchFamily="34" charset="-122"/>
              </a:rPr>
              <a:t>3 </a:t>
            </a:r>
            <a:r>
              <a:rPr lang="zh-CN" altLang="en-US" sz="2000" kern="0" dirty="0">
                <a:latin typeface="微软雅黑" panose="020B0503020204020204" pitchFamily="34" charset="-122"/>
                <a:ea typeface="微软雅黑" panose="020B0503020204020204" pitchFamily="34" charset="-122"/>
              </a:rPr>
              <a:t>和 </a:t>
            </a:r>
            <a:r>
              <a:rPr lang="en-US" altLang="zh-CN" sz="2000" kern="0" dirty="0">
                <a:latin typeface="微软雅黑" panose="020B0503020204020204" pitchFamily="34" charset="-122"/>
                <a:ea typeface="微软雅黑" panose="020B0503020204020204" pitchFamily="34" charset="-122"/>
              </a:rPr>
              <a:t>4 </a:t>
            </a:r>
            <a:r>
              <a:rPr lang="zh-CN" altLang="en-US" sz="2000" kern="0" dirty="0">
                <a:latin typeface="微软雅黑" panose="020B0503020204020204" pitchFamily="34" charset="-122"/>
                <a:ea typeface="微软雅黑" panose="020B0503020204020204" pitchFamily="34" charset="-122"/>
              </a:rPr>
              <a:t>提供反馈信号，闭环控制，电液伺服阀</a:t>
            </a:r>
            <a:r>
              <a:rPr lang="en-US" altLang="zh-CN" sz="2000" kern="0" dirty="0">
                <a:latin typeface="微软雅黑" panose="020B0503020204020204" pitchFamily="34" charset="-122"/>
                <a:ea typeface="微软雅黑" panose="020B0503020204020204" pitchFamily="34" charset="-122"/>
              </a:rPr>
              <a:t>2</a:t>
            </a:r>
            <a:r>
              <a:rPr lang="zh-CN" altLang="en-US" sz="2000" kern="0" dirty="0">
                <a:latin typeface="微软雅黑" panose="020B0503020204020204" pitchFamily="34" charset="-122"/>
                <a:ea typeface="微软雅黑" panose="020B0503020204020204" pitchFamily="34" charset="-122"/>
              </a:rPr>
              <a:t>保持输出流量与换向阀 </a:t>
            </a:r>
            <a:r>
              <a:rPr lang="en-US" altLang="zh-CN" sz="2000" kern="0" dirty="0">
                <a:latin typeface="微软雅黑" panose="020B0503020204020204" pitchFamily="34" charset="-122"/>
                <a:ea typeface="微软雅黑" panose="020B0503020204020204" pitchFamily="34" charset="-122"/>
              </a:rPr>
              <a:t>1 </a:t>
            </a:r>
            <a:r>
              <a:rPr lang="zh-CN" altLang="en-US" sz="2000" kern="0" dirty="0">
                <a:latin typeface="微软雅黑" panose="020B0503020204020204" pitchFamily="34" charset="-122"/>
                <a:ea typeface="微软雅黑" panose="020B0503020204020204" pitchFamily="34" charset="-122"/>
              </a:rPr>
              <a:t>相同。</a:t>
            </a:r>
            <a:endParaRPr lang="en-US" altLang="zh-CN" sz="2000" kern="0" dirty="0">
              <a:latin typeface="微软雅黑" panose="020B0503020204020204" pitchFamily="34" charset="-122"/>
              <a:ea typeface="微软雅黑" panose="020B0503020204020204" pitchFamily="34" charset="-122"/>
            </a:endParaRPr>
          </a:p>
          <a:p>
            <a:pPr marL="342900" indent="-342900" algn="just">
              <a:lnSpc>
                <a:spcPct val="150000"/>
              </a:lnSpc>
              <a:buFont typeface="Wingdings" panose="05000000000000000000" pitchFamily="2" charset="2"/>
              <a:buChar char="Ø"/>
            </a:pPr>
            <a:r>
              <a:rPr lang="zh-CN" altLang="en-US" sz="2000" kern="0" dirty="0">
                <a:latin typeface="微软雅黑" panose="020B0503020204020204" pitchFamily="34" charset="-122"/>
                <a:ea typeface="微软雅黑" panose="020B0503020204020204" pitchFamily="34" charset="-122"/>
              </a:rPr>
              <a:t>如图</a:t>
            </a:r>
            <a:r>
              <a:rPr lang="en-US" altLang="zh-CN" sz="2000" kern="0" dirty="0">
                <a:latin typeface="微软雅黑" panose="020B0503020204020204" pitchFamily="34" charset="-122"/>
                <a:ea typeface="微软雅黑" panose="020B0503020204020204" pitchFamily="34" charset="-122"/>
              </a:rPr>
              <a:t>b)</a:t>
            </a:r>
            <a:r>
              <a:rPr lang="zh-CN" altLang="en-US" sz="2000" kern="0" dirty="0">
                <a:latin typeface="微软雅黑" panose="020B0503020204020204" pitchFamily="34" charset="-122"/>
                <a:ea typeface="微软雅黑" panose="020B0503020204020204" pitchFamily="34" charset="-122"/>
              </a:rPr>
              <a:t>所示，通过位移传感器 </a:t>
            </a:r>
            <a:r>
              <a:rPr lang="en-US" altLang="zh-CN" sz="2000" kern="0" dirty="0">
                <a:latin typeface="微软雅黑" panose="020B0503020204020204" pitchFamily="34" charset="-122"/>
                <a:ea typeface="微软雅黑" panose="020B0503020204020204" pitchFamily="34" charset="-122"/>
              </a:rPr>
              <a:t>3 </a:t>
            </a:r>
            <a:r>
              <a:rPr lang="zh-CN" altLang="en-US" sz="2000" kern="0" dirty="0">
                <a:latin typeface="微软雅黑" panose="020B0503020204020204" pitchFamily="34" charset="-122"/>
                <a:ea typeface="微软雅黑" panose="020B0503020204020204" pitchFamily="34" charset="-122"/>
              </a:rPr>
              <a:t>和 </a:t>
            </a:r>
            <a:r>
              <a:rPr lang="en-US" altLang="zh-CN" sz="2000" kern="0" dirty="0">
                <a:latin typeface="微软雅黑" panose="020B0503020204020204" pitchFamily="34" charset="-122"/>
                <a:ea typeface="微软雅黑" panose="020B0503020204020204" pitchFamily="34" charset="-122"/>
              </a:rPr>
              <a:t>4 </a:t>
            </a:r>
            <a:r>
              <a:rPr lang="zh-CN" altLang="en-US" sz="2000" kern="0" dirty="0">
                <a:latin typeface="微软雅黑" panose="020B0503020204020204" pitchFamily="34" charset="-122"/>
                <a:ea typeface="微软雅黑" panose="020B0503020204020204" pitchFamily="34" charset="-122"/>
              </a:rPr>
              <a:t>提供反馈信号，闭环控制，电液伺服阀直接控制两个液压缸的同步动作。</a:t>
            </a:r>
            <a:endParaRPr lang="en-US" altLang="zh-CN" sz="2000" kern="0" dirty="0">
              <a:latin typeface="微软雅黑" panose="020B0503020204020204" pitchFamily="34" charset="-122"/>
              <a:ea typeface="微软雅黑" panose="020B0503020204020204" pitchFamily="34" charset="-122"/>
            </a:endParaRPr>
          </a:p>
          <a:p>
            <a:pPr marL="342900" indent="-342900" algn="just">
              <a:lnSpc>
                <a:spcPct val="150000"/>
              </a:lnSpc>
              <a:buFont typeface="Wingdings" panose="05000000000000000000" pitchFamily="2" charset="2"/>
              <a:buChar char="Ø"/>
            </a:pPr>
            <a:endParaRPr lang="zh-CN" altLang="en-US" sz="2000" kern="0" dirty="0">
              <a:latin typeface="微软雅黑" panose="020B0503020204020204" pitchFamily="34" charset="-122"/>
              <a:ea typeface="微软雅黑" panose="020B0503020204020204" pitchFamily="34" charset="-122"/>
            </a:endParaRPr>
          </a:p>
        </p:txBody>
      </p:sp>
      <p:grpSp>
        <p:nvGrpSpPr>
          <p:cNvPr id="16" name="Group 15">
            <a:extLst>
              <a:ext uri="{FF2B5EF4-FFF2-40B4-BE49-F238E27FC236}">
                <a16:creationId xmlns:a16="http://schemas.microsoft.com/office/drawing/2014/main" id="{3DFB6F05-1C34-6CAA-1C95-B640071420C9}"/>
              </a:ext>
            </a:extLst>
          </p:cNvPr>
          <p:cNvGrpSpPr/>
          <p:nvPr/>
        </p:nvGrpSpPr>
        <p:grpSpPr>
          <a:xfrm>
            <a:off x="6878897" y="1993232"/>
            <a:ext cx="5216826" cy="3830860"/>
            <a:chOff x="6832617" y="1720277"/>
            <a:chExt cx="5216826" cy="3830860"/>
          </a:xfrm>
        </p:grpSpPr>
        <p:sp>
          <p:nvSpPr>
            <p:cNvPr id="6" name="文本框 5">
              <a:extLst>
                <a:ext uri="{FF2B5EF4-FFF2-40B4-BE49-F238E27FC236}">
                  <a16:creationId xmlns:a16="http://schemas.microsoft.com/office/drawing/2014/main" id="{22930D75-3B03-6345-6C18-C52C696CFAAB}"/>
                </a:ext>
              </a:extLst>
            </p:cNvPr>
            <p:cNvSpPr txBox="1"/>
            <p:nvPr/>
          </p:nvSpPr>
          <p:spPr>
            <a:xfrm>
              <a:off x="7434602" y="5151027"/>
              <a:ext cx="4419632" cy="400110"/>
            </a:xfrm>
            <a:prstGeom prst="rect">
              <a:avLst/>
            </a:prstGeom>
            <a:noFill/>
          </p:spPr>
          <p:txBody>
            <a:bodyPr wrap="square">
              <a:spAutoFit/>
            </a:bodyPr>
            <a:lstStyle/>
            <a:p>
              <a:pPr algn="ctr"/>
              <a:r>
                <a:rPr lang="zh-CN" altLang="en-US" sz="2000" kern="0" dirty="0">
                  <a:latin typeface="微软雅黑" panose="020B0503020204020204" pitchFamily="34" charset="-122"/>
                  <a:ea typeface="微软雅黑" panose="020B0503020204020204" pitchFamily="34" charset="-122"/>
                </a:rPr>
                <a:t>采用电液伺服阀的同步回路</a:t>
              </a:r>
              <a:endParaRPr lang="zh-CN" altLang="en-US" sz="2000" dirty="0"/>
            </a:p>
          </p:txBody>
        </p:sp>
        <p:pic>
          <p:nvPicPr>
            <p:cNvPr id="12" name="图片 10">
              <a:extLst>
                <a:ext uri="{FF2B5EF4-FFF2-40B4-BE49-F238E27FC236}">
                  <a16:creationId xmlns:a16="http://schemas.microsoft.com/office/drawing/2014/main" id="{A2E07ADC-72AA-62A3-44B3-849C340D005B}"/>
                </a:ext>
              </a:extLst>
            </p:cNvPr>
            <p:cNvPicPr>
              <a:picLocks noChangeAspect="1"/>
            </p:cNvPicPr>
            <p:nvPr/>
          </p:nvPicPr>
          <p:blipFill rotWithShape="1">
            <a:blip r:embed="rId3"/>
            <a:srcRect r="45289"/>
            <a:stretch/>
          </p:blipFill>
          <p:spPr>
            <a:xfrm>
              <a:off x="6832617" y="1720277"/>
              <a:ext cx="3001063" cy="3240000"/>
            </a:xfrm>
            <a:prstGeom prst="rect">
              <a:avLst/>
            </a:prstGeom>
          </p:spPr>
        </p:pic>
        <p:pic>
          <p:nvPicPr>
            <p:cNvPr id="15" name="图片 10">
              <a:extLst>
                <a:ext uri="{FF2B5EF4-FFF2-40B4-BE49-F238E27FC236}">
                  <a16:creationId xmlns:a16="http://schemas.microsoft.com/office/drawing/2014/main" id="{33480641-2364-7E93-C175-C3E8B6261951}"/>
                </a:ext>
              </a:extLst>
            </p:cNvPr>
            <p:cNvPicPr>
              <a:picLocks noChangeAspect="1"/>
            </p:cNvPicPr>
            <p:nvPr/>
          </p:nvPicPr>
          <p:blipFill rotWithShape="1">
            <a:blip r:embed="rId3"/>
            <a:srcRect l="57198"/>
            <a:stretch/>
          </p:blipFill>
          <p:spPr>
            <a:xfrm>
              <a:off x="9701591" y="1720277"/>
              <a:ext cx="2347852" cy="3240000"/>
            </a:xfrm>
            <a:prstGeom prst="rect">
              <a:avLst/>
            </a:prstGeom>
          </p:spPr>
        </p:pic>
      </p:grpSp>
      <p:sp>
        <p:nvSpPr>
          <p:cNvPr id="17" name="TextBox 16">
            <a:extLst>
              <a:ext uri="{FF2B5EF4-FFF2-40B4-BE49-F238E27FC236}">
                <a16:creationId xmlns:a16="http://schemas.microsoft.com/office/drawing/2014/main" id="{4A244AA3-2698-4DF5-C630-DCF7456B5471}"/>
              </a:ext>
            </a:extLst>
          </p:cNvPr>
          <p:cNvSpPr txBox="1"/>
          <p:nvPr/>
        </p:nvSpPr>
        <p:spPr>
          <a:xfrm>
            <a:off x="540867" y="5519001"/>
            <a:ext cx="5655217" cy="369332"/>
          </a:xfrm>
          <a:prstGeom prst="rect">
            <a:avLst/>
          </a:prstGeom>
          <a:noFill/>
        </p:spPr>
        <p:txBody>
          <a:bodyPr wrap="square" rtlCol="0">
            <a:spAutoFit/>
          </a:bodyPr>
          <a:lstStyle/>
          <a:p>
            <a:pPr algn="ctr" eaLnBrk="0" hangingPunct="0">
              <a:spcBef>
                <a:spcPts val="0"/>
              </a:spcBef>
            </a:pPr>
            <a:r>
              <a:rPr lang="zh-CN" altLang="en-US" sz="1800" b="1" kern="0" dirty="0">
                <a:solidFill>
                  <a:srgbClr val="FF0000"/>
                </a:solidFill>
                <a:latin typeface="微软雅黑" panose="020B0503020204020204" pitchFamily="34" charset="-122"/>
                <a:ea typeface="微软雅黑" panose="020B0503020204020204" pitchFamily="34" charset="-122"/>
              </a:rPr>
              <a:t>回路同步精度高，但价格昂贵也可用比例阀代替</a:t>
            </a:r>
          </a:p>
        </p:txBody>
      </p:sp>
    </p:spTree>
    <p:extLst>
      <p:ext uri="{BB962C8B-B14F-4D97-AF65-F5344CB8AC3E}">
        <p14:creationId xmlns:p14="http://schemas.microsoft.com/office/powerpoint/2010/main" val="317265605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DCF910-37DF-4AA7-5CAB-DC6886CF8331}"/>
            </a:ext>
          </a:extLst>
        </p:cNvPr>
        <p:cNvGrpSpPr/>
        <p:nvPr/>
      </p:nvGrpSpPr>
      <p:grpSpPr>
        <a:xfrm>
          <a:off x="0" y="0"/>
          <a:ext cx="0" cy="0"/>
          <a:chOff x="0" y="0"/>
          <a:chExt cx="0" cy="0"/>
        </a:xfrm>
      </p:grpSpPr>
      <p:cxnSp>
        <p:nvCxnSpPr>
          <p:cNvPr id="5" name="直接连接符 4">
            <a:extLst>
              <a:ext uri="{FF2B5EF4-FFF2-40B4-BE49-F238E27FC236}">
                <a16:creationId xmlns:a16="http://schemas.microsoft.com/office/drawing/2014/main" id="{73C716D9-B046-F21A-CFA3-EF899F8FA2C5}"/>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pic>
        <p:nvPicPr>
          <p:cNvPr id="8" name="图片 7">
            <a:extLst>
              <a:ext uri="{FF2B5EF4-FFF2-40B4-BE49-F238E27FC236}">
                <a16:creationId xmlns:a16="http://schemas.microsoft.com/office/drawing/2014/main" id="{2C74998F-935E-D44E-44F5-D06BF25DC3E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sp>
        <p:nvSpPr>
          <p:cNvPr id="9" name="文本框 8">
            <a:extLst>
              <a:ext uri="{FF2B5EF4-FFF2-40B4-BE49-F238E27FC236}">
                <a16:creationId xmlns:a16="http://schemas.microsoft.com/office/drawing/2014/main" id="{C99758A7-AEEE-4659-7F0A-5B92D9E55DA4}"/>
              </a:ext>
            </a:extLst>
          </p:cNvPr>
          <p:cNvSpPr txBox="1"/>
          <p:nvPr/>
        </p:nvSpPr>
        <p:spPr>
          <a:xfrm>
            <a:off x="429656" y="135415"/>
            <a:ext cx="8582416" cy="646331"/>
          </a:xfrm>
          <a:prstGeom prst="rect">
            <a:avLst/>
          </a:prstGeom>
          <a:noFill/>
        </p:spPr>
        <p:txBody>
          <a:bodyPr wrap="square" rtlCol="0">
            <a:spAutoFit/>
          </a:bodyPr>
          <a:lstStyle/>
          <a:p>
            <a:r>
              <a:rPr lang="en-US" altLang="zh-CN" sz="3600" b="1" dirty="0">
                <a:solidFill>
                  <a:srgbClr val="003F88"/>
                </a:solidFill>
                <a:latin typeface="+mn-ea"/>
              </a:rPr>
              <a:t>4 </a:t>
            </a:r>
            <a:r>
              <a:rPr lang="zh-CN" altLang="en-US" sz="3600" b="1" dirty="0">
                <a:solidFill>
                  <a:srgbClr val="003F88"/>
                </a:solidFill>
                <a:latin typeface="+mn-ea"/>
              </a:rPr>
              <a:t>多缸动作回路</a:t>
            </a:r>
          </a:p>
        </p:txBody>
      </p:sp>
      <p:sp>
        <p:nvSpPr>
          <p:cNvPr id="25" name="矩形 24">
            <a:extLst>
              <a:ext uri="{FF2B5EF4-FFF2-40B4-BE49-F238E27FC236}">
                <a16:creationId xmlns:a16="http://schemas.microsoft.com/office/drawing/2014/main" id="{C0758811-9C6E-45DA-AE77-7FF71DD287B9}"/>
              </a:ext>
            </a:extLst>
          </p:cNvPr>
          <p:cNvSpPr/>
          <p:nvPr/>
        </p:nvSpPr>
        <p:spPr>
          <a:xfrm>
            <a:off x="-17100" y="174526"/>
            <a:ext cx="319314" cy="56810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矩形 25">
            <a:extLst>
              <a:ext uri="{FF2B5EF4-FFF2-40B4-BE49-F238E27FC236}">
                <a16:creationId xmlns:a16="http://schemas.microsoft.com/office/drawing/2014/main" id="{2C8CA363-25D3-0A0C-7B49-2249B0487350}"/>
              </a:ext>
            </a:extLst>
          </p:cNvPr>
          <p:cNvSpPr/>
          <p:nvPr/>
        </p:nvSpPr>
        <p:spPr>
          <a:xfrm>
            <a:off x="540867" y="1187297"/>
            <a:ext cx="7547154" cy="581762"/>
          </a:xfrm>
          <a:prstGeom prst="rect">
            <a:avLst/>
          </a:prstGeom>
        </p:spPr>
        <p:txBody>
          <a:bodyPr wrap="square">
            <a:spAutoFit/>
          </a:bodyPr>
          <a:lstStyle/>
          <a:p>
            <a:pPr>
              <a:lnSpc>
                <a:spcPct val="125000"/>
              </a:lnSpc>
            </a:pPr>
            <a:r>
              <a:rPr lang="en-US" altLang="zh-CN" sz="2800" b="1" dirty="0">
                <a:solidFill>
                  <a:srgbClr val="003F88"/>
                </a:solidFill>
                <a:latin typeface="+mn-ea"/>
              </a:rPr>
              <a:t>4.3 </a:t>
            </a:r>
            <a:r>
              <a:rPr lang="zh-CN" altLang="en-US" sz="2800" b="1" dirty="0">
                <a:solidFill>
                  <a:srgbClr val="003F88"/>
                </a:solidFill>
                <a:latin typeface="+mn-ea"/>
              </a:rPr>
              <a:t>多缸快慢速互不干扰回路</a:t>
            </a:r>
          </a:p>
        </p:txBody>
      </p:sp>
      <p:sp>
        <p:nvSpPr>
          <p:cNvPr id="6" name="文本框 5">
            <a:extLst>
              <a:ext uri="{FF2B5EF4-FFF2-40B4-BE49-F238E27FC236}">
                <a16:creationId xmlns:a16="http://schemas.microsoft.com/office/drawing/2014/main" id="{C32A4023-5D64-8700-72A4-964C0D2D41E2}"/>
              </a:ext>
            </a:extLst>
          </p:cNvPr>
          <p:cNvSpPr txBox="1"/>
          <p:nvPr/>
        </p:nvSpPr>
        <p:spPr>
          <a:xfrm>
            <a:off x="7498122" y="6090692"/>
            <a:ext cx="4419632" cy="400110"/>
          </a:xfrm>
          <a:prstGeom prst="rect">
            <a:avLst/>
          </a:prstGeom>
          <a:noFill/>
        </p:spPr>
        <p:txBody>
          <a:bodyPr wrap="square">
            <a:spAutoFit/>
          </a:bodyPr>
          <a:lstStyle/>
          <a:p>
            <a:pPr algn="ctr"/>
            <a:r>
              <a:rPr lang="zh-CN" altLang="en-US" sz="2000" kern="0" dirty="0">
                <a:latin typeface="微软雅黑" panose="020B0503020204020204" pitchFamily="34" charset="-122"/>
                <a:ea typeface="微软雅黑" panose="020B0503020204020204" pitchFamily="34" charset="-122"/>
              </a:rPr>
              <a:t>采用叠加阀的互不干扰回路</a:t>
            </a:r>
            <a:endParaRPr lang="zh-CN" altLang="en-US" sz="2000" dirty="0"/>
          </a:p>
        </p:txBody>
      </p:sp>
      <p:sp>
        <p:nvSpPr>
          <p:cNvPr id="19" name="TextBox 18">
            <a:extLst>
              <a:ext uri="{FF2B5EF4-FFF2-40B4-BE49-F238E27FC236}">
                <a16:creationId xmlns:a16="http://schemas.microsoft.com/office/drawing/2014/main" id="{3281F9F8-D5D4-2EF4-3011-6473E50D0E30}"/>
              </a:ext>
            </a:extLst>
          </p:cNvPr>
          <p:cNvSpPr txBox="1"/>
          <p:nvPr/>
        </p:nvSpPr>
        <p:spPr>
          <a:xfrm>
            <a:off x="540867" y="1769059"/>
            <a:ext cx="6387285" cy="961289"/>
          </a:xfrm>
          <a:prstGeom prst="rect">
            <a:avLst/>
          </a:prstGeom>
          <a:noFill/>
        </p:spPr>
        <p:txBody>
          <a:bodyPr wrap="square" rtlCol="0">
            <a:spAutoFit/>
          </a:bodyPr>
          <a:lstStyle/>
          <a:p>
            <a:pPr algn="just">
              <a:lnSpc>
                <a:spcPct val="150000"/>
              </a:lnSpc>
            </a:pPr>
            <a:r>
              <a:rPr lang="zh-CN" altLang="en-US" sz="2000" kern="0" dirty="0">
                <a:latin typeface="微软雅黑" panose="020B0503020204020204" pitchFamily="34" charset="-122"/>
                <a:ea typeface="微软雅黑" panose="020B0503020204020204" pitchFamily="34" charset="-122"/>
              </a:rPr>
              <a:t>功用：防止多个液压缸因速度快慢的不同而在动作上发生相互干扰。</a:t>
            </a:r>
          </a:p>
        </p:txBody>
      </p:sp>
      <p:sp>
        <p:nvSpPr>
          <p:cNvPr id="13" name="TextBox 12">
            <a:extLst>
              <a:ext uri="{FF2B5EF4-FFF2-40B4-BE49-F238E27FC236}">
                <a16:creationId xmlns:a16="http://schemas.microsoft.com/office/drawing/2014/main" id="{36BBA3A2-5A8F-858C-39C6-8A4B06A769E8}"/>
              </a:ext>
            </a:extLst>
          </p:cNvPr>
          <p:cNvSpPr txBox="1"/>
          <p:nvPr/>
        </p:nvSpPr>
        <p:spPr>
          <a:xfrm>
            <a:off x="540868" y="3030600"/>
            <a:ext cx="5939064" cy="2807948"/>
          </a:xfrm>
          <a:prstGeom prst="rect">
            <a:avLst/>
          </a:prstGeom>
          <a:noFill/>
        </p:spPr>
        <p:txBody>
          <a:bodyPr wrap="square" rtlCol="0">
            <a:spAutoFit/>
          </a:bodyPr>
          <a:lstStyle/>
          <a:p>
            <a:pPr marL="342900" indent="-342900" algn="just">
              <a:lnSpc>
                <a:spcPct val="150000"/>
              </a:lnSpc>
              <a:buFont typeface="Wingdings" panose="05000000000000000000" pitchFamily="2" charset="2"/>
              <a:buChar char="Ø"/>
            </a:pPr>
            <a:r>
              <a:rPr lang="zh-CN" altLang="en-US" sz="2000" kern="0" dirty="0">
                <a:latin typeface="微软雅黑" panose="020B0503020204020204" pitchFamily="34" charset="-122"/>
                <a:ea typeface="微软雅黑" panose="020B0503020204020204" pitchFamily="34" charset="-122"/>
              </a:rPr>
              <a:t>快速和慢速分别由低压大流量泵</a:t>
            </a:r>
            <a:r>
              <a:rPr lang="en-US" altLang="zh-CN" sz="2000" kern="0" dirty="0">
                <a:latin typeface="微软雅黑" panose="020B0503020204020204" pitchFamily="34" charset="-122"/>
                <a:ea typeface="微软雅黑" panose="020B0503020204020204" pitchFamily="34" charset="-122"/>
              </a:rPr>
              <a:t>2</a:t>
            </a:r>
            <a:r>
              <a:rPr lang="zh-CN" altLang="en-US" sz="2000" kern="0" dirty="0">
                <a:latin typeface="微软雅黑" panose="020B0503020204020204" pitchFamily="34" charset="-122"/>
                <a:ea typeface="微软雅黑" panose="020B0503020204020204" pitchFamily="34" charset="-122"/>
              </a:rPr>
              <a:t>和高压小流量泵</a:t>
            </a:r>
            <a:r>
              <a:rPr lang="en-US" altLang="zh-CN" sz="2000" kern="0" dirty="0">
                <a:latin typeface="微软雅黑" panose="020B0503020204020204" pitchFamily="34" charset="-122"/>
                <a:ea typeface="微软雅黑" panose="020B0503020204020204" pitchFamily="34" charset="-122"/>
              </a:rPr>
              <a:t>1</a:t>
            </a:r>
            <a:r>
              <a:rPr lang="zh-CN" altLang="en-US" sz="2000" kern="0" dirty="0">
                <a:latin typeface="微软雅黑" panose="020B0503020204020204" pitchFamily="34" charset="-122"/>
                <a:ea typeface="微软雅黑" panose="020B0503020204020204" pitchFamily="34" charset="-122"/>
              </a:rPr>
              <a:t>供油，互不干扰。</a:t>
            </a:r>
          </a:p>
          <a:p>
            <a:pPr marL="342900" indent="-342900" algn="just">
              <a:lnSpc>
                <a:spcPct val="150000"/>
              </a:lnSpc>
              <a:buFont typeface="Wingdings" panose="05000000000000000000" pitchFamily="2" charset="2"/>
              <a:buChar char="Ø"/>
            </a:pPr>
            <a:r>
              <a:rPr lang="zh-CN" altLang="en-US" sz="2000" kern="0" dirty="0">
                <a:latin typeface="微软雅黑" panose="020B0503020204020204" pitchFamily="34" charset="-122"/>
                <a:ea typeface="微软雅黑" panose="020B0503020204020204" pitchFamily="34" charset="-122"/>
              </a:rPr>
              <a:t>快进：顺序节流阀</a:t>
            </a:r>
            <a:r>
              <a:rPr lang="en-US" altLang="zh-CN" sz="2000" kern="0" dirty="0">
                <a:latin typeface="微软雅黑" panose="020B0503020204020204" pitchFamily="34" charset="-122"/>
                <a:ea typeface="微软雅黑" panose="020B0503020204020204" pitchFamily="34" charset="-122"/>
              </a:rPr>
              <a:t>3</a:t>
            </a:r>
            <a:r>
              <a:rPr lang="zh-CN" altLang="en-US" sz="2000" kern="0" dirty="0">
                <a:latin typeface="微软雅黑" panose="020B0503020204020204" pitchFamily="34" charset="-122"/>
                <a:ea typeface="微软雅黑" panose="020B0503020204020204" pitchFamily="34" charset="-122"/>
              </a:rPr>
              <a:t>、</a:t>
            </a:r>
            <a:r>
              <a:rPr lang="en-US" altLang="zh-CN" sz="2000" kern="0" dirty="0">
                <a:latin typeface="微软雅黑" panose="020B0503020204020204" pitchFamily="34" charset="-122"/>
                <a:ea typeface="微软雅黑" panose="020B0503020204020204" pitchFamily="34" charset="-122"/>
              </a:rPr>
              <a:t>7</a:t>
            </a:r>
            <a:r>
              <a:rPr lang="zh-CN" altLang="en-US" sz="2000" kern="0" dirty="0">
                <a:latin typeface="微软雅黑" panose="020B0503020204020204" pitchFamily="34" charset="-122"/>
                <a:ea typeface="微软雅黑" panose="020B0503020204020204" pitchFamily="34" charset="-122"/>
              </a:rPr>
              <a:t>关闭，大流量泵</a:t>
            </a:r>
            <a:r>
              <a:rPr lang="en-US" altLang="zh-CN" sz="2000" kern="0" dirty="0">
                <a:latin typeface="微软雅黑" panose="020B0503020204020204" pitchFamily="34" charset="-122"/>
                <a:ea typeface="微软雅黑" panose="020B0503020204020204" pitchFamily="34" charset="-122"/>
              </a:rPr>
              <a:t>2</a:t>
            </a:r>
            <a:r>
              <a:rPr lang="zh-CN" altLang="en-US" sz="2000" kern="0" dirty="0">
                <a:latin typeface="微软雅黑" panose="020B0503020204020204" pitchFamily="34" charset="-122"/>
                <a:ea typeface="微软雅黑" panose="020B0503020204020204" pitchFamily="34" charset="-122"/>
              </a:rPr>
              <a:t>供油，由</a:t>
            </a:r>
            <a:r>
              <a:rPr lang="en-US" altLang="zh-CN" sz="2000" kern="0" dirty="0">
                <a:latin typeface="微软雅黑" panose="020B0503020204020204" pitchFamily="34" charset="-122"/>
                <a:ea typeface="微软雅黑" panose="020B0503020204020204" pitchFamily="34" charset="-122"/>
              </a:rPr>
              <a:t>2</a:t>
            </a:r>
            <a:r>
              <a:rPr lang="zh-CN" altLang="en-US" sz="2000" kern="0" dirty="0">
                <a:latin typeface="微软雅黑" panose="020B0503020204020204" pitchFamily="34" charset="-122"/>
                <a:ea typeface="微软雅黑" panose="020B0503020204020204" pitchFamily="34" charset="-122"/>
              </a:rPr>
              <a:t>、</a:t>
            </a:r>
            <a:r>
              <a:rPr lang="en-US" altLang="zh-CN" sz="2000" kern="0" dirty="0">
                <a:latin typeface="微软雅黑" panose="020B0503020204020204" pitchFamily="34" charset="-122"/>
                <a:ea typeface="微软雅黑" panose="020B0503020204020204" pitchFamily="34" charset="-122"/>
              </a:rPr>
              <a:t>6</a:t>
            </a:r>
            <a:r>
              <a:rPr lang="zh-CN" altLang="en-US" sz="2000" kern="0" dirty="0">
                <a:latin typeface="微软雅黑" panose="020B0503020204020204" pitchFamily="34" charset="-122"/>
                <a:ea typeface="微软雅黑" panose="020B0503020204020204" pitchFamily="34" charset="-122"/>
              </a:rPr>
              <a:t>节流调速。</a:t>
            </a:r>
          </a:p>
          <a:p>
            <a:pPr marL="342900" indent="-342900" algn="just">
              <a:lnSpc>
                <a:spcPct val="150000"/>
              </a:lnSpc>
              <a:buFont typeface="Wingdings" panose="05000000000000000000" pitchFamily="2" charset="2"/>
              <a:buChar char="Ø"/>
            </a:pPr>
            <a:r>
              <a:rPr lang="zh-CN" altLang="en-US" sz="2000" kern="0" dirty="0">
                <a:latin typeface="微软雅黑" panose="020B0503020204020204" pitchFamily="34" charset="-122"/>
                <a:ea typeface="微软雅黑" panose="020B0503020204020204" pitchFamily="34" charset="-122"/>
              </a:rPr>
              <a:t>工进：工作腔</a:t>
            </a:r>
            <a:r>
              <a:rPr lang="en-US" altLang="zh-CN" sz="2000" kern="0" dirty="0">
                <a:latin typeface="微软雅黑" panose="020B0503020204020204" pitchFamily="34" charset="-122"/>
                <a:ea typeface="微软雅黑" panose="020B0503020204020204" pitchFamily="34" charset="-122"/>
              </a:rPr>
              <a:t>A</a:t>
            </a:r>
            <a:r>
              <a:rPr lang="zh-CN" altLang="en-US" sz="2000" kern="0" dirty="0">
                <a:latin typeface="微软雅黑" panose="020B0503020204020204" pitchFamily="34" charset="-122"/>
                <a:ea typeface="微软雅黑" panose="020B0503020204020204" pitchFamily="34" charset="-122"/>
              </a:rPr>
              <a:t>、</a:t>
            </a:r>
            <a:r>
              <a:rPr lang="en-US" altLang="zh-CN" sz="2000" kern="0" dirty="0">
                <a:latin typeface="微软雅黑" panose="020B0503020204020204" pitchFamily="34" charset="-122"/>
                <a:ea typeface="微软雅黑" panose="020B0503020204020204" pitchFamily="34" charset="-122"/>
              </a:rPr>
              <a:t>B</a:t>
            </a:r>
            <a:r>
              <a:rPr lang="zh-CN" altLang="en-US" sz="2000" kern="0" dirty="0">
                <a:latin typeface="微软雅黑" panose="020B0503020204020204" pitchFamily="34" charset="-122"/>
                <a:ea typeface="微软雅黑" panose="020B0503020204020204" pitchFamily="34" charset="-122"/>
              </a:rPr>
              <a:t>压力较大时</a:t>
            </a:r>
            <a:r>
              <a:rPr lang="en-US" altLang="zh-CN" sz="2000" kern="0" dirty="0">
                <a:latin typeface="微软雅黑" panose="020B0503020204020204" pitchFamily="34" charset="-122"/>
                <a:ea typeface="微软雅黑" panose="020B0503020204020204" pitchFamily="34" charset="-122"/>
              </a:rPr>
              <a:t>3</a:t>
            </a:r>
            <a:r>
              <a:rPr lang="zh-CN" altLang="en-US" sz="2000" kern="0" dirty="0">
                <a:latin typeface="微软雅黑" panose="020B0503020204020204" pitchFamily="34" charset="-122"/>
                <a:ea typeface="微软雅黑" panose="020B0503020204020204" pitchFamily="34" charset="-122"/>
              </a:rPr>
              <a:t>、</a:t>
            </a:r>
            <a:r>
              <a:rPr lang="en-US" altLang="zh-CN" sz="2000" kern="0" dirty="0">
                <a:latin typeface="微软雅黑" panose="020B0503020204020204" pitchFamily="34" charset="-122"/>
                <a:ea typeface="微软雅黑" panose="020B0503020204020204" pitchFamily="34" charset="-122"/>
              </a:rPr>
              <a:t>7</a:t>
            </a:r>
            <a:r>
              <a:rPr lang="zh-CN" altLang="en-US" sz="2000" kern="0" dirty="0">
                <a:latin typeface="微软雅黑" panose="020B0503020204020204" pitchFamily="34" charset="-122"/>
                <a:ea typeface="微软雅黑" panose="020B0503020204020204" pitchFamily="34" charset="-122"/>
              </a:rPr>
              <a:t>开启，高压泵</a:t>
            </a:r>
            <a:r>
              <a:rPr lang="en-US" altLang="zh-CN" sz="2000" kern="0" dirty="0">
                <a:latin typeface="微软雅黑" panose="020B0503020204020204" pitchFamily="34" charset="-122"/>
                <a:ea typeface="微软雅黑" panose="020B0503020204020204" pitchFamily="34" charset="-122"/>
              </a:rPr>
              <a:t>1</a:t>
            </a:r>
            <a:r>
              <a:rPr lang="zh-CN" altLang="en-US" sz="2000" kern="0" dirty="0">
                <a:latin typeface="微软雅黑" panose="020B0503020204020204" pitchFamily="34" charset="-122"/>
                <a:ea typeface="微软雅黑" panose="020B0503020204020204" pitchFamily="34" charset="-122"/>
              </a:rPr>
              <a:t>供油，</a:t>
            </a:r>
            <a:r>
              <a:rPr lang="en-US" altLang="zh-CN" sz="2000" kern="0" dirty="0">
                <a:latin typeface="微软雅黑" panose="020B0503020204020204" pitchFamily="34" charset="-122"/>
                <a:ea typeface="微软雅黑" panose="020B0503020204020204" pitchFamily="34" charset="-122"/>
              </a:rPr>
              <a:t>3</a:t>
            </a:r>
            <a:r>
              <a:rPr lang="zh-CN" altLang="en-US" sz="2000" kern="0" dirty="0">
                <a:latin typeface="微软雅黑" panose="020B0503020204020204" pitchFamily="34" charset="-122"/>
                <a:ea typeface="微软雅黑" panose="020B0503020204020204" pitchFamily="34" charset="-122"/>
              </a:rPr>
              <a:t>、</a:t>
            </a:r>
            <a:r>
              <a:rPr lang="en-US" altLang="zh-CN" sz="2000" kern="0" dirty="0">
                <a:latin typeface="微软雅黑" panose="020B0503020204020204" pitchFamily="34" charset="-122"/>
                <a:ea typeface="微软雅黑" panose="020B0503020204020204" pitchFamily="34" charset="-122"/>
              </a:rPr>
              <a:t>7</a:t>
            </a:r>
            <a:r>
              <a:rPr lang="zh-CN" altLang="en-US" sz="2000" kern="0" dirty="0">
                <a:latin typeface="微软雅黑" panose="020B0503020204020204" pitchFamily="34" charset="-122"/>
                <a:ea typeface="微软雅黑" panose="020B0503020204020204" pitchFamily="34" charset="-122"/>
              </a:rPr>
              <a:t>节流调速。</a:t>
            </a:r>
          </a:p>
        </p:txBody>
      </p:sp>
      <p:grpSp>
        <p:nvGrpSpPr>
          <p:cNvPr id="12" name="组合 4">
            <a:extLst>
              <a:ext uri="{FF2B5EF4-FFF2-40B4-BE49-F238E27FC236}">
                <a16:creationId xmlns:a16="http://schemas.microsoft.com/office/drawing/2014/main" id="{AD56C495-1FB1-75FC-A61C-43A740799DA6}"/>
              </a:ext>
            </a:extLst>
          </p:cNvPr>
          <p:cNvGrpSpPr/>
          <p:nvPr/>
        </p:nvGrpSpPr>
        <p:grpSpPr>
          <a:xfrm>
            <a:off x="7102383" y="1276798"/>
            <a:ext cx="4879910" cy="4791717"/>
            <a:chOff x="4057956" y="1354817"/>
            <a:chExt cx="5085602" cy="4993692"/>
          </a:xfrm>
        </p:grpSpPr>
        <p:pic>
          <p:nvPicPr>
            <p:cNvPr id="15" name="图片 3">
              <a:extLst>
                <a:ext uri="{FF2B5EF4-FFF2-40B4-BE49-F238E27FC236}">
                  <a16:creationId xmlns:a16="http://schemas.microsoft.com/office/drawing/2014/main" id="{AEF578C6-F6C7-4369-1CAF-D906F9E9C46D}"/>
                </a:ext>
              </a:extLst>
            </p:cNvPr>
            <p:cNvPicPr>
              <a:picLocks noChangeAspect="1"/>
            </p:cNvPicPr>
            <p:nvPr/>
          </p:nvPicPr>
          <p:blipFill rotWithShape="1">
            <a:blip r:embed="rId3"/>
            <a:srcRect l="16185" r="8873" b="11151"/>
            <a:stretch/>
          </p:blipFill>
          <p:spPr>
            <a:xfrm>
              <a:off x="4304463" y="1354817"/>
              <a:ext cx="4839095" cy="4993692"/>
            </a:xfrm>
            <a:prstGeom prst="rect">
              <a:avLst/>
            </a:prstGeom>
          </p:spPr>
        </p:pic>
        <p:sp>
          <p:nvSpPr>
            <p:cNvPr id="16" name="矩形 9">
              <a:extLst>
                <a:ext uri="{FF2B5EF4-FFF2-40B4-BE49-F238E27FC236}">
                  <a16:creationId xmlns:a16="http://schemas.microsoft.com/office/drawing/2014/main" id="{B0951163-CE0A-17EC-A5ED-717F3304E29D}"/>
                </a:ext>
              </a:extLst>
            </p:cNvPr>
            <p:cNvSpPr/>
            <p:nvPr/>
          </p:nvSpPr>
          <p:spPr>
            <a:xfrm>
              <a:off x="4057956" y="5400472"/>
              <a:ext cx="493012" cy="20542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tx1"/>
                  </a:solidFill>
                  <a:latin typeface="+mn-ea"/>
                </a:rPr>
                <a:t>泵</a:t>
              </a:r>
              <a:r>
                <a:rPr lang="en-US" altLang="zh-CN" sz="1400" b="1" dirty="0">
                  <a:solidFill>
                    <a:schemeClr val="tx1"/>
                  </a:solidFill>
                  <a:latin typeface="+mn-ea"/>
                </a:rPr>
                <a:t>1</a:t>
              </a:r>
              <a:endParaRPr lang="zh-CN" altLang="en-US" sz="1400" b="1" dirty="0">
                <a:solidFill>
                  <a:schemeClr val="tx1"/>
                </a:solidFill>
                <a:latin typeface="+mn-ea"/>
              </a:endParaRPr>
            </a:p>
          </p:txBody>
        </p:sp>
        <p:sp>
          <p:nvSpPr>
            <p:cNvPr id="17" name="矩形 13">
              <a:extLst>
                <a:ext uri="{FF2B5EF4-FFF2-40B4-BE49-F238E27FC236}">
                  <a16:creationId xmlns:a16="http://schemas.microsoft.com/office/drawing/2014/main" id="{1EBCB93A-305C-97BE-8063-F742D0E9E102}"/>
                </a:ext>
              </a:extLst>
            </p:cNvPr>
            <p:cNvSpPr/>
            <p:nvPr/>
          </p:nvSpPr>
          <p:spPr>
            <a:xfrm>
              <a:off x="4057956" y="5195050"/>
              <a:ext cx="493012" cy="20542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tx1"/>
                  </a:solidFill>
                  <a:latin typeface="+mn-ea"/>
                </a:rPr>
                <a:t>泵</a:t>
              </a:r>
              <a:r>
                <a:rPr lang="en-US" altLang="zh-CN" sz="1400" b="1" dirty="0">
                  <a:solidFill>
                    <a:schemeClr val="tx1"/>
                  </a:solidFill>
                  <a:latin typeface="+mn-ea"/>
                </a:rPr>
                <a:t>2</a:t>
              </a:r>
              <a:endParaRPr lang="zh-CN" altLang="en-US" sz="1400" b="1" dirty="0">
                <a:solidFill>
                  <a:schemeClr val="tx1"/>
                </a:solidFill>
                <a:latin typeface="+mn-ea"/>
              </a:endParaRPr>
            </a:p>
          </p:txBody>
        </p:sp>
      </p:grpSp>
      <p:sp>
        <p:nvSpPr>
          <p:cNvPr id="2" name="文本框 1">
            <a:extLst>
              <a:ext uri="{FF2B5EF4-FFF2-40B4-BE49-F238E27FC236}">
                <a16:creationId xmlns:a16="http://schemas.microsoft.com/office/drawing/2014/main" id="{EC837945-CF22-4E41-B647-6D62A23FF316}"/>
              </a:ext>
            </a:extLst>
          </p:cNvPr>
          <p:cNvSpPr txBox="1"/>
          <p:nvPr/>
        </p:nvSpPr>
        <p:spPr>
          <a:xfrm>
            <a:off x="6719071" y="4377272"/>
            <a:ext cx="964559" cy="523220"/>
          </a:xfrm>
          <a:prstGeom prst="rect">
            <a:avLst/>
          </a:prstGeom>
          <a:noFill/>
        </p:spPr>
        <p:txBody>
          <a:bodyPr wrap="square" rtlCol="0">
            <a:spAutoFit/>
          </a:bodyPr>
          <a:lstStyle/>
          <a:p>
            <a:r>
              <a:rPr lang="zh-CN" altLang="en-US" sz="1400" b="1" dirty="0">
                <a:solidFill>
                  <a:srgbClr val="0000FF"/>
                </a:solidFill>
              </a:rPr>
              <a:t>低压大流量（快速）</a:t>
            </a:r>
          </a:p>
        </p:txBody>
      </p:sp>
      <p:sp>
        <p:nvSpPr>
          <p:cNvPr id="18" name="文本框 17">
            <a:extLst>
              <a:ext uri="{FF2B5EF4-FFF2-40B4-BE49-F238E27FC236}">
                <a16:creationId xmlns:a16="http://schemas.microsoft.com/office/drawing/2014/main" id="{807C5D59-D741-40E1-BBDA-56F6507B1513}"/>
              </a:ext>
            </a:extLst>
          </p:cNvPr>
          <p:cNvSpPr txBox="1"/>
          <p:nvPr/>
        </p:nvSpPr>
        <p:spPr>
          <a:xfrm>
            <a:off x="6728121" y="5352655"/>
            <a:ext cx="1046759" cy="523220"/>
          </a:xfrm>
          <a:prstGeom prst="rect">
            <a:avLst/>
          </a:prstGeom>
          <a:noFill/>
        </p:spPr>
        <p:txBody>
          <a:bodyPr wrap="square" rtlCol="0">
            <a:spAutoFit/>
          </a:bodyPr>
          <a:lstStyle/>
          <a:p>
            <a:r>
              <a:rPr lang="zh-CN" altLang="en-US" sz="1400" b="1" dirty="0">
                <a:solidFill>
                  <a:srgbClr val="0000FF"/>
                </a:solidFill>
              </a:rPr>
              <a:t>高压小流量（慢速）</a:t>
            </a:r>
          </a:p>
        </p:txBody>
      </p:sp>
    </p:spTree>
    <p:extLst>
      <p:ext uri="{BB962C8B-B14F-4D97-AF65-F5344CB8AC3E}">
        <p14:creationId xmlns:p14="http://schemas.microsoft.com/office/powerpoint/2010/main" val="124141070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297244-F774-D961-4F24-709B4557B9F3}"/>
            </a:ext>
          </a:extLst>
        </p:cNvPr>
        <p:cNvGrpSpPr/>
        <p:nvPr/>
      </p:nvGrpSpPr>
      <p:grpSpPr>
        <a:xfrm>
          <a:off x="0" y="0"/>
          <a:ext cx="0" cy="0"/>
          <a:chOff x="0" y="0"/>
          <a:chExt cx="0" cy="0"/>
        </a:xfrm>
      </p:grpSpPr>
      <p:cxnSp>
        <p:nvCxnSpPr>
          <p:cNvPr id="5" name="直接连接符 4">
            <a:extLst>
              <a:ext uri="{FF2B5EF4-FFF2-40B4-BE49-F238E27FC236}">
                <a16:creationId xmlns:a16="http://schemas.microsoft.com/office/drawing/2014/main" id="{E40F6D79-1891-AF8C-123F-55DECB2C5C5B}"/>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pic>
        <p:nvPicPr>
          <p:cNvPr id="8" name="图片 7">
            <a:extLst>
              <a:ext uri="{FF2B5EF4-FFF2-40B4-BE49-F238E27FC236}">
                <a16:creationId xmlns:a16="http://schemas.microsoft.com/office/drawing/2014/main" id="{FEE1F119-6FF4-9F6B-FB4A-EA2D05C43C2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sp>
        <p:nvSpPr>
          <p:cNvPr id="9" name="文本框 8">
            <a:extLst>
              <a:ext uri="{FF2B5EF4-FFF2-40B4-BE49-F238E27FC236}">
                <a16:creationId xmlns:a16="http://schemas.microsoft.com/office/drawing/2014/main" id="{D007C8AA-DF19-C81E-5C22-82148F310471}"/>
              </a:ext>
            </a:extLst>
          </p:cNvPr>
          <p:cNvSpPr txBox="1"/>
          <p:nvPr/>
        </p:nvSpPr>
        <p:spPr>
          <a:xfrm>
            <a:off x="429656" y="135415"/>
            <a:ext cx="8582416" cy="646331"/>
          </a:xfrm>
          <a:prstGeom prst="rect">
            <a:avLst/>
          </a:prstGeom>
          <a:noFill/>
        </p:spPr>
        <p:txBody>
          <a:bodyPr wrap="square" rtlCol="0">
            <a:spAutoFit/>
          </a:bodyPr>
          <a:lstStyle/>
          <a:p>
            <a:r>
              <a:rPr lang="en-US" altLang="zh-CN" sz="3600" b="1" dirty="0">
                <a:solidFill>
                  <a:srgbClr val="003F88"/>
                </a:solidFill>
                <a:latin typeface="+mn-ea"/>
              </a:rPr>
              <a:t>4 </a:t>
            </a:r>
            <a:r>
              <a:rPr lang="zh-CN" altLang="en-US" sz="3600" b="1" dirty="0">
                <a:solidFill>
                  <a:srgbClr val="003F88"/>
                </a:solidFill>
                <a:latin typeface="+mn-ea"/>
              </a:rPr>
              <a:t>多缸动作回路</a:t>
            </a:r>
          </a:p>
        </p:txBody>
      </p:sp>
      <p:sp>
        <p:nvSpPr>
          <p:cNvPr id="25" name="矩形 24">
            <a:extLst>
              <a:ext uri="{FF2B5EF4-FFF2-40B4-BE49-F238E27FC236}">
                <a16:creationId xmlns:a16="http://schemas.microsoft.com/office/drawing/2014/main" id="{CA2FD2BA-1AF4-8F4E-6F71-1BEDEBC4B499}"/>
              </a:ext>
            </a:extLst>
          </p:cNvPr>
          <p:cNvSpPr/>
          <p:nvPr/>
        </p:nvSpPr>
        <p:spPr>
          <a:xfrm>
            <a:off x="-17100" y="174526"/>
            <a:ext cx="319314" cy="56810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矩形 25">
            <a:extLst>
              <a:ext uri="{FF2B5EF4-FFF2-40B4-BE49-F238E27FC236}">
                <a16:creationId xmlns:a16="http://schemas.microsoft.com/office/drawing/2014/main" id="{F04D3405-A750-C022-A8B8-859723AB9D15}"/>
              </a:ext>
            </a:extLst>
          </p:cNvPr>
          <p:cNvSpPr/>
          <p:nvPr/>
        </p:nvSpPr>
        <p:spPr>
          <a:xfrm>
            <a:off x="540867" y="1187297"/>
            <a:ext cx="7547154" cy="581762"/>
          </a:xfrm>
          <a:prstGeom prst="rect">
            <a:avLst/>
          </a:prstGeom>
        </p:spPr>
        <p:txBody>
          <a:bodyPr wrap="square">
            <a:spAutoFit/>
          </a:bodyPr>
          <a:lstStyle/>
          <a:p>
            <a:pPr>
              <a:lnSpc>
                <a:spcPct val="125000"/>
              </a:lnSpc>
            </a:pPr>
            <a:r>
              <a:rPr lang="en-US" altLang="zh-CN" sz="2800" b="1" dirty="0">
                <a:solidFill>
                  <a:srgbClr val="003F88"/>
                </a:solidFill>
                <a:latin typeface="+mn-ea"/>
              </a:rPr>
              <a:t>4.4 </a:t>
            </a:r>
            <a:r>
              <a:rPr lang="zh-CN" altLang="en-US" sz="2800" b="1" dirty="0">
                <a:solidFill>
                  <a:srgbClr val="003F88"/>
                </a:solidFill>
                <a:latin typeface="+mn-ea"/>
              </a:rPr>
              <a:t>多缸卸荷回路</a:t>
            </a:r>
          </a:p>
        </p:txBody>
      </p:sp>
      <p:sp>
        <p:nvSpPr>
          <p:cNvPr id="6" name="文本框 5">
            <a:extLst>
              <a:ext uri="{FF2B5EF4-FFF2-40B4-BE49-F238E27FC236}">
                <a16:creationId xmlns:a16="http://schemas.microsoft.com/office/drawing/2014/main" id="{8B1835E5-94AC-D12D-581D-2716A82F6076}"/>
              </a:ext>
            </a:extLst>
          </p:cNvPr>
          <p:cNvSpPr txBox="1"/>
          <p:nvPr/>
        </p:nvSpPr>
        <p:spPr>
          <a:xfrm>
            <a:off x="7502672" y="5737366"/>
            <a:ext cx="4419632" cy="400110"/>
          </a:xfrm>
          <a:prstGeom prst="rect">
            <a:avLst/>
          </a:prstGeom>
          <a:noFill/>
        </p:spPr>
        <p:txBody>
          <a:bodyPr wrap="square">
            <a:spAutoFit/>
          </a:bodyPr>
          <a:lstStyle/>
          <a:p>
            <a:pPr algn="ctr"/>
            <a:r>
              <a:rPr lang="zh-CN" altLang="en-US" sz="2000" kern="0" dirty="0">
                <a:latin typeface="微软雅黑" panose="020B0503020204020204" pitchFamily="34" charset="-122"/>
                <a:ea typeface="微软雅黑" panose="020B0503020204020204" pitchFamily="34" charset="-122"/>
              </a:rPr>
              <a:t>多缸卸荷回路</a:t>
            </a:r>
            <a:endParaRPr lang="zh-CN" altLang="en-US" sz="2000" dirty="0"/>
          </a:p>
        </p:txBody>
      </p:sp>
      <p:sp>
        <p:nvSpPr>
          <p:cNvPr id="19" name="TextBox 18">
            <a:extLst>
              <a:ext uri="{FF2B5EF4-FFF2-40B4-BE49-F238E27FC236}">
                <a16:creationId xmlns:a16="http://schemas.microsoft.com/office/drawing/2014/main" id="{537A970F-24D9-25FC-2A36-297D006D9550}"/>
              </a:ext>
            </a:extLst>
          </p:cNvPr>
          <p:cNvSpPr txBox="1"/>
          <p:nvPr/>
        </p:nvSpPr>
        <p:spPr>
          <a:xfrm>
            <a:off x="540867" y="1769059"/>
            <a:ext cx="6387285" cy="961289"/>
          </a:xfrm>
          <a:prstGeom prst="rect">
            <a:avLst/>
          </a:prstGeom>
          <a:noFill/>
        </p:spPr>
        <p:txBody>
          <a:bodyPr wrap="square" rtlCol="0">
            <a:spAutoFit/>
          </a:bodyPr>
          <a:lstStyle/>
          <a:p>
            <a:pPr algn="just">
              <a:lnSpc>
                <a:spcPct val="150000"/>
              </a:lnSpc>
            </a:pPr>
            <a:r>
              <a:rPr lang="zh-CN" altLang="en-US" sz="2000" kern="0" dirty="0">
                <a:latin typeface="微软雅黑" panose="020B0503020204020204" pitchFamily="34" charset="-122"/>
                <a:ea typeface="微软雅黑" panose="020B0503020204020204" pitchFamily="34" charset="-122"/>
              </a:rPr>
              <a:t>功用：防止多个液压缸因速度快慢的不同而在动作上发生相互干扰。</a:t>
            </a:r>
          </a:p>
        </p:txBody>
      </p:sp>
      <p:sp>
        <p:nvSpPr>
          <p:cNvPr id="13" name="TextBox 12">
            <a:extLst>
              <a:ext uri="{FF2B5EF4-FFF2-40B4-BE49-F238E27FC236}">
                <a16:creationId xmlns:a16="http://schemas.microsoft.com/office/drawing/2014/main" id="{E0B699DA-1029-4062-C616-1857087C176B}"/>
              </a:ext>
            </a:extLst>
          </p:cNvPr>
          <p:cNvSpPr txBox="1"/>
          <p:nvPr/>
        </p:nvSpPr>
        <p:spPr>
          <a:xfrm>
            <a:off x="540867" y="2902300"/>
            <a:ext cx="6387285" cy="1884618"/>
          </a:xfrm>
          <a:prstGeom prst="rect">
            <a:avLst/>
          </a:prstGeom>
          <a:noFill/>
        </p:spPr>
        <p:txBody>
          <a:bodyPr wrap="square" rtlCol="0">
            <a:spAutoFit/>
          </a:bodyPr>
          <a:lstStyle/>
          <a:p>
            <a:pPr marL="342900" indent="-342900" algn="just">
              <a:lnSpc>
                <a:spcPct val="150000"/>
              </a:lnSpc>
              <a:buFont typeface="Wingdings" panose="05000000000000000000" pitchFamily="2" charset="2"/>
              <a:buChar char="Ø"/>
            </a:pPr>
            <a:r>
              <a:rPr lang="zh-CN" altLang="zh-CN" sz="2000" dirty="0">
                <a:solidFill>
                  <a:srgbClr val="000000"/>
                </a:solidFill>
                <a:latin typeface="Times New Roman" panose="02020603050405020304" pitchFamily="18" charset="0"/>
                <a:ea typeface="黑体" panose="02010609060101010101" pitchFamily="49" charset="-122"/>
                <a:cs typeface="Times New Roman" panose="02020603050405020304" pitchFamily="18" charset="0"/>
              </a:rPr>
              <a:t>只有</a:t>
            </a:r>
            <a:r>
              <a:rPr lang="zh-CN" altLang="en-US" sz="2000" kern="0" dirty="0">
                <a:latin typeface="微软雅黑" panose="020B0503020204020204" pitchFamily="34" charset="-122"/>
                <a:ea typeface="微软雅黑" panose="020B0503020204020204" pitchFamily="34" charset="-122"/>
              </a:rPr>
              <a:t>在各换向阀都处于中位时，液压泵才能接通油箱卸荷。</a:t>
            </a:r>
          </a:p>
          <a:p>
            <a:pPr marL="342900" indent="-342900" algn="just">
              <a:lnSpc>
                <a:spcPct val="150000"/>
              </a:lnSpc>
              <a:buFont typeface="Wingdings" panose="05000000000000000000" pitchFamily="2" charset="2"/>
              <a:buChar char="Ø"/>
            </a:pPr>
            <a:r>
              <a:rPr lang="zh-CN" altLang="en-US" sz="2000" kern="0" dirty="0">
                <a:latin typeface="微软雅黑" panose="020B0503020204020204" pitchFamily="34" charset="-122"/>
                <a:ea typeface="微软雅黑" panose="020B0503020204020204" pitchFamily="34" charset="-122"/>
              </a:rPr>
              <a:t>任一换向阀不在中位时液压泵都会立即恢复压力油的供应。</a:t>
            </a:r>
          </a:p>
        </p:txBody>
      </p:sp>
      <p:pic>
        <p:nvPicPr>
          <p:cNvPr id="2" name="图片 6">
            <a:extLst>
              <a:ext uri="{FF2B5EF4-FFF2-40B4-BE49-F238E27FC236}">
                <a16:creationId xmlns:a16="http://schemas.microsoft.com/office/drawing/2014/main" id="{5D4DA595-9B50-294F-BDFB-BD4FA04629E9}"/>
              </a:ext>
            </a:extLst>
          </p:cNvPr>
          <p:cNvPicPr>
            <a:picLocks noChangeAspect="1"/>
          </p:cNvPicPr>
          <p:nvPr/>
        </p:nvPicPr>
        <p:blipFill>
          <a:blip r:embed="rId3"/>
          <a:stretch>
            <a:fillRect/>
          </a:stretch>
        </p:blipFill>
        <p:spPr>
          <a:xfrm>
            <a:off x="6962937" y="2069311"/>
            <a:ext cx="5160125" cy="3567858"/>
          </a:xfrm>
          <a:prstGeom prst="rect">
            <a:avLst/>
          </a:prstGeom>
        </p:spPr>
      </p:pic>
      <p:sp>
        <p:nvSpPr>
          <p:cNvPr id="3" name="TextBox 2">
            <a:extLst>
              <a:ext uri="{FF2B5EF4-FFF2-40B4-BE49-F238E27FC236}">
                <a16:creationId xmlns:a16="http://schemas.microsoft.com/office/drawing/2014/main" id="{05EF7369-5B8D-26C8-E5D4-537F9FA0ECDB}"/>
              </a:ext>
            </a:extLst>
          </p:cNvPr>
          <p:cNvSpPr txBox="1"/>
          <p:nvPr/>
        </p:nvSpPr>
        <p:spPr>
          <a:xfrm>
            <a:off x="429656" y="4859488"/>
            <a:ext cx="6498496" cy="1289905"/>
          </a:xfrm>
          <a:prstGeom prst="rect">
            <a:avLst/>
          </a:prstGeom>
          <a:noFill/>
        </p:spPr>
        <p:txBody>
          <a:bodyPr wrap="square" rtlCol="0">
            <a:spAutoFit/>
          </a:bodyPr>
          <a:lstStyle/>
          <a:p>
            <a:pPr>
              <a:lnSpc>
                <a:spcPct val="150000"/>
              </a:lnSpc>
            </a:pPr>
            <a:r>
              <a:rPr lang="zh-CN" altLang="en-US" kern="0" dirty="0">
                <a:solidFill>
                  <a:srgbClr val="003F88"/>
                </a:solidFill>
                <a:latin typeface="微软雅黑" panose="020B0503020204020204" pitchFamily="34" charset="-122"/>
                <a:ea typeface="微软雅黑" panose="020B0503020204020204" pitchFamily="34" charset="-122"/>
              </a:rPr>
              <a:t>这种回路对液压泵卸荷的控制十分可靠。但当执行元件数目较多时</a:t>
            </a:r>
            <a:r>
              <a:rPr lang="en-US" altLang="zh-CN" kern="0" dirty="0">
                <a:solidFill>
                  <a:srgbClr val="003F88"/>
                </a:solidFill>
                <a:latin typeface="微软雅黑" panose="020B0503020204020204" pitchFamily="34" charset="-122"/>
                <a:ea typeface="微软雅黑" panose="020B0503020204020204" pitchFamily="34" charset="-122"/>
              </a:rPr>
              <a:t>,</a:t>
            </a:r>
            <a:r>
              <a:rPr lang="zh-CN" altLang="en-US" kern="0" dirty="0">
                <a:solidFill>
                  <a:srgbClr val="003F88"/>
                </a:solidFill>
                <a:latin typeface="微软雅黑" panose="020B0503020204020204" pitchFamily="34" charset="-122"/>
                <a:ea typeface="微软雅黑" panose="020B0503020204020204" pitchFamily="34" charset="-122"/>
              </a:rPr>
              <a:t>卸荷油路较长</a:t>
            </a:r>
            <a:r>
              <a:rPr lang="en-US" altLang="zh-CN" kern="0" dirty="0">
                <a:solidFill>
                  <a:srgbClr val="003F88"/>
                </a:solidFill>
                <a:latin typeface="微软雅黑" panose="020B0503020204020204" pitchFamily="34" charset="-122"/>
                <a:ea typeface="微软雅黑" panose="020B0503020204020204" pitchFamily="34" charset="-122"/>
              </a:rPr>
              <a:t>,</a:t>
            </a:r>
            <a:r>
              <a:rPr lang="zh-CN" altLang="en-US" kern="0" dirty="0">
                <a:solidFill>
                  <a:srgbClr val="003F88"/>
                </a:solidFill>
                <a:latin typeface="微软雅黑" panose="020B0503020204020204" pitchFamily="34" charset="-122"/>
                <a:ea typeface="微软雅黑" panose="020B0503020204020204" pitchFamily="34" charset="-122"/>
              </a:rPr>
              <a:t>使泵的卸荷压力增大</a:t>
            </a:r>
            <a:r>
              <a:rPr lang="en-US" altLang="zh-CN" kern="0" dirty="0">
                <a:solidFill>
                  <a:srgbClr val="003F88"/>
                </a:solidFill>
                <a:latin typeface="微软雅黑" panose="020B0503020204020204" pitchFamily="34" charset="-122"/>
                <a:ea typeface="微软雅黑" panose="020B0503020204020204" pitchFamily="34" charset="-122"/>
              </a:rPr>
              <a:t>,</a:t>
            </a:r>
            <a:r>
              <a:rPr lang="zh-CN" altLang="en-US" kern="0" dirty="0">
                <a:solidFill>
                  <a:srgbClr val="003F88"/>
                </a:solidFill>
                <a:latin typeface="微软雅黑" panose="020B0503020204020204" pitchFamily="34" charset="-122"/>
                <a:ea typeface="微软雅黑" panose="020B0503020204020204" pitchFamily="34" charset="-122"/>
              </a:rPr>
              <a:t>影响卸荷效果。常用于工程机械</a:t>
            </a:r>
          </a:p>
        </p:txBody>
      </p:sp>
    </p:spTree>
    <p:extLst>
      <p:ext uri="{BB962C8B-B14F-4D97-AF65-F5344CB8AC3E}">
        <p14:creationId xmlns:p14="http://schemas.microsoft.com/office/powerpoint/2010/main" val="329257782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图片 7">
            <a:extLst>
              <a:ext uri="{FF2B5EF4-FFF2-40B4-BE49-F238E27FC236}">
                <a16:creationId xmlns:a16="http://schemas.microsoft.com/office/drawing/2014/main" id="{888971FF-38D5-43EF-AEAB-1FCD8FCDA8C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07318" y="487688"/>
            <a:ext cx="3377364" cy="938156"/>
          </a:xfrm>
          <a:prstGeom prst="rect">
            <a:avLst/>
          </a:prstGeom>
        </p:spPr>
      </p:pic>
      <p:sp>
        <p:nvSpPr>
          <p:cNvPr id="10" name="矩形 9">
            <a:extLst>
              <a:ext uri="{FF2B5EF4-FFF2-40B4-BE49-F238E27FC236}">
                <a16:creationId xmlns:a16="http://schemas.microsoft.com/office/drawing/2014/main" id="{0F56DD7F-8255-476B-9EC6-C53321F92149}"/>
              </a:ext>
            </a:extLst>
          </p:cNvPr>
          <p:cNvSpPr/>
          <p:nvPr/>
        </p:nvSpPr>
        <p:spPr>
          <a:xfrm>
            <a:off x="0" y="2279259"/>
            <a:ext cx="12192000" cy="2299792"/>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6000" spc="300" dirty="0">
              <a:latin typeface="黑体" panose="02010609060101010101" pitchFamily="49" charset="-122"/>
              <a:ea typeface="黑体" panose="02010609060101010101" pitchFamily="49" charset="-122"/>
            </a:endParaRPr>
          </a:p>
        </p:txBody>
      </p:sp>
      <p:sp>
        <p:nvSpPr>
          <p:cNvPr id="15" name="平行四边形 14">
            <a:extLst>
              <a:ext uri="{FF2B5EF4-FFF2-40B4-BE49-F238E27FC236}">
                <a16:creationId xmlns:a16="http://schemas.microsoft.com/office/drawing/2014/main" id="{D7F0E690-6592-4097-BF51-75E7C382F258}"/>
              </a:ext>
            </a:extLst>
          </p:cNvPr>
          <p:cNvSpPr/>
          <p:nvPr/>
        </p:nvSpPr>
        <p:spPr>
          <a:xfrm>
            <a:off x="-185979" y="2032990"/>
            <a:ext cx="4959457" cy="108489"/>
          </a:xfrm>
          <a:prstGeom prst="parallelogram">
            <a:avLst>
              <a:gd name="adj" fmla="val 80556"/>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平行四边形 15">
            <a:extLst>
              <a:ext uri="{FF2B5EF4-FFF2-40B4-BE49-F238E27FC236}">
                <a16:creationId xmlns:a16="http://schemas.microsoft.com/office/drawing/2014/main" id="{A094E650-D683-4077-B8CC-8A016732BD2B}"/>
              </a:ext>
            </a:extLst>
          </p:cNvPr>
          <p:cNvSpPr/>
          <p:nvPr/>
        </p:nvSpPr>
        <p:spPr>
          <a:xfrm>
            <a:off x="7421105" y="4703038"/>
            <a:ext cx="4959457" cy="108489"/>
          </a:xfrm>
          <a:prstGeom prst="parallelogram">
            <a:avLst>
              <a:gd name="adj" fmla="val 80556"/>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矩形 20">
            <a:extLst>
              <a:ext uri="{FF2B5EF4-FFF2-40B4-BE49-F238E27FC236}">
                <a16:creationId xmlns:a16="http://schemas.microsoft.com/office/drawing/2014/main" id="{1B61AB4E-87B5-41B4-9759-DE4CE9B4F88B}"/>
              </a:ext>
            </a:extLst>
          </p:cNvPr>
          <p:cNvSpPr/>
          <p:nvPr/>
        </p:nvSpPr>
        <p:spPr>
          <a:xfrm>
            <a:off x="5192548" y="2921168"/>
            <a:ext cx="1806905" cy="1015663"/>
          </a:xfrm>
          <a:prstGeom prst="rect">
            <a:avLst/>
          </a:prstGeom>
        </p:spPr>
        <p:txBody>
          <a:bodyPr wrap="none">
            <a:spAutoFit/>
          </a:bodyPr>
          <a:lstStyle/>
          <a:p>
            <a:pPr algn="ctr"/>
            <a:r>
              <a:rPr lang="zh-CN" altLang="en-US" sz="6000" b="1" spc="300" dirty="0">
                <a:solidFill>
                  <a:schemeClr val="bg1"/>
                </a:solidFill>
                <a:latin typeface="黑体" panose="02010609060101010101" pitchFamily="49" charset="-122"/>
                <a:ea typeface="黑体" panose="02010609060101010101" pitchFamily="49" charset="-122"/>
              </a:rPr>
              <a:t>谢谢</a:t>
            </a:r>
            <a:endParaRPr lang="en-US" altLang="zh-CN" sz="6000" b="1" spc="300" dirty="0">
              <a:solidFill>
                <a:schemeClr val="bg1"/>
              </a:solidFill>
              <a:latin typeface="黑体" panose="02010609060101010101" pitchFamily="49" charset="-122"/>
              <a:ea typeface="黑体" panose="02010609060101010101" pitchFamily="49" charset="-122"/>
            </a:endParaRPr>
          </a:p>
        </p:txBody>
      </p:sp>
    </p:spTree>
    <p:extLst>
      <p:ext uri="{BB962C8B-B14F-4D97-AF65-F5344CB8AC3E}">
        <p14:creationId xmlns:p14="http://schemas.microsoft.com/office/powerpoint/2010/main" val="398905052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微arial">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2494</TotalTime>
  <Words>2126</Words>
  <Application>Microsoft Office PowerPoint</Application>
  <PresentationFormat>宽屏</PresentationFormat>
  <Paragraphs>217</Paragraphs>
  <Slides>20</Slides>
  <Notes>2</Notes>
  <HiddenSlides>0</HiddenSlides>
  <MMClips>0</MMClips>
  <ScaleCrop>false</ScaleCrop>
  <HeadingPairs>
    <vt:vector size="6" baseType="variant">
      <vt:variant>
        <vt:lpstr>已用的字体</vt:lpstr>
      </vt:variant>
      <vt:variant>
        <vt:i4>8</vt:i4>
      </vt:variant>
      <vt:variant>
        <vt:lpstr>主题</vt:lpstr>
      </vt:variant>
      <vt:variant>
        <vt:i4>1</vt:i4>
      </vt:variant>
      <vt:variant>
        <vt:lpstr>幻灯片标题</vt:lpstr>
      </vt:variant>
      <vt:variant>
        <vt:i4>20</vt:i4>
      </vt:variant>
    </vt:vector>
  </HeadingPairs>
  <TitlesOfParts>
    <vt:vector size="29" baseType="lpstr">
      <vt:lpstr>NEU-BZ-S92</vt:lpstr>
      <vt:lpstr>等线</vt:lpstr>
      <vt:lpstr>方正书宋_GBK</vt:lpstr>
      <vt:lpstr>黑体</vt:lpstr>
      <vt:lpstr>微软雅黑</vt:lpstr>
      <vt:lpstr>Arial</vt:lpstr>
      <vt:lpstr>Times New Roman</vt:lpstr>
      <vt:lpstr>Wingdings</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s</dc:creator>
  <cp:lastModifiedBy>dell</cp:lastModifiedBy>
  <cp:revision>104</cp:revision>
  <dcterms:created xsi:type="dcterms:W3CDTF">2024-06-04T23:12:24Z</dcterms:created>
  <dcterms:modified xsi:type="dcterms:W3CDTF">2025-12-21T11:36:33Z</dcterms:modified>
</cp:coreProperties>
</file>