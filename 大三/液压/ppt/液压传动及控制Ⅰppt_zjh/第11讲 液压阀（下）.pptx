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tmp" ContentType="image/png"/>
  <Default Extension="vml" ContentType="application/vnd.openxmlformats-officedocument.vmlDrawing"/>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omments/modernComment_171_48D6AFEF.xml" ContentType="application/vnd.ms-powerpoint.comments+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omments/modernComment_173_ED0C9ED3.xml" ContentType="application/vnd.ms-powerpoint.comment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7"/>
  </p:notesMasterIdLst>
  <p:sldIdLst>
    <p:sldId id="348" r:id="rId2"/>
    <p:sldId id="367" r:id="rId3"/>
    <p:sldId id="347" r:id="rId4"/>
    <p:sldId id="350" r:id="rId5"/>
    <p:sldId id="364" r:id="rId6"/>
    <p:sldId id="351" r:id="rId7"/>
    <p:sldId id="352" r:id="rId8"/>
    <p:sldId id="353" r:id="rId9"/>
    <p:sldId id="354" r:id="rId10"/>
    <p:sldId id="355" r:id="rId11"/>
    <p:sldId id="356" r:id="rId12"/>
    <p:sldId id="357" r:id="rId13"/>
    <p:sldId id="366" r:id="rId14"/>
    <p:sldId id="359" r:id="rId15"/>
    <p:sldId id="360" r:id="rId16"/>
    <p:sldId id="361" r:id="rId17"/>
    <p:sldId id="363" r:id="rId18"/>
    <p:sldId id="362" r:id="rId19"/>
    <p:sldId id="369" r:id="rId20"/>
    <p:sldId id="349" r:id="rId21"/>
    <p:sldId id="370" r:id="rId22"/>
    <p:sldId id="371" r:id="rId23"/>
    <p:sldId id="372" r:id="rId24"/>
    <p:sldId id="373" r:id="rId25"/>
    <p:sldId id="374" r:id="rId26"/>
    <p:sldId id="375" r:id="rId27"/>
    <p:sldId id="376" r:id="rId28"/>
    <p:sldId id="358" r:id="rId29"/>
    <p:sldId id="377" r:id="rId30"/>
    <p:sldId id="378" r:id="rId31"/>
    <p:sldId id="379" r:id="rId32"/>
    <p:sldId id="380" r:id="rId33"/>
    <p:sldId id="365" r:id="rId34"/>
    <p:sldId id="381" r:id="rId35"/>
    <p:sldId id="382" r:id="rId36"/>
    <p:sldId id="383" r:id="rId37"/>
    <p:sldId id="384" r:id="rId38"/>
    <p:sldId id="385" r:id="rId39"/>
    <p:sldId id="386" r:id="rId40"/>
    <p:sldId id="387" r:id="rId41"/>
    <p:sldId id="388" r:id="rId42"/>
    <p:sldId id="389" r:id="rId43"/>
    <p:sldId id="390" r:id="rId44"/>
    <p:sldId id="391" r:id="rId45"/>
    <p:sldId id="392" r:id="rId46"/>
    <p:sldId id="393" r:id="rId47"/>
    <p:sldId id="394" r:id="rId48"/>
    <p:sldId id="395" r:id="rId49"/>
    <p:sldId id="396" r:id="rId50"/>
    <p:sldId id="397" r:id="rId51"/>
    <p:sldId id="398" r:id="rId52"/>
    <p:sldId id="399" r:id="rId53"/>
    <p:sldId id="400" r:id="rId54"/>
    <p:sldId id="401" r:id="rId55"/>
    <p:sldId id="402" r:id="rId56"/>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模板主体" id="{FC27560C-544F-432D-A08E-A637859AB426}">
          <p14:sldIdLst>
            <p14:sldId id="348"/>
            <p14:sldId id="367"/>
            <p14:sldId id="347"/>
            <p14:sldId id="350"/>
            <p14:sldId id="364"/>
            <p14:sldId id="351"/>
            <p14:sldId id="352"/>
            <p14:sldId id="353"/>
            <p14:sldId id="354"/>
            <p14:sldId id="355"/>
            <p14:sldId id="356"/>
            <p14:sldId id="357"/>
            <p14:sldId id="366"/>
            <p14:sldId id="359"/>
            <p14:sldId id="360"/>
            <p14:sldId id="361"/>
            <p14:sldId id="363"/>
            <p14:sldId id="362"/>
          </p14:sldIdLst>
        </p14:section>
        <p14:section name="液压阀下" id="{AEC98DAF-5960-440F-8EF2-9AC940BFEB0F}">
          <p14:sldIdLst>
            <p14:sldId id="369"/>
            <p14:sldId id="349"/>
            <p14:sldId id="370"/>
            <p14:sldId id="371"/>
            <p14:sldId id="372"/>
            <p14:sldId id="373"/>
            <p14:sldId id="374"/>
            <p14:sldId id="375"/>
            <p14:sldId id="376"/>
            <p14:sldId id="358"/>
            <p14:sldId id="377"/>
            <p14:sldId id="378"/>
            <p14:sldId id="379"/>
            <p14:sldId id="380"/>
            <p14:sldId id="365"/>
            <p14:sldId id="381"/>
            <p14:sldId id="382"/>
            <p14:sldId id="383"/>
            <p14:sldId id="384"/>
            <p14:sldId id="385"/>
            <p14:sldId id="386"/>
            <p14:sldId id="387"/>
            <p14:sldId id="388"/>
            <p14:sldId id="389"/>
            <p14:sldId id="390"/>
            <p14:sldId id="391"/>
            <p14:sldId id="392"/>
            <p14:sldId id="393"/>
            <p14:sldId id="394"/>
            <p14:sldId id="395"/>
            <p14:sldId id="396"/>
            <p14:sldId id="397"/>
            <p14:sldId id="398"/>
            <p14:sldId id="399"/>
            <p14:sldId id="400"/>
            <p14:sldId id="401"/>
            <p14:sldId id="402"/>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2535097-5079-345E-F3E4-B6054F8813D7}" name="zhangwei cao" initials="zc" userId="ecc959f6e360b608" providerId="Windows Live"/>
  <p188:author id="{5E01BCDE-CE39-0B18-6A1B-D7D970BF0C8B}" name="lou bin" initials="lb" userId="3bdb8542f6fe6ae6"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003F88"/>
    <a:srgbClr val="8994BD"/>
    <a:srgbClr val="96A2D0"/>
    <a:srgbClr val="93BFF5"/>
    <a:srgbClr val="E6E6E6"/>
    <a:srgbClr val="3A68B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013" autoAdjust="0"/>
    <p:restoredTop sz="94088" autoAdjust="0"/>
  </p:normalViewPr>
  <p:slideViewPr>
    <p:cSldViewPr snapToGrid="0">
      <p:cViewPr>
        <p:scale>
          <a:sx n="100" d="100"/>
          <a:sy n="100" d="100"/>
        </p:scale>
        <p:origin x="1764" y="123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62"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61"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s>
</file>

<file path=ppt/comments/modernComment_171_48D6AFEF.xml><?xml version="1.0" encoding="utf-8"?>
<p188:cmLst xmlns:a="http://schemas.openxmlformats.org/drawingml/2006/main" xmlns:r="http://schemas.openxmlformats.org/officeDocument/2006/relationships" xmlns:p188="http://schemas.microsoft.com/office/powerpoint/2018/8/main">
  <p188:cm id="{095474C2-E98E-4D12-ACAB-549E6F0C905D}" authorId="{5E01BCDE-CE39-0B18-6A1B-D7D970BF0C8B}" created="2024-11-18T12:00:43.559">
    <ac:txMkLst xmlns:ac="http://schemas.microsoft.com/office/drawing/2013/main/command">
      <pc:docMk xmlns:pc="http://schemas.microsoft.com/office/powerpoint/2013/main/command"/>
      <pc:sldMk xmlns:pc="http://schemas.microsoft.com/office/powerpoint/2013/main/command" cId="1222029295" sldId="369"/>
      <ac:spMk id="22" creationId="{18531F04-59A7-372B-7A7E-07368BA98818}"/>
      <ac:txMk cp="0" len="7">
        <ac:context len="58" hash="1758282369"/>
      </ac:txMk>
    </ac:txMkLst>
    <p188:pos x="3784361" y="255372"/>
    <p188:txBody>
      <a:bodyPr/>
      <a:lstStyle/>
      <a:p>
        <a:r>
          <a:rPr lang="zh-CN" altLang="en-US"/>
          <a:t>按照模板修改小标题样式，统一每级标题格式，最好标题能和书上逻辑一样
</a:t>
        </a:r>
      </a:p>
    </p188:txBody>
  </p188:cm>
</p188:cmLst>
</file>

<file path=ppt/comments/modernComment_173_ED0C9ED3.xml><?xml version="1.0" encoding="utf-8"?>
<p188:cmLst xmlns:a="http://schemas.openxmlformats.org/drawingml/2006/main" xmlns:r="http://schemas.openxmlformats.org/officeDocument/2006/relationships" xmlns:p188="http://schemas.microsoft.com/office/powerpoint/2018/8/main">
  <p188:cm id="{B1E3DB3E-2D59-4B7C-BABF-2B1309E14D93}" authorId="{5E01BCDE-CE39-0B18-6A1B-D7D970BF0C8B}" created="2024-11-18T12:02:03.458">
    <ac:txMkLst xmlns:ac="http://schemas.microsoft.com/office/drawing/2013/main/command">
      <pc:docMk xmlns:pc="http://schemas.microsoft.com/office/powerpoint/2013/main/command"/>
      <pc:sldMk xmlns:pc="http://schemas.microsoft.com/office/powerpoint/2013/main/command" cId="3977027283" sldId="371"/>
      <ac:spMk id="2" creationId="{4626F5BD-7B0C-A98D-C322-538FF8B9CDEB}"/>
      <ac:txMk cp="0" len="81">
        <ac:context len="202" hash="3513029735"/>
      </ac:txMk>
    </ac:txMkLst>
    <p188:pos x="6278582" y="256936"/>
    <p188:txBody>
      <a:bodyPr/>
      <a:lstStyle/>
      <a:p>
        <a:r>
          <a:rPr lang="zh-CN" altLang="en-US"/>
          <a:t>这一章文字书上没有，确认一下来源</a:t>
        </a:r>
      </a:p>
    </p188:txBody>
  </p188:cm>
</p188:cmLst>
</file>

<file path=ppt/drawings/_rels/vmlDrawing1.vml.rels><?xml version="1.0" encoding="UTF-8" standalone="yes"?>
<Relationships xmlns="http://schemas.openxmlformats.org/package/2006/relationships"><Relationship Id="rId8" Type="http://schemas.openxmlformats.org/officeDocument/2006/relationships/image" Target="../media/image22.wmf"/><Relationship Id="rId3" Type="http://schemas.openxmlformats.org/officeDocument/2006/relationships/image" Target="../media/image17.wmf"/><Relationship Id="rId7" Type="http://schemas.openxmlformats.org/officeDocument/2006/relationships/image" Target="../media/image21.emf"/><Relationship Id="rId2" Type="http://schemas.openxmlformats.org/officeDocument/2006/relationships/image" Target="../media/image16.wmf"/><Relationship Id="rId1" Type="http://schemas.openxmlformats.org/officeDocument/2006/relationships/image" Target="../media/image15.wmf"/><Relationship Id="rId6" Type="http://schemas.openxmlformats.org/officeDocument/2006/relationships/image" Target="../media/image20.wmf"/><Relationship Id="rId5" Type="http://schemas.openxmlformats.org/officeDocument/2006/relationships/image" Target="../media/image19.wmf"/><Relationship Id="rId10" Type="http://schemas.openxmlformats.org/officeDocument/2006/relationships/image" Target="../media/image24.emf"/><Relationship Id="rId4" Type="http://schemas.openxmlformats.org/officeDocument/2006/relationships/image" Target="../media/image18.wmf"/><Relationship Id="rId9" Type="http://schemas.openxmlformats.org/officeDocument/2006/relationships/image" Target="../media/image23.w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28.wmf"/></Relationships>
</file>

<file path=ppt/drawings/_rels/vmlDrawing3.vml.rels><?xml version="1.0" encoding="UTF-8" standalone="yes"?>
<Relationships xmlns="http://schemas.openxmlformats.org/package/2006/relationships"><Relationship Id="rId2" Type="http://schemas.openxmlformats.org/officeDocument/2006/relationships/image" Target="../media/image30.wmf"/><Relationship Id="rId1" Type="http://schemas.openxmlformats.org/officeDocument/2006/relationships/image" Target="../media/image29.wmf"/></Relationships>
</file>

<file path=ppt/drawings/_rels/vmlDrawing4.vml.rels><?xml version="1.0" encoding="UTF-8" standalone="yes"?>
<Relationships xmlns="http://schemas.openxmlformats.org/package/2006/relationships"><Relationship Id="rId3" Type="http://schemas.openxmlformats.org/officeDocument/2006/relationships/image" Target="../media/image37.wmf"/><Relationship Id="rId2" Type="http://schemas.openxmlformats.org/officeDocument/2006/relationships/image" Target="../media/image36.wmf"/><Relationship Id="rId1" Type="http://schemas.openxmlformats.org/officeDocument/2006/relationships/image" Target="../media/image35.wmf"/></Relationships>
</file>

<file path=ppt/drawings/_rels/vmlDrawing5.vml.rels><?xml version="1.0" encoding="UTF-8" standalone="yes"?>
<Relationships xmlns="http://schemas.openxmlformats.org/package/2006/relationships"><Relationship Id="rId3" Type="http://schemas.openxmlformats.org/officeDocument/2006/relationships/image" Target="../media/image41.wmf"/><Relationship Id="rId2" Type="http://schemas.openxmlformats.org/officeDocument/2006/relationships/image" Target="../media/image40.wmf"/><Relationship Id="rId1" Type="http://schemas.openxmlformats.org/officeDocument/2006/relationships/image" Target="../media/image39.wmf"/><Relationship Id="rId5" Type="http://schemas.openxmlformats.org/officeDocument/2006/relationships/image" Target="../media/image43.emf"/><Relationship Id="rId4" Type="http://schemas.openxmlformats.org/officeDocument/2006/relationships/image" Target="../media/image42.wmf"/></Relationships>
</file>

<file path=ppt/drawings/_rels/vmlDrawing6.vml.rels><?xml version="1.0" encoding="UTF-8" standalone="yes"?>
<Relationships xmlns="http://schemas.openxmlformats.org/package/2006/relationships"><Relationship Id="rId8" Type="http://schemas.openxmlformats.org/officeDocument/2006/relationships/image" Target="../media/image52.emf"/><Relationship Id="rId3" Type="http://schemas.openxmlformats.org/officeDocument/2006/relationships/image" Target="../media/image47.emf"/><Relationship Id="rId7" Type="http://schemas.openxmlformats.org/officeDocument/2006/relationships/image" Target="../media/image51.emf"/><Relationship Id="rId2" Type="http://schemas.openxmlformats.org/officeDocument/2006/relationships/image" Target="../media/image46.wmf"/><Relationship Id="rId1" Type="http://schemas.openxmlformats.org/officeDocument/2006/relationships/image" Target="../media/image45.wmf"/><Relationship Id="rId6" Type="http://schemas.openxmlformats.org/officeDocument/2006/relationships/image" Target="../media/image50.emf"/><Relationship Id="rId11" Type="http://schemas.openxmlformats.org/officeDocument/2006/relationships/image" Target="../media/image55.wmf"/><Relationship Id="rId5" Type="http://schemas.openxmlformats.org/officeDocument/2006/relationships/image" Target="../media/image49.emf"/><Relationship Id="rId10" Type="http://schemas.openxmlformats.org/officeDocument/2006/relationships/image" Target="../media/image54.wmf"/><Relationship Id="rId4" Type="http://schemas.openxmlformats.org/officeDocument/2006/relationships/image" Target="../media/image48.emf"/><Relationship Id="rId9" Type="http://schemas.openxmlformats.org/officeDocument/2006/relationships/image" Target="../media/image53.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9EBC71-470F-4178-8939-B7F43C998C3E}" type="datetimeFigureOut">
              <a:rPr lang="zh-CN" altLang="en-US" smtClean="0"/>
              <a:t>2025-12-17</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37F53EF-5364-44E3-BFA2-84231755F7E3}" type="slidenum">
              <a:rPr lang="zh-CN" altLang="en-US" smtClean="0"/>
              <a:t>‹#›</a:t>
            </a:fld>
            <a:endParaRPr lang="zh-CN" altLang="en-US"/>
          </a:p>
        </p:txBody>
      </p:sp>
    </p:spTree>
    <p:extLst>
      <p:ext uri="{BB962C8B-B14F-4D97-AF65-F5344CB8AC3E}">
        <p14:creationId xmlns:p14="http://schemas.microsoft.com/office/powerpoint/2010/main" val="3189640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备注占位符 1">
            <a:extLst>
              <a:ext uri="{FF2B5EF4-FFF2-40B4-BE49-F238E27FC236}">
                <a16:creationId xmlns:a16="http://schemas.microsoft.com/office/drawing/2014/main" id="{A20DBE8E-EBA8-66F2-C494-6E75D7B0CD77}"/>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4649304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伺服阀的定义、特点，伺服阀的分类</a:t>
            </a:r>
          </a:p>
        </p:txBody>
      </p:sp>
      <p:sp>
        <p:nvSpPr>
          <p:cNvPr id="4" name="灯片编号占位符 3"/>
          <p:cNvSpPr>
            <a:spLocks noGrp="1"/>
          </p:cNvSpPr>
          <p:nvPr>
            <p:ph type="sldNum" sz="quarter" idx="5"/>
          </p:nvPr>
        </p:nvSpPr>
        <p:spPr/>
        <p:txBody>
          <a:bodyPr/>
          <a:lstStyle/>
          <a:p>
            <a:fld id="{337F53EF-5364-44E3-BFA2-84231755F7E3}" type="slidenum">
              <a:rPr lang="zh-CN" altLang="en-US" smtClean="0"/>
              <a:t>2</a:t>
            </a:fld>
            <a:endParaRPr lang="zh-CN" altLang="en-US"/>
          </a:p>
        </p:txBody>
      </p:sp>
    </p:spTree>
    <p:extLst>
      <p:ext uri="{BB962C8B-B14F-4D97-AF65-F5344CB8AC3E}">
        <p14:creationId xmlns:p14="http://schemas.microsoft.com/office/powerpoint/2010/main" val="4669108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伺服阀的定义、特点，伺服阀的分类</a:t>
            </a:r>
          </a:p>
        </p:txBody>
      </p:sp>
      <p:sp>
        <p:nvSpPr>
          <p:cNvPr id="4" name="灯片编号占位符 3"/>
          <p:cNvSpPr>
            <a:spLocks noGrp="1"/>
          </p:cNvSpPr>
          <p:nvPr>
            <p:ph type="sldNum" sz="quarter" idx="5"/>
          </p:nvPr>
        </p:nvSpPr>
        <p:spPr/>
        <p:txBody>
          <a:bodyPr/>
          <a:lstStyle/>
          <a:p>
            <a:fld id="{337F53EF-5364-44E3-BFA2-84231755F7E3}" type="slidenum">
              <a:rPr lang="zh-CN" altLang="en-US" smtClean="0"/>
              <a:t>3</a:t>
            </a:fld>
            <a:endParaRPr lang="zh-CN" altLang="en-US"/>
          </a:p>
        </p:txBody>
      </p:sp>
    </p:spTree>
    <p:extLst>
      <p:ext uri="{BB962C8B-B14F-4D97-AF65-F5344CB8AC3E}">
        <p14:creationId xmlns:p14="http://schemas.microsoft.com/office/powerpoint/2010/main" val="2623450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伺服放大器、电</a:t>
            </a:r>
            <a:r>
              <a:rPr lang="en-US" altLang="zh-CN" dirty="0"/>
              <a:t>-</a:t>
            </a:r>
            <a:r>
              <a:rPr lang="zh-CN" altLang="en-US" dirty="0"/>
              <a:t>机械转换器</a:t>
            </a:r>
          </a:p>
        </p:txBody>
      </p:sp>
      <p:sp>
        <p:nvSpPr>
          <p:cNvPr id="4" name="灯片编号占位符 3"/>
          <p:cNvSpPr>
            <a:spLocks noGrp="1"/>
          </p:cNvSpPr>
          <p:nvPr>
            <p:ph type="sldNum" sz="quarter" idx="5"/>
          </p:nvPr>
        </p:nvSpPr>
        <p:spPr/>
        <p:txBody>
          <a:bodyPr/>
          <a:lstStyle/>
          <a:p>
            <a:fld id="{337F53EF-5364-44E3-BFA2-84231755F7E3}" type="slidenum">
              <a:rPr lang="zh-CN" altLang="en-US" smtClean="0"/>
              <a:t>4</a:t>
            </a:fld>
            <a:endParaRPr lang="zh-CN" altLang="en-US"/>
          </a:p>
        </p:txBody>
      </p:sp>
    </p:spTree>
    <p:extLst>
      <p:ext uri="{BB962C8B-B14F-4D97-AF65-F5344CB8AC3E}">
        <p14:creationId xmlns:p14="http://schemas.microsoft.com/office/powerpoint/2010/main" val="36684036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三大组成部分</a:t>
            </a:r>
          </a:p>
        </p:txBody>
      </p:sp>
      <p:sp>
        <p:nvSpPr>
          <p:cNvPr id="4" name="灯片编号占位符 3"/>
          <p:cNvSpPr>
            <a:spLocks noGrp="1"/>
          </p:cNvSpPr>
          <p:nvPr>
            <p:ph type="sldNum" sz="quarter" idx="5"/>
          </p:nvPr>
        </p:nvSpPr>
        <p:spPr/>
        <p:txBody>
          <a:bodyPr/>
          <a:lstStyle/>
          <a:p>
            <a:fld id="{337F53EF-5364-44E3-BFA2-84231755F7E3}" type="slidenum">
              <a:rPr lang="zh-CN" altLang="en-US" smtClean="0"/>
              <a:t>5</a:t>
            </a:fld>
            <a:endParaRPr lang="zh-CN" altLang="en-US"/>
          </a:p>
        </p:txBody>
      </p:sp>
    </p:spTree>
    <p:extLst>
      <p:ext uri="{BB962C8B-B14F-4D97-AF65-F5344CB8AC3E}">
        <p14:creationId xmlns:p14="http://schemas.microsoft.com/office/powerpoint/2010/main" val="196885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三种常用的控制元件。滑阀、射流管、喷嘴挡板，分别用一页介绍</a:t>
            </a:r>
          </a:p>
        </p:txBody>
      </p:sp>
      <p:sp>
        <p:nvSpPr>
          <p:cNvPr id="4" name="灯片编号占位符 3"/>
          <p:cNvSpPr>
            <a:spLocks noGrp="1"/>
          </p:cNvSpPr>
          <p:nvPr>
            <p:ph type="sldNum" sz="quarter" idx="5"/>
          </p:nvPr>
        </p:nvSpPr>
        <p:spPr/>
        <p:txBody>
          <a:bodyPr/>
          <a:lstStyle/>
          <a:p>
            <a:fld id="{337F53EF-5364-44E3-BFA2-84231755F7E3}" type="slidenum">
              <a:rPr lang="zh-CN" altLang="en-US" smtClean="0"/>
              <a:t>6</a:t>
            </a:fld>
            <a:endParaRPr lang="zh-CN" altLang="en-US"/>
          </a:p>
        </p:txBody>
      </p:sp>
    </p:spTree>
    <p:extLst>
      <p:ext uri="{BB962C8B-B14F-4D97-AF65-F5344CB8AC3E}">
        <p14:creationId xmlns:p14="http://schemas.microsoft.com/office/powerpoint/2010/main" val="239521738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下面开始对伺服阀的特性进行分析。</a:t>
            </a:r>
          </a:p>
        </p:txBody>
      </p:sp>
      <p:sp>
        <p:nvSpPr>
          <p:cNvPr id="4" name="灯片编号占位符 3"/>
          <p:cNvSpPr>
            <a:spLocks noGrp="1"/>
          </p:cNvSpPr>
          <p:nvPr>
            <p:ph type="sldNum" sz="quarter" idx="5"/>
          </p:nvPr>
        </p:nvSpPr>
        <p:spPr/>
        <p:txBody>
          <a:bodyPr/>
          <a:lstStyle/>
          <a:p>
            <a:fld id="{337F53EF-5364-44E3-BFA2-84231755F7E3}" type="slidenum">
              <a:rPr lang="zh-CN" altLang="en-US" smtClean="0"/>
              <a:t>9</a:t>
            </a:fld>
            <a:endParaRPr lang="zh-CN" altLang="en-US"/>
          </a:p>
        </p:txBody>
      </p:sp>
    </p:spTree>
    <p:extLst>
      <p:ext uri="{BB962C8B-B14F-4D97-AF65-F5344CB8AC3E}">
        <p14:creationId xmlns:p14="http://schemas.microsoft.com/office/powerpoint/2010/main" val="34572203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337F53EF-5364-44E3-BFA2-84231755F7E3}" type="slidenum">
              <a:rPr lang="zh-CN" altLang="en-US" smtClean="0"/>
              <a:t>13</a:t>
            </a:fld>
            <a:endParaRPr lang="zh-CN" altLang="en-US"/>
          </a:p>
        </p:txBody>
      </p:sp>
    </p:spTree>
    <p:extLst>
      <p:ext uri="{BB962C8B-B14F-4D97-AF65-F5344CB8AC3E}">
        <p14:creationId xmlns:p14="http://schemas.microsoft.com/office/powerpoint/2010/main" val="30069413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337F53EF-5364-44E3-BFA2-84231755F7E3}" type="slidenum">
              <a:rPr lang="zh-CN" altLang="en-US" smtClean="0"/>
              <a:t>16</a:t>
            </a:fld>
            <a:endParaRPr lang="zh-CN" altLang="en-US"/>
          </a:p>
        </p:txBody>
      </p:sp>
    </p:spTree>
    <p:extLst>
      <p:ext uri="{BB962C8B-B14F-4D97-AF65-F5344CB8AC3E}">
        <p14:creationId xmlns:p14="http://schemas.microsoft.com/office/powerpoint/2010/main" val="7009753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伺服阀的广泛应用</a:t>
            </a:r>
          </a:p>
        </p:txBody>
      </p:sp>
      <p:sp>
        <p:nvSpPr>
          <p:cNvPr id="4" name="灯片编号占位符 3"/>
          <p:cNvSpPr>
            <a:spLocks noGrp="1"/>
          </p:cNvSpPr>
          <p:nvPr>
            <p:ph type="sldNum" sz="quarter" idx="5"/>
          </p:nvPr>
        </p:nvSpPr>
        <p:spPr/>
        <p:txBody>
          <a:bodyPr/>
          <a:lstStyle/>
          <a:p>
            <a:fld id="{337F53EF-5364-44E3-BFA2-84231755F7E3}" type="slidenum">
              <a:rPr lang="zh-CN" altLang="en-US" smtClean="0"/>
              <a:t>18</a:t>
            </a:fld>
            <a:endParaRPr lang="zh-CN" altLang="en-US"/>
          </a:p>
        </p:txBody>
      </p:sp>
    </p:spTree>
    <p:extLst>
      <p:ext uri="{BB962C8B-B14F-4D97-AF65-F5344CB8AC3E}">
        <p14:creationId xmlns:p14="http://schemas.microsoft.com/office/powerpoint/2010/main" val="163120635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dirty="0">
                <a:latin typeface="+mn-ea"/>
              </a:rPr>
              <a:t>电</a:t>
            </a:r>
            <a:r>
              <a:rPr lang="en-US" altLang="zh-CN" sz="1200" dirty="0">
                <a:latin typeface="+mn-ea"/>
              </a:rPr>
              <a:t>-</a:t>
            </a:r>
            <a:r>
              <a:rPr lang="zh-CN" altLang="en-US" sz="1200" dirty="0">
                <a:latin typeface="+mn-ea"/>
              </a:rPr>
              <a:t>机械转换器 </a:t>
            </a:r>
            <a:r>
              <a:rPr lang="zh-CN" altLang="en-US" sz="1200" dirty="0">
                <a:solidFill>
                  <a:srgbClr val="FF0000"/>
                </a:solidFill>
                <a:latin typeface="+mn-ea"/>
              </a:rPr>
              <a:t>（比例电磁铁</a:t>
            </a:r>
            <a:r>
              <a:rPr lang="zh-CN" altLang="en-US" sz="1100" dirty="0">
                <a:solidFill>
                  <a:srgbClr val="FF0000"/>
                </a:solidFill>
                <a:latin typeface="+mn-ea"/>
              </a:rPr>
              <a:t>）的特性及优点</a:t>
            </a:r>
            <a:endParaRPr lang="zh-CN" altLang="en-US" dirty="0"/>
          </a:p>
        </p:txBody>
      </p:sp>
      <p:sp>
        <p:nvSpPr>
          <p:cNvPr id="4" name="灯片编号占位符 3"/>
          <p:cNvSpPr>
            <a:spLocks noGrp="1"/>
          </p:cNvSpPr>
          <p:nvPr>
            <p:ph type="sldNum" sz="quarter" idx="5"/>
          </p:nvPr>
        </p:nvSpPr>
        <p:spPr/>
        <p:txBody>
          <a:bodyPr/>
          <a:lstStyle/>
          <a:p>
            <a:fld id="{337F53EF-5364-44E3-BFA2-84231755F7E3}" type="slidenum">
              <a:rPr lang="zh-CN" altLang="en-US" smtClean="0"/>
              <a:t>20</a:t>
            </a:fld>
            <a:endParaRPr lang="zh-CN" altLang="en-US"/>
          </a:p>
        </p:txBody>
      </p:sp>
    </p:spTree>
    <p:extLst>
      <p:ext uri="{BB962C8B-B14F-4D97-AF65-F5344CB8AC3E}">
        <p14:creationId xmlns:p14="http://schemas.microsoft.com/office/powerpoint/2010/main" val="27368361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常见的力输出和位移输出型的比例电磁铁特点</a:t>
            </a:r>
          </a:p>
        </p:txBody>
      </p:sp>
      <p:sp>
        <p:nvSpPr>
          <p:cNvPr id="4" name="灯片编号占位符 3"/>
          <p:cNvSpPr>
            <a:spLocks noGrp="1"/>
          </p:cNvSpPr>
          <p:nvPr>
            <p:ph type="sldNum" sz="quarter" idx="5"/>
          </p:nvPr>
        </p:nvSpPr>
        <p:spPr/>
        <p:txBody>
          <a:bodyPr/>
          <a:lstStyle/>
          <a:p>
            <a:fld id="{337F53EF-5364-44E3-BFA2-84231755F7E3}" type="slidenum">
              <a:rPr lang="zh-CN" altLang="en-US" smtClean="0"/>
              <a:t>21</a:t>
            </a:fld>
            <a:endParaRPr lang="zh-CN" altLang="en-US"/>
          </a:p>
        </p:txBody>
      </p:sp>
    </p:spTree>
    <p:extLst>
      <p:ext uri="{BB962C8B-B14F-4D97-AF65-F5344CB8AC3E}">
        <p14:creationId xmlns:p14="http://schemas.microsoft.com/office/powerpoint/2010/main" val="24316633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dirty="0">
                <a:latin typeface="+mn-ea"/>
              </a:rPr>
              <a:t>比例放大控制器的作用优点及结构形式</a:t>
            </a:r>
            <a:endParaRPr lang="zh-CN" altLang="en-US" dirty="0"/>
          </a:p>
        </p:txBody>
      </p:sp>
      <p:sp>
        <p:nvSpPr>
          <p:cNvPr id="4" name="灯片编号占位符 3"/>
          <p:cNvSpPr>
            <a:spLocks noGrp="1"/>
          </p:cNvSpPr>
          <p:nvPr>
            <p:ph type="sldNum" sz="quarter" idx="5"/>
          </p:nvPr>
        </p:nvSpPr>
        <p:spPr/>
        <p:txBody>
          <a:bodyPr/>
          <a:lstStyle/>
          <a:p>
            <a:fld id="{337F53EF-5364-44E3-BFA2-84231755F7E3}" type="slidenum">
              <a:rPr lang="zh-CN" altLang="en-US" smtClean="0"/>
              <a:t>22</a:t>
            </a:fld>
            <a:endParaRPr lang="zh-CN" altLang="en-US"/>
          </a:p>
        </p:txBody>
      </p:sp>
    </p:spTree>
    <p:extLst>
      <p:ext uri="{BB962C8B-B14F-4D97-AF65-F5344CB8AC3E}">
        <p14:creationId xmlns:p14="http://schemas.microsoft.com/office/powerpoint/2010/main" val="250922664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337F53EF-5364-44E3-BFA2-84231755F7E3}" type="slidenum">
              <a:rPr lang="zh-CN" altLang="en-US" smtClean="0"/>
              <a:t>26</a:t>
            </a:fld>
            <a:endParaRPr lang="zh-CN" altLang="en-US"/>
          </a:p>
        </p:txBody>
      </p:sp>
    </p:spTree>
    <p:extLst>
      <p:ext uri="{BB962C8B-B14F-4D97-AF65-F5344CB8AC3E}">
        <p14:creationId xmlns:p14="http://schemas.microsoft.com/office/powerpoint/2010/main" val="301677128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1" dirty="0">
                <a:latin typeface="+mn-ea"/>
              </a:rPr>
              <a:t>级间动压反馈</a:t>
            </a:r>
            <a:r>
              <a:rPr lang="en-US" altLang="zh-CN" sz="1200" b="1" dirty="0">
                <a:latin typeface="+mn-ea"/>
              </a:rPr>
              <a:t>R2</a:t>
            </a:r>
            <a:r>
              <a:rPr lang="zh-CN" altLang="en-US" sz="1200" b="1" dirty="0">
                <a:latin typeface="+mn-ea"/>
              </a:rPr>
              <a:t>的作用</a:t>
            </a:r>
          </a:p>
        </p:txBody>
      </p:sp>
      <p:sp>
        <p:nvSpPr>
          <p:cNvPr id="4" name="灯片编号占位符 3"/>
          <p:cNvSpPr>
            <a:spLocks noGrp="1"/>
          </p:cNvSpPr>
          <p:nvPr>
            <p:ph type="sldNum" sz="quarter" idx="5"/>
          </p:nvPr>
        </p:nvSpPr>
        <p:spPr/>
        <p:txBody>
          <a:bodyPr/>
          <a:lstStyle/>
          <a:p>
            <a:fld id="{337F53EF-5364-44E3-BFA2-84231755F7E3}" type="slidenum">
              <a:rPr lang="zh-CN" altLang="en-US" smtClean="0"/>
              <a:t>27</a:t>
            </a:fld>
            <a:endParaRPr lang="zh-CN" altLang="en-US"/>
          </a:p>
        </p:txBody>
      </p:sp>
    </p:spTree>
    <p:extLst>
      <p:ext uri="{BB962C8B-B14F-4D97-AF65-F5344CB8AC3E}">
        <p14:creationId xmlns:p14="http://schemas.microsoft.com/office/powerpoint/2010/main" val="271073908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节流阀与调速阀在流量公式上的区别</a:t>
            </a:r>
          </a:p>
        </p:txBody>
      </p:sp>
      <p:sp>
        <p:nvSpPr>
          <p:cNvPr id="4" name="灯片编号占位符 3"/>
          <p:cNvSpPr>
            <a:spLocks noGrp="1"/>
          </p:cNvSpPr>
          <p:nvPr>
            <p:ph type="sldNum" sz="quarter" idx="5"/>
          </p:nvPr>
        </p:nvSpPr>
        <p:spPr/>
        <p:txBody>
          <a:bodyPr/>
          <a:lstStyle/>
          <a:p>
            <a:fld id="{337F53EF-5364-44E3-BFA2-84231755F7E3}" type="slidenum">
              <a:rPr lang="zh-CN" altLang="en-US" smtClean="0"/>
              <a:t>28</a:t>
            </a:fld>
            <a:endParaRPr lang="zh-CN" altLang="en-US"/>
          </a:p>
        </p:txBody>
      </p:sp>
    </p:spTree>
    <p:extLst>
      <p:ext uri="{BB962C8B-B14F-4D97-AF65-F5344CB8AC3E}">
        <p14:creationId xmlns:p14="http://schemas.microsoft.com/office/powerpoint/2010/main" val="9446418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337F53EF-5364-44E3-BFA2-84231755F7E3}" type="slidenum">
              <a:rPr lang="zh-CN" altLang="en-US" smtClean="0"/>
              <a:t>29</a:t>
            </a:fld>
            <a:endParaRPr lang="zh-CN" altLang="en-US"/>
          </a:p>
        </p:txBody>
      </p:sp>
    </p:spTree>
    <p:extLst>
      <p:ext uri="{BB962C8B-B14F-4D97-AF65-F5344CB8AC3E}">
        <p14:creationId xmlns:p14="http://schemas.microsoft.com/office/powerpoint/2010/main" val="279163425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1" dirty="0">
                <a:latin typeface="微软雅黑" panose="020B0503020204020204" pitchFamily="34" charset="-122"/>
                <a:ea typeface="微软雅黑" panose="020B0503020204020204" pitchFamily="34" charset="-122"/>
              </a:rPr>
              <a:t>先导式电比例方向阀的特性和结构</a:t>
            </a:r>
          </a:p>
        </p:txBody>
      </p:sp>
      <p:sp>
        <p:nvSpPr>
          <p:cNvPr id="4" name="灯片编号占位符 3"/>
          <p:cNvSpPr>
            <a:spLocks noGrp="1"/>
          </p:cNvSpPr>
          <p:nvPr>
            <p:ph type="sldNum" sz="quarter" idx="5"/>
          </p:nvPr>
        </p:nvSpPr>
        <p:spPr/>
        <p:txBody>
          <a:bodyPr/>
          <a:lstStyle/>
          <a:p>
            <a:fld id="{337F53EF-5364-44E3-BFA2-84231755F7E3}" type="slidenum">
              <a:rPr lang="zh-CN" altLang="en-US" smtClean="0"/>
              <a:t>32</a:t>
            </a:fld>
            <a:endParaRPr lang="zh-CN" altLang="en-US"/>
          </a:p>
        </p:txBody>
      </p:sp>
    </p:spTree>
    <p:extLst>
      <p:ext uri="{BB962C8B-B14F-4D97-AF65-F5344CB8AC3E}">
        <p14:creationId xmlns:p14="http://schemas.microsoft.com/office/powerpoint/2010/main" val="23878447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两款电液比例方向阀，</a:t>
            </a:r>
            <a:r>
              <a:rPr lang="zh-CN" altLang="en-US" sz="1200" dirty="0">
                <a:latin typeface="微软雅黑" panose="020B0503020204020204" pitchFamily="34" charset="-122"/>
                <a:ea typeface="微软雅黑" panose="020B0503020204020204" pitchFamily="34" charset="-122"/>
              </a:rPr>
              <a:t>高频响比例方向阀的参数体现响应较快，不同控制信号下的流量</a:t>
            </a:r>
            <a:r>
              <a:rPr lang="en-US" altLang="zh-CN" sz="1200" dirty="0">
                <a:latin typeface="微软雅黑" panose="020B0503020204020204" pitchFamily="34" charset="-122"/>
                <a:ea typeface="微软雅黑" panose="020B0503020204020204" pitchFamily="34" charset="-122"/>
              </a:rPr>
              <a:t>-</a:t>
            </a:r>
            <a:r>
              <a:rPr lang="zh-CN" altLang="en-US" sz="1200" dirty="0">
                <a:latin typeface="微软雅黑" panose="020B0503020204020204" pitchFamily="34" charset="-122"/>
                <a:ea typeface="微软雅黑" panose="020B0503020204020204" pitchFamily="34" charset="-122"/>
              </a:rPr>
              <a:t>压力特性曲线，</a:t>
            </a:r>
            <a:r>
              <a:rPr lang="zh-CN" altLang="en-US" sz="1200" dirty="0">
                <a:solidFill>
                  <a:schemeClr val="tx1"/>
                </a:solidFill>
                <a:latin typeface="微软雅黑" panose="020B0503020204020204" pitchFamily="34" charset="-122"/>
                <a:ea typeface="微软雅黑" panose="020B0503020204020204" pitchFamily="34" charset="-122"/>
                <a:cs typeface="+mn-cs"/>
              </a:rPr>
              <a:t>两级电反馈电液比例方向阀控制阀芯位置精确控制油液方向及流量</a:t>
            </a:r>
            <a:endParaRPr lang="zh-CN" altLang="en-US" sz="1200" dirty="0">
              <a:latin typeface="微软雅黑" panose="020B0503020204020204" pitchFamily="34" charset="-122"/>
              <a:ea typeface="微软雅黑" panose="020B0503020204020204" pitchFamily="34" charset="-122"/>
            </a:endParaRPr>
          </a:p>
        </p:txBody>
      </p:sp>
      <p:sp>
        <p:nvSpPr>
          <p:cNvPr id="4" name="灯片编号占位符 3"/>
          <p:cNvSpPr>
            <a:spLocks noGrp="1"/>
          </p:cNvSpPr>
          <p:nvPr>
            <p:ph type="sldNum" sz="quarter" idx="5"/>
          </p:nvPr>
        </p:nvSpPr>
        <p:spPr/>
        <p:txBody>
          <a:bodyPr/>
          <a:lstStyle/>
          <a:p>
            <a:fld id="{337F53EF-5364-44E3-BFA2-84231755F7E3}" type="slidenum">
              <a:rPr lang="zh-CN" altLang="en-US" smtClean="0"/>
              <a:t>33</a:t>
            </a:fld>
            <a:endParaRPr lang="zh-CN" altLang="en-US"/>
          </a:p>
        </p:txBody>
      </p:sp>
    </p:spTree>
    <p:extLst>
      <p:ext uri="{BB962C8B-B14F-4D97-AF65-F5344CB8AC3E}">
        <p14:creationId xmlns:p14="http://schemas.microsoft.com/office/powerpoint/2010/main" val="178290414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比例阀与伺服阀的比较，优缺点</a:t>
            </a:r>
          </a:p>
        </p:txBody>
      </p:sp>
      <p:sp>
        <p:nvSpPr>
          <p:cNvPr id="4" name="灯片编号占位符 3"/>
          <p:cNvSpPr>
            <a:spLocks noGrp="1"/>
          </p:cNvSpPr>
          <p:nvPr>
            <p:ph type="sldNum" sz="quarter" idx="5"/>
          </p:nvPr>
        </p:nvSpPr>
        <p:spPr/>
        <p:txBody>
          <a:bodyPr/>
          <a:lstStyle/>
          <a:p>
            <a:fld id="{337F53EF-5364-44E3-BFA2-84231755F7E3}" type="slidenum">
              <a:rPr lang="zh-CN" altLang="en-US" smtClean="0"/>
              <a:t>34</a:t>
            </a:fld>
            <a:endParaRPr lang="zh-CN" altLang="en-US"/>
          </a:p>
        </p:txBody>
      </p:sp>
    </p:spTree>
    <p:extLst>
      <p:ext uri="{BB962C8B-B14F-4D97-AF65-F5344CB8AC3E}">
        <p14:creationId xmlns:p14="http://schemas.microsoft.com/office/powerpoint/2010/main" val="152851373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电液数字阀的优点、结构类型及数字量控制方法</a:t>
            </a:r>
          </a:p>
        </p:txBody>
      </p:sp>
      <p:sp>
        <p:nvSpPr>
          <p:cNvPr id="4" name="灯片编号占位符 3"/>
          <p:cNvSpPr>
            <a:spLocks noGrp="1"/>
          </p:cNvSpPr>
          <p:nvPr>
            <p:ph type="sldNum" sz="quarter" idx="5"/>
          </p:nvPr>
        </p:nvSpPr>
        <p:spPr/>
        <p:txBody>
          <a:bodyPr/>
          <a:lstStyle/>
          <a:p>
            <a:fld id="{337F53EF-5364-44E3-BFA2-84231755F7E3}" type="slidenum">
              <a:rPr lang="zh-CN" altLang="en-US" smtClean="0"/>
              <a:t>35</a:t>
            </a:fld>
            <a:endParaRPr lang="zh-CN" altLang="en-US"/>
          </a:p>
        </p:txBody>
      </p:sp>
    </p:spTree>
    <p:extLst>
      <p:ext uri="{BB962C8B-B14F-4D97-AF65-F5344CB8AC3E}">
        <p14:creationId xmlns:p14="http://schemas.microsoft.com/office/powerpoint/2010/main" val="337582475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latin typeface="微软雅黑" panose="020B0503020204020204" pitchFamily="34" charset="-122"/>
                <a:ea typeface="微软雅黑" panose="020B0503020204020204" pitchFamily="34" charset="-122"/>
              </a:rPr>
              <a:t>步进电机直接驱动的数字流量阀的主要特性及结构</a:t>
            </a:r>
            <a:endParaRPr lang="en-US" altLang="zh-CN" dirty="0">
              <a:latin typeface="微软雅黑" panose="020B0503020204020204" pitchFamily="34" charset="-122"/>
              <a:ea typeface="微软雅黑" panose="020B0503020204020204" pitchFamily="34" charset="-122"/>
            </a:endParaRPr>
          </a:p>
        </p:txBody>
      </p:sp>
      <p:sp>
        <p:nvSpPr>
          <p:cNvPr id="4" name="灯片编号占位符 3"/>
          <p:cNvSpPr>
            <a:spLocks noGrp="1"/>
          </p:cNvSpPr>
          <p:nvPr>
            <p:ph type="sldNum" sz="quarter" idx="5"/>
          </p:nvPr>
        </p:nvSpPr>
        <p:spPr/>
        <p:txBody>
          <a:bodyPr/>
          <a:lstStyle/>
          <a:p>
            <a:fld id="{337F53EF-5364-44E3-BFA2-84231755F7E3}" type="slidenum">
              <a:rPr lang="zh-CN" altLang="en-US" smtClean="0"/>
              <a:t>36</a:t>
            </a:fld>
            <a:endParaRPr lang="zh-CN" altLang="en-US"/>
          </a:p>
        </p:txBody>
      </p:sp>
    </p:spTree>
    <p:extLst>
      <p:ext uri="{BB962C8B-B14F-4D97-AF65-F5344CB8AC3E}">
        <p14:creationId xmlns:p14="http://schemas.microsoft.com/office/powerpoint/2010/main" val="24519020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kern="0" dirty="0">
                <a:latin typeface="+mn-ea"/>
              </a:rPr>
              <a:t>增量式数字阀控制电液系统设计</a:t>
            </a:r>
            <a:endParaRPr lang="zh-CN" altLang="en-US" dirty="0"/>
          </a:p>
        </p:txBody>
      </p:sp>
      <p:sp>
        <p:nvSpPr>
          <p:cNvPr id="4" name="灯片编号占位符 3"/>
          <p:cNvSpPr>
            <a:spLocks noGrp="1"/>
          </p:cNvSpPr>
          <p:nvPr>
            <p:ph type="sldNum" sz="quarter" idx="5"/>
          </p:nvPr>
        </p:nvSpPr>
        <p:spPr/>
        <p:txBody>
          <a:bodyPr/>
          <a:lstStyle/>
          <a:p>
            <a:fld id="{337F53EF-5364-44E3-BFA2-84231755F7E3}" type="slidenum">
              <a:rPr lang="zh-CN" altLang="en-US" smtClean="0"/>
              <a:t>37</a:t>
            </a:fld>
            <a:endParaRPr lang="zh-CN" altLang="en-US"/>
          </a:p>
        </p:txBody>
      </p:sp>
    </p:spTree>
    <p:extLst>
      <p:ext uri="{BB962C8B-B14F-4D97-AF65-F5344CB8AC3E}">
        <p14:creationId xmlns:p14="http://schemas.microsoft.com/office/powerpoint/2010/main" val="50784060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kern="0" dirty="0">
                <a:latin typeface="+mn-ea"/>
              </a:rPr>
              <a:t>脉宽调制（</a:t>
            </a:r>
            <a:r>
              <a:rPr lang="en-US" altLang="zh-CN" sz="1200" kern="0" dirty="0">
                <a:latin typeface="+mn-ea"/>
              </a:rPr>
              <a:t>PWM</a:t>
            </a:r>
            <a:r>
              <a:rPr lang="zh-CN" altLang="en-US" sz="1200" kern="0">
                <a:latin typeface="+mn-ea"/>
              </a:rPr>
              <a:t>）式数字阀控制电液系统设计，</a:t>
            </a:r>
            <a:endParaRPr lang="zh-CN" altLang="en-US"/>
          </a:p>
        </p:txBody>
      </p:sp>
      <p:sp>
        <p:nvSpPr>
          <p:cNvPr id="4" name="灯片编号占位符 3"/>
          <p:cNvSpPr>
            <a:spLocks noGrp="1"/>
          </p:cNvSpPr>
          <p:nvPr>
            <p:ph type="sldNum" sz="quarter" idx="5"/>
          </p:nvPr>
        </p:nvSpPr>
        <p:spPr/>
        <p:txBody>
          <a:bodyPr/>
          <a:lstStyle/>
          <a:p>
            <a:fld id="{337F53EF-5364-44E3-BFA2-84231755F7E3}" type="slidenum">
              <a:rPr lang="zh-CN" altLang="en-US" smtClean="0"/>
              <a:t>40</a:t>
            </a:fld>
            <a:endParaRPr lang="zh-CN" altLang="en-US"/>
          </a:p>
        </p:txBody>
      </p:sp>
    </p:spTree>
    <p:extLst>
      <p:ext uri="{BB962C8B-B14F-4D97-AF65-F5344CB8AC3E}">
        <p14:creationId xmlns:p14="http://schemas.microsoft.com/office/powerpoint/2010/main" val="222040421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kern="0" dirty="0">
                <a:latin typeface="+mn-ea"/>
              </a:rPr>
              <a:t>脉宽调制（</a:t>
            </a:r>
            <a:r>
              <a:rPr lang="en-US" altLang="zh-CN" sz="1200" kern="0" dirty="0">
                <a:latin typeface="+mn-ea"/>
              </a:rPr>
              <a:t>PWM</a:t>
            </a:r>
            <a:r>
              <a:rPr lang="zh-CN" altLang="en-US" sz="1200" kern="0">
                <a:latin typeface="+mn-ea"/>
              </a:rPr>
              <a:t>）式数字阀控制电液系统设计，</a:t>
            </a:r>
            <a:endParaRPr lang="zh-CN" altLang="en-US"/>
          </a:p>
        </p:txBody>
      </p:sp>
      <p:sp>
        <p:nvSpPr>
          <p:cNvPr id="4" name="灯片编号占位符 3"/>
          <p:cNvSpPr>
            <a:spLocks noGrp="1"/>
          </p:cNvSpPr>
          <p:nvPr>
            <p:ph type="sldNum" sz="quarter" idx="5"/>
          </p:nvPr>
        </p:nvSpPr>
        <p:spPr/>
        <p:txBody>
          <a:bodyPr/>
          <a:lstStyle/>
          <a:p>
            <a:fld id="{337F53EF-5364-44E3-BFA2-84231755F7E3}" type="slidenum">
              <a:rPr lang="zh-CN" altLang="en-US" smtClean="0"/>
              <a:t>41</a:t>
            </a:fld>
            <a:endParaRPr lang="zh-CN" altLang="en-US"/>
          </a:p>
        </p:txBody>
      </p:sp>
    </p:spTree>
    <p:extLst>
      <p:ext uri="{BB962C8B-B14F-4D97-AF65-F5344CB8AC3E}">
        <p14:creationId xmlns:p14="http://schemas.microsoft.com/office/powerpoint/2010/main" val="30502874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kern="0" dirty="0">
                <a:latin typeface="+mn-ea"/>
              </a:rPr>
              <a:t>脉宽调制（</a:t>
            </a:r>
            <a:r>
              <a:rPr lang="en-US" altLang="zh-CN" sz="1200" kern="0" dirty="0">
                <a:latin typeface="+mn-ea"/>
              </a:rPr>
              <a:t>PWM</a:t>
            </a:r>
            <a:r>
              <a:rPr lang="zh-CN" altLang="en-US" sz="1200" kern="0">
                <a:latin typeface="+mn-ea"/>
              </a:rPr>
              <a:t>）式数字阀控制电液系统设计，</a:t>
            </a:r>
            <a:endParaRPr lang="zh-CN" altLang="en-US"/>
          </a:p>
        </p:txBody>
      </p:sp>
      <p:sp>
        <p:nvSpPr>
          <p:cNvPr id="4" name="灯片编号占位符 3"/>
          <p:cNvSpPr>
            <a:spLocks noGrp="1"/>
          </p:cNvSpPr>
          <p:nvPr>
            <p:ph type="sldNum" sz="quarter" idx="5"/>
          </p:nvPr>
        </p:nvSpPr>
        <p:spPr/>
        <p:txBody>
          <a:bodyPr/>
          <a:lstStyle/>
          <a:p>
            <a:fld id="{337F53EF-5364-44E3-BFA2-84231755F7E3}" type="slidenum">
              <a:rPr lang="zh-CN" altLang="en-US" smtClean="0"/>
              <a:t>42</a:t>
            </a:fld>
            <a:endParaRPr lang="zh-CN" altLang="en-US"/>
          </a:p>
        </p:txBody>
      </p:sp>
    </p:spTree>
    <p:extLst>
      <p:ext uri="{BB962C8B-B14F-4D97-AF65-F5344CB8AC3E}">
        <p14:creationId xmlns:p14="http://schemas.microsoft.com/office/powerpoint/2010/main" val="127714762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kern="0" dirty="0">
                <a:latin typeface="+mn-ea"/>
              </a:rPr>
              <a:t>脉宽调制（</a:t>
            </a:r>
            <a:r>
              <a:rPr lang="en-US" altLang="zh-CN" sz="1200" kern="0" dirty="0">
                <a:latin typeface="+mn-ea"/>
              </a:rPr>
              <a:t>PWM</a:t>
            </a:r>
            <a:r>
              <a:rPr lang="zh-CN" altLang="en-US" sz="1200" kern="0">
                <a:latin typeface="+mn-ea"/>
              </a:rPr>
              <a:t>）式数字阀控制电液系统设计，</a:t>
            </a:r>
            <a:endParaRPr lang="zh-CN" altLang="en-US"/>
          </a:p>
        </p:txBody>
      </p:sp>
      <p:sp>
        <p:nvSpPr>
          <p:cNvPr id="4" name="灯片编号占位符 3"/>
          <p:cNvSpPr>
            <a:spLocks noGrp="1"/>
          </p:cNvSpPr>
          <p:nvPr>
            <p:ph type="sldNum" sz="quarter" idx="5"/>
          </p:nvPr>
        </p:nvSpPr>
        <p:spPr/>
        <p:txBody>
          <a:bodyPr/>
          <a:lstStyle/>
          <a:p>
            <a:fld id="{337F53EF-5364-44E3-BFA2-84231755F7E3}" type="slidenum">
              <a:rPr lang="zh-CN" altLang="en-US" smtClean="0"/>
              <a:t>43</a:t>
            </a:fld>
            <a:endParaRPr lang="zh-CN" altLang="en-US"/>
          </a:p>
        </p:txBody>
      </p:sp>
    </p:spTree>
    <p:extLst>
      <p:ext uri="{BB962C8B-B14F-4D97-AF65-F5344CB8AC3E}">
        <p14:creationId xmlns:p14="http://schemas.microsoft.com/office/powerpoint/2010/main" val="38094710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kern="0" dirty="0">
                <a:latin typeface="+mn-ea"/>
              </a:rPr>
              <a:t>脉宽调制（</a:t>
            </a:r>
            <a:r>
              <a:rPr lang="en-US" altLang="zh-CN" sz="1200" kern="0" dirty="0">
                <a:latin typeface="+mn-ea"/>
              </a:rPr>
              <a:t>PWM</a:t>
            </a:r>
            <a:r>
              <a:rPr lang="zh-CN" altLang="en-US" sz="1200" kern="0">
                <a:latin typeface="+mn-ea"/>
              </a:rPr>
              <a:t>）式数字阀控制电液系统设计，</a:t>
            </a:r>
            <a:endParaRPr lang="zh-CN" altLang="en-US"/>
          </a:p>
        </p:txBody>
      </p:sp>
      <p:sp>
        <p:nvSpPr>
          <p:cNvPr id="4" name="灯片编号占位符 3"/>
          <p:cNvSpPr>
            <a:spLocks noGrp="1"/>
          </p:cNvSpPr>
          <p:nvPr>
            <p:ph type="sldNum" sz="quarter" idx="5"/>
          </p:nvPr>
        </p:nvSpPr>
        <p:spPr/>
        <p:txBody>
          <a:bodyPr/>
          <a:lstStyle/>
          <a:p>
            <a:fld id="{337F53EF-5364-44E3-BFA2-84231755F7E3}" type="slidenum">
              <a:rPr lang="zh-CN" altLang="en-US" smtClean="0"/>
              <a:t>44</a:t>
            </a:fld>
            <a:endParaRPr lang="zh-CN" altLang="en-US"/>
          </a:p>
        </p:txBody>
      </p:sp>
    </p:spTree>
    <p:extLst>
      <p:ext uri="{BB962C8B-B14F-4D97-AF65-F5344CB8AC3E}">
        <p14:creationId xmlns:p14="http://schemas.microsoft.com/office/powerpoint/2010/main" val="216025663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kern="0" dirty="0">
                <a:latin typeface="+mn-ea"/>
              </a:rPr>
              <a:t>脉宽调制（</a:t>
            </a:r>
            <a:r>
              <a:rPr lang="en-US" altLang="zh-CN" sz="1200" kern="0" dirty="0">
                <a:latin typeface="+mn-ea"/>
              </a:rPr>
              <a:t>PWM</a:t>
            </a:r>
            <a:r>
              <a:rPr lang="zh-CN" altLang="en-US" sz="1200" kern="0">
                <a:latin typeface="+mn-ea"/>
              </a:rPr>
              <a:t>）式数字阀控制电液系统设计，</a:t>
            </a:r>
            <a:endParaRPr lang="zh-CN" altLang="en-US"/>
          </a:p>
        </p:txBody>
      </p:sp>
      <p:sp>
        <p:nvSpPr>
          <p:cNvPr id="4" name="灯片编号占位符 3"/>
          <p:cNvSpPr>
            <a:spLocks noGrp="1"/>
          </p:cNvSpPr>
          <p:nvPr>
            <p:ph type="sldNum" sz="quarter" idx="5"/>
          </p:nvPr>
        </p:nvSpPr>
        <p:spPr/>
        <p:txBody>
          <a:bodyPr/>
          <a:lstStyle/>
          <a:p>
            <a:fld id="{337F53EF-5364-44E3-BFA2-84231755F7E3}" type="slidenum">
              <a:rPr lang="zh-CN" altLang="en-US" smtClean="0"/>
              <a:t>45</a:t>
            </a:fld>
            <a:endParaRPr lang="zh-CN" altLang="en-US"/>
          </a:p>
        </p:txBody>
      </p:sp>
    </p:spTree>
    <p:extLst>
      <p:ext uri="{BB962C8B-B14F-4D97-AF65-F5344CB8AC3E}">
        <p14:creationId xmlns:p14="http://schemas.microsoft.com/office/powerpoint/2010/main" val="44833168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kern="0" dirty="0">
                <a:latin typeface="+mn-ea"/>
              </a:rPr>
              <a:t>脉宽调制（</a:t>
            </a:r>
            <a:r>
              <a:rPr lang="en-US" altLang="zh-CN" sz="1200" kern="0" dirty="0">
                <a:latin typeface="+mn-ea"/>
              </a:rPr>
              <a:t>PWM</a:t>
            </a:r>
            <a:r>
              <a:rPr lang="zh-CN" altLang="en-US" sz="1200" kern="0">
                <a:latin typeface="+mn-ea"/>
              </a:rPr>
              <a:t>）式数字阀控制电液系统设计，</a:t>
            </a:r>
            <a:endParaRPr lang="zh-CN" altLang="en-US"/>
          </a:p>
        </p:txBody>
      </p:sp>
      <p:sp>
        <p:nvSpPr>
          <p:cNvPr id="4" name="灯片编号占位符 3"/>
          <p:cNvSpPr>
            <a:spLocks noGrp="1"/>
          </p:cNvSpPr>
          <p:nvPr>
            <p:ph type="sldNum" sz="quarter" idx="5"/>
          </p:nvPr>
        </p:nvSpPr>
        <p:spPr/>
        <p:txBody>
          <a:bodyPr/>
          <a:lstStyle/>
          <a:p>
            <a:fld id="{337F53EF-5364-44E3-BFA2-84231755F7E3}" type="slidenum">
              <a:rPr lang="zh-CN" altLang="en-US" smtClean="0"/>
              <a:t>46</a:t>
            </a:fld>
            <a:endParaRPr lang="zh-CN" altLang="en-US"/>
          </a:p>
        </p:txBody>
      </p:sp>
    </p:spTree>
    <p:extLst>
      <p:ext uri="{BB962C8B-B14F-4D97-AF65-F5344CB8AC3E}">
        <p14:creationId xmlns:p14="http://schemas.microsoft.com/office/powerpoint/2010/main" val="216895020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kern="0" dirty="0">
                <a:latin typeface="+mn-ea"/>
              </a:rPr>
              <a:t>脉宽调制（</a:t>
            </a:r>
            <a:r>
              <a:rPr lang="en-US" altLang="zh-CN" sz="1200" kern="0" dirty="0">
                <a:latin typeface="+mn-ea"/>
              </a:rPr>
              <a:t>PWM</a:t>
            </a:r>
            <a:r>
              <a:rPr lang="zh-CN" altLang="en-US" sz="1200" kern="0">
                <a:latin typeface="+mn-ea"/>
              </a:rPr>
              <a:t>）式数字阀控制电液系统设计，</a:t>
            </a:r>
            <a:endParaRPr lang="zh-CN" altLang="en-US"/>
          </a:p>
        </p:txBody>
      </p:sp>
      <p:sp>
        <p:nvSpPr>
          <p:cNvPr id="4" name="灯片编号占位符 3"/>
          <p:cNvSpPr>
            <a:spLocks noGrp="1"/>
          </p:cNvSpPr>
          <p:nvPr>
            <p:ph type="sldNum" sz="quarter" idx="5"/>
          </p:nvPr>
        </p:nvSpPr>
        <p:spPr/>
        <p:txBody>
          <a:bodyPr/>
          <a:lstStyle/>
          <a:p>
            <a:fld id="{337F53EF-5364-44E3-BFA2-84231755F7E3}" type="slidenum">
              <a:rPr lang="zh-CN" altLang="en-US" smtClean="0"/>
              <a:t>47</a:t>
            </a:fld>
            <a:endParaRPr lang="zh-CN" altLang="en-US"/>
          </a:p>
        </p:txBody>
      </p:sp>
    </p:spTree>
    <p:extLst>
      <p:ext uri="{BB962C8B-B14F-4D97-AF65-F5344CB8AC3E}">
        <p14:creationId xmlns:p14="http://schemas.microsoft.com/office/powerpoint/2010/main" val="369375508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kern="0" dirty="0">
                <a:latin typeface="+mn-ea"/>
              </a:rPr>
              <a:t>脉宽调制（</a:t>
            </a:r>
            <a:r>
              <a:rPr lang="en-US" altLang="zh-CN" sz="1200" kern="0" dirty="0">
                <a:latin typeface="+mn-ea"/>
              </a:rPr>
              <a:t>PWM</a:t>
            </a:r>
            <a:r>
              <a:rPr lang="zh-CN" altLang="en-US" sz="1200" kern="0">
                <a:latin typeface="+mn-ea"/>
              </a:rPr>
              <a:t>）式数字阀控制电液系统设计，</a:t>
            </a:r>
            <a:endParaRPr lang="zh-CN" altLang="en-US"/>
          </a:p>
        </p:txBody>
      </p:sp>
      <p:sp>
        <p:nvSpPr>
          <p:cNvPr id="4" name="灯片编号占位符 3"/>
          <p:cNvSpPr>
            <a:spLocks noGrp="1"/>
          </p:cNvSpPr>
          <p:nvPr>
            <p:ph type="sldNum" sz="quarter" idx="5"/>
          </p:nvPr>
        </p:nvSpPr>
        <p:spPr/>
        <p:txBody>
          <a:bodyPr/>
          <a:lstStyle/>
          <a:p>
            <a:fld id="{337F53EF-5364-44E3-BFA2-84231755F7E3}" type="slidenum">
              <a:rPr lang="zh-CN" altLang="en-US" smtClean="0"/>
              <a:t>48</a:t>
            </a:fld>
            <a:endParaRPr lang="zh-CN" altLang="en-US"/>
          </a:p>
        </p:txBody>
      </p:sp>
    </p:spTree>
    <p:extLst>
      <p:ext uri="{BB962C8B-B14F-4D97-AF65-F5344CB8AC3E}">
        <p14:creationId xmlns:p14="http://schemas.microsoft.com/office/powerpoint/2010/main" val="283099040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kern="0" dirty="0">
                <a:latin typeface="+mn-ea"/>
              </a:rPr>
              <a:t>脉宽调制（</a:t>
            </a:r>
            <a:r>
              <a:rPr lang="en-US" altLang="zh-CN" sz="1200" kern="0" dirty="0">
                <a:latin typeface="+mn-ea"/>
              </a:rPr>
              <a:t>PWM</a:t>
            </a:r>
            <a:r>
              <a:rPr lang="zh-CN" altLang="en-US" sz="1200" kern="0">
                <a:latin typeface="+mn-ea"/>
              </a:rPr>
              <a:t>）式数字阀控制电液系统设计，</a:t>
            </a:r>
            <a:endParaRPr lang="zh-CN" altLang="en-US"/>
          </a:p>
        </p:txBody>
      </p:sp>
      <p:sp>
        <p:nvSpPr>
          <p:cNvPr id="4" name="灯片编号占位符 3"/>
          <p:cNvSpPr>
            <a:spLocks noGrp="1"/>
          </p:cNvSpPr>
          <p:nvPr>
            <p:ph type="sldNum" sz="quarter" idx="5"/>
          </p:nvPr>
        </p:nvSpPr>
        <p:spPr/>
        <p:txBody>
          <a:bodyPr/>
          <a:lstStyle/>
          <a:p>
            <a:fld id="{337F53EF-5364-44E3-BFA2-84231755F7E3}" type="slidenum">
              <a:rPr lang="zh-CN" altLang="en-US" smtClean="0"/>
              <a:t>49</a:t>
            </a:fld>
            <a:endParaRPr lang="zh-CN" altLang="en-US"/>
          </a:p>
        </p:txBody>
      </p:sp>
    </p:spTree>
    <p:extLst>
      <p:ext uri="{BB962C8B-B14F-4D97-AF65-F5344CB8AC3E}">
        <p14:creationId xmlns:p14="http://schemas.microsoft.com/office/powerpoint/2010/main" val="290062676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kern="0" dirty="0">
                <a:latin typeface="+mn-ea"/>
              </a:rPr>
              <a:t>脉宽调制（</a:t>
            </a:r>
            <a:r>
              <a:rPr lang="en-US" altLang="zh-CN" sz="1200" kern="0" dirty="0">
                <a:latin typeface="+mn-ea"/>
              </a:rPr>
              <a:t>PWM</a:t>
            </a:r>
            <a:r>
              <a:rPr lang="zh-CN" altLang="en-US" sz="1200" kern="0">
                <a:latin typeface="+mn-ea"/>
              </a:rPr>
              <a:t>）式数字阀控制电液系统设计，</a:t>
            </a:r>
            <a:endParaRPr lang="zh-CN" altLang="en-US"/>
          </a:p>
        </p:txBody>
      </p:sp>
      <p:sp>
        <p:nvSpPr>
          <p:cNvPr id="4" name="灯片编号占位符 3"/>
          <p:cNvSpPr>
            <a:spLocks noGrp="1"/>
          </p:cNvSpPr>
          <p:nvPr>
            <p:ph type="sldNum" sz="quarter" idx="5"/>
          </p:nvPr>
        </p:nvSpPr>
        <p:spPr/>
        <p:txBody>
          <a:bodyPr/>
          <a:lstStyle/>
          <a:p>
            <a:fld id="{337F53EF-5364-44E3-BFA2-84231755F7E3}" type="slidenum">
              <a:rPr lang="zh-CN" altLang="en-US" smtClean="0"/>
              <a:t>50</a:t>
            </a:fld>
            <a:endParaRPr lang="zh-CN" altLang="en-US"/>
          </a:p>
        </p:txBody>
      </p:sp>
    </p:spTree>
    <p:extLst>
      <p:ext uri="{BB962C8B-B14F-4D97-AF65-F5344CB8AC3E}">
        <p14:creationId xmlns:p14="http://schemas.microsoft.com/office/powerpoint/2010/main" val="396158396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kern="0" dirty="0">
                <a:latin typeface="+mn-ea"/>
              </a:rPr>
              <a:t>脉宽调制（</a:t>
            </a:r>
            <a:r>
              <a:rPr lang="en-US" altLang="zh-CN" sz="1200" kern="0" dirty="0">
                <a:latin typeface="+mn-ea"/>
              </a:rPr>
              <a:t>PWM</a:t>
            </a:r>
            <a:r>
              <a:rPr lang="zh-CN" altLang="en-US" sz="1200" kern="0">
                <a:latin typeface="+mn-ea"/>
              </a:rPr>
              <a:t>）式数字阀控制电液系统设计，</a:t>
            </a:r>
            <a:endParaRPr lang="zh-CN" altLang="en-US"/>
          </a:p>
        </p:txBody>
      </p:sp>
      <p:sp>
        <p:nvSpPr>
          <p:cNvPr id="4" name="灯片编号占位符 3"/>
          <p:cNvSpPr>
            <a:spLocks noGrp="1"/>
          </p:cNvSpPr>
          <p:nvPr>
            <p:ph type="sldNum" sz="quarter" idx="5"/>
          </p:nvPr>
        </p:nvSpPr>
        <p:spPr/>
        <p:txBody>
          <a:bodyPr/>
          <a:lstStyle/>
          <a:p>
            <a:fld id="{337F53EF-5364-44E3-BFA2-84231755F7E3}" type="slidenum">
              <a:rPr lang="zh-CN" altLang="en-US" smtClean="0"/>
              <a:t>51</a:t>
            </a:fld>
            <a:endParaRPr lang="zh-CN" altLang="en-US"/>
          </a:p>
        </p:txBody>
      </p:sp>
    </p:spTree>
    <p:extLst>
      <p:ext uri="{BB962C8B-B14F-4D97-AF65-F5344CB8AC3E}">
        <p14:creationId xmlns:p14="http://schemas.microsoft.com/office/powerpoint/2010/main" val="26485663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kern="0" dirty="0">
                <a:latin typeface="+mn-ea"/>
              </a:rPr>
              <a:t>脉宽调制（</a:t>
            </a:r>
            <a:r>
              <a:rPr lang="en-US" altLang="zh-CN" sz="1200" kern="0" dirty="0">
                <a:latin typeface="+mn-ea"/>
              </a:rPr>
              <a:t>PWM</a:t>
            </a:r>
            <a:r>
              <a:rPr lang="zh-CN" altLang="en-US" sz="1200" kern="0">
                <a:latin typeface="+mn-ea"/>
              </a:rPr>
              <a:t>）式数字阀控制电液系统设计，</a:t>
            </a:r>
            <a:endParaRPr lang="zh-CN" altLang="en-US"/>
          </a:p>
        </p:txBody>
      </p:sp>
      <p:sp>
        <p:nvSpPr>
          <p:cNvPr id="4" name="灯片编号占位符 3"/>
          <p:cNvSpPr>
            <a:spLocks noGrp="1"/>
          </p:cNvSpPr>
          <p:nvPr>
            <p:ph type="sldNum" sz="quarter" idx="5"/>
          </p:nvPr>
        </p:nvSpPr>
        <p:spPr/>
        <p:txBody>
          <a:bodyPr/>
          <a:lstStyle/>
          <a:p>
            <a:fld id="{337F53EF-5364-44E3-BFA2-84231755F7E3}" type="slidenum">
              <a:rPr lang="zh-CN" altLang="en-US" smtClean="0"/>
              <a:t>52</a:t>
            </a:fld>
            <a:endParaRPr lang="zh-CN" altLang="en-US"/>
          </a:p>
        </p:txBody>
      </p:sp>
    </p:spTree>
    <p:extLst>
      <p:ext uri="{BB962C8B-B14F-4D97-AF65-F5344CB8AC3E}">
        <p14:creationId xmlns:p14="http://schemas.microsoft.com/office/powerpoint/2010/main" val="169097378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kern="0" dirty="0">
                <a:latin typeface="+mn-ea"/>
              </a:rPr>
              <a:t>脉宽调制（</a:t>
            </a:r>
            <a:r>
              <a:rPr lang="en-US" altLang="zh-CN" sz="1200" kern="0" dirty="0">
                <a:latin typeface="+mn-ea"/>
              </a:rPr>
              <a:t>PWM</a:t>
            </a:r>
            <a:r>
              <a:rPr lang="zh-CN" altLang="en-US" sz="1200" kern="0">
                <a:latin typeface="+mn-ea"/>
              </a:rPr>
              <a:t>）式数字阀控制电液系统设计，</a:t>
            </a:r>
            <a:endParaRPr lang="zh-CN" altLang="en-US"/>
          </a:p>
        </p:txBody>
      </p:sp>
      <p:sp>
        <p:nvSpPr>
          <p:cNvPr id="4" name="灯片编号占位符 3"/>
          <p:cNvSpPr>
            <a:spLocks noGrp="1"/>
          </p:cNvSpPr>
          <p:nvPr>
            <p:ph type="sldNum" sz="quarter" idx="5"/>
          </p:nvPr>
        </p:nvSpPr>
        <p:spPr/>
        <p:txBody>
          <a:bodyPr/>
          <a:lstStyle/>
          <a:p>
            <a:fld id="{337F53EF-5364-44E3-BFA2-84231755F7E3}" type="slidenum">
              <a:rPr lang="zh-CN" altLang="en-US" smtClean="0"/>
              <a:t>53</a:t>
            </a:fld>
            <a:endParaRPr lang="zh-CN" altLang="en-US"/>
          </a:p>
        </p:txBody>
      </p:sp>
    </p:spTree>
    <p:extLst>
      <p:ext uri="{BB962C8B-B14F-4D97-AF65-F5344CB8AC3E}">
        <p14:creationId xmlns:p14="http://schemas.microsoft.com/office/powerpoint/2010/main" val="234852832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kern="0" dirty="0">
                <a:latin typeface="+mn-ea"/>
              </a:rPr>
              <a:t>脉宽调制（</a:t>
            </a:r>
            <a:r>
              <a:rPr lang="en-US" altLang="zh-CN" sz="1200" kern="0" dirty="0">
                <a:latin typeface="+mn-ea"/>
              </a:rPr>
              <a:t>PWM</a:t>
            </a:r>
            <a:r>
              <a:rPr lang="zh-CN" altLang="en-US" sz="1200" kern="0">
                <a:latin typeface="+mn-ea"/>
              </a:rPr>
              <a:t>）式数字阀控制电液系统设计，</a:t>
            </a:r>
            <a:endParaRPr lang="zh-CN" altLang="en-US"/>
          </a:p>
        </p:txBody>
      </p:sp>
      <p:sp>
        <p:nvSpPr>
          <p:cNvPr id="4" name="灯片编号占位符 3"/>
          <p:cNvSpPr>
            <a:spLocks noGrp="1"/>
          </p:cNvSpPr>
          <p:nvPr>
            <p:ph type="sldNum" sz="quarter" idx="5"/>
          </p:nvPr>
        </p:nvSpPr>
        <p:spPr/>
        <p:txBody>
          <a:bodyPr/>
          <a:lstStyle/>
          <a:p>
            <a:fld id="{337F53EF-5364-44E3-BFA2-84231755F7E3}" type="slidenum">
              <a:rPr lang="zh-CN" altLang="en-US" smtClean="0"/>
              <a:t>54</a:t>
            </a:fld>
            <a:endParaRPr lang="zh-CN" altLang="en-US"/>
          </a:p>
        </p:txBody>
      </p:sp>
    </p:spTree>
    <p:extLst>
      <p:ext uri="{BB962C8B-B14F-4D97-AF65-F5344CB8AC3E}">
        <p14:creationId xmlns:p14="http://schemas.microsoft.com/office/powerpoint/2010/main" val="186158065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kern="0" dirty="0">
                <a:latin typeface="+mn-ea"/>
              </a:rPr>
              <a:t>脉宽调制（</a:t>
            </a:r>
            <a:r>
              <a:rPr lang="en-US" altLang="zh-CN" sz="1200" kern="0" dirty="0">
                <a:latin typeface="+mn-ea"/>
              </a:rPr>
              <a:t>PWM</a:t>
            </a:r>
            <a:r>
              <a:rPr lang="zh-CN" altLang="en-US" sz="1200" kern="0">
                <a:latin typeface="+mn-ea"/>
              </a:rPr>
              <a:t>）式数字阀控制电液系统设计，</a:t>
            </a:r>
            <a:endParaRPr lang="zh-CN" altLang="en-US"/>
          </a:p>
        </p:txBody>
      </p:sp>
      <p:sp>
        <p:nvSpPr>
          <p:cNvPr id="4" name="灯片编号占位符 3"/>
          <p:cNvSpPr>
            <a:spLocks noGrp="1"/>
          </p:cNvSpPr>
          <p:nvPr>
            <p:ph type="sldNum" sz="quarter" idx="5"/>
          </p:nvPr>
        </p:nvSpPr>
        <p:spPr/>
        <p:txBody>
          <a:bodyPr/>
          <a:lstStyle/>
          <a:p>
            <a:fld id="{337F53EF-5364-44E3-BFA2-84231755F7E3}" type="slidenum">
              <a:rPr lang="zh-CN" altLang="en-US" smtClean="0"/>
              <a:t>55</a:t>
            </a:fld>
            <a:endParaRPr lang="zh-CN" altLang="en-US"/>
          </a:p>
        </p:txBody>
      </p:sp>
    </p:spTree>
    <p:extLst>
      <p:ext uri="{BB962C8B-B14F-4D97-AF65-F5344CB8AC3E}">
        <p14:creationId xmlns:p14="http://schemas.microsoft.com/office/powerpoint/2010/main" val="8055046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8CF4B11-F572-4DFC-9C9B-6A3CD1BCE16B}"/>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7234C54C-1BA6-440A-8D1B-F8BCE242FF8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F756EE14-5E8C-42D6-8B1C-138B21B7F80B}"/>
              </a:ext>
            </a:extLst>
          </p:cNvPr>
          <p:cNvSpPr>
            <a:spLocks noGrp="1"/>
          </p:cNvSpPr>
          <p:nvPr>
            <p:ph type="dt" sz="half" idx="10"/>
          </p:nvPr>
        </p:nvSpPr>
        <p:spPr/>
        <p:txBody>
          <a:bodyPr/>
          <a:lstStyle/>
          <a:p>
            <a:fld id="{6FAC1865-B79A-43E4-B218-34456B6B12C9}" type="datetimeFigureOut">
              <a:rPr lang="zh-CN" altLang="en-US" smtClean="0"/>
              <a:t>2025-12-17</a:t>
            </a:fld>
            <a:endParaRPr lang="zh-CN" altLang="en-US"/>
          </a:p>
        </p:txBody>
      </p:sp>
      <p:sp>
        <p:nvSpPr>
          <p:cNvPr id="5" name="页脚占位符 4">
            <a:extLst>
              <a:ext uri="{FF2B5EF4-FFF2-40B4-BE49-F238E27FC236}">
                <a16:creationId xmlns:a16="http://schemas.microsoft.com/office/drawing/2014/main" id="{20189FBD-18D7-4E8C-AC37-C54A7E72E50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AA2B2B56-4F25-4616-A188-56D2ACCF11D7}"/>
              </a:ext>
            </a:extLst>
          </p:cNvPr>
          <p:cNvSpPr>
            <a:spLocks noGrp="1"/>
          </p:cNvSpPr>
          <p:nvPr>
            <p:ph type="sldNum" sz="quarter" idx="12"/>
          </p:nvPr>
        </p:nvSpPr>
        <p:spPr/>
        <p:txBody>
          <a:bodyPr/>
          <a:lstStyle/>
          <a:p>
            <a:fld id="{3FEE32C2-5FDC-40E1-AD53-545CC803DDCB}" type="slidenum">
              <a:rPr lang="zh-CN" altLang="en-US" smtClean="0"/>
              <a:t>‹#›</a:t>
            </a:fld>
            <a:endParaRPr lang="zh-CN" altLang="en-US"/>
          </a:p>
        </p:txBody>
      </p:sp>
    </p:spTree>
    <p:extLst>
      <p:ext uri="{BB962C8B-B14F-4D97-AF65-F5344CB8AC3E}">
        <p14:creationId xmlns:p14="http://schemas.microsoft.com/office/powerpoint/2010/main" val="42324783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4D3867-6D2D-4593-AC3F-B8E58C87261D}"/>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0236C074-A1D1-4AA5-8442-2C11F3B581F9}"/>
              </a:ext>
            </a:extLst>
          </p:cNvPr>
          <p:cNvSpPr>
            <a:spLocks noGrp="1"/>
          </p:cNvSpPr>
          <p:nvPr>
            <p:ph idx="1"/>
          </p:nvPr>
        </p:nvSpPr>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a:extLst>
              <a:ext uri="{FF2B5EF4-FFF2-40B4-BE49-F238E27FC236}">
                <a16:creationId xmlns:a16="http://schemas.microsoft.com/office/drawing/2014/main" id="{DD4E8C40-44F5-4283-BF35-89F2C43027F0}"/>
              </a:ext>
            </a:extLst>
          </p:cNvPr>
          <p:cNvSpPr>
            <a:spLocks noGrp="1"/>
          </p:cNvSpPr>
          <p:nvPr>
            <p:ph type="dt" sz="half" idx="10"/>
          </p:nvPr>
        </p:nvSpPr>
        <p:spPr/>
        <p:txBody>
          <a:bodyPr/>
          <a:lstStyle/>
          <a:p>
            <a:fld id="{6FAC1865-B79A-43E4-B218-34456B6B12C9}" type="datetimeFigureOut">
              <a:rPr lang="zh-CN" altLang="en-US" smtClean="0"/>
              <a:t>2025-12-17</a:t>
            </a:fld>
            <a:endParaRPr lang="zh-CN" altLang="en-US"/>
          </a:p>
        </p:txBody>
      </p:sp>
      <p:sp>
        <p:nvSpPr>
          <p:cNvPr id="5" name="页脚占位符 4">
            <a:extLst>
              <a:ext uri="{FF2B5EF4-FFF2-40B4-BE49-F238E27FC236}">
                <a16:creationId xmlns:a16="http://schemas.microsoft.com/office/drawing/2014/main" id="{65CA79F0-95A9-4981-8FB9-04D63D57C763}"/>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0BEDC06-5A03-4F54-9BA2-842910E536FB}"/>
              </a:ext>
            </a:extLst>
          </p:cNvPr>
          <p:cNvSpPr>
            <a:spLocks noGrp="1"/>
          </p:cNvSpPr>
          <p:nvPr>
            <p:ph type="sldNum" sz="quarter" idx="12"/>
          </p:nvPr>
        </p:nvSpPr>
        <p:spPr/>
        <p:txBody>
          <a:bodyPr/>
          <a:lstStyle/>
          <a:p>
            <a:fld id="{3FEE32C2-5FDC-40E1-AD53-545CC803DDCB}" type="slidenum">
              <a:rPr lang="zh-CN" altLang="en-US" smtClean="0"/>
              <a:t>‹#›</a:t>
            </a:fld>
            <a:endParaRPr lang="zh-CN" altLang="en-US"/>
          </a:p>
        </p:txBody>
      </p:sp>
    </p:spTree>
    <p:extLst>
      <p:ext uri="{BB962C8B-B14F-4D97-AF65-F5344CB8AC3E}">
        <p14:creationId xmlns:p14="http://schemas.microsoft.com/office/powerpoint/2010/main" val="2359116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E733D58-C466-44BC-972E-587AD0D45D69}"/>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2E393EC4-145A-485A-A568-F282A0CC0D5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编辑母版文本样式</a:t>
            </a:r>
          </a:p>
        </p:txBody>
      </p:sp>
      <p:sp>
        <p:nvSpPr>
          <p:cNvPr id="4" name="日期占位符 3">
            <a:extLst>
              <a:ext uri="{FF2B5EF4-FFF2-40B4-BE49-F238E27FC236}">
                <a16:creationId xmlns:a16="http://schemas.microsoft.com/office/drawing/2014/main" id="{9F3AAC01-5E49-476A-88CC-1D58B2399EA7}"/>
              </a:ext>
            </a:extLst>
          </p:cNvPr>
          <p:cNvSpPr>
            <a:spLocks noGrp="1"/>
          </p:cNvSpPr>
          <p:nvPr>
            <p:ph type="dt" sz="half" idx="10"/>
          </p:nvPr>
        </p:nvSpPr>
        <p:spPr/>
        <p:txBody>
          <a:bodyPr/>
          <a:lstStyle/>
          <a:p>
            <a:fld id="{6FAC1865-B79A-43E4-B218-34456B6B12C9}" type="datetimeFigureOut">
              <a:rPr lang="zh-CN" altLang="en-US" smtClean="0"/>
              <a:t>2025-12-17</a:t>
            </a:fld>
            <a:endParaRPr lang="zh-CN" altLang="en-US"/>
          </a:p>
        </p:txBody>
      </p:sp>
      <p:sp>
        <p:nvSpPr>
          <p:cNvPr id="5" name="页脚占位符 4">
            <a:extLst>
              <a:ext uri="{FF2B5EF4-FFF2-40B4-BE49-F238E27FC236}">
                <a16:creationId xmlns:a16="http://schemas.microsoft.com/office/drawing/2014/main" id="{BC6AC38B-B467-4222-AA44-0AD3BDE40584}"/>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8370A2F9-2C51-4DAD-89D5-D291EEEBA1FC}"/>
              </a:ext>
            </a:extLst>
          </p:cNvPr>
          <p:cNvSpPr>
            <a:spLocks noGrp="1"/>
          </p:cNvSpPr>
          <p:nvPr>
            <p:ph type="sldNum" sz="quarter" idx="12"/>
          </p:nvPr>
        </p:nvSpPr>
        <p:spPr/>
        <p:txBody>
          <a:bodyPr/>
          <a:lstStyle/>
          <a:p>
            <a:fld id="{3FEE32C2-5FDC-40E1-AD53-545CC803DDCB}" type="slidenum">
              <a:rPr lang="zh-CN" altLang="en-US" smtClean="0"/>
              <a:t>‹#›</a:t>
            </a:fld>
            <a:endParaRPr lang="zh-CN" altLang="en-US"/>
          </a:p>
        </p:txBody>
      </p:sp>
    </p:spTree>
    <p:extLst>
      <p:ext uri="{BB962C8B-B14F-4D97-AF65-F5344CB8AC3E}">
        <p14:creationId xmlns:p14="http://schemas.microsoft.com/office/powerpoint/2010/main" val="34849231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23BEE30-4BA4-4E5D-91A1-423AC1F6AA84}"/>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CB4895D3-5779-4E7B-96AD-64C7403E07E4}"/>
              </a:ext>
            </a:extLst>
          </p:cNvPr>
          <p:cNvSpPr>
            <a:spLocks noGrp="1"/>
          </p:cNvSpPr>
          <p:nvPr>
            <p:ph sz="half" idx="1"/>
          </p:nvPr>
        </p:nvSpPr>
        <p:spPr>
          <a:xfrm>
            <a:off x="838200" y="1825625"/>
            <a:ext cx="5181600" cy="435133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a:extLst>
              <a:ext uri="{FF2B5EF4-FFF2-40B4-BE49-F238E27FC236}">
                <a16:creationId xmlns:a16="http://schemas.microsoft.com/office/drawing/2014/main" id="{B0AE0855-595B-4F82-8B46-039050CA2449}"/>
              </a:ext>
            </a:extLst>
          </p:cNvPr>
          <p:cNvSpPr>
            <a:spLocks noGrp="1"/>
          </p:cNvSpPr>
          <p:nvPr>
            <p:ph sz="half" idx="2"/>
          </p:nvPr>
        </p:nvSpPr>
        <p:spPr>
          <a:xfrm>
            <a:off x="6172200" y="1825625"/>
            <a:ext cx="5181600" cy="435133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a:extLst>
              <a:ext uri="{FF2B5EF4-FFF2-40B4-BE49-F238E27FC236}">
                <a16:creationId xmlns:a16="http://schemas.microsoft.com/office/drawing/2014/main" id="{BAA3D155-16F0-4A38-A2D0-09D219FE70F5}"/>
              </a:ext>
            </a:extLst>
          </p:cNvPr>
          <p:cNvSpPr>
            <a:spLocks noGrp="1"/>
          </p:cNvSpPr>
          <p:nvPr>
            <p:ph type="dt" sz="half" idx="10"/>
          </p:nvPr>
        </p:nvSpPr>
        <p:spPr/>
        <p:txBody>
          <a:bodyPr/>
          <a:lstStyle/>
          <a:p>
            <a:fld id="{6FAC1865-B79A-43E4-B218-34456B6B12C9}" type="datetimeFigureOut">
              <a:rPr lang="zh-CN" altLang="en-US" smtClean="0"/>
              <a:t>2025-12-17</a:t>
            </a:fld>
            <a:endParaRPr lang="zh-CN" altLang="en-US"/>
          </a:p>
        </p:txBody>
      </p:sp>
      <p:sp>
        <p:nvSpPr>
          <p:cNvPr id="6" name="页脚占位符 5">
            <a:extLst>
              <a:ext uri="{FF2B5EF4-FFF2-40B4-BE49-F238E27FC236}">
                <a16:creationId xmlns:a16="http://schemas.microsoft.com/office/drawing/2014/main" id="{7631401B-6434-4F3F-9D1F-1E1D4889FC2F}"/>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33CDCBEC-7E66-4D99-9199-750DC27EA063}"/>
              </a:ext>
            </a:extLst>
          </p:cNvPr>
          <p:cNvSpPr>
            <a:spLocks noGrp="1"/>
          </p:cNvSpPr>
          <p:nvPr>
            <p:ph type="sldNum" sz="quarter" idx="12"/>
          </p:nvPr>
        </p:nvSpPr>
        <p:spPr/>
        <p:txBody>
          <a:bodyPr/>
          <a:lstStyle/>
          <a:p>
            <a:fld id="{3FEE32C2-5FDC-40E1-AD53-545CC803DDCB}" type="slidenum">
              <a:rPr lang="zh-CN" altLang="en-US" smtClean="0"/>
              <a:t>‹#›</a:t>
            </a:fld>
            <a:endParaRPr lang="zh-CN" altLang="en-US"/>
          </a:p>
        </p:txBody>
      </p:sp>
    </p:spTree>
    <p:extLst>
      <p:ext uri="{BB962C8B-B14F-4D97-AF65-F5344CB8AC3E}">
        <p14:creationId xmlns:p14="http://schemas.microsoft.com/office/powerpoint/2010/main" val="23963281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6667EB-8340-4492-B3A9-A728F915AC5E}"/>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99B05EE6-A0EE-49F6-8DB2-93C313DEC07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4" name="内容占位符 3">
            <a:extLst>
              <a:ext uri="{FF2B5EF4-FFF2-40B4-BE49-F238E27FC236}">
                <a16:creationId xmlns:a16="http://schemas.microsoft.com/office/drawing/2014/main" id="{C3D33B3B-D619-44C0-B8FF-6BB33C540076}"/>
              </a:ext>
            </a:extLst>
          </p:cNvPr>
          <p:cNvSpPr>
            <a:spLocks noGrp="1"/>
          </p:cNvSpPr>
          <p:nvPr>
            <p:ph sz="half" idx="2"/>
          </p:nvPr>
        </p:nvSpPr>
        <p:spPr>
          <a:xfrm>
            <a:off x="839788" y="2505075"/>
            <a:ext cx="5157787" cy="368458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a:extLst>
              <a:ext uri="{FF2B5EF4-FFF2-40B4-BE49-F238E27FC236}">
                <a16:creationId xmlns:a16="http://schemas.microsoft.com/office/drawing/2014/main" id="{533DD8DF-90AF-4AA9-A4AF-7040FF4B726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6" name="内容占位符 5">
            <a:extLst>
              <a:ext uri="{FF2B5EF4-FFF2-40B4-BE49-F238E27FC236}">
                <a16:creationId xmlns:a16="http://schemas.microsoft.com/office/drawing/2014/main" id="{5419D37D-A566-4F60-A4C3-78BCB7CF329E}"/>
              </a:ext>
            </a:extLst>
          </p:cNvPr>
          <p:cNvSpPr>
            <a:spLocks noGrp="1"/>
          </p:cNvSpPr>
          <p:nvPr>
            <p:ph sz="quarter" idx="4"/>
          </p:nvPr>
        </p:nvSpPr>
        <p:spPr>
          <a:xfrm>
            <a:off x="6172200" y="2505075"/>
            <a:ext cx="5183188" cy="368458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a:extLst>
              <a:ext uri="{FF2B5EF4-FFF2-40B4-BE49-F238E27FC236}">
                <a16:creationId xmlns:a16="http://schemas.microsoft.com/office/drawing/2014/main" id="{A9CBCC86-6C82-4A0D-9287-32A6405E6B0A}"/>
              </a:ext>
            </a:extLst>
          </p:cNvPr>
          <p:cNvSpPr>
            <a:spLocks noGrp="1"/>
          </p:cNvSpPr>
          <p:nvPr>
            <p:ph type="dt" sz="half" idx="10"/>
          </p:nvPr>
        </p:nvSpPr>
        <p:spPr/>
        <p:txBody>
          <a:bodyPr/>
          <a:lstStyle/>
          <a:p>
            <a:fld id="{6FAC1865-B79A-43E4-B218-34456B6B12C9}" type="datetimeFigureOut">
              <a:rPr lang="zh-CN" altLang="en-US" smtClean="0"/>
              <a:t>2025-12-17</a:t>
            </a:fld>
            <a:endParaRPr lang="zh-CN" altLang="en-US"/>
          </a:p>
        </p:txBody>
      </p:sp>
      <p:sp>
        <p:nvSpPr>
          <p:cNvPr id="8" name="页脚占位符 7">
            <a:extLst>
              <a:ext uri="{FF2B5EF4-FFF2-40B4-BE49-F238E27FC236}">
                <a16:creationId xmlns:a16="http://schemas.microsoft.com/office/drawing/2014/main" id="{05E0DED7-DA23-4400-97A1-04B7573C8781}"/>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C0606BFF-B2FB-4915-9F3A-2C98A7665330}"/>
              </a:ext>
            </a:extLst>
          </p:cNvPr>
          <p:cNvSpPr>
            <a:spLocks noGrp="1"/>
          </p:cNvSpPr>
          <p:nvPr>
            <p:ph type="sldNum" sz="quarter" idx="12"/>
          </p:nvPr>
        </p:nvSpPr>
        <p:spPr/>
        <p:txBody>
          <a:bodyPr/>
          <a:lstStyle/>
          <a:p>
            <a:fld id="{3FEE32C2-5FDC-40E1-AD53-545CC803DDCB}" type="slidenum">
              <a:rPr lang="zh-CN" altLang="en-US" smtClean="0"/>
              <a:t>‹#›</a:t>
            </a:fld>
            <a:endParaRPr lang="zh-CN" altLang="en-US"/>
          </a:p>
        </p:txBody>
      </p:sp>
    </p:spTree>
    <p:extLst>
      <p:ext uri="{BB962C8B-B14F-4D97-AF65-F5344CB8AC3E}">
        <p14:creationId xmlns:p14="http://schemas.microsoft.com/office/powerpoint/2010/main" val="618317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ABA1051-BA71-4574-BFA1-AC004EC5189C}"/>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7B350898-1F22-4B99-BE58-E24B18BB028D}"/>
              </a:ext>
            </a:extLst>
          </p:cNvPr>
          <p:cNvSpPr>
            <a:spLocks noGrp="1"/>
          </p:cNvSpPr>
          <p:nvPr>
            <p:ph type="dt" sz="half" idx="10"/>
          </p:nvPr>
        </p:nvSpPr>
        <p:spPr/>
        <p:txBody>
          <a:bodyPr/>
          <a:lstStyle/>
          <a:p>
            <a:fld id="{6FAC1865-B79A-43E4-B218-34456B6B12C9}" type="datetimeFigureOut">
              <a:rPr lang="zh-CN" altLang="en-US" smtClean="0"/>
              <a:t>2025-12-17</a:t>
            </a:fld>
            <a:endParaRPr lang="zh-CN" altLang="en-US"/>
          </a:p>
        </p:txBody>
      </p:sp>
      <p:sp>
        <p:nvSpPr>
          <p:cNvPr id="4" name="页脚占位符 3">
            <a:extLst>
              <a:ext uri="{FF2B5EF4-FFF2-40B4-BE49-F238E27FC236}">
                <a16:creationId xmlns:a16="http://schemas.microsoft.com/office/drawing/2014/main" id="{01EC05BB-0041-4C92-95D3-6E3D1B7E521B}"/>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6AB48AC8-E018-466A-90AF-663F9BDF9D6B}"/>
              </a:ext>
            </a:extLst>
          </p:cNvPr>
          <p:cNvSpPr>
            <a:spLocks noGrp="1"/>
          </p:cNvSpPr>
          <p:nvPr>
            <p:ph type="sldNum" sz="quarter" idx="12"/>
          </p:nvPr>
        </p:nvSpPr>
        <p:spPr/>
        <p:txBody>
          <a:bodyPr/>
          <a:lstStyle/>
          <a:p>
            <a:fld id="{3FEE32C2-5FDC-40E1-AD53-545CC803DDCB}" type="slidenum">
              <a:rPr lang="zh-CN" altLang="en-US" smtClean="0"/>
              <a:t>‹#›</a:t>
            </a:fld>
            <a:endParaRPr lang="zh-CN" altLang="en-US"/>
          </a:p>
        </p:txBody>
      </p:sp>
    </p:spTree>
    <p:extLst>
      <p:ext uri="{BB962C8B-B14F-4D97-AF65-F5344CB8AC3E}">
        <p14:creationId xmlns:p14="http://schemas.microsoft.com/office/powerpoint/2010/main" val="14843322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785E6A85-9742-4F96-B4AF-2D30690A99D2}"/>
              </a:ext>
            </a:extLst>
          </p:cNvPr>
          <p:cNvSpPr>
            <a:spLocks noGrp="1"/>
          </p:cNvSpPr>
          <p:nvPr>
            <p:ph type="dt" sz="half" idx="10"/>
          </p:nvPr>
        </p:nvSpPr>
        <p:spPr/>
        <p:txBody>
          <a:bodyPr/>
          <a:lstStyle/>
          <a:p>
            <a:fld id="{6FAC1865-B79A-43E4-B218-34456B6B12C9}" type="datetimeFigureOut">
              <a:rPr lang="zh-CN" altLang="en-US" smtClean="0"/>
              <a:t>2025-12-17</a:t>
            </a:fld>
            <a:endParaRPr lang="zh-CN" altLang="en-US"/>
          </a:p>
        </p:txBody>
      </p:sp>
      <p:sp>
        <p:nvSpPr>
          <p:cNvPr id="3" name="页脚占位符 2">
            <a:extLst>
              <a:ext uri="{FF2B5EF4-FFF2-40B4-BE49-F238E27FC236}">
                <a16:creationId xmlns:a16="http://schemas.microsoft.com/office/drawing/2014/main" id="{7C0D9671-8387-49B9-9224-F8D5E04A93B4}"/>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A3482766-12A4-4E9D-A598-FC84A590B269}"/>
              </a:ext>
            </a:extLst>
          </p:cNvPr>
          <p:cNvSpPr>
            <a:spLocks noGrp="1"/>
          </p:cNvSpPr>
          <p:nvPr>
            <p:ph type="sldNum" sz="quarter" idx="12"/>
          </p:nvPr>
        </p:nvSpPr>
        <p:spPr/>
        <p:txBody>
          <a:bodyPr/>
          <a:lstStyle/>
          <a:p>
            <a:fld id="{3FEE32C2-5FDC-40E1-AD53-545CC803DDCB}" type="slidenum">
              <a:rPr lang="zh-CN" altLang="en-US" smtClean="0"/>
              <a:t>‹#›</a:t>
            </a:fld>
            <a:endParaRPr lang="zh-CN" altLang="en-US"/>
          </a:p>
        </p:txBody>
      </p:sp>
    </p:spTree>
    <p:extLst>
      <p:ext uri="{BB962C8B-B14F-4D97-AF65-F5344CB8AC3E}">
        <p14:creationId xmlns:p14="http://schemas.microsoft.com/office/powerpoint/2010/main" val="13782934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B4EBE77-9C31-4448-92F6-8E2538C72AD0}"/>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0C5A61C7-FA85-41FA-8268-50935F00E3E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a:extLst>
              <a:ext uri="{FF2B5EF4-FFF2-40B4-BE49-F238E27FC236}">
                <a16:creationId xmlns:a16="http://schemas.microsoft.com/office/drawing/2014/main" id="{65910FFD-3BF9-4DCA-AE14-49BC3137B0F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p>
        </p:txBody>
      </p:sp>
      <p:sp>
        <p:nvSpPr>
          <p:cNvPr id="5" name="日期占位符 4">
            <a:extLst>
              <a:ext uri="{FF2B5EF4-FFF2-40B4-BE49-F238E27FC236}">
                <a16:creationId xmlns:a16="http://schemas.microsoft.com/office/drawing/2014/main" id="{217DE66C-12DC-44D6-966F-E3121467991C}"/>
              </a:ext>
            </a:extLst>
          </p:cNvPr>
          <p:cNvSpPr>
            <a:spLocks noGrp="1"/>
          </p:cNvSpPr>
          <p:nvPr>
            <p:ph type="dt" sz="half" idx="10"/>
          </p:nvPr>
        </p:nvSpPr>
        <p:spPr/>
        <p:txBody>
          <a:bodyPr/>
          <a:lstStyle/>
          <a:p>
            <a:fld id="{6FAC1865-B79A-43E4-B218-34456B6B12C9}" type="datetimeFigureOut">
              <a:rPr lang="zh-CN" altLang="en-US" smtClean="0"/>
              <a:t>2025-12-17</a:t>
            </a:fld>
            <a:endParaRPr lang="zh-CN" altLang="en-US"/>
          </a:p>
        </p:txBody>
      </p:sp>
      <p:sp>
        <p:nvSpPr>
          <p:cNvPr id="6" name="页脚占位符 5">
            <a:extLst>
              <a:ext uri="{FF2B5EF4-FFF2-40B4-BE49-F238E27FC236}">
                <a16:creationId xmlns:a16="http://schemas.microsoft.com/office/drawing/2014/main" id="{EC991129-C6C5-40AE-B3CD-E3A8E7F5ECD4}"/>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703AA085-B50D-4BD5-BC03-E1841817F767}"/>
              </a:ext>
            </a:extLst>
          </p:cNvPr>
          <p:cNvSpPr>
            <a:spLocks noGrp="1"/>
          </p:cNvSpPr>
          <p:nvPr>
            <p:ph type="sldNum" sz="quarter" idx="12"/>
          </p:nvPr>
        </p:nvSpPr>
        <p:spPr/>
        <p:txBody>
          <a:bodyPr/>
          <a:lstStyle/>
          <a:p>
            <a:fld id="{3FEE32C2-5FDC-40E1-AD53-545CC803DDCB}" type="slidenum">
              <a:rPr lang="zh-CN" altLang="en-US" smtClean="0"/>
              <a:t>‹#›</a:t>
            </a:fld>
            <a:endParaRPr lang="zh-CN" altLang="en-US"/>
          </a:p>
        </p:txBody>
      </p:sp>
    </p:spTree>
    <p:extLst>
      <p:ext uri="{BB962C8B-B14F-4D97-AF65-F5344CB8AC3E}">
        <p14:creationId xmlns:p14="http://schemas.microsoft.com/office/powerpoint/2010/main" val="40553325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0DB4150-B2F0-479E-A721-35D82BBBDEB8}"/>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F95BEBB3-457F-4B23-9EE3-8DF050B0AF1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5D000099-46C8-4A17-9C36-8398FFE23AC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p>
        </p:txBody>
      </p:sp>
      <p:sp>
        <p:nvSpPr>
          <p:cNvPr id="5" name="日期占位符 4">
            <a:extLst>
              <a:ext uri="{FF2B5EF4-FFF2-40B4-BE49-F238E27FC236}">
                <a16:creationId xmlns:a16="http://schemas.microsoft.com/office/drawing/2014/main" id="{7B7DE7DA-AE75-4B26-8CAD-BD9CC0EFBBD8}"/>
              </a:ext>
            </a:extLst>
          </p:cNvPr>
          <p:cNvSpPr>
            <a:spLocks noGrp="1"/>
          </p:cNvSpPr>
          <p:nvPr>
            <p:ph type="dt" sz="half" idx="10"/>
          </p:nvPr>
        </p:nvSpPr>
        <p:spPr/>
        <p:txBody>
          <a:bodyPr/>
          <a:lstStyle/>
          <a:p>
            <a:fld id="{6FAC1865-B79A-43E4-B218-34456B6B12C9}" type="datetimeFigureOut">
              <a:rPr lang="zh-CN" altLang="en-US" smtClean="0"/>
              <a:t>2025-12-17</a:t>
            </a:fld>
            <a:endParaRPr lang="zh-CN" altLang="en-US"/>
          </a:p>
        </p:txBody>
      </p:sp>
      <p:sp>
        <p:nvSpPr>
          <p:cNvPr id="6" name="页脚占位符 5">
            <a:extLst>
              <a:ext uri="{FF2B5EF4-FFF2-40B4-BE49-F238E27FC236}">
                <a16:creationId xmlns:a16="http://schemas.microsoft.com/office/drawing/2014/main" id="{5CC8E070-C62B-4610-AB79-AB28FDDB66ED}"/>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588AD57F-16AE-4378-B779-5AB42B027BDA}"/>
              </a:ext>
            </a:extLst>
          </p:cNvPr>
          <p:cNvSpPr>
            <a:spLocks noGrp="1"/>
          </p:cNvSpPr>
          <p:nvPr>
            <p:ph type="sldNum" sz="quarter" idx="12"/>
          </p:nvPr>
        </p:nvSpPr>
        <p:spPr/>
        <p:txBody>
          <a:bodyPr/>
          <a:lstStyle/>
          <a:p>
            <a:fld id="{3FEE32C2-5FDC-40E1-AD53-545CC803DDCB}" type="slidenum">
              <a:rPr lang="zh-CN" altLang="en-US" smtClean="0"/>
              <a:t>‹#›</a:t>
            </a:fld>
            <a:endParaRPr lang="zh-CN" altLang="en-US"/>
          </a:p>
        </p:txBody>
      </p:sp>
    </p:spTree>
    <p:extLst>
      <p:ext uri="{BB962C8B-B14F-4D97-AF65-F5344CB8AC3E}">
        <p14:creationId xmlns:p14="http://schemas.microsoft.com/office/powerpoint/2010/main" val="32148017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890AB4-B48E-4BCB-AF60-2FC3CC5B8E74}"/>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476B1054-3F3D-42E9-B458-83921265B939}"/>
              </a:ext>
            </a:extLst>
          </p:cNvPr>
          <p:cNvSpPr>
            <a:spLocks noGrp="1"/>
          </p:cNvSpPr>
          <p:nvPr>
            <p:ph type="body" orient="vert" idx="1"/>
          </p:nvPr>
        </p:nvSpPr>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a:extLst>
              <a:ext uri="{FF2B5EF4-FFF2-40B4-BE49-F238E27FC236}">
                <a16:creationId xmlns:a16="http://schemas.microsoft.com/office/drawing/2014/main" id="{D2B12639-CBE1-475E-9FA8-6C236A2A547A}"/>
              </a:ext>
            </a:extLst>
          </p:cNvPr>
          <p:cNvSpPr>
            <a:spLocks noGrp="1"/>
          </p:cNvSpPr>
          <p:nvPr>
            <p:ph type="dt" sz="half" idx="10"/>
          </p:nvPr>
        </p:nvSpPr>
        <p:spPr/>
        <p:txBody>
          <a:bodyPr/>
          <a:lstStyle/>
          <a:p>
            <a:fld id="{6FAC1865-B79A-43E4-B218-34456B6B12C9}" type="datetimeFigureOut">
              <a:rPr lang="zh-CN" altLang="en-US" smtClean="0"/>
              <a:t>2025-12-17</a:t>
            </a:fld>
            <a:endParaRPr lang="zh-CN" altLang="en-US"/>
          </a:p>
        </p:txBody>
      </p:sp>
      <p:sp>
        <p:nvSpPr>
          <p:cNvPr id="5" name="页脚占位符 4">
            <a:extLst>
              <a:ext uri="{FF2B5EF4-FFF2-40B4-BE49-F238E27FC236}">
                <a16:creationId xmlns:a16="http://schemas.microsoft.com/office/drawing/2014/main" id="{0ECAF0BD-D7A7-4B37-B11F-72418A769736}"/>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13A0119A-4817-4B57-A6DE-540FE9B78171}"/>
              </a:ext>
            </a:extLst>
          </p:cNvPr>
          <p:cNvSpPr>
            <a:spLocks noGrp="1"/>
          </p:cNvSpPr>
          <p:nvPr>
            <p:ph type="sldNum" sz="quarter" idx="12"/>
          </p:nvPr>
        </p:nvSpPr>
        <p:spPr/>
        <p:txBody>
          <a:bodyPr/>
          <a:lstStyle/>
          <a:p>
            <a:fld id="{3FEE32C2-5FDC-40E1-AD53-545CC803DDCB}" type="slidenum">
              <a:rPr lang="zh-CN" altLang="en-US" smtClean="0"/>
              <a:t>‹#›</a:t>
            </a:fld>
            <a:endParaRPr lang="zh-CN" altLang="en-US"/>
          </a:p>
        </p:txBody>
      </p:sp>
    </p:spTree>
    <p:extLst>
      <p:ext uri="{BB962C8B-B14F-4D97-AF65-F5344CB8AC3E}">
        <p14:creationId xmlns:p14="http://schemas.microsoft.com/office/powerpoint/2010/main" val="23199488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854BE39A-A81E-4A36-8807-AD97AC5A524A}"/>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0F457E41-3EA0-43C4-9FEC-F1DE8D145340}"/>
              </a:ext>
            </a:extLst>
          </p:cNvPr>
          <p:cNvSpPr>
            <a:spLocks noGrp="1"/>
          </p:cNvSpPr>
          <p:nvPr>
            <p:ph type="body" orient="vert" idx="1"/>
          </p:nvPr>
        </p:nvSpPr>
        <p:spPr>
          <a:xfrm>
            <a:off x="838200" y="365125"/>
            <a:ext cx="7734300" cy="5811838"/>
          </a:xfrm>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a:extLst>
              <a:ext uri="{FF2B5EF4-FFF2-40B4-BE49-F238E27FC236}">
                <a16:creationId xmlns:a16="http://schemas.microsoft.com/office/drawing/2014/main" id="{5BBE3E99-9292-4F50-A0F1-678BEFE4731A}"/>
              </a:ext>
            </a:extLst>
          </p:cNvPr>
          <p:cNvSpPr>
            <a:spLocks noGrp="1"/>
          </p:cNvSpPr>
          <p:nvPr>
            <p:ph type="dt" sz="half" idx="10"/>
          </p:nvPr>
        </p:nvSpPr>
        <p:spPr/>
        <p:txBody>
          <a:bodyPr/>
          <a:lstStyle/>
          <a:p>
            <a:fld id="{6FAC1865-B79A-43E4-B218-34456B6B12C9}" type="datetimeFigureOut">
              <a:rPr lang="zh-CN" altLang="en-US" smtClean="0"/>
              <a:t>2025-12-17</a:t>
            </a:fld>
            <a:endParaRPr lang="zh-CN" altLang="en-US"/>
          </a:p>
        </p:txBody>
      </p:sp>
      <p:sp>
        <p:nvSpPr>
          <p:cNvPr id="5" name="页脚占位符 4">
            <a:extLst>
              <a:ext uri="{FF2B5EF4-FFF2-40B4-BE49-F238E27FC236}">
                <a16:creationId xmlns:a16="http://schemas.microsoft.com/office/drawing/2014/main" id="{68EB7626-D656-4E24-BD17-27CDF45B847C}"/>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EAFC70BD-F514-4D5A-9043-DD06515B207B}"/>
              </a:ext>
            </a:extLst>
          </p:cNvPr>
          <p:cNvSpPr>
            <a:spLocks noGrp="1"/>
          </p:cNvSpPr>
          <p:nvPr>
            <p:ph type="sldNum" sz="quarter" idx="12"/>
          </p:nvPr>
        </p:nvSpPr>
        <p:spPr/>
        <p:txBody>
          <a:bodyPr/>
          <a:lstStyle/>
          <a:p>
            <a:fld id="{3FEE32C2-5FDC-40E1-AD53-545CC803DDCB}" type="slidenum">
              <a:rPr lang="zh-CN" altLang="en-US" smtClean="0"/>
              <a:t>‹#›</a:t>
            </a:fld>
            <a:endParaRPr lang="zh-CN" altLang="en-US"/>
          </a:p>
        </p:txBody>
      </p:sp>
    </p:spTree>
    <p:extLst>
      <p:ext uri="{BB962C8B-B14F-4D97-AF65-F5344CB8AC3E}">
        <p14:creationId xmlns:p14="http://schemas.microsoft.com/office/powerpoint/2010/main" val="11163157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自定义版式">
    <p:spTree>
      <p:nvGrpSpPr>
        <p:cNvPr id="1" name=""/>
        <p:cNvGrpSpPr/>
        <p:nvPr/>
      </p:nvGrpSpPr>
      <p:grpSpPr>
        <a:xfrm>
          <a:off x="0" y="0"/>
          <a:ext cx="0" cy="0"/>
          <a:chOff x="0" y="0"/>
          <a:chExt cx="0" cy="0"/>
        </a:xfrm>
      </p:grpSpPr>
    </p:spTree>
    <p:extLst>
      <p:ext uri="{BB962C8B-B14F-4D97-AF65-F5344CB8AC3E}">
        <p14:creationId xmlns:p14="http://schemas.microsoft.com/office/powerpoint/2010/main" val="26176420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804EFB9E-31F1-44AC-B2A0-70B3AD7E19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25F674FB-ADAE-4C16-9A45-55515D425D7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a:extLst>
              <a:ext uri="{FF2B5EF4-FFF2-40B4-BE49-F238E27FC236}">
                <a16:creationId xmlns:a16="http://schemas.microsoft.com/office/drawing/2014/main" id="{08525FD1-9DA9-4D47-B946-7A3EE00EA75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FAC1865-B79A-43E4-B218-34456B6B12C9}" type="datetimeFigureOut">
              <a:rPr lang="zh-CN" altLang="en-US" smtClean="0"/>
              <a:t>2025-12-17</a:t>
            </a:fld>
            <a:endParaRPr lang="zh-CN" altLang="en-US"/>
          </a:p>
        </p:txBody>
      </p:sp>
      <p:sp>
        <p:nvSpPr>
          <p:cNvPr id="5" name="页脚占位符 4">
            <a:extLst>
              <a:ext uri="{FF2B5EF4-FFF2-40B4-BE49-F238E27FC236}">
                <a16:creationId xmlns:a16="http://schemas.microsoft.com/office/drawing/2014/main" id="{E47004C3-9974-4565-85A6-888D85E56A1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ACC94A1A-F98A-49BC-BD74-896D43ADD13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FEE32C2-5FDC-40E1-AD53-545CC803DDCB}" type="slidenum">
              <a:rPr lang="zh-CN" altLang="en-US" smtClean="0"/>
              <a:t>‹#›</a:t>
            </a:fld>
            <a:endParaRPr lang="zh-CN" altLang="en-US"/>
          </a:p>
        </p:txBody>
      </p:sp>
    </p:spTree>
    <p:extLst>
      <p:ext uri="{BB962C8B-B14F-4D97-AF65-F5344CB8AC3E}">
        <p14:creationId xmlns:p14="http://schemas.microsoft.com/office/powerpoint/2010/main" val="32273082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image" Target="../media/image4.jpe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7.gif"/><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8" Type="http://schemas.openxmlformats.org/officeDocument/2006/relationships/image" Target="../media/image15.wmf"/><Relationship Id="rId13" Type="http://schemas.openxmlformats.org/officeDocument/2006/relationships/oleObject" Target="../embeddings/oleObject4.bin"/><Relationship Id="rId18" Type="http://schemas.openxmlformats.org/officeDocument/2006/relationships/image" Target="../media/image20.wmf"/><Relationship Id="rId26" Type="http://schemas.openxmlformats.org/officeDocument/2006/relationships/image" Target="../media/image24.emf"/><Relationship Id="rId3" Type="http://schemas.openxmlformats.org/officeDocument/2006/relationships/image" Target="../media/image2.png"/><Relationship Id="rId21" Type="http://schemas.openxmlformats.org/officeDocument/2006/relationships/oleObject" Target="../embeddings/oleObject8.bin"/><Relationship Id="rId7" Type="http://schemas.openxmlformats.org/officeDocument/2006/relationships/oleObject" Target="../embeddings/oleObject1.bin"/><Relationship Id="rId12" Type="http://schemas.openxmlformats.org/officeDocument/2006/relationships/image" Target="../media/image17.wmf"/><Relationship Id="rId17" Type="http://schemas.openxmlformats.org/officeDocument/2006/relationships/oleObject" Target="../embeddings/oleObject6.bin"/><Relationship Id="rId25" Type="http://schemas.openxmlformats.org/officeDocument/2006/relationships/oleObject" Target="../embeddings/oleObject10.bin"/><Relationship Id="rId2" Type="http://schemas.openxmlformats.org/officeDocument/2006/relationships/slideLayout" Target="../slideLayouts/slideLayout7.xml"/><Relationship Id="rId16" Type="http://schemas.openxmlformats.org/officeDocument/2006/relationships/image" Target="../media/image19.wmf"/><Relationship Id="rId20" Type="http://schemas.openxmlformats.org/officeDocument/2006/relationships/image" Target="../media/image21.emf"/><Relationship Id="rId1" Type="http://schemas.openxmlformats.org/officeDocument/2006/relationships/vmlDrawing" Target="../drawings/vmlDrawing1.vml"/><Relationship Id="rId6" Type="http://schemas.openxmlformats.org/officeDocument/2006/relationships/image" Target="../media/image27.png"/><Relationship Id="rId11" Type="http://schemas.openxmlformats.org/officeDocument/2006/relationships/oleObject" Target="../embeddings/oleObject3.bin"/><Relationship Id="rId24" Type="http://schemas.openxmlformats.org/officeDocument/2006/relationships/image" Target="../media/image23.wmf"/><Relationship Id="rId5" Type="http://schemas.openxmlformats.org/officeDocument/2006/relationships/image" Target="../media/image26.png"/><Relationship Id="rId15" Type="http://schemas.openxmlformats.org/officeDocument/2006/relationships/oleObject" Target="../embeddings/oleObject5.bin"/><Relationship Id="rId23" Type="http://schemas.openxmlformats.org/officeDocument/2006/relationships/oleObject" Target="../embeddings/oleObject9.bin"/><Relationship Id="rId10" Type="http://schemas.openxmlformats.org/officeDocument/2006/relationships/image" Target="../media/image16.wmf"/><Relationship Id="rId19" Type="http://schemas.openxmlformats.org/officeDocument/2006/relationships/oleObject" Target="../embeddings/oleObject7.bin"/><Relationship Id="rId4" Type="http://schemas.openxmlformats.org/officeDocument/2006/relationships/image" Target="../media/image25.png"/><Relationship Id="rId9" Type="http://schemas.openxmlformats.org/officeDocument/2006/relationships/oleObject" Target="../embeddings/oleObject2.bin"/><Relationship Id="rId14" Type="http://schemas.openxmlformats.org/officeDocument/2006/relationships/image" Target="../media/image18.wmf"/><Relationship Id="rId22" Type="http://schemas.openxmlformats.org/officeDocument/2006/relationships/image" Target="../media/image22.wmf"/></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Layout" Target="../slideLayouts/slideLayout7.xml"/><Relationship Id="rId1" Type="http://schemas.openxmlformats.org/officeDocument/2006/relationships/vmlDrawing" Target="../drawings/vmlDrawing2.vml"/><Relationship Id="rId6" Type="http://schemas.openxmlformats.org/officeDocument/2006/relationships/image" Target="../media/image28.wmf"/><Relationship Id="rId5" Type="http://schemas.openxmlformats.org/officeDocument/2006/relationships/oleObject" Target="../embeddings/oleObject11.bin"/><Relationship Id="rId4" Type="http://schemas.openxmlformats.org/officeDocument/2006/relationships/image" Target="../media/image27.png"/></Relationships>
</file>

<file path=ppt/slides/_rels/slide12.xml.rels><?xml version="1.0" encoding="UTF-8" standalone="yes"?>
<Relationships xmlns="http://schemas.openxmlformats.org/package/2006/relationships"><Relationship Id="rId8" Type="http://schemas.openxmlformats.org/officeDocument/2006/relationships/image" Target="../media/image30.wmf"/><Relationship Id="rId3" Type="http://schemas.openxmlformats.org/officeDocument/2006/relationships/image" Target="../media/image2.png"/><Relationship Id="rId7" Type="http://schemas.openxmlformats.org/officeDocument/2006/relationships/oleObject" Target="../embeddings/oleObject13.bin"/><Relationship Id="rId2" Type="http://schemas.openxmlformats.org/officeDocument/2006/relationships/slideLayout" Target="../slideLayouts/slideLayout7.xml"/><Relationship Id="rId1" Type="http://schemas.openxmlformats.org/officeDocument/2006/relationships/vmlDrawing" Target="../drawings/vmlDrawing3.vml"/><Relationship Id="rId6" Type="http://schemas.openxmlformats.org/officeDocument/2006/relationships/image" Target="../media/image29.wmf"/><Relationship Id="rId5" Type="http://schemas.openxmlformats.org/officeDocument/2006/relationships/oleObject" Target="../embeddings/oleObject12.bin"/><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14.xml.rels><?xml version="1.0" encoding="UTF-8" standalone="yes"?>
<Relationships xmlns="http://schemas.openxmlformats.org/package/2006/relationships"><Relationship Id="rId8" Type="http://schemas.openxmlformats.org/officeDocument/2006/relationships/image" Target="../media/image36.wmf"/><Relationship Id="rId3" Type="http://schemas.openxmlformats.org/officeDocument/2006/relationships/image" Target="../media/image2.png"/><Relationship Id="rId7" Type="http://schemas.openxmlformats.org/officeDocument/2006/relationships/oleObject" Target="../embeddings/oleObject15.bin"/><Relationship Id="rId2" Type="http://schemas.openxmlformats.org/officeDocument/2006/relationships/slideLayout" Target="../slideLayouts/slideLayout7.xml"/><Relationship Id="rId1" Type="http://schemas.openxmlformats.org/officeDocument/2006/relationships/vmlDrawing" Target="../drawings/vmlDrawing4.vml"/><Relationship Id="rId6" Type="http://schemas.openxmlformats.org/officeDocument/2006/relationships/image" Target="../media/image35.wmf"/><Relationship Id="rId5" Type="http://schemas.openxmlformats.org/officeDocument/2006/relationships/oleObject" Target="../embeddings/oleObject14.bin"/><Relationship Id="rId10" Type="http://schemas.openxmlformats.org/officeDocument/2006/relationships/image" Target="../media/image37.wmf"/><Relationship Id="rId4" Type="http://schemas.openxmlformats.org/officeDocument/2006/relationships/image" Target="../media/image38.png"/><Relationship Id="rId9" Type="http://schemas.openxmlformats.org/officeDocument/2006/relationships/oleObject" Target="../embeddings/oleObject16.bin"/></Relationships>
</file>

<file path=ppt/slides/_rels/slide15.xml.rels><?xml version="1.0" encoding="UTF-8" standalone="yes"?>
<Relationships xmlns="http://schemas.openxmlformats.org/package/2006/relationships"><Relationship Id="rId8" Type="http://schemas.openxmlformats.org/officeDocument/2006/relationships/oleObject" Target="../embeddings/oleObject18.bin"/><Relationship Id="rId13" Type="http://schemas.openxmlformats.org/officeDocument/2006/relationships/image" Target="../media/image42.wmf"/><Relationship Id="rId3" Type="http://schemas.openxmlformats.org/officeDocument/2006/relationships/image" Target="../media/image2.png"/><Relationship Id="rId7" Type="http://schemas.openxmlformats.org/officeDocument/2006/relationships/image" Target="../media/image39.wmf"/><Relationship Id="rId12" Type="http://schemas.openxmlformats.org/officeDocument/2006/relationships/oleObject" Target="../embeddings/oleObject20.bin"/><Relationship Id="rId2" Type="http://schemas.openxmlformats.org/officeDocument/2006/relationships/slideLayout" Target="../slideLayouts/slideLayout7.xml"/><Relationship Id="rId1" Type="http://schemas.openxmlformats.org/officeDocument/2006/relationships/vmlDrawing" Target="../drawings/vmlDrawing5.vml"/><Relationship Id="rId6" Type="http://schemas.openxmlformats.org/officeDocument/2006/relationships/oleObject" Target="../embeddings/oleObject17.bin"/><Relationship Id="rId11" Type="http://schemas.openxmlformats.org/officeDocument/2006/relationships/image" Target="../media/image41.wmf"/><Relationship Id="rId5" Type="http://schemas.openxmlformats.org/officeDocument/2006/relationships/image" Target="../media/image44.png"/><Relationship Id="rId15" Type="http://schemas.openxmlformats.org/officeDocument/2006/relationships/image" Target="../media/image43.emf"/><Relationship Id="rId10" Type="http://schemas.openxmlformats.org/officeDocument/2006/relationships/oleObject" Target="../embeddings/oleObject19.bin"/><Relationship Id="rId4" Type="http://schemas.openxmlformats.org/officeDocument/2006/relationships/image" Target="../media/image43.png"/><Relationship Id="rId9" Type="http://schemas.openxmlformats.org/officeDocument/2006/relationships/image" Target="../media/image40.wmf"/><Relationship Id="rId14" Type="http://schemas.openxmlformats.org/officeDocument/2006/relationships/oleObject" Target="../embeddings/oleObject21.bin"/></Relationships>
</file>

<file path=ppt/slides/_rels/slide16.xml.rels><?xml version="1.0" encoding="UTF-8" standalone="yes"?>
<Relationships xmlns="http://schemas.openxmlformats.org/package/2006/relationships"><Relationship Id="rId8" Type="http://schemas.openxmlformats.org/officeDocument/2006/relationships/oleObject" Target="../embeddings/oleObject23.bin"/><Relationship Id="rId13" Type="http://schemas.openxmlformats.org/officeDocument/2006/relationships/image" Target="../media/image48.emf"/><Relationship Id="rId18" Type="http://schemas.openxmlformats.org/officeDocument/2006/relationships/oleObject" Target="../embeddings/oleObject28.bin"/><Relationship Id="rId26" Type="http://schemas.openxmlformats.org/officeDocument/2006/relationships/oleObject" Target="../embeddings/oleObject32.bin"/><Relationship Id="rId3" Type="http://schemas.openxmlformats.org/officeDocument/2006/relationships/notesSlide" Target="../notesSlides/notesSlide9.xml"/><Relationship Id="rId21" Type="http://schemas.openxmlformats.org/officeDocument/2006/relationships/image" Target="../media/image52.emf"/><Relationship Id="rId7" Type="http://schemas.openxmlformats.org/officeDocument/2006/relationships/image" Target="../media/image45.wmf"/><Relationship Id="rId12" Type="http://schemas.openxmlformats.org/officeDocument/2006/relationships/oleObject" Target="../embeddings/oleObject25.bin"/><Relationship Id="rId17" Type="http://schemas.openxmlformats.org/officeDocument/2006/relationships/image" Target="../media/image50.emf"/><Relationship Id="rId25" Type="http://schemas.openxmlformats.org/officeDocument/2006/relationships/image" Target="../media/image54.wmf"/><Relationship Id="rId2" Type="http://schemas.openxmlformats.org/officeDocument/2006/relationships/slideLayout" Target="../slideLayouts/slideLayout7.xml"/><Relationship Id="rId16" Type="http://schemas.openxmlformats.org/officeDocument/2006/relationships/oleObject" Target="../embeddings/oleObject27.bin"/><Relationship Id="rId20" Type="http://schemas.openxmlformats.org/officeDocument/2006/relationships/oleObject" Target="../embeddings/oleObject29.bin"/><Relationship Id="rId1" Type="http://schemas.openxmlformats.org/officeDocument/2006/relationships/vmlDrawing" Target="../drawings/vmlDrawing6.vml"/><Relationship Id="rId6" Type="http://schemas.openxmlformats.org/officeDocument/2006/relationships/oleObject" Target="../embeddings/oleObject22.bin"/><Relationship Id="rId11" Type="http://schemas.openxmlformats.org/officeDocument/2006/relationships/image" Target="../media/image47.emf"/><Relationship Id="rId24" Type="http://schemas.openxmlformats.org/officeDocument/2006/relationships/oleObject" Target="../embeddings/oleObject31.bin"/><Relationship Id="rId5" Type="http://schemas.openxmlformats.org/officeDocument/2006/relationships/image" Target="../media/image56.png"/><Relationship Id="rId15" Type="http://schemas.openxmlformats.org/officeDocument/2006/relationships/image" Target="../media/image49.emf"/><Relationship Id="rId23" Type="http://schemas.openxmlformats.org/officeDocument/2006/relationships/image" Target="../media/image53.wmf"/><Relationship Id="rId10" Type="http://schemas.openxmlformats.org/officeDocument/2006/relationships/oleObject" Target="../embeddings/oleObject24.bin"/><Relationship Id="rId19" Type="http://schemas.openxmlformats.org/officeDocument/2006/relationships/image" Target="../media/image51.emf"/><Relationship Id="rId4" Type="http://schemas.openxmlformats.org/officeDocument/2006/relationships/image" Target="../media/image2.png"/><Relationship Id="rId9" Type="http://schemas.openxmlformats.org/officeDocument/2006/relationships/image" Target="../media/image46.wmf"/><Relationship Id="rId14" Type="http://schemas.openxmlformats.org/officeDocument/2006/relationships/oleObject" Target="../embeddings/oleObject26.bin"/><Relationship Id="rId22" Type="http://schemas.openxmlformats.org/officeDocument/2006/relationships/oleObject" Target="../embeddings/oleObject30.bin"/><Relationship Id="rId27" Type="http://schemas.openxmlformats.org/officeDocument/2006/relationships/image" Target="../media/image55.wmf"/></Relationships>
</file>

<file path=ppt/slides/_rels/slide1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58.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59.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microsoft.com/office/2018/10/relationships/comments" Target="../comments/modernComment_171_48D6AFEF.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60.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7.xml"/><Relationship Id="rId5" Type="http://schemas.openxmlformats.org/officeDocument/2006/relationships/image" Target="../media/image62.png"/><Relationship Id="rId4" Type="http://schemas.openxmlformats.org/officeDocument/2006/relationships/image" Target="../media/image61.png"/></Relationships>
</file>

<file path=ppt/slides/_rels/slide22.xml.rels><?xml version="1.0" encoding="UTF-8" standalone="yes"?>
<Relationships xmlns="http://schemas.openxmlformats.org/package/2006/relationships"><Relationship Id="rId3" Type="http://schemas.microsoft.com/office/2018/10/relationships/comments" Target="../comments/modernComment_173_ED0C9ED3.xml"/><Relationship Id="rId7" Type="http://schemas.openxmlformats.org/officeDocument/2006/relationships/image" Target="../media/image65.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64.png"/><Relationship Id="rId5" Type="http://schemas.openxmlformats.org/officeDocument/2006/relationships/image" Target="../media/image63.png"/><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68.png"/></Relationships>
</file>

<file path=ppt/slides/_rels/slide26.xml.rels><?xml version="1.0" encoding="UTF-8" standalone="yes"?>
<Relationships xmlns="http://schemas.openxmlformats.org/package/2006/relationships"><Relationship Id="rId8" Type="http://schemas.openxmlformats.org/officeDocument/2006/relationships/image" Target="../media/image73.png"/><Relationship Id="rId3" Type="http://schemas.openxmlformats.org/officeDocument/2006/relationships/image" Target="../media/image2.png"/><Relationship Id="rId7" Type="http://schemas.openxmlformats.org/officeDocument/2006/relationships/image" Target="../media/image72.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71.png"/><Relationship Id="rId5" Type="http://schemas.openxmlformats.org/officeDocument/2006/relationships/image" Target="../media/image70.png"/><Relationship Id="rId4" Type="http://schemas.openxmlformats.org/officeDocument/2006/relationships/image" Target="../media/image69.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67.png"/></Relationships>
</file>

<file path=ppt/slides/_rels/slide28.xml.rels><?xml version="1.0" encoding="UTF-8" standalone="yes"?>
<Relationships xmlns="http://schemas.openxmlformats.org/package/2006/relationships"><Relationship Id="rId8" Type="http://schemas.openxmlformats.org/officeDocument/2006/relationships/image" Target="../media/image2.png"/><Relationship Id="rId13" Type="http://schemas.openxmlformats.org/officeDocument/2006/relationships/image" Target="../media/image260.png"/><Relationship Id="rId18" Type="http://schemas.openxmlformats.org/officeDocument/2006/relationships/image" Target="../media/image76.png"/><Relationship Id="rId3" Type="http://schemas.openxmlformats.org/officeDocument/2006/relationships/image" Target="../media/image74.png"/><Relationship Id="rId7" Type="http://schemas.openxmlformats.org/officeDocument/2006/relationships/image" Target="../media/image21.png"/><Relationship Id="rId12" Type="http://schemas.openxmlformats.org/officeDocument/2006/relationships/image" Target="../media/image250.png"/><Relationship Id="rId17" Type="http://schemas.openxmlformats.org/officeDocument/2006/relationships/image" Target="../media/image30.png"/><Relationship Id="rId2" Type="http://schemas.openxmlformats.org/officeDocument/2006/relationships/notesSlide" Target="../notesSlides/notesSlide16.xml"/><Relationship Id="rId16" Type="http://schemas.openxmlformats.org/officeDocument/2006/relationships/image" Target="../media/image29.png"/><Relationship Id="rId1" Type="http://schemas.openxmlformats.org/officeDocument/2006/relationships/slideLayout" Target="../slideLayouts/slideLayout7.xml"/><Relationship Id="rId6" Type="http://schemas.openxmlformats.org/officeDocument/2006/relationships/image" Target="../media/image20.png"/><Relationship Id="rId11" Type="http://schemas.openxmlformats.org/officeDocument/2006/relationships/image" Target="../media/image24.png"/><Relationship Id="rId5" Type="http://schemas.openxmlformats.org/officeDocument/2006/relationships/image" Target="../media/image19.png"/><Relationship Id="rId15" Type="http://schemas.openxmlformats.org/officeDocument/2006/relationships/image" Target="../media/image28.png"/><Relationship Id="rId10" Type="http://schemas.openxmlformats.org/officeDocument/2006/relationships/image" Target="../media/image23.png"/><Relationship Id="rId4" Type="http://schemas.openxmlformats.org/officeDocument/2006/relationships/image" Target="../media/image18.png"/><Relationship Id="rId9" Type="http://schemas.openxmlformats.org/officeDocument/2006/relationships/image" Target="../media/image75.png"/><Relationship Id="rId14" Type="http://schemas.openxmlformats.org/officeDocument/2006/relationships/image" Target="../media/image270.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78.png"/><Relationship Id="rId5" Type="http://schemas.openxmlformats.org/officeDocument/2006/relationships/image" Target="../media/image67.png"/><Relationship Id="rId4" Type="http://schemas.openxmlformats.org/officeDocument/2006/relationships/image" Target="../media/image77.png"/></Relationships>
</file>

<file path=ppt/slides/_rels/slide30.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78.png"/><Relationship Id="rId4" Type="http://schemas.openxmlformats.org/officeDocument/2006/relationships/image" Target="../media/image67.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9.png"/><Relationship Id="rId1" Type="http://schemas.openxmlformats.org/officeDocument/2006/relationships/slideLayout" Target="../slideLayouts/slideLayout7.xml"/><Relationship Id="rId4" Type="http://schemas.openxmlformats.org/officeDocument/2006/relationships/image" Target="../media/image80.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81.png"/></Relationships>
</file>

<file path=ppt/slides/_rels/slide33.xml.rels><?xml version="1.0" encoding="UTF-8" standalone="yes"?>
<Relationships xmlns="http://schemas.openxmlformats.org/package/2006/relationships"><Relationship Id="rId3" Type="http://schemas.openxmlformats.org/officeDocument/2006/relationships/image" Target="../media/image82.png"/><Relationship Id="rId7" Type="http://schemas.openxmlformats.org/officeDocument/2006/relationships/image" Target="../media/image85.png"/><Relationship Id="rId2" Type="http://schemas.openxmlformats.org/officeDocument/2006/relationships/notesSlide" Target="../notesSlides/notesSlide19.xml"/><Relationship Id="rId1" Type="http://schemas.openxmlformats.org/officeDocument/2006/relationships/slideLayout" Target="../slideLayouts/slideLayout7.xml"/><Relationship Id="rId6" Type="http://schemas.openxmlformats.org/officeDocument/2006/relationships/image" Target="../media/image84.tmp"/><Relationship Id="rId5" Type="http://schemas.openxmlformats.org/officeDocument/2006/relationships/image" Target="../media/image83.tmp"/><Relationship Id="rId4" Type="http://schemas.openxmlformats.org/officeDocument/2006/relationships/image" Target="../media/image2.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22.xml"/><Relationship Id="rId1" Type="http://schemas.openxmlformats.org/officeDocument/2006/relationships/slideLayout" Target="../slideLayouts/slideLayout7.xml"/><Relationship Id="rId5" Type="http://schemas.openxmlformats.org/officeDocument/2006/relationships/image" Target="../media/image87.jpg"/><Relationship Id="rId4" Type="http://schemas.openxmlformats.org/officeDocument/2006/relationships/image" Target="../media/image2.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580.png"/><Relationship Id="rId5" Type="http://schemas.openxmlformats.org/officeDocument/2006/relationships/image" Target="../media/image570.png"/><Relationship Id="rId4" Type="http://schemas.openxmlformats.org/officeDocument/2006/relationships/image" Target="../media/image560.png"/></Relationships>
</file>

<file path=ppt/slides/_rels/slide38.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7.xml"/><Relationship Id="rId5" Type="http://schemas.microsoft.com/office/2007/relationships/hdphoto" Target="../media/hdphoto1.wdp"/><Relationship Id="rId4" Type="http://schemas.openxmlformats.org/officeDocument/2006/relationships/image" Target="../media/image89.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7.xml"/><Relationship Id="rId5" Type="http://schemas.microsoft.com/office/2007/relationships/hdphoto" Target="../media/hdphoto1.wdp"/><Relationship Id="rId4" Type="http://schemas.openxmlformats.org/officeDocument/2006/relationships/image" Target="../media/image89.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7.xml"/><Relationship Id="rId4" Type="http://schemas.openxmlformats.org/officeDocument/2006/relationships/image" Target="../media/image90.jpeg"/></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7.xml"/><Relationship Id="rId4" Type="http://schemas.openxmlformats.org/officeDocument/2006/relationships/image" Target="../media/image91.jpeg"/></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7.xml"/><Relationship Id="rId5" Type="http://schemas.openxmlformats.org/officeDocument/2006/relationships/image" Target="../media/image93.png"/><Relationship Id="rId4" Type="http://schemas.openxmlformats.org/officeDocument/2006/relationships/image" Target="../media/image92.jpeg"/></Relationships>
</file>

<file path=ppt/slides/_rels/slide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7.xml"/><Relationship Id="rId5" Type="http://schemas.openxmlformats.org/officeDocument/2006/relationships/image" Target="../media/image93.png"/><Relationship Id="rId4" Type="http://schemas.openxmlformats.org/officeDocument/2006/relationships/image" Target="../media/image92.jpeg"/></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7.xml"/><Relationship Id="rId5" Type="http://schemas.openxmlformats.org/officeDocument/2006/relationships/image" Target="../media/image95.jpeg"/><Relationship Id="rId4" Type="http://schemas.openxmlformats.org/officeDocument/2006/relationships/image" Target="../media/image94.jpe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7.xml"/><Relationship Id="rId4" Type="http://schemas.openxmlformats.org/officeDocument/2006/relationships/image" Target="../media/image96.jpeg"/></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100.png"/><Relationship Id="rId2" Type="http://schemas.openxmlformats.org/officeDocument/2006/relationships/notesSlide" Target="../notesSlides/notesSlide35.xml"/><Relationship Id="rId1" Type="http://schemas.openxmlformats.org/officeDocument/2006/relationships/slideLayout" Target="../slideLayouts/slideLayout7.xml"/><Relationship Id="rId6" Type="http://schemas.openxmlformats.org/officeDocument/2006/relationships/image" Target="../media/image99.png"/><Relationship Id="rId5" Type="http://schemas.openxmlformats.org/officeDocument/2006/relationships/image" Target="../media/image98.png"/><Relationship Id="rId4" Type="http://schemas.openxmlformats.org/officeDocument/2006/relationships/image" Target="../media/image97.png"/></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7.xml"/><Relationship Id="rId4" Type="http://schemas.openxmlformats.org/officeDocument/2006/relationships/image" Target="../media/image101.jpeg"/></Relationships>
</file>

<file path=ppt/slides/_rels/slide5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7.xml"/><Relationship Id="rId6" Type="http://schemas.openxmlformats.org/officeDocument/2006/relationships/image" Target="../media/image104.png"/><Relationship Id="rId5" Type="http://schemas.openxmlformats.org/officeDocument/2006/relationships/image" Target="../media/image103.jpeg"/><Relationship Id="rId4" Type="http://schemas.openxmlformats.org/officeDocument/2006/relationships/image" Target="../media/image102.jpeg"/></Relationships>
</file>

<file path=ppt/slides/_rels/slide5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7.xml"/><Relationship Id="rId5" Type="http://schemas.openxmlformats.org/officeDocument/2006/relationships/image" Target="../media/image105.png"/><Relationship Id="rId4" Type="http://schemas.openxmlformats.org/officeDocument/2006/relationships/image" Target="../media/image10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4" name="图片 43">
            <a:extLst>
              <a:ext uri="{FF2B5EF4-FFF2-40B4-BE49-F238E27FC236}">
                <a16:creationId xmlns:a16="http://schemas.microsoft.com/office/drawing/2014/main" id="{070CC29F-EA08-4A06-BDBF-1A95FC039860}"/>
              </a:ext>
            </a:extLst>
          </p:cNvPr>
          <p:cNvPicPr>
            <a:picLocks noChangeAspect="1"/>
          </p:cNvPicPr>
          <p:nvPr/>
        </p:nvPicPr>
        <p:blipFill>
          <a:blip r:embed="rId3">
            <a:alphaModFix amt="15000"/>
          </a:blip>
          <a:stretch>
            <a:fillRect/>
          </a:stretch>
        </p:blipFill>
        <p:spPr>
          <a:xfrm>
            <a:off x="4762" y="4543425"/>
            <a:ext cx="12182475" cy="2314575"/>
          </a:xfrm>
          <a:prstGeom prst="rect">
            <a:avLst/>
          </a:prstGeom>
        </p:spPr>
      </p:pic>
      <p:sp>
        <p:nvSpPr>
          <p:cNvPr id="13" name="文本框 12">
            <a:extLst>
              <a:ext uri="{FF2B5EF4-FFF2-40B4-BE49-F238E27FC236}">
                <a16:creationId xmlns:a16="http://schemas.microsoft.com/office/drawing/2014/main" id="{F5F8934E-6CAF-4F75-9A96-2ADBDFD7C2D8}"/>
              </a:ext>
            </a:extLst>
          </p:cNvPr>
          <p:cNvSpPr txBox="1"/>
          <p:nvPr/>
        </p:nvSpPr>
        <p:spPr>
          <a:xfrm>
            <a:off x="3753048" y="174524"/>
            <a:ext cx="4685898" cy="646331"/>
          </a:xfrm>
          <a:prstGeom prst="rect">
            <a:avLst/>
          </a:prstGeom>
        </p:spPr>
        <p:txBody>
          <a:bodyPr wrap="none">
            <a:spAutoFit/>
          </a:bodyPr>
          <a:lstStyle>
            <a:defPPr>
              <a:defRPr lang="zh-CN"/>
            </a:defPPr>
            <a:lvl1pPr algn="ctr">
              <a:defRPr sz="6000" b="1" spc="300">
                <a:solidFill>
                  <a:srgbClr val="003F88"/>
                </a:solidFill>
                <a:latin typeface="+mn-ea"/>
              </a:defRPr>
            </a:lvl1pPr>
          </a:lstStyle>
          <a:p>
            <a:r>
              <a:rPr lang="en-US" altLang="zh-CN" sz="3600" dirty="0">
                <a:latin typeface="Times New Roman" panose="02020603050405020304" pitchFamily="18" charset="0"/>
                <a:ea typeface="微软雅黑" panose="020B0503020204020204" pitchFamily="34" charset="-122"/>
                <a:cs typeface="Times New Roman" panose="02020603050405020304" pitchFamily="18" charset="0"/>
              </a:rPr>
              <a:t>《</a:t>
            </a:r>
            <a:r>
              <a:rPr lang="zh-CN" altLang="en-US" sz="3600" dirty="0">
                <a:latin typeface="Times New Roman" panose="02020603050405020304" pitchFamily="18" charset="0"/>
                <a:ea typeface="微软雅黑" panose="020B0503020204020204" pitchFamily="34" charset="-122"/>
                <a:cs typeface="Times New Roman" panose="02020603050405020304" pitchFamily="18" charset="0"/>
              </a:rPr>
              <a:t>液压传动及控制</a:t>
            </a:r>
            <a:r>
              <a:rPr lang="en-US" altLang="zh-CN" sz="3600" dirty="0">
                <a:latin typeface="Times New Roman" panose="02020603050405020304" pitchFamily="18" charset="0"/>
                <a:ea typeface="微软雅黑" panose="020B0503020204020204" pitchFamily="34" charset="-122"/>
                <a:cs typeface="Times New Roman" panose="02020603050405020304" pitchFamily="18" charset="0"/>
              </a:rPr>
              <a:t>》</a:t>
            </a:r>
            <a:endParaRPr lang="zh-CN" altLang="en-US" sz="3600" dirty="0">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20" name="矩形 19">
            <a:extLst>
              <a:ext uri="{FF2B5EF4-FFF2-40B4-BE49-F238E27FC236}">
                <a16:creationId xmlns:a16="http://schemas.microsoft.com/office/drawing/2014/main" id="{83331D23-ACF9-4E53-8F13-F876D7C312EB}"/>
              </a:ext>
            </a:extLst>
          </p:cNvPr>
          <p:cNvSpPr/>
          <p:nvPr/>
        </p:nvSpPr>
        <p:spPr>
          <a:xfrm>
            <a:off x="2324572" y="1345079"/>
            <a:ext cx="8048153" cy="1938992"/>
          </a:xfrm>
          <a:prstGeom prst="rect">
            <a:avLst/>
          </a:prstGeom>
        </p:spPr>
        <p:txBody>
          <a:bodyPr wrap="square">
            <a:spAutoFit/>
          </a:bodyPr>
          <a:lstStyle/>
          <a:p>
            <a:pPr algn="ctr"/>
            <a:r>
              <a:rPr lang="zh-CN" altLang="en-US" sz="6000" b="1" spc="300" dirty="0">
                <a:solidFill>
                  <a:srgbClr val="003F88"/>
                </a:solidFill>
                <a:latin typeface="Times New Roman" panose="02020603050405020304" pitchFamily="18" charset="0"/>
                <a:ea typeface="微软雅黑" panose="020B0503020204020204" pitchFamily="34" charset="-122"/>
                <a:cs typeface="Times New Roman" panose="02020603050405020304" pitchFamily="18" charset="0"/>
              </a:rPr>
              <a:t>第十一讲  电液伺服阀、比例阀、数字阀</a:t>
            </a:r>
            <a:endParaRPr lang="en-US" altLang="zh-CN" sz="6000" b="1" spc="300" dirty="0">
              <a:solidFill>
                <a:srgbClr val="003F88"/>
              </a:solidFill>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25" name="文本框 24">
            <a:extLst>
              <a:ext uri="{FF2B5EF4-FFF2-40B4-BE49-F238E27FC236}">
                <a16:creationId xmlns:a16="http://schemas.microsoft.com/office/drawing/2014/main" id="{85CA4716-3D7C-44F0-A479-3BE4B57FA00D}"/>
              </a:ext>
            </a:extLst>
          </p:cNvPr>
          <p:cNvSpPr txBox="1"/>
          <p:nvPr/>
        </p:nvSpPr>
        <p:spPr>
          <a:xfrm>
            <a:off x="4923522" y="3284071"/>
            <a:ext cx="2505078" cy="4928850"/>
          </a:xfrm>
          <a:prstGeom prst="rect">
            <a:avLst/>
          </a:prstGeom>
          <a:noFill/>
        </p:spPr>
        <p:txBody>
          <a:bodyPr wrap="square">
            <a:spAutoFit/>
          </a:bodyPr>
          <a:lstStyle/>
          <a:p>
            <a:pPr>
              <a:lnSpc>
                <a:spcPct val="120000"/>
              </a:lnSpc>
            </a:pPr>
            <a:r>
              <a:rPr lang="en-US" altLang="zh-CN" sz="2400" spc="300" dirty="0">
                <a:latin typeface="Times New Roman" panose="02020603050405020304" pitchFamily="18" charset="0"/>
                <a:ea typeface="微软雅黑" panose="020B0503020204020204" pitchFamily="34" charset="-122"/>
                <a:cs typeface="Times New Roman" panose="02020603050405020304" pitchFamily="18" charset="0"/>
              </a:rPr>
              <a:t>10.1 </a:t>
            </a:r>
            <a:r>
              <a:rPr lang="zh-CN" altLang="en-US" sz="2400" spc="300" dirty="0">
                <a:latin typeface="Times New Roman" panose="02020603050405020304" pitchFamily="18" charset="0"/>
                <a:ea typeface="微软雅黑" panose="020B0503020204020204" pitchFamily="34" charset="-122"/>
                <a:cs typeface="Times New Roman" panose="02020603050405020304" pitchFamily="18" charset="0"/>
              </a:rPr>
              <a:t>概念简述</a:t>
            </a:r>
            <a:endParaRPr lang="en-US" altLang="zh-CN" sz="2400" spc="300" dirty="0">
              <a:latin typeface="Times New Roman" panose="02020603050405020304" pitchFamily="18" charset="0"/>
              <a:ea typeface="微软雅黑" panose="020B0503020204020204" pitchFamily="34" charset="-122"/>
              <a:cs typeface="Times New Roman" panose="02020603050405020304" pitchFamily="18" charset="0"/>
            </a:endParaRPr>
          </a:p>
          <a:p>
            <a:pPr>
              <a:lnSpc>
                <a:spcPct val="120000"/>
              </a:lnSpc>
            </a:pPr>
            <a:r>
              <a:rPr lang="en-US" altLang="zh-CN" sz="2400" spc="300" dirty="0">
                <a:latin typeface="Times New Roman" panose="02020603050405020304" pitchFamily="18" charset="0"/>
                <a:ea typeface="微软雅黑" panose="020B0503020204020204" pitchFamily="34" charset="-122"/>
                <a:cs typeface="Times New Roman" panose="02020603050405020304" pitchFamily="18" charset="0"/>
              </a:rPr>
              <a:t>10.2 </a:t>
            </a:r>
            <a:r>
              <a:rPr lang="zh-CN" altLang="en-US" sz="2400" spc="300" dirty="0">
                <a:latin typeface="Times New Roman" panose="02020603050405020304" pitchFamily="18" charset="0"/>
                <a:ea typeface="微软雅黑" panose="020B0503020204020204" pitchFamily="34" charset="-122"/>
                <a:cs typeface="Times New Roman" panose="02020603050405020304" pitchFamily="18" charset="0"/>
              </a:rPr>
              <a:t>工作原理</a:t>
            </a:r>
            <a:endParaRPr lang="zh-CN" altLang="en-US" sz="2400" dirty="0">
              <a:latin typeface="Times New Roman" panose="02020603050405020304" pitchFamily="18" charset="0"/>
              <a:ea typeface="微软雅黑" panose="020B0503020204020204" pitchFamily="34" charset="-122"/>
              <a:cs typeface="Times New Roman" panose="02020603050405020304" pitchFamily="18" charset="0"/>
            </a:endParaRPr>
          </a:p>
          <a:p>
            <a:pPr>
              <a:lnSpc>
                <a:spcPct val="120000"/>
              </a:lnSpc>
            </a:pPr>
            <a:r>
              <a:rPr lang="en-US" altLang="zh-CN" sz="2400" spc="300" dirty="0">
                <a:latin typeface="Times New Roman" panose="02020603050405020304" pitchFamily="18" charset="0"/>
                <a:ea typeface="微软雅黑" panose="020B0503020204020204" pitchFamily="34" charset="-122"/>
                <a:cs typeface="Times New Roman" panose="02020603050405020304" pitchFamily="18" charset="0"/>
              </a:rPr>
              <a:t>10.3 </a:t>
            </a:r>
            <a:r>
              <a:rPr lang="zh-CN" altLang="en-US" sz="2400" spc="300" dirty="0">
                <a:latin typeface="Times New Roman" panose="02020603050405020304" pitchFamily="18" charset="0"/>
                <a:ea typeface="微软雅黑" panose="020B0503020204020204" pitchFamily="34" charset="-122"/>
                <a:cs typeface="Times New Roman" panose="02020603050405020304" pitchFamily="18" charset="0"/>
              </a:rPr>
              <a:t>常见结构</a:t>
            </a:r>
            <a:endParaRPr lang="zh-CN" altLang="en-US" sz="2400" dirty="0">
              <a:latin typeface="Times New Roman" panose="02020603050405020304" pitchFamily="18" charset="0"/>
              <a:ea typeface="微软雅黑" panose="020B0503020204020204" pitchFamily="34" charset="-122"/>
              <a:cs typeface="Times New Roman" panose="02020603050405020304" pitchFamily="18" charset="0"/>
            </a:endParaRPr>
          </a:p>
          <a:p>
            <a:pPr>
              <a:lnSpc>
                <a:spcPct val="120000"/>
              </a:lnSpc>
            </a:pPr>
            <a:r>
              <a:rPr lang="en-US" altLang="zh-CN" sz="2400" spc="300" dirty="0">
                <a:latin typeface="Times New Roman" panose="02020603050405020304" pitchFamily="18" charset="0"/>
                <a:ea typeface="微软雅黑" panose="020B0503020204020204" pitchFamily="34" charset="-122"/>
                <a:cs typeface="Times New Roman" panose="02020603050405020304" pitchFamily="18" charset="0"/>
              </a:rPr>
              <a:t>10.4 </a:t>
            </a:r>
            <a:r>
              <a:rPr lang="zh-CN" altLang="en-US" sz="2400" spc="300" dirty="0">
                <a:latin typeface="Times New Roman" panose="02020603050405020304" pitchFamily="18" charset="0"/>
                <a:ea typeface="微软雅黑" panose="020B0503020204020204" pitchFamily="34" charset="-122"/>
                <a:cs typeface="Times New Roman" panose="02020603050405020304" pitchFamily="18" charset="0"/>
              </a:rPr>
              <a:t>特性分析</a:t>
            </a:r>
            <a:endParaRPr lang="zh-CN" altLang="en-US" sz="2400" dirty="0">
              <a:latin typeface="Times New Roman" panose="02020603050405020304" pitchFamily="18" charset="0"/>
              <a:ea typeface="微软雅黑" panose="020B0503020204020204" pitchFamily="34" charset="-122"/>
              <a:cs typeface="Times New Roman" panose="02020603050405020304" pitchFamily="18" charset="0"/>
            </a:endParaRPr>
          </a:p>
          <a:p>
            <a:pPr>
              <a:lnSpc>
                <a:spcPct val="120000"/>
              </a:lnSpc>
            </a:pPr>
            <a:r>
              <a:rPr lang="en-US" altLang="zh-CN" sz="2400" spc="300" dirty="0">
                <a:latin typeface="Times New Roman" panose="02020603050405020304" pitchFamily="18" charset="0"/>
                <a:ea typeface="微软雅黑" panose="020B0503020204020204" pitchFamily="34" charset="-122"/>
                <a:cs typeface="Times New Roman" panose="02020603050405020304" pitchFamily="18" charset="0"/>
              </a:rPr>
              <a:t>10.5 </a:t>
            </a:r>
            <a:r>
              <a:rPr lang="zh-CN" altLang="en-US" sz="2400" spc="300" dirty="0">
                <a:latin typeface="Times New Roman" panose="02020603050405020304" pitchFamily="18" charset="0"/>
                <a:ea typeface="微软雅黑" panose="020B0503020204020204" pitchFamily="34" charset="-122"/>
                <a:cs typeface="Times New Roman" panose="02020603050405020304" pitchFamily="18" charset="0"/>
              </a:rPr>
              <a:t>应用场景</a:t>
            </a:r>
            <a:endParaRPr lang="en-US" altLang="zh-CN" sz="2400" spc="300" dirty="0">
              <a:latin typeface="Times New Roman" panose="02020603050405020304" pitchFamily="18" charset="0"/>
              <a:ea typeface="微软雅黑" panose="020B0503020204020204" pitchFamily="34" charset="-122"/>
              <a:cs typeface="Times New Roman" panose="02020603050405020304" pitchFamily="18" charset="0"/>
            </a:endParaRPr>
          </a:p>
          <a:p>
            <a:pPr>
              <a:lnSpc>
                <a:spcPct val="120000"/>
              </a:lnSpc>
            </a:pPr>
            <a:r>
              <a:rPr lang="en-US" altLang="zh-CN" sz="2400" spc="300" dirty="0">
                <a:latin typeface="Times New Roman" panose="02020603050405020304" pitchFamily="18" charset="0"/>
                <a:ea typeface="微软雅黑" panose="020B0503020204020204" pitchFamily="34" charset="-122"/>
                <a:cs typeface="Times New Roman" panose="02020603050405020304" pitchFamily="18" charset="0"/>
              </a:rPr>
              <a:t>10.6 </a:t>
            </a:r>
            <a:r>
              <a:rPr lang="zh-CN" altLang="en-US" sz="2400" spc="300" dirty="0">
                <a:latin typeface="Times New Roman" panose="02020603050405020304" pitchFamily="18" charset="0"/>
                <a:ea typeface="微软雅黑" panose="020B0503020204020204" pitchFamily="34" charset="-122"/>
                <a:cs typeface="Times New Roman" panose="02020603050405020304" pitchFamily="18" charset="0"/>
              </a:rPr>
              <a:t>比例阀</a:t>
            </a:r>
            <a:endParaRPr lang="zh-CN" altLang="en-US" sz="2400" dirty="0">
              <a:latin typeface="Times New Roman" panose="02020603050405020304" pitchFamily="18" charset="0"/>
              <a:ea typeface="微软雅黑" panose="020B0503020204020204" pitchFamily="34" charset="-122"/>
              <a:cs typeface="Times New Roman" panose="02020603050405020304" pitchFamily="18" charset="0"/>
            </a:endParaRPr>
          </a:p>
          <a:p>
            <a:pPr>
              <a:lnSpc>
                <a:spcPct val="120000"/>
              </a:lnSpc>
            </a:pPr>
            <a:r>
              <a:rPr lang="en-US" altLang="zh-CN" sz="2400" spc="300" dirty="0">
                <a:latin typeface="Times New Roman" panose="02020603050405020304" pitchFamily="18" charset="0"/>
                <a:ea typeface="微软雅黑" panose="020B0503020204020204" pitchFamily="34" charset="-122"/>
                <a:cs typeface="Times New Roman" panose="02020603050405020304" pitchFamily="18" charset="0"/>
              </a:rPr>
              <a:t>10.7 </a:t>
            </a:r>
            <a:r>
              <a:rPr lang="zh-CN" altLang="en-US" sz="2400" spc="300" dirty="0">
                <a:latin typeface="Times New Roman" panose="02020603050405020304" pitchFamily="18" charset="0"/>
                <a:ea typeface="微软雅黑" panose="020B0503020204020204" pitchFamily="34" charset="-122"/>
                <a:cs typeface="Times New Roman" panose="02020603050405020304" pitchFamily="18" charset="0"/>
              </a:rPr>
              <a:t>数字阀</a:t>
            </a:r>
            <a:endParaRPr lang="en-US" altLang="zh-CN" sz="2400" spc="300" dirty="0">
              <a:latin typeface="Times New Roman" panose="02020603050405020304" pitchFamily="18" charset="0"/>
              <a:ea typeface="微软雅黑" panose="020B0503020204020204" pitchFamily="34" charset="-122"/>
              <a:cs typeface="Times New Roman" panose="02020603050405020304" pitchFamily="18" charset="0"/>
            </a:endParaRPr>
          </a:p>
          <a:p>
            <a:pPr>
              <a:lnSpc>
                <a:spcPct val="120000"/>
              </a:lnSpc>
            </a:pPr>
            <a:r>
              <a:rPr lang="en-US" altLang="zh-CN" sz="2400" spc="300" dirty="0">
                <a:latin typeface="Times New Roman" panose="02020603050405020304" pitchFamily="18" charset="0"/>
                <a:ea typeface="微软雅黑" panose="020B0503020204020204" pitchFamily="34" charset="-122"/>
                <a:cs typeface="Times New Roman" panose="02020603050405020304" pitchFamily="18" charset="0"/>
              </a:rPr>
              <a:t>10.8 </a:t>
            </a:r>
            <a:r>
              <a:rPr lang="zh-CN" altLang="en-US" sz="2400" spc="300" dirty="0">
                <a:latin typeface="Times New Roman" panose="02020603050405020304" pitchFamily="18" charset="0"/>
                <a:ea typeface="微软雅黑" panose="020B0503020204020204" pitchFamily="34" charset="-122"/>
                <a:cs typeface="Times New Roman" panose="02020603050405020304" pitchFamily="18" charset="0"/>
              </a:rPr>
              <a:t>联接方式</a:t>
            </a:r>
            <a:endParaRPr lang="en-US" altLang="zh-CN" sz="2400" spc="300" dirty="0">
              <a:latin typeface="Times New Roman" panose="02020603050405020304" pitchFamily="18" charset="0"/>
              <a:ea typeface="微软雅黑" panose="020B0503020204020204" pitchFamily="34" charset="-122"/>
              <a:cs typeface="Times New Roman" panose="02020603050405020304" pitchFamily="18" charset="0"/>
            </a:endParaRPr>
          </a:p>
          <a:p>
            <a:pPr>
              <a:lnSpc>
                <a:spcPct val="120000"/>
              </a:lnSpc>
            </a:pPr>
            <a:endParaRPr lang="en-US" altLang="zh-CN" sz="2400" spc="300" dirty="0">
              <a:latin typeface="Times New Roman" panose="02020603050405020304" pitchFamily="18" charset="0"/>
              <a:ea typeface="微软雅黑" panose="020B0503020204020204" pitchFamily="34" charset="-122"/>
              <a:cs typeface="Times New Roman" panose="02020603050405020304" pitchFamily="18" charset="0"/>
            </a:endParaRPr>
          </a:p>
          <a:p>
            <a:pPr>
              <a:lnSpc>
                <a:spcPct val="120000"/>
              </a:lnSpc>
            </a:pPr>
            <a:endParaRPr lang="en-US" altLang="zh-CN" sz="2400" spc="300" dirty="0">
              <a:latin typeface="Times New Roman" panose="02020603050405020304" pitchFamily="18" charset="0"/>
              <a:ea typeface="微软雅黑" panose="020B0503020204020204" pitchFamily="34" charset="-122"/>
              <a:cs typeface="Times New Roman" panose="02020603050405020304" pitchFamily="18" charset="0"/>
            </a:endParaRPr>
          </a:p>
          <a:p>
            <a:pPr>
              <a:lnSpc>
                <a:spcPct val="120000"/>
              </a:lnSpc>
            </a:pPr>
            <a:endParaRPr lang="zh-CN" altLang="en-US" sz="2400" dirty="0">
              <a:latin typeface="Times New Roman" panose="02020603050405020304" pitchFamily="18" charset="0"/>
              <a:ea typeface="微软雅黑" panose="020B0503020204020204" pitchFamily="34" charset="-122"/>
              <a:cs typeface="Times New Roman" panose="02020603050405020304" pitchFamily="18" charset="0"/>
            </a:endParaRPr>
          </a:p>
        </p:txBody>
      </p:sp>
      <p:cxnSp>
        <p:nvCxnSpPr>
          <p:cNvPr id="32" name="直接连接符 31">
            <a:extLst>
              <a:ext uri="{FF2B5EF4-FFF2-40B4-BE49-F238E27FC236}">
                <a16:creationId xmlns:a16="http://schemas.microsoft.com/office/drawing/2014/main" id="{4D7BD61E-14B6-4FE2-8261-87597607A0C0}"/>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33" name="图片 32">
            <a:extLst>
              <a:ext uri="{FF2B5EF4-FFF2-40B4-BE49-F238E27FC236}">
                <a16:creationId xmlns:a16="http://schemas.microsoft.com/office/drawing/2014/main" id="{9C7D28D0-DFA2-44D6-BFC1-A9BFCE66257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 name="右大括号 1">
            <a:extLst>
              <a:ext uri="{FF2B5EF4-FFF2-40B4-BE49-F238E27FC236}">
                <a16:creationId xmlns:a16="http://schemas.microsoft.com/office/drawing/2014/main" id="{3638BA82-E080-4AE8-9798-99BA55C7CC29}"/>
              </a:ext>
            </a:extLst>
          </p:cNvPr>
          <p:cNvSpPr/>
          <p:nvPr/>
        </p:nvSpPr>
        <p:spPr>
          <a:xfrm>
            <a:off x="7268479" y="3564158"/>
            <a:ext cx="407141" cy="1828800"/>
          </a:xfrm>
          <a:prstGeom prst="rightBrace">
            <a:avLst>
              <a:gd name="adj1" fmla="val 64071"/>
              <a:gd name="adj2" fmla="val 5000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4" name="文本框 13">
            <a:extLst>
              <a:ext uri="{FF2B5EF4-FFF2-40B4-BE49-F238E27FC236}">
                <a16:creationId xmlns:a16="http://schemas.microsoft.com/office/drawing/2014/main" id="{EFD87EA4-72DE-41C2-A503-2E43CD7E5404}"/>
              </a:ext>
            </a:extLst>
          </p:cNvPr>
          <p:cNvSpPr txBox="1"/>
          <p:nvPr/>
        </p:nvSpPr>
        <p:spPr>
          <a:xfrm>
            <a:off x="7731054" y="4263338"/>
            <a:ext cx="1245306" cy="497765"/>
          </a:xfrm>
          <a:prstGeom prst="rect">
            <a:avLst/>
          </a:prstGeom>
          <a:noFill/>
        </p:spPr>
        <p:txBody>
          <a:bodyPr wrap="square">
            <a:spAutoFit/>
          </a:bodyPr>
          <a:lstStyle/>
          <a:p>
            <a:pPr>
              <a:lnSpc>
                <a:spcPct val="120000"/>
              </a:lnSpc>
            </a:pPr>
            <a:r>
              <a:rPr lang="zh-CN" altLang="en-US" sz="2400" spc="300" dirty="0">
                <a:latin typeface="Times New Roman" panose="02020603050405020304" pitchFamily="18" charset="0"/>
                <a:ea typeface="微软雅黑" panose="020B0503020204020204" pitchFamily="34" charset="-122"/>
                <a:cs typeface="Times New Roman" panose="02020603050405020304" pitchFamily="18" charset="0"/>
              </a:rPr>
              <a:t>伺服阀</a:t>
            </a:r>
            <a:endParaRPr lang="en-US" altLang="zh-CN" sz="2400" spc="300" dirty="0">
              <a:latin typeface="Times New Roman" panose="02020603050405020304" pitchFamily="18" charset="0"/>
              <a:ea typeface="微软雅黑" panose="020B0503020204020204" pitchFamily="34" charset="-122"/>
              <a:cs typeface="Times New Roman" panose="02020603050405020304" pitchFamily="18" charset="0"/>
            </a:endParaRPr>
          </a:p>
        </p:txBody>
      </p:sp>
    </p:spTree>
    <p:extLst>
      <p:ext uri="{BB962C8B-B14F-4D97-AF65-F5344CB8AC3E}">
        <p14:creationId xmlns:p14="http://schemas.microsoft.com/office/powerpoint/2010/main" val="11862188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ea typeface="微软雅黑" panose="020B0503020204020204" pitchFamily="34" charset="-122"/>
                <a:cs typeface="Times New Roman" panose="02020603050405020304" pitchFamily="18" charset="0"/>
              </a:rPr>
              <a:t>10.1</a:t>
            </a:r>
            <a:r>
              <a:rPr lang="en-US" altLang="zh-CN" sz="3600" b="1" dirty="0">
                <a:solidFill>
                  <a:srgbClr val="003F88"/>
                </a:solidFill>
                <a:latin typeface="微软雅黑" panose="020B0503020204020204" pitchFamily="34" charset="-122"/>
                <a:ea typeface="微软雅黑" panose="020B0503020204020204" pitchFamily="34" charset="-122"/>
              </a:rPr>
              <a:t> </a:t>
            </a:r>
            <a:r>
              <a:rPr lang="zh-CN" altLang="en-US" sz="3600" b="1" dirty="0">
                <a:solidFill>
                  <a:srgbClr val="003F88"/>
                </a:solidFill>
                <a:latin typeface="微软雅黑" panose="020B0503020204020204" pitchFamily="34" charset="-122"/>
                <a:ea typeface="微软雅黑" panose="020B0503020204020204" pitchFamily="34" charset="-122"/>
              </a:rPr>
              <a:t>概念简述</a:t>
            </a:r>
          </a:p>
        </p:txBody>
      </p:sp>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微软雅黑" panose="020B0503020204020204" pitchFamily="34" charset="-122"/>
              <a:ea typeface="微软雅黑" panose="020B0503020204020204" pitchFamily="34" charset="-122"/>
            </a:endParaRPr>
          </a:p>
        </p:txBody>
      </p:sp>
      <p:sp>
        <p:nvSpPr>
          <p:cNvPr id="26" name="矩形 25">
            <a:extLst>
              <a:ext uri="{FF2B5EF4-FFF2-40B4-BE49-F238E27FC236}">
                <a16:creationId xmlns:a16="http://schemas.microsoft.com/office/drawing/2014/main" id="{08E12499-BFB8-47F3-BAC4-975EC1E1E5B1}"/>
              </a:ext>
            </a:extLst>
          </p:cNvPr>
          <p:cNvSpPr/>
          <p:nvPr/>
        </p:nvSpPr>
        <p:spPr>
          <a:xfrm>
            <a:off x="429656" y="893424"/>
            <a:ext cx="7547154" cy="581762"/>
          </a:xfrm>
          <a:prstGeom prst="rect">
            <a:avLst/>
          </a:prstGeom>
        </p:spPr>
        <p:txBody>
          <a:bodyPr wrap="square">
            <a:spAutoFit/>
          </a:bodyPr>
          <a:lstStyle/>
          <a:p>
            <a:pPr marL="457200" indent="-457200">
              <a:lnSpc>
                <a:spcPct val="125000"/>
              </a:lnSpc>
              <a:buFont typeface="Wingdings" panose="05000000000000000000" pitchFamily="2" charset="2"/>
              <a:buChar char="p"/>
            </a:pPr>
            <a:r>
              <a:rPr lang="zh-CN" altLang="en-US" sz="2800" b="1" dirty="0">
                <a:solidFill>
                  <a:srgbClr val="003F88"/>
                </a:solidFill>
                <a:latin typeface="微软雅黑" panose="020B0503020204020204" pitchFamily="34" charset="-122"/>
                <a:ea typeface="微软雅黑" panose="020B0503020204020204" pitchFamily="34" charset="-122"/>
              </a:rPr>
              <a:t>电液伺服阀概述</a:t>
            </a:r>
          </a:p>
        </p:txBody>
      </p:sp>
      <p:sp>
        <p:nvSpPr>
          <p:cNvPr id="3" name="矩形 2">
            <a:extLst>
              <a:ext uri="{FF2B5EF4-FFF2-40B4-BE49-F238E27FC236}">
                <a16:creationId xmlns:a16="http://schemas.microsoft.com/office/drawing/2014/main" id="{9A5FCDFC-0EFA-47A7-9154-DA3886079C1A}"/>
              </a:ext>
            </a:extLst>
          </p:cNvPr>
          <p:cNvSpPr/>
          <p:nvPr/>
        </p:nvSpPr>
        <p:spPr>
          <a:xfrm>
            <a:off x="639507" y="1634510"/>
            <a:ext cx="10704642" cy="2126095"/>
          </a:xfrm>
          <a:prstGeom prst="rect">
            <a:avLst/>
          </a:prstGeom>
        </p:spPr>
        <p:txBody>
          <a:bodyPr wrap="square">
            <a:spAutoFit/>
          </a:bodyPr>
          <a:lstStyle/>
          <a:p>
            <a:pPr>
              <a:lnSpc>
                <a:spcPct val="130000"/>
              </a:lnSpc>
            </a:pPr>
            <a:r>
              <a:rPr lang="zh-CN" altLang="en-US" sz="3200" dirty="0">
                <a:solidFill>
                  <a:srgbClr val="C00000"/>
                </a:solidFill>
                <a:latin typeface="+mn-ea"/>
              </a:rPr>
              <a:t>“伺服（</a:t>
            </a:r>
            <a:r>
              <a:rPr lang="en-US" altLang="zh-CN" sz="3200" dirty="0">
                <a:solidFill>
                  <a:srgbClr val="C00000"/>
                </a:solidFill>
                <a:latin typeface="+mn-ea"/>
              </a:rPr>
              <a:t>servo</a:t>
            </a:r>
            <a:r>
              <a:rPr lang="zh-CN" altLang="en-US" sz="3200" dirty="0">
                <a:solidFill>
                  <a:srgbClr val="C00000"/>
                </a:solidFill>
                <a:latin typeface="+mn-ea"/>
              </a:rPr>
              <a:t>）”</a:t>
            </a:r>
            <a:r>
              <a:rPr lang="en-US" altLang="zh-CN" sz="2400" dirty="0">
                <a:solidFill>
                  <a:srgbClr val="333333"/>
                </a:solidFill>
                <a:latin typeface="+mn-ea"/>
              </a:rPr>
              <a:t>—</a:t>
            </a:r>
            <a:r>
              <a:rPr lang="zh-CN" altLang="en-US" sz="2400" dirty="0">
                <a:solidFill>
                  <a:srgbClr val="333333"/>
                </a:solidFill>
                <a:latin typeface="+mn-ea"/>
              </a:rPr>
              <a:t>词源于</a:t>
            </a:r>
            <a:r>
              <a:rPr lang="zh-CN" altLang="en-US" sz="2400" dirty="0">
                <a:solidFill>
                  <a:srgbClr val="136EC2"/>
                </a:solidFill>
                <a:latin typeface="+mn-ea"/>
              </a:rPr>
              <a:t>希腊语</a:t>
            </a:r>
            <a:r>
              <a:rPr lang="zh-CN" altLang="en-US" sz="2400" dirty="0">
                <a:solidFill>
                  <a:srgbClr val="333333"/>
                </a:solidFill>
                <a:latin typeface="+mn-ea"/>
              </a:rPr>
              <a:t>“奴隶”的意思。人们想把“</a:t>
            </a:r>
            <a:r>
              <a:rPr lang="zh-CN" altLang="en-US" sz="2400" dirty="0">
                <a:solidFill>
                  <a:srgbClr val="136EC2"/>
                </a:solidFill>
                <a:latin typeface="+mn-ea"/>
              </a:rPr>
              <a:t>伺服机构</a:t>
            </a:r>
            <a:r>
              <a:rPr lang="zh-CN" altLang="en-US" sz="2400" dirty="0">
                <a:solidFill>
                  <a:srgbClr val="333333"/>
                </a:solidFill>
                <a:latin typeface="+mn-ea"/>
              </a:rPr>
              <a:t>”当个得心应手的驯服工具，服从</a:t>
            </a:r>
            <a:r>
              <a:rPr lang="zh-CN" altLang="en-US" sz="2400" dirty="0">
                <a:solidFill>
                  <a:srgbClr val="136EC2"/>
                </a:solidFill>
                <a:latin typeface="+mn-ea"/>
              </a:rPr>
              <a:t>控制信号</a:t>
            </a:r>
            <a:r>
              <a:rPr lang="zh-CN" altLang="en-US" sz="2400" dirty="0">
                <a:solidFill>
                  <a:srgbClr val="333333"/>
                </a:solidFill>
                <a:latin typeface="+mn-ea"/>
              </a:rPr>
              <a:t>的要求而动作。在讯号来到之前，转子静止不动；讯号来到之后，转子立即转动；当讯号消失，转子能即时自行停转。由于它的“伺服”性能，因此而得名</a:t>
            </a:r>
            <a:r>
              <a:rPr lang="en-US" altLang="zh-CN" sz="2400" dirty="0">
                <a:solidFill>
                  <a:srgbClr val="333333"/>
                </a:solidFill>
                <a:latin typeface="+mn-ea"/>
              </a:rPr>
              <a:t>——</a:t>
            </a:r>
            <a:r>
              <a:rPr lang="zh-CN" altLang="en-US" sz="2400" dirty="0">
                <a:solidFill>
                  <a:srgbClr val="136EC2"/>
                </a:solidFill>
                <a:latin typeface="+mn-ea"/>
              </a:rPr>
              <a:t>伺服系统</a:t>
            </a:r>
            <a:r>
              <a:rPr lang="zh-CN" altLang="en-US" sz="2400" dirty="0">
                <a:solidFill>
                  <a:srgbClr val="333333"/>
                </a:solidFill>
                <a:latin typeface="+mn-ea"/>
              </a:rPr>
              <a:t>。</a:t>
            </a:r>
            <a:endParaRPr lang="zh-CN" altLang="en-US" sz="2400" dirty="0">
              <a:latin typeface="+mn-ea"/>
            </a:endParaRPr>
          </a:p>
        </p:txBody>
      </p:sp>
      <p:sp>
        <p:nvSpPr>
          <p:cNvPr id="6" name="矩形 5">
            <a:extLst>
              <a:ext uri="{FF2B5EF4-FFF2-40B4-BE49-F238E27FC236}">
                <a16:creationId xmlns:a16="http://schemas.microsoft.com/office/drawing/2014/main" id="{44FE7165-602F-48F6-B167-91E3A5C24816}"/>
              </a:ext>
            </a:extLst>
          </p:cNvPr>
          <p:cNvSpPr/>
          <p:nvPr/>
        </p:nvSpPr>
        <p:spPr>
          <a:xfrm>
            <a:off x="743679" y="4160442"/>
            <a:ext cx="10704641" cy="2396297"/>
          </a:xfrm>
          <a:prstGeom prst="rect">
            <a:avLst/>
          </a:prstGeom>
        </p:spPr>
        <p:txBody>
          <a:bodyPr wrap="square">
            <a:spAutoFit/>
          </a:bodyPr>
          <a:lstStyle/>
          <a:p>
            <a:pPr>
              <a:lnSpc>
                <a:spcPct val="150000"/>
              </a:lnSpc>
              <a:spcBef>
                <a:spcPts val="1200"/>
              </a:spcBef>
            </a:pPr>
            <a:r>
              <a:rPr lang="zh-CN" altLang="en-US" sz="2400" dirty="0">
                <a:solidFill>
                  <a:srgbClr val="333333"/>
                </a:solidFill>
                <a:latin typeface="Helvetica Neue"/>
              </a:rPr>
              <a:t>（</a:t>
            </a:r>
            <a:r>
              <a:rPr lang="en-US" altLang="zh-CN" sz="2400" dirty="0">
                <a:solidFill>
                  <a:srgbClr val="333333"/>
                </a:solidFill>
                <a:latin typeface="Helvetica Neue"/>
              </a:rPr>
              <a:t>1</a:t>
            </a:r>
            <a:r>
              <a:rPr lang="zh-CN" altLang="en-US" sz="2400" dirty="0">
                <a:solidFill>
                  <a:srgbClr val="333333"/>
                </a:solidFill>
                <a:latin typeface="Helvetica Neue"/>
              </a:rPr>
              <a:t>）伺服系统：是使物体的位置、方位、状态等输出，能够跟随输入量（或</a:t>
            </a:r>
            <a:r>
              <a:rPr lang="zh-CN" altLang="en-US" sz="2400" dirty="0">
                <a:solidFill>
                  <a:srgbClr val="136EC2"/>
                </a:solidFill>
                <a:latin typeface="Helvetica Neue"/>
              </a:rPr>
              <a:t>给定值</a:t>
            </a:r>
            <a:r>
              <a:rPr lang="zh-CN" altLang="en-US" sz="2400" dirty="0">
                <a:solidFill>
                  <a:srgbClr val="333333"/>
                </a:solidFill>
                <a:latin typeface="Helvetica Neue"/>
              </a:rPr>
              <a:t>）的任意变化而变化的</a:t>
            </a:r>
            <a:r>
              <a:rPr lang="zh-CN" altLang="en-US" sz="2400" dirty="0">
                <a:solidFill>
                  <a:srgbClr val="136EC2"/>
                </a:solidFill>
                <a:latin typeface="Helvetica Neue"/>
              </a:rPr>
              <a:t>自动控制系统</a:t>
            </a:r>
            <a:r>
              <a:rPr lang="zh-CN" altLang="en-US" sz="2400" dirty="0">
                <a:solidFill>
                  <a:srgbClr val="333333"/>
                </a:solidFill>
                <a:latin typeface="Helvetica Neue"/>
              </a:rPr>
              <a:t>。</a:t>
            </a:r>
          </a:p>
          <a:p>
            <a:pPr>
              <a:lnSpc>
                <a:spcPct val="150000"/>
              </a:lnSpc>
              <a:spcBef>
                <a:spcPts val="1200"/>
              </a:spcBef>
            </a:pPr>
            <a:r>
              <a:rPr lang="zh-CN" altLang="en-US" sz="2400" dirty="0">
                <a:solidFill>
                  <a:srgbClr val="333333"/>
                </a:solidFill>
                <a:latin typeface="Helvetica Neue"/>
              </a:rPr>
              <a:t>（</a:t>
            </a:r>
            <a:r>
              <a:rPr lang="en-US" altLang="zh-CN" sz="2400" dirty="0">
                <a:solidFill>
                  <a:srgbClr val="333333"/>
                </a:solidFill>
                <a:latin typeface="Helvetica Neue"/>
              </a:rPr>
              <a:t>2</a:t>
            </a:r>
            <a:r>
              <a:rPr lang="zh-CN" altLang="en-US" sz="2400" dirty="0">
                <a:solidFill>
                  <a:srgbClr val="333333"/>
                </a:solidFill>
                <a:latin typeface="Helvetica Neue"/>
              </a:rPr>
              <a:t>）在自动控制系统中，能够以一定的</a:t>
            </a:r>
            <a:r>
              <a:rPr lang="zh-CN" altLang="en-US" sz="2400" dirty="0">
                <a:solidFill>
                  <a:srgbClr val="136EC2"/>
                </a:solidFill>
                <a:latin typeface="Helvetica Neue"/>
              </a:rPr>
              <a:t>准确度</a:t>
            </a:r>
            <a:r>
              <a:rPr lang="zh-CN" altLang="en-US" sz="2400" dirty="0">
                <a:solidFill>
                  <a:srgbClr val="333333"/>
                </a:solidFill>
                <a:latin typeface="Helvetica Neue"/>
              </a:rPr>
              <a:t>响应控制信号的系统称为随动系统，亦称</a:t>
            </a:r>
            <a:r>
              <a:rPr lang="zh-CN" altLang="en-US" sz="2400" dirty="0">
                <a:solidFill>
                  <a:srgbClr val="136EC2"/>
                </a:solidFill>
                <a:latin typeface="Helvetica Neue"/>
              </a:rPr>
              <a:t>伺服系统</a:t>
            </a:r>
            <a:r>
              <a:rPr lang="zh-CN" altLang="en-US" sz="2400" dirty="0">
                <a:solidFill>
                  <a:srgbClr val="333333"/>
                </a:solidFill>
                <a:latin typeface="Helvetica Neue"/>
              </a:rPr>
              <a:t>。</a:t>
            </a:r>
            <a:endParaRPr lang="zh-CN" altLang="en-US" sz="2400" b="0" i="0" dirty="0">
              <a:solidFill>
                <a:srgbClr val="333333"/>
              </a:solidFill>
              <a:effectLst/>
              <a:latin typeface="Helvetica Neue"/>
            </a:endParaRPr>
          </a:p>
        </p:txBody>
      </p:sp>
    </p:spTree>
    <p:extLst>
      <p:ext uri="{BB962C8B-B14F-4D97-AF65-F5344CB8AC3E}">
        <p14:creationId xmlns:p14="http://schemas.microsoft.com/office/powerpoint/2010/main" val="5421990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ea typeface="微软雅黑" panose="020B0503020204020204" pitchFamily="34" charset="-122"/>
                <a:cs typeface="Times New Roman" panose="02020603050405020304" pitchFamily="18" charset="0"/>
              </a:rPr>
              <a:t>10.1</a:t>
            </a:r>
            <a:r>
              <a:rPr lang="en-US" altLang="zh-CN" sz="3600" b="1" dirty="0">
                <a:solidFill>
                  <a:srgbClr val="003F88"/>
                </a:solidFill>
                <a:latin typeface="微软雅黑" panose="020B0503020204020204" pitchFamily="34" charset="-122"/>
                <a:ea typeface="微软雅黑" panose="020B0503020204020204" pitchFamily="34" charset="-122"/>
              </a:rPr>
              <a:t> </a:t>
            </a:r>
            <a:r>
              <a:rPr lang="zh-CN" altLang="en-US" sz="3600" b="1" dirty="0">
                <a:solidFill>
                  <a:srgbClr val="003F88"/>
                </a:solidFill>
                <a:latin typeface="微软雅黑" panose="020B0503020204020204" pitchFamily="34" charset="-122"/>
                <a:ea typeface="微软雅黑" panose="020B0503020204020204" pitchFamily="34" charset="-122"/>
              </a:rPr>
              <a:t>概念简述</a:t>
            </a:r>
          </a:p>
        </p:txBody>
      </p:sp>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微软雅黑" panose="020B0503020204020204" pitchFamily="34" charset="-122"/>
              <a:ea typeface="微软雅黑" panose="020B0503020204020204" pitchFamily="34" charset="-122"/>
            </a:endParaRPr>
          </a:p>
        </p:txBody>
      </p:sp>
      <p:sp>
        <p:nvSpPr>
          <p:cNvPr id="26" name="矩形 25">
            <a:extLst>
              <a:ext uri="{FF2B5EF4-FFF2-40B4-BE49-F238E27FC236}">
                <a16:creationId xmlns:a16="http://schemas.microsoft.com/office/drawing/2014/main" id="{08E12499-BFB8-47F3-BAC4-975EC1E1E5B1}"/>
              </a:ext>
            </a:extLst>
          </p:cNvPr>
          <p:cNvSpPr/>
          <p:nvPr/>
        </p:nvSpPr>
        <p:spPr>
          <a:xfrm>
            <a:off x="429656" y="893424"/>
            <a:ext cx="7547154" cy="581762"/>
          </a:xfrm>
          <a:prstGeom prst="rect">
            <a:avLst/>
          </a:prstGeom>
        </p:spPr>
        <p:txBody>
          <a:bodyPr wrap="square">
            <a:spAutoFit/>
          </a:bodyPr>
          <a:lstStyle/>
          <a:p>
            <a:pPr marL="457200" indent="-457200">
              <a:lnSpc>
                <a:spcPct val="125000"/>
              </a:lnSpc>
              <a:buFont typeface="Wingdings" panose="05000000000000000000" pitchFamily="2" charset="2"/>
              <a:buChar char="p"/>
            </a:pPr>
            <a:r>
              <a:rPr lang="zh-CN" altLang="en-US" sz="2800" b="1" dirty="0">
                <a:solidFill>
                  <a:srgbClr val="003F88"/>
                </a:solidFill>
                <a:latin typeface="微软雅黑" panose="020B0503020204020204" pitchFamily="34" charset="-122"/>
                <a:ea typeface="微软雅黑" panose="020B0503020204020204" pitchFamily="34" charset="-122"/>
              </a:rPr>
              <a:t>电液伺服阀概述</a:t>
            </a:r>
          </a:p>
        </p:txBody>
      </p:sp>
      <p:sp>
        <p:nvSpPr>
          <p:cNvPr id="4" name="Content Placeholder 2">
            <a:extLst>
              <a:ext uri="{FF2B5EF4-FFF2-40B4-BE49-F238E27FC236}">
                <a16:creationId xmlns:a16="http://schemas.microsoft.com/office/drawing/2014/main" id="{22F4E4E1-F8F8-DA9D-122D-291E709A332C}"/>
              </a:ext>
            </a:extLst>
          </p:cNvPr>
          <p:cNvSpPr txBox="1"/>
          <p:nvPr/>
        </p:nvSpPr>
        <p:spPr bwMode="auto">
          <a:xfrm>
            <a:off x="1286719" y="1480387"/>
            <a:ext cx="9500886" cy="5080768"/>
          </a:xfrm>
          <a:prstGeom prst="rect">
            <a:avLst/>
          </a:prstGeom>
          <a:noFill/>
          <a:ln w="9525">
            <a:noFill/>
            <a:miter lim="800000"/>
          </a:ln>
        </p:spPr>
        <p:txBody>
          <a:bodyPr vert="horz" wrap="square" lIns="91440" tIns="45720" rIns="91440" bIns="45720" numCol="1" anchor="t" anchorCtr="0" compatLnSpc="1"/>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algn="just">
              <a:lnSpc>
                <a:spcPct val="150000"/>
              </a:lnSpc>
              <a:buFont typeface="Arial" panose="020B0604020202020204" pitchFamily="34" charset="0"/>
              <a:buChar char="•"/>
            </a:pPr>
            <a:r>
              <a:rPr lang="zh-CN" altLang="en-US" sz="2000" kern="0" dirty="0">
                <a:latin typeface="微软雅黑" panose="020B0503020204020204" pitchFamily="34" charset="-122"/>
                <a:ea typeface="微软雅黑" panose="020B0503020204020204" pitchFamily="34" charset="-122"/>
              </a:rPr>
              <a:t>定义：</a:t>
            </a:r>
            <a:r>
              <a:rPr lang="zh-CN" altLang="en-US" sz="2000" dirty="0">
                <a:latin typeface="微软雅黑" panose="020B0503020204020204" pitchFamily="34" charset="-122"/>
                <a:ea typeface="微软雅黑" panose="020B0503020204020204" pitchFamily="34" charset="-122"/>
              </a:rPr>
              <a:t>电液伺服阀是一种</a:t>
            </a:r>
            <a:r>
              <a:rPr lang="zh-CN" altLang="en-US" sz="2000" dirty="0">
                <a:solidFill>
                  <a:srgbClr val="FF0000"/>
                </a:solidFill>
                <a:latin typeface="微软雅黑" panose="020B0503020204020204" pitchFamily="34" charset="-122"/>
                <a:ea typeface="微软雅黑" panose="020B0503020204020204" pitchFamily="34" charset="-122"/>
              </a:rPr>
              <a:t>变电气信号为液压信号以实现流量或压力控制的转换装置。其控制灵活、精度高、快速性好、输出功率大，兼具电和液压的优点：</a:t>
            </a:r>
            <a:endParaRPr lang="en-US" altLang="zh-CN" sz="2000" dirty="0">
              <a:latin typeface="微软雅黑" panose="020B0503020204020204" pitchFamily="34" charset="-122"/>
              <a:ea typeface="微软雅黑" panose="020B0503020204020204" pitchFamily="34" charset="-122"/>
            </a:endParaRPr>
          </a:p>
          <a:p>
            <a:pPr marL="342900" indent="-342900" algn="just">
              <a:lnSpc>
                <a:spcPct val="150000"/>
              </a:lnSpc>
              <a:buFont typeface="Wingdings" panose="05000000000000000000" pitchFamily="2" charset="2"/>
              <a:buChar char="Ø"/>
            </a:pPr>
            <a:r>
              <a:rPr lang="zh-CN" altLang="en-US" sz="2000" dirty="0">
                <a:solidFill>
                  <a:srgbClr val="0070C0"/>
                </a:solidFill>
                <a:latin typeface="微软雅黑" panose="020B0503020204020204" pitchFamily="34" charset="-122"/>
                <a:ea typeface="微软雅黑" panose="020B0503020204020204" pitchFamily="34" charset="-122"/>
              </a:rPr>
              <a:t>电气信号</a:t>
            </a:r>
            <a:r>
              <a:rPr lang="zh-CN" altLang="en-US" sz="2000" dirty="0">
                <a:latin typeface="微软雅黑" panose="020B0503020204020204" pitchFamily="34" charset="-122"/>
                <a:ea typeface="微软雅黑" panose="020B0503020204020204" pitchFamily="34" charset="-122"/>
              </a:rPr>
              <a:t>传递快</a:t>
            </a:r>
            <a:r>
              <a:rPr lang="en-US" altLang="zh-CN" sz="2000" dirty="0">
                <a:latin typeface="微软雅黑" panose="020B0503020204020204" pitchFamily="34" charset="-122"/>
                <a:ea typeface="微软雅黑" panose="020B0503020204020204" pitchFamily="34" charset="-122"/>
              </a:rPr>
              <a:t>,</a:t>
            </a:r>
            <a:r>
              <a:rPr lang="zh-CN" altLang="en-US" sz="2000" dirty="0">
                <a:latin typeface="微软雅黑" panose="020B0503020204020204" pitchFamily="34" charset="-122"/>
                <a:ea typeface="微软雅黑" panose="020B0503020204020204" pitchFamily="34" charset="-122"/>
              </a:rPr>
              <a:t>线路连接方便</a:t>
            </a:r>
            <a:r>
              <a:rPr lang="en-US" altLang="zh-CN" sz="2000" dirty="0">
                <a:latin typeface="微软雅黑" panose="020B0503020204020204" pitchFamily="34" charset="-122"/>
                <a:ea typeface="微软雅黑" panose="020B0503020204020204" pitchFamily="34" charset="-122"/>
              </a:rPr>
              <a:t>,</a:t>
            </a:r>
            <a:r>
              <a:rPr lang="zh-CN" altLang="en-US" sz="2000" dirty="0">
                <a:latin typeface="微软雅黑" panose="020B0503020204020204" pitchFamily="34" charset="-122"/>
                <a:ea typeface="微软雅黑" panose="020B0503020204020204" pitchFamily="34" charset="-122"/>
              </a:rPr>
              <a:t>适于远距离控制</a:t>
            </a:r>
            <a:r>
              <a:rPr lang="en-US" altLang="zh-CN" sz="2000" dirty="0">
                <a:latin typeface="微软雅黑" panose="020B0503020204020204" pitchFamily="34" charset="-122"/>
                <a:ea typeface="微软雅黑" panose="020B0503020204020204" pitchFamily="34" charset="-122"/>
              </a:rPr>
              <a:t>,</a:t>
            </a:r>
            <a:r>
              <a:rPr lang="zh-CN" altLang="en-US" sz="2000" dirty="0">
                <a:latin typeface="微软雅黑" panose="020B0503020204020204" pitchFamily="34" charset="-122"/>
                <a:ea typeface="微软雅黑" panose="020B0503020204020204" pitchFamily="34" charset="-122"/>
              </a:rPr>
              <a:t>易于测量、比较和校正</a:t>
            </a:r>
            <a:endParaRPr lang="en-US" altLang="zh-CN" sz="2000" dirty="0">
              <a:latin typeface="微软雅黑" panose="020B0503020204020204" pitchFamily="34" charset="-122"/>
              <a:ea typeface="微软雅黑" panose="020B0503020204020204" pitchFamily="34" charset="-122"/>
            </a:endParaRPr>
          </a:p>
          <a:p>
            <a:pPr marL="342900" indent="-342900" algn="just">
              <a:lnSpc>
                <a:spcPct val="150000"/>
              </a:lnSpc>
              <a:buFont typeface="Wingdings" panose="05000000000000000000" pitchFamily="2" charset="2"/>
              <a:buChar char="Ø"/>
            </a:pPr>
            <a:r>
              <a:rPr lang="zh-CN" altLang="en-US" sz="2000" dirty="0">
                <a:solidFill>
                  <a:srgbClr val="0070C0"/>
                </a:solidFill>
                <a:latin typeface="微软雅黑" panose="020B0503020204020204" pitchFamily="34" charset="-122"/>
                <a:ea typeface="微软雅黑" panose="020B0503020204020204" pitchFamily="34" charset="-122"/>
              </a:rPr>
              <a:t>液压动力</a:t>
            </a:r>
            <a:r>
              <a:rPr lang="zh-CN" altLang="en-US" sz="2000" dirty="0">
                <a:latin typeface="微软雅黑" panose="020B0503020204020204" pitchFamily="34" charset="-122"/>
                <a:ea typeface="微软雅黑" panose="020B0503020204020204" pitchFamily="34" charset="-122"/>
              </a:rPr>
              <a:t>输出力大、惯性小、反应快</a:t>
            </a:r>
            <a:endParaRPr lang="en-US" altLang="zh-CN" sz="2000" kern="0" dirty="0">
              <a:solidFill>
                <a:srgbClr val="FF0000"/>
              </a:solidFill>
              <a:latin typeface="微软雅黑" panose="020B0503020204020204" pitchFamily="34" charset="-122"/>
              <a:ea typeface="微软雅黑" panose="020B0503020204020204" pitchFamily="34" charset="-122"/>
            </a:endParaRPr>
          </a:p>
          <a:p>
            <a:pPr algn="just">
              <a:lnSpc>
                <a:spcPct val="150000"/>
              </a:lnSpc>
              <a:buFont typeface="Arial" panose="020B0604020202020204" pitchFamily="34" charset="0"/>
              <a:buChar char="•"/>
            </a:pPr>
            <a:r>
              <a:rPr lang="zh-CN" altLang="en-US" sz="2000" kern="0" dirty="0">
                <a:latin typeface="微软雅黑" panose="020B0503020204020204" pitchFamily="34" charset="-122"/>
                <a:ea typeface="微软雅黑" panose="020B0503020204020204" pitchFamily="34" charset="-122"/>
              </a:rPr>
              <a:t>分类：按输出和反馈液压参数不同，分为</a:t>
            </a:r>
            <a:r>
              <a:rPr lang="zh-CN" altLang="en-US" sz="2000" kern="0" dirty="0">
                <a:solidFill>
                  <a:srgbClr val="FF0000"/>
                </a:solidFill>
                <a:latin typeface="微软雅黑" panose="020B0503020204020204" pitchFamily="34" charset="-122"/>
                <a:ea typeface="微软雅黑" panose="020B0503020204020204" pitchFamily="34" charset="-122"/>
              </a:rPr>
              <a:t>流量伺服阀</a:t>
            </a:r>
            <a:r>
              <a:rPr lang="zh-CN" altLang="en-US" sz="2000" kern="0" dirty="0">
                <a:latin typeface="微软雅黑" panose="020B0503020204020204" pitchFamily="34" charset="-122"/>
                <a:ea typeface="微软雅黑" panose="020B0503020204020204" pitchFamily="34" charset="-122"/>
              </a:rPr>
              <a:t>和</a:t>
            </a:r>
            <a:r>
              <a:rPr lang="zh-CN" altLang="en-US" sz="2000" kern="0" dirty="0">
                <a:solidFill>
                  <a:srgbClr val="FF0000"/>
                </a:solidFill>
                <a:latin typeface="微软雅黑" panose="020B0503020204020204" pitchFamily="34" charset="-122"/>
                <a:ea typeface="微软雅黑" panose="020B0503020204020204" pitchFamily="34" charset="-122"/>
              </a:rPr>
              <a:t>压力伺服阀</a:t>
            </a:r>
            <a:r>
              <a:rPr lang="zh-CN" altLang="en-US" sz="2000" kern="0" dirty="0">
                <a:latin typeface="微软雅黑" panose="020B0503020204020204" pitchFamily="34" charset="-122"/>
                <a:ea typeface="微软雅黑" panose="020B0503020204020204" pitchFamily="34" charset="-122"/>
              </a:rPr>
              <a:t>。</a:t>
            </a:r>
            <a:endParaRPr lang="en-US" altLang="zh-CN" sz="2000" kern="0" dirty="0">
              <a:latin typeface="微软雅黑" panose="020B0503020204020204" pitchFamily="34" charset="-122"/>
              <a:ea typeface="微软雅黑" panose="020B0503020204020204" pitchFamily="34" charset="-122"/>
            </a:endParaRPr>
          </a:p>
          <a:p>
            <a:pPr algn="just">
              <a:lnSpc>
                <a:spcPct val="150000"/>
              </a:lnSpc>
              <a:buFont typeface="Arial" panose="020B0604020202020204" pitchFamily="34" charset="0"/>
              <a:buChar char="•"/>
            </a:pPr>
            <a:endParaRPr lang="en-US" altLang="zh-CN" sz="2000" kern="0" dirty="0">
              <a:latin typeface="微软雅黑" panose="020B0503020204020204" pitchFamily="34" charset="-122"/>
              <a:ea typeface="微软雅黑" panose="020B0503020204020204" pitchFamily="34" charset="-122"/>
            </a:endParaRPr>
          </a:p>
          <a:p>
            <a:pPr algn="just">
              <a:lnSpc>
                <a:spcPct val="150000"/>
              </a:lnSpc>
              <a:buFont typeface="Arial" panose="020B0604020202020204" pitchFamily="34" charset="0"/>
              <a:buChar char="•"/>
            </a:pPr>
            <a:endParaRPr lang="en-US" altLang="zh-CN" sz="2000" kern="0" dirty="0">
              <a:latin typeface="微软雅黑" panose="020B0503020204020204" pitchFamily="34" charset="-122"/>
              <a:ea typeface="微软雅黑" panose="020B0503020204020204" pitchFamily="34" charset="-122"/>
            </a:endParaRPr>
          </a:p>
          <a:p>
            <a:pPr algn="just">
              <a:lnSpc>
                <a:spcPct val="150000"/>
              </a:lnSpc>
              <a:buFont typeface="Arial" panose="020B0604020202020204" pitchFamily="34" charset="0"/>
              <a:buChar char="•"/>
            </a:pPr>
            <a:endParaRPr lang="en-US" altLang="zh-CN" sz="2000" kern="0" dirty="0">
              <a:latin typeface="微软雅黑" panose="020B0503020204020204" pitchFamily="34" charset="-122"/>
              <a:ea typeface="微软雅黑" panose="020B0503020204020204" pitchFamily="34" charset="-122"/>
            </a:endParaRPr>
          </a:p>
          <a:p>
            <a:pPr algn="just">
              <a:lnSpc>
                <a:spcPct val="150000"/>
              </a:lnSpc>
              <a:buFont typeface="Arial" panose="020B0604020202020204" pitchFamily="34" charset="0"/>
              <a:buChar char="•"/>
            </a:pPr>
            <a:endParaRPr lang="en-US" altLang="zh-CN" sz="2000" kern="0" dirty="0">
              <a:latin typeface="微软雅黑" panose="020B0503020204020204" pitchFamily="34" charset="-122"/>
              <a:ea typeface="微软雅黑" panose="020B0503020204020204" pitchFamily="34" charset="-122"/>
            </a:endParaRPr>
          </a:p>
        </p:txBody>
      </p:sp>
      <p:pic>
        <p:nvPicPr>
          <p:cNvPr id="2" name="图片 1">
            <a:extLst>
              <a:ext uri="{FF2B5EF4-FFF2-40B4-BE49-F238E27FC236}">
                <a16:creationId xmlns:a16="http://schemas.microsoft.com/office/drawing/2014/main" id="{7B702C2C-AEED-32BC-CFA2-D53671B90F7E}"/>
              </a:ext>
            </a:extLst>
          </p:cNvPr>
          <p:cNvPicPr>
            <a:picLocks noChangeAspect="1"/>
          </p:cNvPicPr>
          <p:nvPr/>
        </p:nvPicPr>
        <p:blipFill>
          <a:blip r:embed="rId4"/>
          <a:stretch>
            <a:fillRect/>
          </a:stretch>
        </p:blipFill>
        <p:spPr>
          <a:xfrm>
            <a:off x="2436220" y="4096758"/>
            <a:ext cx="2537680" cy="2301439"/>
          </a:xfrm>
          <a:prstGeom prst="rect">
            <a:avLst/>
          </a:prstGeom>
        </p:spPr>
      </p:pic>
      <p:sp>
        <p:nvSpPr>
          <p:cNvPr id="10" name="文本框 9">
            <a:extLst>
              <a:ext uri="{FF2B5EF4-FFF2-40B4-BE49-F238E27FC236}">
                <a16:creationId xmlns:a16="http://schemas.microsoft.com/office/drawing/2014/main" id="{F449D762-C6ED-4FBC-8C00-08BEAC71B964}"/>
              </a:ext>
            </a:extLst>
          </p:cNvPr>
          <p:cNvSpPr txBox="1"/>
          <p:nvPr/>
        </p:nvSpPr>
        <p:spPr>
          <a:xfrm>
            <a:off x="1679588" y="6418454"/>
            <a:ext cx="3918031" cy="369332"/>
          </a:xfrm>
          <a:prstGeom prst="rect">
            <a:avLst/>
          </a:prstGeom>
          <a:noFill/>
        </p:spPr>
        <p:txBody>
          <a:bodyPr wrap="square">
            <a:spAutoFit/>
          </a:bodyPr>
          <a:lstStyle/>
          <a:p>
            <a:pPr algn="ctr"/>
            <a:r>
              <a:rPr lang="en-US" altLang="zh-CN" sz="1800" kern="0" dirty="0">
                <a:latin typeface="Times New Roman" panose="02020603050405020304" pitchFamily="18" charset="0"/>
                <a:ea typeface="微软雅黑" panose="020B0503020204020204" pitchFamily="34" charset="-122"/>
                <a:cs typeface="Times New Roman" panose="02020603050405020304" pitchFamily="18" charset="0"/>
              </a:rPr>
              <a:t>MOOG</a:t>
            </a:r>
            <a:r>
              <a:rPr lang="zh-CN" altLang="en-US" sz="1800" kern="0" dirty="0">
                <a:latin typeface="Times New Roman" panose="02020603050405020304" pitchFamily="18" charset="0"/>
                <a:ea typeface="微软雅黑" panose="020B0503020204020204" pitchFamily="34" charset="-122"/>
                <a:cs typeface="Times New Roman" panose="02020603050405020304" pitchFamily="18" charset="0"/>
              </a:rPr>
              <a:t>伺服阀</a:t>
            </a:r>
            <a:endParaRPr lang="zh-CN" altLang="en-US" sz="1800" dirty="0">
              <a:latin typeface="Times New Roman" panose="02020603050405020304" pitchFamily="18" charset="0"/>
              <a:cs typeface="Times New Roman" panose="02020603050405020304" pitchFamily="18" charset="0"/>
            </a:endParaRPr>
          </a:p>
        </p:txBody>
      </p:sp>
      <p:sp>
        <p:nvSpPr>
          <p:cNvPr id="11" name="文本框 10">
            <a:extLst>
              <a:ext uri="{FF2B5EF4-FFF2-40B4-BE49-F238E27FC236}">
                <a16:creationId xmlns:a16="http://schemas.microsoft.com/office/drawing/2014/main" id="{385E127E-A238-43D3-ABD7-641C3A866DDA}"/>
              </a:ext>
            </a:extLst>
          </p:cNvPr>
          <p:cNvSpPr txBox="1"/>
          <p:nvPr/>
        </p:nvSpPr>
        <p:spPr>
          <a:xfrm>
            <a:off x="6454682" y="6418454"/>
            <a:ext cx="3918031" cy="369332"/>
          </a:xfrm>
          <a:prstGeom prst="rect">
            <a:avLst/>
          </a:prstGeom>
          <a:noFill/>
        </p:spPr>
        <p:txBody>
          <a:bodyPr wrap="square">
            <a:spAutoFit/>
          </a:bodyPr>
          <a:lstStyle/>
          <a:p>
            <a:pPr algn="ctr"/>
            <a:r>
              <a:rPr lang="en-US" altLang="zh-CN" sz="1800" kern="0" dirty="0">
                <a:latin typeface="Times New Roman" panose="02020603050405020304" pitchFamily="18" charset="0"/>
                <a:ea typeface="微软雅黑" panose="020B0503020204020204" pitchFamily="34" charset="-122"/>
                <a:cs typeface="Times New Roman" panose="02020603050405020304" pitchFamily="18" charset="0"/>
              </a:rPr>
              <a:t>Parker</a:t>
            </a:r>
            <a:r>
              <a:rPr lang="zh-CN" altLang="en-US" sz="1800" kern="0" dirty="0">
                <a:latin typeface="Times New Roman" panose="02020603050405020304" pitchFamily="18" charset="0"/>
                <a:ea typeface="微软雅黑" panose="020B0503020204020204" pitchFamily="34" charset="-122"/>
                <a:cs typeface="Times New Roman" panose="02020603050405020304" pitchFamily="18" charset="0"/>
              </a:rPr>
              <a:t>伺服阀</a:t>
            </a:r>
            <a:endParaRPr lang="zh-CN" altLang="en-US" sz="1800" dirty="0">
              <a:latin typeface="Times New Roman" panose="02020603050405020304" pitchFamily="18" charset="0"/>
              <a:cs typeface="Times New Roman" panose="02020603050405020304" pitchFamily="18" charset="0"/>
            </a:endParaRPr>
          </a:p>
        </p:txBody>
      </p:sp>
      <p:pic>
        <p:nvPicPr>
          <p:cNvPr id="7170" name="Picture 2" descr="https://img0.baidu.com/it/u=216656385,3154659227&amp;fm=253&amp;fmt=auto&amp;app=120&amp;f=JPEG?w=360&amp;h=238">
            <a:extLst>
              <a:ext uri="{FF2B5EF4-FFF2-40B4-BE49-F238E27FC236}">
                <a16:creationId xmlns:a16="http://schemas.microsoft.com/office/drawing/2014/main" id="{A52A2A86-1C78-4090-8E71-3B810280438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54682" y="3924873"/>
            <a:ext cx="3741162" cy="24733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535595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ea typeface="微软雅黑" panose="020B0503020204020204" pitchFamily="34" charset="-122"/>
                <a:cs typeface="Times New Roman" panose="02020603050405020304" pitchFamily="18" charset="0"/>
              </a:rPr>
              <a:t>10.2 </a:t>
            </a:r>
            <a:r>
              <a:rPr lang="zh-CN" altLang="en-US" sz="3600" b="1" dirty="0">
                <a:solidFill>
                  <a:srgbClr val="003F88"/>
                </a:solidFill>
                <a:latin typeface="Times New Roman" panose="02020603050405020304" pitchFamily="18" charset="0"/>
                <a:ea typeface="微软雅黑" panose="020B0503020204020204" pitchFamily="34" charset="-122"/>
                <a:cs typeface="Times New Roman" panose="02020603050405020304" pitchFamily="18" charset="0"/>
              </a:rPr>
              <a:t>工作原理</a:t>
            </a:r>
          </a:p>
        </p:txBody>
      </p:sp>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26" name="矩形 25">
            <a:extLst>
              <a:ext uri="{FF2B5EF4-FFF2-40B4-BE49-F238E27FC236}">
                <a16:creationId xmlns:a16="http://schemas.microsoft.com/office/drawing/2014/main" id="{08E12499-BFB8-47F3-BAC4-975EC1E1E5B1}"/>
              </a:ext>
            </a:extLst>
          </p:cNvPr>
          <p:cNvSpPr/>
          <p:nvPr/>
        </p:nvSpPr>
        <p:spPr>
          <a:xfrm>
            <a:off x="429656" y="893424"/>
            <a:ext cx="7547154" cy="581762"/>
          </a:xfrm>
          <a:prstGeom prst="rect">
            <a:avLst/>
          </a:prstGeom>
        </p:spPr>
        <p:txBody>
          <a:bodyPr wrap="square">
            <a:spAutoFit/>
          </a:bodyPr>
          <a:lstStyle/>
          <a:p>
            <a:pPr marL="457200" indent="-457200">
              <a:lnSpc>
                <a:spcPct val="125000"/>
              </a:lnSpc>
              <a:buFont typeface="Wingdings" panose="05000000000000000000" pitchFamily="2" charset="2"/>
              <a:buChar char="p"/>
            </a:pPr>
            <a:r>
              <a:rPr lang="zh-CN" altLang="en-US" sz="2800" b="1" dirty="0">
                <a:solidFill>
                  <a:srgbClr val="003F88"/>
                </a:solidFill>
                <a:latin typeface="微软雅黑" panose="020B0503020204020204" pitchFamily="34" charset="-122"/>
                <a:ea typeface="微软雅黑" panose="020B0503020204020204" pitchFamily="34" charset="-122"/>
              </a:rPr>
              <a:t>电液伺服阀工作原理</a:t>
            </a:r>
          </a:p>
        </p:txBody>
      </p:sp>
      <p:sp>
        <p:nvSpPr>
          <p:cNvPr id="12" name="文本框 11">
            <a:extLst>
              <a:ext uri="{FF2B5EF4-FFF2-40B4-BE49-F238E27FC236}">
                <a16:creationId xmlns:a16="http://schemas.microsoft.com/office/drawing/2014/main" id="{F34F2A7C-E3F8-6003-C4AA-6D496ED47A8E}"/>
              </a:ext>
            </a:extLst>
          </p:cNvPr>
          <p:cNvSpPr txBox="1"/>
          <p:nvPr/>
        </p:nvSpPr>
        <p:spPr>
          <a:xfrm>
            <a:off x="625032" y="1456675"/>
            <a:ext cx="10787606" cy="2530757"/>
          </a:xfrm>
          <a:prstGeom prst="rect">
            <a:avLst/>
          </a:prstGeom>
          <a:noFill/>
        </p:spPr>
        <p:txBody>
          <a:bodyPr wrap="square">
            <a:spAutoFit/>
          </a:bodyPr>
          <a:lstStyle/>
          <a:p>
            <a:pPr marL="342900" indent="-342900">
              <a:lnSpc>
                <a:spcPct val="150000"/>
              </a:lnSpc>
              <a:buFont typeface="Arial" panose="020B0604020202020204" pitchFamily="34" charset="0"/>
              <a:buChar char="•"/>
            </a:pPr>
            <a:r>
              <a:rPr lang="zh-CN" altLang="en-US" sz="2000" dirty="0">
                <a:latin typeface="Times New Roman" panose="02020603050405020304" pitchFamily="18" charset="0"/>
                <a:ea typeface="微软雅黑" panose="020B0503020204020204" pitchFamily="34" charset="-122"/>
                <a:cs typeface="Times New Roman" panose="02020603050405020304" pitchFamily="18" charset="0"/>
              </a:rPr>
              <a:t>电液伺服阀用</a:t>
            </a:r>
            <a:r>
              <a:rPr lang="zh-CN" altLang="en-US" sz="2400" b="1" dirty="0">
                <a:solidFill>
                  <a:srgbClr val="0070C0"/>
                </a:solidFill>
                <a:latin typeface="Times New Roman" panose="02020603050405020304" pitchFamily="18" charset="0"/>
                <a:ea typeface="微软雅黑" panose="020B0503020204020204" pitchFamily="34" charset="-122"/>
                <a:cs typeface="Times New Roman" panose="02020603050405020304" pitchFamily="18" charset="0"/>
              </a:rPr>
              <a:t>伺服放大器</a:t>
            </a:r>
            <a:r>
              <a:rPr lang="zh-CN" altLang="en-US" sz="2000" dirty="0">
                <a:latin typeface="Times New Roman" panose="02020603050405020304" pitchFamily="18" charset="0"/>
                <a:ea typeface="微软雅黑" panose="020B0503020204020204" pitchFamily="34" charset="-122"/>
                <a:cs typeface="Times New Roman" panose="02020603050405020304" pitchFamily="18" charset="0"/>
              </a:rPr>
              <a:t>进行控制。</a:t>
            </a:r>
            <a:r>
              <a:rPr lang="zh-CN" altLang="en-US" sz="2000" dirty="0">
                <a:solidFill>
                  <a:srgbClr val="FF0000"/>
                </a:solidFill>
                <a:latin typeface="Times New Roman" panose="02020603050405020304" pitchFamily="18" charset="0"/>
                <a:ea typeface="微软雅黑" panose="020B0503020204020204" pitchFamily="34" charset="-122"/>
                <a:cs typeface="Times New Roman" panose="02020603050405020304" pitchFamily="18" charset="0"/>
              </a:rPr>
              <a:t>其输出的电流与输入电压信号成正比</a:t>
            </a:r>
            <a:r>
              <a:rPr lang="zh-CN" altLang="en-US" sz="2000" dirty="0">
                <a:latin typeface="Times New Roman" panose="02020603050405020304" pitchFamily="18" charset="0"/>
                <a:ea typeface="微软雅黑" panose="020B0503020204020204" pitchFamily="34" charset="-122"/>
                <a:cs typeface="Times New Roman" panose="02020603050405020304" pitchFamily="18" charset="0"/>
              </a:rPr>
              <a:t>。伺服放大器是具有深度电流</a:t>
            </a:r>
            <a:r>
              <a:rPr lang="zh-CN" altLang="en-US" sz="2000" b="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负反馈</a:t>
            </a:r>
            <a:r>
              <a:rPr lang="zh-CN" altLang="en-US" sz="2000" dirty="0">
                <a:latin typeface="Times New Roman" panose="02020603050405020304" pitchFamily="18" charset="0"/>
                <a:ea typeface="微软雅黑" panose="020B0503020204020204" pitchFamily="34" charset="-122"/>
                <a:cs typeface="Times New Roman" panose="02020603050405020304" pitchFamily="18" charset="0"/>
              </a:rPr>
              <a:t>的电子放大器</a:t>
            </a:r>
            <a:r>
              <a:rPr lang="en-US" altLang="zh-CN" sz="2000" dirty="0">
                <a:latin typeface="Times New Roman" panose="02020603050405020304" pitchFamily="18" charset="0"/>
                <a:ea typeface="微软雅黑" panose="020B0503020204020204" pitchFamily="34" charset="-122"/>
                <a:cs typeface="Times New Roman" panose="02020603050405020304" pitchFamily="18" charset="0"/>
              </a:rPr>
              <a:t>,</a:t>
            </a:r>
            <a:r>
              <a:rPr lang="zh-CN" altLang="en-US" sz="2000" dirty="0">
                <a:latin typeface="Times New Roman" panose="02020603050405020304" pitchFamily="18" charset="0"/>
                <a:ea typeface="微软雅黑" panose="020B0503020204020204" pitchFamily="34" charset="-122"/>
                <a:cs typeface="Times New Roman" panose="02020603050405020304" pitchFamily="18" charset="0"/>
              </a:rPr>
              <a:t>主要包括</a:t>
            </a:r>
            <a:r>
              <a:rPr lang="zh-CN" altLang="en-US" sz="2000" dirty="0">
                <a:solidFill>
                  <a:srgbClr val="FF0000"/>
                </a:solidFill>
                <a:latin typeface="Times New Roman" panose="02020603050405020304" pitchFamily="18" charset="0"/>
                <a:ea typeface="微软雅黑" panose="020B0503020204020204" pitchFamily="34" charset="-122"/>
                <a:cs typeface="Times New Roman" panose="02020603050405020304" pitchFamily="18" charset="0"/>
              </a:rPr>
              <a:t>比较元件</a:t>
            </a:r>
            <a:r>
              <a:rPr lang="en-US" altLang="zh-CN" sz="2000" dirty="0">
                <a:latin typeface="Times New Roman" panose="02020603050405020304" pitchFamily="18" charset="0"/>
                <a:ea typeface="微软雅黑" panose="020B0503020204020204" pitchFamily="34" charset="-122"/>
                <a:cs typeface="Times New Roman" panose="02020603050405020304" pitchFamily="18" charset="0"/>
              </a:rPr>
              <a:t>(</a:t>
            </a:r>
            <a:r>
              <a:rPr lang="zh-CN" altLang="en-US" sz="2000" dirty="0">
                <a:latin typeface="Times New Roman" panose="02020603050405020304" pitchFamily="18" charset="0"/>
                <a:ea typeface="微软雅黑" panose="020B0503020204020204" pitchFamily="34" charset="-122"/>
                <a:cs typeface="Times New Roman" panose="02020603050405020304" pitchFamily="18" charset="0"/>
              </a:rPr>
              <a:t>即加法器或误差检测器</a:t>
            </a:r>
            <a:r>
              <a:rPr lang="en-US" altLang="zh-CN" sz="2000" dirty="0">
                <a:latin typeface="Times New Roman" panose="02020603050405020304" pitchFamily="18" charset="0"/>
                <a:ea typeface="微软雅黑" panose="020B0503020204020204" pitchFamily="34" charset="-122"/>
                <a:cs typeface="Times New Roman" panose="02020603050405020304" pitchFamily="18" charset="0"/>
              </a:rPr>
              <a:t>)</a:t>
            </a:r>
            <a:r>
              <a:rPr lang="zh-CN" altLang="en-US" sz="2000" dirty="0">
                <a:latin typeface="Times New Roman" panose="02020603050405020304" pitchFamily="18" charset="0"/>
                <a:ea typeface="微软雅黑" panose="020B0503020204020204" pitchFamily="34" charset="-122"/>
                <a:cs typeface="Times New Roman" panose="02020603050405020304" pitchFamily="18" charset="0"/>
              </a:rPr>
              <a:t>、</a:t>
            </a:r>
            <a:r>
              <a:rPr lang="zh-CN" altLang="en-US" sz="2000" dirty="0">
                <a:solidFill>
                  <a:srgbClr val="FF0000"/>
                </a:solidFill>
                <a:latin typeface="Times New Roman" panose="02020603050405020304" pitchFamily="18" charset="0"/>
                <a:ea typeface="微软雅黑" panose="020B0503020204020204" pitchFamily="34" charset="-122"/>
                <a:cs typeface="Times New Roman" panose="02020603050405020304" pitchFamily="18" charset="0"/>
              </a:rPr>
              <a:t>电压放大元件</a:t>
            </a:r>
            <a:r>
              <a:rPr lang="zh-CN" altLang="en-US" sz="2000" dirty="0">
                <a:latin typeface="Times New Roman" panose="02020603050405020304" pitchFamily="18" charset="0"/>
                <a:ea typeface="微软雅黑" panose="020B0503020204020204" pitchFamily="34" charset="-122"/>
                <a:cs typeface="Times New Roman" panose="02020603050405020304" pitchFamily="18" charset="0"/>
              </a:rPr>
              <a:t>和</a:t>
            </a:r>
            <a:r>
              <a:rPr lang="zh-CN" altLang="en-US" sz="2000" dirty="0">
                <a:solidFill>
                  <a:srgbClr val="FF0000"/>
                </a:solidFill>
                <a:latin typeface="Times New Roman" panose="02020603050405020304" pitchFamily="18" charset="0"/>
                <a:ea typeface="微软雅黑" panose="020B0503020204020204" pitchFamily="34" charset="-122"/>
                <a:cs typeface="Times New Roman" panose="02020603050405020304" pitchFamily="18" charset="0"/>
              </a:rPr>
              <a:t>功率放大元件</a:t>
            </a:r>
            <a:r>
              <a:rPr lang="zh-CN" altLang="en-US" sz="2000" dirty="0">
                <a:latin typeface="Times New Roman" panose="02020603050405020304" pitchFamily="18" charset="0"/>
                <a:ea typeface="微软雅黑" panose="020B0503020204020204" pitchFamily="34" charset="-122"/>
                <a:cs typeface="Times New Roman" panose="02020603050405020304" pitchFamily="18" charset="0"/>
              </a:rPr>
              <a:t>等三部分。</a:t>
            </a:r>
            <a:endParaRPr lang="en-US" altLang="zh-CN" sz="2000" dirty="0">
              <a:latin typeface="Times New Roman" panose="02020603050405020304" pitchFamily="18" charset="0"/>
              <a:ea typeface="微软雅黑" panose="020B0503020204020204" pitchFamily="34" charset="-122"/>
              <a:cs typeface="Times New Roman" panose="02020603050405020304" pitchFamily="18" charset="0"/>
            </a:endParaRPr>
          </a:p>
          <a:p>
            <a:pPr marL="342900" indent="-342900">
              <a:lnSpc>
                <a:spcPct val="150000"/>
              </a:lnSpc>
              <a:buFont typeface="Arial" panose="020B0604020202020204" pitchFamily="34" charset="0"/>
              <a:buChar char="•"/>
            </a:pPr>
            <a:r>
              <a:rPr lang="zh-CN" altLang="en-US" sz="2000" dirty="0">
                <a:latin typeface="Times New Roman" panose="02020603050405020304" pitchFamily="18" charset="0"/>
                <a:ea typeface="微软雅黑" panose="020B0503020204020204" pitchFamily="34" charset="-122"/>
                <a:cs typeface="Times New Roman" panose="02020603050405020304" pitchFamily="18" charset="0"/>
              </a:rPr>
              <a:t>电液伺服阀的</a:t>
            </a:r>
            <a:r>
              <a:rPr lang="zh-CN" altLang="en-US" sz="2400" b="1" dirty="0">
                <a:solidFill>
                  <a:srgbClr val="0070C0"/>
                </a:solidFill>
                <a:latin typeface="Times New Roman" panose="02020603050405020304" pitchFamily="18" charset="0"/>
                <a:ea typeface="微软雅黑" panose="020B0503020204020204" pitchFamily="34" charset="-122"/>
                <a:cs typeface="Times New Roman" panose="02020603050405020304" pitchFamily="18" charset="0"/>
              </a:rPr>
              <a:t>电</a:t>
            </a:r>
            <a:r>
              <a:rPr lang="en-US" altLang="zh-CN" sz="2400" b="1" dirty="0">
                <a:solidFill>
                  <a:srgbClr val="0070C0"/>
                </a:solidFill>
                <a:latin typeface="Times New Roman" panose="02020603050405020304" pitchFamily="18" charset="0"/>
                <a:ea typeface="微软雅黑" panose="020B0503020204020204" pitchFamily="34" charset="-122"/>
                <a:cs typeface="Times New Roman" panose="02020603050405020304" pitchFamily="18" charset="0"/>
              </a:rPr>
              <a:t>-</a:t>
            </a:r>
            <a:r>
              <a:rPr lang="zh-CN" altLang="en-US" sz="2400" b="1" dirty="0">
                <a:solidFill>
                  <a:srgbClr val="0070C0"/>
                </a:solidFill>
                <a:latin typeface="Times New Roman" panose="02020603050405020304" pitchFamily="18" charset="0"/>
                <a:ea typeface="微软雅黑" panose="020B0503020204020204" pitchFamily="34" charset="-122"/>
                <a:cs typeface="Times New Roman" panose="02020603050405020304" pitchFamily="18" charset="0"/>
              </a:rPr>
              <a:t>机械转换器</a:t>
            </a:r>
            <a:r>
              <a:rPr lang="zh-CN" altLang="en-US" sz="2000" dirty="0">
                <a:latin typeface="Times New Roman" panose="02020603050405020304" pitchFamily="18" charset="0"/>
                <a:ea typeface="微软雅黑" panose="020B0503020204020204" pitchFamily="34" charset="-122"/>
                <a:cs typeface="Times New Roman" panose="02020603050405020304" pitchFamily="18" charset="0"/>
              </a:rPr>
              <a:t>的直接作用是</a:t>
            </a:r>
            <a:r>
              <a:rPr lang="zh-CN" altLang="en-US" sz="2000" dirty="0">
                <a:solidFill>
                  <a:srgbClr val="FF0000"/>
                </a:solidFill>
                <a:latin typeface="Times New Roman" panose="02020603050405020304" pitchFamily="18" charset="0"/>
                <a:ea typeface="微软雅黑" panose="020B0503020204020204" pitchFamily="34" charset="-122"/>
                <a:cs typeface="Times New Roman" panose="02020603050405020304" pitchFamily="18" charset="0"/>
              </a:rPr>
              <a:t>将伺服放大器输入的电流转换为力矩或力</a:t>
            </a:r>
            <a:r>
              <a:rPr lang="zh-CN" altLang="en-US" sz="2000" dirty="0">
                <a:latin typeface="Times New Roman" panose="02020603050405020304" pitchFamily="18" charset="0"/>
                <a:ea typeface="微软雅黑" panose="020B0503020204020204" pitchFamily="34" charset="-122"/>
                <a:cs typeface="Times New Roman" panose="02020603050405020304" pitchFamily="18" charset="0"/>
              </a:rPr>
              <a:t>，进而转化为运动部件的角位移或直线位移以</a:t>
            </a:r>
            <a:r>
              <a:rPr lang="zh-CN" altLang="en-US" sz="2000" dirty="0">
                <a:solidFill>
                  <a:srgbClr val="FF0000"/>
                </a:solidFill>
                <a:latin typeface="Times New Roman" panose="02020603050405020304" pitchFamily="18" charset="0"/>
                <a:ea typeface="微软雅黑" panose="020B0503020204020204" pitchFamily="34" charset="-122"/>
                <a:cs typeface="Times New Roman" panose="02020603050405020304" pitchFamily="18" charset="0"/>
              </a:rPr>
              <a:t>控制阀口的通流面积大小</a:t>
            </a:r>
            <a:r>
              <a:rPr lang="zh-CN" altLang="en-US" sz="2000" dirty="0">
                <a:latin typeface="Times New Roman" panose="02020603050405020304" pitchFamily="18" charset="0"/>
                <a:ea typeface="微软雅黑" panose="020B0503020204020204" pitchFamily="34" charset="-122"/>
                <a:cs typeface="Times New Roman" panose="02020603050405020304" pitchFamily="18" charset="0"/>
              </a:rPr>
              <a:t>。</a:t>
            </a:r>
          </a:p>
        </p:txBody>
      </p:sp>
      <p:pic>
        <p:nvPicPr>
          <p:cNvPr id="10" name="图片 9">
            <a:extLst>
              <a:ext uri="{FF2B5EF4-FFF2-40B4-BE49-F238E27FC236}">
                <a16:creationId xmlns:a16="http://schemas.microsoft.com/office/drawing/2014/main" id="{D07456ED-BCBA-4A70-81E0-1CBCA4D036A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13944" y="3407840"/>
            <a:ext cx="4367514" cy="3275636"/>
          </a:xfrm>
          <a:prstGeom prst="rect">
            <a:avLst/>
          </a:prstGeom>
        </p:spPr>
      </p:pic>
      <p:pic>
        <p:nvPicPr>
          <p:cNvPr id="13" name="图片 12">
            <a:extLst>
              <a:ext uri="{FF2B5EF4-FFF2-40B4-BE49-F238E27FC236}">
                <a16:creationId xmlns:a16="http://schemas.microsoft.com/office/drawing/2014/main" id="{1A212044-6CE0-492B-AB9B-539B44C727B5}"/>
              </a:ext>
            </a:extLst>
          </p:cNvPr>
          <p:cNvPicPr>
            <a:picLocks noChangeAspect="1"/>
          </p:cNvPicPr>
          <p:nvPr/>
        </p:nvPicPr>
        <p:blipFill rotWithShape="1">
          <a:blip r:embed="rId5">
            <a:clrChange>
              <a:clrFrom>
                <a:srgbClr val="FFFFFF"/>
              </a:clrFrom>
              <a:clrTo>
                <a:srgbClr val="FFFFFF">
                  <a:alpha val="0"/>
                </a:srgbClr>
              </a:clrTo>
            </a:clrChange>
          </a:blip>
          <a:srcRect l="14643" t="11692" r="12239" b="6836"/>
          <a:stretch/>
        </p:blipFill>
        <p:spPr>
          <a:xfrm>
            <a:off x="2071869" y="3825231"/>
            <a:ext cx="3518704" cy="2897354"/>
          </a:xfrm>
          <a:prstGeom prst="rect">
            <a:avLst/>
          </a:prstGeom>
        </p:spPr>
      </p:pic>
      <p:cxnSp>
        <p:nvCxnSpPr>
          <p:cNvPr id="15" name="直接箭头连接符 14">
            <a:extLst>
              <a:ext uri="{FF2B5EF4-FFF2-40B4-BE49-F238E27FC236}">
                <a16:creationId xmlns:a16="http://schemas.microsoft.com/office/drawing/2014/main" id="{C24F5AD3-9B72-45A1-BB3A-C48F8D2B3BF2}"/>
              </a:ext>
            </a:extLst>
          </p:cNvPr>
          <p:cNvCxnSpPr>
            <a:cxnSpLocks/>
          </p:cNvCxnSpPr>
          <p:nvPr/>
        </p:nvCxnSpPr>
        <p:spPr>
          <a:xfrm>
            <a:off x="5104435" y="4502552"/>
            <a:ext cx="1983129" cy="543106"/>
          </a:xfrm>
          <a:prstGeom prst="straightConnector1">
            <a:avLst/>
          </a:prstGeom>
          <a:ln w="38100" cap="flat" cmpd="sng" algn="ctr">
            <a:solidFill>
              <a:schemeClr val="accent1"/>
            </a:solidFill>
            <a:prstDash val="sysDot"/>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6" name="文本框 15">
            <a:extLst>
              <a:ext uri="{FF2B5EF4-FFF2-40B4-BE49-F238E27FC236}">
                <a16:creationId xmlns:a16="http://schemas.microsoft.com/office/drawing/2014/main" id="{17043BEC-1CD5-4A90-A824-3A01072F5494}"/>
              </a:ext>
            </a:extLst>
          </p:cNvPr>
          <p:cNvSpPr txBox="1"/>
          <p:nvPr/>
        </p:nvSpPr>
        <p:spPr>
          <a:xfrm>
            <a:off x="2740963" y="6457890"/>
            <a:ext cx="6171543" cy="400110"/>
          </a:xfrm>
          <a:prstGeom prst="rect">
            <a:avLst/>
          </a:prstGeom>
          <a:noFill/>
        </p:spPr>
        <p:txBody>
          <a:bodyPr wrap="square" rtlCol="0">
            <a:spAutoFit/>
          </a:bodyPr>
          <a:lstStyle/>
          <a:p>
            <a:pPr algn="ctr"/>
            <a:r>
              <a:rPr lang="zh-CN" altLang="en-US" sz="2000" b="1" dirty="0">
                <a:solidFill>
                  <a:srgbClr val="0070C0"/>
                </a:solidFill>
              </a:rPr>
              <a:t>电压 ∝ 电流 ∝ 力</a:t>
            </a:r>
            <a:r>
              <a:rPr lang="en-US" altLang="zh-CN" sz="2000" b="1" dirty="0">
                <a:solidFill>
                  <a:srgbClr val="0070C0"/>
                </a:solidFill>
              </a:rPr>
              <a:t>/</a:t>
            </a:r>
            <a:r>
              <a:rPr lang="zh-CN" altLang="en-US" sz="2000" b="1" dirty="0">
                <a:solidFill>
                  <a:srgbClr val="0070C0"/>
                </a:solidFill>
              </a:rPr>
              <a:t>力矩</a:t>
            </a:r>
            <a:r>
              <a:rPr lang="en-US" altLang="zh-CN" sz="2000" b="1" dirty="0">
                <a:solidFill>
                  <a:srgbClr val="0070C0"/>
                </a:solidFill>
              </a:rPr>
              <a:t>  </a:t>
            </a:r>
            <a:r>
              <a:rPr lang="zh-CN" altLang="en-US" sz="2000" b="1" dirty="0">
                <a:solidFill>
                  <a:srgbClr val="0070C0"/>
                </a:solidFill>
              </a:rPr>
              <a:t>∝ 位移 ∝ 通流面积  ∝ 流量</a:t>
            </a:r>
          </a:p>
        </p:txBody>
      </p:sp>
    </p:spTree>
    <p:extLst>
      <p:ext uri="{BB962C8B-B14F-4D97-AF65-F5344CB8AC3E}">
        <p14:creationId xmlns:p14="http://schemas.microsoft.com/office/powerpoint/2010/main" val="35761150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2" descr="Simulation du fonctionnement d'une servo-valve MOOG (animation gif)">
            <a:extLst>
              <a:ext uri="{FF2B5EF4-FFF2-40B4-BE49-F238E27FC236}">
                <a16:creationId xmlns:a16="http://schemas.microsoft.com/office/drawing/2014/main" id="{B294E633-B02B-4ED9-AB0F-5E4CC9430CCC}"/>
              </a:ext>
            </a:extLst>
          </p:cNvPr>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107908" y="1459496"/>
            <a:ext cx="6028741" cy="5016552"/>
          </a:xfrm>
          <a:prstGeom prst="rect">
            <a:avLst/>
          </a:prstGeom>
          <a:noFill/>
          <a:extLst>
            <a:ext uri="{909E8E84-426E-40DD-AFC4-6F175D3DCCD1}">
              <a14:hiddenFill xmlns:a14="http://schemas.microsoft.com/office/drawing/2010/main">
                <a:solidFill>
                  <a:srgbClr val="FFFFFF"/>
                </a:solidFill>
              </a14:hiddenFill>
            </a:ext>
          </a:extLst>
        </p:spPr>
      </p:pic>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ea typeface="微软雅黑" panose="020B0503020204020204" pitchFamily="34" charset="-122"/>
                <a:cs typeface="Times New Roman" panose="02020603050405020304" pitchFamily="18" charset="0"/>
              </a:rPr>
              <a:t>10.2 </a:t>
            </a:r>
            <a:r>
              <a:rPr lang="zh-CN" altLang="en-US" sz="3600" b="1" dirty="0">
                <a:solidFill>
                  <a:srgbClr val="003F88"/>
                </a:solidFill>
                <a:latin typeface="Times New Roman" panose="02020603050405020304" pitchFamily="18" charset="0"/>
                <a:ea typeface="微软雅黑" panose="020B0503020204020204" pitchFamily="34" charset="-122"/>
                <a:cs typeface="Times New Roman" panose="02020603050405020304" pitchFamily="18" charset="0"/>
              </a:rPr>
              <a:t>工作原理</a:t>
            </a:r>
          </a:p>
        </p:txBody>
      </p:sp>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26" name="矩形 25">
            <a:extLst>
              <a:ext uri="{FF2B5EF4-FFF2-40B4-BE49-F238E27FC236}">
                <a16:creationId xmlns:a16="http://schemas.microsoft.com/office/drawing/2014/main" id="{08E12499-BFB8-47F3-BAC4-975EC1E1E5B1}"/>
              </a:ext>
            </a:extLst>
          </p:cNvPr>
          <p:cNvSpPr/>
          <p:nvPr/>
        </p:nvSpPr>
        <p:spPr>
          <a:xfrm>
            <a:off x="429656" y="893424"/>
            <a:ext cx="7547154" cy="581762"/>
          </a:xfrm>
          <a:prstGeom prst="rect">
            <a:avLst/>
          </a:prstGeom>
        </p:spPr>
        <p:txBody>
          <a:bodyPr wrap="square">
            <a:spAutoFit/>
          </a:bodyPr>
          <a:lstStyle/>
          <a:p>
            <a:pPr marL="457200" indent="-457200">
              <a:lnSpc>
                <a:spcPct val="125000"/>
              </a:lnSpc>
              <a:buFont typeface="Wingdings" panose="05000000000000000000" pitchFamily="2" charset="2"/>
              <a:buChar char="p"/>
            </a:pPr>
            <a:r>
              <a:rPr lang="zh-CN" altLang="en-US" sz="2800" b="1" dirty="0">
                <a:solidFill>
                  <a:srgbClr val="003F88"/>
                </a:solidFill>
                <a:latin typeface="微软雅黑" panose="020B0503020204020204" pitchFamily="34" charset="-122"/>
                <a:ea typeface="微软雅黑" panose="020B0503020204020204" pitchFamily="34" charset="-122"/>
              </a:rPr>
              <a:t>电液伺服阀工作原理</a:t>
            </a:r>
          </a:p>
        </p:txBody>
      </p:sp>
      <p:sp>
        <p:nvSpPr>
          <p:cNvPr id="3" name="文本框 6">
            <a:extLst>
              <a:ext uri="{FF2B5EF4-FFF2-40B4-BE49-F238E27FC236}">
                <a16:creationId xmlns:a16="http://schemas.microsoft.com/office/drawing/2014/main" id="{5A2A4124-B9AA-CE36-3DCF-10BAC39B032C}"/>
              </a:ext>
            </a:extLst>
          </p:cNvPr>
          <p:cNvSpPr txBox="1"/>
          <p:nvPr/>
        </p:nvSpPr>
        <p:spPr>
          <a:xfrm>
            <a:off x="5621017" y="1945136"/>
            <a:ext cx="2880320" cy="961289"/>
          </a:xfrm>
          <a:prstGeom prst="rect">
            <a:avLst/>
          </a:prstGeom>
          <a:noFill/>
        </p:spPr>
        <p:txBody>
          <a:bodyPr wrap="square" rtlCol="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algn="ctr">
              <a:lnSpc>
                <a:spcPct val="150000"/>
              </a:lnSpc>
            </a:pPr>
            <a:r>
              <a:rPr lang="zh-CN" altLang="en-US" sz="2000" dirty="0">
                <a:ea typeface="微软雅黑" panose="020B0503020204020204" pitchFamily="34" charset="-122"/>
                <a:cs typeface="Times New Roman" panose="02020603050405020304" pitchFamily="18" charset="0"/>
              </a:rPr>
              <a:t>如图所示电液伺服阀的</a:t>
            </a:r>
            <a:endParaRPr lang="en-US" altLang="zh-CN" sz="2000" dirty="0">
              <a:ea typeface="微软雅黑" panose="020B0503020204020204" pitchFamily="34" charset="-122"/>
              <a:cs typeface="Times New Roman" panose="02020603050405020304" pitchFamily="18" charset="0"/>
            </a:endParaRPr>
          </a:p>
          <a:p>
            <a:pPr algn="ctr">
              <a:lnSpc>
                <a:spcPct val="150000"/>
              </a:lnSpc>
            </a:pPr>
            <a:r>
              <a:rPr lang="zh-CN" altLang="en-US" sz="2000" dirty="0">
                <a:ea typeface="微软雅黑" panose="020B0503020204020204" pitchFamily="34" charset="-122"/>
                <a:cs typeface="Times New Roman" panose="02020603050405020304" pitchFamily="18" charset="0"/>
              </a:rPr>
              <a:t>三大组成部分</a:t>
            </a:r>
          </a:p>
        </p:txBody>
      </p:sp>
      <p:sp>
        <p:nvSpPr>
          <p:cNvPr id="6" name="文本框 11">
            <a:extLst>
              <a:ext uri="{FF2B5EF4-FFF2-40B4-BE49-F238E27FC236}">
                <a16:creationId xmlns:a16="http://schemas.microsoft.com/office/drawing/2014/main" id="{19D70068-1281-D265-1B2A-D451A98875AB}"/>
              </a:ext>
            </a:extLst>
          </p:cNvPr>
          <p:cNvSpPr txBox="1"/>
          <p:nvPr/>
        </p:nvSpPr>
        <p:spPr>
          <a:xfrm>
            <a:off x="8764779" y="854315"/>
            <a:ext cx="2880320" cy="3269613"/>
          </a:xfrm>
          <a:prstGeom prst="rect">
            <a:avLst/>
          </a:prstGeom>
          <a:noFill/>
        </p:spPr>
        <p:txBody>
          <a:bodyPr wrap="square" rtlCol="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marL="285750" indent="-285750">
              <a:lnSpc>
                <a:spcPct val="150000"/>
              </a:lnSpc>
              <a:buFont typeface="Wingdings" panose="05000000000000000000" pitchFamily="2" charset="2"/>
              <a:buChar char="u"/>
            </a:pPr>
            <a:r>
              <a:rPr lang="zh-CN" altLang="en-US" sz="2000" dirty="0">
                <a:ea typeface="微软雅黑" panose="020B0503020204020204" pitchFamily="34" charset="-122"/>
                <a:cs typeface="Times New Roman" panose="02020603050405020304" pitchFamily="18" charset="0"/>
              </a:rPr>
              <a:t>电</a:t>
            </a:r>
            <a:r>
              <a:rPr lang="en-US" altLang="zh-CN" sz="2000" dirty="0">
                <a:ea typeface="微软雅黑" panose="020B0503020204020204" pitchFamily="34" charset="-122"/>
                <a:cs typeface="Times New Roman" panose="02020603050405020304" pitchFamily="18" charset="0"/>
              </a:rPr>
              <a:t>-</a:t>
            </a:r>
            <a:r>
              <a:rPr lang="zh-CN" altLang="en-US" sz="2000" dirty="0">
                <a:ea typeface="微软雅黑" panose="020B0503020204020204" pitchFamily="34" charset="-122"/>
                <a:cs typeface="Times New Roman" panose="02020603050405020304" pitchFamily="18" charset="0"/>
              </a:rPr>
              <a:t>机械转换器</a:t>
            </a:r>
            <a:endParaRPr lang="en-US" altLang="zh-CN" sz="2000" dirty="0">
              <a:ea typeface="微软雅黑" panose="020B0503020204020204" pitchFamily="34" charset="-122"/>
              <a:cs typeface="Times New Roman" panose="02020603050405020304" pitchFamily="18" charset="0"/>
            </a:endParaRPr>
          </a:p>
          <a:p>
            <a:pPr algn="ctr">
              <a:lnSpc>
                <a:spcPct val="150000"/>
              </a:lnSpc>
            </a:pPr>
            <a:r>
              <a:rPr lang="zh-CN" altLang="en-US" sz="2000" dirty="0">
                <a:solidFill>
                  <a:srgbClr val="FF0000"/>
                </a:solidFill>
                <a:ea typeface="微软雅黑" panose="020B0503020204020204" pitchFamily="34" charset="-122"/>
                <a:cs typeface="Times New Roman" panose="02020603050405020304" pitchFamily="18" charset="0"/>
              </a:rPr>
              <a:t>动铁式</a:t>
            </a:r>
            <a:endParaRPr lang="en-US" altLang="zh-CN" sz="2000" dirty="0">
              <a:solidFill>
                <a:srgbClr val="FF0000"/>
              </a:solidFill>
              <a:ea typeface="微软雅黑" panose="020B0503020204020204" pitchFamily="34" charset="-122"/>
              <a:cs typeface="Times New Roman" panose="02020603050405020304" pitchFamily="18" charset="0"/>
            </a:endParaRPr>
          </a:p>
          <a:p>
            <a:pPr marL="285750" indent="-285750">
              <a:lnSpc>
                <a:spcPct val="150000"/>
              </a:lnSpc>
              <a:buFont typeface="Wingdings" panose="05000000000000000000" pitchFamily="2" charset="2"/>
              <a:buChar char="u"/>
            </a:pPr>
            <a:r>
              <a:rPr lang="zh-CN" altLang="en-US" sz="2000" dirty="0">
                <a:ea typeface="微软雅黑" panose="020B0503020204020204" pitchFamily="34" charset="-122"/>
                <a:cs typeface="Times New Roman" panose="02020603050405020304" pitchFamily="18" charset="0"/>
              </a:rPr>
              <a:t>液压控制阀</a:t>
            </a:r>
            <a:endParaRPr lang="en-US" altLang="zh-CN" sz="2000" dirty="0">
              <a:ea typeface="微软雅黑" panose="020B0503020204020204" pitchFamily="34" charset="-122"/>
              <a:cs typeface="Times New Roman" panose="02020603050405020304" pitchFamily="18" charset="0"/>
            </a:endParaRPr>
          </a:p>
          <a:p>
            <a:pPr algn="ctr">
              <a:lnSpc>
                <a:spcPct val="150000"/>
              </a:lnSpc>
            </a:pPr>
            <a:r>
              <a:rPr lang="zh-CN" altLang="en-US" sz="2000" dirty="0">
                <a:solidFill>
                  <a:srgbClr val="FF0000"/>
                </a:solidFill>
                <a:ea typeface="微软雅黑" panose="020B0503020204020204" pitchFamily="34" charset="-122"/>
                <a:cs typeface="Times New Roman" panose="02020603050405020304" pitchFamily="18" charset="0"/>
              </a:rPr>
              <a:t>双喷嘴挡板先导阀控制的功率级滑阀式主阀</a:t>
            </a:r>
            <a:endParaRPr lang="en-US" altLang="zh-CN" sz="2000" dirty="0">
              <a:solidFill>
                <a:srgbClr val="FF0000"/>
              </a:solidFill>
              <a:ea typeface="微软雅黑" panose="020B0503020204020204" pitchFamily="34" charset="-122"/>
              <a:cs typeface="Times New Roman" panose="02020603050405020304" pitchFamily="18" charset="0"/>
            </a:endParaRPr>
          </a:p>
          <a:p>
            <a:pPr marL="285750" indent="-285750">
              <a:lnSpc>
                <a:spcPct val="150000"/>
              </a:lnSpc>
              <a:buFont typeface="Wingdings" panose="05000000000000000000" pitchFamily="2" charset="2"/>
              <a:buChar char="u"/>
            </a:pPr>
            <a:r>
              <a:rPr lang="zh-CN" altLang="en-US" sz="2000" dirty="0">
                <a:ea typeface="微软雅黑" panose="020B0503020204020204" pitchFamily="34" charset="-122"/>
                <a:cs typeface="Times New Roman" panose="02020603050405020304" pitchFamily="18" charset="0"/>
              </a:rPr>
              <a:t>反馈机构</a:t>
            </a:r>
            <a:endParaRPr lang="en-US" altLang="zh-CN" sz="2000" dirty="0">
              <a:ea typeface="微软雅黑" panose="020B0503020204020204" pitchFamily="34" charset="-122"/>
              <a:cs typeface="Times New Roman" panose="02020603050405020304" pitchFamily="18" charset="0"/>
            </a:endParaRPr>
          </a:p>
          <a:p>
            <a:pPr algn="ctr">
              <a:lnSpc>
                <a:spcPct val="150000"/>
              </a:lnSpc>
            </a:pPr>
            <a:r>
              <a:rPr lang="en-US" altLang="zh-CN" sz="2000" dirty="0">
                <a:solidFill>
                  <a:srgbClr val="C00000"/>
                </a:solidFill>
                <a:ea typeface="微软雅黑" panose="020B0503020204020204" pitchFamily="34" charset="-122"/>
                <a:cs typeface="Times New Roman" panose="02020603050405020304" pitchFamily="18" charset="0"/>
              </a:rPr>
              <a:t> </a:t>
            </a:r>
            <a:r>
              <a:rPr lang="zh-CN" altLang="en-US" sz="2000" dirty="0">
                <a:solidFill>
                  <a:srgbClr val="FF0000"/>
                </a:solidFill>
                <a:ea typeface="微软雅黑" panose="020B0503020204020204" pitchFamily="34" charset="-122"/>
                <a:cs typeface="Times New Roman" panose="02020603050405020304" pitchFamily="18" charset="0"/>
              </a:rPr>
              <a:t>力反馈</a:t>
            </a:r>
          </a:p>
        </p:txBody>
      </p:sp>
      <p:sp>
        <p:nvSpPr>
          <p:cNvPr id="7" name="左大括号 6">
            <a:extLst>
              <a:ext uri="{FF2B5EF4-FFF2-40B4-BE49-F238E27FC236}">
                <a16:creationId xmlns:a16="http://schemas.microsoft.com/office/drawing/2014/main" id="{60B29627-8E41-0B1C-6F00-E11A6D0B31E4}"/>
              </a:ext>
            </a:extLst>
          </p:cNvPr>
          <p:cNvSpPr/>
          <p:nvPr/>
        </p:nvSpPr>
        <p:spPr>
          <a:xfrm>
            <a:off x="8298558" y="1260830"/>
            <a:ext cx="405558" cy="212906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defPPr>
              <a:defRPr lang="zh-CN"/>
            </a:defPPr>
            <a:lvl1pPr algn="l" rtl="0" fontAlgn="base">
              <a:spcBef>
                <a:spcPct val="0"/>
              </a:spcBef>
              <a:spcAft>
                <a:spcPct val="0"/>
              </a:spcAft>
              <a:defRPr kern="1200">
                <a:solidFill>
                  <a:schemeClr val="tx1"/>
                </a:solidFill>
                <a:latin typeface="+mn-lt"/>
                <a:ea typeface="+mn-ea"/>
                <a:cs typeface="+mn-cs"/>
              </a:defRPr>
            </a:lvl1pPr>
            <a:lvl2pPr marL="457200" algn="l" rtl="0" fontAlgn="base">
              <a:spcBef>
                <a:spcPct val="0"/>
              </a:spcBef>
              <a:spcAft>
                <a:spcPct val="0"/>
              </a:spcAft>
              <a:defRPr kern="1200">
                <a:solidFill>
                  <a:schemeClr val="tx1"/>
                </a:solidFill>
                <a:latin typeface="+mn-lt"/>
                <a:ea typeface="+mn-ea"/>
                <a:cs typeface="+mn-cs"/>
              </a:defRPr>
            </a:lvl2pPr>
            <a:lvl3pPr marL="914400" algn="l" rtl="0" fontAlgn="base">
              <a:spcBef>
                <a:spcPct val="0"/>
              </a:spcBef>
              <a:spcAft>
                <a:spcPct val="0"/>
              </a:spcAft>
              <a:defRPr kern="1200">
                <a:solidFill>
                  <a:schemeClr val="tx1"/>
                </a:solidFill>
                <a:latin typeface="+mn-lt"/>
                <a:ea typeface="+mn-ea"/>
                <a:cs typeface="+mn-cs"/>
              </a:defRPr>
            </a:lvl3pPr>
            <a:lvl4pPr marL="1371600" algn="l" rtl="0" fontAlgn="base">
              <a:spcBef>
                <a:spcPct val="0"/>
              </a:spcBef>
              <a:spcAft>
                <a:spcPct val="0"/>
              </a:spcAft>
              <a:defRPr kern="1200">
                <a:solidFill>
                  <a:schemeClr val="tx1"/>
                </a:solidFill>
                <a:latin typeface="+mn-lt"/>
                <a:ea typeface="+mn-ea"/>
                <a:cs typeface="+mn-cs"/>
              </a:defRPr>
            </a:lvl4pPr>
            <a:lvl5pPr marL="1828800" algn="l" rtl="0" fontAlgn="base">
              <a:spcBef>
                <a:spcPct val="0"/>
              </a:spcBef>
              <a:spcAft>
                <a:spcPct val="0"/>
              </a:spcAft>
              <a:defRPr kern="1200">
                <a:solidFill>
                  <a:schemeClr val="tx1"/>
                </a:solidFill>
                <a:latin typeface="+mn-lt"/>
                <a:ea typeface="+mn-ea"/>
                <a:cs typeface="+mn-cs"/>
              </a:defRPr>
            </a:lvl5pPr>
            <a:lvl6pPr marL="2286000" algn="l" defTabSz="914400" rtl="0" eaLnBrk="1" latinLnBrk="0" hangingPunct="1">
              <a:defRPr kern="1200">
                <a:solidFill>
                  <a:schemeClr val="tx1"/>
                </a:solidFill>
                <a:latin typeface="+mn-lt"/>
                <a:ea typeface="+mn-ea"/>
                <a:cs typeface="+mn-cs"/>
              </a:defRPr>
            </a:lvl6pPr>
            <a:lvl7pPr marL="2743200" algn="l" defTabSz="914400" rtl="0" eaLnBrk="1" latinLnBrk="0" hangingPunct="1">
              <a:defRPr kern="1200">
                <a:solidFill>
                  <a:schemeClr val="tx1"/>
                </a:solidFill>
                <a:latin typeface="+mn-lt"/>
                <a:ea typeface="+mn-ea"/>
                <a:cs typeface="+mn-cs"/>
              </a:defRPr>
            </a:lvl7pPr>
            <a:lvl8pPr marL="3200400" algn="l" defTabSz="914400" rtl="0" eaLnBrk="1" latinLnBrk="0" hangingPunct="1">
              <a:defRPr kern="1200">
                <a:solidFill>
                  <a:schemeClr val="tx1"/>
                </a:solidFill>
                <a:latin typeface="+mn-lt"/>
                <a:ea typeface="+mn-ea"/>
                <a:cs typeface="+mn-cs"/>
              </a:defRPr>
            </a:lvl8pPr>
            <a:lvl9pPr marL="3657600" algn="l" defTabSz="914400" rtl="0" eaLnBrk="1" latinLnBrk="0" hangingPunct="1">
              <a:defRPr kern="1200">
                <a:solidFill>
                  <a:schemeClr val="tx1"/>
                </a:solidFill>
                <a:latin typeface="+mn-lt"/>
                <a:ea typeface="+mn-ea"/>
                <a:cs typeface="+mn-cs"/>
              </a:defRPr>
            </a:lvl9pPr>
          </a:lstStyle>
          <a:p>
            <a:pPr algn="ctr"/>
            <a:endParaRPr lang="zh-CN" altLang="en-US">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10" name="Content Placeholder 2">
            <a:extLst>
              <a:ext uri="{FF2B5EF4-FFF2-40B4-BE49-F238E27FC236}">
                <a16:creationId xmlns:a16="http://schemas.microsoft.com/office/drawing/2014/main" id="{75332810-874F-153D-0B3D-AB536B388C93}"/>
              </a:ext>
            </a:extLst>
          </p:cNvPr>
          <p:cNvSpPr txBox="1"/>
          <p:nvPr/>
        </p:nvSpPr>
        <p:spPr bwMode="auto">
          <a:xfrm>
            <a:off x="5752737" y="4066191"/>
            <a:ext cx="6296706" cy="2432618"/>
          </a:xfrm>
          <a:prstGeom prst="rect">
            <a:avLst/>
          </a:prstGeom>
        </p:spPr>
        <p:style>
          <a:lnRef idx="2">
            <a:schemeClr val="accent5"/>
          </a:lnRef>
          <a:fillRef idx="1">
            <a:schemeClr val="lt1"/>
          </a:fillRef>
          <a:effectRef idx="0">
            <a:schemeClr val="accent5"/>
          </a:effectRef>
          <a:fontRef idx="minor">
            <a:schemeClr val="dk1"/>
          </a:fontRef>
        </p:style>
        <p:txBody>
          <a:bodyPr vert="horz" wrap="square" lIns="91440" tIns="45720" rIns="91440" bIns="45720" numCol="1" anchor="t" anchorCtr="0" compatLnSpc="1"/>
          <a:lstStyle>
            <a:defPPr>
              <a:defRPr lang="zh-CN"/>
            </a:defPPr>
            <a:lvl1pPr algn="l" rtl="0" fontAlgn="base">
              <a:spcBef>
                <a:spcPct val="0"/>
              </a:spcBef>
              <a:spcAft>
                <a:spcPct val="0"/>
              </a:spcAft>
              <a:defRPr kern="1200">
                <a:solidFill>
                  <a:schemeClr val="dk1"/>
                </a:solidFill>
                <a:latin typeface="+mn-lt"/>
                <a:ea typeface="+mn-ea"/>
                <a:cs typeface="+mn-cs"/>
              </a:defRPr>
            </a:lvl1pPr>
            <a:lvl2pPr marL="457200" algn="l" rtl="0" fontAlgn="base">
              <a:spcBef>
                <a:spcPct val="0"/>
              </a:spcBef>
              <a:spcAft>
                <a:spcPct val="0"/>
              </a:spcAft>
              <a:defRPr kern="1200">
                <a:solidFill>
                  <a:schemeClr val="dk1"/>
                </a:solidFill>
                <a:latin typeface="+mn-lt"/>
                <a:ea typeface="+mn-ea"/>
                <a:cs typeface="+mn-cs"/>
              </a:defRPr>
            </a:lvl2pPr>
            <a:lvl3pPr marL="914400" algn="l" rtl="0" fontAlgn="base">
              <a:spcBef>
                <a:spcPct val="0"/>
              </a:spcBef>
              <a:spcAft>
                <a:spcPct val="0"/>
              </a:spcAft>
              <a:defRPr kern="1200">
                <a:solidFill>
                  <a:schemeClr val="dk1"/>
                </a:solidFill>
                <a:latin typeface="+mn-lt"/>
                <a:ea typeface="+mn-ea"/>
                <a:cs typeface="+mn-cs"/>
              </a:defRPr>
            </a:lvl3pPr>
            <a:lvl4pPr marL="1371600" algn="l" rtl="0" fontAlgn="base">
              <a:spcBef>
                <a:spcPct val="0"/>
              </a:spcBef>
              <a:spcAft>
                <a:spcPct val="0"/>
              </a:spcAft>
              <a:defRPr kern="1200">
                <a:solidFill>
                  <a:schemeClr val="dk1"/>
                </a:solidFill>
                <a:latin typeface="+mn-lt"/>
                <a:ea typeface="+mn-ea"/>
                <a:cs typeface="+mn-cs"/>
              </a:defRPr>
            </a:lvl4pPr>
            <a:lvl5pPr marL="1828800" algn="l" rtl="0" fontAlgn="base">
              <a:spcBef>
                <a:spcPct val="0"/>
              </a:spcBef>
              <a:spcAft>
                <a:spcPct val="0"/>
              </a:spcAft>
              <a:defRPr kern="1200">
                <a:solidFill>
                  <a:schemeClr val="dk1"/>
                </a:solidFill>
                <a:latin typeface="+mn-lt"/>
                <a:ea typeface="+mn-ea"/>
                <a:cs typeface="+mn-cs"/>
              </a:defRPr>
            </a:lvl5pPr>
            <a:lvl6pPr marL="2286000" algn="l" defTabSz="914400" rtl="0" eaLnBrk="1" latinLnBrk="0" hangingPunct="1">
              <a:defRPr kern="1200">
                <a:solidFill>
                  <a:schemeClr val="dk1"/>
                </a:solidFill>
                <a:latin typeface="+mn-lt"/>
                <a:ea typeface="+mn-ea"/>
                <a:cs typeface="+mn-cs"/>
              </a:defRPr>
            </a:lvl6pPr>
            <a:lvl7pPr marL="2743200" algn="l" defTabSz="914400" rtl="0" eaLnBrk="1" latinLnBrk="0" hangingPunct="1">
              <a:defRPr kern="1200">
                <a:solidFill>
                  <a:schemeClr val="dk1"/>
                </a:solidFill>
                <a:latin typeface="+mn-lt"/>
                <a:ea typeface="+mn-ea"/>
                <a:cs typeface="+mn-cs"/>
              </a:defRPr>
            </a:lvl7pPr>
            <a:lvl8pPr marL="3200400" algn="l" defTabSz="914400" rtl="0" eaLnBrk="1" latinLnBrk="0" hangingPunct="1">
              <a:defRPr kern="1200">
                <a:solidFill>
                  <a:schemeClr val="dk1"/>
                </a:solidFill>
                <a:latin typeface="+mn-lt"/>
                <a:ea typeface="+mn-ea"/>
                <a:cs typeface="+mn-cs"/>
              </a:defRPr>
            </a:lvl8pPr>
            <a:lvl9pPr marL="3657600" algn="l" defTabSz="914400" rtl="0" eaLnBrk="1" latinLnBrk="0" hangingPunct="1">
              <a:defRPr kern="1200">
                <a:solidFill>
                  <a:schemeClr val="dk1"/>
                </a:solidFill>
                <a:latin typeface="+mn-lt"/>
                <a:ea typeface="+mn-ea"/>
                <a:cs typeface="+mn-cs"/>
              </a:defRPr>
            </a:lvl9pPr>
          </a:lstStyle>
          <a:p>
            <a:pPr marL="0" indent="0" algn="just">
              <a:lnSpc>
                <a:spcPct val="150000"/>
              </a:lnSpc>
              <a:buNone/>
            </a:pPr>
            <a:r>
              <a:rPr lang="zh-CN" altLang="en-US" sz="2000" kern="0" dirty="0">
                <a:latin typeface="Times New Roman" panose="02020603050405020304" pitchFamily="18" charset="0"/>
                <a:ea typeface="微软雅黑" panose="020B0503020204020204" pitchFamily="34" charset="-122"/>
                <a:cs typeface="Times New Roman" panose="02020603050405020304" pitchFamily="18" charset="0"/>
              </a:rPr>
              <a:t>滑阀移动带动挡板下端球头一起移动，从而在衔铁挡板组件上产生力矩，形成</a:t>
            </a:r>
            <a:r>
              <a:rPr lang="zh-CN" altLang="en-US" sz="2000" kern="0" dirty="0">
                <a:solidFill>
                  <a:srgbClr val="FF0000"/>
                </a:solidFill>
                <a:latin typeface="Times New Roman" panose="02020603050405020304" pitchFamily="18" charset="0"/>
                <a:ea typeface="微软雅黑" panose="020B0503020204020204" pitchFamily="34" charset="-122"/>
                <a:cs typeface="Times New Roman" panose="02020603050405020304" pitchFamily="18" charset="0"/>
              </a:rPr>
              <a:t>力反馈</a:t>
            </a:r>
            <a:r>
              <a:rPr lang="zh-CN" altLang="en-US" sz="2000" kern="0" dirty="0">
                <a:latin typeface="Times New Roman" panose="02020603050405020304" pitchFamily="18" charset="0"/>
                <a:ea typeface="微软雅黑" panose="020B0503020204020204" pitchFamily="34" charset="-122"/>
                <a:cs typeface="Times New Roman" panose="02020603050405020304" pitchFamily="18" charset="0"/>
              </a:rPr>
              <a:t>。输入电流越大，电磁力矩越大，阀芯位移即阀口通流面积也越大，</a:t>
            </a:r>
            <a:r>
              <a:rPr lang="zh-CN" altLang="en-US" sz="2000" kern="0" dirty="0">
                <a:solidFill>
                  <a:srgbClr val="FF0000"/>
                </a:solidFill>
                <a:latin typeface="Times New Roman" panose="02020603050405020304" pitchFamily="18" charset="0"/>
                <a:ea typeface="微软雅黑" panose="020B0503020204020204" pitchFamily="34" charset="-122"/>
                <a:cs typeface="Times New Roman" panose="02020603050405020304" pitchFamily="18" charset="0"/>
              </a:rPr>
              <a:t>在一定阀口压差（</a:t>
            </a:r>
            <a:r>
              <a:rPr lang="en-US" altLang="zh-CN" sz="2000" kern="0" dirty="0">
                <a:solidFill>
                  <a:srgbClr val="FF0000"/>
                </a:solidFill>
                <a:latin typeface="Times New Roman" panose="02020603050405020304" pitchFamily="18" charset="0"/>
                <a:ea typeface="微软雅黑" panose="020B0503020204020204" pitchFamily="34" charset="-122"/>
                <a:cs typeface="Times New Roman" panose="02020603050405020304" pitchFamily="18" charset="0"/>
              </a:rPr>
              <a:t>7MPa</a:t>
            </a:r>
            <a:r>
              <a:rPr lang="zh-CN" altLang="en-US" sz="2000" kern="0" dirty="0">
                <a:solidFill>
                  <a:srgbClr val="FF0000"/>
                </a:solidFill>
                <a:latin typeface="Times New Roman" panose="02020603050405020304" pitchFamily="18" charset="0"/>
                <a:ea typeface="微软雅黑" panose="020B0503020204020204" pitchFamily="34" charset="-122"/>
                <a:cs typeface="Times New Roman" panose="02020603050405020304" pitchFamily="18" charset="0"/>
              </a:rPr>
              <a:t>）下，阀流量近似于输入电流成正比</a:t>
            </a:r>
            <a:r>
              <a:rPr lang="zh-CN" altLang="en-US" sz="2000" kern="0" dirty="0">
                <a:latin typeface="Times New Roman" panose="02020603050405020304" pitchFamily="18" charset="0"/>
                <a:ea typeface="微软雅黑" panose="020B0503020204020204" pitchFamily="34" charset="-122"/>
                <a:cs typeface="Times New Roman" panose="02020603050405020304" pitchFamily="18" charset="0"/>
              </a:rPr>
              <a:t>。</a:t>
            </a:r>
            <a:r>
              <a:rPr lang="zh-CN" altLang="en-US" sz="2000" kern="0" dirty="0">
                <a:solidFill>
                  <a:srgbClr val="FF0000"/>
                </a:solidFill>
                <a:latin typeface="Times New Roman" panose="02020603050405020304" pitchFamily="18" charset="0"/>
                <a:ea typeface="微软雅黑" panose="020B0503020204020204" pitchFamily="34" charset="-122"/>
                <a:cs typeface="Times New Roman" panose="02020603050405020304" pitchFamily="18" charset="0"/>
              </a:rPr>
              <a:t>当输入电流极性反向时，输出流量也反向</a:t>
            </a:r>
            <a:r>
              <a:rPr lang="zh-CN" altLang="en-US" sz="2000" kern="0" dirty="0">
                <a:latin typeface="Times New Roman" panose="02020603050405020304" pitchFamily="18" charset="0"/>
                <a:ea typeface="微软雅黑" panose="020B0503020204020204" pitchFamily="34" charset="-122"/>
                <a:cs typeface="Times New Roman" panose="02020603050405020304" pitchFamily="18" charset="0"/>
              </a:rPr>
              <a:t>。</a:t>
            </a:r>
            <a:endParaRPr lang="en-US" altLang="zh-CN" sz="2000" kern="0" dirty="0">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4" name="文本框 3">
            <a:extLst>
              <a:ext uri="{FF2B5EF4-FFF2-40B4-BE49-F238E27FC236}">
                <a16:creationId xmlns:a16="http://schemas.microsoft.com/office/drawing/2014/main" id="{199B31A6-835C-45F4-9DC5-077B145B3CE4}"/>
              </a:ext>
            </a:extLst>
          </p:cNvPr>
          <p:cNvSpPr txBox="1"/>
          <p:nvPr/>
        </p:nvSpPr>
        <p:spPr>
          <a:xfrm>
            <a:off x="85801" y="6129477"/>
            <a:ext cx="5666936" cy="369332"/>
          </a:xfrm>
          <a:prstGeom prst="rect">
            <a:avLst/>
          </a:prstGeom>
          <a:noFill/>
        </p:spPr>
        <p:txBody>
          <a:bodyPr wrap="none" rtlCol="0">
            <a:spAutoFit/>
          </a:bodyPr>
          <a:lstStyle/>
          <a:p>
            <a:r>
              <a:rPr lang="zh-CN" altLang="en-US" b="1" dirty="0">
                <a:solidFill>
                  <a:srgbClr val="0070C0"/>
                </a:solidFill>
              </a:rPr>
              <a:t>电磁力矩</a:t>
            </a:r>
            <a:r>
              <a:rPr lang="en-US" altLang="zh-CN" b="1" dirty="0">
                <a:solidFill>
                  <a:srgbClr val="0070C0"/>
                </a:solidFill>
              </a:rPr>
              <a:t>+</a:t>
            </a:r>
            <a:r>
              <a:rPr lang="zh-CN" altLang="en-US" b="1" dirty="0">
                <a:solidFill>
                  <a:srgbClr val="0070C0"/>
                </a:solidFill>
              </a:rPr>
              <a:t>弹簧管反力矩</a:t>
            </a:r>
            <a:r>
              <a:rPr lang="en-US" altLang="zh-CN" b="1" dirty="0">
                <a:solidFill>
                  <a:srgbClr val="0070C0"/>
                </a:solidFill>
              </a:rPr>
              <a:t>+</a:t>
            </a:r>
            <a:r>
              <a:rPr lang="zh-CN" altLang="en-US" b="1" dirty="0">
                <a:solidFill>
                  <a:srgbClr val="0070C0"/>
                </a:solidFill>
              </a:rPr>
              <a:t>喷嘴液动力矩</a:t>
            </a:r>
            <a:r>
              <a:rPr lang="en-US" altLang="zh-CN" b="1" dirty="0">
                <a:solidFill>
                  <a:srgbClr val="0070C0"/>
                </a:solidFill>
              </a:rPr>
              <a:t>+</a:t>
            </a:r>
            <a:r>
              <a:rPr lang="zh-CN" altLang="en-US" b="1" dirty="0">
                <a:solidFill>
                  <a:srgbClr val="0070C0"/>
                </a:solidFill>
              </a:rPr>
              <a:t>阀芯反馈力矩</a:t>
            </a:r>
          </a:p>
        </p:txBody>
      </p:sp>
      <p:sp>
        <p:nvSpPr>
          <p:cNvPr id="13" name="文本框 12">
            <a:extLst>
              <a:ext uri="{FF2B5EF4-FFF2-40B4-BE49-F238E27FC236}">
                <a16:creationId xmlns:a16="http://schemas.microsoft.com/office/drawing/2014/main" id="{8DC325B0-03C7-47CD-8FC6-F7CE66AD08A2}"/>
              </a:ext>
            </a:extLst>
          </p:cNvPr>
          <p:cNvSpPr txBox="1"/>
          <p:nvPr/>
        </p:nvSpPr>
        <p:spPr>
          <a:xfrm>
            <a:off x="2740963" y="6457890"/>
            <a:ext cx="6171543" cy="400110"/>
          </a:xfrm>
          <a:prstGeom prst="rect">
            <a:avLst/>
          </a:prstGeom>
          <a:noFill/>
        </p:spPr>
        <p:txBody>
          <a:bodyPr wrap="square" rtlCol="0">
            <a:spAutoFit/>
          </a:bodyPr>
          <a:lstStyle/>
          <a:p>
            <a:pPr algn="ctr"/>
            <a:r>
              <a:rPr lang="zh-CN" altLang="en-US" sz="2000" b="1" dirty="0">
                <a:solidFill>
                  <a:srgbClr val="0070C0"/>
                </a:solidFill>
              </a:rPr>
              <a:t>电压 ∝ 电流 ∝ 力</a:t>
            </a:r>
            <a:r>
              <a:rPr lang="en-US" altLang="zh-CN" sz="2000" b="1" dirty="0">
                <a:solidFill>
                  <a:srgbClr val="0070C0"/>
                </a:solidFill>
              </a:rPr>
              <a:t>/</a:t>
            </a:r>
            <a:r>
              <a:rPr lang="zh-CN" altLang="en-US" sz="2000" b="1" dirty="0">
                <a:solidFill>
                  <a:srgbClr val="0070C0"/>
                </a:solidFill>
              </a:rPr>
              <a:t>力矩</a:t>
            </a:r>
            <a:r>
              <a:rPr lang="en-US" altLang="zh-CN" sz="2000" b="1" dirty="0">
                <a:solidFill>
                  <a:srgbClr val="0070C0"/>
                </a:solidFill>
              </a:rPr>
              <a:t>  </a:t>
            </a:r>
            <a:r>
              <a:rPr lang="zh-CN" altLang="en-US" sz="2000" b="1" dirty="0">
                <a:solidFill>
                  <a:srgbClr val="0070C0"/>
                </a:solidFill>
              </a:rPr>
              <a:t>∝ 位移 ∝ 通流面积  ∝ 流量</a:t>
            </a:r>
          </a:p>
        </p:txBody>
      </p:sp>
      <p:cxnSp>
        <p:nvCxnSpPr>
          <p:cNvPr id="11" name="直接连接符 10">
            <a:extLst>
              <a:ext uri="{FF2B5EF4-FFF2-40B4-BE49-F238E27FC236}">
                <a16:creationId xmlns:a16="http://schemas.microsoft.com/office/drawing/2014/main" id="{47A8A741-55DA-4DCF-AF8B-C657C0CED8B5}"/>
              </a:ext>
            </a:extLst>
          </p:cNvPr>
          <p:cNvCxnSpPr/>
          <p:nvPr/>
        </p:nvCxnSpPr>
        <p:spPr>
          <a:xfrm>
            <a:off x="3944983" y="5216434"/>
            <a:ext cx="714103" cy="548640"/>
          </a:xfrm>
          <a:prstGeom prst="line">
            <a:avLst/>
          </a:prstGeom>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9619FFB6-8BA9-4DD8-9444-0A85C2D55E40}"/>
              </a:ext>
            </a:extLst>
          </p:cNvPr>
          <p:cNvSpPr txBox="1"/>
          <p:nvPr/>
        </p:nvSpPr>
        <p:spPr>
          <a:xfrm>
            <a:off x="4563292" y="5620856"/>
            <a:ext cx="877163" cy="369332"/>
          </a:xfrm>
          <a:prstGeom prst="rect">
            <a:avLst/>
          </a:prstGeom>
          <a:noFill/>
        </p:spPr>
        <p:txBody>
          <a:bodyPr wrap="none" rtlCol="0">
            <a:spAutoFit/>
          </a:bodyPr>
          <a:lstStyle/>
          <a:p>
            <a:r>
              <a:rPr lang="zh-CN" altLang="en-US" b="1" dirty="0"/>
              <a:t>过滤器</a:t>
            </a:r>
          </a:p>
        </p:txBody>
      </p:sp>
    </p:spTree>
    <p:extLst>
      <p:ext uri="{BB962C8B-B14F-4D97-AF65-F5344CB8AC3E}">
        <p14:creationId xmlns:p14="http://schemas.microsoft.com/office/powerpoint/2010/main" val="26196339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ea typeface="微软雅黑" panose="020B0503020204020204" pitchFamily="34" charset="-122"/>
                <a:cs typeface="Times New Roman" panose="02020603050405020304" pitchFamily="18" charset="0"/>
              </a:rPr>
              <a:t>10.3 </a:t>
            </a:r>
            <a:r>
              <a:rPr lang="zh-CN" altLang="en-US" sz="3600" b="1" dirty="0">
                <a:solidFill>
                  <a:srgbClr val="003F88"/>
                </a:solidFill>
                <a:latin typeface="Times New Roman" panose="02020603050405020304" pitchFamily="18" charset="0"/>
                <a:ea typeface="微软雅黑" panose="020B0503020204020204" pitchFamily="34" charset="-122"/>
                <a:cs typeface="Times New Roman" panose="02020603050405020304" pitchFamily="18" charset="0"/>
              </a:rPr>
              <a:t>常见结构</a:t>
            </a:r>
          </a:p>
        </p:txBody>
      </p:sp>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26" name="矩形 25">
            <a:extLst>
              <a:ext uri="{FF2B5EF4-FFF2-40B4-BE49-F238E27FC236}">
                <a16:creationId xmlns:a16="http://schemas.microsoft.com/office/drawing/2014/main" id="{08E12499-BFB8-47F3-BAC4-975EC1E1E5B1}"/>
              </a:ext>
            </a:extLst>
          </p:cNvPr>
          <p:cNvSpPr/>
          <p:nvPr/>
        </p:nvSpPr>
        <p:spPr>
          <a:xfrm>
            <a:off x="429656" y="893424"/>
            <a:ext cx="7547154" cy="581762"/>
          </a:xfrm>
          <a:prstGeom prst="rect">
            <a:avLst/>
          </a:prstGeom>
        </p:spPr>
        <p:txBody>
          <a:bodyPr wrap="square">
            <a:spAutoFit/>
          </a:bodyPr>
          <a:lstStyle/>
          <a:p>
            <a:pPr marL="457200" indent="-457200">
              <a:lnSpc>
                <a:spcPct val="125000"/>
              </a:lnSpc>
              <a:buFont typeface="Wingdings" panose="05000000000000000000" pitchFamily="2" charset="2"/>
              <a:buChar char="p"/>
            </a:pPr>
            <a:r>
              <a:rPr lang="zh-CN" altLang="en-US" sz="2800" b="1" dirty="0">
                <a:solidFill>
                  <a:srgbClr val="003F88"/>
                </a:solidFill>
                <a:latin typeface="微软雅黑" panose="020B0503020204020204" pitchFamily="34" charset="-122"/>
                <a:ea typeface="微软雅黑" panose="020B0503020204020204" pitchFamily="34" charset="-122"/>
              </a:rPr>
              <a:t>电液伺服阀常用液压控制元件结构形式</a:t>
            </a:r>
          </a:p>
        </p:txBody>
      </p:sp>
      <p:sp>
        <p:nvSpPr>
          <p:cNvPr id="4" name="圆角矩形 11">
            <a:extLst>
              <a:ext uri="{FF2B5EF4-FFF2-40B4-BE49-F238E27FC236}">
                <a16:creationId xmlns:a16="http://schemas.microsoft.com/office/drawing/2014/main" id="{263FEA94-62DD-4999-B0A5-E48F9711AB7D}"/>
              </a:ext>
            </a:extLst>
          </p:cNvPr>
          <p:cNvSpPr/>
          <p:nvPr/>
        </p:nvSpPr>
        <p:spPr>
          <a:xfrm>
            <a:off x="7097192" y="2636860"/>
            <a:ext cx="4471273" cy="3880121"/>
          </a:xfrm>
          <a:prstGeom prst="roundRect">
            <a:avLst>
              <a:gd name="adj" fmla="val 7141"/>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algn="l" rtl="0" fontAlgn="base">
              <a:spcBef>
                <a:spcPct val="0"/>
              </a:spcBef>
              <a:spcAft>
                <a:spcPct val="0"/>
              </a:spcAft>
              <a:defRPr kern="1200">
                <a:solidFill>
                  <a:schemeClr val="lt1"/>
                </a:solidFill>
                <a:latin typeface="+mn-lt"/>
                <a:ea typeface="+mn-ea"/>
                <a:cs typeface="+mn-cs"/>
              </a:defRPr>
            </a:lvl1pPr>
            <a:lvl2pPr marL="457200" algn="l" rtl="0" fontAlgn="base">
              <a:spcBef>
                <a:spcPct val="0"/>
              </a:spcBef>
              <a:spcAft>
                <a:spcPct val="0"/>
              </a:spcAft>
              <a:defRPr kern="1200">
                <a:solidFill>
                  <a:schemeClr val="lt1"/>
                </a:solidFill>
                <a:latin typeface="+mn-lt"/>
                <a:ea typeface="+mn-ea"/>
                <a:cs typeface="+mn-cs"/>
              </a:defRPr>
            </a:lvl2pPr>
            <a:lvl3pPr marL="914400" algn="l" rtl="0" fontAlgn="base">
              <a:spcBef>
                <a:spcPct val="0"/>
              </a:spcBef>
              <a:spcAft>
                <a:spcPct val="0"/>
              </a:spcAft>
              <a:defRPr kern="1200">
                <a:solidFill>
                  <a:schemeClr val="lt1"/>
                </a:solidFill>
                <a:latin typeface="+mn-lt"/>
                <a:ea typeface="+mn-ea"/>
                <a:cs typeface="+mn-cs"/>
              </a:defRPr>
            </a:lvl3pPr>
            <a:lvl4pPr marL="1371600" algn="l" rtl="0" fontAlgn="base">
              <a:spcBef>
                <a:spcPct val="0"/>
              </a:spcBef>
              <a:spcAft>
                <a:spcPct val="0"/>
              </a:spcAft>
              <a:defRPr kern="1200">
                <a:solidFill>
                  <a:schemeClr val="lt1"/>
                </a:solidFill>
                <a:latin typeface="+mn-lt"/>
                <a:ea typeface="+mn-ea"/>
                <a:cs typeface="+mn-cs"/>
              </a:defRPr>
            </a:lvl4pPr>
            <a:lvl5pPr marL="1828800" algn="l" rtl="0" fontAlgn="base">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a:endParaRPr lang="zh-CN" altLang="en-US">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11" name="文本框 2">
            <a:extLst>
              <a:ext uri="{FF2B5EF4-FFF2-40B4-BE49-F238E27FC236}">
                <a16:creationId xmlns:a16="http://schemas.microsoft.com/office/drawing/2014/main" id="{90E60BDC-22F5-EA43-B1B1-18F9CDACB62A}"/>
              </a:ext>
            </a:extLst>
          </p:cNvPr>
          <p:cNvSpPr txBox="1"/>
          <p:nvPr/>
        </p:nvSpPr>
        <p:spPr>
          <a:xfrm>
            <a:off x="998022" y="1918156"/>
            <a:ext cx="864096" cy="580865"/>
          </a:xfrm>
          <a:prstGeom prst="rect">
            <a:avLst/>
          </a:prstGeom>
          <a:noFill/>
        </p:spPr>
        <p:txBody>
          <a:bodyPr wrap="square" rtlCol="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a:lnSpc>
                <a:spcPct val="150000"/>
              </a:lnSpc>
            </a:pPr>
            <a:r>
              <a:rPr lang="zh-CN" altLang="en-US" sz="2400" b="1" dirty="0">
                <a:ea typeface="微软雅黑" panose="020B0503020204020204" pitchFamily="34" charset="-122"/>
                <a:cs typeface="Times New Roman" panose="02020603050405020304" pitchFamily="18" charset="0"/>
              </a:rPr>
              <a:t>滑阀</a:t>
            </a:r>
            <a:endParaRPr lang="en-US" altLang="zh-CN" sz="2400" b="1" dirty="0">
              <a:ea typeface="微软雅黑" panose="020B0503020204020204" pitchFamily="34" charset="-122"/>
              <a:cs typeface="Times New Roman" panose="02020603050405020304" pitchFamily="18" charset="0"/>
            </a:endParaRPr>
          </a:p>
        </p:txBody>
      </p:sp>
      <p:sp>
        <p:nvSpPr>
          <p:cNvPr id="12" name="Rectangle 3">
            <a:extLst>
              <a:ext uri="{FF2B5EF4-FFF2-40B4-BE49-F238E27FC236}">
                <a16:creationId xmlns:a16="http://schemas.microsoft.com/office/drawing/2014/main" id="{A247A2BA-591D-9ED9-F5E6-FAD34B155370}"/>
              </a:ext>
            </a:extLst>
          </p:cNvPr>
          <p:cNvSpPr txBox="1">
            <a:spLocks noChangeArrowheads="1"/>
          </p:cNvSpPr>
          <p:nvPr/>
        </p:nvSpPr>
        <p:spPr bwMode="auto">
          <a:xfrm>
            <a:off x="998022" y="2448113"/>
            <a:ext cx="8193573" cy="1507017"/>
          </a:xfrm>
          <a:prstGeom prst="rect">
            <a:avLst/>
          </a:prstGeom>
          <a:noFill/>
          <a:ln w="9525">
            <a:noFill/>
            <a:miter lim="800000"/>
          </a:ln>
        </p:spPr>
        <p:txBody>
          <a:bodyPr vert="horz" wrap="square" lIns="91440" tIns="45720" rIns="91440" bIns="45720" numCol="1" anchor="t" anchorCtr="0" compatLnSpc="1"/>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a:lnSpc>
                <a:spcPct val="150000"/>
              </a:lnSpc>
            </a:pPr>
            <a:r>
              <a:rPr lang="zh-CN" altLang="en-US" sz="2000" kern="0" dirty="0">
                <a:ea typeface="微软雅黑" panose="020B0503020204020204" pitchFamily="34" charset="-122"/>
                <a:cs typeface="Times New Roman" panose="02020603050405020304" pitchFamily="18" charset="0"/>
              </a:rPr>
              <a:t>按滑阀控制边数（其控制作用阀口数）划分</a:t>
            </a:r>
          </a:p>
          <a:p>
            <a:pPr marL="742950" lvl="1" indent="-285750">
              <a:lnSpc>
                <a:spcPct val="150000"/>
              </a:lnSpc>
              <a:buFont typeface="Arial" panose="020B0604020202020204" pitchFamily="34" charset="0"/>
              <a:buChar char="•"/>
            </a:pPr>
            <a:r>
              <a:rPr lang="zh-CN" altLang="en-US" sz="2000" kern="0" dirty="0">
                <a:ea typeface="微软雅黑" panose="020B0503020204020204" pitchFamily="34" charset="-122"/>
                <a:cs typeface="Times New Roman" panose="02020603050405020304" pitchFamily="18" charset="0"/>
              </a:rPr>
              <a:t>四边滑阀：负预开口、零开口、正预开口</a:t>
            </a:r>
          </a:p>
          <a:p>
            <a:pPr marL="742950" lvl="1" indent="-285750">
              <a:lnSpc>
                <a:spcPct val="150000"/>
              </a:lnSpc>
              <a:buFont typeface="Arial" panose="020B0604020202020204" pitchFamily="34" charset="0"/>
              <a:buChar char="•"/>
            </a:pPr>
            <a:r>
              <a:rPr lang="zh-CN" altLang="en-US" sz="2000" kern="0" dirty="0">
                <a:ea typeface="微软雅黑" panose="020B0503020204020204" pitchFamily="34" charset="-122"/>
                <a:cs typeface="Times New Roman" panose="02020603050405020304" pitchFamily="18" charset="0"/>
              </a:rPr>
              <a:t>双边滑阀</a:t>
            </a:r>
          </a:p>
          <a:p>
            <a:pPr marL="742950" lvl="1" indent="-285750">
              <a:lnSpc>
                <a:spcPct val="150000"/>
              </a:lnSpc>
              <a:buFont typeface="Arial" panose="020B0604020202020204" pitchFamily="34" charset="0"/>
              <a:buChar char="•"/>
            </a:pPr>
            <a:r>
              <a:rPr lang="zh-CN" altLang="en-US" sz="2000" kern="0" dirty="0">
                <a:ea typeface="微软雅黑" panose="020B0503020204020204" pitchFamily="34" charset="-122"/>
                <a:cs typeface="Times New Roman" panose="02020603050405020304" pitchFamily="18" charset="0"/>
              </a:rPr>
              <a:t>单边滑阀</a:t>
            </a:r>
          </a:p>
        </p:txBody>
      </p:sp>
      <p:pic>
        <p:nvPicPr>
          <p:cNvPr id="14" name="Picture 5" descr="P1000007">
            <a:extLst>
              <a:ext uri="{FF2B5EF4-FFF2-40B4-BE49-F238E27FC236}">
                <a16:creationId xmlns:a16="http://schemas.microsoft.com/office/drawing/2014/main" id="{F4F30466-9856-63BA-167B-FD5EFE8170BD}"/>
              </a:ext>
            </a:extLst>
          </p:cNvPr>
          <p:cNvPicPr>
            <a:picLocks noChangeAspect="1" noChangeArrowheads="1"/>
          </p:cNvPicPr>
          <p:nvPr/>
        </p:nvPicPr>
        <p:blipFill rotWithShape="1">
          <a:blip r:embed="rId4">
            <a:lum bright="12000"/>
            <a:extLst>
              <a:ext uri="{28A0092B-C50C-407E-A947-70E740481C1C}">
                <a14:useLocalDpi xmlns:a14="http://schemas.microsoft.com/office/drawing/2010/main" val="0"/>
              </a:ext>
            </a:extLst>
          </a:blip>
          <a:srcRect l="-1602" t="-8160" r="1602" b="22474"/>
          <a:stretch>
            <a:fillRect/>
          </a:stretch>
        </p:blipFill>
        <p:spPr bwMode="auto">
          <a:xfrm>
            <a:off x="7171980" y="2708806"/>
            <a:ext cx="4278560" cy="15070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 name="Content Placeholder 2">
            <a:extLst>
              <a:ext uri="{FF2B5EF4-FFF2-40B4-BE49-F238E27FC236}">
                <a16:creationId xmlns:a16="http://schemas.microsoft.com/office/drawing/2014/main" id="{7006213E-861F-AA30-3272-7F732CF5B5F8}"/>
              </a:ext>
            </a:extLst>
          </p:cNvPr>
          <p:cNvSpPr txBox="1"/>
          <p:nvPr/>
        </p:nvSpPr>
        <p:spPr bwMode="auto">
          <a:xfrm>
            <a:off x="6963639" y="4338461"/>
            <a:ext cx="2718395" cy="2044014"/>
          </a:xfrm>
          <a:prstGeom prst="rect">
            <a:avLst/>
          </a:prstGeom>
          <a:noFill/>
          <a:ln w="9525">
            <a:noFill/>
            <a:miter lim="800000"/>
          </a:ln>
        </p:spPr>
        <p:txBody>
          <a:bodyPr vert="horz" wrap="square" lIns="91440" tIns="45720" rIns="91440" bIns="45720" numCol="1" anchor="t" anchorCtr="0" compatLnSpc="1"/>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marL="0" indent="0" algn="ctr">
              <a:lnSpc>
                <a:spcPct val="150000"/>
              </a:lnSpc>
              <a:buNone/>
            </a:pPr>
            <a:r>
              <a:rPr lang="zh-CN" altLang="en-US" sz="2000" kern="0" dirty="0">
                <a:ea typeface="微软雅黑" panose="020B0503020204020204" pitchFamily="34" charset="-122"/>
                <a:cs typeface="Times New Roman" panose="02020603050405020304" pitchFamily="18" charset="0"/>
              </a:rPr>
              <a:t>滑阀预开口形式</a:t>
            </a:r>
            <a:endParaRPr lang="en-US" altLang="zh-CN" sz="2000" kern="0" dirty="0">
              <a:ea typeface="微软雅黑" panose="020B0503020204020204" pitchFamily="34" charset="-122"/>
              <a:cs typeface="Times New Roman" panose="02020603050405020304" pitchFamily="18" charset="0"/>
            </a:endParaRPr>
          </a:p>
          <a:p>
            <a:pPr marL="0" indent="0" algn="ctr">
              <a:lnSpc>
                <a:spcPct val="150000"/>
              </a:lnSpc>
              <a:buNone/>
            </a:pPr>
            <a:r>
              <a:rPr lang="en-US" altLang="zh-CN" sz="2000" kern="0" dirty="0">
                <a:ea typeface="微软雅黑" panose="020B0503020204020204" pitchFamily="34" charset="-122"/>
                <a:cs typeface="Times New Roman" panose="02020603050405020304" pitchFamily="18" charset="0"/>
              </a:rPr>
              <a:t>a)</a:t>
            </a:r>
            <a:r>
              <a:rPr lang="zh-CN" altLang="en-US" sz="2000" kern="0" dirty="0">
                <a:ea typeface="微软雅黑" panose="020B0503020204020204" pitchFamily="34" charset="-122"/>
                <a:cs typeface="Times New Roman" panose="02020603050405020304" pitchFamily="18" charset="0"/>
              </a:rPr>
              <a:t>负开口</a:t>
            </a:r>
            <a:r>
              <a:rPr lang="en-US" altLang="zh-CN" sz="2000" i="1" kern="0" dirty="0">
                <a:ea typeface="微软雅黑" panose="020B0503020204020204" pitchFamily="34" charset="-122"/>
                <a:cs typeface="Times New Roman" panose="02020603050405020304" pitchFamily="18" charset="0"/>
              </a:rPr>
              <a:t>t&gt;h</a:t>
            </a:r>
            <a:r>
              <a:rPr lang="zh-CN" altLang="en-US" sz="2000" kern="0" dirty="0">
                <a:ea typeface="微软雅黑" panose="020B0503020204020204" pitchFamily="34" charset="-122"/>
                <a:cs typeface="Times New Roman" panose="02020603050405020304" pitchFamily="18" charset="0"/>
              </a:rPr>
              <a:t>  </a:t>
            </a:r>
            <a:endParaRPr lang="en-US" altLang="zh-CN" sz="2000" kern="0" dirty="0">
              <a:ea typeface="微软雅黑" panose="020B0503020204020204" pitchFamily="34" charset="-122"/>
              <a:cs typeface="Times New Roman" panose="02020603050405020304" pitchFamily="18" charset="0"/>
            </a:endParaRPr>
          </a:p>
          <a:p>
            <a:pPr marL="0" indent="0" algn="ctr">
              <a:lnSpc>
                <a:spcPct val="150000"/>
              </a:lnSpc>
              <a:buNone/>
            </a:pPr>
            <a:r>
              <a:rPr lang="en-US" altLang="zh-CN" sz="2000" kern="0" dirty="0">
                <a:ea typeface="微软雅黑" panose="020B0503020204020204" pitchFamily="34" charset="-122"/>
                <a:cs typeface="Times New Roman" panose="02020603050405020304" pitchFamily="18" charset="0"/>
              </a:rPr>
              <a:t>b)</a:t>
            </a:r>
            <a:r>
              <a:rPr lang="zh-CN" altLang="en-US" sz="2000" kern="0" dirty="0">
                <a:ea typeface="微软雅黑" panose="020B0503020204020204" pitchFamily="34" charset="-122"/>
                <a:cs typeface="Times New Roman" panose="02020603050405020304" pitchFamily="18" charset="0"/>
              </a:rPr>
              <a:t>零开口</a:t>
            </a:r>
            <a:r>
              <a:rPr lang="en-US" altLang="zh-CN" sz="2000" i="1" kern="0" dirty="0">
                <a:ea typeface="微软雅黑" panose="020B0503020204020204" pitchFamily="34" charset="-122"/>
                <a:cs typeface="Times New Roman" panose="02020603050405020304" pitchFamily="18" charset="0"/>
              </a:rPr>
              <a:t>t=h</a:t>
            </a:r>
            <a:r>
              <a:rPr lang="zh-CN" altLang="en-US" sz="2000" kern="0" dirty="0">
                <a:ea typeface="微软雅黑" panose="020B0503020204020204" pitchFamily="34" charset="-122"/>
                <a:cs typeface="Times New Roman" panose="02020603050405020304" pitchFamily="18" charset="0"/>
              </a:rPr>
              <a:t>   </a:t>
            </a:r>
            <a:endParaRPr lang="en-US" altLang="zh-CN" sz="2000" kern="0" dirty="0">
              <a:ea typeface="微软雅黑" panose="020B0503020204020204" pitchFamily="34" charset="-122"/>
              <a:cs typeface="Times New Roman" panose="02020603050405020304" pitchFamily="18" charset="0"/>
            </a:endParaRPr>
          </a:p>
          <a:p>
            <a:pPr marL="0" indent="0" algn="ctr">
              <a:lnSpc>
                <a:spcPct val="150000"/>
              </a:lnSpc>
              <a:buNone/>
            </a:pPr>
            <a:r>
              <a:rPr lang="en-US" altLang="zh-CN" sz="2000" kern="0" dirty="0">
                <a:ea typeface="微软雅黑" panose="020B0503020204020204" pitchFamily="34" charset="-122"/>
                <a:cs typeface="Times New Roman" panose="02020603050405020304" pitchFamily="18" charset="0"/>
              </a:rPr>
              <a:t>c)</a:t>
            </a:r>
            <a:r>
              <a:rPr lang="zh-CN" altLang="en-US" sz="2000" kern="0" dirty="0">
                <a:ea typeface="微软雅黑" panose="020B0503020204020204" pitchFamily="34" charset="-122"/>
                <a:cs typeface="Times New Roman" panose="02020603050405020304" pitchFamily="18" charset="0"/>
              </a:rPr>
              <a:t>正开口</a:t>
            </a:r>
            <a:r>
              <a:rPr lang="en-US" altLang="zh-CN" sz="2000" i="1" kern="0" dirty="0">
                <a:ea typeface="微软雅黑" panose="020B0503020204020204" pitchFamily="34" charset="-122"/>
                <a:cs typeface="Times New Roman" panose="02020603050405020304" pitchFamily="18" charset="0"/>
              </a:rPr>
              <a:t>t&lt;h</a:t>
            </a:r>
            <a:endParaRPr lang="en-US" altLang="zh-CN" sz="2000" kern="0" dirty="0">
              <a:ea typeface="微软雅黑" panose="020B0503020204020204" pitchFamily="34" charset="-122"/>
              <a:cs typeface="Times New Roman" panose="02020603050405020304" pitchFamily="18" charset="0"/>
            </a:endParaRPr>
          </a:p>
        </p:txBody>
      </p:sp>
      <p:grpSp>
        <p:nvGrpSpPr>
          <p:cNvPr id="2" name="组合 1">
            <a:extLst>
              <a:ext uri="{FF2B5EF4-FFF2-40B4-BE49-F238E27FC236}">
                <a16:creationId xmlns:a16="http://schemas.microsoft.com/office/drawing/2014/main" id="{2D745A29-AE07-443B-B6EA-15DB7C0815F3}"/>
              </a:ext>
            </a:extLst>
          </p:cNvPr>
          <p:cNvGrpSpPr/>
          <p:nvPr/>
        </p:nvGrpSpPr>
        <p:grpSpPr>
          <a:xfrm>
            <a:off x="1282519" y="4344394"/>
            <a:ext cx="4569723" cy="2378191"/>
            <a:chOff x="814264" y="3693407"/>
            <a:chExt cx="5512936" cy="3029178"/>
          </a:xfrm>
        </p:grpSpPr>
        <p:pic>
          <p:nvPicPr>
            <p:cNvPr id="16" name="图片 15">
              <a:extLst>
                <a:ext uri="{FF2B5EF4-FFF2-40B4-BE49-F238E27FC236}">
                  <a16:creationId xmlns:a16="http://schemas.microsoft.com/office/drawing/2014/main" id="{583AEAB7-3439-0C7C-F174-4A11163ABFB1}"/>
                </a:ext>
              </a:extLst>
            </p:cNvPr>
            <p:cNvPicPr>
              <a:picLocks noChangeAspect="1"/>
            </p:cNvPicPr>
            <p:nvPr/>
          </p:nvPicPr>
          <p:blipFill>
            <a:blip r:embed="rId5"/>
            <a:stretch>
              <a:fillRect/>
            </a:stretch>
          </p:blipFill>
          <p:spPr>
            <a:xfrm>
              <a:off x="814264" y="3693407"/>
              <a:ext cx="5512936" cy="3029178"/>
            </a:xfrm>
            <a:prstGeom prst="rect">
              <a:avLst/>
            </a:prstGeom>
          </p:spPr>
        </p:pic>
        <p:sp>
          <p:nvSpPr>
            <p:cNvPr id="17" name="矩形 16">
              <a:extLst>
                <a:ext uri="{FF2B5EF4-FFF2-40B4-BE49-F238E27FC236}">
                  <a16:creationId xmlns:a16="http://schemas.microsoft.com/office/drawing/2014/main" id="{4F6829D3-3DD7-94BB-BF41-7E4E1BC5A770}"/>
                </a:ext>
              </a:extLst>
            </p:cNvPr>
            <p:cNvSpPr/>
            <p:nvPr/>
          </p:nvSpPr>
          <p:spPr>
            <a:xfrm>
              <a:off x="1654009" y="6223903"/>
              <a:ext cx="3833446" cy="293077"/>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latin typeface="Times New Roman" panose="02020603050405020304" pitchFamily="18" charset="0"/>
                  <a:ea typeface="微软雅黑" panose="020B0503020204020204" pitchFamily="34" charset="-122"/>
                  <a:cs typeface="Times New Roman" panose="02020603050405020304" pitchFamily="18" charset="0"/>
                </a:rPr>
                <a:t>单边、双边和四边滑阀</a:t>
              </a:r>
            </a:p>
          </p:txBody>
        </p:sp>
      </p:grpSp>
      <p:sp>
        <p:nvSpPr>
          <p:cNvPr id="18" name="矩形 17">
            <a:extLst>
              <a:ext uri="{FF2B5EF4-FFF2-40B4-BE49-F238E27FC236}">
                <a16:creationId xmlns:a16="http://schemas.microsoft.com/office/drawing/2014/main" id="{F84710B7-D49E-5EA3-D77B-2854FAAF06BE}"/>
              </a:ext>
            </a:extLst>
          </p:cNvPr>
          <p:cNvSpPr/>
          <p:nvPr/>
        </p:nvSpPr>
        <p:spPr>
          <a:xfrm>
            <a:off x="814264" y="1403466"/>
            <a:ext cx="10447903" cy="499624"/>
          </a:xfrm>
          <a:prstGeom prst="rect">
            <a:avLst/>
          </a:prstGeom>
        </p:spPr>
        <p:txBody>
          <a:bodyPr wrap="square">
            <a:spAutoFit/>
          </a:bodyPr>
          <a:lstStyle/>
          <a:p>
            <a:pPr marL="285750" indent="-285750">
              <a:lnSpc>
                <a:spcPct val="150000"/>
              </a:lnSpc>
              <a:buFont typeface="Arial" panose="020B0604020202020204" pitchFamily="34" charset="0"/>
              <a:buChar char="•"/>
            </a:pPr>
            <a:r>
              <a:rPr lang="zh-CN" altLang="en-US" sz="2000" dirty="0">
                <a:solidFill>
                  <a:srgbClr val="000000"/>
                </a:solidFill>
                <a:latin typeface="Times New Roman" panose="02020603050405020304" pitchFamily="18" charset="0"/>
                <a:ea typeface="微软雅黑" panose="020B0503020204020204" pitchFamily="34" charset="-122"/>
                <a:cs typeface="Times New Roman" panose="02020603050405020304" pitchFamily="18" charset="0"/>
              </a:rPr>
              <a:t>液压伺服阀中常用的液压控制元件的结构有</a:t>
            </a:r>
            <a:r>
              <a:rPr lang="zh-CN" altLang="en-US" sz="2000" dirty="0">
                <a:solidFill>
                  <a:srgbClr val="FF0000"/>
                </a:solidFill>
                <a:latin typeface="Times New Roman" panose="02020603050405020304" pitchFamily="18" charset="0"/>
                <a:ea typeface="微软雅黑" panose="020B0503020204020204" pitchFamily="34" charset="-122"/>
                <a:cs typeface="Times New Roman" panose="02020603050405020304" pitchFamily="18" charset="0"/>
              </a:rPr>
              <a:t>滑阀</a:t>
            </a:r>
            <a:r>
              <a:rPr lang="zh-CN" altLang="en-US" sz="2000" dirty="0">
                <a:solidFill>
                  <a:srgbClr val="000000"/>
                </a:solidFill>
                <a:latin typeface="Times New Roman" panose="02020603050405020304" pitchFamily="18" charset="0"/>
                <a:ea typeface="微软雅黑" panose="020B0503020204020204" pitchFamily="34" charset="-122"/>
                <a:cs typeface="Times New Roman" panose="02020603050405020304" pitchFamily="18" charset="0"/>
              </a:rPr>
              <a:t>、</a:t>
            </a:r>
            <a:r>
              <a:rPr lang="zh-CN" altLang="en-US" sz="2000" dirty="0">
                <a:solidFill>
                  <a:srgbClr val="FF0000"/>
                </a:solidFill>
                <a:latin typeface="Times New Roman" panose="02020603050405020304" pitchFamily="18" charset="0"/>
                <a:ea typeface="微软雅黑" panose="020B0503020204020204" pitchFamily="34" charset="-122"/>
                <a:cs typeface="Times New Roman" panose="02020603050405020304" pitchFamily="18" charset="0"/>
              </a:rPr>
              <a:t>射流管</a:t>
            </a:r>
            <a:r>
              <a:rPr lang="zh-CN" altLang="en-US" sz="2000" dirty="0">
                <a:solidFill>
                  <a:srgbClr val="000000"/>
                </a:solidFill>
                <a:latin typeface="Times New Roman" panose="02020603050405020304" pitchFamily="18" charset="0"/>
                <a:ea typeface="微软雅黑" panose="020B0503020204020204" pitchFamily="34" charset="-122"/>
                <a:cs typeface="Times New Roman" panose="02020603050405020304" pitchFamily="18" charset="0"/>
              </a:rPr>
              <a:t>和</a:t>
            </a:r>
            <a:r>
              <a:rPr lang="zh-CN" altLang="en-US" sz="2000" dirty="0">
                <a:solidFill>
                  <a:srgbClr val="FF0000"/>
                </a:solidFill>
                <a:latin typeface="Times New Roman" panose="02020603050405020304" pitchFamily="18" charset="0"/>
                <a:ea typeface="微软雅黑" panose="020B0503020204020204" pitchFamily="34" charset="-122"/>
                <a:cs typeface="Times New Roman" panose="02020603050405020304" pitchFamily="18" charset="0"/>
              </a:rPr>
              <a:t>喷嘴</a:t>
            </a:r>
            <a:r>
              <a:rPr lang="en-US" altLang="zh-CN" sz="2000" dirty="0">
                <a:solidFill>
                  <a:srgbClr val="FF0000"/>
                </a:solidFill>
                <a:latin typeface="Times New Roman" panose="02020603050405020304" pitchFamily="18" charset="0"/>
                <a:ea typeface="微软雅黑" panose="020B0503020204020204" pitchFamily="34" charset="-122"/>
                <a:cs typeface="Times New Roman" panose="02020603050405020304" pitchFamily="18" charset="0"/>
              </a:rPr>
              <a:t>-</a:t>
            </a:r>
            <a:r>
              <a:rPr lang="zh-CN" altLang="en-US" sz="2000" dirty="0">
                <a:solidFill>
                  <a:srgbClr val="FF0000"/>
                </a:solidFill>
                <a:latin typeface="Times New Roman" panose="02020603050405020304" pitchFamily="18" charset="0"/>
                <a:ea typeface="微软雅黑" panose="020B0503020204020204" pitchFamily="34" charset="-122"/>
                <a:cs typeface="Times New Roman" panose="02020603050405020304" pitchFamily="18" charset="0"/>
              </a:rPr>
              <a:t>挡板</a:t>
            </a:r>
            <a:r>
              <a:rPr lang="zh-CN" altLang="en-US" sz="2000" dirty="0">
                <a:solidFill>
                  <a:srgbClr val="000000"/>
                </a:solidFill>
                <a:latin typeface="Times New Roman" panose="02020603050405020304" pitchFamily="18" charset="0"/>
                <a:ea typeface="微软雅黑" panose="020B0503020204020204" pitchFamily="34" charset="-122"/>
                <a:cs typeface="Times New Roman" panose="02020603050405020304" pitchFamily="18" charset="0"/>
              </a:rPr>
              <a:t>三种。</a:t>
            </a:r>
          </a:p>
        </p:txBody>
      </p:sp>
      <p:sp>
        <p:nvSpPr>
          <p:cNvPr id="19" name="箭头: 右 18">
            <a:extLst>
              <a:ext uri="{FF2B5EF4-FFF2-40B4-BE49-F238E27FC236}">
                <a16:creationId xmlns:a16="http://schemas.microsoft.com/office/drawing/2014/main" id="{65802558-D2FA-B22E-E56F-3539B0EEEC96}"/>
              </a:ext>
            </a:extLst>
          </p:cNvPr>
          <p:cNvSpPr/>
          <p:nvPr/>
        </p:nvSpPr>
        <p:spPr>
          <a:xfrm rot="2187741">
            <a:off x="6442105" y="3341433"/>
            <a:ext cx="498485" cy="241760"/>
          </a:xfrm>
          <a:prstGeom prst="rightArrow">
            <a:avLst>
              <a:gd name="adj1" fmla="val 50000"/>
              <a:gd name="adj2" fmla="val 4695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3" name="文本框 2">
            <a:extLst>
              <a:ext uri="{FF2B5EF4-FFF2-40B4-BE49-F238E27FC236}">
                <a16:creationId xmlns:a16="http://schemas.microsoft.com/office/drawing/2014/main" id="{CA518780-3D49-44FD-A646-47C0D9452D5F}"/>
              </a:ext>
            </a:extLst>
          </p:cNvPr>
          <p:cNvSpPr txBox="1"/>
          <p:nvPr/>
        </p:nvSpPr>
        <p:spPr>
          <a:xfrm>
            <a:off x="9420957" y="4816335"/>
            <a:ext cx="2050561" cy="1422441"/>
          </a:xfrm>
          <a:prstGeom prst="rect">
            <a:avLst/>
          </a:prstGeom>
          <a:noFill/>
        </p:spPr>
        <p:txBody>
          <a:bodyPr wrap="none" rtlCol="0">
            <a:spAutoFit/>
          </a:bodyPr>
          <a:lstStyle/>
          <a:p>
            <a:pPr>
              <a:lnSpc>
                <a:spcPct val="150000"/>
              </a:lnSpc>
            </a:pPr>
            <a:r>
              <a:rPr lang="zh-CN" altLang="en-US" sz="2000" dirty="0">
                <a:solidFill>
                  <a:srgbClr val="0070C0"/>
                </a:solidFill>
              </a:rPr>
              <a:t>正遮盖</a:t>
            </a:r>
            <a:r>
              <a:rPr lang="en-US" altLang="zh-CN" sz="2000" dirty="0">
                <a:solidFill>
                  <a:srgbClr val="0070C0"/>
                </a:solidFill>
              </a:rPr>
              <a:t>/</a:t>
            </a:r>
            <a:r>
              <a:rPr lang="zh-CN" altLang="en-US" sz="2000" dirty="0">
                <a:solidFill>
                  <a:srgbClr val="0070C0"/>
                </a:solidFill>
              </a:rPr>
              <a:t>负预开口</a:t>
            </a:r>
            <a:endParaRPr lang="en-US" altLang="zh-CN" sz="2000" dirty="0">
              <a:solidFill>
                <a:srgbClr val="0070C0"/>
              </a:solidFill>
            </a:endParaRPr>
          </a:p>
          <a:p>
            <a:pPr>
              <a:lnSpc>
                <a:spcPct val="150000"/>
              </a:lnSpc>
            </a:pPr>
            <a:r>
              <a:rPr lang="zh-CN" altLang="en-US" sz="2000" dirty="0">
                <a:solidFill>
                  <a:srgbClr val="0070C0"/>
                </a:solidFill>
              </a:rPr>
              <a:t>零遮盖</a:t>
            </a:r>
            <a:r>
              <a:rPr lang="en-US" altLang="zh-CN" sz="2000" dirty="0">
                <a:solidFill>
                  <a:srgbClr val="0070C0"/>
                </a:solidFill>
              </a:rPr>
              <a:t>/</a:t>
            </a:r>
            <a:r>
              <a:rPr lang="zh-CN" altLang="en-US" sz="2000" dirty="0">
                <a:solidFill>
                  <a:srgbClr val="0070C0"/>
                </a:solidFill>
              </a:rPr>
              <a:t>零开口</a:t>
            </a:r>
            <a:endParaRPr lang="en-US" altLang="zh-CN" sz="2000" dirty="0">
              <a:solidFill>
                <a:srgbClr val="0070C0"/>
              </a:solidFill>
            </a:endParaRPr>
          </a:p>
          <a:p>
            <a:pPr>
              <a:lnSpc>
                <a:spcPct val="150000"/>
              </a:lnSpc>
            </a:pPr>
            <a:r>
              <a:rPr lang="zh-CN" altLang="en-US" sz="2000" dirty="0">
                <a:solidFill>
                  <a:srgbClr val="0070C0"/>
                </a:solidFill>
              </a:rPr>
              <a:t>负遮盖</a:t>
            </a:r>
            <a:r>
              <a:rPr lang="en-US" altLang="zh-CN" sz="2000" dirty="0">
                <a:solidFill>
                  <a:srgbClr val="0070C0"/>
                </a:solidFill>
              </a:rPr>
              <a:t>/</a:t>
            </a:r>
            <a:r>
              <a:rPr lang="zh-CN" altLang="en-US" sz="2000" dirty="0">
                <a:solidFill>
                  <a:srgbClr val="0070C0"/>
                </a:solidFill>
              </a:rPr>
              <a:t>正预开口</a:t>
            </a:r>
          </a:p>
        </p:txBody>
      </p:sp>
    </p:spTree>
    <p:extLst>
      <p:ext uri="{BB962C8B-B14F-4D97-AF65-F5344CB8AC3E}">
        <p14:creationId xmlns:p14="http://schemas.microsoft.com/office/powerpoint/2010/main" val="18709555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ea typeface="微软雅黑" panose="020B0503020204020204" pitchFamily="34" charset="-122"/>
                <a:cs typeface="Times New Roman" panose="02020603050405020304" pitchFamily="18" charset="0"/>
              </a:rPr>
              <a:t>10.3 </a:t>
            </a:r>
            <a:r>
              <a:rPr lang="zh-CN" altLang="en-US" sz="3600" b="1" dirty="0">
                <a:solidFill>
                  <a:srgbClr val="003F88"/>
                </a:solidFill>
                <a:latin typeface="Times New Roman" panose="02020603050405020304" pitchFamily="18" charset="0"/>
                <a:ea typeface="微软雅黑" panose="020B0503020204020204" pitchFamily="34" charset="-122"/>
                <a:cs typeface="Times New Roman" panose="02020603050405020304" pitchFamily="18" charset="0"/>
              </a:rPr>
              <a:t>常见结构</a:t>
            </a:r>
          </a:p>
        </p:txBody>
      </p:sp>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26" name="矩形 25">
            <a:extLst>
              <a:ext uri="{FF2B5EF4-FFF2-40B4-BE49-F238E27FC236}">
                <a16:creationId xmlns:a16="http://schemas.microsoft.com/office/drawing/2014/main" id="{08E12499-BFB8-47F3-BAC4-975EC1E1E5B1}"/>
              </a:ext>
            </a:extLst>
          </p:cNvPr>
          <p:cNvSpPr/>
          <p:nvPr/>
        </p:nvSpPr>
        <p:spPr>
          <a:xfrm>
            <a:off x="429656" y="893424"/>
            <a:ext cx="7547154" cy="581762"/>
          </a:xfrm>
          <a:prstGeom prst="rect">
            <a:avLst/>
          </a:prstGeom>
        </p:spPr>
        <p:txBody>
          <a:bodyPr wrap="square">
            <a:spAutoFit/>
          </a:bodyPr>
          <a:lstStyle/>
          <a:p>
            <a:pPr marL="457200" indent="-457200">
              <a:lnSpc>
                <a:spcPct val="125000"/>
              </a:lnSpc>
              <a:buFont typeface="Wingdings" panose="05000000000000000000" pitchFamily="2" charset="2"/>
              <a:buChar char="p"/>
            </a:pPr>
            <a:r>
              <a:rPr lang="zh-CN" altLang="en-US" sz="2800" b="1" dirty="0">
                <a:solidFill>
                  <a:srgbClr val="003F88"/>
                </a:solidFill>
                <a:latin typeface="微软雅黑" panose="020B0503020204020204" pitchFamily="34" charset="-122"/>
                <a:ea typeface="微软雅黑" panose="020B0503020204020204" pitchFamily="34" charset="-122"/>
              </a:rPr>
              <a:t>电液伺服阀常用液压控制元件结构形式</a:t>
            </a:r>
          </a:p>
        </p:txBody>
      </p:sp>
      <p:sp>
        <p:nvSpPr>
          <p:cNvPr id="2" name="文本框 2">
            <a:extLst>
              <a:ext uri="{FF2B5EF4-FFF2-40B4-BE49-F238E27FC236}">
                <a16:creationId xmlns:a16="http://schemas.microsoft.com/office/drawing/2014/main" id="{D825901A-DA18-D84D-6DA9-61580B841D82}"/>
              </a:ext>
            </a:extLst>
          </p:cNvPr>
          <p:cNvSpPr txBox="1"/>
          <p:nvPr/>
        </p:nvSpPr>
        <p:spPr>
          <a:xfrm>
            <a:off x="1054817" y="1468362"/>
            <a:ext cx="1423616" cy="580865"/>
          </a:xfrm>
          <a:prstGeom prst="rect">
            <a:avLst/>
          </a:prstGeom>
          <a:noFill/>
        </p:spPr>
        <p:txBody>
          <a:bodyPr wrap="square" rtlCol="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a:lnSpc>
                <a:spcPct val="150000"/>
              </a:lnSpc>
            </a:pPr>
            <a:r>
              <a:rPr lang="zh-CN" altLang="en-US" sz="2400" b="1" dirty="0">
                <a:ea typeface="微软雅黑" panose="020B0503020204020204" pitchFamily="34" charset="-122"/>
                <a:cs typeface="Times New Roman" panose="02020603050405020304" pitchFamily="18" charset="0"/>
              </a:rPr>
              <a:t>射流管</a:t>
            </a:r>
            <a:endParaRPr lang="en-US" altLang="zh-CN" sz="2400" b="1" dirty="0">
              <a:ea typeface="微软雅黑" panose="020B0503020204020204" pitchFamily="34" charset="-122"/>
              <a:cs typeface="Times New Roman" panose="02020603050405020304" pitchFamily="18" charset="0"/>
            </a:endParaRPr>
          </a:p>
        </p:txBody>
      </p:sp>
      <p:sp>
        <p:nvSpPr>
          <p:cNvPr id="6" name="Rectangle 3">
            <a:extLst>
              <a:ext uri="{FF2B5EF4-FFF2-40B4-BE49-F238E27FC236}">
                <a16:creationId xmlns:a16="http://schemas.microsoft.com/office/drawing/2014/main" id="{C5AFA836-9D3A-7166-C16B-9404A6AD9482}"/>
              </a:ext>
            </a:extLst>
          </p:cNvPr>
          <p:cNvSpPr txBox="1">
            <a:spLocks noChangeArrowheads="1"/>
          </p:cNvSpPr>
          <p:nvPr/>
        </p:nvSpPr>
        <p:spPr bwMode="auto">
          <a:xfrm>
            <a:off x="629429" y="2024067"/>
            <a:ext cx="6548966" cy="5263675"/>
          </a:xfrm>
          <a:prstGeom prst="rect">
            <a:avLst/>
          </a:prstGeom>
          <a:noFill/>
          <a:ln w="9525">
            <a:noFill/>
            <a:miter lim="800000"/>
          </a:ln>
        </p:spPr>
        <p:txBody>
          <a:bodyPr vert="horz" wrap="square" lIns="91440" tIns="45720" rIns="91440" bIns="45720" numCol="1" anchor="t" anchorCtr="0" compatLnSpc="1"/>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eaLnBrk="1" hangingPunct="1">
              <a:lnSpc>
                <a:spcPct val="150000"/>
              </a:lnSpc>
            </a:pPr>
            <a:r>
              <a:rPr lang="zh-CN" altLang="en-US" sz="2000" kern="0" dirty="0">
                <a:ea typeface="微软雅黑" panose="020B0503020204020204" pitchFamily="34" charset="-122"/>
                <a:cs typeface="Times New Roman" panose="02020603050405020304" pitchFamily="18" charset="0"/>
              </a:rPr>
              <a:t>主要由射流管、接收器和液压缸组成</a:t>
            </a:r>
          </a:p>
          <a:p>
            <a:pPr eaLnBrk="1" hangingPunct="1">
              <a:lnSpc>
                <a:spcPct val="150000"/>
              </a:lnSpc>
            </a:pPr>
            <a:r>
              <a:rPr lang="zh-CN" altLang="en-US" sz="2000" kern="0" dirty="0">
                <a:ea typeface="微软雅黑" panose="020B0503020204020204" pitchFamily="34" charset="-122"/>
                <a:cs typeface="Times New Roman" panose="02020603050405020304" pitchFamily="18" charset="0"/>
              </a:rPr>
              <a:t>特点：</a:t>
            </a:r>
            <a:endParaRPr lang="en-US" altLang="zh-CN" sz="2000" kern="0" dirty="0">
              <a:ea typeface="微软雅黑" panose="020B0503020204020204" pitchFamily="34" charset="-122"/>
              <a:cs typeface="Times New Roman" panose="02020603050405020304" pitchFamily="18" charset="0"/>
            </a:endParaRPr>
          </a:p>
          <a:p>
            <a:pPr marL="742950" lvl="1" indent="-285750">
              <a:lnSpc>
                <a:spcPct val="150000"/>
              </a:lnSpc>
              <a:buFont typeface="Arial" panose="020B0604020202020204" pitchFamily="34" charset="0"/>
              <a:buChar char="•"/>
            </a:pPr>
            <a:r>
              <a:rPr lang="zh-CN" altLang="en-US" sz="2000" kern="0" dirty="0">
                <a:ea typeface="微软雅黑" panose="020B0503020204020204" pitchFamily="34" charset="-122"/>
                <a:cs typeface="Times New Roman" panose="02020603050405020304" pitchFamily="18" charset="0"/>
              </a:rPr>
              <a:t>结构简单、加工精度要求低</a:t>
            </a:r>
            <a:endParaRPr lang="en-US" altLang="zh-CN" sz="2000" kern="0" dirty="0">
              <a:ea typeface="微软雅黑" panose="020B0503020204020204" pitchFamily="34" charset="-122"/>
              <a:cs typeface="Times New Roman" panose="02020603050405020304" pitchFamily="18" charset="0"/>
            </a:endParaRPr>
          </a:p>
          <a:p>
            <a:pPr marL="742950" lvl="1" indent="-285750">
              <a:lnSpc>
                <a:spcPct val="150000"/>
              </a:lnSpc>
              <a:buFont typeface="Arial" panose="020B0604020202020204" pitchFamily="34" charset="0"/>
              <a:buChar char="•"/>
            </a:pPr>
            <a:r>
              <a:rPr lang="zh-CN" altLang="en-US" sz="2000" b="1" kern="0" dirty="0">
                <a:solidFill>
                  <a:srgbClr val="C00000"/>
                </a:solidFill>
                <a:ea typeface="微软雅黑" panose="020B0503020204020204" pitchFamily="34" charset="-122"/>
                <a:cs typeface="Times New Roman" panose="02020603050405020304" pitchFamily="18" charset="0"/>
              </a:rPr>
              <a:t>出口面积大、抗污染能力强</a:t>
            </a:r>
          </a:p>
          <a:p>
            <a:pPr marL="742950" lvl="1" indent="-285750" eaLnBrk="1" hangingPunct="1">
              <a:lnSpc>
                <a:spcPct val="150000"/>
              </a:lnSpc>
              <a:buFont typeface="Arial" panose="020B0604020202020204" pitchFamily="34" charset="0"/>
              <a:buChar char="•"/>
            </a:pPr>
            <a:r>
              <a:rPr lang="zh-CN" altLang="en-US" sz="2000" kern="0" dirty="0">
                <a:ea typeface="微软雅黑" panose="020B0503020204020204" pitchFamily="34" charset="-122"/>
                <a:cs typeface="Times New Roman" panose="02020603050405020304" pitchFamily="18" charset="0"/>
              </a:rPr>
              <a:t>压力恢复系数和流量恢复系数高</a:t>
            </a:r>
          </a:p>
          <a:p>
            <a:pPr marL="742950" lvl="1" indent="-285750" eaLnBrk="1" hangingPunct="1">
              <a:lnSpc>
                <a:spcPct val="150000"/>
              </a:lnSpc>
              <a:buFont typeface="Arial" panose="020B0604020202020204" pitchFamily="34" charset="0"/>
              <a:buChar char="•"/>
            </a:pPr>
            <a:r>
              <a:rPr lang="zh-CN" altLang="en-US" sz="2000" kern="0" dirty="0">
                <a:ea typeface="微软雅黑" panose="020B0503020204020204" pitchFamily="34" charset="-122"/>
                <a:cs typeface="Times New Roman" panose="02020603050405020304" pitchFamily="18" charset="0"/>
              </a:rPr>
              <a:t>其特性不易预测，主要靠实验测得</a:t>
            </a:r>
          </a:p>
          <a:p>
            <a:pPr marL="742950" lvl="1" indent="-285750" eaLnBrk="1" hangingPunct="1">
              <a:lnSpc>
                <a:spcPct val="150000"/>
              </a:lnSpc>
              <a:buFont typeface="Arial" panose="020B0604020202020204" pitchFamily="34" charset="0"/>
              <a:buChar char="•"/>
            </a:pPr>
            <a:r>
              <a:rPr lang="zh-CN" altLang="en-US" sz="2000" kern="0" dirty="0">
                <a:ea typeface="微软雅黑" panose="020B0503020204020204" pitchFamily="34" charset="-122"/>
                <a:cs typeface="Times New Roman" panose="02020603050405020304" pitchFamily="18" charset="0"/>
              </a:rPr>
              <a:t>当油液粘性变化时对特性影响较大，低温特性较差</a:t>
            </a:r>
          </a:p>
          <a:p>
            <a:pPr marL="742950" lvl="1" indent="-285750" eaLnBrk="1" hangingPunct="1">
              <a:lnSpc>
                <a:spcPct val="150000"/>
              </a:lnSpc>
              <a:buFont typeface="Arial" panose="020B0604020202020204" pitchFamily="34" charset="0"/>
              <a:buChar char="•"/>
            </a:pPr>
            <a:r>
              <a:rPr lang="zh-CN" altLang="en-US" sz="2000" kern="0" dirty="0">
                <a:ea typeface="微软雅黑" panose="020B0503020204020204" pitchFamily="34" charset="-122"/>
                <a:cs typeface="Times New Roman" panose="02020603050405020304" pitchFamily="18" charset="0"/>
              </a:rPr>
              <a:t>射流管的惯性较大</a:t>
            </a:r>
          </a:p>
          <a:p>
            <a:pPr marL="742950" lvl="1" indent="-285750" eaLnBrk="1" hangingPunct="1">
              <a:lnSpc>
                <a:spcPct val="150000"/>
              </a:lnSpc>
              <a:buFont typeface="Arial" panose="020B0604020202020204" pitchFamily="34" charset="0"/>
              <a:buChar char="•"/>
            </a:pPr>
            <a:r>
              <a:rPr lang="zh-CN" altLang="en-US" sz="2000" kern="0" dirty="0">
                <a:ea typeface="微软雅黑" panose="020B0503020204020204" pitchFamily="34" charset="-122"/>
                <a:cs typeface="Times New Roman" panose="02020603050405020304" pitchFamily="18" charset="0"/>
              </a:rPr>
              <a:t>零位泄漏量大</a:t>
            </a:r>
          </a:p>
          <a:p>
            <a:pPr lvl="1" eaLnBrk="1" hangingPunct="1"/>
            <a:endParaRPr lang="zh-CN" altLang="en-US" sz="2000" kern="0" dirty="0">
              <a:ea typeface="微软雅黑" panose="020B0503020204020204" pitchFamily="34" charset="-122"/>
              <a:cs typeface="Times New Roman" panose="02020603050405020304" pitchFamily="18" charset="0"/>
            </a:endParaRPr>
          </a:p>
        </p:txBody>
      </p:sp>
      <p:grpSp>
        <p:nvGrpSpPr>
          <p:cNvPr id="3" name="组合 2">
            <a:extLst>
              <a:ext uri="{FF2B5EF4-FFF2-40B4-BE49-F238E27FC236}">
                <a16:creationId xmlns:a16="http://schemas.microsoft.com/office/drawing/2014/main" id="{E398C0F7-5A1A-4697-8C11-722041F1846C}"/>
              </a:ext>
            </a:extLst>
          </p:cNvPr>
          <p:cNvGrpSpPr/>
          <p:nvPr/>
        </p:nvGrpSpPr>
        <p:grpSpPr>
          <a:xfrm>
            <a:off x="7729125" y="2024067"/>
            <a:ext cx="3833446" cy="3706202"/>
            <a:chOff x="904043" y="2144790"/>
            <a:chExt cx="3833446" cy="3706202"/>
          </a:xfrm>
        </p:grpSpPr>
        <p:pic>
          <p:nvPicPr>
            <p:cNvPr id="10" name="图片 9">
              <a:extLst>
                <a:ext uri="{FF2B5EF4-FFF2-40B4-BE49-F238E27FC236}">
                  <a16:creationId xmlns:a16="http://schemas.microsoft.com/office/drawing/2014/main" id="{BA5ACF59-A883-ABD9-1D7E-DB082C5F297A}"/>
                </a:ext>
              </a:extLst>
            </p:cNvPr>
            <p:cNvPicPr>
              <a:picLocks noChangeAspect="1"/>
            </p:cNvPicPr>
            <p:nvPr/>
          </p:nvPicPr>
          <p:blipFill>
            <a:blip r:embed="rId3"/>
            <a:stretch>
              <a:fillRect/>
            </a:stretch>
          </p:blipFill>
          <p:spPr>
            <a:xfrm>
              <a:off x="1354317" y="2144790"/>
              <a:ext cx="2932899" cy="3706202"/>
            </a:xfrm>
            <a:prstGeom prst="rect">
              <a:avLst/>
            </a:prstGeom>
          </p:spPr>
        </p:pic>
        <p:sp>
          <p:nvSpPr>
            <p:cNvPr id="17" name="矩形 16">
              <a:extLst>
                <a:ext uri="{FF2B5EF4-FFF2-40B4-BE49-F238E27FC236}">
                  <a16:creationId xmlns:a16="http://schemas.microsoft.com/office/drawing/2014/main" id="{C4FB95D5-08E5-BB24-867D-2C1B3B10F5A1}"/>
                </a:ext>
              </a:extLst>
            </p:cNvPr>
            <p:cNvSpPr/>
            <p:nvPr/>
          </p:nvSpPr>
          <p:spPr>
            <a:xfrm>
              <a:off x="904043" y="5285558"/>
              <a:ext cx="3833446" cy="293077"/>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latin typeface="Times New Roman" panose="02020603050405020304" pitchFamily="18" charset="0"/>
                  <a:ea typeface="微软雅黑" panose="020B0503020204020204" pitchFamily="34" charset="-122"/>
                  <a:cs typeface="Times New Roman" panose="02020603050405020304" pitchFamily="18" charset="0"/>
                </a:rPr>
                <a:t>射流管的工作原理</a:t>
              </a:r>
            </a:p>
          </p:txBody>
        </p:sp>
      </p:grpSp>
      <p:sp>
        <p:nvSpPr>
          <p:cNvPr id="19" name="文本框 18">
            <a:extLst>
              <a:ext uri="{FF2B5EF4-FFF2-40B4-BE49-F238E27FC236}">
                <a16:creationId xmlns:a16="http://schemas.microsoft.com/office/drawing/2014/main" id="{AC252B62-DA4E-1CAC-C10F-822DCAA23AC0}"/>
              </a:ext>
            </a:extLst>
          </p:cNvPr>
          <p:cNvSpPr txBox="1"/>
          <p:nvPr/>
        </p:nvSpPr>
        <p:spPr>
          <a:xfrm>
            <a:off x="2996759" y="6290214"/>
            <a:ext cx="7251747" cy="461665"/>
          </a:xfrm>
          <a:prstGeom prst="rect">
            <a:avLst/>
          </a:prstGeom>
          <a:noFill/>
        </p:spPr>
        <p:txBody>
          <a:bodyPr wrap="square">
            <a:spAutoFit/>
          </a:bodyPr>
          <a:lstStyle/>
          <a:p>
            <a:r>
              <a:rPr lang="zh-CN" altLang="en-US" sz="2400" b="1" dirty="0">
                <a:latin typeface="Times New Roman" panose="02020603050405020304" pitchFamily="18" charset="0"/>
                <a:ea typeface="微软雅黑" panose="020B0503020204020204" pitchFamily="34" charset="-122"/>
                <a:cs typeface="Times New Roman" panose="02020603050405020304" pitchFamily="18" charset="0"/>
              </a:rPr>
              <a:t>射流管主要用于多级伺服阀的第一级的场合。</a:t>
            </a:r>
          </a:p>
        </p:txBody>
      </p:sp>
      <p:pic>
        <p:nvPicPr>
          <p:cNvPr id="4" name="图片 3">
            <a:extLst>
              <a:ext uri="{FF2B5EF4-FFF2-40B4-BE49-F238E27FC236}">
                <a16:creationId xmlns:a16="http://schemas.microsoft.com/office/drawing/2014/main" id="{E4044ED4-EC32-49B3-883D-7446FB219D88}"/>
              </a:ext>
            </a:extLst>
          </p:cNvPr>
          <p:cNvPicPr>
            <a:picLocks noChangeAspect="1"/>
          </p:cNvPicPr>
          <p:nvPr/>
        </p:nvPicPr>
        <p:blipFill rotWithShape="1">
          <a:blip r:embed="rId4"/>
          <a:srcRect l="19773" t="5232" r="20466" b="18016"/>
          <a:stretch/>
        </p:blipFill>
        <p:spPr>
          <a:xfrm>
            <a:off x="7319326" y="1736230"/>
            <a:ext cx="4510001" cy="4344222"/>
          </a:xfrm>
          <a:prstGeom prst="rect">
            <a:avLst/>
          </a:prstGeom>
        </p:spPr>
      </p:pic>
    </p:spTree>
    <p:extLst>
      <p:ext uri="{BB962C8B-B14F-4D97-AF65-F5344CB8AC3E}">
        <p14:creationId xmlns:p14="http://schemas.microsoft.com/office/powerpoint/2010/main" val="1762737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26" name="矩形 25">
            <a:extLst>
              <a:ext uri="{FF2B5EF4-FFF2-40B4-BE49-F238E27FC236}">
                <a16:creationId xmlns:a16="http://schemas.microsoft.com/office/drawing/2014/main" id="{08E12499-BFB8-47F3-BAC4-975EC1E1E5B1}"/>
              </a:ext>
            </a:extLst>
          </p:cNvPr>
          <p:cNvSpPr/>
          <p:nvPr/>
        </p:nvSpPr>
        <p:spPr>
          <a:xfrm>
            <a:off x="429656" y="893424"/>
            <a:ext cx="7547154" cy="581762"/>
          </a:xfrm>
          <a:prstGeom prst="rect">
            <a:avLst/>
          </a:prstGeom>
        </p:spPr>
        <p:txBody>
          <a:bodyPr wrap="square">
            <a:spAutoFit/>
          </a:bodyPr>
          <a:lstStyle/>
          <a:p>
            <a:pPr marL="457200" indent="-457200">
              <a:lnSpc>
                <a:spcPct val="125000"/>
              </a:lnSpc>
              <a:buFont typeface="Wingdings" panose="05000000000000000000" pitchFamily="2" charset="2"/>
              <a:buChar char="p"/>
            </a:pPr>
            <a:r>
              <a:rPr lang="zh-CN" altLang="en-US" sz="2800" b="1" dirty="0">
                <a:solidFill>
                  <a:srgbClr val="003F88"/>
                </a:solidFill>
                <a:latin typeface="微软雅黑" panose="020B0503020204020204" pitchFamily="34" charset="-122"/>
                <a:ea typeface="微软雅黑" panose="020B0503020204020204" pitchFamily="34" charset="-122"/>
              </a:rPr>
              <a:t>电液伺服阀常用液压控制元件结构形式</a:t>
            </a:r>
          </a:p>
        </p:txBody>
      </p:sp>
      <p:pic>
        <p:nvPicPr>
          <p:cNvPr id="4" name="图片 3">
            <a:extLst>
              <a:ext uri="{FF2B5EF4-FFF2-40B4-BE49-F238E27FC236}">
                <a16:creationId xmlns:a16="http://schemas.microsoft.com/office/drawing/2014/main" id="{C6FE169F-6266-E4A1-7FF2-A79FE1FBDF4D}"/>
              </a:ext>
            </a:extLst>
          </p:cNvPr>
          <p:cNvPicPr>
            <a:picLocks noChangeAspect="1"/>
          </p:cNvPicPr>
          <p:nvPr/>
        </p:nvPicPr>
        <p:blipFill>
          <a:blip r:embed="rId3"/>
          <a:stretch>
            <a:fillRect/>
          </a:stretch>
        </p:blipFill>
        <p:spPr>
          <a:xfrm>
            <a:off x="1327152" y="2179405"/>
            <a:ext cx="3675841" cy="4115990"/>
          </a:xfrm>
          <a:prstGeom prst="rect">
            <a:avLst/>
          </a:prstGeom>
        </p:spPr>
      </p:pic>
      <p:sp>
        <p:nvSpPr>
          <p:cNvPr id="11" name="文本框 2">
            <a:extLst>
              <a:ext uri="{FF2B5EF4-FFF2-40B4-BE49-F238E27FC236}">
                <a16:creationId xmlns:a16="http://schemas.microsoft.com/office/drawing/2014/main" id="{375F0ADF-FA60-8C2F-7B03-FAB41C6F2F3C}"/>
              </a:ext>
            </a:extLst>
          </p:cNvPr>
          <p:cNvSpPr txBox="1"/>
          <p:nvPr/>
        </p:nvSpPr>
        <p:spPr>
          <a:xfrm>
            <a:off x="887500" y="1428070"/>
            <a:ext cx="1713459" cy="580865"/>
          </a:xfrm>
          <a:prstGeom prst="rect">
            <a:avLst/>
          </a:prstGeom>
          <a:noFill/>
        </p:spPr>
        <p:txBody>
          <a:bodyPr wrap="square" rtlCol="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a:lnSpc>
                <a:spcPct val="150000"/>
              </a:lnSpc>
            </a:pPr>
            <a:r>
              <a:rPr lang="zh-CN" altLang="en-US" sz="2400" b="1" dirty="0">
                <a:ea typeface="微软雅黑" panose="020B0503020204020204" pitchFamily="34" charset="-122"/>
                <a:cs typeface="Times New Roman" panose="02020603050405020304" pitchFamily="18" charset="0"/>
              </a:rPr>
              <a:t>喷嘴</a:t>
            </a:r>
            <a:r>
              <a:rPr lang="en-US" altLang="zh-CN" sz="2400" b="1" dirty="0">
                <a:ea typeface="微软雅黑" panose="020B0503020204020204" pitchFamily="34" charset="-122"/>
                <a:cs typeface="Times New Roman" panose="02020603050405020304" pitchFamily="18" charset="0"/>
              </a:rPr>
              <a:t>-</a:t>
            </a:r>
            <a:r>
              <a:rPr lang="zh-CN" altLang="en-US" sz="2400" b="1" dirty="0">
                <a:ea typeface="微软雅黑" panose="020B0503020204020204" pitchFamily="34" charset="-122"/>
                <a:cs typeface="Times New Roman" panose="02020603050405020304" pitchFamily="18" charset="0"/>
              </a:rPr>
              <a:t>挡板</a:t>
            </a:r>
            <a:endParaRPr lang="en-US" altLang="zh-CN" sz="2400" b="1" dirty="0">
              <a:ea typeface="微软雅黑" panose="020B0503020204020204" pitchFamily="34" charset="-122"/>
              <a:cs typeface="Times New Roman" panose="02020603050405020304" pitchFamily="18" charset="0"/>
            </a:endParaRPr>
          </a:p>
        </p:txBody>
      </p:sp>
      <p:sp>
        <p:nvSpPr>
          <p:cNvPr id="12" name="Rectangle 3">
            <a:extLst>
              <a:ext uri="{FF2B5EF4-FFF2-40B4-BE49-F238E27FC236}">
                <a16:creationId xmlns:a16="http://schemas.microsoft.com/office/drawing/2014/main" id="{C3D8FF21-800C-2953-4AB6-BC2E716C4108}"/>
              </a:ext>
            </a:extLst>
          </p:cNvPr>
          <p:cNvSpPr txBox="1">
            <a:spLocks noChangeArrowheads="1"/>
          </p:cNvSpPr>
          <p:nvPr/>
        </p:nvSpPr>
        <p:spPr bwMode="auto">
          <a:xfrm>
            <a:off x="6011361" y="1526185"/>
            <a:ext cx="5364321" cy="4604751"/>
          </a:xfrm>
          <a:prstGeom prst="rect">
            <a:avLst/>
          </a:prstGeom>
          <a:solidFill>
            <a:schemeClr val="bg1"/>
          </a:solidFill>
          <a:ln w="9525">
            <a:noFill/>
            <a:miter lim="800000"/>
          </a:ln>
        </p:spPr>
        <p:txBody>
          <a:bodyPr vert="horz" wrap="square" lIns="91440" tIns="45720" rIns="91440" bIns="45720" numCol="1" anchor="t" anchorCtr="0" compatLnSpc="1"/>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eaLnBrk="1" hangingPunct="1">
              <a:lnSpc>
                <a:spcPct val="150000"/>
              </a:lnSpc>
            </a:pPr>
            <a:r>
              <a:rPr lang="zh-CN" altLang="en-US" sz="2000" kern="0" dirty="0">
                <a:ea typeface="微软雅黑" panose="020B0503020204020204" pitchFamily="34" charset="-122"/>
                <a:cs typeface="Times New Roman" panose="02020603050405020304" pitchFamily="18" charset="0"/>
              </a:rPr>
              <a:t>优点：</a:t>
            </a:r>
          </a:p>
          <a:p>
            <a:pPr marL="914400" lvl="1" indent="-457200" eaLnBrk="1" hangingPunct="1">
              <a:lnSpc>
                <a:spcPct val="150000"/>
              </a:lnSpc>
              <a:buFont typeface="+mj-ea"/>
              <a:buAutoNum type="circleNumDbPlain"/>
            </a:pPr>
            <a:r>
              <a:rPr lang="zh-CN" altLang="en-US" sz="2000" kern="0" dirty="0">
                <a:ea typeface="微软雅黑" panose="020B0503020204020204" pitchFamily="34" charset="-122"/>
                <a:cs typeface="Times New Roman" panose="02020603050405020304" pitchFamily="18" charset="0"/>
              </a:rPr>
              <a:t>结构简单</a:t>
            </a:r>
            <a:endParaRPr lang="en-US" altLang="zh-CN" sz="2000" kern="0" dirty="0">
              <a:ea typeface="微软雅黑" panose="020B0503020204020204" pitchFamily="34" charset="-122"/>
              <a:cs typeface="Times New Roman" panose="02020603050405020304" pitchFamily="18" charset="0"/>
            </a:endParaRPr>
          </a:p>
          <a:p>
            <a:pPr marL="914400" lvl="1" indent="-457200" eaLnBrk="1" hangingPunct="1">
              <a:lnSpc>
                <a:spcPct val="150000"/>
              </a:lnSpc>
              <a:buFont typeface="+mj-ea"/>
              <a:buAutoNum type="circleNumDbPlain"/>
            </a:pPr>
            <a:r>
              <a:rPr lang="zh-CN" altLang="en-US" sz="2000" kern="0" dirty="0">
                <a:ea typeface="微软雅黑" panose="020B0503020204020204" pitchFamily="34" charset="-122"/>
                <a:cs typeface="Times New Roman" panose="02020603050405020304" pitchFamily="18" charset="0"/>
              </a:rPr>
              <a:t>运动部分惯量小、位移小、反应快</a:t>
            </a:r>
            <a:endParaRPr lang="en-US" altLang="zh-CN" sz="2000" kern="0" dirty="0">
              <a:ea typeface="微软雅黑" panose="020B0503020204020204" pitchFamily="34" charset="-122"/>
              <a:cs typeface="Times New Roman" panose="02020603050405020304" pitchFamily="18" charset="0"/>
            </a:endParaRPr>
          </a:p>
          <a:p>
            <a:pPr marL="914400" lvl="1" indent="-457200" eaLnBrk="1" hangingPunct="1">
              <a:lnSpc>
                <a:spcPct val="150000"/>
              </a:lnSpc>
              <a:buFont typeface="+mj-ea"/>
              <a:buAutoNum type="circleNumDbPlain"/>
            </a:pPr>
            <a:r>
              <a:rPr lang="zh-CN" altLang="en-US" sz="2000" kern="0" dirty="0">
                <a:ea typeface="微软雅黑" panose="020B0503020204020204" pitchFamily="34" charset="-122"/>
                <a:cs typeface="Times New Roman" panose="02020603050405020304" pitchFamily="18" charset="0"/>
              </a:rPr>
              <a:t>精度和灵敏度高</a:t>
            </a:r>
            <a:endParaRPr lang="en-US" altLang="zh-CN" sz="2000" kern="0" dirty="0">
              <a:ea typeface="微软雅黑" panose="020B0503020204020204" pitchFamily="34" charset="-122"/>
              <a:cs typeface="Times New Roman" panose="02020603050405020304" pitchFamily="18" charset="0"/>
            </a:endParaRPr>
          </a:p>
          <a:p>
            <a:pPr marL="914400" lvl="1" indent="-457200" eaLnBrk="1" hangingPunct="1">
              <a:lnSpc>
                <a:spcPct val="150000"/>
              </a:lnSpc>
              <a:buFont typeface="+mj-ea"/>
              <a:buAutoNum type="circleNumDbPlain"/>
            </a:pPr>
            <a:r>
              <a:rPr lang="zh-CN" altLang="en-US" sz="2000" kern="0" dirty="0">
                <a:ea typeface="微软雅黑" panose="020B0503020204020204" pitchFamily="34" charset="-122"/>
                <a:cs typeface="Times New Roman" panose="02020603050405020304" pitchFamily="18" charset="0"/>
              </a:rPr>
              <a:t>加工要求不高，没有径向不平衡力</a:t>
            </a:r>
            <a:endParaRPr lang="en-US" altLang="zh-CN" sz="2000" kern="0" dirty="0">
              <a:ea typeface="微软雅黑" panose="020B0503020204020204" pitchFamily="34" charset="-122"/>
              <a:cs typeface="Times New Roman" panose="02020603050405020304" pitchFamily="18" charset="0"/>
            </a:endParaRPr>
          </a:p>
          <a:p>
            <a:pPr marL="914400" lvl="1" indent="-457200" eaLnBrk="1" hangingPunct="1">
              <a:lnSpc>
                <a:spcPct val="150000"/>
              </a:lnSpc>
              <a:buFont typeface="+mj-ea"/>
              <a:buAutoNum type="circleNumDbPlain"/>
            </a:pPr>
            <a:r>
              <a:rPr lang="zh-CN" altLang="en-US" sz="2000" kern="0" dirty="0">
                <a:ea typeface="微软雅黑" panose="020B0503020204020204" pitchFamily="34" charset="-122"/>
                <a:cs typeface="Times New Roman" panose="02020603050405020304" pitchFamily="18" charset="0"/>
              </a:rPr>
              <a:t>工作可靠</a:t>
            </a:r>
          </a:p>
          <a:p>
            <a:pPr eaLnBrk="1" hangingPunct="1">
              <a:lnSpc>
                <a:spcPct val="150000"/>
              </a:lnSpc>
            </a:pPr>
            <a:r>
              <a:rPr lang="zh-CN" altLang="en-US" sz="2000" kern="0" dirty="0">
                <a:ea typeface="微软雅黑" panose="020B0503020204020204" pitchFamily="34" charset="-122"/>
                <a:cs typeface="Times New Roman" panose="02020603050405020304" pitchFamily="18" charset="0"/>
              </a:rPr>
              <a:t>缺点：</a:t>
            </a:r>
          </a:p>
          <a:p>
            <a:pPr marL="914400" lvl="1" indent="-457200" eaLnBrk="1" hangingPunct="1">
              <a:lnSpc>
                <a:spcPct val="150000"/>
              </a:lnSpc>
              <a:buFont typeface="+mj-ea"/>
              <a:buAutoNum type="circleNumDbPlain"/>
            </a:pPr>
            <a:r>
              <a:rPr lang="zh-CN" altLang="en-US" sz="2000" kern="0" dirty="0">
                <a:ea typeface="微软雅黑" panose="020B0503020204020204" pitchFamily="34" charset="-122"/>
                <a:cs typeface="Times New Roman" panose="02020603050405020304" pitchFamily="18" charset="0"/>
              </a:rPr>
              <a:t>无功损耗大</a:t>
            </a:r>
            <a:endParaRPr lang="en-US" altLang="zh-CN" sz="2000" kern="0" dirty="0">
              <a:ea typeface="微软雅黑" panose="020B0503020204020204" pitchFamily="34" charset="-122"/>
              <a:cs typeface="Times New Roman" panose="02020603050405020304" pitchFamily="18" charset="0"/>
            </a:endParaRPr>
          </a:p>
          <a:p>
            <a:pPr marL="914400" lvl="1" indent="-457200" eaLnBrk="1" hangingPunct="1">
              <a:lnSpc>
                <a:spcPct val="150000"/>
              </a:lnSpc>
              <a:buFont typeface="+mj-ea"/>
              <a:buAutoNum type="circleNumDbPlain"/>
            </a:pPr>
            <a:r>
              <a:rPr lang="zh-CN" altLang="en-US" sz="2000" b="1" kern="0" dirty="0">
                <a:solidFill>
                  <a:srgbClr val="C00000"/>
                </a:solidFill>
                <a:ea typeface="微软雅黑" panose="020B0503020204020204" pitchFamily="34" charset="-122"/>
                <a:cs typeface="Times New Roman" panose="02020603050405020304" pitchFamily="18" charset="0"/>
              </a:rPr>
              <a:t>喷嘴挡板件距离很小时抗污染能力差</a:t>
            </a:r>
            <a:endParaRPr lang="en-US" altLang="zh-CN" sz="2000" b="1" kern="0" dirty="0">
              <a:solidFill>
                <a:srgbClr val="C00000"/>
              </a:solidFill>
              <a:ea typeface="微软雅黑" panose="020B0503020204020204" pitchFamily="34" charset="-122"/>
              <a:cs typeface="Times New Roman" panose="02020603050405020304" pitchFamily="18" charset="0"/>
            </a:endParaRPr>
          </a:p>
        </p:txBody>
      </p:sp>
      <p:sp>
        <p:nvSpPr>
          <p:cNvPr id="13" name="文本框 12">
            <a:extLst>
              <a:ext uri="{FF2B5EF4-FFF2-40B4-BE49-F238E27FC236}">
                <a16:creationId xmlns:a16="http://schemas.microsoft.com/office/drawing/2014/main" id="{D69CC19E-8AB4-24D8-2D2D-FE40C8B5AC42}"/>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ea typeface="微软雅黑" panose="020B0503020204020204" pitchFamily="34" charset="-122"/>
                <a:cs typeface="Times New Roman" panose="02020603050405020304" pitchFamily="18" charset="0"/>
              </a:rPr>
              <a:t>10.3 </a:t>
            </a:r>
            <a:r>
              <a:rPr lang="zh-CN" altLang="en-US" sz="3600" b="1" dirty="0">
                <a:solidFill>
                  <a:srgbClr val="003F88"/>
                </a:solidFill>
                <a:latin typeface="Times New Roman" panose="02020603050405020304" pitchFamily="18" charset="0"/>
                <a:ea typeface="微软雅黑" panose="020B0503020204020204" pitchFamily="34" charset="-122"/>
                <a:cs typeface="Times New Roman" panose="02020603050405020304" pitchFamily="18" charset="0"/>
              </a:rPr>
              <a:t>常见结构</a:t>
            </a:r>
          </a:p>
        </p:txBody>
      </p:sp>
      <p:pic>
        <p:nvPicPr>
          <p:cNvPr id="19" name="图片 18">
            <a:extLst>
              <a:ext uri="{FF2B5EF4-FFF2-40B4-BE49-F238E27FC236}">
                <a16:creationId xmlns:a16="http://schemas.microsoft.com/office/drawing/2014/main" id="{06C54221-944F-009E-C9F5-F5BEFCA002EB}"/>
              </a:ext>
            </a:extLst>
          </p:cNvPr>
          <p:cNvPicPr>
            <a:picLocks noChangeAspect="1"/>
          </p:cNvPicPr>
          <p:nvPr/>
        </p:nvPicPr>
        <p:blipFill>
          <a:blip r:embed="rId4"/>
          <a:stretch>
            <a:fillRect/>
          </a:stretch>
        </p:blipFill>
        <p:spPr>
          <a:xfrm>
            <a:off x="1812090" y="5049808"/>
            <a:ext cx="3010620" cy="628801"/>
          </a:xfrm>
          <a:prstGeom prst="rect">
            <a:avLst/>
          </a:prstGeom>
        </p:spPr>
      </p:pic>
      <p:sp>
        <p:nvSpPr>
          <p:cNvPr id="20" name="矩形 19">
            <a:extLst>
              <a:ext uri="{FF2B5EF4-FFF2-40B4-BE49-F238E27FC236}">
                <a16:creationId xmlns:a16="http://schemas.microsoft.com/office/drawing/2014/main" id="{188ADCFE-4F39-B81C-2F8A-8F19A1A10B49}"/>
              </a:ext>
            </a:extLst>
          </p:cNvPr>
          <p:cNvSpPr/>
          <p:nvPr/>
        </p:nvSpPr>
        <p:spPr>
          <a:xfrm>
            <a:off x="809960" y="5681924"/>
            <a:ext cx="4996239" cy="113029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18" name="文本框 17">
            <a:extLst>
              <a:ext uri="{FF2B5EF4-FFF2-40B4-BE49-F238E27FC236}">
                <a16:creationId xmlns:a16="http://schemas.microsoft.com/office/drawing/2014/main" id="{8226EFB2-1765-BBD8-4D58-CF9200E2EA4B}"/>
              </a:ext>
            </a:extLst>
          </p:cNvPr>
          <p:cNvSpPr txBox="1"/>
          <p:nvPr/>
        </p:nvSpPr>
        <p:spPr>
          <a:xfrm>
            <a:off x="2113033" y="6024949"/>
            <a:ext cx="9768754" cy="738664"/>
          </a:xfrm>
          <a:prstGeom prst="rect">
            <a:avLst/>
          </a:prstGeom>
          <a:noFill/>
        </p:spPr>
        <p:txBody>
          <a:bodyPr wrap="square">
            <a:spAutoFit/>
          </a:bodyPr>
          <a:lstStyle/>
          <a:p>
            <a:r>
              <a:rPr lang="zh-CN" altLang="en-US" sz="2400" b="1" dirty="0">
                <a:latin typeface="Times New Roman" panose="02020603050405020304" pitchFamily="18" charset="0"/>
                <a:ea typeface="微软雅黑" panose="020B0503020204020204" pitchFamily="34" charset="-122"/>
                <a:cs typeface="Times New Roman" panose="02020603050405020304" pitchFamily="18" charset="0"/>
              </a:rPr>
              <a:t>喷嘴</a:t>
            </a:r>
            <a:r>
              <a:rPr lang="en-US" altLang="zh-CN" sz="2400" b="1" dirty="0">
                <a:latin typeface="Times New Roman" panose="02020603050405020304" pitchFamily="18" charset="0"/>
                <a:ea typeface="微软雅黑" panose="020B0503020204020204" pitchFamily="34" charset="-122"/>
                <a:cs typeface="Times New Roman" panose="02020603050405020304" pitchFamily="18" charset="0"/>
              </a:rPr>
              <a:t>-</a:t>
            </a:r>
            <a:r>
              <a:rPr lang="zh-CN" altLang="en-US" sz="2400" b="1" dirty="0">
                <a:latin typeface="Times New Roman" panose="02020603050405020304" pitchFamily="18" charset="0"/>
                <a:ea typeface="微软雅黑" panose="020B0503020204020204" pitchFamily="34" charset="-122"/>
                <a:cs typeface="Times New Roman" panose="02020603050405020304" pitchFamily="18" charset="0"/>
              </a:rPr>
              <a:t>挡板常用作多级放大元件中第一级（前置级）控制。</a:t>
            </a:r>
          </a:p>
          <a:p>
            <a:pPr eaLnBrk="1" hangingPunct="1"/>
            <a:endParaRPr lang="zh-CN" altLang="en-US" b="1" dirty="0">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2" name="矩形 1">
            <a:extLst>
              <a:ext uri="{FF2B5EF4-FFF2-40B4-BE49-F238E27FC236}">
                <a16:creationId xmlns:a16="http://schemas.microsoft.com/office/drawing/2014/main" id="{434DC02C-952C-8546-2186-5F91A8ED1437}"/>
              </a:ext>
            </a:extLst>
          </p:cNvPr>
          <p:cNvSpPr/>
          <p:nvPr/>
        </p:nvSpPr>
        <p:spPr>
          <a:xfrm>
            <a:off x="1736362" y="5086467"/>
            <a:ext cx="2857419" cy="30003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Times New Roman" panose="02020603050405020304" pitchFamily="18" charset="0"/>
              <a:cs typeface="Times New Roman" panose="02020603050405020304" pitchFamily="18" charset="0"/>
            </a:endParaRPr>
          </a:p>
        </p:txBody>
      </p:sp>
      <p:sp>
        <p:nvSpPr>
          <p:cNvPr id="3" name="矩形 2">
            <a:extLst>
              <a:ext uri="{FF2B5EF4-FFF2-40B4-BE49-F238E27FC236}">
                <a16:creationId xmlns:a16="http://schemas.microsoft.com/office/drawing/2014/main" id="{B9DB6D39-72E4-4CB6-8327-E880302B36A6}"/>
              </a:ext>
            </a:extLst>
          </p:cNvPr>
          <p:cNvSpPr/>
          <p:nvPr/>
        </p:nvSpPr>
        <p:spPr>
          <a:xfrm>
            <a:off x="1248348" y="5130079"/>
            <a:ext cx="3833446" cy="293077"/>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latin typeface="Times New Roman" panose="02020603050405020304" pitchFamily="18" charset="0"/>
                <a:ea typeface="微软雅黑" panose="020B0503020204020204" pitchFamily="34" charset="-122"/>
                <a:cs typeface="Times New Roman" panose="02020603050405020304" pitchFamily="18" charset="0"/>
              </a:rPr>
              <a:t>喷嘴</a:t>
            </a:r>
            <a:r>
              <a:rPr lang="en-US" altLang="zh-CN" dirty="0">
                <a:solidFill>
                  <a:schemeClr val="tx1"/>
                </a:solidFill>
                <a:latin typeface="Times New Roman" panose="02020603050405020304" pitchFamily="18" charset="0"/>
                <a:ea typeface="微软雅黑" panose="020B0503020204020204" pitchFamily="34" charset="-122"/>
                <a:cs typeface="Times New Roman" panose="02020603050405020304" pitchFamily="18" charset="0"/>
              </a:rPr>
              <a:t>-</a:t>
            </a:r>
            <a:r>
              <a:rPr lang="zh-CN" altLang="en-US" dirty="0">
                <a:solidFill>
                  <a:schemeClr val="tx1"/>
                </a:solidFill>
                <a:latin typeface="Times New Roman" panose="02020603050405020304" pitchFamily="18" charset="0"/>
                <a:ea typeface="微软雅黑" panose="020B0503020204020204" pitchFamily="34" charset="-122"/>
                <a:cs typeface="Times New Roman" panose="02020603050405020304" pitchFamily="18" charset="0"/>
              </a:rPr>
              <a:t>挡板的工作原理</a:t>
            </a:r>
          </a:p>
        </p:txBody>
      </p:sp>
    </p:spTree>
    <p:extLst>
      <p:ext uri="{BB962C8B-B14F-4D97-AF65-F5344CB8AC3E}">
        <p14:creationId xmlns:p14="http://schemas.microsoft.com/office/powerpoint/2010/main" val="25119602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26" name="矩形 25">
            <a:extLst>
              <a:ext uri="{FF2B5EF4-FFF2-40B4-BE49-F238E27FC236}">
                <a16:creationId xmlns:a16="http://schemas.microsoft.com/office/drawing/2014/main" id="{08E12499-BFB8-47F3-BAC4-975EC1E1E5B1}"/>
              </a:ext>
            </a:extLst>
          </p:cNvPr>
          <p:cNvSpPr/>
          <p:nvPr/>
        </p:nvSpPr>
        <p:spPr>
          <a:xfrm>
            <a:off x="429656" y="893424"/>
            <a:ext cx="7547154" cy="581762"/>
          </a:xfrm>
          <a:prstGeom prst="rect">
            <a:avLst/>
          </a:prstGeom>
        </p:spPr>
        <p:txBody>
          <a:bodyPr wrap="square">
            <a:spAutoFit/>
          </a:bodyPr>
          <a:lstStyle/>
          <a:p>
            <a:pPr marL="457200" indent="-457200">
              <a:lnSpc>
                <a:spcPct val="125000"/>
              </a:lnSpc>
              <a:buFont typeface="Wingdings" panose="05000000000000000000" pitchFamily="2" charset="2"/>
              <a:buChar char="p"/>
            </a:pPr>
            <a:r>
              <a:rPr lang="zh-CN" altLang="en-US" sz="2800" b="1" dirty="0">
                <a:solidFill>
                  <a:srgbClr val="003F88"/>
                </a:solidFill>
                <a:latin typeface="微软雅黑" panose="020B0503020204020204" pitchFamily="34" charset="-122"/>
                <a:ea typeface="微软雅黑" panose="020B0503020204020204" pitchFamily="34" charset="-122"/>
              </a:rPr>
              <a:t>电液伺服阀特性分析</a:t>
            </a:r>
          </a:p>
        </p:txBody>
      </p:sp>
      <p:sp>
        <p:nvSpPr>
          <p:cNvPr id="13" name="文本框 12">
            <a:extLst>
              <a:ext uri="{FF2B5EF4-FFF2-40B4-BE49-F238E27FC236}">
                <a16:creationId xmlns:a16="http://schemas.microsoft.com/office/drawing/2014/main" id="{D69CC19E-8AB4-24D8-2D2D-FE40C8B5AC42}"/>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ea typeface="微软雅黑" panose="020B0503020204020204" pitchFamily="34" charset="-122"/>
                <a:cs typeface="Times New Roman" panose="02020603050405020304" pitchFamily="18" charset="0"/>
              </a:rPr>
              <a:t>10.4 </a:t>
            </a:r>
            <a:r>
              <a:rPr lang="zh-CN" altLang="en-US" sz="3600" b="1" dirty="0">
                <a:solidFill>
                  <a:srgbClr val="003F88"/>
                </a:solidFill>
                <a:latin typeface="Times New Roman" panose="02020603050405020304" pitchFamily="18" charset="0"/>
                <a:ea typeface="微软雅黑" panose="020B0503020204020204" pitchFamily="34" charset="-122"/>
                <a:cs typeface="Times New Roman" panose="02020603050405020304" pitchFamily="18" charset="0"/>
              </a:rPr>
              <a:t>特性分析</a:t>
            </a:r>
          </a:p>
        </p:txBody>
      </p:sp>
      <p:sp>
        <p:nvSpPr>
          <p:cNvPr id="2" name="矩形 1">
            <a:extLst>
              <a:ext uri="{FF2B5EF4-FFF2-40B4-BE49-F238E27FC236}">
                <a16:creationId xmlns:a16="http://schemas.microsoft.com/office/drawing/2014/main" id="{95C51914-1D7A-2AFC-70FC-088BE2148A0A}"/>
              </a:ext>
            </a:extLst>
          </p:cNvPr>
          <p:cNvSpPr/>
          <p:nvPr/>
        </p:nvSpPr>
        <p:spPr>
          <a:xfrm>
            <a:off x="1341238" y="1452046"/>
            <a:ext cx="1422184" cy="461665"/>
          </a:xfrm>
          <a:prstGeom prst="rect">
            <a:avLst/>
          </a:prstGeom>
          <a:noFill/>
        </p:spPr>
        <p:txBody>
          <a:bodyPr wrap="none" lIns="91440" tIns="45720" rIns="91440" bIns="4572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algn="ctr"/>
            <a:r>
              <a:rPr lang="zh-CN" altLang="en-US" sz="2400" dirty="0">
                <a:ln w="0"/>
                <a:ea typeface="微软雅黑" panose="020B0503020204020204" pitchFamily="34" charset="-122"/>
                <a:cs typeface="Times New Roman" panose="02020603050405020304" pitchFamily="18" charset="0"/>
              </a:rPr>
              <a:t>静态特性</a:t>
            </a:r>
          </a:p>
        </p:txBody>
      </p:sp>
      <p:sp>
        <p:nvSpPr>
          <p:cNvPr id="3" name="矩形 2">
            <a:extLst>
              <a:ext uri="{FF2B5EF4-FFF2-40B4-BE49-F238E27FC236}">
                <a16:creationId xmlns:a16="http://schemas.microsoft.com/office/drawing/2014/main" id="{F9B1108C-1ECA-11D0-B204-C1C8A1700FD4}"/>
              </a:ext>
            </a:extLst>
          </p:cNvPr>
          <p:cNvSpPr/>
          <p:nvPr/>
        </p:nvSpPr>
        <p:spPr>
          <a:xfrm>
            <a:off x="3100240" y="1350927"/>
            <a:ext cx="3300904" cy="2243050"/>
          </a:xfrm>
          <a:prstGeom prst="rect">
            <a:avLst/>
          </a:prstGeom>
          <a:noFill/>
        </p:spPr>
        <p:txBody>
          <a:bodyPr wrap="none" lIns="91440" tIns="45720" rIns="91440" bIns="4572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marL="342900" indent="-342900">
              <a:lnSpc>
                <a:spcPct val="150000"/>
              </a:lnSpc>
              <a:buFont typeface="Arial" panose="020B0604020202020204" pitchFamily="34" charset="0"/>
              <a:buChar char="•"/>
            </a:pPr>
            <a:r>
              <a:rPr lang="zh-CN" altLang="en-US" sz="2400" dirty="0">
                <a:ln w="0"/>
                <a:solidFill>
                  <a:srgbClr val="FF0000"/>
                </a:solidFill>
                <a:ea typeface="微软雅黑" panose="020B0503020204020204" pitchFamily="34" charset="-122"/>
                <a:cs typeface="Times New Roman" panose="02020603050405020304" pitchFamily="18" charset="0"/>
              </a:rPr>
              <a:t>伺服阀流量压力特性</a:t>
            </a:r>
            <a:endParaRPr lang="en-US" altLang="zh-CN" sz="2400" dirty="0">
              <a:ln w="0"/>
              <a:solidFill>
                <a:srgbClr val="FF0000"/>
              </a:solidFill>
              <a:ea typeface="微软雅黑" panose="020B0503020204020204" pitchFamily="34" charset="-122"/>
              <a:cs typeface="Times New Roman" panose="02020603050405020304" pitchFamily="18" charset="0"/>
            </a:endParaRPr>
          </a:p>
          <a:p>
            <a:pPr marL="342900" indent="-342900">
              <a:lnSpc>
                <a:spcPct val="150000"/>
              </a:lnSpc>
              <a:buFont typeface="Arial" panose="020B0604020202020204" pitchFamily="34" charset="0"/>
              <a:buChar char="•"/>
            </a:pPr>
            <a:r>
              <a:rPr lang="zh-CN" altLang="en-US" sz="2400" dirty="0">
                <a:ln w="0"/>
                <a:solidFill>
                  <a:srgbClr val="FF0000"/>
                </a:solidFill>
                <a:ea typeface="微软雅黑" panose="020B0503020204020204" pitchFamily="34" charset="-122"/>
                <a:cs typeface="Times New Roman" panose="02020603050405020304" pitchFamily="18" charset="0"/>
              </a:rPr>
              <a:t>流量特性</a:t>
            </a:r>
            <a:endParaRPr lang="en-US" altLang="zh-CN" sz="2400" dirty="0">
              <a:ln w="0"/>
              <a:solidFill>
                <a:srgbClr val="FF0000"/>
              </a:solidFill>
              <a:ea typeface="微软雅黑" panose="020B0503020204020204" pitchFamily="34" charset="-122"/>
              <a:cs typeface="Times New Roman" panose="02020603050405020304" pitchFamily="18" charset="0"/>
            </a:endParaRPr>
          </a:p>
          <a:p>
            <a:pPr marL="342900" indent="-342900">
              <a:lnSpc>
                <a:spcPct val="150000"/>
              </a:lnSpc>
              <a:buFont typeface="Arial" panose="020B0604020202020204" pitchFamily="34" charset="0"/>
              <a:buChar char="•"/>
            </a:pPr>
            <a:r>
              <a:rPr lang="zh-CN" altLang="en-US" sz="2400" dirty="0">
                <a:ln w="0"/>
                <a:solidFill>
                  <a:srgbClr val="FF0000"/>
                </a:solidFill>
                <a:ea typeface="微软雅黑" panose="020B0503020204020204" pitchFamily="34" charset="-122"/>
                <a:cs typeface="Times New Roman" panose="02020603050405020304" pitchFamily="18" charset="0"/>
              </a:rPr>
              <a:t>压力特性</a:t>
            </a:r>
            <a:endParaRPr lang="en-US" altLang="zh-CN" sz="2400" dirty="0">
              <a:ln w="0"/>
              <a:solidFill>
                <a:srgbClr val="FF0000"/>
              </a:solidFill>
              <a:ea typeface="微软雅黑" panose="020B0503020204020204" pitchFamily="34" charset="-122"/>
              <a:cs typeface="Times New Roman" panose="02020603050405020304" pitchFamily="18" charset="0"/>
            </a:endParaRPr>
          </a:p>
          <a:p>
            <a:pPr marL="342900" indent="-342900">
              <a:lnSpc>
                <a:spcPct val="150000"/>
              </a:lnSpc>
              <a:buFont typeface="Arial" panose="020B0604020202020204" pitchFamily="34" charset="0"/>
              <a:buChar char="•"/>
            </a:pPr>
            <a:r>
              <a:rPr lang="zh-CN" altLang="en-US" sz="2400" dirty="0">
                <a:ln w="0"/>
                <a:solidFill>
                  <a:srgbClr val="FF0000"/>
                </a:solidFill>
                <a:ea typeface="微软雅黑" panose="020B0503020204020204" pitchFamily="34" charset="-122"/>
                <a:cs typeface="Times New Roman" panose="02020603050405020304" pitchFamily="18" charset="0"/>
              </a:rPr>
              <a:t>内泄漏特性</a:t>
            </a:r>
          </a:p>
        </p:txBody>
      </p:sp>
      <p:sp>
        <p:nvSpPr>
          <p:cNvPr id="6" name="矩形 5">
            <a:extLst>
              <a:ext uri="{FF2B5EF4-FFF2-40B4-BE49-F238E27FC236}">
                <a16:creationId xmlns:a16="http://schemas.microsoft.com/office/drawing/2014/main" id="{12B591E7-8534-7570-6717-1998A858EA2C}"/>
              </a:ext>
            </a:extLst>
          </p:cNvPr>
          <p:cNvSpPr/>
          <p:nvPr/>
        </p:nvSpPr>
        <p:spPr>
          <a:xfrm>
            <a:off x="1347650" y="3716203"/>
            <a:ext cx="1415772" cy="461665"/>
          </a:xfrm>
          <a:prstGeom prst="rect">
            <a:avLst/>
          </a:prstGeom>
          <a:noFill/>
        </p:spPr>
        <p:txBody>
          <a:bodyPr wrap="none" lIns="91440" tIns="45720" rIns="91440" bIns="4572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algn="ctr"/>
            <a:r>
              <a:rPr lang="zh-CN" altLang="en-US" sz="2400" dirty="0">
                <a:ln w="0"/>
                <a:ea typeface="微软雅黑" panose="020B0503020204020204" pitchFamily="34" charset="-122"/>
                <a:cs typeface="Times New Roman" panose="02020603050405020304" pitchFamily="18" charset="0"/>
              </a:rPr>
              <a:t>动态特性</a:t>
            </a:r>
          </a:p>
        </p:txBody>
      </p:sp>
      <p:sp>
        <p:nvSpPr>
          <p:cNvPr id="7" name="矩形 6">
            <a:extLst>
              <a:ext uri="{FF2B5EF4-FFF2-40B4-BE49-F238E27FC236}">
                <a16:creationId xmlns:a16="http://schemas.microsoft.com/office/drawing/2014/main" id="{E005BD6F-B505-D6F5-3101-CFF0E413C341}"/>
              </a:ext>
            </a:extLst>
          </p:cNvPr>
          <p:cNvSpPr/>
          <p:nvPr/>
        </p:nvSpPr>
        <p:spPr>
          <a:xfrm>
            <a:off x="3100240" y="3716204"/>
            <a:ext cx="1762021" cy="461665"/>
          </a:xfrm>
          <a:prstGeom prst="rect">
            <a:avLst/>
          </a:prstGeom>
          <a:noFill/>
        </p:spPr>
        <p:txBody>
          <a:bodyPr wrap="none" lIns="91440" tIns="45720" rIns="91440" bIns="4572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marL="342900" indent="-342900">
              <a:buFont typeface="Arial" panose="020B0604020202020204" pitchFamily="34" charset="0"/>
              <a:buChar char="•"/>
            </a:pPr>
            <a:r>
              <a:rPr lang="zh-CN" altLang="en-US" sz="2400" dirty="0">
                <a:ln w="0"/>
                <a:solidFill>
                  <a:srgbClr val="FF0000"/>
                </a:solidFill>
                <a:ea typeface="微软雅黑" panose="020B0503020204020204" pitchFamily="34" charset="-122"/>
                <a:cs typeface="Times New Roman" panose="02020603050405020304" pitchFamily="18" charset="0"/>
              </a:rPr>
              <a:t>频率特性</a:t>
            </a:r>
            <a:endParaRPr lang="en-US" altLang="zh-CN" sz="2400" dirty="0">
              <a:ln w="0"/>
              <a:solidFill>
                <a:srgbClr val="FF0000"/>
              </a:solidFill>
              <a:ea typeface="微软雅黑" panose="020B0503020204020204" pitchFamily="34" charset="-122"/>
              <a:cs typeface="Times New Roman" panose="02020603050405020304" pitchFamily="18" charset="0"/>
            </a:endParaRPr>
          </a:p>
        </p:txBody>
      </p:sp>
      <p:sp>
        <p:nvSpPr>
          <p:cNvPr id="10" name="矩形 9">
            <a:extLst>
              <a:ext uri="{FF2B5EF4-FFF2-40B4-BE49-F238E27FC236}">
                <a16:creationId xmlns:a16="http://schemas.microsoft.com/office/drawing/2014/main" id="{837C070E-EE89-03CD-6E8C-2E870B118B0D}"/>
              </a:ext>
            </a:extLst>
          </p:cNvPr>
          <p:cNvSpPr/>
          <p:nvPr/>
        </p:nvSpPr>
        <p:spPr>
          <a:xfrm>
            <a:off x="7759658" y="2162369"/>
            <a:ext cx="3456594" cy="409342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91440" tIns="45720" rIns="91440" bIns="45720">
            <a:spAutoFit/>
          </a:bodyPr>
          <a:lstStyle>
            <a:defPPr>
              <a:defRPr lang="zh-CN"/>
            </a:defPPr>
            <a:lvl1pPr algn="l" rtl="0" fontAlgn="base">
              <a:spcBef>
                <a:spcPct val="0"/>
              </a:spcBef>
              <a:spcAft>
                <a:spcPct val="0"/>
              </a:spcAft>
              <a:defRPr kern="1200">
                <a:solidFill>
                  <a:schemeClr val="dk1"/>
                </a:solidFill>
                <a:latin typeface="+mn-lt"/>
                <a:ea typeface="+mn-ea"/>
                <a:cs typeface="+mn-cs"/>
              </a:defRPr>
            </a:lvl1pPr>
            <a:lvl2pPr marL="457200" algn="l" rtl="0" fontAlgn="base">
              <a:spcBef>
                <a:spcPct val="0"/>
              </a:spcBef>
              <a:spcAft>
                <a:spcPct val="0"/>
              </a:spcAft>
              <a:defRPr kern="1200">
                <a:solidFill>
                  <a:schemeClr val="dk1"/>
                </a:solidFill>
                <a:latin typeface="+mn-lt"/>
                <a:ea typeface="+mn-ea"/>
                <a:cs typeface="+mn-cs"/>
              </a:defRPr>
            </a:lvl2pPr>
            <a:lvl3pPr marL="914400" algn="l" rtl="0" fontAlgn="base">
              <a:spcBef>
                <a:spcPct val="0"/>
              </a:spcBef>
              <a:spcAft>
                <a:spcPct val="0"/>
              </a:spcAft>
              <a:defRPr kern="1200">
                <a:solidFill>
                  <a:schemeClr val="dk1"/>
                </a:solidFill>
                <a:latin typeface="+mn-lt"/>
                <a:ea typeface="+mn-ea"/>
                <a:cs typeface="+mn-cs"/>
              </a:defRPr>
            </a:lvl3pPr>
            <a:lvl4pPr marL="1371600" algn="l" rtl="0" fontAlgn="base">
              <a:spcBef>
                <a:spcPct val="0"/>
              </a:spcBef>
              <a:spcAft>
                <a:spcPct val="0"/>
              </a:spcAft>
              <a:defRPr kern="1200">
                <a:solidFill>
                  <a:schemeClr val="dk1"/>
                </a:solidFill>
                <a:latin typeface="+mn-lt"/>
                <a:ea typeface="+mn-ea"/>
                <a:cs typeface="+mn-cs"/>
              </a:defRPr>
            </a:lvl4pPr>
            <a:lvl5pPr marL="1828800" algn="l" rtl="0" fontAlgn="base">
              <a:spcBef>
                <a:spcPct val="0"/>
              </a:spcBef>
              <a:spcAft>
                <a:spcPct val="0"/>
              </a:spcAft>
              <a:defRPr kern="1200">
                <a:solidFill>
                  <a:schemeClr val="dk1"/>
                </a:solidFill>
                <a:latin typeface="+mn-lt"/>
                <a:ea typeface="+mn-ea"/>
                <a:cs typeface="+mn-cs"/>
              </a:defRPr>
            </a:lvl5pPr>
            <a:lvl6pPr marL="2286000" algn="l" defTabSz="914400" rtl="0" eaLnBrk="1" latinLnBrk="0" hangingPunct="1">
              <a:defRPr kern="1200">
                <a:solidFill>
                  <a:schemeClr val="dk1"/>
                </a:solidFill>
                <a:latin typeface="+mn-lt"/>
                <a:ea typeface="+mn-ea"/>
                <a:cs typeface="+mn-cs"/>
              </a:defRPr>
            </a:lvl6pPr>
            <a:lvl7pPr marL="2743200" algn="l" defTabSz="914400" rtl="0" eaLnBrk="1" latinLnBrk="0" hangingPunct="1">
              <a:defRPr kern="1200">
                <a:solidFill>
                  <a:schemeClr val="dk1"/>
                </a:solidFill>
                <a:latin typeface="+mn-lt"/>
                <a:ea typeface="+mn-ea"/>
                <a:cs typeface="+mn-cs"/>
              </a:defRPr>
            </a:lvl7pPr>
            <a:lvl8pPr marL="3200400" algn="l" defTabSz="914400" rtl="0" eaLnBrk="1" latinLnBrk="0" hangingPunct="1">
              <a:defRPr kern="1200">
                <a:solidFill>
                  <a:schemeClr val="dk1"/>
                </a:solidFill>
                <a:latin typeface="+mn-lt"/>
                <a:ea typeface="+mn-ea"/>
                <a:cs typeface="+mn-cs"/>
              </a:defRPr>
            </a:lvl8pPr>
            <a:lvl9pPr marL="3657600" algn="l" defTabSz="914400" rtl="0" eaLnBrk="1" latinLnBrk="0" hangingPunct="1">
              <a:defRPr kern="1200">
                <a:solidFill>
                  <a:schemeClr val="dk1"/>
                </a:solidFill>
                <a:latin typeface="+mn-lt"/>
                <a:ea typeface="+mn-ea"/>
                <a:cs typeface="+mn-cs"/>
              </a:defRPr>
            </a:lvl9pPr>
          </a:lstStyle>
          <a:p>
            <a:pPr marL="342900" indent="-342900">
              <a:lnSpc>
                <a:spcPct val="150000"/>
              </a:lnSpc>
              <a:buFont typeface="Arial" panose="020B0604020202020204" pitchFamily="34" charset="0"/>
              <a:buChar char="•"/>
            </a:pPr>
            <a:r>
              <a:rPr lang="zh-CN" altLang="en-US" sz="2000" dirty="0">
                <a:ln w="0"/>
                <a:solidFill>
                  <a:schemeClr val="tx1"/>
                </a:solidFill>
                <a:latin typeface="Times New Roman" panose="02020603050405020304" pitchFamily="18" charset="0"/>
                <a:ea typeface="微软雅黑" panose="020B0503020204020204" pitchFamily="34" charset="-122"/>
                <a:cs typeface="Times New Roman" panose="02020603050405020304" pitchFamily="18" charset="0"/>
              </a:rPr>
              <a:t>控制流量</a:t>
            </a:r>
            <a:endParaRPr lang="en-US" altLang="zh-CN" sz="2000" dirty="0">
              <a:ln w="0"/>
              <a:solidFill>
                <a:schemeClr val="tx1"/>
              </a:solidFill>
              <a:latin typeface="Times New Roman" panose="02020603050405020304" pitchFamily="18" charset="0"/>
              <a:ea typeface="微软雅黑" panose="020B0503020204020204" pitchFamily="34" charset="-122"/>
              <a:cs typeface="Times New Roman" panose="02020603050405020304" pitchFamily="18" charset="0"/>
            </a:endParaRPr>
          </a:p>
          <a:p>
            <a:pPr marL="342900" indent="-342900">
              <a:lnSpc>
                <a:spcPct val="150000"/>
              </a:lnSpc>
              <a:buFont typeface="Arial" panose="020B0604020202020204" pitchFamily="34" charset="0"/>
              <a:buChar char="•"/>
            </a:pPr>
            <a:r>
              <a:rPr lang="zh-CN" altLang="en-US" sz="2000" dirty="0">
                <a:ln w="0"/>
                <a:solidFill>
                  <a:schemeClr val="tx1"/>
                </a:solidFill>
                <a:latin typeface="Times New Roman" panose="02020603050405020304" pitchFamily="18" charset="0"/>
                <a:ea typeface="微软雅黑" panose="020B0503020204020204" pitchFamily="34" charset="-122"/>
                <a:cs typeface="Times New Roman" panose="02020603050405020304" pitchFamily="18" charset="0"/>
              </a:rPr>
              <a:t>额定流量</a:t>
            </a:r>
            <a:endParaRPr lang="en-US" altLang="zh-CN" sz="2000" dirty="0">
              <a:ln w="0"/>
              <a:solidFill>
                <a:schemeClr val="tx1"/>
              </a:solidFill>
              <a:latin typeface="Times New Roman" panose="02020603050405020304" pitchFamily="18" charset="0"/>
              <a:ea typeface="微软雅黑" panose="020B0503020204020204" pitchFamily="34" charset="-122"/>
              <a:cs typeface="Times New Roman" panose="02020603050405020304" pitchFamily="18" charset="0"/>
            </a:endParaRPr>
          </a:p>
          <a:p>
            <a:pPr marL="342900" indent="-342900">
              <a:lnSpc>
                <a:spcPct val="150000"/>
              </a:lnSpc>
              <a:buFont typeface="Arial" panose="020B0604020202020204" pitchFamily="34" charset="0"/>
              <a:buChar char="•"/>
            </a:pPr>
            <a:r>
              <a:rPr lang="zh-CN" altLang="en-US" sz="2000" dirty="0">
                <a:ln w="0"/>
                <a:solidFill>
                  <a:schemeClr val="tx1"/>
                </a:solidFill>
                <a:latin typeface="Times New Roman" panose="02020603050405020304" pitchFamily="18" charset="0"/>
                <a:ea typeface="微软雅黑" panose="020B0503020204020204" pitchFamily="34" charset="-122"/>
                <a:cs typeface="Times New Roman" panose="02020603050405020304" pitchFamily="18" charset="0"/>
              </a:rPr>
              <a:t>流量增益</a:t>
            </a:r>
            <a:endParaRPr lang="en-US" altLang="zh-CN" sz="2000" dirty="0">
              <a:ln w="0"/>
              <a:solidFill>
                <a:schemeClr val="tx1"/>
              </a:solidFill>
              <a:latin typeface="Times New Roman" panose="02020603050405020304" pitchFamily="18" charset="0"/>
              <a:ea typeface="微软雅黑" panose="020B0503020204020204" pitchFamily="34" charset="-122"/>
              <a:cs typeface="Times New Roman" panose="02020603050405020304" pitchFamily="18" charset="0"/>
            </a:endParaRPr>
          </a:p>
          <a:p>
            <a:pPr marL="342900" indent="-342900">
              <a:lnSpc>
                <a:spcPct val="150000"/>
              </a:lnSpc>
              <a:buFont typeface="Arial" panose="020B0604020202020204" pitchFamily="34" charset="0"/>
              <a:buChar char="•"/>
            </a:pPr>
            <a:r>
              <a:rPr lang="zh-CN" altLang="en-US" sz="2000" dirty="0">
                <a:ln w="0"/>
                <a:solidFill>
                  <a:schemeClr val="tx1"/>
                </a:solidFill>
                <a:latin typeface="Times New Roman" panose="02020603050405020304" pitchFamily="18" charset="0"/>
                <a:ea typeface="微软雅黑" panose="020B0503020204020204" pitchFamily="34" charset="-122"/>
                <a:cs typeface="Times New Roman" panose="02020603050405020304" pitchFamily="18" charset="0"/>
              </a:rPr>
              <a:t>空载流量</a:t>
            </a:r>
            <a:endParaRPr lang="en-US" altLang="zh-CN" sz="2000" dirty="0">
              <a:ln w="0"/>
              <a:solidFill>
                <a:schemeClr val="tx1"/>
              </a:solidFill>
              <a:latin typeface="Times New Roman" panose="02020603050405020304" pitchFamily="18" charset="0"/>
              <a:ea typeface="微软雅黑" panose="020B0503020204020204" pitchFamily="34" charset="-122"/>
              <a:cs typeface="Times New Roman" panose="02020603050405020304" pitchFamily="18" charset="0"/>
            </a:endParaRPr>
          </a:p>
          <a:p>
            <a:pPr marL="342900" indent="-342900">
              <a:lnSpc>
                <a:spcPct val="150000"/>
              </a:lnSpc>
              <a:buFont typeface="Arial" panose="020B0604020202020204" pitchFamily="34" charset="0"/>
              <a:buChar char="•"/>
            </a:pPr>
            <a:r>
              <a:rPr lang="zh-CN" altLang="en-US" sz="2000" dirty="0">
                <a:ln w="0"/>
                <a:solidFill>
                  <a:schemeClr val="tx1"/>
                </a:solidFill>
                <a:latin typeface="Times New Roman" panose="02020603050405020304" pitchFamily="18" charset="0"/>
                <a:ea typeface="微软雅黑" panose="020B0503020204020204" pitchFamily="34" charset="-122"/>
                <a:cs typeface="Times New Roman" panose="02020603050405020304" pitchFamily="18" charset="0"/>
              </a:rPr>
              <a:t>内泄漏</a:t>
            </a:r>
            <a:endParaRPr lang="en-US" altLang="zh-CN" sz="2000" dirty="0">
              <a:ln w="0"/>
              <a:solidFill>
                <a:schemeClr val="tx1"/>
              </a:solidFill>
              <a:latin typeface="Times New Roman" panose="02020603050405020304" pitchFamily="18" charset="0"/>
              <a:ea typeface="微软雅黑" panose="020B0503020204020204" pitchFamily="34" charset="-122"/>
              <a:cs typeface="Times New Roman" panose="02020603050405020304" pitchFamily="18" charset="0"/>
            </a:endParaRPr>
          </a:p>
          <a:p>
            <a:pPr marL="342900" indent="-342900">
              <a:lnSpc>
                <a:spcPct val="150000"/>
              </a:lnSpc>
              <a:buFont typeface="Arial" panose="020B0604020202020204" pitchFamily="34" charset="0"/>
              <a:buChar char="•"/>
            </a:pPr>
            <a:r>
              <a:rPr lang="zh-CN" altLang="en-US" sz="2000" dirty="0">
                <a:ln w="0"/>
                <a:solidFill>
                  <a:schemeClr val="tx1"/>
                </a:solidFill>
                <a:latin typeface="Times New Roman" panose="02020603050405020304" pitchFamily="18" charset="0"/>
                <a:ea typeface="微软雅黑" panose="020B0503020204020204" pitchFamily="34" charset="-122"/>
                <a:cs typeface="Times New Roman" panose="02020603050405020304" pitchFamily="18" charset="0"/>
              </a:rPr>
              <a:t>负载压降</a:t>
            </a:r>
            <a:endParaRPr lang="en-US" altLang="zh-CN" sz="2000" dirty="0">
              <a:ln w="0"/>
              <a:solidFill>
                <a:schemeClr val="tx1"/>
              </a:solidFill>
              <a:latin typeface="Times New Roman" panose="02020603050405020304" pitchFamily="18" charset="0"/>
              <a:ea typeface="微软雅黑" panose="020B0503020204020204" pitchFamily="34" charset="-122"/>
              <a:cs typeface="Times New Roman" panose="02020603050405020304" pitchFamily="18" charset="0"/>
            </a:endParaRPr>
          </a:p>
          <a:p>
            <a:pPr marL="342900" indent="-342900">
              <a:lnSpc>
                <a:spcPct val="150000"/>
              </a:lnSpc>
              <a:buFont typeface="Arial" panose="020B0604020202020204" pitchFamily="34" charset="0"/>
              <a:buChar char="•"/>
            </a:pPr>
            <a:r>
              <a:rPr lang="zh-CN" altLang="en-US" sz="2000" dirty="0">
                <a:ln w="0"/>
                <a:solidFill>
                  <a:schemeClr val="tx1"/>
                </a:solidFill>
                <a:latin typeface="Times New Roman" panose="02020603050405020304" pitchFamily="18" charset="0"/>
                <a:ea typeface="微软雅黑" panose="020B0503020204020204" pitchFamily="34" charset="-122"/>
                <a:cs typeface="Times New Roman" panose="02020603050405020304" pitchFamily="18" charset="0"/>
              </a:rPr>
              <a:t>阀压降</a:t>
            </a:r>
            <a:endParaRPr lang="en-US" altLang="zh-CN" sz="2000" dirty="0">
              <a:ln w="0"/>
              <a:solidFill>
                <a:schemeClr val="tx1"/>
              </a:solidFill>
              <a:latin typeface="Times New Roman" panose="02020603050405020304" pitchFamily="18" charset="0"/>
              <a:ea typeface="微软雅黑" panose="020B0503020204020204" pitchFamily="34" charset="-122"/>
              <a:cs typeface="Times New Roman" panose="02020603050405020304" pitchFamily="18" charset="0"/>
            </a:endParaRPr>
          </a:p>
          <a:p>
            <a:pPr marL="342900" indent="-342900">
              <a:lnSpc>
                <a:spcPct val="150000"/>
              </a:lnSpc>
              <a:buFont typeface="Arial" panose="020B0604020202020204" pitchFamily="34" charset="0"/>
              <a:buChar char="•"/>
            </a:pPr>
            <a:r>
              <a:rPr lang="zh-CN" altLang="en-US" sz="2000" dirty="0">
                <a:ln w="0"/>
                <a:solidFill>
                  <a:schemeClr val="tx1"/>
                </a:solidFill>
                <a:latin typeface="Times New Roman" panose="02020603050405020304" pitchFamily="18" charset="0"/>
                <a:ea typeface="微软雅黑" panose="020B0503020204020204" pitchFamily="34" charset="-122"/>
                <a:cs typeface="Times New Roman" panose="02020603050405020304" pitchFamily="18" charset="0"/>
              </a:rPr>
              <a:t>线性度</a:t>
            </a:r>
            <a:endParaRPr lang="en-US" altLang="zh-CN" sz="2000" dirty="0">
              <a:ln w="0"/>
              <a:solidFill>
                <a:schemeClr val="tx1"/>
              </a:solidFill>
              <a:latin typeface="Times New Roman" panose="02020603050405020304" pitchFamily="18" charset="0"/>
              <a:ea typeface="微软雅黑" panose="020B0503020204020204" pitchFamily="34" charset="-122"/>
              <a:cs typeface="Times New Roman" panose="02020603050405020304" pitchFamily="18" charset="0"/>
            </a:endParaRPr>
          </a:p>
          <a:p>
            <a:pPr marL="342900" indent="-342900">
              <a:buFont typeface="Arial" panose="020B0604020202020204" pitchFamily="34" charset="0"/>
              <a:buChar char="•"/>
            </a:pPr>
            <a:endParaRPr lang="zh-CN" altLang="en-US" sz="2000" dirty="0">
              <a:ln w="0"/>
              <a:solidFill>
                <a:schemeClr val="tx1"/>
              </a:solidFill>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14" name="矩形 13">
            <a:extLst>
              <a:ext uri="{FF2B5EF4-FFF2-40B4-BE49-F238E27FC236}">
                <a16:creationId xmlns:a16="http://schemas.microsoft.com/office/drawing/2014/main" id="{3C068FC6-B851-37AF-2AC2-BFF5137C689F}"/>
              </a:ext>
            </a:extLst>
          </p:cNvPr>
          <p:cNvSpPr/>
          <p:nvPr/>
        </p:nvSpPr>
        <p:spPr>
          <a:xfrm>
            <a:off x="8793646" y="1643311"/>
            <a:ext cx="1210588" cy="400110"/>
          </a:xfrm>
          <a:prstGeom prst="rect">
            <a:avLst/>
          </a:prstGeom>
          <a:noFill/>
        </p:spPr>
        <p:txBody>
          <a:bodyPr wrap="none" lIns="91440" tIns="45720" rIns="91440" bIns="4572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algn="ctr"/>
            <a:r>
              <a:rPr lang="zh-CN" altLang="en-US" sz="2000" dirty="0">
                <a:ln w="0"/>
                <a:ea typeface="微软雅黑" panose="020B0503020204020204" pitchFamily="34" charset="-122"/>
                <a:cs typeface="Times New Roman" panose="02020603050405020304" pitchFamily="18" charset="0"/>
              </a:rPr>
              <a:t>主要参数</a:t>
            </a:r>
          </a:p>
        </p:txBody>
      </p:sp>
      <p:pic>
        <p:nvPicPr>
          <p:cNvPr id="15" name="图片 14">
            <a:extLst>
              <a:ext uri="{FF2B5EF4-FFF2-40B4-BE49-F238E27FC236}">
                <a16:creationId xmlns:a16="http://schemas.microsoft.com/office/drawing/2014/main" id="{816C1694-4F71-2722-54C8-AB6583B224F5}"/>
              </a:ext>
            </a:extLst>
          </p:cNvPr>
          <p:cNvPicPr>
            <a:picLocks noChangeAspect="1"/>
          </p:cNvPicPr>
          <p:nvPr/>
        </p:nvPicPr>
        <p:blipFill>
          <a:blip r:embed="rId4"/>
          <a:stretch>
            <a:fillRect/>
          </a:stretch>
        </p:blipFill>
        <p:spPr>
          <a:xfrm>
            <a:off x="2763422" y="4348935"/>
            <a:ext cx="2411887" cy="2373650"/>
          </a:xfrm>
          <a:prstGeom prst="rect">
            <a:avLst/>
          </a:prstGeom>
        </p:spPr>
      </p:pic>
      <p:sp>
        <p:nvSpPr>
          <p:cNvPr id="9" name="文本框 8">
            <a:extLst>
              <a:ext uri="{FF2B5EF4-FFF2-40B4-BE49-F238E27FC236}">
                <a16:creationId xmlns:a16="http://schemas.microsoft.com/office/drawing/2014/main" id="{518141D5-6A17-3692-7708-70A7BBE522EA}"/>
              </a:ext>
            </a:extLst>
          </p:cNvPr>
          <p:cNvSpPr txBox="1"/>
          <p:nvPr/>
        </p:nvSpPr>
        <p:spPr>
          <a:xfrm>
            <a:off x="9487955" y="2155100"/>
            <a:ext cx="1728297" cy="3731086"/>
          </a:xfrm>
          <a:prstGeom prst="rect">
            <a:avLst/>
          </a:prstGeom>
          <a:noFill/>
        </p:spPr>
        <p:txBody>
          <a:bodyPr wrap="square">
            <a:spAutoFit/>
          </a:bodyPr>
          <a:lstStyle/>
          <a:p>
            <a:pPr marL="342900" indent="-342900" fontAlgn="base">
              <a:lnSpc>
                <a:spcPct val="150000"/>
              </a:lnSpc>
              <a:spcBef>
                <a:spcPct val="0"/>
              </a:spcBef>
              <a:spcAft>
                <a:spcPct val="0"/>
              </a:spcAft>
              <a:buFont typeface="Arial" panose="020B0604020202020204" pitchFamily="34" charset="0"/>
              <a:buChar char="•"/>
            </a:pPr>
            <a:r>
              <a:rPr lang="zh-CN" altLang="en-US" sz="2000" dirty="0">
                <a:ln w="0"/>
                <a:latin typeface="Times New Roman" panose="02020603050405020304" pitchFamily="18" charset="0"/>
                <a:ea typeface="微软雅黑" panose="020B0503020204020204" pitchFamily="34" charset="-122"/>
                <a:cs typeface="Times New Roman" panose="02020603050405020304" pitchFamily="18" charset="0"/>
              </a:rPr>
              <a:t>对称度</a:t>
            </a:r>
            <a:endParaRPr lang="en-US" altLang="zh-CN" sz="2000" dirty="0">
              <a:ln w="0"/>
              <a:latin typeface="Times New Roman" panose="02020603050405020304" pitchFamily="18" charset="0"/>
              <a:ea typeface="微软雅黑" panose="020B0503020204020204" pitchFamily="34" charset="-122"/>
              <a:cs typeface="Times New Roman" panose="02020603050405020304" pitchFamily="18" charset="0"/>
            </a:endParaRPr>
          </a:p>
          <a:p>
            <a:pPr marL="342900" indent="-342900" fontAlgn="base">
              <a:lnSpc>
                <a:spcPct val="150000"/>
              </a:lnSpc>
              <a:spcBef>
                <a:spcPct val="0"/>
              </a:spcBef>
              <a:spcAft>
                <a:spcPct val="0"/>
              </a:spcAft>
              <a:buFont typeface="Arial" panose="020B0604020202020204" pitchFamily="34" charset="0"/>
              <a:buChar char="•"/>
            </a:pPr>
            <a:r>
              <a:rPr lang="zh-CN" altLang="en-US" sz="2000" dirty="0">
                <a:ln w="0"/>
                <a:latin typeface="Times New Roman" panose="02020603050405020304" pitchFamily="18" charset="0"/>
                <a:ea typeface="微软雅黑" panose="020B0503020204020204" pitchFamily="34" charset="-122"/>
                <a:cs typeface="Times New Roman" panose="02020603050405020304" pitchFamily="18" charset="0"/>
              </a:rPr>
              <a:t>滞环</a:t>
            </a:r>
            <a:endParaRPr lang="en-US" altLang="zh-CN" sz="2000" dirty="0">
              <a:ln w="0"/>
              <a:latin typeface="Times New Roman" panose="02020603050405020304" pitchFamily="18" charset="0"/>
              <a:ea typeface="微软雅黑" panose="020B0503020204020204" pitchFamily="34" charset="-122"/>
              <a:cs typeface="Times New Roman" panose="02020603050405020304" pitchFamily="18" charset="0"/>
            </a:endParaRPr>
          </a:p>
          <a:p>
            <a:pPr marL="342900" indent="-342900" fontAlgn="base">
              <a:lnSpc>
                <a:spcPct val="150000"/>
              </a:lnSpc>
              <a:spcBef>
                <a:spcPct val="0"/>
              </a:spcBef>
              <a:spcAft>
                <a:spcPct val="0"/>
              </a:spcAft>
              <a:buFont typeface="Arial" panose="020B0604020202020204" pitchFamily="34" charset="0"/>
              <a:buChar char="•"/>
            </a:pPr>
            <a:r>
              <a:rPr lang="zh-CN" altLang="en-US" sz="2000" dirty="0">
                <a:ln w="0"/>
                <a:latin typeface="Times New Roman" panose="02020603050405020304" pitchFamily="18" charset="0"/>
                <a:ea typeface="微软雅黑" panose="020B0503020204020204" pitchFamily="34" charset="-122"/>
                <a:cs typeface="Times New Roman" panose="02020603050405020304" pitchFamily="18" charset="0"/>
              </a:rPr>
              <a:t>遮盖度</a:t>
            </a:r>
            <a:endParaRPr lang="en-US" altLang="zh-CN" sz="2000" dirty="0">
              <a:ln w="0"/>
              <a:latin typeface="Times New Roman" panose="02020603050405020304" pitchFamily="18" charset="0"/>
              <a:ea typeface="微软雅黑" panose="020B0503020204020204" pitchFamily="34" charset="-122"/>
              <a:cs typeface="Times New Roman" panose="02020603050405020304" pitchFamily="18" charset="0"/>
            </a:endParaRPr>
          </a:p>
          <a:p>
            <a:pPr marL="342900" indent="-342900" fontAlgn="base">
              <a:lnSpc>
                <a:spcPct val="150000"/>
              </a:lnSpc>
              <a:spcBef>
                <a:spcPct val="0"/>
              </a:spcBef>
              <a:spcAft>
                <a:spcPct val="0"/>
              </a:spcAft>
              <a:buFont typeface="Arial" panose="020B0604020202020204" pitchFamily="34" charset="0"/>
              <a:buChar char="•"/>
            </a:pPr>
            <a:r>
              <a:rPr lang="zh-CN" altLang="en-US" sz="2000" dirty="0">
                <a:ln w="0"/>
                <a:latin typeface="Times New Roman" panose="02020603050405020304" pitchFamily="18" charset="0"/>
                <a:ea typeface="微软雅黑" panose="020B0503020204020204" pitchFamily="34" charset="-122"/>
                <a:cs typeface="Times New Roman" panose="02020603050405020304" pitchFamily="18" charset="0"/>
              </a:rPr>
              <a:t>压力增益</a:t>
            </a:r>
            <a:endParaRPr lang="en-US" altLang="zh-CN" sz="2000" dirty="0">
              <a:ln w="0"/>
              <a:latin typeface="Times New Roman" panose="02020603050405020304" pitchFamily="18" charset="0"/>
              <a:ea typeface="微软雅黑" panose="020B0503020204020204" pitchFamily="34" charset="-122"/>
              <a:cs typeface="Times New Roman" panose="02020603050405020304" pitchFamily="18" charset="0"/>
            </a:endParaRPr>
          </a:p>
          <a:p>
            <a:pPr marL="342900" indent="-342900" fontAlgn="base">
              <a:lnSpc>
                <a:spcPct val="150000"/>
              </a:lnSpc>
              <a:spcBef>
                <a:spcPct val="0"/>
              </a:spcBef>
              <a:spcAft>
                <a:spcPct val="0"/>
              </a:spcAft>
              <a:buFont typeface="Arial" panose="020B0604020202020204" pitchFamily="34" charset="0"/>
              <a:buChar char="•"/>
            </a:pPr>
            <a:r>
              <a:rPr lang="zh-CN" altLang="en-US" sz="2000" dirty="0">
                <a:ln w="0"/>
                <a:latin typeface="Times New Roman" panose="02020603050405020304" pitchFamily="18" charset="0"/>
                <a:ea typeface="微软雅黑" panose="020B0503020204020204" pitchFamily="34" charset="-122"/>
                <a:cs typeface="Times New Roman" panose="02020603050405020304" pitchFamily="18" charset="0"/>
              </a:rPr>
              <a:t>零位</a:t>
            </a:r>
            <a:endParaRPr lang="en-US" altLang="zh-CN" sz="2000" dirty="0">
              <a:ln w="0"/>
              <a:latin typeface="Times New Roman" panose="02020603050405020304" pitchFamily="18" charset="0"/>
              <a:ea typeface="微软雅黑" panose="020B0503020204020204" pitchFamily="34" charset="-122"/>
              <a:cs typeface="Times New Roman" panose="02020603050405020304" pitchFamily="18" charset="0"/>
            </a:endParaRPr>
          </a:p>
          <a:p>
            <a:pPr marL="342900" indent="-342900" fontAlgn="base">
              <a:lnSpc>
                <a:spcPct val="150000"/>
              </a:lnSpc>
              <a:spcBef>
                <a:spcPct val="0"/>
              </a:spcBef>
              <a:spcAft>
                <a:spcPct val="0"/>
              </a:spcAft>
              <a:buFont typeface="Arial" panose="020B0604020202020204" pitchFamily="34" charset="0"/>
              <a:buChar char="•"/>
            </a:pPr>
            <a:r>
              <a:rPr lang="zh-CN" altLang="en-US" sz="2000" dirty="0">
                <a:ln w="0"/>
                <a:latin typeface="Times New Roman" panose="02020603050405020304" pitchFamily="18" charset="0"/>
                <a:ea typeface="微软雅黑" panose="020B0503020204020204" pitchFamily="34" charset="-122"/>
                <a:cs typeface="Times New Roman" panose="02020603050405020304" pitchFamily="18" charset="0"/>
              </a:rPr>
              <a:t>零偏</a:t>
            </a:r>
            <a:endParaRPr lang="en-US" altLang="zh-CN" sz="2000" dirty="0">
              <a:ln w="0"/>
              <a:latin typeface="Times New Roman" panose="02020603050405020304" pitchFamily="18" charset="0"/>
              <a:ea typeface="微软雅黑" panose="020B0503020204020204" pitchFamily="34" charset="-122"/>
              <a:cs typeface="Times New Roman" panose="02020603050405020304" pitchFamily="18" charset="0"/>
            </a:endParaRPr>
          </a:p>
          <a:p>
            <a:pPr marL="342900" indent="-342900" fontAlgn="base">
              <a:lnSpc>
                <a:spcPct val="150000"/>
              </a:lnSpc>
              <a:spcBef>
                <a:spcPct val="0"/>
              </a:spcBef>
              <a:spcAft>
                <a:spcPct val="0"/>
              </a:spcAft>
              <a:buFont typeface="Arial" panose="020B0604020202020204" pitchFamily="34" charset="0"/>
              <a:buChar char="•"/>
            </a:pPr>
            <a:r>
              <a:rPr lang="zh-CN" altLang="en-US" sz="2000" dirty="0">
                <a:ln w="0"/>
                <a:latin typeface="Times New Roman" panose="02020603050405020304" pitchFamily="18" charset="0"/>
                <a:ea typeface="微软雅黑" panose="020B0503020204020204" pitchFamily="34" charset="-122"/>
                <a:cs typeface="Times New Roman" panose="02020603050405020304" pitchFamily="18" charset="0"/>
              </a:rPr>
              <a:t>零漂</a:t>
            </a:r>
            <a:endParaRPr lang="en-US" altLang="zh-CN" sz="2000" dirty="0">
              <a:ln w="0"/>
              <a:latin typeface="Times New Roman" panose="02020603050405020304" pitchFamily="18" charset="0"/>
              <a:ea typeface="微软雅黑" panose="020B0503020204020204" pitchFamily="34" charset="-122"/>
              <a:cs typeface="Times New Roman" panose="02020603050405020304" pitchFamily="18" charset="0"/>
            </a:endParaRPr>
          </a:p>
          <a:p>
            <a:pPr marL="342900" indent="-342900" fontAlgn="base">
              <a:lnSpc>
                <a:spcPct val="150000"/>
              </a:lnSpc>
              <a:spcBef>
                <a:spcPct val="0"/>
              </a:spcBef>
              <a:spcAft>
                <a:spcPct val="0"/>
              </a:spcAft>
              <a:buFont typeface="Arial" panose="020B0604020202020204" pitchFamily="34" charset="0"/>
              <a:buChar char="•"/>
            </a:pPr>
            <a:r>
              <a:rPr lang="zh-CN" altLang="en-US" sz="2000" dirty="0">
                <a:ln w="0"/>
                <a:latin typeface="Times New Roman" panose="02020603050405020304" pitchFamily="18" charset="0"/>
                <a:ea typeface="微软雅黑" panose="020B0503020204020204" pitchFamily="34" charset="-122"/>
                <a:cs typeface="Times New Roman" panose="02020603050405020304" pitchFamily="18" charset="0"/>
              </a:rPr>
              <a:t>频率响应</a:t>
            </a:r>
          </a:p>
        </p:txBody>
      </p:sp>
      <p:sp>
        <p:nvSpPr>
          <p:cNvPr id="11" name="矩形 10">
            <a:extLst>
              <a:ext uri="{FF2B5EF4-FFF2-40B4-BE49-F238E27FC236}">
                <a16:creationId xmlns:a16="http://schemas.microsoft.com/office/drawing/2014/main" id="{2B99140E-F9CC-8F67-E29B-421DB485D661}"/>
              </a:ext>
            </a:extLst>
          </p:cNvPr>
          <p:cNvSpPr/>
          <p:nvPr/>
        </p:nvSpPr>
        <p:spPr>
          <a:xfrm>
            <a:off x="7650866" y="2155100"/>
            <a:ext cx="3565386" cy="380947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0628906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26" name="矩形 25">
            <a:extLst>
              <a:ext uri="{FF2B5EF4-FFF2-40B4-BE49-F238E27FC236}">
                <a16:creationId xmlns:a16="http://schemas.microsoft.com/office/drawing/2014/main" id="{08E12499-BFB8-47F3-BAC4-975EC1E1E5B1}"/>
              </a:ext>
            </a:extLst>
          </p:cNvPr>
          <p:cNvSpPr/>
          <p:nvPr/>
        </p:nvSpPr>
        <p:spPr>
          <a:xfrm>
            <a:off x="429656" y="893424"/>
            <a:ext cx="7547154" cy="581762"/>
          </a:xfrm>
          <a:prstGeom prst="rect">
            <a:avLst/>
          </a:prstGeom>
        </p:spPr>
        <p:txBody>
          <a:bodyPr wrap="square">
            <a:spAutoFit/>
          </a:bodyPr>
          <a:lstStyle/>
          <a:p>
            <a:pPr marL="457200" indent="-457200">
              <a:lnSpc>
                <a:spcPct val="125000"/>
              </a:lnSpc>
              <a:buFont typeface="Wingdings" panose="05000000000000000000" pitchFamily="2" charset="2"/>
              <a:buChar char="p"/>
            </a:pPr>
            <a:r>
              <a:rPr lang="zh-CN" altLang="en-US" sz="2800" b="1" dirty="0">
                <a:solidFill>
                  <a:srgbClr val="003F88"/>
                </a:solidFill>
                <a:latin typeface="微软雅黑" panose="020B0503020204020204" pitchFamily="34" charset="-122"/>
                <a:ea typeface="微软雅黑" panose="020B0503020204020204" pitchFamily="34" charset="-122"/>
              </a:rPr>
              <a:t>静态特性</a:t>
            </a:r>
          </a:p>
        </p:txBody>
      </p:sp>
      <p:sp>
        <p:nvSpPr>
          <p:cNvPr id="13" name="文本框 12">
            <a:extLst>
              <a:ext uri="{FF2B5EF4-FFF2-40B4-BE49-F238E27FC236}">
                <a16:creationId xmlns:a16="http://schemas.microsoft.com/office/drawing/2014/main" id="{D69CC19E-8AB4-24D8-2D2D-FE40C8B5AC42}"/>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ea typeface="微软雅黑" panose="020B0503020204020204" pitchFamily="34" charset="-122"/>
                <a:cs typeface="Times New Roman" panose="02020603050405020304" pitchFamily="18" charset="0"/>
              </a:rPr>
              <a:t>10.4 </a:t>
            </a:r>
            <a:r>
              <a:rPr lang="zh-CN" altLang="en-US" sz="3600" b="1" dirty="0">
                <a:solidFill>
                  <a:srgbClr val="003F88"/>
                </a:solidFill>
                <a:latin typeface="Times New Roman" panose="02020603050405020304" pitchFamily="18" charset="0"/>
                <a:ea typeface="微软雅黑" panose="020B0503020204020204" pitchFamily="34" charset="-122"/>
                <a:cs typeface="Times New Roman" panose="02020603050405020304" pitchFamily="18" charset="0"/>
              </a:rPr>
              <a:t>特性分析</a:t>
            </a:r>
          </a:p>
        </p:txBody>
      </p:sp>
      <p:sp>
        <p:nvSpPr>
          <p:cNvPr id="4" name="矩形 3">
            <a:extLst>
              <a:ext uri="{FF2B5EF4-FFF2-40B4-BE49-F238E27FC236}">
                <a16:creationId xmlns:a16="http://schemas.microsoft.com/office/drawing/2014/main" id="{EE4C270C-9170-D1BE-20D0-BFAE22A41049}"/>
              </a:ext>
            </a:extLst>
          </p:cNvPr>
          <p:cNvSpPr/>
          <p:nvPr/>
        </p:nvSpPr>
        <p:spPr>
          <a:xfrm>
            <a:off x="3527851" y="987518"/>
            <a:ext cx="3057247" cy="461665"/>
          </a:xfrm>
          <a:prstGeom prst="rect">
            <a:avLst/>
          </a:prstGeom>
          <a:noFill/>
        </p:spPr>
        <p:txBody>
          <a:bodyPr wrap="none" lIns="91440" tIns="45720" rIns="91440" bIns="4572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r>
              <a:rPr lang="zh-CN" altLang="en-US" sz="2400" b="1" dirty="0">
                <a:ln w="0"/>
                <a:ea typeface="微软雅黑" panose="020B0503020204020204" pitchFamily="34" charset="-122"/>
                <a:cs typeface="Times New Roman" panose="02020603050405020304" pitchFamily="18" charset="0"/>
              </a:rPr>
              <a:t>伺服阀流量</a:t>
            </a:r>
            <a:r>
              <a:rPr lang="en-US" altLang="zh-CN" sz="2400" b="1" dirty="0">
                <a:ln w="0"/>
                <a:ea typeface="微软雅黑" panose="020B0503020204020204" pitchFamily="34" charset="-122"/>
                <a:cs typeface="Times New Roman" panose="02020603050405020304" pitchFamily="18" charset="0"/>
              </a:rPr>
              <a:t>-</a:t>
            </a:r>
            <a:r>
              <a:rPr lang="zh-CN" altLang="en-US" sz="2400" b="1" dirty="0">
                <a:ln w="0"/>
                <a:ea typeface="微软雅黑" panose="020B0503020204020204" pitchFamily="34" charset="-122"/>
                <a:cs typeface="Times New Roman" panose="02020603050405020304" pitchFamily="18" charset="0"/>
              </a:rPr>
              <a:t>压力特性</a:t>
            </a:r>
            <a:endParaRPr lang="en-US" altLang="zh-CN" sz="2400" b="1" dirty="0">
              <a:ln w="0"/>
              <a:ea typeface="微软雅黑" panose="020B0503020204020204" pitchFamily="34" charset="-122"/>
              <a:cs typeface="Times New Roman" panose="02020603050405020304" pitchFamily="18" charset="0"/>
            </a:endParaRPr>
          </a:p>
        </p:txBody>
      </p:sp>
      <p:pic>
        <p:nvPicPr>
          <p:cNvPr id="11" name="图片 10">
            <a:extLst>
              <a:ext uri="{FF2B5EF4-FFF2-40B4-BE49-F238E27FC236}">
                <a16:creationId xmlns:a16="http://schemas.microsoft.com/office/drawing/2014/main" id="{C8FF4279-7506-9011-696F-D4925505D31B}"/>
              </a:ext>
            </a:extLst>
          </p:cNvPr>
          <p:cNvPicPr>
            <a:picLocks noChangeAspect="1"/>
          </p:cNvPicPr>
          <p:nvPr/>
        </p:nvPicPr>
        <p:blipFill>
          <a:blip r:embed="rId4"/>
          <a:stretch>
            <a:fillRect/>
          </a:stretch>
        </p:blipFill>
        <p:spPr>
          <a:xfrm>
            <a:off x="387137" y="2269308"/>
            <a:ext cx="2043455" cy="2292543"/>
          </a:xfrm>
          <a:prstGeom prst="rect">
            <a:avLst/>
          </a:prstGeom>
        </p:spPr>
      </p:pic>
      <p:sp>
        <p:nvSpPr>
          <p:cNvPr id="12" name="Content Placeholder 2">
            <a:extLst>
              <a:ext uri="{FF2B5EF4-FFF2-40B4-BE49-F238E27FC236}">
                <a16:creationId xmlns:a16="http://schemas.microsoft.com/office/drawing/2014/main" id="{F30C8A63-3DA3-D122-C55A-CC8AC841F093}"/>
              </a:ext>
            </a:extLst>
          </p:cNvPr>
          <p:cNvSpPr txBox="1"/>
          <p:nvPr/>
        </p:nvSpPr>
        <p:spPr bwMode="auto">
          <a:xfrm>
            <a:off x="486950" y="4562230"/>
            <a:ext cx="2242489" cy="287516"/>
          </a:xfrm>
          <a:prstGeom prst="rect">
            <a:avLst/>
          </a:prstGeom>
          <a:noFill/>
          <a:ln w="9525">
            <a:noFill/>
            <a:miter lim="800000"/>
          </a:ln>
        </p:spPr>
        <p:txBody>
          <a:bodyPr vert="horz" wrap="square" lIns="91440" tIns="45720" rIns="91440" bIns="45720" numCol="1" anchor="t" anchorCtr="0" compatLnSpc="1"/>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marL="0" indent="0" algn="ctr">
              <a:buNone/>
            </a:pPr>
            <a:r>
              <a:rPr lang="zh-CN" altLang="en-US" kern="0" dirty="0">
                <a:ea typeface="微软雅黑" panose="020B0503020204020204" pitchFamily="34" charset="-122"/>
                <a:cs typeface="Times New Roman" panose="02020603050405020304" pitchFamily="18" charset="0"/>
              </a:rPr>
              <a:t>零开口伺服阀简图</a:t>
            </a:r>
            <a:endParaRPr lang="en-US" altLang="zh-CN" kern="0" dirty="0">
              <a:ea typeface="微软雅黑" panose="020B0503020204020204" pitchFamily="34" charset="-122"/>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5" name="Content Placeholder 2">
                <a:extLst>
                  <a:ext uri="{FF2B5EF4-FFF2-40B4-BE49-F238E27FC236}">
                    <a16:creationId xmlns:a16="http://schemas.microsoft.com/office/drawing/2014/main" id="{E6862DB3-7696-73F3-C7E2-AE65A576749A}"/>
                  </a:ext>
                </a:extLst>
              </p:cNvPr>
              <p:cNvSpPr txBox="1"/>
              <p:nvPr/>
            </p:nvSpPr>
            <p:spPr bwMode="auto">
              <a:xfrm>
                <a:off x="2228073" y="1981413"/>
                <a:ext cx="5841144" cy="1508293"/>
              </a:xfrm>
              <a:prstGeom prst="rect">
                <a:avLst/>
              </a:prstGeom>
              <a:noFill/>
              <a:ln w="9525">
                <a:noFill/>
                <a:miter lim="800000"/>
              </a:ln>
            </p:spPr>
            <p:txBody>
              <a:bodyPr vert="horz" wrap="square" lIns="91440" tIns="45720" rIns="91440" bIns="45720" numCol="1" anchor="t" anchorCtr="0" compatLnSpc="1"/>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a:lnSpc>
                    <a:spcPct val="150000"/>
                  </a:lnSpc>
                </a:pPr>
                <a:r>
                  <a:rPr lang="zh-CN" altLang="en-US" sz="2000" kern="0" dirty="0">
                    <a:ea typeface="微软雅黑" panose="020B0503020204020204" pitchFamily="34" charset="-122"/>
                    <a:cs typeface="Times New Roman" panose="02020603050405020304" pitchFamily="18" charset="0"/>
                  </a:rPr>
                  <a:t>假定理想</a:t>
                </a:r>
                <a:r>
                  <a:rPr lang="zh-CN" altLang="en-US" sz="2000" b="1" kern="0" dirty="0">
                    <a:solidFill>
                      <a:srgbClr val="FF0000"/>
                    </a:solidFill>
                    <a:ea typeface="微软雅黑" panose="020B0503020204020204" pitchFamily="34" charset="-122"/>
                    <a:cs typeface="Times New Roman" panose="02020603050405020304" pitchFamily="18" charset="0"/>
                  </a:rPr>
                  <a:t>零开口</a:t>
                </a:r>
                <a:r>
                  <a:rPr lang="zh-CN" altLang="en-US" sz="2000" kern="0" dirty="0">
                    <a:ea typeface="微软雅黑" panose="020B0503020204020204" pitchFamily="34" charset="-122"/>
                    <a:cs typeface="Times New Roman" panose="02020603050405020304" pitchFamily="18" charset="0"/>
                  </a:rPr>
                  <a:t>，油源</a:t>
                </a:r>
                <a:r>
                  <a:rPr lang="zh-CN" altLang="en-US" sz="2000" b="1" kern="0" dirty="0">
                    <a:solidFill>
                      <a:srgbClr val="FF0000"/>
                    </a:solidFill>
                    <a:ea typeface="微软雅黑" panose="020B0503020204020204" pitchFamily="34" charset="-122"/>
                    <a:cs typeface="Times New Roman" panose="02020603050405020304" pitchFamily="18" charset="0"/>
                  </a:rPr>
                  <a:t>压力稳定</a:t>
                </a:r>
                <a:r>
                  <a:rPr lang="zh-CN" altLang="en-US" sz="2000" kern="0" dirty="0">
                    <a:ea typeface="微软雅黑" panose="020B0503020204020204" pitchFamily="34" charset="-122"/>
                    <a:cs typeface="Times New Roman" panose="02020603050405020304" pitchFamily="18" charset="0"/>
                  </a:rPr>
                  <a:t>，油液理想液体阀芯和阀套间的</a:t>
                </a:r>
                <a:r>
                  <a:rPr lang="zh-CN" altLang="en-US" sz="2000" b="1" kern="0" dirty="0">
                    <a:solidFill>
                      <a:srgbClr val="FF0000"/>
                    </a:solidFill>
                    <a:ea typeface="微软雅黑" panose="020B0503020204020204" pitchFamily="34" charset="-122"/>
                    <a:cs typeface="Times New Roman" panose="02020603050405020304" pitchFamily="18" charset="0"/>
                  </a:rPr>
                  <a:t>径向间隙忽略不计</a:t>
                </a:r>
                <a:r>
                  <a:rPr lang="zh-CN" altLang="en-US" sz="2000" kern="0" dirty="0">
                    <a:ea typeface="微软雅黑" panose="020B0503020204020204" pitchFamily="34" charset="-122"/>
                    <a:cs typeface="Times New Roman" panose="02020603050405020304" pitchFamily="18" charset="0"/>
                  </a:rPr>
                  <a:t>，双杆液压缸</a:t>
                </a:r>
                <a:endParaRPr lang="en-US" altLang="zh-CN" sz="2000" kern="0" dirty="0">
                  <a:ea typeface="微软雅黑" panose="020B0503020204020204" pitchFamily="34" charset="-122"/>
                  <a:cs typeface="Times New Roman" panose="02020603050405020304" pitchFamily="18" charset="0"/>
                </a:endParaRPr>
              </a:p>
              <a:p>
                <a:pPr marL="0" indent="0">
                  <a:lnSpc>
                    <a:spcPct val="150000"/>
                  </a:lnSpc>
                  <a:buNone/>
                </a:pPr>
                <a:r>
                  <a:rPr lang="zh-CN" altLang="en-US" sz="2000" kern="0" dirty="0">
                    <a:ea typeface="微软雅黑" panose="020B0503020204020204" pitchFamily="34" charset="-122"/>
                    <a:cs typeface="Times New Roman" panose="02020603050405020304" pitchFamily="18" charset="0"/>
                  </a:rPr>
                  <a:t>进油压力从   </a:t>
                </a:r>
                <a14:m>
                  <m:oMath xmlns:m="http://schemas.openxmlformats.org/officeDocument/2006/math">
                    <m:r>
                      <a:rPr lang="en-US" altLang="zh-CN" sz="2000" b="0" i="0" kern="0" smtClean="0">
                        <a:latin typeface="Cambria Math" panose="02040503050406030204" pitchFamily="18" charset="0"/>
                        <a:ea typeface="黑体" panose="02010609060101010101" pitchFamily="49" charset="-122"/>
                      </a:rPr>
                      <m:t> </m:t>
                    </m:r>
                    <m:r>
                      <a:rPr lang="zh-CN" altLang="en-US" sz="2000" i="1" kern="0">
                        <a:latin typeface="Cambria Math" panose="02040503050406030204" pitchFamily="18" charset="0"/>
                        <a:ea typeface="黑体" panose="02010609060101010101" pitchFamily="49" charset="-122"/>
                      </a:rPr>
                      <m:t>降</m:t>
                    </m:r>
                  </m:oMath>
                </a14:m>
                <a:r>
                  <a:rPr lang="zh-CN" altLang="en-US" sz="2000" kern="0" dirty="0">
                    <a:ea typeface="微软雅黑" panose="020B0503020204020204" pitchFamily="34" charset="-122"/>
                    <a:cs typeface="Times New Roman" panose="02020603050405020304" pitchFamily="18" charset="0"/>
                  </a:rPr>
                  <a:t>为    ，回油开口从     降为零，可得</a:t>
                </a:r>
                <a:endParaRPr lang="en-US" altLang="zh-CN" sz="2000" kern="0" dirty="0">
                  <a:ea typeface="微软雅黑" panose="020B0503020204020204" pitchFamily="34" charset="-122"/>
                  <a:cs typeface="Times New Roman" panose="02020603050405020304" pitchFamily="18" charset="0"/>
                </a:endParaRPr>
              </a:p>
            </p:txBody>
          </p:sp>
        </mc:Choice>
        <mc:Fallback xmlns="">
          <p:sp>
            <p:nvSpPr>
              <p:cNvPr id="15" name="Content Placeholder 2">
                <a:extLst>
                  <a:ext uri="{FF2B5EF4-FFF2-40B4-BE49-F238E27FC236}">
                    <a16:creationId xmlns:a16="http://schemas.microsoft.com/office/drawing/2014/main" id="{E6862DB3-7696-73F3-C7E2-AE65A576749A}"/>
                  </a:ext>
                </a:extLst>
              </p:cNvPr>
              <p:cNvSpPr txBox="1">
                <a:spLocks noRot="1" noChangeAspect="1" noMove="1" noResize="1" noEditPoints="1" noAdjustHandles="1" noChangeArrowheads="1" noChangeShapeType="1" noTextEdit="1"/>
              </p:cNvSpPr>
              <p:nvPr/>
            </p:nvSpPr>
            <p:spPr bwMode="auto">
              <a:xfrm>
                <a:off x="2228073" y="1981413"/>
                <a:ext cx="5841144" cy="1508293"/>
              </a:xfrm>
              <a:prstGeom prst="rect">
                <a:avLst/>
              </a:prstGeom>
              <a:blipFill>
                <a:blip r:embed="rId5"/>
                <a:stretch>
                  <a:fillRect l="-1043" r="-1043" b="-810"/>
                </a:stretch>
              </a:blipFill>
              <a:ln w="9525">
                <a:noFill/>
                <a:miter lim="800000"/>
              </a:ln>
            </p:spPr>
            <p:txBody>
              <a:bodyPr/>
              <a:lstStyle/>
              <a:p>
                <a:r>
                  <a:rPr lang="zh-CN" altLang="en-US">
                    <a:noFill/>
                  </a:rPr>
                  <a:t> </a:t>
                </a:r>
              </a:p>
            </p:txBody>
          </p:sp>
        </mc:Fallback>
      </mc:AlternateContent>
      <p:sp>
        <p:nvSpPr>
          <p:cNvPr id="17" name="Content Placeholder 2">
            <a:extLst>
              <a:ext uri="{FF2B5EF4-FFF2-40B4-BE49-F238E27FC236}">
                <a16:creationId xmlns:a16="http://schemas.microsoft.com/office/drawing/2014/main" id="{FD700F62-C3D2-775D-3306-3E273356E412}"/>
              </a:ext>
            </a:extLst>
          </p:cNvPr>
          <p:cNvSpPr txBox="1"/>
          <p:nvPr/>
        </p:nvSpPr>
        <p:spPr bwMode="auto">
          <a:xfrm>
            <a:off x="2829251" y="4812807"/>
            <a:ext cx="5250089" cy="1021161"/>
          </a:xfrm>
          <a:prstGeom prst="rect">
            <a:avLst/>
          </a:prstGeom>
          <a:noFill/>
          <a:ln w="9525">
            <a:noFill/>
            <a:miter lim="800000"/>
          </a:ln>
        </p:spPr>
        <p:txBody>
          <a:bodyPr vert="horz" wrap="square" lIns="91440" tIns="45720" rIns="91440" bIns="45720" numCol="1" anchor="t" anchorCtr="0" compatLnSpc="1"/>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marL="0" indent="0">
              <a:lnSpc>
                <a:spcPct val="150000"/>
              </a:lnSpc>
              <a:buNone/>
            </a:pPr>
            <a:r>
              <a:rPr lang="zh-CN" altLang="en-US" sz="2000" kern="0" dirty="0">
                <a:ea typeface="微软雅黑" panose="020B0503020204020204" pitchFamily="34" charset="-122"/>
                <a:cs typeface="Times New Roman" panose="02020603050405020304" pitchFamily="18" charset="0"/>
              </a:rPr>
              <a:t>伺服阀各控制口大多是配作且对称的，且负载压力                       </a:t>
            </a:r>
            <a:r>
              <a:rPr lang="en-US" altLang="zh-CN" sz="2000" kern="0" dirty="0">
                <a:ea typeface="微软雅黑" panose="020B0503020204020204" pitchFamily="34" charset="-122"/>
                <a:cs typeface="Times New Roman" panose="02020603050405020304" pitchFamily="18" charset="0"/>
              </a:rPr>
              <a:t>,</a:t>
            </a:r>
            <a:r>
              <a:rPr lang="zh-CN" altLang="en-US" sz="2000" kern="0" dirty="0">
                <a:ea typeface="微软雅黑" panose="020B0503020204020204" pitchFamily="34" charset="-122"/>
                <a:cs typeface="Times New Roman" panose="02020603050405020304" pitchFamily="18" charset="0"/>
              </a:rPr>
              <a:t>则有</a:t>
            </a:r>
            <a:endParaRPr lang="en-US" altLang="zh-CN" sz="2000" kern="0" dirty="0">
              <a:ea typeface="微软雅黑" panose="020B0503020204020204" pitchFamily="34" charset="-122"/>
              <a:cs typeface="Times New Roman" panose="02020603050405020304" pitchFamily="18" charset="0"/>
            </a:endParaRPr>
          </a:p>
        </p:txBody>
      </p:sp>
      <p:sp>
        <p:nvSpPr>
          <p:cNvPr id="19" name="Content Placeholder 2">
            <a:extLst>
              <a:ext uri="{FF2B5EF4-FFF2-40B4-BE49-F238E27FC236}">
                <a16:creationId xmlns:a16="http://schemas.microsoft.com/office/drawing/2014/main" id="{E7DA3C41-A3F1-A346-D72F-D16FCD9B7ADF}"/>
              </a:ext>
            </a:extLst>
          </p:cNvPr>
          <p:cNvSpPr txBox="1"/>
          <p:nvPr/>
        </p:nvSpPr>
        <p:spPr bwMode="auto">
          <a:xfrm>
            <a:off x="8378741" y="1867404"/>
            <a:ext cx="3250986" cy="401904"/>
          </a:xfrm>
          <a:prstGeom prst="rect">
            <a:avLst/>
          </a:prstGeom>
          <a:noFill/>
          <a:ln w="9525">
            <a:noFill/>
            <a:miter lim="800000"/>
          </a:ln>
        </p:spPr>
        <p:txBody>
          <a:bodyPr vert="horz" wrap="square" lIns="91440" tIns="45720" rIns="91440" bIns="45720" numCol="1" anchor="t" anchorCtr="0" compatLnSpc="1"/>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marL="0" indent="0">
              <a:buNone/>
            </a:pPr>
            <a:r>
              <a:rPr lang="zh-CN" altLang="en-US" sz="2000" kern="0" dirty="0">
                <a:ea typeface="微软雅黑" panose="020B0503020204020204" pitchFamily="34" charset="-122"/>
                <a:cs typeface="Times New Roman" panose="02020603050405020304" pitchFamily="18" charset="0"/>
              </a:rPr>
              <a:t>同乘         ，化成无量纲式</a:t>
            </a:r>
            <a:endParaRPr lang="en-US" altLang="zh-CN" sz="2000" kern="0" dirty="0">
              <a:ea typeface="微软雅黑" panose="020B0503020204020204" pitchFamily="34" charset="-122"/>
              <a:cs typeface="Times New Roman" panose="02020603050405020304" pitchFamily="18" charset="0"/>
            </a:endParaRPr>
          </a:p>
        </p:txBody>
      </p:sp>
      <p:sp>
        <p:nvSpPr>
          <p:cNvPr id="24" name="文本框 23">
            <a:extLst>
              <a:ext uri="{FF2B5EF4-FFF2-40B4-BE49-F238E27FC236}">
                <a16:creationId xmlns:a16="http://schemas.microsoft.com/office/drawing/2014/main" id="{7EA62BB2-35CE-0B9F-8D23-F369A86619F9}"/>
              </a:ext>
            </a:extLst>
          </p:cNvPr>
          <p:cNvSpPr txBox="1"/>
          <p:nvPr/>
        </p:nvSpPr>
        <p:spPr>
          <a:xfrm>
            <a:off x="2118759" y="1442586"/>
            <a:ext cx="8498002" cy="400110"/>
          </a:xfrm>
          <a:prstGeom prst="rect">
            <a:avLst/>
          </a:prstGeom>
          <a:noFill/>
        </p:spPr>
        <p:txBody>
          <a:bodyPr wrap="square">
            <a:spAutoFit/>
          </a:bodyPr>
          <a:lstStyle/>
          <a:p>
            <a:r>
              <a:rPr lang="zh-CN" altLang="en-US" sz="2000" b="1" dirty="0">
                <a:latin typeface="Times New Roman" panose="02020603050405020304" pitchFamily="18" charset="0"/>
                <a:ea typeface="微软雅黑" panose="020B0503020204020204" pitchFamily="34" charset="-122"/>
                <a:cs typeface="Times New Roman" panose="02020603050405020304" pitchFamily="18" charset="0"/>
              </a:rPr>
              <a:t>定义：在负载下阀心作某一位移时通过阀口的流量与负载压力之间的关系</a:t>
            </a:r>
          </a:p>
        </p:txBody>
      </p:sp>
      <p:cxnSp>
        <p:nvCxnSpPr>
          <p:cNvPr id="28" name="直接连接符 27">
            <a:extLst>
              <a:ext uri="{FF2B5EF4-FFF2-40B4-BE49-F238E27FC236}">
                <a16:creationId xmlns:a16="http://schemas.microsoft.com/office/drawing/2014/main" id="{3612E576-E109-07C9-8EF1-F6F695BEC054}"/>
              </a:ext>
            </a:extLst>
          </p:cNvPr>
          <p:cNvCxnSpPr/>
          <p:nvPr/>
        </p:nvCxnSpPr>
        <p:spPr>
          <a:xfrm>
            <a:off x="8079341" y="1858544"/>
            <a:ext cx="0" cy="4999456"/>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pic>
        <p:nvPicPr>
          <p:cNvPr id="29" name="图片 28">
            <a:extLst>
              <a:ext uri="{FF2B5EF4-FFF2-40B4-BE49-F238E27FC236}">
                <a16:creationId xmlns:a16="http://schemas.microsoft.com/office/drawing/2014/main" id="{7036AD6C-AC1A-5268-DA3A-523BCE4097FD}"/>
              </a:ext>
            </a:extLst>
          </p:cNvPr>
          <p:cNvPicPr>
            <a:picLocks noChangeAspect="1"/>
          </p:cNvPicPr>
          <p:nvPr/>
        </p:nvPicPr>
        <p:blipFill>
          <a:blip r:embed="rId6"/>
          <a:stretch>
            <a:fillRect/>
          </a:stretch>
        </p:blipFill>
        <p:spPr>
          <a:xfrm>
            <a:off x="8926268" y="4200613"/>
            <a:ext cx="2512061" cy="2320724"/>
          </a:xfrm>
          <a:prstGeom prst="rect">
            <a:avLst/>
          </a:prstGeom>
        </p:spPr>
      </p:pic>
      <p:sp>
        <p:nvSpPr>
          <p:cNvPr id="31" name="矩形 30">
            <a:extLst>
              <a:ext uri="{FF2B5EF4-FFF2-40B4-BE49-F238E27FC236}">
                <a16:creationId xmlns:a16="http://schemas.microsoft.com/office/drawing/2014/main" id="{12D13433-5A59-D926-9879-1DD9178A2F77}"/>
              </a:ext>
            </a:extLst>
          </p:cNvPr>
          <p:cNvSpPr/>
          <p:nvPr/>
        </p:nvSpPr>
        <p:spPr>
          <a:xfrm>
            <a:off x="8596523" y="6349355"/>
            <a:ext cx="3522193" cy="26164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30" name="Content Placeholder 2">
            <a:extLst>
              <a:ext uri="{FF2B5EF4-FFF2-40B4-BE49-F238E27FC236}">
                <a16:creationId xmlns:a16="http://schemas.microsoft.com/office/drawing/2014/main" id="{03303AB7-E49C-53B3-FFDB-ADF886257269}"/>
              </a:ext>
            </a:extLst>
          </p:cNvPr>
          <p:cNvSpPr txBox="1"/>
          <p:nvPr/>
        </p:nvSpPr>
        <p:spPr bwMode="auto">
          <a:xfrm>
            <a:off x="9343327" y="6316431"/>
            <a:ext cx="1968140" cy="409811"/>
          </a:xfrm>
          <a:prstGeom prst="rect">
            <a:avLst/>
          </a:prstGeom>
          <a:noFill/>
          <a:ln w="9525">
            <a:noFill/>
            <a:miter lim="800000"/>
          </a:ln>
        </p:spPr>
        <p:txBody>
          <a:bodyPr vert="horz" wrap="square" lIns="91440" tIns="45720" rIns="91440" bIns="45720" numCol="1" anchor="t" anchorCtr="0" compatLnSpc="1"/>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marL="0" indent="0" algn="ctr">
              <a:buNone/>
            </a:pPr>
            <a:r>
              <a:rPr lang="zh-CN" altLang="en-US" kern="0" dirty="0">
                <a:ea typeface="微软雅黑" panose="020B0503020204020204" pitchFamily="34" charset="-122"/>
                <a:cs typeface="Times New Roman" panose="02020603050405020304" pitchFamily="18" charset="0"/>
              </a:rPr>
              <a:t>流量</a:t>
            </a:r>
            <a:r>
              <a:rPr lang="en-US" altLang="zh-CN" kern="0" dirty="0">
                <a:ea typeface="微软雅黑" panose="020B0503020204020204" pitchFamily="34" charset="-122"/>
                <a:cs typeface="Times New Roman" panose="02020603050405020304" pitchFamily="18" charset="0"/>
              </a:rPr>
              <a:t>-</a:t>
            </a:r>
            <a:r>
              <a:rPr lang="zh-CN" altLang="en-US" kern="0" dirty="0">
                <a:ea typeface="微软雅黑" panose="020B0503020204020204" pitchFamily="34" charset="-122"/>
                <a:cs typeface="Times New Roman" panose="02020603050405020304" pitchFamily="18" charset="0"/>
              </a:rPr>
              <a:t>压力曲线</a:t>
            </a:r>
            <a:endParaRPr lang="en-US" altLang="zh-CN" kern="0" dirty="0">
              <a:ea typeface="微软雅黑" panose="020B0503020204020204" pitchFamily="34" charset="-122"/>
              <a:cs typeface="Times New Roman" panose="02020603050405020304" pitchFamily="18" charset="0"/>
            </a:endParaRPr>
          </a:p>
        </p:txBody>
      </p:sp>
      <p:graphicFrame>
        <p:nvGraphicFramePr>
          <p:cNvPr id="2" name="对象 1">
            <a:extLst>
              <a:ext uri="{FF2B5EF4-FFF2-40B4-BE49-F238E27FC236}">
                <a16:creationId xmlns:a16="http://schemas.microsoft.com/office/drawing/2014/main" id="{0B6F90C1-81D3-C752-E90C-CB98F7C078C8}"/>
              </a:ext>
            </a:extLst>
          </p:cNvPr>
          <p:cNvGraphicFramePr>
            <a:graphicFrameLocks noChangeAspect="1"/>
          </p:cNvGraphicFramePr>
          <p:nvPr>
            <p:extLst>
              <p:ext uri="{D42A27DB-BD31-4B8C-83A1-F6EECF244321}">
                <p14:modId xmlns:p14="http://schemas.microsoft.com/office/powerpoint/2010/main" val="3749901702"/>
              </p:ext>
            </p:extLst>
          </p:nvPr>
        </p:nvGraphicFramePr>
        <p:xfrm>
          <a:off x="4308110" y="3376832"/>
          <a:ext cx="2059650" cy="471486"/>
        </p:xfrm>
        <a:graphic>
          <a:graphicData uri="http://schemas.openxmlformats.org/presentationml/2006/ole">
            <mc:AlternateContent xmlns:mc="http://schemas.openxmlformats.org/markup-compatibility/2006">
              <mc:Choice xmlns:v="urn:schemas-microsoft-com:vml" Requires="v">
                <p:oleObj spid="_x0000_s1226" name="Equation" r:id="rId7" imgW="1054080" imgH="241200" progId="Equation.DSMT4">
                  <p:embed/>
                </p:oleObj>
              </mc:Choice>
              <mc:Fallback>
                <p:oleObj name="Equation" r:id="rId7" imgW="1054080" imgH="241200" progId="Equation.DSMT4">
                  <p:embed/>
                  <p:pic>
                    <p:nvPicPr>
                      <p:cNvPr id="0" name=""/>
                      <p:cNvPicPr/>
                      <p:nvPr/>
                    </p:nvPicPr>
                    <p:blipFill>
                      <a:blip r:embed="rId8"/>
                      <a:stretch>
                        <a:fillRect/>
                      </a:stretch>
                    </p:blipFill>
                    <p:spPr>
                      <a:xfrm>
                        <a:off x="4308110" y="3376832"/>
                        <a:ext cx="2059650" cy="471486"/>
                      </a:xfrm>
                      <a:prstGeom prst="rect">
                        <a:avLst/>
                      </a:prstGeom>
                    </p:spPr>
                  </p:pic>
                </p:oleObj>
              </mc:Fallback>
            </mc:AlternateContent>
          </a:graphicData>
        </a:graphic>
      </p:graphicFrame>
      <p:graphicFrame>
        <p:nvGraphicFramePr>
          <p:cNvPr id="3" name="对象 2">
            <a:extLst>
              <a:ext uri="{FF2B5EF4-FFF2-40B4-BE49-F238E27FC236}">
                <a16:creationId xmlns:a16="http://schemas.microsoft.com/office/drawing/2014/main" id="{12160271-E3A3-8042-3265-AC6AA56F8A3A}"/>
              </a:ext>
            </a:extLst>
          </p:cNvPr>
          <p:cNvGraphicFramePr>
            <a:graphicFrameLocks noChangeAspect="1"/>
          </p:cNvGraphicFramePr>
          <p:nvPr>
            <p:extLst>
              <p:ext uri="{D42A27DB-BD31-4B8C-83A1-F6EECF244321}">
                <p14:modId xmlns:p14="http://schemas.microsoft.com/office/powerpoint/2010/main" val="2950430015"/>
              </p:ext>
            </p:extLst>
          </p:nvPr>
        </p:nvGraphicFramePr>
        <p:xfrm>
          <a:off x="3032275" y="4000815"/>
          <a:ext cx="2160769" cy="726804"/>
        </p:xfrm>
        <a:graphic>
          <a:graphicData uri="http://schemas.openxmlformats.org/presentationml/2006/ole">
            <mc:AlternateContent xmlns:mc="http://schemas.openxmlformats.org/markup-compatibility/2006">
              <mc:Choice xmlns:v="urn:schemas-microsoft-com:vml" Requires="v">
                <p:oleObj spid="_x0000_s1227" name="Equation" r:id="rId9" imgW="1396800" imgH="469800" progId="Equation.DSMT4">
                  <p:embed/>
                </p:oleObj>
              </mc:Choice>
              <mc:Fallback>
                <p:oleObj name="Equation" r:id="rId9" imgW="1396800" imgH="469800" progId="Equation.DSMT4">
                  <p:embed/>
                  <p:pic>
                    <p:nvPicPr>
                      <p:cNvPr id="0" name=""/>
                      <p:cNvPicPr/>
                      <p:nvPr/>
                    </p:nvPicPr>
                    <p:blipFill>
                      <a:blip r:embed="rId10"/>
                      <a:stretch>
                        <a:fillRect/>
                      </a:stretch>
                    </p:blipFill>
                    <p:spPr>
                      <a:xfrm>
                        <a:off x="3032275" y="4000815"/>
                        <a:ext cx="2160769" cy="726804"/>
                      </a:xfrm>
                      <a:prstGeom prst="rect">
                        <a:avLst/>
                      </a:prstGeom>
                    </p:spPr>
                  </p:pic>
                </p:oleObj>
              </mc:Fallback>
            </mc:AlternateContent>
          </a:graphicData>
        </a:graphic>
      </p:graphicFrame>
      <p:graphicFrame>
        <p:nvGraphicFramePr>
          <p:cNvPr id="6" name="对象 5">
            <a:extLst>
              <a:ext uri="{FF2B5EF4-FFF2-40B4-BE49-F238E27FC236}">
                <a16:creationId xmlns:a16="http://schemas.microsoft.com/office/drawing/2014/main" id="{2660B867-384B-1743-A1B4-EFE77F57E5A4}"/>
              </a:ext>
            </a:extLst>
          </p:cNvPr>
          <p:cNvGraphicFramePr>
            <a:graphicFrameLocks noChangeAspect="1"/>
          </p:cNvGraphicFramePr>
          <p:nvPr>
            <p:extLst>
              <p:ext uri="{D42A27DB-BD31-4B8C-83A1-F6EECF244321}">
                <p14:modId xmlns:p14="http://schemas.microsoft.com/office/powerpoint/2010/main" val="454356231"/>
              </p:ext>
            </p:extLst>
          </p:nvPr>
        </p:nvGraphicFramePr>
        <p:xfrm>
          <a:off x="5579879" y="3947239"/>
          <a:ext cx="1771673" cy="780380"/>
        </p:xfrm>
        <a:graphic>
          <a:graphicData uri="http://schemas.openxmlformats.org/presentationml/2006/ole">
            <mc:AlternateContent xmlns:mc="http://schemas.openxmlformats.org/markup-compatibility/2006">
              <mc:Choice xmlns:v="urn:schemas-microsoft-com:vml" Requires="v">
                <p:oleObj spid="_x0000_s1228" name="Equation" r:id="rId11" imgW="1066680" imgH="469800" progId="Equation.DSMT4">
                  <p:embed/>
                </p:oleObj>
              </mc:Choice>
              <mc:Fallback>
                <p:oleObj name="Equation" r:id="rId11" imgW="1066680" imgH="469800" progId="Equation.DSMT4">
                  <p:embed/>
                  <p:pic>
                    <p:nvPicPr>
                      <p:cNvPr id="0" name=""/>
                      <p:cNvPicPr/>
                      <p:nvPr/>
                    </p:nvPicPr>
                    <p:blipFill>
                      <a:blip r:embed="rId12"/>
                      <a:stretch>
                        <a:fillRect/>
                      </a:stretch>
                    </p:blipFill>
                    <p:spPr>
                      <a:xfrm>
                        <a:off x="5579879" y="3947239"/>
                        <a:ext cx="1771673" cy="780380"/>
                      </a:xfrm>
                      <a:prstGeom prst="rect">
                        <a:avLst/>
                      </a:prstGeom>
                    </p:spPr>
                  </p:pic>
                </p:oleObj>
              </mc:Fallback>
            </mc:AlternateContent>
          </a:graphicData>
        </a:graphic>
      </p:graphicFrame>
      <p:graphicFrame>
        <p:nvGraphicFramePr>
          <p:cNvPr id="9" name="对象 8">
            <a:extLst>
              <a:ext uri="{FF2B5EF4-FFF2-40B4-BE49-F238E27FC236}">
                <a16:creationId xmlns:a16="http://schemas.microsoft.com/office/drawing/2014/main" id="{24282EAD-93CF-39D0-B791-28BD793BF807}"/>
              </a:ext>
            </a:extLst>
          </p:cNvPr>
          <p:cNvGraphicFramePr>
            <a:graphicFrameLocks noChangeAspect="1"/>
          </p:cNvGraphicFramePr>
          <p:nvPr>
            <p:extLst>
              <p:ext uri="{D42A27DB-BD31-4B8C-83A1-F6EECF244321}">
                <p14:modId xmlns:p14="http://schemas.microsoft.com/office/powerpoint/2010/main" val="1691756063"/>
              </p:ext>
            </p:extLst>
          </p:nvPr>
        </p:nvGraphicFramePr>
        <p:xfrm>
          <a:off x="3700752" y="5397684"/>
          <a:ext cx="1355722" cy="362429"/>
        </p:xfrm>
        <a:graphic>
          <a:graphicData uri="http://schemas.openxmlformats.org/presentationml/2006/ole">
            <mc:AlternateContent xmlns:mc="http://schemas.openxmlformats.org/markup-compatibility/2006">
              <mc:Choice xmlns:v="urn:schemas-microsoft-com:vml" Requires="v">
                <p:oleObj spid="_x0000_s1229" name="Equation" r:id="rId13" imgW="774360" imgH="228600" progId="Equation.DSMT4">
                  <p:embed/>
                </p:oleObj>
              </mc:Choice>
              <mc:Fallback>
                <p:oleObj name="Equation" r:id="rId13" imgW="774360" imgH="228600" progId="Equation.DSMT4">
                  <p:embed/>
                  <p:pic>
                    <p:nvPicPr>
                      <p:cNvPr id="0" name=""/>
                      <p:cNvPicPr/>
                      <p:nvPr/>
                    </p:nvPicPr>
                    <p:blipFill>
                      <a:blip r:embed="rId14"/>
                      <a:stretch>
                        <a:fillRect/>
                      </a:stretch>
                    </p:blipFill>
                    <p:spPr>
                      <a:xfrm>
                        <a:off x="3700752" y="5397684"/>
                        <a:ext cx="1355722" cy="362429"/>
                      </a:xfrm>
                      <a:prstGeom prst="rect">
                        <a:avLst/>
                      </a:prstGeom>
                    </p:spPr>
                  </p:pic>
                </p:oleObj>
              </mc:Fallback>
            </mc:AlternateContent>
          </a:graphicData>
        </a:graphic>
      </p:graphicFrame>
      <p:graphicFrame>
        <p:nvGraphicFramePr>
          <p:cNvPr id="10" name="对象 9">
            <a:extLst>
              <a:ext uri="{FF2B5EF4-FFF2-40B4-BE49-F238E27FC236}">
                <a16:creationId xmlns:a16="http://schemas.microsoft.com/office/drawing/2014/main" id="{1CD4E268-2B4A-C414-D71C-89988ACA96F0}"/>
              </a:ext>
            </a:extLst>
          </p:cNvPr>
          <p:cNvGraphicFramePr>
            <a:graphicFrameLocks noChangeAspect="1"/>
          </p:cNvGraphicFramePr>
          <p:nvPr>
            <p:extLst>
              <p:ext uri="{D42A27DB-BD31-4B8C-83A1-F6EECF244321}">
                <p14:modId xmlns:p14="http://schemas.microsoft.com/office/powerpoint/2010/main" val="3048988840"/>
              </p:ext>
            </p:extLst>
          </p:nvPr>
        </p:nvGraphicFramePr>
        <p:xfrm>
          <a:off x="2729441" y="5802707"/>
          <a:ext cx="4927205" cy="814060"/>
        </p:xfrm>
        <a:graphic>
          <a:graphicData uri="http://schemas.openxmlformats.org/presentationml/2006/ole">
            <mc:AlternateContent xmlns:mc="http://schemas.openxmlformats.org/markup-compatibility/2006">
              <mc:Choice xmlns:v="urn:schemas-microsoft-com:vml" Requires="v">
                <p:oleObj spid="_x0000_s1230" name="Equation" r:id="rId15" imgW="2920680" imgH="482400" progId="Equation.DSMT4">
                  <p:embed/>
                </p:oleObj>
              </mc:Choice>
              <mc:Fallback>
                <p:oleObj name="Equation" r:id="rId15" imgW="2920680" imgH="482400" progId="Equation.DSMT4">
                  <p:embed/>
                  <p:pic>
                    <p:nvPicPr>
                      <p:cNvPr id="0" name=""/>
                      <p:cNvPicPr/>
                      <p:nvPr/>
                    </p:nvPicPr>
                    <p:blipFill>
                      <a:blip r:embed="rId16"/>
                      <a:stretch>
                        <a:fillRect/>
                      </a:stretch>
                    </p:blipFill>
                    <p:spPr>
                      <a:xfrm>
                        <a:off x="2729441" y="5802707"/>
                        <a:ext cx="4927205" cy="814060"/>
                      </a:xfrm>
                      <a:prstGeom prst="rect">
                        <a:avLst/>
                      </a:prstGeom>
                    </p:spPr>
                  </p:pic>
                </p:oleObj>
              </mc:Fallback>
            </mc:AlternateContent>
          </a:graphicData>
        </a:graphic>
      </p:graphicFrame>
      <p:graphicFrame>
        <p:nvGraphicFramePr>
          <p:cNvPr id="14" name="对象 13">
            <a:extLst>
              <a:ext uri="{FF2B5EF4-FFF2-40B4-BE49-F238E27FC236}">
                <a16:creationId xmlns:a16="http://schemas.microsoft.com/office/drawing/2014/main" id="{79839509-A967-1DC7-3B31-6AD231594618}"/>
              </a:ext>
            </a:extLst>
          </p:cNvPr>
          <p:cNvGraphicFramePr>
            <a:graphicFrameLocks noChangeAspect="1"/>
          </p:cNvGraphicFramePr>
          <p:nvPr>
            <p:extLst>
              <p:ext uri="{D42A27DB-BD31-4B8C-83A1-F6EECF244321}">
                <p14:modId xmlns:p14="http://schemas.microsoft.com/office/powerpoint/2010/main" val="3044230414"/>
              </p:ext>
            </p:extLst>
          </p:nvPr>
        </p:nvGraphicFramePr>
        <p:xfrm>
          <a:off x="9063133" y="2278169"/>
          <a:ext cx="2375196" cy="1843820"/>
        </p:xfrm>
        <a:graphic>
          <a:graphicData uri="http://schemas.openxmlformats.org/presentationml/2006/ole">
            <mc:AlternateContent xmlns:mc="http://schemas.openxmlformats.org/markup-compatibility/2006">
              <mc:Choice xmlns:v="urn:schemas-microsoft-com:vml" Requires="v">
                <p:oleObj spid="_x0000_s1231" name="Equation" r:id="rId17" imgW="1511280" imgH="1434960" progId="Equation.DSMT4">
                  <p:embed/>
                </p:oleObj>
              </mc:Choice>
              <mc:Fallback>
                <p:oleObj name="Equation" r:id="rId17" imgW="1511280" imgH="1434960" progId="Equation.DSMT4">
                  <p:embed/>
                  <p:pic>
                    <p:nvPicPr>
                      <p:cNvPr id="0" name=""/>
                      <p:cNvPicPr/>
                      <p:nvPr/>
                    </p:nvPicPr>
                    <p:blipFill>
                      <a:blip r:embed="rId18"/>
                      <a:stretch>
                        <a:fillRect/>
                      </a:stretch>
                    </p:blipFill>
                    <p:spPr>
                      <a:xfrm>
                        <a:off x="9063133" y="2278169"/>
                        <a:ext cx="2375196" cy="1843820"/>
                      </a:xfrm>
                      <a:prstGeom prst="rect">
                        <a:avLst/>
                      </a:prstGeom>
                    </p:spPr>
                  </p:pic>
                </p:oleObj>
              </mc:Fallback>
            </mc:AlternateContent>
          </a:graphicData>
        </a:graphic>
      </p:graphicFrame>
      <p:graphicFrame>
        <p:nvGraphicFramePr>
          <p:cNvPr id="21" name="对象 20">
            <a:extLst>
              <a:ext uri="{FF2B5EF4-FFF2-40B4-BE49-F238E27FC236}">
                <a16:creationId xmlns:a16="http://schemas.microsoft.com/office/drawing/2014/main" id="{ED97E37A-AE1D-C8BC-5B17-B6364DBF4748}"/>
              </a:ext>
            </a:extLst>
          </p:cNvPr>
          <p:cNvGraphicFramePr>
            <a:graphicFrameLocks noChangeAspect="1"/>
          </p:cNvGraphicFramePr>
          <p:nvPr>
            <p:extLst>
              <p:ext uri="{D42A27DB-BD31-4B8C-83A1-F6EECF244321}">
                <p14:modId xmlns:p14="http://schemas.microsoft.com/office/powerpoint/2010/main" val="1850549587"/>
              </p:ext>
            </p:extLst>
          </p:nvPr>
        </p:nvGraphicFramePr>
        <p:xfrm>
          <a:off x="3539426" y="2976783"/>
          <a:ext cx="337470" cy="400048"/>
        </p:xfrm>
        <a:graphic>
          <a:graphicData uri="http://schemas.openxmlformats.org/presentationml/2006/ole">
            <mc:AlternateContent xmlns:mc="http://schemas.openxmlformats.org/markup-compatibility/2006">
              <mc:Choice xmlns:v="urn:schemas-microsoft-com:vml" Requires="v">
                <p:oleObj spid="_x0000_s1232" name="Equation" r:id="rId19" imgW="239871" imgH="284218" progId="Equation.DSMT4">
                  <p:embed/>
                </p:oleObj>
              </mc:Choice>
              <mc:Fallback>
                <p:oleObj name="Equation" r:id="rId19" imgW="239871" imgH="284218" progId="Equation.DSMT4">
                  <p:embed/>
                  <p:pic>
                    <p:nvPicPr>
                      <p:cNvPr id="0" name=""/>
                      <p:cNvPicPr/>
                      <p:nvPr/>
                    </p:nvPicPr>
                    <p:blipFill>
                      <a:blip r:embed="rId20"/>
                      <a:stretch>
                        <a:fillRect/>
                      </a:stretch>
                    </p:blipFill>
                    <p:spPr>
                      <a:xfrm>
                        <a:off x="3539426" y="2976783"/>
                        <a:ext cx="337470" cy="400048"/>
                      </a:xfrm>
                      <a:prstGeom prst="rect">
                        <a:avLst/>
                      </a:prstGeom>
                    </p:spPr>
                  </p:pic>
                </p:oleObj>
              </mc:Fallback>
            </mc:AlternateContent>
          </a:graphicData>
        </a:graphic>
      </p:graphicFrame>
      <p:graphicFrame>
        <p:nvGraphicFramePr>
          <p:cNvPr id="23" name="对象 22">
            <a:extLst>
              <a:ext uri="{FF2B5EF4-FFF2-40B4-BE49-F238E27FC236}">
                <a16:creationId xmlns:a16="http://schemas.microsoft.com/office/drawing/2014/main" id="{8A814A7F-4480-2AF4-224E-07013594743E}"/>
              </a:ext>
            </a:extLst>
          </p:cNvPr>
          <p:cNvGraphicFramePr>
            <a:graphicFrameLocks noChangeAspect="1"/>
          </p:cNvGraphicFramePr>
          <p:nvPr>
            <p:extLst>
              <p:ext uri="{D42A27DB-BD31-4B8C-83A1-F6EECF244321}">
                <p14:modId xmlns:p14="http://schemas.microsoft.com/office/powerpoint/2010/main" val="3639479579"/>
              </p:ext>
            </p:extLst>
          </p:nvPr>
        </p:nvGraphicFramePr>
        <p:xfrm>
          <a:off x="4308110" y="2998430"/>
          <a:ext cx="285000" cy="366429"/>
        </p:xfrm>
        <a:graphic>
          <a:graphicData uri="http://schemas.openxmlformats.org/presentationml/2006/ole">
            <mc:AlternateContent xmlns:mc="http://schemas.openxmlformats.org/markup-compatibility/2006">
              <mc:Choice xmlns:v="urn:schemas-microsoft-com:vml" Requires="v">
                <p:oleObj spid="_x0000_s1233" name="Equation" r:id="rId21" imgW="177480" imgH="228600" progId="Equation.DSMT4">
                  <p:embed/>
                </p:oleObj>
              </mc:Choice>
              <mc:Fallback>
                <p:oleObj name="Equation" r:id="rId21" imgW="177480" imgH="228600" progId="Equation.DSMT4">
                  <p:embed/>
                  <p:pic>
                    <p:nvPicPr>
                      <p:cNvPr id="0" name=""/>
                      <p:cNvPicPr/>
                      <p:nvPr/>
                    </p:nvPicPr>
                    <p:blipFill>
                      <a:blip r:embed="rId22"/>
                      <a:stretch>
                        <a:fillRect/>
                      </a:stretch>
                    </p:blipFill>
                    <p:spPr>
                      <a:xfrm>
                        <a:off x="4308110" y="2998430"/>
                        <a:ext cx="285000" cy="366429"/>
                      </a:xfrm>
                      <a:prstGeom prst="rect">
                        <a:avLst/>
                      </a:prstGeom>
                    </p:spPr>
                  </p:pic>
                </p:oleObj>
              </mc:Fallback>
            </mc:AlternateContent>
          </a:graphicData>
        </a:graphic>
      </p:graphicFrame>
      <p:graphicFrame>
        <p:nvGraphicFramePr>
          <p:cNvPr id="27" name="对象 26">
            <a:extLst>
              <a:ext uri="{FF2B5EF4-FFF2-40B4-BE49-F238E27FC236}">
                <a16:creationId xmlns:a16="http://schemas.microsoft.com/office/drawing/2014/main" id="{9B59B4EF-E65B-53BB-5B35-6318FAF68F2E}"/>
              </a:ext>
            </a:extLst>
          </p:cNvPr>
          <p:cNvGraphicFramePr>
            <a:graphicFrameLocks noChangeAspect="1"/>
          </p:cNvGraphicFramePr>
          <p:nvPr>
            <p:extLst>
              <p:ext uri="{D42A27DB-BD31-4B8C-83A1-F6EECF244321}">
                <p14:modId xmlns:p14="http://schemas.microsoft.com/office/powerpoint/2010/main" val="396381985"/>
              </p:ext>
            </p:extLst>
          </p:nvPr>
        </p:nvGraphicFramePr>
        <p:xfrm>
          <a:off x="6125963" y="2987675"/>
          <a:ext cx="304800" cy="366713"/>
        </p:xfrm>
        <a:graphic>
          <a:graphicData uri="http://schemas.openxmlformats.org/presentationml/2006/ole">
            <mc:AlternateContent xmlns:mc="http://schemas.openxmlformats.org/markup-compatibility/2006">
              <mc:Choice xmlns:v="urn:schemas-microsoft-com:vml" Requires="v">
                <p:oleObj spid="_x0000_s1234" name="Equation" r:id="rId23" imgW="190440" imgH="228600" progId="Equation.DSMT4">
                  <p:embed/>
                </p:oleObj>
              </mc:Choice>
              <mc:Fallback>
                <p:oleObj name="Equation" r:id="rId23" imgW="190440" imgH="228600" progId="Equation.DSMT4">
                  <p:embed/>
                  <p:pic>
                    <p:nvPicPr>
                      <p:cNvPr id="23" name="对象 22">
                        <a:extLst>
                          <a:ext uri="{FF2B5EF4-FFF2-40B4-BE49-F238E27FC236}">
                            <a16:creationId xmlns:a16="http://schemas.microsoft.com/office/drawing/2014/main" id="{8A814A7F-4480-2AF4-224E-07013594743E}"/>
                          </a:ext>
                        </a:extLst>
                      </p:cNvPr>
                      <p:cNvPicPr/>
                      <p:nvPr/>
                    </p:nvPicPr>
                    <p:blipFill>
                      <a:blip r:embed="rId24"/>
                      <a:stretch>
                        <a:fillRect/>
                      </a:stretch>
                    </p:blipFill>
                    <p:spPr>
                      <a:xfrm>
                        <a:off x="6125963" y="2987675"/>
                        <a:ext cx="304800" cy="366713"/>
                      </a:xfrm>
                      <a:prstGeom prst="rect">
                        <a:avLst/>
                      </a:prstGeom>
                    </p:spPr>
                  </p:pic>
                </p:oleObj>
              </mc:Fallback>
            </mc:AlternateContent>
          </a:graphicData>
        </a:graphic>
      </p:graphicFrame>
      <p:graphicFrame>
        <p:nvGraphicFramePr>
          <p:cNvPr id="33" name="对象 32">
            <a:extLst>
              <a:ext uri="{FF2B5EF4-FFF2-40B4-BE49-F238E27FC236}">
                <a16:creationId xmlns:a16="http://schemas.microsoft.com/office/drawing/2014/main" id="{6725BABE-79B3-A183-4C14-CE94568A0E4B}"/>
              </a:ext>
            </a:extLst>
          </p:cNvPr>
          <p:cNvGraphicFramePr>
            <a:graphicFrameLocks noChangeAspect="1"/>
          </p:cNvGraphicFramePr>
          <p:nvPr>
            <p:extLst>
              <p:ext uri="{D42A27DB-BD31-4B8C-83A1-F6EECF244321}">
                <p14:modId xmlns:p14="http://schemas.microsoft.com/office/powerpoint/2010/main" val="722114506"/>
              </p:ext>
            </p:extLst>
          </p:nvPr>
        </p:nvGraphicFramePr>
        <p:xfrm>
          <a:off x="9063133" y="1855883"/>
          <a:ext cx="560388" cy="403225"/>
        </p:xfrm>
        <a:graphic>
          <a:graphicData uri="http://schemas.openxmlformats.org/presentationml/2006/ole">
            <mc:AlternateContent xmlns:mc="http://schemas.openxmlformats.org/markup-compatibility/2006">
              <mc:Choice xmlns:v="urn:schemas-microsoft-com:vml" Requires="v">
                <p:oleObj spid="_x0000_s1235" name="Equation" r:id="rId25" imgW="374691" imgH="269371" progId="Equation.DSMT4">
                  <p:embed/>
                </p:oleObj>
              </mc:Choice>
              <mc:Fallback>
                <p:oleObj name="Equation" r:id="rId25" imgW="374691" imgH="269371" progId="Equation.DSMT4">
                  <p:embed/>
                  <p:pic>
                    <p:nvPicPr>
                      <p:cNvPr id="0" name=""/>
                      <p:cNvPicPr/>
                      <p:nvPr/>
                    </p:nvPicPr>
                    <p:blipFill>
                      <a:blip r:embed="rId26"/>
                      <a:stretch>
                        <a:fillRect/>
                      </a:stretch>
                    </p:blipFill>
                    <p:spPr>
                      <a:xfrm>
                        <a:off x="9063133" y="1855883"/>
                        <a:ext cx="560388" cy="403225"/>
                      </a:xfrm>
                      <a:prstGeom prst="rect">
                        <a:avLst/>
                      </a:prstGeom>
                    </p:spPr>
                  </p:pic>
                </p:oleObj>
              </mc:Fallback>
            </mc:AlternateContent>
          </a:graphicData>
        </a:graphic>
      </p:graphicFrame>
    </p:spTree>
    <p:extLst>
      <p:ext uri="{BB962C8B-B14F-4D97-AF65-F5344CB8AC3E}">
        <p14:creationId xmlns:p14="http://schemas.microsoft.com/office/powerpoint/2010/main" val="42414169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13" name="文本框 12">
            <a:extLst>
              <a:ext uri="{FF2B5EF4-FFF2-40B4-BE49-F238E27FC236}">
                <a16:creationId xmlns:a16="http://schemas.microsoft.com/office/drawing/2014/main" id="{D69CC19E-8AB4-24D8-2D2D-FE40C8B5AC42}"/>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ea typeface="微软雅黑" panose="020B0503020204020204" pitchFamily="34" charset="-122"/>
                <a:cs typeface="Times New Roman" panose="02020603050405020304" pitchFamily="18" charset="0"/>
              </a:rPr>
              <a:t>10.4 </a:t>
            </a:r>
            <a:r>
              <a:rPr lang="zh-CN" altLang="en-US" sz="3600" b="1" dirty="0">
                <a:solidFill>
                  <a:srgbClr val="003F88"/>
                </a:solidFill>
                <a:latin typeface="Times New Roman" panose="02020603050405020304" pitchFamily="18" charset="0"/>
                <a:ea typeface="微软雅黑" panose="020B0503020204020204" pitchFamily="34" charset="-122"/>
                <a:cs typeface="Times New Roman" panose="02020603050405020304" pitchFamily="18" charset="0"/>
              </a:rPr>
              <a:t>特性分析</a:t>
            </a:r>
          </a:p>
        </p:txBody>
      </p:sp>
      <p:sp>
        <p:nvSpPr>
          <p:cNvPr id="2" name="矩形 1">
            <a:extLst>
              <a:ext uri="{FF2B5EF4-FFF2-40B4-BE49-F238E27FC236}">
                <a16:creationId xmlns:a16="http://schemas.microsoft.com/office/drawing/2014/main" id="{2A0922CD-5317-E55A-CDD5-C82F6EA64815}"/>
              </a:ext>
            </a:extLst>
          </p:cNvPr>
          <p:cNvSpPr/>
          <p:nvPr/>
        </p:nvSpPr>
        <p:spPr>
          <a:xfrm>
            <a:off x="3011635" y="965994"/>
            <a:ext cx="3057247" cy="461665"/>
          </a:xfrm>
          <a:prstGeom prst="rect">
            <a:avLst/>
          </a:prstGeom>
          <a:noFill/>
        </p:spPr>
        <p:txBody>
          <a:bodyPr wrap="none" lIns="91440" tIns="45720" rIns="91440" bIns="4572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r>
              <a:rPr lang="zh-CN" altLang="en-US" sz="2400" b="1" dirty="0">
                <a:ln w="0"/>
                <a:ea typeface="微软雅黑" panose="020B0503020204020204" pitchFamily="34" charset="-122"/>
                <a:cs typeface="Times New Roman" panose="02020603050405020304" pitchFamily="18" charset="0"/>
              </a:rPr>
              <a:t>伺服阀流量</a:t>
            </a:r>
            <a:r>
              <a:rPr lang="en-US" altLang="zh-CN" sz="2400" b="1" dirty="0">
                <a:ln w="0"/>
                <a:ea typeface="微软雅黑" panose="020B0503020204020204" pitchFamily="34" charset="-122"/>
                <a:cs typeface="Times New Roman" panose="02020603050405020304" pitchFamily="18" charset="0"/>
              </a:rPr>
              <a:t>-</a:t>
            </a:r>
            <a:r>
              <a:rPr lang="zh-CN" altLang="en-US" sz="2400" b="1" dirty="0">
                <a:ln w="0"/>
                <a:ea typeface="微软雅黑" panose="020B0503020204020204" pitchFamily="34" charset="-122"/>
                <a:cs typeface="Times New Roman" panose="02020603050405020304" pitchFamily="18" charset="0"/>
              </a:rPr>
              <a:t>压力特性</a:t>
            </a:r>
            <a:endParaRPr lang="en-US" altLang="zh-CN" sz="2400" b="1" dirty="0">
              <a:ln w="0"/>
              <a:ea typeface="微软雅黑" panose="020B0503020204020204" pitchFamily="34" charset="-122"/>
              <a:cs typeface="Times New Roman" panose="02020603050405020304" pitchFamily="18" charset="0"/>
            </a:endParaRPr>
          </a:p>
        </p:txBody>
      </p:sp>
      <p:sp>
        <p:nvSpPr>
          <p:cNvPr id="3" name="文本框 3">
            <a:extLst>
              <a:ext uri="{FF2B5EF4-FFF2-40B4-BE49-F238E27FC236}">
                <a16:creationId xmlns:a16="http://schemas.microsoft.com/office/drawing/2014/main" id="{1F116B68-4911-2FEA-E138-7272AD95C372}"/>
              </a:ext>
            </a:extLst>
          </p:cNvPr>
          <p:cNvSpPr txBox="1"/>
          <p:nvPr/>
        </p:nvSpPr>
        <p:spPr>
          <a:xfrm>
            <a:off x="990099" y="1331506"/>
            <a:ext cx="10642458" cy="1422954"/>
          </a:xfrm>
          <a:prstGeom prst="rect">
            <a:avLst/>
          </a:prstGeom>
          <a:noFill/>
        </p:spPr>
        <p:txBody>
          <a:bodyPr wrap="square" rtlCol="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marL="285750" indent="-285750">
              <a:lnSpc>
                <a:spcPct val="150000"/>
              </a:lnSpc>
              <a:buFont typeface="Arial" panose="020B0604020202020204" pitchFamily="34" charset="0"/>
              <a:buChar char="•"/>
            </a:pPr>
            <a:r>
              <a:rPr lang="zh-CN" altLang="en-US" sz="2000" dirty="0">
                <a:solidFill>
                  <a:srgbClr val="000000"/>
                </a:solidFill>
                <a:ea typeface="微软雅黑" panose="020B0503020204020204" pitchFamily="34" charset="-122"/>
                <a:cs typeface="Times New Roman" panose="02020603050405020304" pitchFamily="18" charset="0"/>
              </a:rPr>
              <a:t>图</a:t>
            </a:r>
            <a:r>
              <a:rPr lang="en-US" altLang="zh-CN" sz="2000" dirty="0">
                <a:solidFill>
                  <a:srgbClr val="000000"/>
                </a:solidFill>
                <a:ea typeface="微软雅黑" panose="020B0503020204020204" pitchFamily="34" charset="-122"/>
                <a:cs typeface="Times New Roman" panose="02020603050405020304" pitchFamily="18" charset="0"/>
              </a:rPr>
              <a:t>7</a:t>
            </a:r>
            <a:r>
              <a:rPr lang="zh-CN" altLang="en-US" sz="2000" dirty="0">
                <a:solidFill>
                  <a:srgbClr val="000000"/>
                </a:solidFill>
                <a:ea typeface="微软雅黑" panose="020B0503020204020204" pitchFamily="34" charset="-122"/>
                <a:cs typeface="Times New Roman" panose="02020603050405020304" pitchFamily="18" charset="0"/>
              </a:rPr>
              <a:t>中上半部是伺服阀右移时的情况</a:t>
            </a:r>
            <a:r>
              <a:rPr lang="en-US" altLang="zh-CN" sz="2000" dirty="0">
                <a:solidFill>
                  <a:srgbClr val="000000"/>
                </a:solidFill>
                <a:ea typeface="微软雅黑" panose="020B0503020204020204" pitchFamily="34" charset="-122"/>
                <a:cs typeface="Times New Roman" panose="02020603050405020304" pitchFamily="18" charset="0"/>
              </a:rPr>
              <a:t>,</a:t>
            </a:r>
            <a:r>
              <a:rPr lang="zh-CN" altLang="en-US" sz="2000" dirty="0">
                <a:solidFill>
                  <a:srgbClr val="000000"/>
                </a:solidFill>
                <a:ea typeface="微软雅黑" panose="020B0503020204020204" pitchFamily="34" charset="-122"/>
                <a:cs typeface="Times New Roman" panose="02020603050405020304" pitchFamily="18" charset="0"/>
              </a:rPr>
              <a:t>下半部是伺服阀左移时的情况。由图可见</a:t>
            </a:r>
            <a:r>
              <a:rPr lang="en-US" altLang="zh-CN" sz="2000" dirty="0">
                <a:solidFill>
                  <a:srgbClr val="000000"/>
                </a:solidFill>
                <a:ea typeface="微软雅黑" panose="020B0503020204020204" pitchFamily="34" charset="-122"/>
                <a:cs typeface="Times New Roman" panose="02020603050405020304" pitchFamily="18" charset="0"/>
              </a:rPr>
              <a:t>,</a:t>
            </a:r>
            <a:r>
              <a:rPr lang="zh-CN" altLang="en-US" sz="2000" dirty="0">
                <a:solidFill>
                  <a:srgbClr val="000000"/>
                </a:solidFill>
                <a:ea typeface="微软雅黑" panose="020B0503020204020204" pitchFamily="34" charset="-122"/>
                <a:cs typeface="Times New Roman" panose="02020603050405020304" pitchFamily="18" charset="0"/>
              </a:rPr>
              <a:t>伺服阀的“流量</a:t>
            </a:r>
            <a:r>
              <a:rPr lang="en-US" altLang="zh-CN" sz="2000" dirty="0">
                <a:solidFill>
                  <a:srgbClr val="000000"/>
                </a:solidFill>
                <a:ea typeface="微软雅黑" panose="020B0503020204020204" pitchFamily="34" charset="-122"/>
                <a:cs typeface="Times New Roman" panose="02020603050405020304" pitchFamily="18" charset="0"/>
              </a:rPr>
              <a:t>-</a:t>
            </a:r>
            <a:r>
              <a:rPr lang="zh-CN" altLang="en-US" sz="2000" dirty="0">
                <a:solidFill>
                  <a:srgbClr val="000000"/>
                </a:solidFill>
                <a:ea typeface="微软雅黑" panose="020B0503020204020204" pitchFamily="34" charset="-122"/>
                <a:cs typeface="Times New Roman" panose="02020603050405020304" pitchFamily="18" charset="0"/>
              </a:rPr>
              <a:t>压力”曲线是</a:t>
            </a:r>
            <a:r>
              <a:rPr lang="zh-CN" altLang="en-US" sz="2000" b="1" dirty="0">
                <a:solidFill>
                  <a:srgbClr val="C00000"/>
                </a:solidFill>
                <a:ea typeface="微软雅黑" panose="020B0503020204020204" pitchFamily="34" charset="-122"/>
                <a:cs typeface="Times New Roman" panose="02020603050405020304" pitchFamily="18" charset="0"/>
              </a:rPr>
              <a:t>关于零点对称</a:t>
            </a:r>
            <a:r>
              <a:rPr lang="zh-CN" altLang="en-US" sz="2000" dirty="0">
                <a:solidFill>
                  <a:srgbClr val="000000"/>
                </a:solidFill>
                <a:ea typeface="微软雅黑" panose="020B0503020204020204" pitchFamily="34" charset="-122"/>
                <a:cs typeface="Times New Roman" panose="02020603050405020304" pitchFamily="18" charset="0"/>
              </a:rPr>
              <a:t>的</a:t>
            </a:r>
            <a:r>
              <a:rPr lang="en-US" altLang="zh-CN" sz="2000" dirty="0">
                <a:solidFill>
                  <a:srgbClr val="000000"/>
                </a:solidFill>
                <a:ea typeface="微软雅黑" panose="020B0503020204020204" pitchFamily="34" charset="-122"/>
                <a:cs typeface="Times New Roman" panose="02020603050405020304" pitchFamily="18" charset="0"/>
              </a:rPr>
              <a:t>,</a:t>
            </a:r>
            <a:r>
              <a:rPr lang="zh-CN" altLang="en-US" sz="2000" dirty="0">
                <a:solidFill>
                  <a:srgbClr val="000000"/>
                </a:solidFill>
                <a:ea typeface="微软雅黑" panose="020B0503020204020204" pitchFamily="34" charset="-122"/>
                <a:cs typeface="Times New Roman" panose="02020603050405020304" pitchFamily="18" charset="0"/>
              </a:rPr>
              <a:t>亦即是阀的控制性能在两个方向上是一样的。</a:t>
            </a:r>
            <a:endParaRPr lang="en-US" altLang="zh-CN" sz="2000" dirty="0">
              <a:solidFill>
                <a:srgbClr val="000000"/>
              </a:solidFill>
              <a:ea typeface="微软雅黑" panose="020B0503020204020204" pitchFamily="34"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sz="2000" dirty="0">
                <a:solidFill>
                  <a:srgbClr val="000000"/>
                </a:solidFill>
                <a:ea typeface="微软雅黑" panose="020B0503020204020204" pitchFamily="34" charset="-122"/>
                <a:cs typeface="Times New Roman" panose="02020603050405020304" pitchFamily="18" charset="0"/>
              </a:rPr>
              <a:t>其他开口形式伺服阀的“流量</a:t>
            </a:r>
            <a:r>
              <a:rPr lang="en-US" altLang="zh-CN" sz="2000" dirty="0">
                <a:solidFill>
                  <a:srgbClr val="000000"/>
                </a:solidFill>
                <a:ea typeface="微软雅黑" panose="020B0503020204020204" pitchFamily="34" charset="-122"/>
                <a:cs typeface="Times New Roman" panose="02020603050405020304" pitchFamily="18" charset="0"/>
              </a:rPr>
              <a:t>-</a:t>
            </a:r>
            <a:r>
              <a:rPr lang="zh-CN" altLang="en-US" sz="2000" dirty="0">
                <a:solidFill>
                  <a:srgbClr val="000000"/>
                </a:solidFill>
                <a:ea typeface="微软雅黑" panose="020B0503020204020204" pitchFamily="34" charset="-122"/>
                <a:cs typeface="Times New Roman" panose="02020603050405020304" pitchFamily="18" charset="0"/>
              </a:rPr>
              <a:t>压力”特性可以仿照上述方法进行分析。</a:t>
            </a:r>
          </a:p>
        </p:txBody>
      </p:sp>
      <p:sp>
        <p:nvSpPr>
          <p:cNvPr id="10" name="矩形 9">
            <a:extLst>
              <a:ext uri="{FF2B5EF4-FFF2-40B4-BE49-F238E27FC236}">
                <a16:creationId xmlns:a16="http://schemas.microsoft.com/office/drawing/2014/main" id="{3CF34A78-8996-665F-FE15-5F7D352067AA}"/>
              </a:ext>
            </a:extLst>
          </p:cNvPr>
          <p:cNvSpPr/>
          <p:nvPr/>
        </p:nvSpPr>
        <p:spPr>
          <a:xfrm>
            <a:off x="7408086" y="3433359"/>
            <a:ext cx="2364751" cy="400110"/>
          </a:xfrm>
          <a:prstGeom prst="rect">
            <a:avLst/>
          </a:prstGeom>
          <a:noFill/>
        </p:spPr>
        <p:txBody>
          <a:bodyPr wrap="none" lIns="91440" tIns="45720" rIns="91440" bIns="4572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algn="ctr"/>
            <a:r>
              <a:rPr lang="zh-CN" altLang="en-US" sz="2000" dirty="0">
                <a:ln w="0"/>
                <a:solidFill>
                  <a:srgbClr val="FF0000"/>
                </a:solidFill>
                <a:ea typeface="微软雅黑" panose="020B0503020204020204" pitchFamily="34" charset="-122"/>
                <a:cs typeface="Times New Roman" panose="02020603050405020304" pitchFamily="18" charset="0"/>
              </a:rPr>
              <a:t>阀的流量</a:t>
            </a:r>
            <a:r>
              <a:rPr lang="en-US" altLang="zh-CN" sz="2000" dirty="0">
                <a:ln w="0"/>
                <a:solidFill>
                  <a:srgbClr val="FF0000"/>
                </a:solidFill>
                <a:ea typeface="微软雅黑" panose="020B0503020204020204" pitchFamily="34" charset="-122"/>
                <a:cs typeface="Times New Roman" panose="02020603050405020304" pitchFamily="18" charset="0"/>
              </a:rPr>
              <a:t>-</a:t>
            </a:r>
            <a:r>
              <a:rPr lang="zh-CN" altLang="en-US" sz="2000" dirty="0">
                <a:ln w="0"/>
                <a:solidFill>
                  <a:srgbClr val="FF0000"/>
                </a:solidFill>
                <a:ea typeface="微软雅黑" panose="020B0503020204020204" pitchFamily="34" charset="-122"/>
                <a:cs typeface="Times New Roman" panose="02020603050405020304" pitchFamily="18" charset="0"/>
              </a:rPr>
              <a:t>压力系数</a:t>
            </a:r>
            <a:endParaRPr lang="zh-CN" altLang="en-US" sz="2000" b="0" cap="none" spc="0" dirty="0">
              <a:ln w="0"/>
              <a:solidFill>
                <a:srgbClr val="FF0000"/>
              </a:solidFill>
              <a:ea typeface="微软雅黑" panose="020B0503020204020204" pitchFamily="34" charset="-122"/>
              <a:cs typeface="Times New Roman" panose="02020603050405020304" pitchFamily="18" charset="0"/>
            </a:endParaRPr>
          </a:p>
        </p:txBody>
      </p:sp>
      <p:pic>
        <p:nvPicPr>
          <p:cNvPr id="14" name="图片 13">
            <a:extLst>
              <a:ext uri="{FF2B5EF4-FFF2-40B4-BE49-F238E27FC236}">
                <a16:creationId xmlns:a16="http://schemas.microsoft.com/office/drawing/2014/main" id="{1ED0F623-A5C2-474A-C0D7-A141245597FB}"/>
              </a:ext>
            </a:extLst>
          </p:cNvPr>
          <p:cNvPicPr>
            <a:picLocks noChangeAspect="1"/>
          </p:cNvPicPr>
          <p:nvPr/>
        </p:nvPicPr>
        <p:blipFill>
          <a:blip r:embed="rId4"/>
          <a:stretch>
            <a:fillRect/>
          </a:stretch>
        </p:blipFill>
        <p:spPr>
          <a:xfrm>
            <a:off x="1293828" y="2706933"/>
            <a:ext cx="4223394" cy="3901710"/>
          </a:xfrm>
          <a:prstGeom prst="rect">
            <a:avLst/>
          </a:prstGeom>
        </p:spPr>
      </p:pic>
      <p:sp>
        <p:nvSpPr>
          <p:cNvPr id="24" name="矩形 23">
            <a:extLst>
              <a:ext uri="{FF2B5EF4-FFF2-40B4-BE49-F238E27FC236}">
                <a16:creationId xmlns:a16="http://schemas.microsoft.com/office/drawing/2014/main" id="{9ED5A367-A000-1A0B-5DA6-E9BA45E9B245}"/>
              </a:ext>
            </a:extLst>
          </p:cNvPr>
          <p:cNvSpPr/>
          <p:nvPr/>
        </p:nvSpPr>
        <p:spPr>
          <a:xfrm>
            <a:off x="1251509" y="6281825"/>
            <a:ext cx="4430338" cy="40981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23" name="Content Placeholder 2">
            <a:extLst>
              <a:ext uri="{FF2B5EF4-FFF2-40B4-BE49-F238E27FC236}">
                <a16:creationId xmlns:a16="http://schemas.microsoft.com/office/drawing/2014/main" id="{8F81DE10-6BEE-7CEC-C3D3-6CE8C637484F}"/>
              </a:ext>
            </a:extLst>
          </p:cNvPr>
          <p:cNvSpPr txBox="1"/>
          <p:nvPr/>
        </p:nvSpPr>
        <p:spPr bwMode="auto">
          <a:xfrm>
            <a:off x="1765004" y="6281825"/>
            <a:ext cx="3794537" cy="409811"/>
          </a:xfrm>
          <a:prstGeom prst="rect">
            <a:avLst/>
          </a:prstGeom>
          <a:noFill/>
          <a:ln w="9525">
            <a:noFill/>
            <a:miter lim="800000"/>
          </a:ln>
        </p:spPr>
        <p:txBody>
          <a:bodyPr vert="horz" wrap="square" lIns="91440" tIns="45720" rIns="91440" bIns="45720" numCol="1" anchor="t" anchorCtr="0" compatLnSpc="1"/>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marL="0" indent="0" algn="ctr">
              <a:buNone/>
            </a:pPr>
            <a:r>
              <a:rPr lang="zh-CN" altLang="en-US" kern="0" dirty="0">
                <a:ea typeface="微软雅黑" panose="020B0503020204020204" pitchFamily="34" charset="-122"/>
                <a:cs typeface="Times New Roman" panose="02020603050405020304" pitchFamily="18" charset="0"/>
              </a:rPr>
              <a:t>零开口伺服阀“流量</a:t>
            </a:r>
            <a:r>
              <a:rPr lang="en-US" altLang="zh-CN" kern="0" dirty="0">
                <a:ea typeface="微软雅黑" panose="020B0503020204020204" pitchFamily="34" charset="-122"/>
                <a:cs typeface="Times New Roman" panose="02020603050405020304" pitchFamily="18" charset="0"/>
              </a:rPr>
              <a:t>-</a:t>
            </a:r>
            <a:r>
              <a:rPr lang="zh-CN" altLang="en-US" kern="0" dirty="0">
                <a:ea typeface="微软雅黑" panose="020B0503020204020204" pitchFamily="34" charset="-122"/>
                <a:cs typeface="Times New Roman" panose="02020603050405020304" pitchFamily="18" charset="0"/>
              </a:rPr>
              <a:t>压力”曲线</a:t>
            </a:r>
            <a:endParaRPr lang="en-US" altLang="zh-CN" kern="0" dirty="0">
              <a:ea typeface="微软雅黑" panose="020B0503020204020204" pitchFamily="34" charset="-122"/>
              <a:cs typeface="Times New Roman" panose="02020603050405020304" pitchFamily="18" charset="0"/>
            </a:endParaRPr>
          </a:p>
        </p:txBody>
      </p:sp>
      <p:sp>
        <p:nvSpPr>
          <p:cNvPr id="27" name="矩形 26">
            <a:extLst>
              <a:ext uri="{FF2B5EF4-FFF2-40B4-BE49-F238E27FC236}">
                <a16:creationId xmlns:a16="http://schemas.microsoft.com/office/drawing/2014/main" id="{9E1E7B28-8D76-56AF-FFAF-B9E1C670EDA2}"/>
              </a:ext>
            </a:extLst>
          </p:cNvPr>
          <p:cNvSpPr/>
          <p:nvPr/>
        </p:nvSpPr>
        <p:spPr>
          <a:xfrm>
            <a:off x="429656" y="893424"/>
            <a:ext cx="7547154" cy="581762"/>
          </a:xfrm>
          <a:prstGeom prst="rect">
            <a:avLst/>
          </a:prstGeom>
        </p:spPr>
        <p:txBody>
          <a:bodyPr wrap="square">
            <a:spAutoFit/>
          </a:bodyPr>
          <a:lstStyle/>
          <a:p>
            <a:pPr marL="457200" indent="-457200">
              <a:lnSpc>
                <a:spcPct val="125000"/>
              </a:lnSpc>
              <a:buFont typeface="Wingdings" panose="05000000000000000000" pitchFamily="2" charset="2"/>
              <a:buChar char="p"/>
            </a:pPr>
            <a:r>
              <a:rPr lang="zh-CN" altLang="en-US" sz="2800" b="1" dirty="0">
                <a:solidFill>
                  <a:srgbClr val="003F88"/>
                </a:solidFill>
                <a:latin typeface="微软雅黑" panose="020B0503020204020204" pitchFamily="34" charset="-122"/>
                <a:ea typeface="微软雅黑" panose="020B0503020204020204" pitchFamily="34" charset="-122"/>
              </a:rPr>
              <a:t>静态特性</a:t>
            </a:r>
          </a:p>
        </p:txBody>
      </p:sp>
      <p:graphicFrame>
        <p:nvGraphicFramePr>
          <p:cNvPr id="4" name="对象 3">
            <a:extLst>
              <a:ext uri="{FF2B5EF4-FFF2-40B4-BE49-F238E27FC236}">
                <a16:creationId xmlns:a16="http://schemas.microsoft.com/office/drawing/2014/main" id="{EF9F85DE-F661-C8B4-C31B-E856333B6000}"/>
              </a:ext>
            </a:extLst>
          </p:cNvPr>
          <p:cNvGraphicFramePr>
            <a:graphicFrameLocks noChangeAspect="1"/>
          </p:cNvGraphicFramePr>
          <p:nvPr>
            <p:extLst>
              <p:ext uri="{D42A27DB-BD31-4B8C-83A1-F6EECF244321}">
                <p14:modId xmlns:p14="http://schemas.microsoft.com/office/powerpoint/2010/main" val="3576244889"/>
              </p:ext>
            </p:extLst>
          </p:nvPr>
        </p:nvGraphicFramePr>
        <p:xfrm>
          <a:off x="6311900" y="4211638"/>
          <a:ext cx="5143500" cy="1147762"/>
        </p:xfrm>
        <a:graphic>
          <a:graphicData uri="http://schemas.openxmlformats.org/presentationml/2006/ole">
            <mc:AlternateContent xmlns:mc="http://schemas.openxmlformats.org/markup-compatibility/2006">
              <mc:Choice xmlns:v="urn:schemas-microsoft-com:vml" Requires="v">
                <p:oleObj spid="_x0000_s2069" name="Equation" r:id="rId5" imgW="2158920" imgH="482400" progId="Equation.DSMT4">
                  <p:embed/>
                </p:oleObj>
              </mc:Choice>
              <mc:Fallback>
                <p:oleObj name="Equation" r:id="rId5" imgW="2158920" imgH="482400" progId="Equation.DSMT4">
                  <p:embed/>
                  <p:pic>
                    <p:nvPicPr>
                      <p:cNvPr id="0" name=""/>
                      <p:cNvPicPr/>
                      <p:nvPr/>
                    </p:nvPicPr>
                    <p:blipFill>
                      <a:blip r:embed="rId6"/>
                      <a:stretch>
                        <a:fillRect/>
                      </a:stretch>
                    </p:blipFill>
                    <p:spPr>
                      <a:xfrm>
                        <a:off x="6311900" y="4211638"/>
                        <a:ext cx="5143500" cy="1147762"/>
                      </a:xfrm>
                      <a:prstGeom prst="rect">
                        <a:avLst/>
                      </a:prstGeom>
                      <a:ln>
                        <a:solidFill>
                          <a:srgbClr val="FF0000"/>
                        </a:solidFill>
                      </a:ln>
                    </p:spPr>
                  </p:pic>
                </p:oleObj>
              </mc:Fallback>
            </mc:AlternateContent>
          </a:graphicData>
        </a:graphic>
      </p:graphicFrame>
    </p:spTree>
    <p:extLst>
      <p:ext uri="{BB962C8B-B14F-4D97-AF65-F5344CB8AC3E}">
        <p14:creationId xmlns:p14="http://schemas.microsoft.com/office/powerpoint/2010/main" val="9093341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13" name="文本框 12">
            <a:extLst>
              <a:ext uri="{FF2B5EF4-FFF2-40B4-BE49-F238E27FC236}">
                <a16:creationId xmlns:a16="http://schemas.microsoft.com/office/drawing/2014/main" id="{D69CC19E-8AB4-24D8-2D2D-FE40C8B5AC42}"/>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ea typeface="微软雅黑" panose="020B0503020204020204" pitchFamily="34" charset="-122"/>
                <a:cs typeface="Times New Roman" panose="02020603050405020304" pitchFamily="18" charset="0"/>
              </a:rPr>
              <a:t>10.4 </a:t>
            </a:r>
            <a:r>
              <a:rPr lang="zh-CN" altLang="en-US" sz="3600" b="1" dirty="0">
                <a:solidFill>
                  <a:srgbClr val="003F88"/>
                </a:solidFill>
                <a:latin typeface="Times New Roman" panose="02020603050405020304" pitchFamily="18" charset="0"/>
                <a:ea typeface="微软雅黑" panose="020B0503020204020204" pitchFamily="34" charset="-122"/>
                <a:cs typeface="Times New Roman" panose="02020603050405020304" pitchFamily="18" charset="0"/>
              </a:rPr>
              <a:t>特性分析</a:t>
            </a:r>
          </a:p>
        </p:txBody>
      </p:sp>
      <p:pic>
        <p:nvPicPr>
          <p:cNvPr id="4" name="图片 3">
            <a:extLst>
              <a:ext uri="{FF2B5EF4-FFF2-40B4-BE49-F238E27FC236}">
                <a16:creationId xmlns:a16="http://schemas.microsoft.com/office/drawing/2014/main" id="{8C67089F-17EB-DE2C-34BA-072AB8182D40}"/>
              </a:ext>
            </a:extLst>
          </p:cNvPr>
          <p:cNvPicPr>
            <a:picLocks noChangeAspect="1"/>
          </p:cNvPicPr>
          <p:nvPr/>
        </p:nvPicPr>
        <p:blipFill>
          <a:blip r:embed="rId4"/>
          <a:stretch>
            <a:fillRect/>
          </a:stretch>
        </p:blipFill>
        <p:spPr>
          <a:xfrm>
            <a:off x="569193" y="3318111"/>
            <a:ext cx="5672664" cy="2573895"/>
          </a:xfrm>
          <a:prstGeom prst="rect">
            <a:avLst/>
          </a:prstGeom>
        </p:spPr>
      </p:pic>
      <p:sp>
        <p:nvSpPr>
          <p:cNvPr id="11" name="矩形 10">
            <a:extLst>
              <a:ext uri="{FF2B5EF4-FFF2-40B4-BE49-F238E27FC236}">
                <a16:creationId xmlns:a16="http://schemas.microsoft.com/office/drawing/2014/main" id="{82FA0947-8706-F979-5488-D8C753D1496E}"/>
              </a:ext>
            </a:extLst>
          </p:cNvPr>
          <p:cNvSpPr/>
          <p:nvPr/>
        </p:nvSpPr>
        <p:spPr>
          <a:xfrm>
            <a:off x="3254076" y="965994"/>
            <a:ext cx="1415772" cy="461665"/>
          </a:xfrm>
          <a:prstGeom prst="rect">
            <a:avLst/>
          </a:prstGeom>
          <a:noFill/>
        </p:spPr>
        <p:txBody>
          <a:bodyPr wrap="none" lIns="91440" tIns="45720" rIns="91440" bIns="4572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r>
              <a:rPr lang="zh-CN" altLang="en-US" sz="2400" b="1" dirty="0">
                <a:ln w="0"/>
                <a:ea typeface="微软雅黑" panose="020B0503020204020204" pitchFamily="34" charset="-122"/>
                <a:cs typeface="Times New Roman" panose="02020603050405020304" pitchFamily="18" charset="0"/>
              </a:rPr>
              <a:t>流量特性</a:t>
            </a:r>
            <a:endParaRPr lang="en-US" altLang="zh-CN" sz="2400" b="1" dirty="0">
              <a:ln w="0"/>
              <a:ea typeface="微软雅黑" panose="020B0503020204020204" pitchFamily="34" charset="-122"/>
              <a:cs typeface="Times New Roman" panose="02020603050405020304" pitchFamily="18" charset="0"/>
            </a:endParaRPr>
          </a:p>
        </p:txBody>
      </p:sp>
      <p:sp>
        <p:nvSpPr>
          <p:cNvPr id="18" name="矩形 17">
            <a:extLst>
              <a:ext uri="{FF2B5EF4-FFF2-40B4-BE49-F238E27FC236}">
                <a16:creationId xmlns:a16="http://schemas.microsoft.com/office/drawing/2014/main" id="{2FC06566-5451-8A41-1118-BD3CED743B77}"/>
              </a:ext>
            </a:extLst>
          </p:cNvPr>
          <p:cNvSpPr/>
          <p:nvPr/>
        </p:nvSpPr>
        <p:spPr>
          <a:xfrm>
            <a:off x="6629655" y="1411205"/>
            <a:ext cx="3262432" cy="400110"/>
          </a:xfrm>
          <a:prstGeom prst="rect">
            <a:avLst/>
          </a:prstGeom>
          <a:noFill/>
        </p:spPr>
        <p:txBody>
          <a:bodyPr wrap="none" lIns="91440" tIns="45720" rIns="91440" bIns="4572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algn="ctr"/>
            <a:r>
              <a:rPr lang="zh-CN" altLang="en-US" sz="2000" dirty="0">
                <a:ln w="0"/>
                <a:solidFill>
                  <a:srgbClr val="FF0000"/>
                </a:solidFill>
                <a:ea typeface="微软雅黑" panose="020B0503020204020204" pitchFamily="34" charset="-122"/>
                <a:cs typeface="Times New Roman" panose="02020603050405020304" pitchFamily="18" charset="0"/>
              </a:rPr>
              <a:t>流量增益（流量放大系数）</a:t>
            </a:r>
            <a:endParaRPr lang="zh-CN" altLang="en-US" sz="2000" b="0" cap="none" spc="0" dirty="0">
              <a:ln w="0"/>
              <a:solidFill>
                <a:srgbClr val="FF0000"/>
              </a:solidFill>
              <a:ea typeface="微软雅黑" panose="020B0503020204020204" pitchFamily="34" charset="-122"/>
              <a:cs typeface="Times New Roman" panose="02020603050405020304" pitchFamily="18" charset="0"/>
            </a:endParaRPr>
          </a:p>
        </p:txBody>
      </p:sp>
      <p:sp>
        <p:nvSpPr>
          <p:cNvPr id="24" name="矩形 23">
            <a:extLst>
              <a:ext uri="{FF2B5EF4-FFF2-40B4-BE49-F238E27FC236}">
                <a16:creationId xmlns:a16="http://schemas.microsoft.com/office/drawing/2014/main" id="{940A3B1B-9C46-62EE-880B-00F1122CF70E}"/>
              </a:ext>
            </a:extLst>
          </p:cNvPr>
          <p:cNvSpPr/>
          <p:nvPr/>
        </p:nvSpPr>
        <p:spPr>
          <a:xfrm>
            <a:off x="1353254" y="5250711"/>
            <a:ext cx="3538289" cy="32826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27" name="Content Placeholder 2">
            <a:extLst>
              <a:ext uri="{FF2B5EF4-FFF2-40B4-BE49-F238E27FC236}">
                <a16:creationId xmlns:a16="http://schemas.microsoft.com/office/drawing/2014/main" id="{DFB4BBCB-0D3E-20FF-4D13-DE53E061E931}"/>
              </a:ext>
            </a:extLst>
          </p:cNvPr>
          <p:cNvSpPr txBox="1"/>
          <p:nvPr/>
        </p:nvSpPr>
        <p:spPr bwMode="auto">
          <a:xfrm>
            <a:off x="569193" y="5184167"/>
            <a:ext cx="5478780" cy="409811"/>
          </a:xfrm>
          <a:prstGeom prst="rect">
            <a:avLst/>
          </a:prstGeom>
          <a:solidFill>
            <a:schemeClr val="bg1"/>
          </a:solidFill>
          <a:ln w="9525">
            <a:noFill/>
            <a:miter lim="800000"/>
          </a:ln>
        </p:spPr>
        <p:txBody>
          <a:bodyPr vert="horz" wrap="square" lIns="91440" tIns="45720" rIns="91440" bIns="45720" numCol="1" anchor="t" anchorCtr="0" compatLnSpc="1"/>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marL="0" indent="0" algn="ctr">
              <a:buNone/>
            </a:pPr>
            <a:r>
              <a:rPr lang="zh-CN" altLang="en-US" kern="0" dirty="0">
                <a:ea typeface="微软雅黑" panose="020B0503020204020204" pitchFamily="34" charset="-122"/>
                <a:cs typeface="Times New Roman" panose="02020603050405020304" pitchFamily="18" charset="0"/>
              </a:rPr>
              <a:t>伺服阀的流量特性曲线</a:t>
            </a:r>
            <a:endParaRPr lang="en-US" altLang="zh-CN" kern="0" dirty="0">
              <a:ea typeface="微软雅黑" panose="020B0503020204020204" pitchFamily="34" charset="-122"/>
              <a:cs typeface="Times New Roman" panose="02020603050405020304" pitchFamily="18" charset="0"/>
            </a:endParaRPr>
          </a:p>
        </p:txBody>
      </p:sp>
      <p:sp>
        <p:nvSpPr>
          <p:cNvPr id="29" name="文本框 28">
            <a:extLst>
              <a:ext uri="{FF2B5EF4-FFF2-40B4-BE49-F238E27FC236}">
                <a16:creationId xmlns:a16="http://schemas.microsoft.com/office/drawing/2014/main" id="{9FC20475-6FEA-0C3A-7F2E-C3E61254E862}"/>
              </a:ext>
            </a:extLst>
          </p:cNvPr>
          <p:cNvSpPr txBox="1"/>
          <p:nvPr/>
        </p:nvSpPr>
        <p:spPr>
          <a:xfrm>
            <a:off x="276542" y="1634393"/>
            <a:ext cx="6103519" cy="142295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sz="2000" dirty="0">
                <a:solidFill>
                  <a:srgbClr val="000000"/>
                </a:solidFill>
                <a:latin typeface="Times New Roman" panose="02020603050405020304" pitchFamily="18" charset="0"/>
                <a:ea typeface="微软雅黑" panose="020B0503020204020204" pitchFamily="34" charset="-122"/>
                <a:cs typeface="Times New Roman" panose="02020603050405020304" pitchFamily="18" charset="0"/>
              </a:rPr>
              <a:t>伺服阀的流量特性如图</a:t>
            </a:r>
            <a:r>
              <a:rPr lang="en-US" altLang="zh-CN" sz="2000" dirty="0">
                <a:solidFill>
                  <a:srgbClr val="000000"/>
                </a:solidFill>
                <a:latin typeface="Times New Roman" panose="02020603050405020304" pitchFamily="18" charset="0"/>
                <a:ea typeface="微软雅黑" panose="020B0503020204020204" pitchFamily="34" charset="-122"/>
                <a:cs typeface="Times New Roman" panose="02020603050405020304" pitchFamily="18" charset="0"/>
              </a:rPr>
              <a:t>8</a:t>
            </a:r>
            <a:r>
              <a:rPr lang="zh-CN" altLang="en-US" sz="2000" dirty="0">
                <a:solidFill>
                  <a:srgbClr val="000000"/>
                </a:solidFill>
                <a:latin typeface="Times New Roman" panose="02020603050405020304" pitchFamily="18" charset="0"/>
                <a:ea typeface="微软雅黑" panose="020B0503020204020204" pitchFamily="34" charset="-122"/>
                <a:cs typeface="Times New Roman" panose="02020603050405020304" pitchFamily="18" charset="0"/>
              </a:rPr>
              <a:t>所示</a:t>
            </a:r>
            <a:r>
              <a:rPr lang="en-US" altLang="zh-CN" sz="2000" dirty="0">
                <a:solidFill>
                  <a:srgbClr val="000000"/>
                </a:solidFill>
                <a:latin typeface="Times New Roman" panose="02020603050405020304" pitchFamily="18" charset="0"/>
                <a:ea typeface="微软雅黑" panose="020B0503020204020204" pitchFamily="34" charset="-122"/>
                <a:cs typeface="Times New Roman" panose="02020603050405020304" pitchFamily="18" charset="0"/>
              </a:rPr>
              <a:t>,</a:t>
            </a:r>
            <a:r>
              <a:rPr lang="zh-CN" altLang="en-US" sz="2000" dirty="0">
                <a:solidFill>
                  <a:srgbClr val="000000"/>
                </a:solidFill>
                <a:latin typeface="Times New Roman" panose="02020603050405020304" pitchFamily="18" charset="0"/>
                <a:ea typeface="微软雅黑" panose="020B0503020204020204" pitchFamily="34" charset="-122"/>
                <a:cs typeface="Times New Roman" panose="02020603050405020304" pitchFamily="18" charset="0"/>
              </a:rPr>
              <a:t>其中图</a:t>
            </a:r>
            <a:r>
              <a:rPr lang="en-US" altLang="zh-CN" sz="2000" dirty="0">
                <a:solidFill>
                  <a:srgbClr val="000000"/>
                </a:solidFill>
                <a:latin typeface="Times New Roman" panose="02020603050405020304" pitchFamily="18" charset="0"/>
                <a:ea typeface="微软雅黑" panose="020B0503020204020204" pitchFamily="34" charset="-122"/>
                <a:cs typeface="Times New Roman" panose="02020603050405020304" pitchFamily="18" charset="0"/>
              </a:rPr>
              <a:t>8a</a:t>
            </a:r>
            <a:r>
              <a:rPr lang="zh-CN" altLang="en-US" sz="2000" dirty="0">
                <a:solidFill>
                  <a:srgbClr val="000000"/>
                </a:solidFill>
                <a:latin typeface="Times New Roman" panose="02020603050405020304" pitchFamily="18" charset="0"/>
                <a:ea typeface="微软雅黑" panose="020B0503020204020204" pitchFamily="34" charset="-122"/>
                <a:cs typeface="Times New Roman" panose="02020603050405020304" pitchFamily="18" charset="0"/>
              </a:rPr>
              <a:t>所示为零开口阀的理论流量曲线和实际流量曲线</a:t>
            </a:r>
            <a:r>
              <a:rPr lang="en-US" altLang="zh-CN" sz="2000" dirty="0">
                <a:solidFill>
                  <a:srgbClr val="000000"/>
                </a:solidFill>
                <a:latin typeface="Times New Roman" panose="02020603050405020304" pitchFamily="18" charset="0"/>
                <a:ea typeface="微软雅黑" panose="020B0503020204020204" pitchFamily="34" charset="-122"/>
                <a:cs typeface="Times New Roman" panose="02020603050405020304" pitchFamily="18" charset="0"/>
              </a:rPr>
              <a:t>,</a:t>
            </a:r>
            <a:r>
              <a:rPr lang="zh-CN" altLang="en-US" sz="2000" dirty="0">
                <a:solidFill>
                  <a:srgbClr val="000000"/>
                </a:solidFill>
                <a:latin typeface="Times New Roman" panose="02020603050405020304" pitchFamily="18" charset="0"/>
                <a:ea typeface="微软雅黑" panose="020B0503020204020204" pitchFamily="34" charset="-122"/>
                <a:cs typeface="Times New Roman" panose="02020603050405020304" pitchFamily="18" charset="0"/>
              </a:rPr>
              <a:t>图</a:t>
            </a:r>
            <a:r>
              <a:rPr lang="en-US" altLang="zh-CN" sz="2000" dirty="0">
                <a:solidFill>
                  <a:srgbClr val="000000"/>
                </a:solidFill>
                <a:latin typeface="Times New Roman" panose="02020603050405020304" pitchFamily="18" charset="0"/>
                <a:ea typeface="微软雅黑" panose="020B0503020204020204" pitchFamily="34" charset="-122"/>
                <a:cs typeface="Times New Roman" panose="02020603050405020304" pitchFamily="18" charset="0"/>
              </a:rPr>
              <a:t>8b</a:t>
            </a:r>
            <a:r>
              <a:rPr lang="zh-CN" altLang="en-US" sz="2000" dirty="0">
                <a:solidFill>
                  <a:srgbClr val="000000"/>
                </a:solidFill>
                <a:latin typeface="Times New Roman" panose="02020603050405020304" pitchFamily="18" charset="0"/>
                <a:ea typeface="微软雅黑" panose="020B0503020204020204" pitchFamily="34" charset="-122"/>
                <a:cs typeface="Times New Roman" panose="02020603050405020304" pitchFamily="18" charset="0"/>
              </a:rPr>
              <a:t>和图</a:t>
            </a:r>
            <a:r>
              <a:rPr lang="en-US" altLang="zh-CN" sz="2000" dirty="0">
                <a:solidFill>
                  <a:srgbClr val="000000"/>
                </a:solidFill>
                <a:latin typeface="Times New Roman" panose="02020603050405020304" pitchFamily="18" charset="0"/>
                <a:ea typeface="微软雅黑" panose="020B0503020204020204" pitchFamily="34" charset="-122"/>
                <a:cs typeface="Times New Roman" panose="02020603050405020304" pitchFamily="18" charset="0"/>
              </a:rPr>
              <a:t>8c</a:t>
            </a:r>
            <a:r>
              <a:rPr lang="zh-CN" altLang="en-US" sz="2000" dirty="0">
                <a:solidFill>
                  <a:srgbClr val="000000"/>
                </a:solidFill>
                <a:latin typeface="Times New Roman" panose="02020603050405020304" pitchFamily="18" charset="0"/>
                <a:ea typeface="微软雅黑" panose="020B0503020204020204" pitchFamily="34" charset="-122"/>
                <a:cs typeface="Times New Roman" panose="02020603050405020304" pitchFamily="18" charset="0"/>
              </a:rPr>
              <a:t>所示分别为负预开口阀和正预开口阀的流量曲线。</a:t>
            </a:r>
            <a:endParaRPr lang="en-US" altLang="zh-CN" sz="2000" dirty="0">
              <a:solidFill>
                <a:srgbClr val="000000"/>
              </a:solidFill>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31" name="文本框 30">
            <a:extLst>
              <a:ext uri="{FF2B5EF4-FFF2-40B4-BE49-F238E27FC236}">
                <a16:creationId xmlns:a16="http://schemas.microsoft.com/office/drawing/2014/main" id="{B0619F16-EDF4-FA44-200C-38BB940B9295}"/>
              </a:ext>
            </a:extLst>
          </p:cNvPr>
          <p:cNvSpPr txBox="1"/>
          <p:nvPr/>
        </p:nvSpPr>
        <p:spPr>
          <a:xfrm>
            <a:off x="6380061" y="3971029"/>
            <a:ext cx="3262432" cy="307264"/>
          </a:xfrm>
          <a:prstGeom prst="rect">
            <a:avLst/>
          </a:prstGeom>
          <a:noFill/>
        </p:spPr>
        <p:txBody>
          <a:bodyPr wrap="square">
            <a:spAutoFit/>
          </a:bodyPr>
          <a:lstStyle/>
          <a:p>
            <a:pPr indent="266700">
              <a:lnSpc>
                <a:spcPts val="1575"/>
              </a:lnSpc>
            </a:pPr>
            <a:r>
              <a:rPr lang="zh-CN" altLang="en-US" sz="2000" dirty="0">
                <a:solidFill>
                  <a:srgbClr val="000000"/>
                </a:solidFill>
                <a:latin typeface="Times New Roman" panose="02020603050405020304" pitchFamily="18" charset="0"/>
                <a:ea typeface="微软雅黑" panose="020B0503020204020204" pitchFamily="34" charset="-122"/>
                <a:cs typeface="Times New Roman" panose="02020603050405020304" pitchFamily="18" charset="0"/>
              </a:rPr>
              <a:t>对理想零开口阀</a:t>
            </a:r>
            <a:r>
              <a:rPr lang="en-US" altLang="zh-CN" sz="2000" dirty="0">
                <a:solidFill>
                  <a:srgbClr val="000000"/>
                </a:solidFill>
                <a:latin typeface="Times New Roman" panose="02020603050405020304" pitchFamily="18" charset="0"/>
                <a:ea typeface="微软雅黑" panose="020B0503020204020204" pitchFamily="34" charset="-122"/>
                <a:cs typeface="Times New Roman" panose="02020603050405020304" pitchFamily="18" charset="0"/>
              </a:rPr>
              <a:t>,</a:t>
            </a:r>
            <a:r>
              <a:rPr lang="zh-CN" altLang="en-US" sz="2000" dirty="0">
                <a:solidFill>
                  <a:srgbClr val="000000"/>
                </a:solidFill>
                <a:latin typeface="Times New Roman" panose="02020603050405020304" pitchFamily="18" charset="0"/>
                <a:ea typeface="微软雅黑" panose="020B0503020204020204" pitchFamily="34" charset="-122"/>
                <a:cs typeface="Times New Roman" panose="02020603050405020304" pitchFamily="18" charset="0"/>
              </a:rPr>
              <a:t>得</a:t>
            </a:r>
          </a:p>
        </p:txBody>
      </p:sp>
      <p:cxnSp>
        <p:nvCxnSpPr>
          <p:cNvPr id="32" name="直接连接符 31">
            <a:extLst>
              <a:ext uri="{FF2B5EF4-FFF2-40B4-BE49-F238E27FC236}">
                <a16:creationId xmlns:a16="http://schemas.microsoft.com/office/drawing/2014/main" id="{8A46CF14-CDBE-7BFF-2A17-B690199F1B4A}"/>
              </a:ext>
            </a:extLst>
          </p:cNvPr>
          <p:cNvCxnSpPr/>
          <p:nvPr/>
        </p:nvCxnSpPr>
        <p:spPr>
          <a:xfrm>
            <a:off x="6380061" y="1297834"/>
            <a:ext cx="0" cy="4999456"/>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C1335361-4675-A090-B89A-F351CEC2ACBA}"/>
              </a:ext>
            </a:extLst>
          </p:cNvPr>
          <p:cNvSpPr txBox="1"/>
          <p:nvPr/>
        </p:nvSpPr>
        <p:spPr>
          <a:xfrm>
            <a:off x="6207374" y="2054485"/>
            <a:ext cx="6123008" cy="453457"/>
          </a:xfrm>
          <a:prstGeom prst="rect">
            <a:avLst/>
          </a:prstGeom>
          <a:noFill/>
        </p:spPr>
        <p:txBody>
          <a:bodyPr wrap="square">
            <a:spAutoFit/>
          </a:bodyPr>
          <a:lstStyle/>
          <a:p>
            <a:pPr indent="432000">
              <a:lnSpc>
                <a:spcPct val="130000"/>
              </a:lnSpc>
            </a:pPr>
            <a:r>
              <a:rPr lang="zh-CN" altLang="en-US" sz="2000" dirty="0">
                <a:solidFill>
                  <a:srgbClr val="000000"/>
                </a:solidFill>
                <a:latin typeface="Times New Roman" panose="02020603050405020304" pitchFamily="18" charset="0"/>
                <a:ea typeface="微软雅黑" panose="020B0503020204020204" pitchFamily="34" charset="-122"/>
                <a:cs typeface="Times New Roman" panose="02020603050405020304" pitchFamily="18" charset="0"/>
              </a:rPr>
              <a:t>由图</a:t>
            </a:r>
            <a:r>
              <a:rPr lang="en-US" altLang="zh-CN" sz="2000" dirty="0">
                <a:solidFill>
                  <a:srgbClr val="000000"/>
                </a:solidFill>
                <a:latin typeface="Times New Roman" panose="02020603050405020304" pitchFamily="18" charset="0"/>
                <a:ea typeface="微软雅黑" panose="020B0503020204020204" pitchFamily="34" charset="-122"/>
                <a:cs typeface="Times New Roman" panose="02020603050405020304" pitchFamily="18" charset="0"/>
              </a:rPr>
              <a:t>8</a:t>
            </a:r>
            <a:r>
              <a:rPr lang="zh-CN" altLang="en-US" sz="2000" dirty="0">
                <a:solidFill>
                  <a:srgbClr val="000000"/>
                </a:solidFill>
                <a:latin typeface="Times New Roman" panose="02020603050405020304" pitchFamily="18" charset="0"/>
                <a:ea typeface="微软雅黑" panose="020B0503020204020204" pitchFamily="34" charset="-122"/>
                <a:cs typeface="Times New Roman" panose="02020603050405020304" pitchFamily="18" charset="0"/>
              </a:rPr>
              <a:t>可得阀的流量增益</a:t>
            </a:r>
            <a:r>
              <a:rPr lang="en-US" altLang="zh-CN" sz="2000" dirty="0">
                <a:solidFill>
                  <a:srgbClr val="000000"/>
                </a:solidFill>
                <a:latin typeface="Times New Roman" panose="02020603050405020304" pitchFamily="18" charset="0"/>
                <a:ea typeface="微软雅黑" panose="020B0503020204020204" pitchFamily="34" charset="-122"/>
                <a:cs typeface="Times New Roman" panose="02020603050405020304" pitchFamily="18" charset="0"/>
              </a:rPr>
              <a:t>(</a:t>
            </a:r>
            <a:r>
              <a:rPr lang="zh-CN" altLang="en-US" sz="2000" dirty="0">
                <a:solidFill>
                  <a:srgbClr val="000000"/>
                </a:solidFill>
                <a:latin typeface="Times New Roman" panose="02020603050405020304" pitchFamily="18" charset="0"/>
                <a:ea typeface="微软雅黑" panose="020B0503020204020204" pitchFamily="34" charset="-122"/>
                <a:cs typeface="Times New Roman" panose="02020603050405020304" pitchFamily="18" charset="0"/>
              </a:rPr>
              <a:t>流量放大系数</a:t>
            </a:r>
            <a:r>
              <a:rPr lang="en-US" altLang="zh-CN" sz="2000" dirty="0">
                <a:solidFill>
                  <a:srgbClr val="000000"/>
                </a:solidFill>
                <a:latin typeface="Times New Roman" panose="02020603050405020304" pitchFamily="18" charset="0"/>
                <a:ea typeface="微软雅黑" panose="020B0503020204020204" pitchFamily="34" charset="-122"/>
                <a:cs typeface="Times New Roman" panose="02020603050405020304" pitchFamily="18" charset="0"/>
              </a:rPr>
              <a:t>),</a:t>
            </a:r>
            <a:r>
              <a:rPr lang="zh-CN" altLang="en-US" sz="2000" dirty="0">
                <a:solidFill>
                  <a:srgbClr val="000000"/>
                </a:solidFill>
                <a:latin typeface="Times New Roman" panose="02020603050405020304" pitchFamily="18" charset="0"/>
                <a:ea typeface="微软雅黑" panose="020B0503020204020204" pitchFamily="34" charset="-122"/>
                <a:cs typeface="Times New Roman" panose="02020603050405020304" pitchFamily="18" charset="0"/>
              </a:rPr>
              <a:t>定义</a:t>
            </a:r>
            <a:endParaRPr lang="en-US" altLang="zh-CN" sz="2000" dirty="0">
              <a:solidFill>
                <a:srgbClr val="000000"/>
              </a:solidFill>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35" name="矩形 34">
            <a:extLst>
              <a:ext uri="{FF2B5EF4-FFF2-40B4-BE49-F238E27FC236}">
                <a16:creationId xmlns:a16="http://schemas.microsoft.com/office/drawing/2014/main" id="{4455F83A-FA0F-80AA-8988-8503C9403AA2}"/>
              </a:ext>
            </a:extLst>
          </p:cNvPr>
          <p:cNvSpPr/>
          <p:nvPr/>
        </p:nvSpPr>
        <p:spPr>
          <a:xfrm>
            <a:off x="429656" y="893424"/>
            <a:ext cx="7547154" cy="581762"/>
          </a:xfrm>
          <a:prstGeom prst="rect">
            <a:avLst/>
          </a:prstGeom>
        </p:spPr>
        <p:txBody>
          <a:bodyPr wrap="square">
            <a:spAutoFit/>
          </a:bodyPr>
          <a:lstStyle/>
          <a:p>
            <a:pPr marL="457200" indent="-457200">
              <a:lnSpc>
                <a:spcPct val="125000"/>
              </a:lnSpc>
              <a:buFont typeface="Wingdings" panose="05000000000000000000" pitchFamily="2" charset="2"/>
              <a:buChar char="p"/>
            </a:pPr>
            <a:r>
              <a:rPr lang="zh-CN" altLang="en-US" sz="2800" b="1" dirty="0">
                <a:solidFill>
                  <a:srgbClr val="003F88"/>
                </a:solidFill>
                <a:latin typeface="微软雅黑" panose="020B0503020204020204" pitchFamily="34" charset="-122"/>
                <a:ea typeface="微软雅黑" panose="020B0503020204020204" pitchFamily="34" charset="-122"/>
              </a:rPr>
              <a:t>静态特性</a:t>
            </a:r>
          </a:p>
        </p:txBody>
      </p:sp>
      <p:graphicFrame>
        <p:nvGraphicFramePr>
          <p:cNvPr id="2" name="对象 1">
            <a:extLst>
              <a:ext uri="{FF2B5EF4-FFF2-40B4-BE49-F238E27FC236}">
                <a16:creationId xmlns:a16="http://schemas.microsoft.com/office/drawing/2014/main" id="{7585D489-C608-EA7D-FC3C-63E2DCEFC15A}"/>
              </a:ext>
            </a:extLst>
          </p:cNvPr>
          <p:cNvGraphicFramePr>
            <a:graphicFrameLocks noChangeAspect="1"/>
          </p:cNvGraphicFramePr>
          <p:nvPr>
            <p:extLst>
              <p:ext uri="{D42A27DB-BD31-4B8C-83A1-F6EECF244321}">
                <p14:modId xmlns:p14="http://schemas.microsoft.com/office/powerpoint/2010/main" val="3551719898"/>
              </p:ext>
            </p:extLst>
          </p:nvPr>
        </p:nvGraphicFramePr>
        <p:xfrm>
          <a:off x="7992987" y="2740072"/>
          <a:ext cx="2420430" cy="935166"/>
        </p:xfrm>
        <a:graphic>
          <a:graphicData uri="http://schemas.openxmlformats.org/presentationml/2006/ole">
            <mc:AlternateContent xmlns:mc="http://schemas.openxmlformats.org/markup-compatibility/2006">
              <mc:Choice xmlns:v="urn:schemas-microsoft-com:vml" Requires="v">
                <p:oleObj spid="_x0000_s3116" name="Equation" r:id="rId5" imgW="1117440" imgH="431640" progId="Equation.DSMT4">
                  <p:embed/>
                </p:oleObj>
              </mc:Choice>
              <mc:Fallback>
                <p:oleObj name="Equation" r:id="rId5" imgW="1117440" imgH="431640" progId="Equation.DSMT4">
                  <p:embed/>
                  <p:pic>
                    <p:nvPicPr>
                      <p:cNvPr id="0" name=""/>
                      <p:cNvPicPr/>
                      <p:nvPr/>
                    </p:nvPicPr>
                    <p:blipFill>
                      <a:blip r:embed="rId6"/>
                      <a:stretch>
                        <a:fillRect/>
                      </a:stretch>
                    </p:blipFill>
                    <p:spPr>
                      <a:xfrm>
                        <a:off x="7992987" y="2740072"/>
                        <a:ext cx="2420430" cy="935166"/>
                      </a:xfrm>
                      <a:prstGeom prst="rect">
                        <a:avLst/>
                      </a:prstGeom>
                    </p:spPr>
                  </p:pic>
                </p:oleObj>
              </mc:Fallback>
            </mc:AlternateContent>
          </a:graphicData>
        </a:graphic>
      </p:graphicFrame>
      <p:graphicFrame>
        <p:nvGraphicFramePr>
          <p:cNvPr id="3" name="对象 2">
            <a:extLst>
              <a:ext uri="{FF2B5EF4-FFF2-40B4-BE49-F238E27FC236}">
                <a16:creationId xmlns:a16="http://schemas.microsoft.com/office/drawing/2014/main" id="{347A7C04-06EB-F31E-1071-9CDA56D54303}"/>
              </a:ext>
            </a:extLst>
          </p:cNvPr>
          <p:cNvGraphicFramePr>
            <a:graphicFrameLocks noChangeAspect="1"/>
          </p:cNvGraphicFramePr>
          <p:nvPr>
            <p:extLst>
              <p:ext uri="{D42A27DB-BD31-4B8C-83A1-F6EECF244321}">
                <p14:modId xmlns:p14="http://schemas.microsoft.com/office/powerpoint/2010/main" val="3205307305"/>
              </p:ext>
            </p:extLst>
          </p:nvPr>
        </p:nvGraphicFramePr>
        <p:xfrm>
          <a:off x="7914255" y="4578535"/>
          <a:ext cx="2577893" cy="1000444"/>
        </p:xfrm>
        <a:graphic>
          <a:graphicData uri="http://schemas.openxmlformats.org/presentationml/2006/ole">
            <mc:AlternateContent xmlns:mc="http://schemas.openxmlformats.org/markup-compatibility/2006">
              <mc:Choice xmlns:v="urn:schemas-microsoft-com:vml" Requires="v">
                <p:oleObj spid="_x0000_s3117" name="Equation" r:id="rId7" imgW="1244520" imgH="482400" progId="Equation.DSMT4">
                  <p:embed/>
                </p:oleObj>
              </mc:Choice>
              <mc:Fallback>
                <p:oleObj name="Equation" r:id="rId7" imgW="1244520" imgH="482400" progId="Equation.DSMT4">
                  <p:embed/>
                  <p:pic>
                    <p:nvPicPr>
                      <p:cNvPr id="0" name=""/>
                      <p:cNvPicPr/>
                      <p:nvPr/>
                    </p:nvPicPr>
                    <p:blipFill>
                      <a:blip r:embed="rId8"/>
                      <a:stretch>
                        <a:fillRect/>
                      </a:stretch>
                    </p:blipFill>
                    <p:spPr>
                      <a:xfrm>
                        <a:off x="7914255" y="4578535"/>
                        <a:ext cx="2577893" cy="1000444"/>
                      </a:xfrm>
                      <a:prstGeom prst="rect">
                        <a:avLst/>
                      </a:prstGeom>
                    </p:spPr>
                  </p:pic>
                </p:oleObj>
              </mc:Fallback>
            </mc:AlternateContent>
          </a:graphicData>
        </a:graphic>
      </p:graphicFrame>
      <p:sp>
        <p:nvSpPr>
          <p:cNvPr id="6" name="文本框 5">
            <a:extLst>
              <a:ext uri="{FF2B5EF4-FFF2-40B4-BE49-F238E27FC236}">
                <a16:creationId xmlns:a16="http://schemas.microsoft.com/office/drawing/2014/main" id="{7A8B1DBE-460A-4C7B-BF47-A8FF61A61356}"/>
              </a:ext>
            </a:extLst>
          </p:cNvPr>
          <p:cNvSpPr txBox="1"/>
          <p:nvPr/>
        </p:nvSpPr>
        <p:spPr>
          <a:xfrm>
            <a:off x="1663414" y="6309627"/>
            <a:ext cx="9724137" cy="461665"/>
          </a:xfrm>
          <a:prstGeom prst="rect">
            <a:avLst/>
          </a:prstGeom>
          <a:noFill/>
        </p:spPr>
        <p:txBody>
          <a:bodyPr wrap="none" rtlCol="0">
            <a:spAutoFit/>
          </a:bodyPr>
          <a:lstStyle/>
          <a:p>
            <a:r>
              <a:rPr lang="zh-CN" altLang="en-US" sz="2400" b="1" dirty="0">
                <a:solidFill>
                  <a:srgbClr val="C00000"/>
                </a:solidFill>
              </a:rPr>
              <a:t>流量增益</a:t>
            </a:r>
            <a:r>
              <a:rPr lang="zh-CN" altLang="en-US" sz="2400" b="1" dirty="0"/>
              <a:t>：正开口（负遮盖）</a:t>
            </a:r>
            <a:r>
              <a:rPr lang="en-US" altLang="zh-CN" sz="2400" b="1" dirty="0"/>
              <a:t>&gt; </a:t>
            </a:r>
            <a:r>
              <a:rPr lang="zh-CN" altLang="en-US" sz="2400" b="1" dirty="0">
                <a:solidFill>
                  <a:srgbClr val="00B0F0"/>
                </a:solidFill>
              </a:rPr>
              <a:t>零开口（零遮盖）</a:t>
            </a:r>
            <a:r>
              <a:rPr lang="en-US" altLang="zh-CN" sz="2400" b="1" dirty="0">
                <a:solidFill>
                  <a:srgbClr val="00B0F0"/>
                </a:solidFill>
              </a:rPr>
              <a:t>&gt;  </a:t>
            </a:r>
            <a:r>
              <a:rPr lang="zh-CN" altLang="en-US" sz="2400" b="1" dirty="0">
                <a:solidFill>
                  <a:srgbClr val="00B0F0"/>
                </a:solidFill>
              </a:rPr>
              <a:t>负开口（正遮盖）</a:t>
            </a:r>
          </a:p>
        </p:txBody>
      </p:sp>
    </p:spTree>
    <p:extLst>
      <p:ext uri="{BB962C8B-B14F-4D97-AF65-F5344CB8AC3E}">
        <p14:creationId xmlns:p14="http://schemas.microsoft.com/office/powerpoint/2010/main" val="39419278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13" name="文本框 12">
            <a:extLst>
              <a:ext uri="{FF2B5EF4-FFF2-40B4-BE49-F238E27FC236}">
                <a16:creationId xmlns:a16="http://schemas.microsoft.com/office/drawing/2014/main" id="{D69CC19E-8AB4-24D8-2D2D-FE40C8B5AC42}"/>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ea typeface="微软雅黑" panose="020B0503020204020204" pitchFamily="34" charset="-122"/>
                <a:cs typeface="Times New Roman" panose="02020603050405020304" pitchFamily="18" charset="0"/>
              </a:rPr>
              <a:t>10.4 </a:t>
            </a:r>
            <a:r>
              <a:rPr lang="zh-CN" altLang="en-US" sz="3600" b="1" dirty="0">
                <a:solidFill>
                  <a:srgbClr val="003F88"/>
                </a:solidFill>
                <a:latin typeface="Times New Roman" panose="02020603050405020304" pitchFamily="18" charset="0"/>
                <a:ea typeface="微软雅黑" panose="020B0503020204020204" pitchFamily="34" charset="-122"/>
                <a:cs typeface="Times New Roman" panose="02020603050405020304" pitchFamily="18" charset="0"/>
              </a:rPr>
              <a:t>特性分析</a:t>
            </a:r>
          </a:p>
        </p:txBody>
      </p:sp>
      <p:sp>
        <p:nvSpPr>
          <p:cNvPr id="11" name="矩形 10">
            <a:extLst>
              <a:ext uri="{FF2B5EF4-FFF2-40B4-BE49-F238E27FC236}">
                <a16:creationId xmlns:a16="http://schemas.microsoft.com/office/drawing/2014/main" id="{82FA0947-8706-F979-5488-D8C753D1496E}"/>
              </a:ext>
            </a:extLst>
          </p:cNvPr>
          <p:cNvSpPr/>
          <p:nvPr/>
        </p:nvSpPr>
        <p:spPr>
          <a:xfrm>
            <a:off x="3254076" y="997774"/>
            <a:ext cx="1415772" cy="461665"/>
          </a:xfrm>
          <a:prstGeom prst="rect">
            <a:avLst/>
          </a:prstGeom>
          <a:noFill/>
        </p:spPr>
        <p:txBody>
          <a:bodyPr wrap="none" lIns="91440" tIns="45720" rIns="91440" bIns="4572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r>
              <a:rPr lang="zh-CN" altLang="en-US" sz="2400" b="1" dirty="0">
                <a:latin typeface="+mj-ea"/>
                <a:ea typeface="+mj-ea"/>
              </a:rPr>
              <a:t>流量特性</a:t>
            </a:r>
            <a:endParaRPr lang="en-US" altLang="zh-CN" sz="2400" b="1" dirty="0">
              <a:latin typeface="+mj-ea"/>
              <a:ea typeface="+mj-ea"/>
            </a:endParaRPr>
          </a:p>
        </p:txBody>
      </p:sp>
      <p:sp>
        <p:nvSpPr>
          <p:cNvPr id="12" name="文本框 17">
            <a:extLst>
              <a:ext uri="{FF2B5EF4-FFF2-40B4-BE49-F238E27FC236}">
                <a16:creationId xmlns:a16="http://schemas.microsoft.com/office/drawing/2014/main" id="{9A9D8C93-097F-25AF-2998-7B866ECB420B}"/>
              </a:ext>
            </a:extLst>
          </p:cNvPr>
          <p:cNvSpPr txBox="1"/>
          <p:nvPr/>
        </p:nvSpPr>
        <p:spPr>
          <a:xfrm>
            <a:off x="654790" y="1694680"/>
            <a:ext cx="3592851" cy="461665"/>
          </a:xfrm>
          <a:prstGeom prst="rect">
            <a:avLst/>
          </a:prstGeom>
          <a:noFill/>
        </p:spPr>
        <p:style>
          <a:lnRef idx="3">
            <a:schemeClr val="lt1"/>
          </a:lnRef>
          <a:fillRef idx="1">
            <a:schemeClr val="accent1"/>
          </a:fillRef>
          <a:effectRef idx="1">
            <a:schemeClr val="accent1"/>
          </a:effectRef>
          <a:fontRef idx="minor">
            <a:schemeClr val="lt1"/>
          </a:fontRef>
        </p:style>
        <p:txBody>
          <a:bodyPr wrap="square" rtlCol="0">
            <a:spAutoFit/>
          </a:bodyPr>
          <a:lstStyle>
            <a:defPPr>
              <a:defRPr lang="zh-CN"/>
            </a:defPPr>
            <a:lvl1pPr algn="l" rtl="0" fontAlgn="base">
              <a:spcBef>
                <a:spcPct val="0"/>
              </a:spcBef>
              <a:spcAft>
                <a:spcPct val="0"/>
              </a:spcAft>
              <a:defRPr kern="1200">
                <a:solidFill>
                  <a:schemeClr val="lt1"/>
                </a:solidFill>
                <a:latin typeface="+mn-lt"/>
                <a:ea typeface="+mn-ea"/>
                <a:cs typeface="+mn-cs"/>
              </a:defRPr>
            </a:lvl1pPr>
            <a:lvl2pPr marL="457200" algn="l" rtl="0" fontAlgn="base">
              <a:spcBef>
                <a:spcPct val="0"/>
              </a:spcBef>
              <a:spcAft>
                <a:spcPct val="0"/>
              </a:spcAft>
              <a:defRPr kern="1200">
                <a:solidFill>
                  <a:schemeClr val="lt1"/>
                </a:solidFill>
                <a:latin typeface="+mn-lt"/>
                <a:ea typeface="+mn-ea"/>
                <a:cs typeface="+mn-cs"/>
              </a:defRPr>
            </a:lvl2pPr>
            <a:lvl3pPr marL="914400" algn="l" rtl="0" fontAlgn="base">
              <a:spcBef>
                <a:spcPct val="0"/>
              </a:spcBef>
              <a:spcAft>
                <a:spcPct val="0"/>
              </a:spcAft>
              <a:defRPr kern="1200">
                <a:solidFill>
                  <a:schemeClr val="lt1"/>
                </a:solidFill>
                <a:latin typeface="+mn-lt"/>
                <a:ea typeface="+mn-ea"/>
                <a:cs typeface="+mn-cs"/>
              </a:defRPr>
            </a:lvl3pPr>
            <a:lvl4pPr marL="1371600" algn="l" rtl="0" fontAlgn="base">
              <a:spcBef>
                <a:spcPct val="0"/>
              </a:spcBef>
              <a:spcAft>
                <a:spcPct val="0"/>
              </a:spcAft>
              <a:defRPr kern="1200">
                <a:solidFill>
                  <a:schemeClr val="lt1"/>
                </a:solidFill>
                <a:latin typeface="+mn-lt"/>
                <a:ea typeface="+mn-ea"/>
                <a:cs typeface="+mn-cs"/>
              </a:defRPr>
            </a:lvl4pPr>
            <a:lvl5pPr marL="1828800" algn="l" rtl="0" fontAlgn="base">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r>
              <a:rPr lang="zh-CN" altLang="en-US" sz="2400" dirty="0">
                <a:solidFill>
                  <a:schemeClr val="tx1"/>
                </a:solidFill>
                <a:latin typeface="Times New Roman" panose="02020603050405020304" pitchFamily="18" charset="0"/>
                <a:ea typeface="微软雅黑" panose="020B0503020204020204" pitchFamily="34" charset="-122"/>
                <a:cs typeface="Times New Roman" panose="02020603050405020304" pitchFamily="18" charset="0"/>
              </a:rPr>
              <a:t>阀额定电流、额定流量值</a:t>
            </a:r>
          </a:p>
        </p:txBody>
      </p:sp>
      <p:pic>
        <p:nvPicPr>
          <p:cNvPr id="15" name="图片 14">
            <a:extLst>
              <a:ext uri="{FF2B5EF4-FFF2-40B4-BE49-F238E27FC236}">
                <a16:creationId xmlns:a16="http://schemas.microsoft.com/office/drawing/2014/main" id="{05A35CBF-582E-EF32-E90C-ED3F4CF3CF06}"/>
              </a:ext>
            </a:extLst>
          </p:cNvPr>
          <p:cNvPicPr>
            <a:picLocks noChangeAspect="1"/>
          </p:cNvPicPr>
          <p:nvPr/>
        </p:nvPicPr>
        <p:blipFill>
          <a:blip r:embed="rId4"/>
          <a:stretch>
            <a:fillRect/>
          </a:stretch>
        </p:blipFill>
        <p:spPr>
          <a:xfrm>
            <a:off x="811049" y="2360647"/>
            <a:ext cx="3488062" cy="3455816"/>
          </a:xfrm>
          <a:prstGeom prst="rect">
            <a:avLst/>
          </a:prstGeom>
        </p:spPr>
      </p:pic>
      <p:pic>
        <p:nvPicPr>
          <p:cNvPr id="21" name="图片 20">
            <a:extLst>
              <a:ext uri="{FF2B5EF4-FFF2-40B4-BE49-F238E27FC236}">
                <a16:creationId xmlns:a16="http://schemas.microsoft.com/office/drawing/2014/main" id="{1D0040D8-7983-580B-CBDE-D8876674C7CB}"/>
              </a:ext>
            </a:extLst>
          </p:cNvPr>
          <p:cNvPicPr>
            <a:picLocks noChangeAspect="1"/>
          </p:cNvPicPr>
          <p:nvPr/>
        </p:nvPicPr>
        <p:blipFill>
          <a:blip r:embed="rId5"/>
          <a:srcRect l="18431" t="709" r="5841" b="6101"/>
          <a:stretch/>
        </p:blipFill>
        <p:spPr>
          <a:xfrm>
            <a:off x="4343894" y="2360647"/>
            <a:ext cx="3851451" cy="3424189"/>
          </a:xfrm>
          <a:prstGeom prst="rect">
            <a:avLst/>
          </a:prstGeom>
          <a:ln>
            <a:noFill/>
          </a:ln>
        </p:spPr>
      </p:pic>
      <p:sp>
        <p:nvSpPr>
          <p:cNvPr id="22" name="文本框 32">
            <a:extLst>
              <a:ext uri="{FF2B5EF4-FFF2-40B4-BE49-F238E27FC236}">
                <a16:creationId xmlns:a16="http://schemas.microsoft.com/office/drawing/2014/main" id="{524CB470-A853-9EF0-1588-4A43D812C78E}"/>
              </a:ext>
            </a:extLst>
          </p:cNvPr>
          <p:cNvSpPr txBox="1"/>
          <p:nvPr/>
        </p:nvSpPr>
        <p:spPr>
          <a:xfrm>
            <a:off x="5293968" y="1694884"/>
            <a:ext cx="1791799" cy="461665"/>
          </a:xfrm>
          <a:prstGeom prst="rect">
            <a:avLst/>
          </a:prstGeom>
          <a:noFill/>
        </p:spPr>
        <p:style>
          <a:lnRef idx="3">
            <a:schemeClr val="lt1"/>
          </a:lnRef>
          <a:fillRef idx="1">
            <a:schemeClr val="accent1"/>
          </a:fillRef>
          <a:effectRef idx="1">
            <a:schemeClr val="accent1"/>
          </a:effectRef>
          <a:fontRef idx="minor">
            <a:schemeClr val="lt1"/>
          </a:fontRef>
        </p:style>
        <p:txBody>
          <a:bodyPr wrap="square" rtlCol="0">
            <a:spAutoFit/>
          </a:bodyPr>
          <a:lstStyle>
            <a:defPPr>
              <a:defRPr lang="zh-CN"/>
            </a:defPPr>
            <a:lvl1pPr algn="l" rtl="0" fontAlgn="base">
              <a:spcBef>
                <a:spcPct val="0"/>
              </a:spcBef>
              <a:spcAft>
                <a:spcPct val="0"/>
              </a:spcAft>
              <a:defRPr kern="1200">
                <a:solidFill>
                  <a:schemeClr val="lt1"/>
                </a:solidFill>
                <a:latin typeface="+mn-lt"/>
                <a:ea typeface="+mn-ea"/>
                <a:cs typeface="+mn-cs"/>
              </a:defRPr>
            </a:lvl1pPr>
            <a:lvl2pPr marL="457200" algn="l" rtl="0" fontAlgn="base">
              <a:spcBef>
                <a:spcPct val="0"/>
              </a:spcBef>
              <a:spcAft>
                <a:spcPct val="0"/>
              </a:spcAft>
              <a:defRPr kern="1200">
                <a:solidFill>
                  <a:schemeClr val="lt1"/>
                </a:solidFill>
                <a:latin typeface="+mn-lt"/>
                <a:ea typeface="+mn-ea"/>
                <a:cs typeface="+mn-cs"/>
              </a:defRPr>
            </a:lvl2pPr>
            <a:lvl3pPr marL="914400" algn="l" rtl="0" fontAlgn="base">
              <a:spcBef>
                <a:spcPct val="0"/>
              </a:spcBef>
              <a:spcAft>
                <a:spcPct val="0"/>
              </a:spcAft>
              <a:defRPr kern="1200">
                <a:solidFill>
                  <a:schemeClr val="lt1"/>
                </a:solidFill>
                <a:latin typeface="+mn-lt"/>
                <a:ea typeface="+mn-ea"/>
                <a:cs typeface="+mn-cs"/>
              </a:defRPr>
            </a:lvl3pPr>
            <a:lvl4pPr marL="1371600" algn="l" rtl="0" fontAlgn="base">
              <a:spcBef>
                <a:spcPct val="0"/>
              </a:spcBef>
              <a:spcAft>
                <a:spcPct val="0"/>
              </a:spcAft>
              <a:defRPr kern="1200">
                <a:solidFill>
                  <a:schemeClr val="lt1"/>
                </a:solidFill>
                <a:latin typeface="+mn-lt"/>
                <a:ea typeface="+mn-ea"/>
                <a:cs typeface="+mn-cs"/>
              </a:defRPr>
            </a:lvl4pPr>
            <a:lvl5pPr marL="1828800" algn="l" rtl="0" fontAlgn="base">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r>
              <a:rPr lang="zh-CN" altLang="en-US" sz="2400" dirty="0">
                <a:solidFill>
                  <a:schemeClr val="tx1"/>
                </a:solidFill>
                <a:latin typeface="Times New Roman" panose="02020603050405020304" pitchFamily="18" charset="0"/>
                <a:ea typeface="微软雅黑" panose="020B0503020204020204" pitchFamily="34" charset="-122"/>
                <a:cs typeface="Times New Roman" panose="02020603050405020304" pitchFamily="18" charset="0"/>
              </a:rPr>
              <a:t>滞环、零偏</a:t>
            </a:r>
            <a:endParaRPr lang="en-US" altLang="zh-CN" sz="2400" dirty="0">
              <a:solidFill>
                <a:schemeClr val="tx1"/>
              </a:solidFill>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9" name="矩形 8">
            <a:extLst>
              <a:ext uri="{FF2B5EF4-FFF2-40B4-BE49-F238E27FC236}">
                <a16:creationId xmlns:a16="http://schemas.microsoft.com/office/drawing/2014/main" id="{93BEE099-AAA0-D88A-BB87-296524A320D1}"/>
              </a:ext>
            </a:extLst>
          </p:cNvPr>
          <p:cNvSpPr/>
          <p:nvPr/>
        </p:nvSpPr>
        <p:spPr>
          <a:xfrm>
            <a:off x="7577483" y="5214292"/>
            <a:ext cx="1145894" cy="98384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14" name="Content Placeholder 2">
            <a:extLst>
              <a:ext uri="{FF2B5EF4-FFF2-40B4-BE49-F238E27FC236}">
                <a16:creationId xmlns:a16="http://schemas.microsoft.com/office/drawing/2014/main" id="{48A0E96D-0408-C0D5-F2D7-F77ACDAE4C2B}"/>
              </a:ext>
            </a:extLst>
          </p:cNvPr>
          <p:cNvSpPr txBox="1"/>
          <p:nvPr/>
        </p:nvSpPr>
        <p:spPr bwMode="auto">
          <a:xfrm>
            <a:off x="751043" y="5969012"/>
            <a:ext cx="3188779" cy="409811"/>
          </a:xfrm>
          <a:prstGeom prst="rect">
            <a:avLst/>
          </a:prstGeom>
          <a:noFill/>
          <a:ln w="9525">
            <a:noFill/>
            <a:miter lim="800000"/>
          </a:ln>
        </p:spPr>
        <p:txBody>
          <a:bodyPr vert="horz" wrap="square" lIns="91440" tIns="45720" rIns="91440" bIns="45720" numCol="1" anchor="t" anchorCtr="0" compatLnSpc="1"/>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marL="0" indent="0" algn="ctr">
              <a:buNone/>
            </a:pPr>
            <a:r>
              <a:rPr lang="zh-CN" altLang="en-US" kern="0" dirty="0">
                <a:ea typeface="微软雅黑" panose="020B0503020204020204" pitchFamily="34" charset="-122"/>
                <a:cs typeface="Times New Roman" panose="02020603050405020304" pitchFamily="18" charset="0"/>
              </a:rPr>
              <a:t>额定电流、额定流量曲线</a:t>
            </a:r>
            <a:endParaRPr lang="en-US" altLang="zh-CN" kern="0" dirty="0">
              <a:ea typeface="微软雅黑" panose="020B0503020204020204" pitchFamily="34" charset="-122"/>
              <a:cs typeface="Times New Roman" panose="02020603050405020304" pitchFamily="18" charset="0"/>
            </a:endParaRPr>
          </a:p>
        </p:txBody>
      </p:sp>
      <p:sp>
        <p:nvSpPr>
          <p:cNvPr id="26" name="Content Placeholder 2">
            <a:extLst>
              <a:ext uri="{FF2B5EF4-FFF2-40B4-BE49-F238E27FC236}">
                <a16:creationId xmlns:a16="http://schemas.microsoft.com/office/drawing/2014/main" id="{673871A7-B277-C12C-4EE2-ED8D4BAEFC05}"/>
              </a:ext>
            </a:extLst>
          </p:cNvPr>
          <p:cNvSpPr txBox="1"/>
          <p:nvPr/>
        </p:nvSpPr>
        <p:spPr bwMode="auto">
          <a:xfrm>
            <a:off x="4456743" y="5951310"/>
            <a:ext cx="3520067" cy="409811"/>
          </a:xfrm>
          <a:prstGeom prst="rect">
            <a:avLst/>
          </a:prstGeom>
          <a:noFill/>
          <a:ln w="9525">
            <a:noFill/>
            <a:miter lim="800000"/>
          </a:ln>
        </p:spPr>
        <p:txBody>
          <a:bodyPr vert="horz" wrap="square" lIns="91440" tIns="45720" rIns="91440" bIns="45720" numCol="1" anchor="t" anchorCtr="0" compatLnSpc="1"/>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marL="0" indent="0" algn="ctr">
              <a:buNone/>
            </a:pPr>
            <a:r>
              <a:rPr lang="zh-CN" altLang="en-US" kern="0" dirty="0">
                <a:ea typeface="微软雅黑" panose="020B0503020204020204" pitchFamily="34" charset="-122"/>
                <a:cs typeface="Times New Roman" panose="02020603050405020304" pitchFamily="18" charset="0"/>
              </a:rPr>
              <a:t>滞环、零偏特性说明曲线</a:t>
            </a:r>
            <a:endParaRPr lang="en-US" altLang="zh-CN" kern="0" dirty="0">
              <a:ea typeface="微软雅黑" panose="020B0503020204020204" pitchFamily="34" charset="-122"/>
              <a:cs typeface="Times New Roman" panose="02020603050405020304" pitchFamily="18" charset="0"/>
            </a:endParaRPr>
          </a:p>
        </p:txBody>
      </p:sp>
      <p:pic>
        <p:nvPicPr>
          <p:cNvPr id="28" name="图片 27">
            <a:extLst>
              <a:ext uri="{FF2B5EF4-FFF2-40B4-BE49-F238E27FC236}">
                <a16:creationId xmlns:a16="http://schemas.microsoft.com/office/drawing/2014/main" id="{80264856-4B02-44DC-B2D8-10F710401A36}"/>
              </a:ext>
            </a:extLst>
          </p:cNvPr>
          <p:cNvPicPr>
            <a:picLocks noChangeAspect="1"/>
          </p:cNvPicPr>
          <p:nvPr/>
        </p:nvPicPr>
        <p:blipFill>
          <a:blip r:embed="rId6"/>
          <a:srcRect l="12014" t="4826" r="13421" b="5496"/>
          <a:stretch/>
        </p:blipFill>
        <p:spPr>
          <a:xfrm>
            <a:off x="8085477" y="2347127"/>
            <a:ext cx="3488062" cy="3513099"/>
          </a:xfrm>
          <a:prstGeom prst="rect">
            <a:avLst/>
          </a:prstGeom>
          <a:ln>
            <a:noFill/>
          </a:ln>
        </p:spPr>
      </p:pic>
      <p:sp>
        <p:nvSpPr>
          <p:cNvPr id="29" name="文本框 28">
            <a:extLst>
              <a:ext uri="{FF2B5EF4-FFF2-40B4-BE49-F238E27FC236}">
                <a16:creationId xmlns:a16="http://schemas.microsoft.com/office/drawing/2014/main" id="{25310166-B7DC-CE6E-4703-64984E982DDF}"/>
              </a:ext>
            </a:extLst>
          </p:cNvPr>
          <p:cNvSpPr txBox="1"/>
          <p:nvPr/>
        </p:nvSpPr>
        <p:spPr>
          <a:xfrm>
            <a:off x="8843329" y="1694680"/>
            <a:ext cx="2389971" cy="461665"/>
          </a:xfrm>
          <a:prstGeom prst="rect">
            <a:avLst/>
          </a:prstGeom>
          <a:noFill/>
        </p:spPr>
        <p:style>
          <a:lnRef idx="3">
            <a:schemeClr val="lt1"/>
          </a:lnRef>
          <a:fillRef idx="1">
            <a:schemeClr val="accent1"/>
          </a:fillRef>
          <a:effectRef idx="1">
            <a:schemeClr val="accent1"/>
          </a:effectRef>
          <a:fontRef idx="minor">
            <a:schemeClr val="lt1"/>
          </a:fontRef>
        </p:style>
        <p:txBody>
          <a:bodyPr wrap="square" rtlCol="0">
            <a:spAutoFit/>
          </a:bodyPr>
          <a:lstStyle>
            <a:defPPr>
              <a:defRPr lang="zh-CN"/>
            </a:defPPr>
            <a:lvl1pPr algn="l" rtl="0" fontAlgn="base">
              <a:spcBef>
                <a:spcPct val="0"/>
              </a:spcBef>
              <a:spcAft>
                <a:spcPct val="0"/>
              </a:spcAft>
              <a:defRPr kern="1200">
                <a:solidFill>
                  <a:schemeClr val="lt1"/>
                </a:solidFill>
                <a:latin typeface="+mn-lt"/>
                <a:ea typeface="+mn-ea"/>
                <a:cs typeface="+mn-cs"/>
              </a:defRPr>
            </a:lvl1pPr>
            <a:lvl2pPr marL="457200" algn="l" rtl="0" fontAlgn="base">
              <a:spcBef>
                <a:spcPct val="0"/>
              </a:spcBef>
              <a:spcAft>
                <a:spcPct val="0"/>
              </a:spcAft>
              <a:defRPr kern="1200">
                <a:solidFill>
                  <a:schemeClr val="lt1"/>
                </a:solidFill>
                <a:latin typeface="+mn-lt"/>
                <a:ea typeface="+mn-ea"/>
                <a:cs typeface="+mn-cs"/>
              </a:defRPr>
            </a:lvl2pPr>
            <a:lvl3pPr marL="914400" algn="l" rtl="0" fontAlgn="base">
              <a:spcBef>
                <a:spcPct val="0"/>
              </a:spcBef>
              <a:spcAft>
                <a:spcPct val="0"/>
              </a:spcAft>
              <a:defRPr kern="1200">
                <a:solidFill>
                  <a:schemeClr val="lt1"/>
                </a:solidFill>
                <a:latin typeface="+mn-lt"/>
                <a:ea typeface="+mn-ea"/>
                <a:cs typeface="+mn-cs"/>
              </a:defRPr>
            </a:lvl3pPr>
            <a:lvl4pPr marL="1371600" algn="l" rtl="0" fontAlgn="base">
              <a:spcBef>
                <a:spcPct val="0"/>
              </a:spcBef>
              <a:spcAft>
                <a:spcPct val="0"/>
              </a:spcAft>
              <a:defRPr kern="1200">
                <a:solidFill>
                  <a:schemeClr val="lt1"/>
                </a:solidFill>
                <a:latin typeface="+mn-lt"/>
                <a:ea typeface="+mn-ea"/>
                <a:cs typeface="+mn-cs"/>
              </a:defRPr>
            </a:lvl4pPr>
            <a:lvl5pPr marL="1828800" algn="l" rtl="0" fontAlgn="base">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r>
              <a:rPr lang="zh-CN" altLang="en-US" sz="2400" dirty="0">
                <a:solidFill>
                  <a:schemeClr val="tx1"/>
                </a:solidFill>
                <a:latin typeface="Times New Roman" panose="02020603050405020304" pitchFamily="18" charset="0"/>
                <a:ea typeface="微软雅黑" panose="020B0503020204020204" pitchFamily="34" charset="-122"/>
                <a:cs typeface="Times New Roman" panose="02020603050405020304" pitchFamily="18" charset="0"/>
              </a:rPr>
              <a:t>线性度、对称度</a:t>
            </a:r>
            <a:endParaRPr lang="en-US" altLang="zh-CN" sz="2400" dirty="0">
              <a:solidFill>
                <a:schemeClr val="tx1"/>
              </a:solidFill>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30" name="Content Placeholder 2">
            <a:extLst>
              <a:ext uri="{FF2B5EF4-FFF2-40B4-BE49-F238E27FC236}">
                <a16:creationId xmlns:a16="http://schemas.microsoft.com/office/drawing/2014/main" id="{634386E9-82FC-2682-94CA-0D7426FFFFBD}"/>
              </a:ext>
            </a:extLst>
          </p:cNvPr>
          <p:cNvSpPr txBox="1"/>
          <p:nvPr/>
        </p:nvSpPr>
        <p:spPr bwMode="auto">
          <a:xfrm>
            <a:off x="8370348" y="5934543"/>
            <a:ext cx="3203191" cy="409811"/>
          </a:xfrm>
          <a:prstGeom prst="rect">
            <a:avLst/>
          </a:prstGeom>
          <a:noFill/>
          <a:ln w="9525">
            <a:noFill/>
            <a:miter lim="800000"/>
          </a:ln>
        </p:spPr>
        <p:txBody>
          <a:bodyPr vert="horz" wrap="square" lIns="91440" tIns="45720" rIns="91440" bIns="45720" numCol="1" anchor="t" anchorCtr="0" compatLnSpc="1"/>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marL="0" indent="0" algn="ctr">
              <a:buNone/>
            </a:pPr>
            <a:r>
              <a:rPr lang="zh-CN" altLang="en-US" kern="0" dirty="0">
                <a:ea typeface="微软雅黑" panose="020B0503020204020204" pitchFamily="34" charset="-122"/>
                <a:cs typeface="Times New Roman" panose="02020603050405020304" pitchFamily="18" charset="0"/>
              </a:rPr>
              <a:t>线性度、对称度说明曲线</a:t>
            </a:r>
            <a:endParaRPr lang="en-US" altLang="zh-CN" kern="0" dirty="0">
              <a:ea typeface="微软雅黑" panose="020B0503020204020204" pitchFamily="34" charset="-122"/>
              <a:cs typeface="Times New Roman" panose="02020603050405020304" pitchFamily="18" charset="0"/>
            </a:endParaRPr>
          </a:p>
        </p:txBody>
      </p:sp>
      <p:sp>
        <p:nvSpPr>
          <p:cNvPr id="31" name="矩形 30">
            <a:extLst>
              <a:ext uri="{FF2B5EF4-FFF2-40B4-BE49-F238E27FC236}">
                <a16:creationId xmlns:a16="http://schemas.microsoft.com/office/drawing/2014/main" id="{2F2086AF-44D4-2108-B7E5-8A0298946D96}"/>
              </a:ext>
            </a:extLst>
          </p:cNvPr>
          <p:cNvSpPr/>
          <p:nvPr/>
        </p:nvSpPr>
        <p:spPr>
          <a:xfrm>
            <a:off x="9980436" y="5438885"/>
            <a:ext cx="603798" cy="41933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32" name="矩形 31">
            <a:extLst>
              <a:ext uri="{FF2B5EF4-FFF2-40B4-BE49-F238E27FC236}">
                <a16:creationId xmlns:a16="http://schemas.microsoft.com/office/drawing/2014/main" id="{B4D10F11-FD44-96B2-C03B-2BE446DA1251}"/>
              </a:ext>
            </a:extLst>
          </p:cNvPr>
          <p:cNvSpPr/>
          <p:nvPr/>
        </p:nvSpPr>
        <p:spPr>
          <a:xfrm>
            <a:off x="429656" y="893424"/>
            <a:ext cx="7547154" cy="581762"/>
          </a:xfrm>
          <a:prstGeom prst="rect">
            <a:avLst/>
          </a:prstGeom>
        </p:spPr>
        <p:txBody>
          <a:bodyPr wrap="square">
            <a:spAutoFit/>
          </a:bodyPr>
          <a:lstStyle/>
          <a:p>
            <a:pPr marL="457200" indent="-457200">
              <a:lnSpc>
                <a:spcPct val="125000"/>
              </a:lnSpc>
              <a:buFont typeface="Wingdings" panose="05000000000000000000" pitchFamily="2" charset="2"/>
              <a:buChar char="p"/>
            </a:pPr>
            <a:r>
              <a:rPr lang="zh-CN" altLang="en-US" sz="2800" b="1" dirty="0">
                <a:solidFill>
                  <a:srgbClr val="003F88"/>
                </a:solidFill>
                <a:latin typeface="微软雅黑" panose="020B0503020204020204" pitchFamily="34" charset="-122"/>
                <a:ea typeface="微软雅黑" panose="020B0503020204020204" pitchFamily="34" charset="-122"/>
              </a:rPr>
              <a:t>静态特性</a:t>
            </a:r>
          </a:p>
        </p:txBody>
      </p:sp>
    </p:spTree>
    <p:extLst>
      <p:ext uri="{BB962C8B-B14F-4D97-AF65-F5344CB8AC3E}">
        <p14:creationId xmlns:p14="http://schemas.microsoft.com/office/powerpoint/2010/main" val="17109860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微软雅黑" panose="020B0503020204020204" pitchFamily="34" charset="-122"/>
              <a:ea typeface="微软雅黑" panose="020B0503020204020204" pitchFamily="34" charset="-122"/>
            </a:endParaRPr>
          </a:p>
        </p:txBody>
      </p:sp>
      <p:sp>
        <p:nvSpPr>
          <p:cNvPr id="4" name="矩形 3">
            <a:extLst>
              <a:ext uri="{FF2B5EF4-FFF2-40B4-BE49-F238E27FC236}">
                <a16:creationId xmlns:a16="http://schemas.microsoft.com/office/drawing/2014/main" id="{1107951C-74BD-16D0-87D9-5F4CBF260C3D}"/>
              </a:ext>
            </a:extLst>
          </p:cNvPr>
          <p:cNvSpPr/>
          <p:nvPr/>
        </p:nvSpPr>
        <p:spPr>
          <a:xfrm>
            <a:off x="3443659" y="988652"/>
            <a:ext cx="1415772" cy="461665"/>
          </a:xfrm>
          <a:prstGeom prst="rect">
            <a:avLst/>
          </a:prstGeom>
          <a:noFill/>
        </p:spPr>
        <p:txBody>
          <a:bodyPr wrap="none" lIns="91440" tIns="45720" rIns="91440" bIns="4572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r>
              <a:rPr lang="zh-CN" altLang="en-US" sz="2400" b="1" dirty="0">
                <a:ln w="0"/>
                <a:latin typeface="微软雅黑" panose="020B0503020204020204" pitchFamily="34" charset="-122"/>
                <a:ea typeface="微软雅黑" panose="020B0503020204020204" pitchFamily="34" charset="-122"/>
              </a:rPr>
              <a:t>压力特性</a:t>
            </a:r>
            <a:endParaRPr lang="en-US" altLang="zh-CN" sz="2400" b="1" dirty="0">
              <a:ln w="0"/>
              <a:latin typeface="微软雅黑" panose="020B0503020204020204" pitchFamily="34" charset="-122"/>
              <a:ea typeface="微软雅黑" panose="020B0503020204020204" pitchFamily="34" charset="-122"/>
            </a:endParaRPr>
          </a:p>
        </p:txBody>
      </p:sp>
      <p:sp>
        <p:nvSpPr>
          <p:cNvPr id="11" name="矩形 10">
            <a:extLst>
              <a:ext uri="{FF2B5EF4-FFF2-40B4-BE49-F238E27FC236}">
                <a16:creationId xmlns:a16="http://schemas.microsoft.com/office/drawing/2014/main" id="{964087B5-9861-0D68-E36F-7457BD6402A5}"/>
              </a:ext>
            </a:extLst>
          </p:cNvPr>
          <p:cNvSpPr/>
          <p:nvPr/>
        </p:nvSpPr>
        <p:spPr>
          <a:xfrm>
            <a:off x="8288654" y="1372089"/>
            <a:ext cx="1210588" cy="400110"/>
          </a:xfrm>
          <a:prstGeom prst="rect">
            <a:avLst/>
          </a:prstGeom>
          <a:noFill/>
        </p:spPr>
        <p:txBody>
          <a:bodyPr wrap="none" lIns="91440" tIns="45720" rIns="91440" bIns="4572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algn="ctr"/>
            <a:r>
              <a:rPr lang="zh-CN" altLang="en-US" sz="2000" dirty="0">
                <a:ln w="0"/>
                <a:solidFill>
                  <a:srgbClr val="FF0000"/>
                </a:solidFill>
                <a:latin typeface="微软雅黑" panose="020B0503020204020204" pitchFamily="34" charset="-122"/>
                <a:ea typeface="微软雅黑" panose="020B0503020204020204" pitchFamily="34" charset="-122"/>
              </a:rPr>
              <a:t>压力增益</a:t>
            </a:r>
            <a:endParaRPr lang="zh-CN" altLang="en-US" sz="2000" b="0" cap="none" spc="0" dirty="0">
              <a:ln w="0"/>
              <a:solidFill>
                <a:srgbClr val="FF0000"/>
              </a:solidFill>
              <a:latin typeface="微软雅黑" panose="020B0503020204020204" pitchFamily="34" charset="-122"/>
              <a:ea typeface="微软雅黑" panose="020B0503020204020204" pitchFamily="34" charset="-122"/>
            </a:endParaRPr>
          </a:p>
        </p:txBody>
      </p:sp>
      <p:pic>
        <p:nvPicPr>
          <p:cNvPr id="17" name="图片 16">
            <a:extLst>
              <a:ext uri="{FF2B5EF4-FFF2-40B4-BE49-F238E27FC236}">
                <a16:creationId xmlns:a16="http://schemas.microsoft.com/office/drawing/2014/main" id="{B04CB0DB-74EA-CE46-5021-B774DDBF2F6B}"/>
              </a:ext>
            </a:extLst>
          </p:cNvPr>
          <p:cNvPicPr>
            <a:picLocks noChangeAspect="1"/>
          </p:cNvPicPr>
          <p:nvPr/>
        </p:nvPicPr>
        <p:blipFill>
          <a:blip r:embed="rId4"/>
          <a:stretch>
            <a:fillRect/>
          </a:stretch>
        </p:blipFill>
        <p:spPr>
          <a:xfrm>
            <a:off x="1597788" y="3033580"/>
            <a:ext cx="3113955" cy="3313324"/>
          </a:xfrm>
          <a:prstGeom prst="rect">
            <a:avLst/>
          </a:prstGeom>
        </p:spPr>
      </p:pic>
      <p:sp>
        <p:nvSpPr>
          <p:cNvPr id="18" name="文本框 12">
            <a:extLst>
              <a:ext uri="{FF2B5EF4-FFF2-40B4-BE49-F238E27FC236}">
                <a16:creationId xmlns:a16="http://schemas.microsoft.com/office/drawing/2014/main" id="{65CEFA6B-D4F2-79CA-0D39-D028AC1765C4}"/>
              </a:ext>
            </a:extLst>
          </p:cNvPr>
          <p:cNvSpPr txBox="1"/>
          <p:nvPr/>
        </p:nvSpPr>
        <p:spPr>
          <a:xfrm>
            <a:off x="1694939" y="6281946"/>
            <a:ext cx="3016804" cy="338554"/>
          </a:xfrm>
          <a:prstGeom prst="rect">
            <a:avLst/>
          </a:prstGeom>
          <a:noFill/>
        </p:spPr>
        <p:txBody>
          <a:bodyPr wrap="square" rtlCol="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algn="ctr"/>
            <a:r>
              <a:rPr lang="zh-CN" altLang="en-US" sz="1600" dirty="0">
                <a:latin typeface="微软雅黑" panose="020B0503020204020204" pitchFamily="34" charset="-122"/>
                <a:ea typeface="微软雅黑" panose="020B0503020204020204" pitchFamily="34" charset="-122"/>
                <a:cs typeface="Times New Roman" panose="02020603050405020304" pitchFamily="18" charset="0"/>
              </a:rPr>
              <a:t>伺服阀压力特性曲线</a:t>
            </a:r>
          </a:p>
        </p:txBody>
      </p:sp>
      <p:sp>
        <p:nvSpPr>
          <p:cNvPr id="20" name="文本框 13">
            <a:extLst>
              <a:ext uri="{FF2B5EF4-FFF2-40B4-BE49-F238E27FC236}">
                <a16:creationId xmlns:a16="http://schemas.microsoft.com/office/drawing/2014/main" id="{378E7FBF-6FF2-5771-9A2A-44A30227563D}"/>
              </a:ext>
            </a:extLst>
          </p:cNvPr>
          <p:cNvSpPr txBox="1"/>
          <p:nvPr/>
        </p:nvSpPr>
        <p:spPr>
          <a:xfrm>
            <a:off x="437196" y="1542906"/>
            <a:ext cx="5456728" cy="1422954"/>
          </a:xfrm>
          <a:prstGeom prst="rect">
            <a:avLst/>
          </a:prstGeom>
          <a:noFill/>
        </p:spPr>
        <p:txBody>
          <a:bodyPr wrap="square" rtlCol="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marL="285750" indent="-285750">
              <a:lnSpc>
                <a:spcPct val="150000"/>
              </a:lnSpc>
              <a:buFont typeface="Arial" panose="020B0604020202020204" pitchFamily="34" charset="0"/>
              <a:buChar char="•"/>
            </a:pPr>
            <a:r>
              <a:rPr lang="zh-CN" altLang="en-US" sz="2000" dirty="0">
                <a:latin typeface="微软雅黑" panose="020B0503020204020204" pitchFamily="34" charset="-122"/>
                <a:ea typeface="微软雅黑" panose="020B0503020204020204" pitchFamily="34" charset="-122"/>
              </a:rPr>
              <a:t>定义：输出流量为零（即将两负载口关闭）负载压降与输入控制信号呈回环状的函数</a:t>
            </a:r>
            <a:endParaRPr lang="en-US" altLang="zh-CN" sz="2000" dirty="0">
              <a:latin typeface="微软雅黑" panose="020B0503020204020204" pitchFamily="34" charset="-122"/>
              <a:ea typeface="微软雅黑" panose="020B0503020204020204" pitchFamily="34" charset="-122"/>
            </a:endParaRPr>
          </a:p>
          <a:p>
            <a:pPr marL="285750" indent="-285750">
              <a:lnSpc>
                <a:spcPct val="150000"/>
              </a:lnSpc>
              <a:buFont typeface="Arial" panose="020B0604020202020204" pitchFamily="34" charset="0"/>
              <a:buChar char="•"/>
            </a:pPr>
            <a:r>
              <a:rPr lang="zh-CN" altLang="en-US" sz="2000" dirty="0">
                <a:latin typeface="微软雅黑" panose="020B0503020204020204" pitchFamily="34" charset="-122"/>
                <a:ea typeface="微软雅黑" panose="020B0503020204020204" pitchFamily="34" charset="-122"/>
              </a:rPr>
              <a:t>影响伺服系统的</a:t>
            </a:r>
            <a:r>
              <a:rPr lang="zh-CN" altLang="en-US" sz="2000" dirty="0">
                <a:solidFill>
                  <a:srgbClr val="FF0000"/>
                </a:solidFill>
                <a:latin typeface="微软雅黑" panose="020B0503020204020204" pitchFamily="34" charset="-122"/>
                <a:ea typeface="微软雅黑" panose="020B0503020204020204" pitchFamily="34" charset="-122"/>
              </a:rPr>
              <a:t>承载能力</a:t>
            </a:r>
            <a:r>
              <a:rPr lang="zh-CN" altLang="en-US" sz="2000" dirty="0">
                <a:latin typeface="微软雅黑" panose="020B0503020204020204" pitchFamily="34" charset="-122"/>
                <a:ea typeface="微软雅黑" panose="020B0503020204020204" pitchFamily="34" charset="-122"/>
              </a:rPr>
              <a:t>和</a:t>
            </a:r>
            <a:r>
              <a:rPr lang="zh-CN" altLang="en-US" sz="2000" dirty="0">
                <a:solidFill>
                  <a:srgbClr val="FF0000"/>
                </a:solidFill>
                <a:latin typeface="微软雅黑" panose="020B0503020204020204" pitchFamily="34" charset="-122"/>
                <a:ea typeface="微软雅黑" panose="020B0503020204020204" pitchFamily="34" charset="-122"/>
              </a:rPr>
              <a:t>系统刚度</a:t>
            </a:r>
            <a:endParaRPr lang="en-US" altLang="zh-CN" sz="2000" dirty="0">
              <a:solidFill>
                <a:srgbClr val="FF0000"/>
              </a:solidFill>
              <a:latin typeface="微软雅黑" panose="020B0503020204020204" pitchFamily="34" charset="-122"/>
              <a:ea typeface="微软雅黑" panose="020B0503020204020204" pitchFamily="34" charset="-122"/>
            </a:endParaRPr>
          </a:p>
        </p:txBody>
      </p:sp>
      <p:sp>
        <p:nvSpPr>
          <p:cNvPr id="22" name="文本框 21">
            <a:extLst>
              <a:ext uri="{FF2B5EF4-FFF2-40B4-BE49-F238E27FC236}">
                <a16:creationId xmlns:a16="http://schemas.microsoft.com/office/drawing/2014/main" id="{64FA3F58-C8C5-4930-968F-9A08E5C306B5}"/>
              </a:ext>
            </a:extLst>
          </p:cNvPr>
          <p:cNvSpPr txBox="1"/>
          <p:nvPr/>
        </p:nvSpPr>
        <p:spPr>
          <a:xfrm>
            <a:off x="7144074" y="1756068"/>
            <a:ext cx="3646712" cy="453457"/>
          </a:xfrm>
          <a:prstGeom prst="rect">
            <a:avLst/>
          </a:prstGeom>
          <a:noFill/>
        </p:spPr>
        <p:txBody>
          <a:bodyPr wrap="square">
            <a:spAutoFit/>
          </a:bodyPr>
          <a:lstStyle/>
          <a:p>
            <a:pPr indent="432000">
              <a:lnSpc>
                <a:spcPct val="130000"/>
              </a:lnSpc>
            </a:pPr>
            <a:r>
              <a:rPr lang="zh-CN" altLang="en-US" sz="2000" dirty="0">
                <a:solidFill>
                  <a:srgbClr val="000000"/>
                </a:solidFill>
                <a:latin typeface="微软雅黑" panose="020B0503020204020204" pitchFamily="34" charset="-122"/>
                <a:ea typeface="微软雅黑" panose="020B0503020204020204" pitchFamily="34" charset="-122"/>
                <a:cs typeface="Times New Roman" panose="02020603050405020304" pitchFamily="18" charset="0"/>
              </a:rPr>
              <a:t>阀的流量压力增益定义为</a:t>
            </a:r>
            <a:endParaRPr lang="en-US" altLang="zh-CN" sz="2000" dirty="0">
              <a:solidFill>
                <a:srgbClr val="000000"/>
              </a:solidFill>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27" name="文本框 26">
            <a:extLst>
              <a:ext uri="{FF2B5EF4-FFF2-40B4-BE49-F238E27FC236}">
                <a16:creationId xmlns:a16="http://schemas.microsoft.com/office/drawing/2014/main" id="{482CDE00-3080-E739-4294-AE6B9A2C3D4A}"/>
              </a:ext>
            </a:extLst>
          </p:cNvPr>
          <p:cNvSpPr txBox="1"/>
          <p:nvPr/>
        </p:nvSpPr>
        <p:spPr>
          <a:xfrm>
            <a:off x="7144074" y="2960480"/>
            <a:ext cx="1146957" cy="453457"/>
          </a:xfrm>
          <a:prstGeom prst="rect">
            <a:avLst/>
          </a:prstGeom>
          <a:noFill/>
        </p:spPr>
        <p:txBody>
          <a:bodyPr wrap="square">
            <a:spAutoFit/>
          </a:bodyPr>
          <a:lstStyle/>
          <a:p>
            <a:pPr indent="432000">
              <a:lnSpc>
                <a:spcPct val="130000"/>
              </a:lnSpc>
            </a:pPr>
            <a:r>
              <a:rPr lang="zh-CN" altLang="en-US" sz="2000" dirty="0">
                <a:solidFill>
                  <a:srgbClr val="000000"/>
                </a:solidFill>
                <a:latin typeface="微软雅黑" panose="020B0503020204020204" pitchFamily="34" charset="-122"/>
                <a:ea typeface="微软雅黑" panose="020B0503020204020204" pitchFamily="34" charset="-122"/>
                <a:cs typeface="Times New Roman" panose="02020603050405020304" pitchFamily="18" charset="0"/>
              </a:rPr>
              <a:t>可得</a:t>
            </a:r>
            <a:endParaRPr lang="en-US" altLang="zh-CN" sz="2000" dirty="0">
              <a:solidFill>
                <a:srgbClr val="000000"/>
              </a:solidFill>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28" name="文本框 27">
            <a:extLst>
              <a:ext uri="{FF2B5EF4-FFF2-40B4-BE49-F238E27FC236}">
                <a16:creationId xmlns:a16="http://schemas.microsoft.com/office/drawing/2014/main" id="{3866C73C-0535-24C0-51AE-B7DE84DA5F24}"/>
              </a:ext>
            </a:extLst>
          </p:cNvPr>
          <p:cNvSpPr txBox="1"/>
          <p:nvPr/>
        </p:nvSpPr>
        <p:spPr>
          <a:xfrm>
            <a:off x="7336213" y="4201528"/>
            <a:ext cx="3262432" cy="307264"/>
          </a:xfrm>
          <a:prstGeom prst="rect">
            <a:avLst/>
          </a:prstGeom>
          <a:noFill/>
        </p:spPr>
        <p:txBody>
          <a:bodyPr wrap="square">
            <a:spAutoFit/>
          </a:bodyPr>
          <a:lstStyle/>
          <a:p>
            <a:pPr indent="266700">
              <a:lnSpc>
                <a:spcPts val="1575"/>
              </a:lnSpc>
            </a:pPr>
            <a:r>
              <a:rPr lang="zh-CN" altLang="en-US" sz="2000" dirty="0">
                <a:solidFill>
                  <a:srgbClr val="000000"/>
                </a:solidFill>
                <a:latin typeface="微软雅黑" panose="020B0503020204020204" pitchFamily="34" charset="-122"/>
                <a:ea typeface="微软雅黑" panose="020B0503020204020204" pitchFamily="34" charset="-122"/>
                <a:cs typeface="Times New Roman" panose="02020603050405020304" pitchFamily="18" charset="0"/>
              </a:rPr>
              <a:t>对理想零开口阀</a:t>
            </a:r>
          </a:p>
        </p:txBody>
      </p:sp>
      <p:sp>
        <p:nvSpPr>
          <p:cNvPr id="30" name="文本框 29">
            <a:extLst>
              <a:ext uri="{FF2B5EF4-FFF2-40B4-BE49-F238E27FC236}">
                <a16:creationId xmlns:a16="http://schemas.microsoft.com/office/drawing/2014/main" id="{89BF43EF-ED82-C321-CFC7-6E3B01EDD389}"/>
              </a:ext>
            </a:extLst>
          </p:cNvPr>
          <p:cNvSpPr txBox="1"/>
          <p:nvPr/>
        </p:nvSpPr>
        <p:spPr>
          <a:xfrm>
            <a:off x="6306540" y="5232210"/>
            <a:ext cx="5321777" cy="1422954"/>
          </a:xfrm>
          <a:prstGeom prst="rect">
            <a:avLst/>
          </a:prstGeom>
          <a:noFill/>
        </p:spPr>
        <p:txBody>
          <a:bodyPr wrap="square">
            <a:spAutoFit/>
          </a:bodyPr>
          <a:lstStyle/>
          <a:p>
            <a:pPr indent="360000">
              <a:lnSpc>
                <a:spcPct val="150000"/>
              </a:lnSpc>
            </a:pPr>
            <a:r>
              <a:rPr lang="zh-CN" altLang="en-US" sz="2000" dirty="0">
                <a:solidFill>
                  <a:srgbClr val="000000"/>
                </a:solidFill>
                <a:latin typeface="微软雅黑" panose="020B0503020204020204" pitchFamily="34" charset="-122"/>
                <a:ea typeface="微软雅黑" panose="020B0503020204020204" pitchFamily="34" charset="-122"/>
                <a:cs typeface="Times New Roman" panose="02020603050405020304" pitchFamily="18" charset="0"/>
              </a:rPr>
              <a:t>上述三个系数称为液压伺服阀的特性系数。这些系数不仅表示了液压伺服系统的静特性</a:t>
            </a:r>
            <a:r>
              <a:rPr lang="en-US" altLang="zh-CN" sz="2000" dirty="0">
                <a:solidFill>
                  <a:srgbClr val="000000"/>
                </a:solidFill>
                <a:latin typeface="微软雅黑" panose="020B0503020204020204" pitchFamily="34" charset="-122"/>
                <a:ea typeface="微软雅黑" panose="020B0503020204020204" pitchFamily="34" charset="-122"/>
                <a:cs typeface="Times New Roman" panose="02020603050405020304" pitchFamily="18" charset="0"/>
              </a:rPr>
              <a:t>,</a:t>
            </a:r>
            <a:r>
              <a:rPr lang="zh-CN" altLang="en-US" sz="2000" dirty="0">
                <a:solidFill>
                  <a:srgbClr val="000000"/>
                </a:solidFill>
                <a:latin typeface="微软雅黑" panose="020B0503020204020204" pitchFamily="34" charset="-122"/>
                <a:ea typeface="微软雅黑" panose="020B0503020204020204" pitchFamily="34" charset="-122"/>
                <a:cs typeface="Times New Roman" panose="02020603050405020304" pitchFamily="18" charset="0"/>
              </a:rPr>
              <a:t>而且在分析伺服系统的动特性时也非常重要。</a:t>
            </a:r>
          </a:p>
        </p:txBody>
      </p:sp>
      <p:cxnSp>
        <p:nvCxnSpPr>
          <p:cNvPr id="35" name="直接连接符 34">
            <a:extLst>
              <a:ext uri="{FF2B5EF4-FFF2-40B4-BE49-F238E27FC236}">
                <a16:creationId xmlns:a16="http://schemas.microsoft.com/office/drawing/2014/main" id="{65EC7884-839D-1521-2C54-DC918B995C81}"/>
              </a:ext>
            </a:extLst>
          </p:cNvPr>
          <p:cNvCxnSpPr/>
          <p:nvPr/>
        </p:nvCxnSpPr>
        <p:spPr>
          <a:xfrm>
            <a:off x="5893924" y="1501673"/>
            <a:ext cx="0" cy="4999456"/>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sp>
        <p:nvSpPr>
          <p:cNvPr id="36" name="矩形 35">
            <a:extLst>
              <a:ext uri="{FF2B5EF4-FFF2-40B4-BE49-F238E27FC236}">
                <a16:creationId xmlns:a16="http://schemas.microsoft.com/office/drawing/2014/main" id="{68573642-A6FB-EA50-B133-D565691A4A5A}"/>
              </a:ext>
            </a:extLst>
          </p:cNvPr>
          <p:cNvSpPr/>
          <p:nvPr/>
        </p:nvSpPr>
        <p:spPr>
          <a:xfrm>
            <a:off x="429656" y="893424"/>
            <a:ext cx="7547154" cy="581762"/>
          </a:xfrm>
          <a:prstGeom prst="rect">
            <a:avLst/>
          </a:prstGeom>
        </p:spPr>
        <p:txBody>
          <a:bodyPr wrap="square">
            <a:spAutoFit/>
          </a:bodyPr>
          <a:lstStyle/>
          <a:p>
            <a:pPr marL="457200" indent="-457200">
              <a:lnSpc>
                <a:spcPct val="125000"/>
              </a:lnSpc>
              <a:buFont typeface="Wingdings" panose="05000000000000000000" pitchFamily="2" charset="2"/>
              <a:buChar char="p"/>
            </a:pPr>
            <a:r>
              <a:rPr lang="zh-CN" altLang="en-US" sz="2800" b="1" dirty="0">
                <a:solidFill>
                  <a:srgbClr val="003F88"/>
                </a:solidFill>
                <a:latin typeface="微软雅黑" panose="020B0503020204020204" pitchFamily="34" charset="-122"/>
                <a:ea typeface="微软雅黑" panose="020B0503020204020204" pitchFamily="34" charset="-122"/>
              </a:rPr>
              <a:t>静态特性</a:t>
            </a:r>
          </a:p>
        </p:txBody>
      </p:sp>
      <p:graphicFrame>
        <p:nvGraphicFramePr>
          <p:cNvPr id="2" name="对象 1">
            <a:extLst>
              <a:ext uri="{FF2B5EF4-FFF2-40B4-BE49-F238E27FC236}">
                <a16:creationId xmlns:a16="http://schemas.microsoft.com/office/drawing/2014/main" id="{7DCE4A64-AF6C-C219-DEF1-596C65F6DF15}"/>
              </a:ext>
            </a:extLst>
          </p:cNvPr>
          <p:cNvGraphicFramePr>
            <a:graphicFrameLocks noChangeAspect="1"/>
          </p:cNvGraphicFramePr>
          <p:nvPr>
            <p:extLst>
              <p:ext uri="{D42A27DB-BD31-4B8C-83A1-F6EECF244321}">
                <p14:modId xmlns:p14="http://schemas.microsoft.com/office/powerpoint/2010/main" val="96331529"/>
              </p:ext>
            </p:extLst>
          </p:nvPr>
        </p:nvGraphicFramePr>
        <p:xfrm>
          <a:off x="8128000" y="2195513"/>
          <a:ext cx="2190750" cy="838200"/>
        </p:xfrm>
        <a:graphic>
          <a:graphicData uri="http://schemas.openxmlformats.org/presentationml/2006/ole">
            <mc:AlternateContent xmlns:mc="http://schemas.openxmlformats.org/markup-compatibility/2006">
              <mc:Choice xmlns:v="urn:schemas-microsoft-com:vml" Requires="v">
                <p:oleObj spid="_x0000_s4158" name="Equation" r:id="rId5" imgW="1130040" imgH="431640" progId="Equation.DSMT4">
                  <p:embed/>
                </p:oleObj>
              </mc:Choice>
              <mc:Fallback>
                <p:oleObj name="Equation" r:id="rId5" imgW="1130040" imgH="431640" progId="Equation.DSMT4">
                  <p:embed/>
                  <p:pic>
                    <p:nvPicPr>
                      <p:cNvPr id="0" name=""/>
                      <p:cNvPicPr/>
                      <p:nvPr/>
                    </p:nvPicPr>
                    <p:blipFill>
                      <a:blip r:embed="rId6"/>
                      <a:stretch>
                        <a:fillRect/>
                      </a:stretch>
                    </p:blipFill>
                    <p:spPr>
                      <a:xfrm>
                        <a:off x="8128000" y="2195513"/>
                        <a:ext cx="2190750" cy="838200"/>
                      </a:xfrm>
                      <a:prstGeom prst="rect">
                        <a:avLst/>
                      </a:prstGeom>
                    </p:spPr>
                  </p:pic>
                </p:oleObj>
              </mc:Fallback>
            </mc:AlternateContent>
          </a:graphicData>
        </a:graphic>
      </p:graphicFrame>
      <p:graphicFrame>
        <p:nvGraphicFramePr>
          <p:cNvPr id="3" name="对象 2">
            <a:extLst>
              <a:ext uri="{FF2B5EF4-FFF2-40B4-BE49-F238E27FC236}">
                <a16:creationId xmlns:a16="http://schemas.microsoft.com/office/drawing/2014/main" id="{39615FA1-0F8A-6C41-C666-70C22BCDB7DC}"/>
              </a:ext>
            </a:extLst>
          </p:cNvPr>
          <p:cNvGraphicFramePr>
            <a:graphicFrameLocks noChangeAspect="1"/>
          </p:cNvGraphicFramePr>
          <p:nvPr>
            <p:extLst>
              <p:ext uri="{D42A27DB-BD31-4B8C-83A1-F6EECF244321}">
                <p14:modId xmlns:p14="http://schemas.microsoft.com/office/powerpoint/2010/main" val="2322488757"/>
              </p:ext>
            </p:extLst>
          </p:nvPr>
        </p:nvGraphicFramePr>
        <p:xfrm>
          <a:off x="8694738" y="3286125"/>
          <a:ext cx="995362" cy="762000"/>
        </p:xfrm>
        <a:graphic>
          <a:graphicData uri="http://schemas.openxmlformats.org/presentationml/2006/ole">
            <mc:AlternateContent xmlns:mc="http://schemas.openxmlformats.org/markup-compatibility/2006">
              <mc:Choice xmlns:v="urn:schemas-microsoft-com:vml" Requires="v">
                <p:oleObj spid="_x0000_s4159" name="Equation" r:id="rId7" imgW="596880" imgH="457200" progId="Equation.DSMT4">
                  <p:embed/>
                </p:oleObj>
              </mc:Choice>
              <mc:Fallback>
                <p:oleObj name="Equation" r:id="rId7" imgW="596880" imgH="457200" progId="Equation.DSMT4">
                  <p:embed/>
                  <p:pic>
                    <p:nvPicPr>
                      <p:cNvPr id="0" name=""/>
                      <p:cNvPicPr/>
                      <p:nvPr/>
                    </p:nvPicPr>
                    <p:blipFill>
                      <a:blip r:embed="rId8"/>
                      <a:stretch>
                        <a:fillRect/>
                      </a:stretch>
                    </p:blipFill>
                    <p:spPr>
                      <a:xfrm>
                        <a:off x="8694738" y="3286125"/>
                        <a:ext cx="995362" cy="762000"/>
                      </a:xfrm>
                      <a:prstGeom prst="rect">
                        <a:avLst/>
                      </a:prstGeom>
                    </p:spPr>
                  </p:pic>
                </p:oleObj>
              </mc:Fallback>
            </mc:AlternateContent>
          </a:graphicData>
        </a:graphic>
      </p:graphicFrame>
      <p:graphicFrame>
        <p:nvGraphicFramePr>
          <p:cNvPr id="6" name="对象 5">
            <a:extLst>
              <a:ext uri="{FF2B5EF4-FFF2-40B4-BE49-F238E27FC236}">
                <a16:creationId xmlns:a16="http://schemas.microsoft.com/office/drawing/2014/main" id="{066AE878-3283-A35F-12E9-8A36521693C9}"/>
              </a:ext>
            </a:extLst>
          </p:cNvPr>
          <p:cNvGraphicFramePr>
            <a:graphicFrameLocks noChangeAspect="1"/>
          </p:cNvGraphicFramePr>
          <p:nvPr>
            <p:extLst>
              <p:ext uri="{D42A27DB-BD31-4B8C-83A1-F6EECF244321}">
                <p14:modId xmlns:p14="http://schemas.microsoft.com/office/powerpoint/2010/main" val="3438940103"/>
              </p:ext>
            </p:extLst>
          </p:nvPr>
        </p:nvGraphicFramePr>
        <p:xfrm>
          <a:off x="8250238" y="4508500"/>
          <a:ext cx="1885950" cy="855663"/>
        </p:xfrm>
        <a:graphic>
          <a:graphicData uri="http://schemas.openxmlformats.org/presentationml/2006/ole">
            <mc:AlternateContent xmlns:mc="http://schemas.openxmlformats.org/markup-compatibility/2006">
              <mc:Choice xmlns:v="urn:schemas-microsoft-com:vml" Requires="v">
                <p:oleObj spid="_x0000_s4160" name="Equation" r:id="rId9" imgW="1091880" imgH="495000" progId="Equation.DSMT4">
                  <p:embed/>
                </p:oleObj>
              </mc:Choice>
              <mc:Fallback>
                <p:oleObj name="Equation" r:id="rId9" imgW="1091880" imgH="495000" progId="Equation.DSMT4">
                  <p:embed/>
                  <p:pic>
                    <p:nvPicPr>
                      <p:cNvPr id="0" name=""/>
                      <p:cNvPicPr/>
                      <p:nvPr/>
                    </p:nvPicPr>
                    <p:blipFill>
                      <a:blip r:embed="rId10"/>
                      <a:stretch>
                        <a:fillRect/>
                      </a:stretch>
                    </p:blipFill>
                    <p:spPr>
                      <a:xfrm>
                        <a:off x="8250238" y="4508500"/>
                        <a:ext cx="1885950" cy="855663"/>
                      </a:xfrm>
                      <a:prstGeom prst="rect">
                        <a:avLst/>
                      </a:prstGeom>
                    </p:spPr>
                  </p:pic>
                </p:oleObj>
              </mc:Fallback>
            </mc:AlternateContent>
          </a:graphicData>
        </a:graphic>
      </p:graphicFrame>
      <p:sp>
        <p:nvSpPr>
          <p:cNvPr id="7" name="文本框 6">
            <a:extLst>
              <a:ext uri="{FF2B5EF4-FFF2-40B4-BE49-F238E27FC236}">
                <a16:creationId xmlns:a16="http://schemas.microsoft.com/office/drawing/2014/main" id="{5D2E91E6-DA34-ACD7-63C5-BFAE37BC3595}"/>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ea typeface="微软雅黑" panose="020B0503020204020204" pitchFamily="34" charset="-122"/>
                <a:cs typeface="Times New Roman" panose="02020603050405020304" pitchFamily="18" charset="0"/>
              </a:rPr>
              <a:t>10.4 </a:t>
            </a:r>
            <a:r>
              <a:rPr lang="zh-CN" altLang="en-US" sz="3600" b="1" dirty="0">
                <a:solidFill>
                  <a:srgbClr val="003F88"/>
                </a:solidFill>
                <a:latin typeface="Times New Roman" panose="02020603050405020304" pitchFamily="18" charset="0"/>
                <a:ea typeface="微软雅黑" panose="020B0503020204020204" pitchFamily="34" charset="-122"/>
                <a:cs typeface="Times New Roman" panose="02020603050405020304" pitchFamily="18" charset="0"/>
              </a:rPr>
              <a:t>特性分析</a:t>
            </a:r>
          </a:p>
        </p:txBody>
      </p:sp>
    </p:spTree>
    <p:extLst>
      <p:ext uri="{BB962C8B-B14F-4D97-AF65-F5344CB8AC3E}">
        <p14:creationId xmlns:p14="http://schemas.microsoft.com/office/powerpoint/2010/main" val="42613474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微软雅黑" panose="020B0503020204020204" pitchFamily="34" charset="-122"/>
              <a:ea typeface="微软雅黑" panose="020B0503020204020204" pitchFamily="34" charset="-122"/>
            </a:endParaRPr>
          </a:p>
        </p:txBody>
      </p:sp>
      <p:sp>
        <p:nvSpPr>
          <p:cNvPr id="2" name="矩形 1">
            <a:extLst>
              <a:ext uri="{FF2B5EF4-FFF2-40B4-BE49-F238E27FC236}">
                <a16:creationId xmlns:a16="http://schemas.microsoft.com/office/drawing/2014/main" id="{46480F30-5411-D4A0-DB2D-14F719D4BDF1}"/>
              </a:ext>
            </a:extLst>
          </p:cNvPr>
          <p:cNvSpPr/>
          <p:nvPr/>
        </p:nvSpPr>
        <p:spPr>
          <a:xfrm>
            <a:off x="3160357" y="949863"/>
            <a:ext cx="2339102" cy="461665"/>
          </a:xfrm>
          <a:prstGeom prst="rect">
            <a:avLst/>
          </a:prstGeom>
          <a:noFill/>
        </p:spPr>
        <p:txBody>
          <a:bodyPr wrap="none" lIns="91440" tIns="45720" rIns="91440" bIns="4572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r>
              <a:rPr lang="zh-CN" altLang="en-US" sz="2400" b="1" dirty="0">
                <a:ln w="0"/>
                <a:latin typeface="微软雅黑" panose="020B0503020204020204" pitchFamily="34" charset="-122"/>
                <a:ea typeface="微软雅黑" panose="020B0503020204020204" pitchFamily="34" charset="-122"/>
              </a:rPr>
              <a:t>伺服阀特性系数</a:t>
            </a:r>
            <a:endParaRPr lang="en-US" altLang="zh-CN" sz="2400" b="1" dirty="0">
              <a:ln w="0"/>
              <a:latin typeface="微软雅黑" panose="020B0503020204020204" pitchFamily="34" charset="-122"/>
              <a:ea typeface="微软雅黑" panose="020B0503020204020204" pitchFamily="34" charset="-122"/>
            </a:endParaRPr>
          </a:p>
        </p:txBody>
      </p:sp>
      <mc:AlternateContent xmlns:mc="http://schemas.openxmlformats.org/markup-compatibility/2006" xmlns:a14="http://schemas.microsoft.com/office/drawing/2010/main">
        <mc:Choice Requires="a14">
          <p:sp>
            <p:nvSpPr>
              <p:cNvPr id="3" name="文本框 18">
                <a:extLst>
                  <a:ext uri="{FF2B5EF4-FFF2-40B4-BE49-F238E27FC236}">
                    <a16:creationId xmlns:a16="http://schemas.microsoft.com/office/drawing/2014/main" id="{D12C47A1-DA73-5FAC-C5DA-B31AC9A72D25}"/>
                  </a:ext>
                </a:extLst>
              </p:cNvPr>
              <p:cNvSpPr txBox="1"/>
              <p:nvPr/>
            </p:nvSpPr>
            <p:spPr>
              <a:xfrm>
                <a:off x="1195872" y="1395971"/>
                <a:ext cx="8688908" cy="142295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defPPr>
                  <a:defRPr lang="zh-CN"/>
                </a:defPPr>
                <a:lvl1pPr algn="l" rtl="0" fontAlgn="base">
                  <a:spcBef>
                    <a:spcPct val="0"/>
                  </a:spcBef>
                  <a:spcAft>
                    <a:spcPct val="0"/>
                  </a:spcAft>
                  <a:defRPr kern="1200">
                    <a:solidFill>
                      <a:schemeClr val="dk1"/>
                    </a:solidFill>
                    <a:latin typeface="+mn-lt"/>
                    <a:ea typeface="+mn-ea"/>
                    <a:cs typeface="+mn-cs"/>
                  </a:defRPr>
                </a:lvl1pPr>
                <a:lvl2pPr marL="457200" algn="l" rtl="0" fontAlgn="base">
                  <a:spcBef>
                    <a:spcPct val="0"/>
                  </a:spcBef>
                  <a:spcAft>
                    <a:spcPct val="0"/>
                  </a:spcAft>
                  <a:defRPr kern="1200">
                    <a:solidFill>
                      <a:schemeClr val="dk1"/>
                    </a:solidFill>
                    <a:latin typeface="+mn-lt"/>
                    <a:ea typeface="+mn-ea"/>
                    <a:cs typeface="+mn-cs"/>
                  </a:defRPr>
                </a:lvl2pPr>
                <a:lvl3pPr marL="914400" algn="l" rtl="0" fontAlgn="base">
                  <a:spcBef>
                    <a:spcPct val="0"/>
                  </a:spcBef>
                  <a:spcAft>
                    <a:spcPct val="0"/>
                  </a:spcAft>
                  <a:defRPr kern="1200">
                    <a:solidFill>
                      <a:schemeClr val="dk1"/>
                    </a:solidFill>
                    <a:latin typeface="+mn-lt"/>
                    <a:ea typeface="+mn-ea"/>
                    <a:cs typeface="+mn-cs"/>
                  </a:defRPr>
                </a:lvl3pPr>
                <a:lvl4pPr marL="1371600" algn="l" rtl="0" fontAlgn="base">
                  <a:spcBef>
                    <a:spcPct val="0"/>
                  </a:spcBef>
                  <a:spcAft>
                    <a:spcPct val="0"/>
                  </a:spcAft>
                  <a:defRPr kern="1200">
                    <a:solidFill>
                      <a:schemeClr val="dk1"/>
                    </a:solidFill>
                    <a:latin typeface="+mn-lt"/>
                    <a:ea typeface="+mn-ea"/>
                    <a:cs typeface="+mn-cs"/>
                  </a:defRPr>
                </a:lvl4pPr>
                <a:lvl5pPr marL="1828800" algn="l" rtl="0" fontAlgn="base">
                  <a:spcBef>
                    <a:spcPct val="0"/>
                  </a:spcBef>
                  <a:spcAft>
                    <a:spcPct val="0"/>
                  </a:spcAft>
                  <a:defRPr kern="1200">
                    <a:solidFill>
                      <a:schemeClr val="dk1"/>
                    </a:solidFill>
                    <a:latin typeface="+mn-lt"/>
                    <a:ea typeface="+mn-ea"/>
                    <a:cs typeface="+mn-cs"/>
                  </a:defRPr>
                </a:lvl5pPr>
                <a:lvl6pPr marL="2286000" algn="l" defTabSz="914400" rtl="0" eaLnBrk="1" latinLnBrk="0" hangingPunct="1">
                  <a:defRPr kern="1200">
                    <a:solidFill>
                      <a:schemeClr val="dk1"/>
                    </a:solidFill>
                    <a:latin typeface="+mn-lt"/>
                    <a:ea typeface="+mn-ea"/>
                    <a:cs typeface="+mn-cs"/>
                  </a:defRPr>
                </a:lvl6pPr>
                <a:lvl7pPr marL="2743200" algn="l" defTabSz="914400" rtl="0" eaLnBrk="1" latinLnBrk="0" hangingPunct="1">
                  <a:defRPr kern="1200">
                    <a:solidFill>
                      <a:schemeClr val="dk1"/>
                    </a:solidFill>
                    <a:latin typeface="+mn-lt"/>
                    <a:ea typeface="+mn-ea"/>
                    <a:cs typeface="+mn-cs"/>
                  </a:defRPr>
                </a:lvl7pPr>
                <a:lvl8pPr marL="3200400" algn="l" defTabSz="914400" rtl="0" eaLnBrk="1" latinLnBrk="0" hangingPunct="1">
                  <a:defRPr kern="1200">
                    <a:solidFill>
                      <a:schemeClr val="dk1"/>
                    </a:solidFill>
                    <a:latin typeface="+mn-lt"/>
                    <a:ea typeface="+mn-ea"/>
                    <a:cs typeface="+mn-cs"/>
                  </a:defRPr>
                </a:lvl8pPr>
                <a:lvl9pPr marL="3657600" algn="l" defTabSz="914400" rtl="0" eaLnBrk="1" latinLnBrk="0" hangingPunct="1">
                  <a:defRPr kern="1200">
                    <a:solidFill>
                      <a:schemeClr val="dk1"/>
                    </a:solidFill>
                    <a:latin typeface="+mn-lt"/>
                    <a:ea typeface="+mn-ea"/>
                    <a:cs typeface="+mn-cs"/>
                  </a:defRPr>
                </a:lvl9pPr>
              </a:lstStyle>
              <a:p>
                <a:pPr marL="285750" indent="-285750">
                  <a:lnSpc>
                    <a:spcPct val="150000"/>
                  </a:lnSpc>
                  <a:buFont typeface="Arial" panose="020B0604020202020204" pitchFamily="34" charset="0"/>
                  <a:buChar char="•"/>
                </a:pPr>
                <a:r>
                  <a:rPr lang="zh-CN" altLang="en-US" sz="2000" dirty="0">
                    <a:solidFill>
                      <a:srgbClr val="00B0F0"/>
                    </a:solidFill>
                    <a:latin typeface="微软雅黑" panose="020B0503020204020204" pitchFamily="34" charset="-122"/>
                    <a:ea typeface="微软雅黑" panose="020B0503020204020204" pitchFamily="34" charset="-122"/>
                  </a:rPr>
                  <a:t>流量增益    </a:t>
                </a:r>
                <a14:m>
                  <m:oMath xmlns:m="http://schemas.openxmlformats.org/officeDocument/2006/math">
                    <m:r>
                      <a:rPr lang="zh-CN" altLang="en-US" sz="2000" i="1">
                        <a:latin typeface="Cambria Math" panose="02040503050406030204" pitchFamily="18" charset="0"/>
                        <a:ea typeface="黑体" panose="02010609060101010101" pitchFamily="49" charset="-122"/>
                      </a:rPr>
                      <m:t>：</m:t>
                    </m:r>
                  </m:oMath>
                </a14:m>
                <a:r>
                  <a:rPr lang="zh-CN" altLang="en-US" sz="2000" dirty="0">
                    <a:latin typeface="微软雅黑" panose="020B0503020204020204" pitchFamily="34" charset="-122"/>
                    <a:ea typeface="微软雅黑" panose="020B0503020204020204" pitchFamily="34" charset="-122"/>
                  </a:rPr>
                  <a:t>影响系统稳定性</a:t>
                </a:r>
                <a:endParaRPr lang="en-US" altLang="zh-CN" sz="2000" dirty="0">
                  <a:latin typeface="微软雅黑" panose="020B0503020204020204" pitchFamily="34" charset="-122"/>
                  <a:ea typeface="微软雅黑" panose="020B0503020204020204" pitchFamily="34" charset="-122"/>
                </a:endParaRPr>
              </a:p>
              <a:p>
                <a:pPr marL="285750" indent="-285750">
                  <a:lnSpc>
                    <a:spcPct val="150000"/>
                  </a:lnSpc>
                  <a:buFont typeface="Arial" panose="020B0604020202020204" pitchFamily="34" charset="0"/>
                  <a:buChar char="•"/>
                </a:pPr>
                <a:r>
                  <a:rPr lang="zh-CN" altLang="en-US" sz="2000" dirty="0">
                    <a:solidFill>
                      <a:srgbClr val="00B0F0"/>
                    </a:solidFill>
                    <a:latin typeface="微软雅黑" panose="020B0503020204020204" pitchFamily="34" charset="-122"/>
                    <a:ea typeface="微软雅黑" panose="020B0503020204020204" pitchFamily="34" charset="-122"/>
                  </a:rPr>
                  <a:t>流量</a:t>
                </a:r>
                <a:r>
                  <a:rPr lang="en-US" altLang="zh-CN" sz="2000" dirty="0">
                    <a:solidFill>
                      <a:srgbClr val="00B0F0"/>
                    </a:solidFill>
                    <a:latin typeface="微软雅黑" panose="020B0503020204020204" pitchFamily="34" charset="-122"/>
                    <a:ea typeface="微软雅黑" panose="020B0503020204020204" pitchFamily="34" charset="-122"/>
                  </a:rPr>
                  <a:t>-</a:t>
                </a:r>
                <a:r>
                  <a:rPr lang="zh-CN" altLang="en-US" sz="2000" dirty="0">
                    <a:solidFill>
                      <a:srgbClr val="00B0F0"/>
                    </a:solidFill>
                    <a:latin typeface="微软雅黑" panose="020B0503020204020204" pitchFamily="34" charset="-122"/>
                    <a:ea typeface="微软雅黑" panose="020B0503020204020204" pitchFamily="34" charset="-122"/>
                  </a:rPr>
                  <a:t>压力系数    </a:t>
                </a:r>
                <a:r>
                  <a:rPr lang="zh-CN" altLang="en-US" sz="2000" dirty="0">
                    <a:latin typeface="微软雅黑" panose="020B0503020204020204" pitchFamily="34" charset="-122"/>
                    <a:ea typeface="微软雅黑" panose="020B0503020204020204" pitchFamily="34" charset="-122"/>
                  </a:rPr>
                  <a:t>：影响系统阻尼比和系统刚度</a:t>
                </a:r>
                <a:endParaRPr lang="en-US" altLang="zh-CN" sz="2000" dirty="0">
                  <a:latin typeface="微软雅黑" panose="020B0503020204020204" pitchFamily="34" charset="-122"/>
                  <a:ea typeface="微软雅黑" panose="020B0503020204020204" pitchFamily="34" charset="-122"/>
                </a:endParaRPr>
              </a:p>
              <a:p>
                <a:pPr marL="285750" indent="-285750">
                  <a:lnSpc>
                    <a:spcPct val="150000"/>
                  </a:lnSpc>
                  <a:buFont typeface="Arial" panose="020B0604020202020204" pitchFamily="34" charset="0"/>
                  <a:buChar char="•"/>
                </a:pPr>
                <a:r>
                  <a:rPr lang="zh-CN" altLang="en-US" sz="2000" dirty="0">
                    <a:solidFill>
                      <a:srgbClr val="00B0F0"/>
                    </a:solidFill>
                    <a:latin typeface="微软雅黑" panose="020B0503020204020204" pitchFamily="34" charset="-122"/>
                    <a:ea typeface="微软雅黑" panose="020B0503020204020204" pitchFamily="34" charset="-122"/>
                  </a:rPr>
                  <a:t>压力增益    </a:t>
                </a:r>
                <a:r>
                  <a:rPr lang="zh-CN" altLang="en-US" sz="2000" dirty="0">
                    <a:latin typeface="微软雅黑" panose="020B0503020204020204" pitchFamily="34" charset="-122"/>
                    <a:ea typeface="微软雅黑" panose="020B0503020204020204" pitchFamily="34" charset="-122"/>
                  </a:rPr>
                  <a:t>：阀芯很小位移时系统起动较大负载能力，影响灵敏度</a:t>
                </a:r>
              </a:p>
            </p:txBody>
          </p:sp>
        </mc:Choice>
        <mc:Fallback xmlns="">
          <p:sp>
            <p:nvSpPr>
              <p:cNvPr id="3" name="文本框 18">
                <a:extLst>
                  <a:ext uri="{FF2B5EF4-FFF2-40B4-BE49-F238E27FC236}">
                    <a16:creationId xmlns:a16="http://schemas.microsoft.com/office/drawing/2014/main" id="{D12C47A1-DA73-5FAC-C5DA-B31AC9A72D25}"/>
                  </a:ext>
                </a:extLst>
              </p:cNvPr>
              <p:cNvSpPr txBox="1">
                <a:spLocks noRot="1" noChangeAspect="1" noMove="1" noResize="1" noEditPoints="1" noAdjustHandles="1" noChangeArrowheads="1" noChangeShapeType="1" noTextEdit="1"/>
              </p:cNvSpPr>
              <p:nvPr/>
            </p:nvSpPr>
            <p:spPr>
              <a:xfrm>
                <a:off x="1195872" y="1395971"/>
                <a:ext cx="8688908" cy="1422954"/>
              </a:xfrm>
              <a:prstGeom prst="rect">
                <a:avLst/>
              </a:prstGeom>
              <a:blipFill>
                <a:blip r:embed="rId4"/>
                <a:stretch>
                  <a:fillRect l="-560" b="-6383"/>
                </a:stretch>
              </a:blipFill>
              <a:ln>
                <a:solidFill>
                  <a:schemeClr val="bg1"/>
                </a:solidFill>
              </a:ln>
            </p:spPr>
            <p:txBody>
              <a:bodyPr/>
              <a:lstStyle/>
              <a:p>
                <a:r>
                  <a:rPr lang="zh-CN" altLang="en-US">
                    <a:noFill/>
                  </a:rPr>
                  <a:t> </a:t>
                </a:r>
              </a:p>
            </p:txBody>
          </p:sp>
        </mc:Fallback>
      </mc:AlternateContent>
      <p:sp>
        <p:nvSpPr>
          <p:cNvPr id="6" name="矩形 5">
            <a:extLst>
              <a:ext uri="{FF2B5EF4-FFF2-40B4-BE49-F238E27FC236}">
                <a16:creationId xmlns:a16="http://schemas.microsoft.com/office/drawing/2014/main" id="{3C9429DD-A8A0-196E-4324-38C872B47459}"/>
              </a:ext>
            </a:extLst>
          </p:cNvPr>
          <p:cNvSpPr/>
          <p:nvPr/>
        </p:nvSpPr>
        <p:spPr>
          <a:xfrm>
            <a:off x="1195872" y="2890563"/>
            <a:ext cx="4801314" cy="400110"/>
          </a:xfrm>
          <a:prstGeom prst="rect">
            <a:avLst/>
          </a:prstGeom>
          <a:noFill/>
        </p:spPr>
        <p:txBody>
          <a:bodyPr wrap="none" lIns="91440" tIns="45720" rIns="91440" bIns="4572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r>
              <a:rPr lang="zh-CN" altLang="en-US" sz="2000" dirty="0">
                <a:ln w="0"/>
                <a:latin typeface="微软雅黑" panose="020B0503020204020204" pitchFamily="34" charset="-122"/>
                <a:ea typeface="微软雅黑" panose="020B0503020204020204" pitchFamily="34" charset="-122"/>
              </a:rPr>
              <a:t>阀在原点附近的特性系数为</a:t>
            </a:r>
            <a:r>
              <a:rPr lang="zh-CN" altLang="en-US" sz="2000" dirty="0">
                <a:ln w="0"/>
                <a:solidFill>
                  <a:srgbClr val="FF0000"/>
                </a:solidFill>
                <a:latin typeface="微软雅黑" panose="020B0503020204020204" pitchFamily="34" charset="-122"/>
                <a:ea typeface="微软雅黑" panose="020B0503020204020204" pitchFamily="34" charset="-122"/>
              </a:rPr>
              <a:t>零位特性系数</a:t>
            </a:r>
            <a:endParaRPr lang="en-US" altLang="zh-CN" sz="2000" dirty="0">
              <a:ln w="0"/>
              <a:solidFill>
                <a:srgbClr val="FF0000"/>
              </a:solidFill>
              <a:latin typeface="微软雅黑" panose="020B0503020204020204" pitchFamily="34" charset="-122"/>
              <a:ea typeface="微软雅黑" panose="020B0503020204020204" pitchFamily="34" charset="-122"/>
            </a:endParaRPr>
          </a:p>
        </p:txBody>
      </p:sp>
      <p:sp>
        <p:nvSpPr>
          <p:cNvPr id="10" name="矩形 9">
            <a:extLst>
              <a:ext uri="{FF2B5EF4-FFF2-40B4-BE49-F238E27FC236}">
                <a16:creationId xmlns:a16="http://schemas.microsoft.com/office/drawing/2014/main" id="{6D2EC4C7-0FBA-3D8F-850C-0AF537E6E139}"/>
              </a:ext>
            </a:extLst>
          </p:cNvPr>
          <p:cNvSpPr/>
          <p:nvPr/>
        </p:nvSpPr>
        <p:spPr>
          <a:xfrm>
            <a:off x="738879" y="5641083"/>
            <a:ext cx="10928402" cy="961289"/>
          </a:xfrm>
          <a:prstGeom prst="rect">
            <a:avLst/>
          </a:prstGeom>
          <a:solidFill>
            <a:schemeClr val="bg1"/>
          </a:solidFill>
        </p:spPr>
        <p:txBody>
          <a:bodyPr wrap="square" lIns="91440" tIns="45720" rIns="91440" bIns="4572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a:lnSpc>
                <a:spcPct val="150000"/>
              </a:lnSpc>
            </a:pPr>
            <a:r>
              <a:rPr lang="zh-CN" altLang="en-US" sz="2000" dirty="0">
                <a:ln w="0"/>
                <a:solidFill>
                  <a:schemeClr val="tx1"/>
                </a:solidFill>
                <a:ea typeface="微软雅黑" panose="020B0503020204020204" pitchFamily="34" charset="-122"/>
                <a:cs typeface="Times New Roman" panose="02020603050405020304" pitchFamily="18" charset="0"/>
              </a:rPr>
              <a:t>表</a:t>
            </a:r>
            <a:r>
              <a:rPr lang="en-US" altLang="zh-CN" sz="2000" dirty="0">
                <a:ln w="0"/>
                <a:solidFill>
                  <a:schemeClr val="tx1"/>
                </a:solidFill>
                <a:ea typeface="微软雅黑" panose="020B0503020204020204" pitchFamily="34" charset="-122"/>
                <a:cs typeface="Times New Roman" panose="02020603050405020304" pitchFamily="18" charset="0"/>
              </a:rPr>
              <a:t>1</a:t>
            </a:r>
            <a:r>
              <a:rPr lang="zh-CN" altLang="en-US" sz="2000" dirty="0">
                <a:ln w="0"/>
                <a:solidFill>
                  <a:schemeClr val="tx1"/>
                </a:solidFill>
                <a:ea typeface="微软雅黑" panose="020B0503020204020204" pitchFamily="34" charset="-122"/>
                <a:cs typeface="Times New Roman" panose="02020603050405020304" pitchFamily="18" charset="0"/>
              </a:rPr>
              <a:t>中，单边滑阀和双边滑阀零位特性系数表达式是指其驱动的液压缸是小腔有效作用面积和大腔有效作用面积之比为</a:t>
            </a:r>
            <a:r>
              <a:rPr lang="en-US" altLang="zh-CN" sz="2000" dirty="0">
                <a:ln w="0"/>
                <a:solidFill>
                  <a:schemeClr val="tx1"/>
                </a:solidFill>
                <a:ea typeface="微软雅黑" panose="020B0503020204020204" pitchFamily="34" charset="-122"/>
                <a:cs typeface="Times New Roman" panose="02020603050405020304" pitchFamily="18" charset="0"/>
              </a:rPr>
              <a:t>0.5</a:t>
            </a:r>
            <a:r>
              <a:rPr lang="zh-CN" altLang="en-US" sz="2000" dirty="0">
                <a:ln w="0"/>
                <a:solidFill>
                  <a:schemeClr val="tx1"/>
                </a:solidFill>
                <a:ea typeface="微软雅黑" panose="020B0503020204020204" pitchFamily="34" charset="-122"/>
                <a:cs typeface="Times New Roman" panose="02020603050405020304" pitchFamily="18" charset="0"/>
              </a:rPr>
              <a:t>；单边滑阀     为平衡状态下开口量，正开口四边滑阀     为其预开口量</a:t>
            </a:r>
            <a:endParaRPr lang="en-US" altLang="zh-CN" sz="2000" dirty="0">
              <a:ln w="0"/>
              <a:solidFill>
                <a:schemeClr val="tx1"/>
              </a:solidFill>
              <a:ea typeface="微软雅黑" panose="020B0503020204020204" pitchFamily="34" charset="-122"/>
              <a:cs typeface="Times New Roman" panose="02020603050405020304" pitchFamily="18" charset="0"/>
            </a:endParaRPr>
          </a:p>
        </p:txBody>
      </p:sp>
      <p:pic>
        <p:nvPicPr>
          <p:cNvPr id="14" name="图片 13">
            <a:extLst>
              <a:ext uri="{FF2B5EF4-FFF2-40B4-BE49-F238E27FC236}">
                <a16:creationId xmlns:a16="http://schemas.microsoft.com/office/drawing/2014/main" id="{943DE830-3DC6-856D-73CD-DEC8BC754103}"/>
              </a:ext>
            </a:extLst>
          </p:cNvPr>
          <p:cNvPicPr>
            <a:picLocks noChangeAspect="1"/>
          </p:cNvPicPr>
          <p:nvPr/>
        </p:nvPicPr>
        <p:blipFill>
          <a:blip r:embed="rId5"/>
          <a:stretch>
            <a:fillRect/>
          </a:stretch>
        </p:blipFill>
        <p:spPr>
          <a:xfrm>
            <a:off x="2094373" y="3444577"/>
            <a:ext cx="8001348" cy="2136315"/>
          </a:xfrm>
          <a:prstGeom prst="rect">
            <a:avLst/>
          </a:prstGeom>
        </p:spPr>
      </p:pic>
      <p:sp>
        <p:nvSpPr>
          <p:cNvPr id="24" name="矩形 23">
            <a:extLst>
              <a:ext uri="{FF2B5EF4-FFF2-40B4-BE49-F238E27FC236}">
                <a16:creationId xmlns:a16="http://schemas.microsoft.com/office/drawing/2014/main" id="{26842687-C7F4-FD2F-26AB-AEFF571C4317}"/>
              </a:ext>
            </a:extLst>
          </p:cNvPr>
          <p:cNvSpPr/>
          <p:nvPr/>
        </p:nvSpPr>
        <p:spPr>
          <a:xfrm>
            <a:off x="4329908" y="3384386"/>
            <a:ext cx="3530279" cy="27648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微软雅黑" panose="020B0503020204020204" pitchFamily="34" charset="-122"/>
              <a:ea typeface="微软雅黑" panose="020B0503020204020204" pitchFamily="34" charset="-122"/>
            </a:endParaRPr>
          </a:p>
        </p:txBody>
      </p:sp>
      <p:sp>
        <p:nvSpPr>
          <p:cNvPr id="22" name="文本框 12">
            <a:extLst>
              <a:ext uri="{FF2B5EF4-FFF2-40B4-BE49-F238E27FC236}">
                <a16:creationId xmlns:a16="http://schemas.microsoft.com/office/drawing/2014/main" id="{9A44D623-82FA-B11F-C5D6-FBCF4C0BADBF}"/>
              </a:ext>
            </a:extLst>
          </p:cNvPr>
          <p:cNvSpPr txBox="1"/>
          <p:nvPr/>
        </p:nvSpPr>
        <p:spPr>
          <a:xfrm>
            <a:off x="4350341" y="3299044"/>
            <a:ext cx="3489412" cy="369332"/>
          </a:xfrm>
          <a:prstGeom prst="rect">
            <a:avLst/>
          </a:prstGeom>
          <a:noFill/>
        </p:spPr>
        <p:txBody>
          <a:bodyPr wrap="square" rtlCol="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r>
              <a:rPr lang="zh-CN" altLang="en-US" dirty="0">
                <a:latin typeface="微软雅黑" panose="020B0503020204020204" pitchFamily="34" charset="-122"/>
                <a:ea typeface="微软雅黑" panose="020B0503020204020204" pitchFamily="34" charset="-122"/>
                <a:cs typeface="Times New Roman" panose="02020603050405020304" pitchFamily="18" charset="0"/>
              </a:rPr>
              <a:t>表</a:t>
            </a:r>
            <a:r>
              <a:rPr lang="en-US" altLang="zh-CN" dirty="0">
                <a:latin typeface="微软雅黑" panose="020B0503020204020204" pitchFamily="34" charset="-122"/>
                <a:ea typeface="微软雅黑" panose="020B0503020204020204" pitchFamily="34" charset="-122"/>
                <a:cs typeface="Times New Roman" panose="02020603050405020304" pitchFamily="18" charset="0"/>
              </a:rPr>
              <a:t>1 </a:t>
            </a:r>
            <a:r>
              <a:rPr lang="zh-CN" altLang="en-US" dirty="0">
                <a:latin typeface="微软雅黑" panose="020B0503020204020204" pitchFamily="34" charset="-122"/>
                <a:ea typeface="微软雅黑" panose="020B0503020204020204" pitchFamily="34" charset="-122"/>
                <a:cs typeface="Times New Roman" panose="02020603050405020304" pitchFamily="18" charset="0"/>
              </a:rPr>
              <a:t>几种伺服阀的零位特性系数</a:t>
            </a:r>
          </a:p>
        </p:txBody>
      </p:sp>
      <p:sp>
        <p:nvSpPr>
          <p:cNvPr id="27" name="矩形 26">
            <a:extLst>
              <a:ext uri="{FF2B5EF4-FFF2-40B4-BE49-F238E27FC236}">
                <a16:creationId xmlns:a16="http://schemas.microsoft.com/office/drawing/2014/main" id="{84814727-32BC-8800-6826-8CFB598C5A1D}"/>
              </a:ext>
            </a:extLst>
          </p:cNvPr>
          <p:cNvSpPr/>
          <p:nvPr/>
        </p:nvSpPr>
        <p:spPr>
          <a:xfrm>
            <a:off x="429656" y="893424"/>
            <a:ext cx="7547154" cy="581762"/>
          </a:xfrm>
          <a:prstGeom prst="rect">
            <a:avLst/>
          </a:prstGeom>
        </p:spPr>
        <p:txBody>
          <a:bodyPr wrap="square">
            <a:spAutoFit/>
          </a:bodyPr>
          <a:lstStyle/>
          <a:p>
            <a:pPr marL="457200" indent="-457200">
              <a:lnSpc>
                <a:spcPct val="125000"/>
              </a:lnSpc>
              <a:buFont typeface="Wingdings" panose="05000000000000000000" pitchFamily="2" charset="2"/>
              <a:buChar char="p"/>
            </a:pPr>
            <a:r>
              <a:rPr lang="zh-CN" altLang="en-US" sz="2800" b="1" dirty="0">
                <a:solidFill>
                  <a:srgbClr val="003F88"/>
                </a:solidFill>
                <a:latin typeface="微软雅黑" panose="020B0503020204020204" pitchFamily="34" charset="-122"/>
                <a:ea typeface="微软雅黑" panose="020B0503020204020204" pitchFamily="34" charset="-122"/>
              </a:rPr>
              <a:t>静态特性</a:t>
            </a:r>
          </a:p>
        </p:txBody>
      </p:sp>
      <p:graphicFrame>
        <p:nvGraphicFramePr>
          <p:cNvPr id="4" name="对象 3">
            <a:extLst>
              <a:ext uri="{FF2B5EF4-FFF2-40B4-BE49-F238E27FC236}">
                <a16:creationId xmlns:a16="http://schemas.microsoft.com/office/drawing/2014/main" id="{804A7155-BF9C-EE05-8E9F-851ACCF16019}"/>
              </a:ext>
            </a:extLst>
          </p:cNvPr>
          <p:cNvGraphicFramePr>
            <a:graphicFrameLocks noChangeAspect="1"/>
          </p:cNvGraphicFramePr>
          <p:nvPr>
            <p:extLst>
              <p:ext uri="{D42A27DB-BD31-4B8C-83A1-F6EECF244321}">
                <p14:modId xmlns:p14="http://schemas.microsoft.com/office/powerpoint/2010/main" val="823253794"/>
              </p:ext>
            </p:extLst>
          </p:nvPr>
        </p:nvGraphicFramePr>
        <p:xfrm>
          <a:off x="2583611" y="1514810"/>
          <a:ext cx="333209" cy="411219"/>
        </p:xfrm>
        <a:graphic>
          <a:graphicData uri="http://schemas.openxmlformats.org/presentationml/2006/ole">
            <mc:AlternateContent xmlns:mc="http://schemas.openxmlformats.org/markup-compatibility/2006">
              <mc:Choice xmlns:v="urn:schemas-microsoft-com:vml" Requires="v">
                <p:oleObj spid="_x0000_s5217" name="Equation" r:id="rId6" imgW="215640" imgH="241200" progId="Equation.DSMT4">
                  <p:embed/>
                </p:oleObj>
              </mc:Choice>
              <mc:Fallback>
                <p:oleObj name="Equation" r:id="rId6" imgW="215640" imgH="241200" progId="Equation.DSMT4">
                  <p:embed/>
                  <p:pic>
                    <p:nvPicPr>
                      <p:cNvPr id="0" name=""/>
                      <p:cNvPicPr/>
                      <p:nvPr/>
                    </p:nvPicPr>
                    <p:blipFill>
                      <a:blip r:embed="rId7"/>
                      <a:stretch>
                        <a:fillRect/>
                      </a:stretch>
                    </p:blipFill>
                    <p:spPr>
                      <a:xfrm>
                        <a:off x="2583611" y="1514810"/>
                        <a:ext cx="333209" cy="411219"/>
                      </a:xfrm>
                      <a:prstGeom prst="rect">
                        <a:avLst/>
                      </a:prstGeom>
                    </p:spPr>
                  </p:pic>
                </p:oleObj>
              </mc:Fallback>
            </mc:AlternateContent>
          </a:graphicData>
        </a:graphic>
      </p:graphicFrame>
      <p:graphicFrame>
        <p:nvGraphicFramePr>
          <p:cNvPr id="7" name="对象 6">
            <a:extLst>
              <a:ext uri="{FF2B5EF4-FFF2-40B4-BE49-F238E27FC236}">
                <a16:creationId xmlns:a16="http://schemas.microsoft.com/office/drawing/2014/main" id="{D43A9627-97A7-72EC-225E-8FC9C9CC2EDC}"/>
              </a:ext>
            </a:extLst>
          </p:cNvPr>
          <p:cNvGraphicFramePr>
            <a:graphicFrameLocks noChangeAspect="1"/>
          </p:cNvGraphicFramePr>
          <p:nvPr>
            <p:extLst>
              <p:ext uri="{D42A27DB-BD31-4B8C-83A1-F6EECF244321}">
                <p14:modId xmlns:p14="http://schemas.microsoft.com/office/powerpoint/2010/main" val="147764594"/>
              </p:ext>
            </p:extLst>
          </p:nvPr>
        </p:nvGraphicFramePr>
        <p:xfrm>
          <a:off x="3235523" y="1989308"/>
          <a:ext cx="316854" cy="356461"/>
        </p:xfrm>
        <a:graphic>
          <a:graphicData uri="http://schemas.openxmlformats.org/presentationml/2006/ole">
            <mc:AlternateContent xmlns:mc="http://schemas.openxmlformats.org/markup-compatibility/2006">
              <mc:Choice xmlns:v="urn:schemas-microsoft-com:vml" Requires="v">
                <p:oleObj spid="_x0000_s5218" name="Equation" r:id="rId8" imgW="203040" imgH="228600" progId="Equation.DSMT4">
                  <p:embed/>
                </p:oleObj>
              </mc:Choice>
              <mc:Fallback>
                <p:oleObj name="Equation" r:id="rId8" imgW="203040" imgH="228600" progId="Equation.DSMT4">
                  <p:embed/>
                  <p:pic>
                    <p:nvPicPr>
                      <p:cNvPr id="0" name=""/>
                      <p:cNvPicPr/>
                      <p:nvPr/>
                    </p:nvPicPr>
                    <p:blipFill>
                      <a:blip r:embed="rId9"/>
                      <a:stretch>
                        <a:fillRect/>
                      </a:stretch>
                    </p:blipFill>
                    <p:spPr>
                      <a:xfrm>
                        <a:off x="3235523" y="1989308"/>
                        <a:ext cx="316854" cy="356461"/>
                      </a:xfrm>
                      <a:prstGeom prst="rect">
                        <a:avLst/>
                      </a:prstGeom>
                    </p:spPr>
                  </p:pic>
                </p:oleObj>
              </mc:Fallback>
            </mc:AlternateContent>
          </a:graphicData>
        </a:graphic>
      </p:graphicFrame>
      <p:graphicFrame>
        <p:nvGraphicFramePr>
          <p:cNvPr id="9" name="对象 8">
            <a:extLst>
              <a:ext uri="{FF2B5EF4-FFF2-40B4-BE49-F238E27FC236}">
                <a16:creationId xmlns:a16="http://schemas.microsoft.com/office/drawing/2014/main" id="{21B66D04-F352-248A-FA2B-8C8FDD2281CB}"/>
              </a:ext>
            </a:extLst>
          </p:cNvPr>
          <p:cNvGraphicFramePr>
            <a:graphicFrameLocks noChangeAspect="1"/>
          </p:cNvGraphicFramePr>
          <p:nvPr>
            <p:extLst>
              <p:ext uri="{D42A27DB-BD31-4B8C-83A1-F6EECF244321}">
                <p14:modId xmlns:p14="http://schemas.microsoft.com/office/powerpoint/2010/main" val="4204090158"/>
              </p:ext>
            </p:extLst>
          </p:nvPr>
        </p:nvGraphicFramePr>
        <p:xfrm>
          <a:off x="2583612" y="2439129"/>
          <a:ext cx="333208" cy="372409"/>
        </p:xfrm>
        <a:graphic>
          <a:graphicData uri="http://schemas.openxmlformats.org/presentationml/2006/ole">
            <mc:AlternateContent xmlns:mc="http://schemas.openxmlformats.org/markup-compatibility/2006">
              <mc:Choice xmlns:v="urn:schemas-microsoft-com:vml" Requires="v">
                <p:oleObj spid="_x0000_s5219" name="Equation" r:id="rId10" imgW="215640" imgH="241200" progId="Equation.DSMT4">
                  <p:embed/>
                </p:oleObj>
              </mc:Choice>
              <mc:Fallback>
                <p:oleObj name="Equation" r:id="rId10" imgW="215640" imgH="241200" progId="Equation.DSMT4">
                  <p:embed/>
                  <p:pic>
                    <p:nvPicPr>
                      <p:cNvPr id="0" name=""/>
                      <p:cNvPicPr/>
                      <p:nvPr/>
                    </p:nvPicPr>
                    <p:blipFill>
                      <a:blip r:embed="rId11"/>
                      <a:stretch>
                        <a:fillRect/>
                      </a:stretch>
                    </p:blipFill>
                    <p:spPr>
                      <a:xfrm>
                        <a:off x="2583612" y="2439129"/>
                        <a:ext cx="333208" cy="372409"/>
                      </a:xfrm>
                      <a:prstGeom prst="rect">
                        <a:avLst/>
                      </a:prstGeom>
                    </p:spPr>
                  </p:pic>
                </p:oleObj>
              </mc:Fallback>
            </mc:AlternateContent>
          </a:graphicData>
        </a:graphic>
      </p:graphicFrame>
      <p:graphicFrame>
        <p:nvGraphicFramePr>
          <p:cNvPr id="11" name="对象 10">
            <a:extLst>
              <a:ext uri="{FF2B5EF4-FFF2-40B4-BE49-F238E27FC236}">
                <a16:creationId xmlns:a16="http://schemas.microsoft.com/office/drawing/2014/main" id="{21C1F29F-9FBD-940B-1C6A-782D7A99B8EB}"/>
              </a:ext>
            </a:extLst>
          </p:cNvPr>
          <p:cNvGraphicFramePr>
            <a:graphicFrameLocks noChangeAspect="1"/>
          </p:cNvGraphicFramePr>
          <p:nvPr>
            <p:extLst>
              <p:ext uri="{D42A27DB-BD31-4B8C-83A1-F6EECF244321}">
                <p14:modId xmlns:p14="http://schemas.microsoft.com/office/powerpoint/2010/main" val="3206631824"/>
              </p:ext>
            </p:extLst>
          </p:nvPr>
        </p:nvGraphicFramePr>
        <p:xfrm>
          <a:off x="4957857" y="6165628"/>
          <a:ext cx="360704" cy="401403"/>
        </p:xfrm>
        <a:graphic>
          <a:graphicData uri="http://schemas.openxmlformats.org/presentationml/2006/ole">
            <mc:AlternateContent xmlns:mc="http://schemas.openxmlformats.org/markup-compatibility/2006">
              <mc:Choice xmlns:v="urn:schemas-microsoft-com:vml" Requires="v">
                <p:oleObj spid="_x0000_s5220" name="Equation" r:id="rId12" imgW="215640" imgH="228600" progId="Equation.DSMT4">
                  <p:embed/>
                </p:oleObj>
              </mc:Choice>
              <mc:Fallback>
                <p:oleObj name="Equation" r:id="rId12" imgW="215640" imgH="228600" progId="Equation.DSMT4">
                  <p:embed/>
                  <p:pic>
                    <p:nvPicPr>
                      <p:cNvPr id="0" name=""/>
                      <p:cNvPicPr/>
                      <p:nvPr/>
                    </p:nvPicPr>
                    <p:blipFill>
                      <a:blip r:embed="rId13"/>
                      <a:stretch>
                        <a:fillRect/>
                      </a:stretch>
                    </p:blipFill>
                    <p:spPr>
                      <a:xfrm>
                        <a:off x="4957857" y="6165628"/>
                        <a:ext cx="360704" cy="401403"/>
                      </a:xfrm>
                      <a:prstGeom prst="rect">
                        <a:avLst/>
                      </a:prstGeom>
                    </p:spPr>
                  </p:pic>
                </p:oleObj>
              </mc:Fallback>
            </mc:AlternateContent>
          </a:graphicData>
        </a:graphic>
      </p:graphicFrame>
      <p:graphicFrame>
        <p:nvGraphicFramePr>
          <p:cNvPr id="12" name="对象 11">
            <a:extLst>
              <a:ext uri="{FF2B5EF4-FFF2-40B4-BE49-F238E27FC236}">
                <a16:creationId xmlns:a16="http://schemas.microsoft.com/office/drawing/2014/main" id="{6063D841-4080-4208-C4AE-D695238DEA56}"/>
              </a:ext>
            </a:extLst>
          </p:cNvPr>
          <p:cNvGraphicFramePr>
            <a:graphicFrameLocks noChangeAspect="1"/>
          </p:cNvGraphicFramePr>
          <p:nvPr>
            <p:extLst>
              <p:ext uri="{D42A27DB-BD31-4B8C-83A1-F6EECF244321}">
                <p14:modId xmlns:p14="http://schemas.microsoft.com/office/powerpoint/2010/main" val="3853081214"/>
              </p:ext>
            </p:extLst>
          </p:nvPr>
        </p:nvGraphicFramePr>
        <p:xfrm>
          <a:off x="9583835" y="6165628"/>
          <a:ext cx="361950" cy="403225"/>
        </p:xfrm>
        <a:graphic>
          <a:graphicData uri="http://schemas.openxmlformats.org/presentationml/2006/ole">
            <mc:AlternateContent xmlns:mc="http://schemas.openxmlformats.org/markup-compatibility/2006">
              <mc:Choice xmlns:v="urn:schemas-microsoft-com:vml" Requires="v">
                <p:oleObj spid="_x0000_s5221" name="Equation" r:id="rId14" imgW="361467" imgH="402494" progId="Equation.DSMT4">
                  <p:embed/>
                </p:oleObj>
              </mc:Choice>
              <mc:Fallback>
                <p:oleObj name="Equation" r:id="rId14" imgW="361467" imgH="402494" progId="Equation.DSMT4">
                  <p:embed/>
                  <p:pic>
                    <p:nvPicPr>
                      <p:cNvPr id="0" name=""/>
                      <p:cNvPicPr/>
                      <p:nvPr/>
                    </p:nvPicPr>
                    <p:blipFill>
                      <a:blip r:embed="rId15"/>
                      <a:stretch>
                        <a:fillRect/>
                      </a:stretch>
                    </p:blipFill>
                    <p:spPr>
                      <a:xfrm>
                        <a:off x="9583835" y="6165628"/>
                        <a:ext cx="361950" cy="403225"/>
                      </a:xfrm>
                      <a:prstGeom prst="rect">
                        <a:avLst/>
                      </a:prstGeom>
                    </p:spPr>
                  </p:pic>
                </p:oleObj>
              </mc:Fallback>
            </mc:AlternateContent>
          </a:graphicData>
        </a:graphic>
      </p:graphicFrame>
      <p:sp>
        <p:nvSpPr>
          <p:cNvPr id="15" name="文本框 14">
            <a:extLst>
              <a:ext uri="{FF2B5EF4-FFF2-40B4-BE49-F238E27FC236}">
                <a16:creationId xmlns:a16="http://schemas.microsoft.com/office/drawing/2014/main" id="{C7BDBBF6-1500-075B-F8C2-AF43B8F35AA5}"/>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ea typeface="微软雅黑" panose="020B0503020204020204" pitchFamily="34" charset="-122"/>
                <a:cs typeface="Times New Roman" panose="02020603050405020304" pitchFamily="18" charset="0"/>
              </a:rPr>
              <a:t>10.4 </a:t>
            </a:r>
            <a:r>
              <a:rPr lang="zh-CN" altLang="en-US" sz="3600" b="1" dirty="0">
                <a:solidFill>
                  <a:srgbClr val="003F88"/>
                </a:solidFill>
                <a:latin typeface="Times New Roman" panose="02020603050405020304" pitchFamily="18" charset="0"/>
                <a:ea typeface="微软雅黑" panose="020B0503020204020204" pitchFamily="34" charset="-122"/>
                <a:cs typeface="Times New Roman" panose="02020603050405020304" pitchFamily="18" charset="0"/>
              </a:rPr>
              <a:t>特性分析</a:t>
            </a:r>
          </a:p>
        </p:txBody>
      </p:sp>
    </p:spTree>
    <p:extLst>
      <p:ext uri="{BB962C8B-B14F-4D97-AF65-F5344CB8AC3E}">
        <p14:creationId xmlns:p14="http://schemas.microsoft.com/office/powerpoint/2010/main" val="605058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endParaRPr lang="zh-CN" altLang="en-US">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12" name="矩形 11">
            <a:extLst>
              <a:ext uri="{FF2B5EF4-FFF2-40B4-BE49-F238E27FC236}">
                <a16:creationId xmlns:a16="http://schemas.microsoft.com/office/drawing/2014/main" id="{3FC9C1DC-2F96-7110-4CA8-2687212D1843}"/>
              </a:ext>
            </a:extLst>
          </p:cNvPr>
          <p:cNvSpPr/>
          <p:nvPr/>
        </p:nvSpPr>
        <p:spPr>
          <a:xfrm>
            <a:off x="2988013" y="893648"/>
            <a:ext cx="1723549" cy="581057"/>
          </a:xfrm>
          <a:prstGeom prst="rect">
            <a:avLst/>
          </a:prstGeom>
          <a:noFill/>
        </p:spPr>
        <p:txBody>
          <a:bodyPr wrap="none" lIns="91440" tIns="45720" rIns="91440" bIns="4572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a:lnSpc>
                <a:spcPct val="150000"/>
              </a:lnSpc>
            </a:pPr>
            <a:r>
              <a:rPr lang="zh-CN" altLang="en-US" sz="2400" b="1" dirty="0">
                <a:ln w="0"/>
                <a:ea typeface="微软雅黑" panose="020B0503020204020204" pitchFamily="34" charset="-122"/>
                <a:cs typeface="Times New Roman" panose="02020603050405020304" pitchFamily="18" charset="0"/>
              </a:rPr>
              <a:t>内泄漏特性</a:t>
            </a:r>
            <a:endParaRPr lang="en-US" altLang="zh-CN" sz="2400" b="1" dirty="0">
              <a:ln w="0"/>
              <a:ea typeface="微软雅黑" panose="020B0503020204020204" pitchFamily="34" charset="-122"/>
              <a:cs typeface="Times New Roman" panose="02020603050405020304" pitchFamily="18" charset="0"/>
            </a:endParaRPr>
          </a:p>
        </p:txBody>
      </p:sp>
      <p:pic>
        <p:nvPicPr>
          <p:cNvPr id="14" name="图片 13">
            <a:extLst>
              <a:ext uri="{FF2B5EF4-FFF2-40B4-BE49-F238E27FC236}">
                <a16:creationId xmlns:a16="http://schemas.microsoft.com/office/drawing/2014/main" id="{336A0243-AC43-B497-E6CD-B2D1F4B4B0D7}"/>
              </a:ext>
            </a:extLst>
          </p:cNvPr>
          <p:cNvPicPr>
            <a:picLocks noChangeAspect="1"/>
          </p:cNvPicPr>
          <p:nvPr/>
        </p:nvPicPr>
        <p:blipFill>
          <a:blip r:embed="rId5"/>
          <a:stretch>
            <a:fillRect/>
          </a:stretch>
        </p:blipFill>
        <p:spPr>
          <a:xfrm>
            <a:off x="732502" y="3555760"/>
            <a:ext cx="4410075" cy="2447925"/>
          </a:xfrm>
          <a:prstGeom prst="rect">
            <a:avLst/>
          </a:prstGeom>
        </p:spPr>
      </p:pic>
      <p:sp>
        <p:nvSpPr>
          <p:cNvPr id="15" name="文本框 8">
            <a:extLst>
              <a:ext uri="{FF2B5EF4-FFF2-40B4-BE49-F238E27FC236}">
                <a16:creationId xmlns:a16="http://schemas.microsoft.com/office/drawing/2014/main" id="{2F7531D6-3A23-D981-B69A-73BC366BD1C5}"/>
              </a:ext>
            </a:extLst>
          </p:cNvPr>
          <p:cNvSpPr txBox="1"/>
          <p:nvPr/>
        </p:nvSpPr>
        <p:spPr>
          <a:xfrm>
            <a:off x="398096" y="1479767"/>
            <a:ext cx="4850398" cy="2346283"/>
          </a:xfrm>
          <a:prstGeom prst="rect">
            <a:avLst/>
          </a:prstGeom>
          <a:noFill/>
        </p:spPr>
        <p:txBody>
          <a:bodyPr wrap="square" rtlCol="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marL="285750" indent="-285750">
              <a:lnSpc>
                <a:spcPct val="150000"/>
              </a:lnSpc>
              <a:buFont typeface="Arial" panose="020B0604020202020204" pitchFamily="34" charset="0"/>
              <a:buChar char="•"/>
            </a:pPr>
            <a:r>
              <a:rPr lang="zh-CN" altLang="en-US" sz="2000" dirty="0">
                <a:ea typeface="微软雅黑" panose="020B0503020204020204" pitchFamily="34" charset="-122"/>
                <a:cs typeface="Times New Roman" panose="02020603050405020304" pitchFamily="18" charset="0"/>
              </a:rPr>
              <a:t>定义：输出流量为零，回油口流出的内泄漏量，也叫</a:t>
            </a:r>
            <a:r>
              <a:rPr lang="zh-CN" altLang="en-US" sz="2000" dirty="0">
                <a:solidFill>
                  <a:srgbClr val="00B0F0"/>
                </a:solidFill>
                <a:ea typeface="微软雅黑" panose="020B0503020204020204" pitchFamily="34" charset="-122"/>
                <a:cs typeface="Times New Roman" panose="02020603050405020304" pitchFamily="18" charset="0"/>
              </a:rPr>
              <a:t>静耗流量</a:t>
            </a:r>
            <a:endParaRPr lang="en-US" altLang="zh-CN" sz="2000" dirty="0">
              <a:solidFill>
                <a:srgbClr val="00B0F0"/>
              </a:solidFill>
              <a:ea typeface="微软雅黑" panose="020B0503020204020204" pitchFamily="34"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sz="2000" dirty="0">
                <a:ea typeface="微软雅黑" panose="020B0503020204020204" pitchFamily="34" charset="-122"/>
                <a:cs typeface="Times New Roman" panose="02020603050405020304" pitchFamily="18" charset="0"/>
              </a:rPr>
              <a:t>特点：随输入电流变化，零位时最大</a:t>
            </a:r>
            <a:endParaRPr lang="en-US" altLang="zh-CN" sz="2000" dirty="0">
              <a:ea typeface="微软雅黑" panose="020B0503020204020204" pitchFamily="34"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sz="2000" dirty="0">
                <a:ea typeface="微软雅黑" panose="020B0503020204020204" pitchFamily="34" charset="-122"/>
                <a:cs typeface="Times New Roman" panose="02020603050405020304" pitchFamily="18" charset="0"/>
              </a:rPr>
              <a:t>作用：衡量新阀制造质量，反映旧阀磨损情况</a:t>
            </a:r>
            <a:endParaRPr lang="en-US" altLang="zh-CN" sz="2000" dirty="0">
              <a:solidFill>
                <a:schemeClr val="accent2"/>
              </a:solidFill>
              <a:ea typeface="微软雅黑" panose="020B0503020204020204" pitchFamily="34" charset="-122"/>
              <a:cs typeface="Times New Roman" panose="02020603050405020304" pitchFamily="18" charset="0"/>
            </a:endParaRPr>
          </a:p>
        </p:txBody>
      </p:sp>
      <p:sp>
        <p:nvSpPr>
          <p:cNvPr id="16" name="文本框 3">
            <a:extLst>
              <a:ext uri="{FF2B5EF4-FFF2-40B4-BE49-F238E27FC236}">
                <a16:creationId xmlns:a16="http://schemas.microsoft.com/office/drawing/2014/main" id="{EC08A089-29D0-ACE2-80B6-1A8F8CD9AB9F}"/>
              </a:ext>
            </a:extLst>
          </p:cNvPr>
          <p:cNvSpPr txBox="1"/>
          <p:nvPr/>
        </p:nvSpPr>
        <p:spPr>
          <a:xfrm>
            <a:off x="1319514" y="6105968"/>
            <a:ext cx="3196039" cy="458908"/>
          </a:xfrm>
          <a:prstGeom prst="rect">
            <a:avLst/>
          </a:prstGeom>
          <a:noFill/>
        </p:spPr>
        <p:txBody>
          <a:bodyPr wrap="square" rtlCol="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algn="ctr">
              <a:lnSpc>
                <a:spcPct val="150000"/>
              </a:lnSpc>
            </a:pPr>
            <a:r>
              <a:rPr lang="zh-CN" altLang="en-US" dirty="0">
                <a:ea typeface="微软雅黑" panose="020B0503020204020204" pitchFamily="34" charset="-122"/>
                <a:cs typeface="Times New Roman" panose="02020603050405020304" pitchFamily="18" charset="0"/>
              </a:rPr>
              <a:t>阀的内泄漏特性曲线</a:t>
            </a:r>
          </a:p>
        </p:txBody>
      </p:sp>
      <p:cxnSp>
        <p:nvCxnSpPr>
          <p:cNvPr id="17" name="直接连接符 16">
            <a:extLst>
              <a:ext uri="{FF2B5EF4-FFF2-40B4-BE49-F238E27FC236}">
                <a16:creationId xmlns:a16="http://schemas.microsoft.com/office/drawing/2014/main" id="{2222B4C5-C6FC-E8C1-C787-7F6EC783A3B2}"/>
              </a:ext>
            </a:extLst>
          </p:cNvPr>
          <p:cNvCxnSpPr/>
          <p:nvPr/>
        </p:nvCxnSpPr>
        <p:spPr>
          <a:xfrm>
            <a:off x="4361406" y="4703692"/>
            <a:ext cx="0" cy="576064"/>
          </a:xfrm>
          <a:prstGeom prst="line">
            <a:avLst/>
          </a:prstGeom>
          <a:ln>
            <a:prstDash val="sysDash"/>
            <a:headEnd type="arrow"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305202CB-22FA-E5CF-73CD-17FAABAE90EA}"/>
              </a:ext>
            </a:extLst>
          </p:cNvPr>
          <p:cNvCxnSpPr/>
          <p:nvPr/>
        </p:nvCxnSpPr>
        <p:spPr>
          <a:xfrm>
            <a:off x="2651649" y="4703692"/>
            <a:ext cx="1709757" cy="0"/>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65DC2CF6-AF19-AFBB-C80B-61EAC6EFDE16}"/>
              </a:ext>
            </a:extLst>
          </p:cNvPr>
          <p:cNvCxnSpPr/>
          <p:nvPr/>
        </p:nvCxnSpPr>
        <p:spPr>
          <a:xfrm>
            <a:off x="2003577" y="5279756"/>
            <a:ext cx="0" cy="216024"/>
          </a:xfrm>
          <a:prstGeom prst="line">
            <a:avLst/>
          </a:prstGeom>
          <a:ln>
            <a:prstDash val="sysDash"/>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20" name="文本框 19">
            <a:extLst>
              <a:ext uri="{FF2B5EF4-FFF2-40B4-BE49-F238E27FC236}">
                <a16:creationId xmlns:a16="http://schemas.microsoft.com/office/drawing/2014/main" id="{3F4C74C0-F86B-E543-3CB4-36258F07FEA0}"/>
              </a:ext>
            </a:extLst>
          </p:cNvPr>
          <p:cNvSpPr txBox="1"/>
          <p:nvPr/>
        </p:nvSpPr>
        <p:spPr>
          <a:xfrm>
            <a:off x="3760190" y="4793880"/>
            <a:ext cx="1368556" cy="336695"/>
          </a:xfrm>
          <a:prstGeom prst="rect">
            <a:avLst/>
          </a:prstGeom>
          <a:ln w="12700">
            <a:solidFill>
              <a:srgbClr val="FF0000"/>
            </a:solidFill>
          </a:ln>
        </p:spPr>
        <p:style>
          <a:lnRef idx="2">
            <a:schemeClr val="accent5"/>
          </a:lnRef>
          <a:fillRef idx="1">
            <a:schemeClr val="lt1"/>
          </a:fillRef>
          <a:effectRef idx="0">
            <a:schemeClr val="accent5"/>
          </a:effectRef>
          <a:fontRef idx="minor">
            <a:schemeClr val="dk1"/>
          </a:fontRef>
        </p:style>
        <p:txBody>
          <a:bodyPr wrap="square" rtlCol="0">
            <a:spAutoFit/>
          </a:bodyPr>
          <a:lstStyle>
            <a:defPPr>
              <a:defRPr lang="zh-CN"/>
            </a:defPPr>
            <a:lvl1pPr algn="l" rtl="0" fontAlgn="base">
              <a:spcBef>
                <a:spcPct val="0"/>
              </a:spcBef>
              <a:spcAft>
                <a:spcPct val="0"/>
              </a:spcAft>
              <a:defRPr kern="1200">
                <a:solidFill>
                  <a:schemeClr val="dk1"/>
                </a:solidFill>
                <a:latin typeface="+mn-lt"/>
                <a:ea typeface="+mn-ea"/>
                <a:cs typeface="+mn-cs"/>
              </a:defRPr>
            </a:lvl1pPr>
            <a:lvl2pPr marL="457200" algn="l" rtl="0" fontAlgn="base">
              <a:spcBef>
                <a:spcPct val="0"/>
              </a:spcBef>
              <a:spcAft>
                <a:spcPct val="0"/>
              </a:spcAft>
              <a:defRPr kern="1200">
                <a:solidFill>
                  <a:schemeClr val="dk1"/>
                </a:solidFill>
                <a:latin typeface="+mn-lt"/>
                <a:ea typeface="+mn-ea"/>
                <a:cs typeface="+mn-cs"/>
              </a:defRPr>
            </a:lvl2pPr>
            <a:lvl3pPr marL="914400" algn="l" rtl="0" fontAlgn="base">
              <a:spcBef>
                <a:spcPct val="0"/>
              </a:spcBef>
              <a:spcAft>
                <a:spcPct val="0"/>
              </a:spcAft>
              <a:defRPr kern="1200">
                <a:solidFill>
                  <a:schemeClr val="dk1"/>
                </a:solidFill>
                <a:latin typeface="+mn-lt"/>
                <a:ea typeface="+mn-ea"/>
                <a:cs typeface="+mn-cs"/>
              </a:defRPr>
            </a:lvl3pPr>
            <a:lvl4pPr marL="1371600" algn="l" rtl="0" fontAlgn="base">
              <a:spcBef>
                <a:spcPct val="0"/>
              </a:spcBef>
              <a:spcAft>
                <a:spcPct val="0"/>
              </a:spcAft>
              <a:defRPr kern="1200">
                <a:solidFill>
                  <a:schemeClr val="dk1"/>
                </a:solidFill>
                <a:latin typeface="+mn-lt"/>
                <a:ea typeface="+mn-ea"/>
                <a:cs typeface="+mn-cs"/>
              </a:defRPr>
            </a:lvl4pPr>
            <a:lvl5pPr marL="1828800" algn="l" rtl="0" fontAlgn="base">
              <a:spcBef>
                <a:spcPct val="0"/>
              </a:spcBef>
              <a:spcAft>
                <a:spcPct val="0"/>
              </a:spcAft>
              <a:defRPr kern="1200">
                <a:solidFill>
                  <a:schemeClr val="dk1"/>
                </a:solidFill>
                <a:latin typeface="+mn-lt"/>
                <a:ea typeface="+mn-ea"/>
                <a:cs typeface="+mn-cs"/>
              </a:defRPr>
            </a:lvl5pPr>
            <a:lvl6pPr marL="2286000" algn="l" defTabSz="914400" rtl="0" eaLnBrk="1" latinLnBrk="0" hangingPunct="1">
              <a:defRPr kern="1200">
                <a:solidFill>
                  <a:schemeClr val="dk1"/>
                </a:solidFill>
                <a:latin typeface="+mn-lt"/>
                <a:ea typeface="+mn-ea"/>
                <a:cs typeface="+mn-cs"/>
              </a:defRPr>
            </a:lvl6pPr>
            <a:lvl7pPr marL="2743200" algn="l" defTabSz="914400" rtl="0" eaLnBrk="1" latinLnBrk="0" hangingPunct="1">
              <a:defRPr kern="1200">
                <a:solidFill>
                  <a:schemeClr val="dk1"/>
                </a:solidFill>
                <a:latin typeface="+mn-lt"/>
                <a:ea typeface="+mn-ea"/>
                <a:cs typeface="+mn-cs"/>
              </a:defRPr>
            </a:lvl7pPr>
            <a:lvl8pPr marL="3200400" algn="l" defTabSz="914400" rtl="0" eaLnBrk="1" latinLnBrk="0" hangingPunct="1">
              <a:defRPr kern="1200">
                <a:solidFill>
                  <a:schemeClr val="dk1"/>
                </a:solidFill>
                <a:latin typeface="+mn-lt"/>
                <a:ea typeface="+mn-ea"/>
                <a:cs typeface="+mn-cs"/>
              </a:defRPr>
            </a:lvl8pPr>
            <a:lvl9pPr marL="3657600" algn="l" defTabSz="914400" rtl="0" eaLnBrk="1" latinLnBrk="0" hangingPunct="1">
              <a:defRPr kern="1200">
                <a:solidFill>
                  <a:schemeClr val="dk1"/>
                </a:solidFill>
                <a:latin typeface="+mn-lt"/>
                <a:ea typeface="+mn-ea"/>
                <a:cs typeface="+mn-cs"/>
              </a:defRPr>
            </a:lvl9pPr>
          </a:lstStyle>
          <a:p>
            <a:pPr algn="ctr">
              <a:lnSpc>
                <a:spcPct val="150000"/>
              </a:lnSpc>
            </a:pPr>
            <a:r>
              <a:rPr lang="zh-CN" altLang="en-US" sz="1200" dirty="0">
                <a:solidFill>
                  <a:srgbClr val="FF0000"/>
                </a:solidFill>
                <a:latin typeface="Times New Roman" panose="02020603050405020304" pitchFamily="18" charset="0"/>
                <a:ea typeface="微软雅黑" panose="020B0503020204020204" pitchFamily="34" charset="-122"/>
                <a:cs typeface="Times New Roman" panose="02020603050405020304" pitchFamily="18" charset="0"/>
              </a:rPr>
              <a:t>功率级泄漏流量</a:t>
            </a:r>
          </a:p>
        </p:txBody>
      </p:sp>
      <p:sp>
        <p:nvSpPr>
          <p:cNvPr id="21" name="文本框 20">
            <a:extLst>
              <a:ext uri="{FF2B5EF4-FFF2-40B4-BE49-F238E27FC236}">
                <a16:creationId xmlns:a16="http://schemas.microsoft.com/office/drawing/2014/main" id="{2BF1F934-D30E-8C4E-5774-A560ABBF7D58}"/>
              </a:ext>
            </a:extLst>
          </p:cNvPr>
          <p:cNvSpPr txBox="1"/>
          <p:nvPr/>
        </p:nvSpPr>
        <p:spPr>
          <a:xfrm>
            <a:off x="808627" y="4622518"/>
            <a:ext cx="1271829" cy="336695"/>
          </a:xfrm>
          <a:prstGeom prst="rect">
            <a:avLst/>
          </a:prstGeom>
          <a:ln w="12700">
            <a:solidFill>
              <a:srgbClr val="FF0000"/>
            </a:solidFill>
          </a:ln>
        </p:spPr>
        <p:style>
          <a:lnRef idx="2">
            <a:schemeClr val="accent5"/>
          </a:lnRef>
          <a:fillRef idx="1">
            <a:schemeClr val="lt1"/>
          </a:fillRef>
          <a:effectRef idx="0">
            <a:schemeClr val="accent5"/>
          </a:effectRef>
          <a:fontRef idx="minor">
            <a:schemeClr val="dk1"/>
          </a:fontRef>
        </p:style>
        <p:txBody>
          <a:bodyPr wrap="square" rtlCol="0">
            <a:spAutoFit/>
          </a:bodyPr>
          <a:lstStyle>
            <a:defPPr>
              <a:defRPr lang="zh-CN"/>
            </a:defPPr>
            <a:lvl1pPr algn="l" rtl="0" fontAlgn="base">
              <a:spcBef>
                <a:spcPct val="0"/>
              </a:spcBef>
              <a:spcAft>
                <a:spcPct val="0"/>
              </a:spcAft>
              <a:defRPr kern="1200">
                <a:solidFill>
                  <a:schemeClr val="dk1"/>
                </a:solidFill>
                <a:latin typeface="+mn-lt"/>
                <a:ea typeface="+mn-ea"/>
                <a:cs typeface="+mn-cs"/>
              </a:defRPr>
            </a:lvl1pPr>
            <a:lvl2pPr marL="457200" algn="l" rtl="0" fontAlgn="base">
              <a:spcBef>
                <a:spcPct val="0"/>
              </a:spcBef>
              <a:spcAft>
                <a:spcPct val="0"/>
              </a:spcAft>
              <a:defRPr kern="1200">
                <a:solidFill>
                  <a:schemeClr val="dk1"/>
                </a:solidFill>
                <a:latin typeface="+mn-lt"/>
                <a:ea typeface="+mn-ea"/>
                <a:cs typeface="+mn-cs"/>
              </a:defRPr>
            </a:lvl2pPr>
            <a:lvl3pPr marL="914400" algn="l" rtl="0" fontAlgn="base">
              <a:spcBef>
                <a:spcPct val="0"/>
              </a:spcBef>
              <a:spcAft>
                <a:spcPct val="0"/>
              </a:spcAft>
              <a:defRPr kern="1200">
                <a:solidFill>
                  <a:schemeClr val="dk1"/>
                </a:solidFill>
                <a:latin typeface="+mn-lt"/>
                <a:ea typeface="+mn-ea"/>
                <a:cs typeface="+mn-cs"/>
              </a:defRPr>
            </a:lvl3pPr>
            <a:lvl4pPr marL="1371600" algn="l" rtl="0" fontAlgn="base">
              <a:spcBef>
                <a:spcPct val="0"/>
              </a:spcBef>
              <a:spcAft>
                <a:spcPct val="0"/>
              </a:spcAft>
              <a:defRPr kern="1200">
                <a:solidFill>
                  <a:schemeClr val="dk1"/>
                </a:solidFill>
                <a:latin typeface="+mn-lt"/>
                <a:ea typeface="+mn-ea"/>
                <a:cs typeface="+mn-cs"/>
              </a:defRPr>
            </a:lvl4pPr>
            <a:lvl5pPr marL="1828800" algn="l" rtl="0" fontAlgn="base">
              <a:spcBef>
                <a:spcPct val="0"/>
              </a:spcBef>
              <a:spcAft>
                <a:spcPct val="0"/>
              </a:spcAft>
              <a:defRPr kern="1200">
                <a:solidFill>
                  <a:schemeClr val="dk1"/>
                </a:solidFill>
                <a:latin typeface="+mn-lt"/>
                <a:ea typeface="+mn-ea"/>
                <a:cs typeface="+mn-cs"/>
              </a:defRPr>
            </a:lvl5pPr>
            <a:lvl6pPr marL="2286000" algn="l" defTabSz="914400" rtl="0" eaLnBrk="1" latinLnBrk="0" hangingPunct="1">
              <a:defRPr kern="1200">
                <a:solidFill>
                  <a:schemeClr val="dk1"/>
                </a:solidFill>
                <a:latin typeface="+mn-lt"/>
                <a:ea typeface="+mn-ea"/>
                <a:cs typeface="+mn-cs"/>
              </a:defRPr>
            </a:lvl6pPr>
            <a:lvl7pPr marL="2743200" algn="l" defTabSz="914400" rtl="0" eaLnBrk="1" latinLnBrk="0" hangingPunct="1">
              <a:defRPr kern="1200">
                <a:solidFill>
                  <a:schemeClr val="dk1"/>
                </a:solidFill>
                <a:latin typeface="+mn-lt"/>
                <a:ea typeface="+mn-ea"/>
                <a:cs typeface="+mn-cs"/>
              </a:defRPr>
            </a:lvl7pPr>
            <a:lvl8pPr marL="3200400" algn="l" defTabSz="914400" rtl="0" eaLnBrk="1" latinLnBrk="0" hangingPunct="1">
              <a:defRPr kern="1200">
                <a:solidFill>
                  <a:schemeClr val="dk1"/>
                </a:solidFill>
                <a:latin typeface="+mn-lt"/>
                <a:ea typeface="+mn-ea"/>
                <a:cs typeface="+mn-cs"/>
              </a:defRPr>
            </a:lvl8pPr>
            <a:lvl9pPr marL="3657600" algn="l" defTabSz="914400" rtl="0" eaLnBrk="1" latinLnBrk="0" hangingPunct="1">
              <a:defRPr kern="1200">
                <a:solidFill>
                  <a:schemeClr val="dk1"/>
                </a:solidFill>
                <a:latin typeface="+mn-lt"/>
                <a:ea typeface="+mn-ea"/>
                <a:cs typeface="+mn-cs"/>
              </a:defRPr>
            </a:lvl9pPr>
          </a:lstStyle>
          <a:p>
            <a:pPr algn="ctr">
              <a:lnSpc>
                <a:spcPct val="150000"/>
              </a:lnSpc>
            </a:pPr>
            <a:r>
              <a:rPr lang="zh-CN" altLang="en-US" sz="1200" dirty="0">
                <a:solidFill>
                  <a:srgbClr val="FF0000"/>
                </a:solidFill>
                <a:latin typeface="Times New Roman" panose="02020603050405020304" pitchFamily="18" charset="0"/>
                <a:ea typeface="微软雅黑" panose="020B0503020204020204" pitchFamily="34" charset="-122"/>
                <a:cs typeface="Times New Roman" panose="02020603050405020304" pitchFamily="18" charset="0"/>
              </a:rPr>
              <a:t>先导级泄漏流量</a:t>
            </a:r>
          </a:p>
        </p:txBody>
      </p:sp>
      <p:cxnSp>
        <p:nvCxnSpPr>
          <p:cNvPr id="23" name="直接箭头连接符 22">
            <a:extLst>
              <a:ext uri="{FF2B5EF4-FFF2-40B4-BE49-F238E27FC236}">
                <a16:creationId xmlns:a16="http://schemas.microsoft.com/office/drawing/2014/main" id="{5E85322C-7FF9-02B1-DFB5-3C9E59FCA257}"/>
              </a:ext>
            </a:extLst>
          </p:cNvPr>
          <p:cNvCxnSpPr/>
          <p:nvPr/>
        </p:nvCxnSpPr>
        <p:spPr>
          <a:xfrm flipH="1" flipV="1">
            <a:off x="1579523" y="5191678"/>
            <a:ext cx="281707" cy="2475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文本框 26">
            <a:extLst>
              <a:ext uri="{FF2B5EF4-FFF2-40B4-BE49-F238E27FC236}">
                <a16:creationId xmlns:a16="http://schemas.microsoft.com/office/drawing/2014/main" id="{8B1284E9-A320-7035-3923-752F5DE9F367}"/>
              </a:ext>
            </a:extLst>
          </p:cNvPr>
          <p:cNvSpPr txBox="1"/>
          <p:nvPr/>
        </p:nvSpPr>
        <p:spPr>
          <a:xfrm>
            <a:off x="635033" y="3898819"/>
            <a:ext cx="2022412" cy="613694"/>
          </a:xfrm>
          <a:prstGeom prst="rect">
            <a:avLst/>
          </a:prstGeom>
          <a:ln w="12700">
            <a:solidFill>
              <a:schemeClr val="bg1"/>
            </a:solidFill>
          </a:ln>
        </p:spPr>
        <p:style>
          <a:lnRef idx="2">
            <a:schemeClr val="accent5"/>
          </a:lnRef>
          <a:fillRef idx="1">
            <a:schemeClr val="lt1"/>
          </a:fillRef>
          <a:effectRef idx="0">
            <a:schemeClr val="accent5"/>
          </a:effectRef>
          <a:fontRef idx="minor">
            <a:schemeClr val="dk1"/>
          </a:fontRef>
        </p:style>
        <p:txBody>
          <a:bodyPr wrap="square" rtlCol="0">
            <a:spAutoFit/>
          </a:bodyPr>
          <a:lstStyle>
            <a:defPPr>
              <a:defRPr lang="zh-CN"/>
            </a:defPPr>
            <a:lvl1pPr algn="l" rtl="0" fontAlgn="base">
              <a:spcBef>
                <a:spcPct val="0"/>
              </a:spcBef>
              <a:spcAft>
                <a:spcPct val="0"/>
              </a:spcAft>
              <a:defRPr kern="1200">
                <a:solidFill>
                  <a:schemeClr val="dk1"/>
                </a:solidFill>
                <a:latin typeface="+mn-lt"/>
                <a:ea typeface="+mn-ea"/>
                <a:cs typeface="+mn-cs"/>
              </a:defRPr>
            </a:lvl1pPr>
            <a:lvl2pPr marL="457200" algn="l" rtl="0" fontAlgn="base">
              <a:spcBef>
                <a:spcPct val="0"/>
              </a:spcBef>
              <a:spcAft>
                <a:spcPct val="0"/>
              </a:spcAft>
              <a:defRPr kern="1200">
                <a:solidFill>
                  <a:schemeClr val="dk1"/>
                </a:solidFill>
                <a:latin typeface="+mn-lt"/>
                <a:ea typeface="+mn-ea"/>
                <a:cs typeface="+mn-cs"/>
              </a:defRPr>
            </a:lvl2pPr>
            <a:lvl3pPr marL="914400" algn="l" rtl="0" fontAlgn="base">
              <a:spcBef>
                <a:spcPct val="0"/>
              </a:spcBef>
              <a:spcAft>
                <a:spcPct val="0"/>
              </a:spcAft>
              <a:defRPr kern="1200">
                <a:solidFill>
                  <a:schemeClr val="dk1"/>
                </a:solidFill>
                <a:latin typeface="+mn-lt"/>
                <a:ea typeface="+mn-ea"/>
                <a:cs typeface="+mn-cs"/>
              </a:defRPr>
            </a:lvl3pPr>
            <a:lvl4pPr marL="1371600" algn="l" rtl="0" fontAlgn="base">
              <a:spcBef>
                <a:spcPct val="0"/>
              </a:spcBef>
              <a:spcAft>
                <a:spcPct val="0"/>
              </a:spcAft>
              <a:defRPr kern="1200">
                <a:solidFill>
                  <a:schemeClr val="dk1"/>
                </a:solidFill>
                <a:latin typeface="+mn-lt"/>
                <a:ea typeface="+mn-ea"/>
                <a:cs typeface="+mn-cs"/>
              </a:defRPr>
            </a:lvl4pPr>
            <a:lvl5pPr marL="1828800" algn="l" rtl="0" fontAlgn="base">
              <a:spcBef>
                <a:spcPct val="0"/>
              </a:spcBef>
              <a:spcAft>
                <a:spcPct val="0"/>
              </a:spcAft>
              <a:defRPr kern="1200">
                <a:solidFill>
                  <a:schemeClr val="dk1"/>
                </a:solidFill>
                <a:latin typeface="+mn-lt"/>
                <a:ea typeface="+mn-ea"/>
                <a:cs typeface="+mn-cs"/>
              </a:defRPr>
            </a:lvl5pPr>
            <a:lvl6pPr marL="2286000" algn="l" defTabSz="914400" rtl="0" eaLnBrk="1" latinLnBrk="0" hangingPunct="1">
              <a:defRPr kern="1200">
                <a:solidFill>
                  <a:schemeClr val="dk1"/>
                </a:solidFill>
                <a:latin typeface="+mn-lt"/>
                <a:ea typeface="+mn-ea"/>
                <a:cs typeface="+mn-cs"/>
              </a:defRPr>
            </a:lvl6pPr>
            <a:lvl7pPr marL="2743200" algn="l" defTabSz="914400" rtl="0" eaLnBrk="1" latinLnBrk="0" hangingPunct="1">
              <a:defRPr kern="1200">
                <a:solidFill>
                  <a:schemeClr val="dk1"/>
                </a:solidFill>
                <a:latin typeface="+mn-lt"/>
                <a:ea typeface="+mn-ea"/>
                <a:cs typeface="+mn-cs"/>
              </a:defRPr>
            </a:lvl7pPr>
            <a:lvl8pPr marL="3200400" algn="l" defTabSz="914400" rtl="0" eaLnBrk="1" latinLnBrk="0" hangingPunct="1">
              <a:defRPr kern="1200">
                <a:solidFill>
                  <a:schemeClr val="dk1"/>
                </a:solidFill>
                <a:latin typeface="+mn-lt"/>
                <a:ea typeface="+mn-ea"/>
                <a:cs typeface="+mn-cs"/>
              </a:defRPr>
            </a:lvl8pPr>
            <a:lvl9pPr marL="3657600" algn="l" defTabSz="914400" rtl="0" eaLnBrk="1" latinLnBrk="0" hangingPunct="1">
              <a:defRPr kern="1200">
                <a:solidFill>
                  <a:schemeClr val="dk1"/>
                </a:solidFill>
                <a:latin typeface="+mn-lt"/>
                <a:ea typeface="+mn-ea"/>
                <a:cs typeface="+mn-cs"/>
              </a:defRPr>
            </a:lvl9pPr>
          </a:lstStyle>
          <a:p>
            <a:pPr>
              <a:lnSpc>
                <a:spcPct val="150000"/>
              </a:lnSpc>
            </a:pPr>
            <a:r>
              <a:rPr lang="zh-CN" altLang="en-US" sz="1200" dirty="0">
                <a:latin typeface="Times New Roman" panose="02020603050405020304" pitchFamily="18" charset="0"/>
                <a:ea typeface="微软雅黑" panose="020B0503020204020204" pitchFamily="34" charset="-122"/>
                <a:cs typeface="Times New Roman" panose="02020603050405020304" pitchFamily="18" charset="0"/>
              </a:rPr>
              <a:t>两级伺服阀泄漏流量：先导级</a:t>
            </a:r>
            <a:r>
              <a:rPr lang="en-US" altLang="zh-CN" sz="1200" dirty="0">
                <a:latin typeface="Times New Roman" panose="02020603050405020304" pitchFamily="18" charset="0"/>
                <a:ea typeface="微软雅黑" panose="020B0503020204020204" pitchFamily="34" charset="-122"/>
                <a:cs typeface="Times New Roman" panose="02020603050405020304" pitchFamily="18" charset="0"/>
              </a:rPr>
              <a:t>+</a:t>
            </a:r>
            <a:r>
              <a:rPr lang="zh-CN" altLang="en-US" sz="1200" dirty="0">
                <a:latin typeface="Times New Roman" panose="02020603050405020304" pitchFamily="18" charset="0"/>
                <a:ea typeface="微软雅黑" panose="020B0503020204020204" pitchFamily="34" charset="-122"/>
                <a:cs typeface="Times New Roman" panose="02020603050405020304" pitchFamily="18" charset="0"/>
              </a:rPr>
              <a:t>功率级泄漏流量</a:t>
            </a:r>
          </a:p>
        </p:txBody>
      </p:sp>
      <p:sp>
        <p:nvSpPr>
          <p:cNvPr id="26" name="文本框 28">
            <a:extLst>
              <a:ext uri="{FF2B5EF4-FFF2-40B4-BE49-F238E27FC236}">
                <a16:creationId xmlns:a16="http://schemas.microsoft.com/office/drawing/2014/main" id="{C0CDF61B-9C51-EE0D-5186-8C0E1F3EDD0F}"/>
              </a:ext>
            </a:extLst>
          </p:cNvPr>
          <p:cNvSpPr txBox="1"/>
          <p:nvPr/>
        </p:nvSpPr>
        <p:spPr>
          <a:xfrm>
            <a:off x="3403411" y="4038857"/>
            <a:ext cx="1915989" cy="613694"/>
          </a:xfrm>
          <a:prstGeom prst="rect">
            <a:avLst/>
          </a:prstGeom>
          <a:noFill/>
        </p:spPr>
        <p:txBody>
          <a:bodyPr wrap="square" rtlCol="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a:lnSpc>
                <a:spcPct val="150000"/>
              </a:lnSpc>
            </a:pPr>
            <a:r>
              <a:rPr lang="zh-CN" altLang="en-US" sz="1200" dirty="0">
                <a:ea typeface="微软雅黑" panose="020B0503020204020204" pitchFamily="34" charset="-122"/>
                <a:cs typeface="Times New Roman" panose="02020603050405020304" pitchFamily="18" charset="0"/>
              </a:rPr>
              <a:t>增大重叠，会产生死区</a:t>
            </a:r>
            <a:endParaRPr lang="en-US" altLang="zh-CN" sz="1200" dirty="0">
              <a:ea typeface="微软雅黑" panose="020B0503020204020204" pitchFamily="34" charset="-122"/>
              <a:cs typeface="Times New Roman" panose="02020603050405020304" pitchFamily="18" charset="0"/>
            </a:endParaRPr>
          </a:p>
          <a:p>
            <a:pPr>
              <a:lnSpc>
                <a:spcPct val="150000"/>
              </a:lnSpc>
            </a:pPr>
            <a:r>
              <a:rPr lang="zh-CN" altLang="en-US" sz="1200" dirty="0">
                <a:ea typeface="微软雅黑" panose="020B0503020204020204" pitchFamily="34" charset="-122"/>
                <a:cs typeface="Times New Roman" panose="02020603050405020304" pitchFamily="18" charset="0"/>
              </a:rPr>
              <a:t>易造成滞环和分辨率增大</a:t>
            </a:r>
          </a:p>
        </p:txBody>
      </p:sp>
      <p:sp>
        <p:nvSpPr>
          <p:cNvPr id="27" name="矩形 26">
            <a:extLst>
              <a:ext uri="{FF2B5EF4-FFF2-40B4-BE49-F238E27FC236}">
                <a16:creationId xmlns:a16="http://schemas.microsoft.com/office/drawing/2014/main" id="{260A5F00-F9DB-87D8-AFA7-AB0085C70E92}"/>
              </a:ext>
            </a:extLst>
          </p:cNvPr>
          <p:cNvSpPr/>
          <p:nvPr/>
        </p:nvSpPr>
        <p:spPr>
          <a:xfrm>
            <a:off x="837511" y="4891919"/>
            <a:ext cx="1261884" cy="336695"/>
          </a:xfrm>
          <a:prstGeom prst="rect">
            <a:avLst/>
          </a:prstGeom>
          <a:noFill/>
        </p:spPr>
        <p:txBody>
          <a:bodyPr wrap="square" rtlCol="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a:lnSpc>
                <a:spcPct val="150000"/>
              </a:lnSpc>
            </a:pPr>
            <a:r>
              <a:rPr lang="zh-CN" altLang="en-US" sz="1200" dirty="0">
                <a:ea typeface="微软雅黑" panose="020B0503020204020204" pitchFamily="34" charset="-122"/>
                <a:cs typeface="Times New Roman" panose="02020603050405020304" pitchFamily="18" charset="0"/>
              </a:rPr>
              <a:t>影响阀响应速度</a:t>
            </a:r>
            <a:endParaRPr lang="en-US" altLang="zh-CN" sz="1200" dirty="0">
              <a:ea typeface="微软雅黑" panose="020B0503020204020204" pitchFamily="34" charset="-122"/>
              <a:cs typeface="Times New Roman" panose="02020603050405020304" pitchFamily="18" charset="0"/>
            </a:endParaRPr>
          </a:p>
        </p:txBody>
      </p:sp>
      <p:sp>
        <p:nvSpPr>
          <p:cNvPr id="29" name="文本框 32">
            <a:extLst>
              <a:ext uri="{FF2B5EF4-FFF2-40B4-BE49-F238E27FC236}">
                <a16:creationId xmlns:a16="http://schemas.microsoft.com/office/drawing/2014/main" id="{6412967B-B1EF-8BD6-D17E-577DA1E52F1B}"/>
              </a:ext>
            </a:extLst>
          </p:cNvPr>
          <p:cNvSpPr txBox="1"/>
          <p:nvPr/>
        </p:nvSpPr>
        <p:spPr>
          <a:xfrm>
            <a:off x="5536833" y="1423146"/>
            <a:ext cx="3341843" cy="961289"/>
          </a:xfrm>
          <a:prstGeom prst="rect">
            <a:avLst/>
          </a:prstGeom>
          <a:noFill/>
        </p:spPr>
        <p:txBody>
          <a:bodyPr wrap="square" rtlCol="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a:lnSpc>
                <a:spcPct val="150000"/>
              </a:lnSpc>
            </a:pPr>
            <a:r>
              <a:rPr lang="zh-CN" altLang="en-US" sz="2000" dirty="0">
                <a:solidFill>
                  <a:srgbClr val="0000FF"/>
                </a:solidFill>
                <a:ea typeface="微软雅黑" panose="020B0503020204020204" pitchFamily="34" charset="-122"/>
                <a:cs typeface="Times New Roman" panose="02020603050405020304" pitchFamily="18" charset="0"/>
              </a:rPr>
              <a:t>零开口滑阀</a:t>
            </a:r>
            <a:r>
              <a:rPr lang="zh-CN" altLang="en-US" sz="2000" dirty="0">
                <a:ea typeface="微软雅黑" panose="020B0503020204020204" pitchFamily="34" charset="-122"/>
                <a:cs typeface="Times New Roman" panose="02020603050405020304" pitchFamily="18" charset="0"/>
              </a:rPr>
              <a:t>，中位径向缝隙泄漏量</a:t>
            </a:r>
          </a:p>
        </p:txBody>
      </p:sp>
      <p:sp>
        <p:nvSpPr>
          <p:cNvPr id="30" name="文本框 33">
            <a:extLst>
              <a:ext uri="{FF2B5EF4-FFF2-40B4-BE49-F238E27FC236}">
                <a16:creationId xmlns:a16="http://schemas.microsoft.com/office/drawing/2014/main" id="{6EA6408E-8657-F63D-37FF-56DC95B4CA8D}"/>
              </a:ext>
            </a:extLst>
          </p:cNvPr>
          <p:cNvSpPr txBox="1"/>
          <p:nvPr/>
        </p:nvSpPr>
        <p:spPr>
          <a:xfrm>
            <a:off x="5600776" y="2567843"/>
            <a:ext cx="3213956" cy="1884618"/>
          </a:xfrm>
          <a:prstGeom prst="rect">
            <a:avLst/>
          </a:prstGeom>
          <a:noFill/>
        </p:spPr>
        <p:txBody>
          <a:bodyPr wrap="square" rtlCol="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a:lnSpc>
                <a:spcPct val="150000"/>
              </a:lnSpc>
            </a:pPr>
            <a:r>
              <a:rPr lang="en-US" altLang="zh-CN" sz="2000" dirty="0">
                <a:ea typeface="微软雅黑" panose="020B0503020204020204" pitchFamily="34" charset="-122"/>
                <a:cs typeface="Times New Roman" panose="02020603050405020304" pitchFamily="18" charset="0"/>
              </a:rPr>
              <a:t>   -</a:t>
            </a:r>
            <a:r>
              <a:rPr lang="zh-CN" altLang="en-US" sz="2000" dirty="0">
                <a:ea typeface="微软雅黑" panose="020B0503020204020204" pitchFamily="34" charset="-122"/>
                <a:cs typeface="Times New Roman" panose="02020603050405020304" pitchFamily="18" charset="0"/>
              </a:rPr>
              <a:t>阀的面积梯度；   </a:t>
            </a:r>
            <a:r>
              <a:rPr lang="en-US" altLang="zh-CN" sz="2000" dirty="0">
                <a:ea typeface="微软雅黑" panose="020B0503020204020204" pitchFamily="34" charset="-122"/>
                <a:cs typeface="Times New Roman" panose="02020603050405020304" pitchFamily="18" charset="0"/>
              </a:rPr>
              <a:t>-</a:t>
            </a:r>
            <a:r>
              <a:rPr lang="zh-CN" altLang="en-US" sz="2000" dirty="0">
                <a:ea typeface="微软雅黑" panose="020B0503020204020204" pitchFamily="34" charset="-122"/>
                <a:cs typeface="Times New Roman" panose="02020603050405020304" pitchFamily="18" charset="0"/>
              </a:rPr>
              <a:t>阀芯和阀孔间半径向间隙</a:t>
            </a:r>
            <a:endParaRPr lang="en-US" altLang="zh-CN" sz="2000" dirty="0">
              <a:ea typeface="微软雅黑" panose="020B0503020204020204" pitchFamily="34" charset="-122"/>
              <a:cs typeface="Times New Roman" panose="02020603050405020304" pitchFamily="18" charset="0"/>
            </a:endParaRPr>
          </a:p>
          <a:p>
            <a:pPr>
              <a:lnSpc>
                <a:spcPct val="150000"/>
              </a:lnSpc>
            </a:pPr>
            <a:r>
              <a:rPr lang="en-US" altLang="zh-CN" sz="2000" dirty="0">
                <a:ea typeface="微软雅黑" panose="020B0503020204020204" pitchFamily="34" charset="-122"/>
                <a:cs typeface="Times New Roman" panose="02020603050405020304" pitchFamily="18" charset="0"/>
              </a:rPr>
              <a:t>   -</a:t>
            </a:r>
            <a:r>
              <a:rPr lang="zh-CN" altLang="en-US" sz="2000" dirty="0">
                <a:ea typeface="微软雅黑" panose="020B0503020204020204" pitchFamily="34" charset="-122"/>
                <a:cs typeface="Times New Roman" panose="02020603050405020304" pitchFamily="18" charset="0"/>
              </a:rPr>
              <a:t>油液的动力粘度；   </a:t>
            </a:r>
            <a:r>
              <a:rPr lang="en-US" altLang="zh-CN" sz="2000" dirty="0">
                <a:ea typeface="微软雅黑" panose="020B0503020204020204" pitchFamily="34" charset="-122"/>
                <a:cs typeface="Times New Roman" panose="02020603050405020304" pitchFamily="18" charset="0"/>
              </a:rPr>
              <a:t>-</a:t>
            </a:r>
            <a:r>
              <a:rPr lang="zh-CN" altLang="en-US" sz="2000" dirty="0">
                <a:ea typeface="微软雅黑" panose="020B0503020204020204" pitchFamily="34" charset="-122"/>
                <a:cs typeface="Times New Roman" panose="02020603050405020304" pitchFamily="18" charset="0"/>
              </a:rPr>
              <a:t>供油压力</a:t>
            </a:r>
          </a:p>
        </p:txBody>
      </p:sp>
      <p:sp>
        <p:nvSpPr>
          <p:cNvPr id="31" name="文本框 34">
            <a:extLst>
              <a:ext uri="{FF2B5EF4-FFF2-40B4-BE49-F238E27FC236}">
                <a16:creationId xmlns:a16="http://schemas.microsoft.com/office/drawing/2014/main" id="{EE62DBD6-E556-774C-1CD4-6E986EF300B8}"/>
              </a:ext>
            </a:extLst>
          </p:cNvPr>
          <p:cNvSpPr txBox="1"/>
          <p:nvPr/>
        </p:nvSpPr>
        <p:spPr>
          <a:xfrm>
            <a:off x="5781990" y="4373328"/>
            <a:ext cx="3083345" cy="499624"/>
          </a:xfrm>
          <a:prstGeom prst="rect">
            <a:avLst/>
          </a:prstGeom>
          <a:noFill/>
        </p:spPr>
        <p:txBody>
          <a:bodyPr wrap="square" rtlCol="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a:lnSpc>
                <a:spcPct val="150000"/>
              </a:lnSpc>
            </a:pPr>
            <a:r>
              <a:rPr lang="zh-CN" altLang="en-US" sz="2000" dirty="0">
                <a:solidFill>
                  <a:srgbClr val="0000FF"/>
                </a:solidFill>
                <a:ea typeface="微软雅黑" panose="020B0503020204020204" pitchFamily="34" charset="-122"/>
                <a:cs typeface="Times New Roman" panose="02020603050405020304" pitchFamily="18" charset="0"/>
              </a:rPr>
              <a:t>正开口滑阀</a:t>
            </a:r>
            <a:r>
              <a:rPr lang="zh-CN" altLang="en-US" sz="2000" dirty="0">
                <a:ea typeface="微软雅黑" panose="020B0503020204020204" pitchFamily="34" charset="-122"/>
                <a:cs typeface="Times New Roman" panose="02020603050405020304" pitchFamily="18" charset="0"/>
              </a:rPr>
              <a:t>，中位泄漏量</a:t>
            </a:r>
          </a:p>
        </p:txBody>
      </p:sp>
      <p:sp>
        <p:nvSpPr>
          <p:cNvPr id="33" name="文本框 36">
            <a:extLst>
              <a:ext uri="{FF2B5EF4-FFF2-40B4-BE49-F238E27FC236}">
                <a16:creationId xmlns:a16="http://schemas.microsoft.com/office/drawing/2014/main" id="{B068E906-1406-F0ED-CE55-B3655323592F}"/>
              </a:ext>
            </a:extLst>
          </p:cNvPr>
          <p:cNvSpPr txBox="1"/>
          <p:nvPr/>
        </p:nvSpPr>
        <p:spPr>
          <a:xfrm>
            <a:off x="5718406" y="5557674"/>
            <a:ext cx="3222588" cy="961289"/>
          </a:xfrm>
          <a:prstGeom prst="rect">
            <a:avLst/>
          </a:prstGeom>
          <a:noFill/>
        </p:spPr>
        <p:txBody>
          <a:bodyPr wrap="square" rtlCol="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a:lnSpc>
                <a:spcPct val="150000"/>
              </a:lnSpc>
            </a:pPr>
            <a:r>
              <a:rPr lang="en-US" altLang="zh-CN" sz="2000" dirty="0">
                <a:ea typeface="微软雅黑" panose="020B0503020204020204" pitchFamily="34" charset="-122"/>
                <a:cs typeface="Times New Roman" panose="02020603050405020304" pitchFamily="18" charset="0"/>
              </a:rPr>
              <a:t>   -</a:t>
            </a:r>
            <a:r>
              <a:rPr lang="zh-CN" altLang="en-US" sz="2000" dirty="0">
                <a:ea typeface="微软雅黑" panose="020B0503020204020204" pitchFamily="34" charset="-122"/>
                <a:cs typeface="Times New Roman" panose="02020603050405020304" pitchFamily="18" charset="0"/>
              </a:rPr>
              <a:t>流量系数；   </a:t>
            </a:r>
            <a:r>
              <a:rPr lang="en-US" altLang="zh-CN" sz="2000" dirty="0">
                <a:ea typeface="微软雅黑" panose="020B0503020204020204" pitchFamily="34" charset="-122"/>
                <a:cs typeface="Times New Roman" panose="02020603050405020304" pitchFamily="18" charset="0"/>
              </a:rPr>
              <a:t>-</a:t>
            </a:r>
            <a:r>
              <a:rPr lang="zh-CN" altLang="en-US" sz="2000" dirty="0">
                <a:ea typeface="微软雅黑" panose="020B0503020204020204" pitchFamily="34" charset="-122"/>
                <a:cs typeface="Times New Roman" panose="02020603050405020304" pitchFamily="18" charset="0"/>
              </a:rPr>
              <a:t>阀中位时预开口量；   </a:t>
            </a:r>
            <a:r>
              <a:rPr lang="en-US" altLang="zh-CN" sz="2000" dirty="0">
                <a:ea typeface="微软雅黑" panose="020B0503020204020204" pitchFamily="34" charset="-122"/>
                <a:cs typeface="Times New Roman" panose="02020603050405020304" pitchFamily="18" charset="0"/>
              </a:rPr>
              <a:t>-</a:t>
            </a:r>
            <a:r>
              <a:rPr lang="zh-CN" altLang="en-US" sz="2000" dirty="0">
                <a:ea typeface="微软雅黑" panose="020B0503020204020204" pitchFamily="34" charset="-122"/>
                <a:cs typeface="Times New Roman" panose="02020603050405020304" pitchFamily="18" charset="0"/>
              </a:rPr>
              <a:t>油液密度</a:t>
            </a:r>
          </a:p>
        </p:txBody>
      </p:sp>
      <p:sp>
        <p:nvSpPr>
          <p:cNvPr id="34" name="文本框 37">
            <a:extLst>
              <a:ext uri="{FF2B5EF4-FFF2-40B4-BE49-F238E27FC236}">
                <a16:creationId xmlns:a16="http://schemas.microsoft.com/office/drawing/2014/main" id="{94AB45DE-3250-DE1A-F4CD-30C319F8D3DA}"/>
              </a:ext>
            </a:extLst>
          </p:cNvPr>
          <p:cNvSpPr txBox="1"/>
          <p:nvPr/>
        </p:nvSpPr>
        <p:spPr>
          <a:xfrm>
            <a:off x="8972084" y="1404166"/>
            <a:ext cx="2724826" cy="499624"/>
          </a:xfrm>
          <a:prstGeom prst="rect">
            <a:avLst/>
          </a:prstGeom>
          <a:noFill/>
        </p:spPr>
        <p:txBody>
          <a:bodyPr wrap="square" rtlCol="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a:lnSpc>
                <a:spcPct val="150000"/>
              </a:lnSpc>
            </a:pPr>
            <a:r>
              <a:rPr lang="zh-CN" altLang="en-US" sz="2000" dirty="0">
                <a:solidFill>
                  <a:srgbClr val="FF0000"/>
                </a:solidFill>
                <a:ea typeface="微软雅黑" panose="020B0503020204020204" pitchFamily="34" charset="-122"/>
                <a:cs typeface="Times New Roman" panose="02020603050405020304" pitchFamily="18" charset="0"/>
              </a:rPr>
              <a:t>实际零开口四边滑阀</a:t>
            </a:r>
            <a:endParaRPr lang="en-US" altLang="zh-CN" sz="2000" dirty="0">
              <a:solidFill>
                <a:srgbClr val="FF0000"/>
              </a:solidFill>
              <a:ea typeface="微软雅黑" panose="020B0503020204020204" pitchFamily="34" charset="-122"/>
              <a:cs typeface="Times New Roman" panose="02020603050405020304" pitchFamily="18" charset="0"/>
            </a:endParaRPr>
          </a:p>
        </p:txBody>
      </p:sp>
      <p:sp>
        <p:nvSpPr>
          <p:cNvPr id="36" name="矩形 35">
            <a:extLst>
              <a:ext uri="{FF2B5EF4-FFF2-40B4-BE49-F238E27FC236}">
                <a16:creationId xmlns:a16="http://schemas.microsoft.com/office/drawing/2014/main" id="{FB12D727-35FB-9C51-1D8F-C76DBBC80A15}"/>
              </a:ext>
            </a:extLst>
          </p:cNvPr>
          <p:cNvSpPr/>
          <p:nvPr/>
        </p:nvSpPr>
        <p:spPr>
          <a:xfrm>
            <a:off x="9292904" y="4850494"/>
            <a:ext cx="2236510" cy="499624"/>
          </a:xfrm>
          <a:prstGeom prst="rect">
            <a:avLst/>
          </a:prstGeom>
        </p:spPr>
        <p:txBody>
          <a:bodyPr wrap="none">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a:lnSpc>
                <a:spcPct val="150000"/>
              </a:lnSpc>
            </a:pPr>
            <a:r>
              <a:rPr lang="zh-CN" altLang="en-US" sz="2000" dirty="0">
                <a:ea typeface="微软雅黑" panose="020B0503020204020204" pitchFamily="34" charset="-122"/>
                <a:cs typeface="Times New Roman" panose="02020603050405020304" pitchFamily="18" charset="0"/>
              </a:rPr>
              <a:t>零位压力放大系数</a:t>
            </a:r>
          </a:p>
        </p:txBody>
      </p:sp>
      <p:sp>
        <p:nvSpPr>
          <p:cNvPr id="37" name="矩形 36">
            <a:extLst>
              <a:ext uri="{FF2B5EF4-FFF2-40B4-BE49-F238E27FC236}">
                <a16:creationId xmlns:a16="http://schemas.microsoft.com/office/drawing/2014/main" id="{535892C3-7B3E-0F02-4922-833BC1852091}"/>
              </a:ext>
            </a:extLst>
          </p:cNvPr>
          <p:cNvSpPr/>
          <p:nvPr/>
        </p:nvSpPr>
        <p:spPr>
          <a:xfrm>
            <a:off x="9239846" y="3713742"/>
            <a:ext cx="2339378" cy="499624"/>
          </a:xfrm>
          <a:prstGeom prst="rect">
            <a:avLst/>
          </a:prstGeom>
        </p:spPr>
        <p:txBody>
          <a:bodyPr wrap="square">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a:lnSpc>
                <a:spcPct val="150000"/>
              </a:lnSpc>
            </a:pPr>
            <a:r>
              <a:rPr lang="zh-CN" altLang="en-US" sz="2000" dirty="0">
                <a:ea typeface="微软雅黑" panose="020B0503020204020204" pitchFamily="34" charset="-122"/>
                <a:cs typeface="Times New Roman" panose="02020603050405020304" pitchFamily="18" charset="0"/>
              </a:rPr>
              <a:t>零位流量</a:t>
            </a:r>
            <a:r>
              <a:rPr lang="en-US" altLang="zh-CN" sz="2000" dirty="0">
                <a:ea typeface="微软雅黑" panose="020B0503020204020204" pitchFamily="34" charset="-122"/>
                <a:cs typeface="Times New Roman" panose="02020603050405020304" pitchFamily="18" charset="0"/>
              </a:rPr>
              <a:t>-</a:t>
            </a:r>
            <a:r>
              <a:rPr lang="zh-CN" altLang="en-US" sz="2000" dirty="0">
                <a:ea typeface="微软雅黑" panose="020B0503020204020204" pitchFamily="34" charset="-122"/>
                <a:cs typeface="Times New Roman" panose="02020603050405020304" pitchFamily="18" charset="0"/>
              </a:rPr>
              <a:t>压力系数</a:t>
            </a:r>
          </a:p>
        </p:txBody>
      </p:sp>
      <p:sp>
        <p:nvSpPr>
          <p:cNvPr id="41" name="文本框 40">
            <a:extLst>
              <a:ext uri="{FF2B5EF4-FFF2-40B4-BE49-F238E27FC236}">
                <a16:creationId xmlns:a16="http://schemas.microsoft.com/office/drawing/2014/main" id="{C2DE9B83-E969-BE9D-8817-C4391DF59A3A}"/>
              </a:ext>
            </a:extLst>
          </p:cNvPr>
          <p:cNvSpPr txBox="1"/>
          <p:nvPr/>
        </p:nvSpPr>
        <p:spPr>
          <a:xfrm>
            <a:off x="8974502" y="1836834"/>
            <a:ext cx="2682352" cy="1884427"/>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sz="2000" dirty="0">
                <a:solidFill>
                  <a:srgbClr val="000000"/>
                </a:solidFill>
                <a:latin typeface="Times New Roman" panose="02020603050405020304" pitchFamily="18" charset="0"/>
                <a:ea typeface="微软雅黑" panose="020B0503020204020204" pitchFamily="34" charset="-122"/>
                <a:cs typeface="Times New Roman" panose="02020603050405020304" pitchFamily="18" charset="0"/>
              </a:rPr>
              <a:t>零位流量</a:t>
            </a:r>
            <a:r>
              <a:rPr lang="en-US" altLang="zh-CN" sz="2000" dirty="0">
                <a:solidFill>
                  <a:srgbClr val="000000"/>
                </a:solidFill>
                <a:latin typeface="Times New Roman" panose="02020603050405020304" pitchFamily="18" charset="0"/>
                <a:ea typeface="微软雅黑" panose="020B0503020204020204" pitchFamily="34" charset="-122"/>
                <a:cs typeface="Times New Roman" panose="02020603050405020304" pitchFamily="18" charset="0"/>
              </a:rPr>
              <a:t>-</a:t>
            </a:r>
            <a:r>
              <a:rPr lang="zh-CN" altLang="en-US" sz="2000" dirty="0">
                <a:solidFill>
                  <a:srgbClr val="000000"/>
                </a:solidFill>
                <a:latin typeface="Times New Roman" panose="02020603050405020304" pitchFamily="18" charset="0"/>
                <a:ea typeface="微软雅黑" panose="020B0503020204020204" pitchFamily="34" charset="-122"/>
                <a:cs typeface="Times New Roman" panose="02020603050405020304" pitchFamily="18" charset="0"/>
              </a:rPr>
              <a:t>压力系数不为</a:t>
            </a:r>
            <a:r>
              <a:rPr lang="en-US" altLang="zh-CN" sz="2000" dirty="0">
                <a:solidFill>
                  <a:srgbClr val="000000"/>
                </a:solidFill>
                <a:latin typeface="Times New Roman" panose="02020603050405020304" pitchFamily="18" charset="0"/>
                <a:ea typeface="微软雅黑" panose="020B0503020204020204" pitchFamily="34" charset="-122"/>
                <a:cs typeface="Times New Roman" panose="02020603050405020304" pitchFamily="18" charset="0"/>
              </a:rPr>
              <a:t>0</a:t>
            </a:r>
          </a:p>
          <a:p>
            <a:pPr marL="285750" indent="-285750">
              <a:lnSpc>
                <a:spcPct val="150000"/>
              </a:lnSpc>
              <a:buFont typeface="Arial" panose="020B0604020202020204" pitchFamily="34" charset="0"/>
              <a:buChar char="•"/>
            </a:pPr>
            <a:r>
              <a:rPr lang="zh-CN" altLang="en-US" sz="2000" dirty="0">
                <a:solidFill>
                  <a:srgbClr val="000000"/>
                </a:solidFill>
                <a:latin typeface="Times New Roman" panose="02020603050405020304" pitchFamily="18" charset="0"/>
                <a:ea typeface="微软雅黑" panose="020B0503020204020204" pitchFamily="34" charset="-122"/>
                <a:cs typeface="Times New Roman" panose="02020603050405020304" pitchFamily="18" charset="0"/>
              </a:rPr>
              <a:t>零位压力放大系数不是无穷大</a:t>
            </a:r>
            <a:endParaRPr lang="zh-CN" altLang="en-US" sz="2000" dirty="0">
              <a:latin typeface="Times New Roman" panose="02020603050405020304" pitchFamily="18" charset="0"/>
              <a:ea typeface="微软雅黑" panose="020B0503020204020204" pitchFamily="34" charset="-122"/>
              <a:cs typeface="Times New Roman" panose="02020603050405020304" pitchFamily="18" charset="0"/>
            </a:endParaRPr>
          </a:p>
        </p:txBody>
      </p:sp>
      <p:cxnSp>
        <p:nvCxnSpPr>
          <p:cNvPr id="42" name="直接连接符 41">
            <a:extLst>
              <a:ext uri="{FF2B5EF4-FFF2-40B4-BE49-F238E27FC236}">
                <a16:creationId xmlns:a16="http://schemas.microsoft.com/office/drawing/2014/main" id="{0F0DE5A6-B5B5-F8A2-D9C4-D58CF6C20B51}"/>
              </a:ext>
            </a:extLst>
          </p:cNvPr>
          <p:cNvCxnSpPr/>
          <p:nvPr/>
        </p:nvCxnSpPr>
        <p:spPr>
          <a:xfrm>
            <a:off x="5338339" y="1457664"/>
            <a:ext cx="0" cy="4999456"/>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CE5F4B7F-BC07-2FFD-8DC5-1CF63E215C6C}"/>
              </a:ext>
            </a:extLst>
          </p:cNvPr>
          <p:cNvCxnSpPr/>
          <p:nvPr/>
        </p:nvCxnSpPr>
        <p:spPr>
          <a:xfrm>
            <a:off x="8865335" y="1457664"/>
            <a:ext cx="0" cy="4999456"/>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94469292-1362-B7D7-9CA5-4B1588DA55C8}"/>
              </a:ext>
            </a:extLst>
          </p:cNvPr>
          <p:cNvSpPr/>
          <p:nvPr/>
        </p:nvSpPr>
        <p:spPr>
          <a:xfrm>
            <a:off x="429656" y="893424"/>
            <a:ext cx="7547154" cy="581506"/>
          </a:xfrm>
          <a:prstGeom prst="rect">
            <a:avLst/>
          </a:prstGeom>
        </p:spPr>
        <p:txBody>
          <a:bodyPr wrap="square">
            <a:spAutoFit/>
          </a:bodyPr>
          <a:lstStyle/>
          <a:p>
            <a:pPr marL="457200" indent="-457200">
              <a:lnSpc>
                <a:spcPct val="125000"/>
              </a:lnSpc>
              <a:buFont typeface="Wingdings" panose="05000000000000000000" pitchFamily="2" charset="2"/>
              <a:buChar char="p"/>
            </a:pPr>
            <a:r>
              <a:rPr lang="zh-CN" altLang="en-US" sz="2800" b="1" dirty="0">
                <a:solidFill>
                  <a:srgbClr val="003F88"/>
                </a:solidFill>
                <a:latin typeface="微软雅黑" panose="020B0503020204020204" pitchFamily="34" charset="-122"/>
                <a:ea typeface="微软雅黑" panose="020B0503020204020204" pitchFamily="34" charset="-122"/>
              </a:rPr>
              <a:t>静态特性</a:t>
            </a:r>
          </a:p>
        </p:txBody>
      </p:sp>
      <p:graphicFrame>
        <p:nvGraphicFramePr>
          <p:cNvPr id="2" name="对象 1">
            <a:extLst>
              <a:ext uri="{FF2B5EF4-FFF2-40B4-BE49-F238E27FC236}">
                <a16:creationId xmlns:a16="http://schemas.microsoft.com/office/drawing/2014/main" id="{DA42DC98-2B3E-7149-7458-EEC2464B09E3}"/>
              </a:ext>
            </a:extLst>
          </p:cNvPr>
          <p:cNvGraphicFramePr>
            <a:graphicFrameLocks noChangeAspect="1"/>
          </p:cNvGraphicFramePr>
          <p:nvPr>
            <p:extLst>
              <p:ext uri="{D42A27DB-BD31-4B8C-83A1-F6EECF244321}">
                <p14:modId xmlns:p14="http://schemas.microsoft.com/office/powerpoint/2010/main" val="1653989915"/>
              </p:ext>
            </p:extLst>
          </p:nvPr>
        </p:nvGraphicFramePr>
        <p:xfrm>
          <a:off x="6545263" y="2039938"/>
          <a:ext cx="1325562" cy="712787"/>
        </p:xfrm>
        <a:graphic>
          <a:graphicData uri="http://schemas.openxmlformats.org/presentationml/2006/ole">
            <mc:AlternateContent xmlns:mc="http://schemas.openxmlformats.org/markup-compatibility/2006">
              <mc:Choice xmlns:v="urn:schemas-microsoft-com:vml" Requires="v">
                <p:oleObj spid="_x0000_s6355" name="Equation" r:id="rId6" imgW="825480" imgH="444240" progId="Equation.DSMT4">
                  <p:embed/>
                </p:oleObj>
              </mc:Choice>
              <mc:Fallback>
                <p:oleObj name="Equation" r:id="rId6" imgW="825480" imgH="444240" progId="Equation.DSMT4">
                  <p:embed/>
                  <p:pic>
                    <p:nvPicPr>
                      <p:cNvPr id="0" name=""/>
                      <p:cNvPicPr/>
                      <p:nvPr/>
                    </p:nvPicPr>
                    <p:blipFill>
                      <a:blip r:embed="rId7"/>
                      <a:stretch>
                        <a:fillRect/>
                      </a:stretch>
                    </p:blipFill>
                    <p:spPr>
                      <a:xfrm>
                        <a:off x="6545263" y="2039938"/>
                        <a:ext cx="1325562" cy="712787"/>
                      </a:xfrm>
                      <a:prstGeom prst="rect">
                        <a:avLst/>
                      </a:prstGeom>
                    </p:spPr>
                  </p:pic>
                </p:oleObj>
              </mc:Fallback>
            </mc:AlternateContent>
          </a:graphicData>
        </a:graphic>
      </p:graphicFrame>
      <p:graphicFrame>
        <p:nvGraphicFramePr>
          <p:cNvPr id="3" name="对象 2">
            <a:extLst>
              <a:ext uri="{FF2B5EF4-FFF2-40B4-BE49-F238E27FC236}">
                <a16:creationId xmlns:a16="http://schemas.microsoft.com/office/drawing/2014/main" id="{59E77319-DF49-9321-EE0D-EAC78706BAC4}"/>
              </a:ext>
            </a:extLst>
          </p:cNvPr>
          <p:cNvGraphicFramePr>
            <a:graphicFrameLocks noChangeAspect="1"/>
          </p:cNvGraphicFramePr>
          <p:nvPr>
            <p:extLst>
              <p:ext uri="{D42A27DB-BD31-4B8C-83A1-F6EECF244321}">
                <p14:modId xmlns:p14="http://schemas.microsoft.com/office/powerpoint/2010/main" val="2905707059"/>
              </p:ext>
            </p:extLst>
          </p:nvPr>
        </p:nvGraphicFramePr>
        <p:xfrm>
          <a:off x="6338727" y="4980644"/>
          <a:ext cx="1858276" cy="537332"/>
        </p:xfrm>
        <a:graphic>
          <a:graphicData uri="http://schemas.openxmlformats.org/presentationml/2006/ole">
            <mc:AlternateContent xmlns:mc="http://schemas.openxmlformats.org/markup-compatibility/2006">
              <mc:Choice xmlns:v="urn:schemas-microsoft-com:vml" Requires="v">
                <p:oleObj spid="_x0000_s6356" name="Equation" r:id="rId8" imgW="1054080" imgH="304560" progId="Equation.DSMT4">
                  <p:embed/>
                </p:oleObj>
              </mc:Choice>
              <mc:Fallback>
                <p:oleObj name="Equation" r:id="rId8" imgW="1054080" imgH="304560" progId="Equation.DSMT4">
                  <p:embed/>
                  <p:pic>
                    <p:nvPicPr>
                      <p:cNvPr id="0" name=""/>
                      <p:cNvPicPr/>
                      <p:nvPr/>
                    </p:nvPicPr>
                    <p:blipFill>
                      <a:blip r:embed="rId9"/>
                      <a:stretch>
                        <a:fillRect/>
                      </a:stretch>
                    </p:blipFill>
                    <p:spPr>
                      <a:xfrm>
                        <a:off x="6338727" y="4980644"/>
                        <a:ext cx="1858276" cy="537332"/>
                      </a:xfrm>
                      <a:prstGeom prst="rect">
                        <a:avLst/>
                      </a:prstGeom>
                    </p:spPr>
                  </p:pic>
                </p:oleObj>
              </mc:Fallback>
            </mc:AlternateContent>
          </a:graphicData>
        </a:graphic>
      </p:graphicFrame>
      <p:graphicFrame>
        <p:nvGraphicFramePr>
          <p:cNvPr id="4" name="对象 3">
            <a:extLst>
              <a:ext uri="{FF2B5EF4-FFF2-40B4-BE49-F238E27FC236}">
                <a16:creationId xmlns:a16="http://schemas.microsoft.com/office/drawing/2014/main" id="{E6638943-A577-743D-381E-DC654439F926}"/>
              </a:ext>
            </a:extLst>
          </p:cNvPr>
          <p:cNvGraphicFramePr>
            <a:graphicFrameLocks noChangeAspect="1"/>
          </p:cNvGraphicFramePr>
          <p:nvPr>
            <p:extLst>
              <p:ext uri="{D42A27DB-BD31-4B8C-83A1-F6EECF244321}">
                <p14:modId xmlns:p14="http://schemas.microsoft.com/office/powerpoint/2010/main" val="1450314245"/>
              </p:ext>
            </p:extLst>
          </p:nvPr>
        </p:nvGraphicFramePr>
        <p:xfrm>
          <a:off x="5689643" y="5687415"/>
          <a:ext cx="371774" cy="418553"/>
        </p:xfrm>
        <a:graphic>
          <a:graphicData uri="http://schemas.openxmlformats.org/presentationml/2006/ole">
            <mc:AlternateContent xmlns:mc="http://schemas.openxmlformats.org/markup-compatibility/2006">
              <mc:Choice xmlns:v="urn:schemas-microsoft-com:vml" Requires="v">
                <p:oleObj spid="_x0000_s6357" name="Equation" r:id="rId10" imgW="239871" imgH="269371" progId="Equation.DSMT4">
                  <p:embed/>
                </p:oleObj>
              </mc:Choice>
              <mc:Fallback>
                <p:oleObj name="Equation" r:id="rId10" imgW="239871" imgH="269371" progId="Equation.DSMT4">
                  <p:embed/>
                  <p:pic>
                    <p:nvPicPr>
                      <p:cNvPr id="0" name=""/>
                      <p:cNvPicPr/>
                      <p:nvPr/>
                    </p:nvPicPr>
                    <p:blipFill>
                      <a:blip r:embed="rId11"/>
                      <a:stretch>
                        <a:fillRect/>
                      </a:stretch>
                    </p:blipFill>
                    <p:spPr>
                      <a:xfrm>
                        <a:off x="5689643" y="5687415"/>
                        <a:ext cx="371774" cy="418553"/>
                      </a:xfrm>
                      <a:prstGeom prst="rect">
                        <a:avLst/>
                      </a:prstGeom>
                    </p:spPr>
                  </p:pic>
                </p:oleObj>
              </mc:Fallback>
            </mc:AlternateContent>
          </a:graphicData>
        </a:graphic>
      </p:graphicFrame>
      <p:graphicFrame>
        <p:nvGraphicFramePr>
          <p:cNvPr id="6" name="对象 5">
            <a:extLst>
              <a:ext uri="{FF2B5EF4-FFF2-40B4-BE49-F238E27FC236}">
                <a16:creationId xmlns:a16="http://schemas.microsoft.com/office/drawing/2014/main" id="{783F391C-C8D5-905A-20F1-CA0A2063B9F2}"/>
              </a:ext>
            </a:extLst>
          </p:cNvPr>
          <p:cNvGraphicFramePr>
            <a:graphicFrameLocks noChangeAspect="1"/>
          </p:cNvGraphicFramePr>
          <p:nvPr>
            <p:extLst>
              <p:ext uri="{D42A27DB-BD31-4B8C-83A1-F6EECF244321}">
                <p14:modId xmlns:p14="http://schemas.microsoft.com/office/powerpoint/2010/main" val="2164258086"/>
              </p:ext>
            </p:extLst>
          </p:nvPr>
        </p:nvGraphicFramePr>
        <p:xfrm>
          <a:off x="7229912" y="5674860"/>
          <a:ext cx="393932" cy="418553"/>
        </p:xfrm>
        <a:graphic>
          <a:graphicData uri="http://schemas.openxmlformats.org/presentationml/2006/ole">
            <mc:AlternateContent xmlns:mc="http://schemas.openxmlformats.org/markup-compatibility/2006">
              <mc:Choice xmlns:v="urn:schemas-microsoft-com:vml" Requires="v">
                <p:oleObj spid="_x0000_s6358" name="Equation" r:id="rId12" imgW="254756" imgH="269371" progId="Equation.DSMT4">
                  <p:embed/>
                </p:oleObj>
              </mc:Choice>
              <mc:Fallback>
                <p:oleObj name="Equation" r:id="rId12" imgW="254756" imgH="269371" progId="Equation.DSMT4">
                  <p:embed/>
                  <p:pic>
                    <p:nvPicPr>
                      <p:cNvPr id="0" name=""/>
                      <p:cNvPicPr/>
                      <p:nvPr/>
                    </p:nvPicPr>
                    <p:blipFill>
                      <a:blip r:embed="rId13"/>
                      <a:stretch>
                        <a:fillRect/>
                      </a:stretch>
                    </p:blipFill>
                    <p:spPr>
                      <a:xfrm>
                        <a:off x="7229912" y="5674860"/>
                        <a:ext cx="393932" cy="418553"/>
                      </a:xfrm>
                      <a:prstGeom prst="rect">
                        <a:avLst/>
                      </a:prstGeom>
                    </p:spPr>
                  </p:pic>
                </p:oleObj>
              </mc:Fallback>
            </mc:AlternateContent>
          </a:graphicData>
        </a:graphic>
      </p:graphicFrame>
      <p:graphicFrame>
        <p:nvGraphicFramePr>
          <p:cNvPr id="9" name="对象 8">
            <a:extLst>
              <a:ext uri="{FF2B5EF4-FFF2-40B4-BE49-F238E27FC236}">
                <a16:creationId xmlns:a16="http://schemas.microsoft.com/office/drawing/2014/main" id="{4720301F-0AE4-B4D8-569D-02E2C0100CAF}"/>
              </a:ext>
            </a:extLst>
          </p:cNvPr>
          <p:cNvGraphicFramePr>
            <a:graphicFrameLocks noChangeAspect="1"/>
          </p:cNvGraphicFramePr>
          <p:nvPr>
            <p:extLst>
              <p:ext uri="{D42A27DB-BD31-4B8C-83A1-F6EECF244321}">
                <p14:modId xmlns:p14="http://schemas.microsoft.com/office/powerpoint/2010/main" val="2468776530"/>
              </p:ext>
            </p:extLst>
          </p:nvPr>
        </p:nvGraphicFramePr>
        <p:xfrm>
          <a:off x="6968374" y="6116448"/>
          <a:ext cx="396015" cy="437948"/>
        </p:xfrm>
        <a:graphic>
          <a:graphicData uri="http://schemas.openxmlformats.org/presentationml/2006/ole">
            <mc:AlternateContent xmlns:mc="http://schemas.openxmlformats.org/markup-compatibility/2006">
              <mc:Choice xmlns:v="urn:schemas-microsoft-com:vml" Requires="v">
                <p:oleObj spid="_x0000_s6359" name="Equation" r:id="rId14" imgW="134821" imgH="149321" progId="Equation.DSMT4">
                  <p:embed/>
                </p:oleObj>
              </mc:Choice>
              <mc:Fallback>
                <p:oleObj name="Equation" r:id="rId14" imgW="134821" imgH="149321" progId="Equation.DSMT4">
                  <p:embed/>
                  <p:pic>
                    <p:nvPicPr>
                      <p:cNvPr id="0" name=""/>
                      <p:cNvPicPr/>
                      <p:nvPr/>
                    </p:nvPicPr>
                    <p:blipFill>
                      <a:blip r:embed="rId15"/>
                      <a:stretch>
                        <a:fillRect/>
                      </a:stretch>
                    </p:blipFill>
                    <p:spPr>
                      <a:xfrm>
                        <a:off x="6968374" y="6116448"/>
                        <a:ext cx="396015" cy="437948"/>
                      </a:xfrm>
                      <a:prstGeom prst="rect">
                        <a:avLst/>
                      </a:prstGeom>
                    </p:spPr>
                  </p:pic>
                </p:oleObj>
              </mc:Fallback>
            </mc:AlternateContent>
          </a:graphicData>
        </a:graphic>
      </p:graphicFrame>
      <p:graphicFrame>
        <p:nvGraphicFramePr>
          <p:cNvPr id="10" name="对象 9">
            <a:extLst>
              <a:ext uri="{FF2B5EF4-FFF2-40B4-BE49-F238E27FC236}">
                <a16:creationId xmlns:a16="http://schemas.microsoft.com/office/drawing/2014/main" id="{76B57B81-7F1D-F1EB-B2F8-86CD42D9BD81}"/>
              </a:ext>
            </a:extLst>
          </p:cNvPr>
          <p:cNvGraphicFramePr>
            <a:graphicFrameLocks noChangeAspect="1"/>
          </p:cNvGraphicFramePr>
          <p:nvPr>
            <p:extLst>
              <p:ext uri="{D42A27DB-BD31-4B8C-83A1-F6EECF244321}">
                <p14:modId xmlns:p14="http://schemas.microsoft.com/office/powerpoint/2010/main" val="3946594449"/>
              </p:ext>
            </p:extLst>
          </p:nvPr>
        </p:nvGraphicFramePr>
        <p:xfrm>
          <a:off x="5600776" y="2768992"/>
          <a:ext cx="315454" cy="290330"/>
        </p:xfrm>
        <a:graphic>
          <a:graphicData uri="http://schemas.openxmlformats.org/presentationml/2006/ole">
            <mc:AlternateContent xmlns:mc="http://schemas.openxmlformats.org/markup-compatibility/2006">
              <mc:Choice xmlns:v="urn:schemas-microsoft-com:vml" Requires="v">
                <p:oleObj spid="_x0000_s6360" name="Equation" r:id="rId16" imgW="179903" imgH="164592" progId="Equation.DSMT4">
                  <p:embed/>
                </p:oleObj>
              </mc:Choice>
              <mc:Fallback>
                <p:oleObj name="Equation" r:id="rId16" imgW="179903" imgH="164592" progId="Equation.DSMT4">
                  <p:embed/>
                  <p:pic>
                    <p:nvPicPr>
                      <p:cNvPr id="0" name=""/>
                      <p:cNvPicPr/>
                      <p:nvPr/>
                    </p:nvPicPr>
                    <p:blipFill>
                      <a:blip r:embed="rId17"/>
                      <a:stretch>
                        <a:fillRect/>
                      </a:stretch>
                    </p:blipFill>
                    <p:spPr>
                      <a:xfrm>
                        <a:off x="5600776" y="2768992"/>
                        <a:ext cx="315454" cy="290330"/>
                      </a:xfrm>
                      <a:prstGeom prst="rect">
                        <a:avLst/>
                      </a:prstGeom>
                    </p:spPr>
                  </p:pic>
                </p:oleObj>
              </mc:Fallback>
            </mc:AlternateContent>
          </a:graphicData>
        </a:graphic>
      </p:graphicFrame>
      <p:graphicFrame>
        <p:nvGraphicFramePr>
          <p:cNvPr id="11" name="对象 10">
            <a:extLst>
              <a:ext uri="{FF2B5EF4-FFF2-40B4-BE49-F238E27FC236}">
                <a16:creationId xmlns:a16="http://schemas.microsoft.com/office/drawing/2014/main" id="{2687FCBA-1893-F3E2-B17C-212E46126EA3}"/>
              </a:ext>
            </a:extLst>
          </p:cNvPr>
          <p:cNvGraphicFramePr>
            <a:graphicFrameLocks noChangeAspect="1"/>
          </p:cNvGraphicFramePr>
          <p:nvPr>
            <p:extLst>
              <p:ext uri="{D42A27DB-BD31-4B8C-83A1-F6EECF244321}">
                <p14:modId xmlns:p14="http://schemas.microsoft.com/office/powerpoint/2010/main" val="3454502556"/>
              </p:ext>
            </p:extLst>
          </p:nvPr>
        </p:nvGraphicFramePr>
        <p:xfrm>
          <a:off x="7623844" y="2647077"/>
          <a:ext cx="315454" cy="474578"/>
        </p:xfrm>
        <a:graphic>
          <a:graphicData uri="http://schemas.openxmlformats.org/presentationml/2006/ole">
            <mc:AlternateContent xmlns:mc="http://schemas.openxmlformats.org/markup-compatibility/2006">
              <mc:Choice xmlns:v="urn:schemas-microsoft-com:vml" Requires="v">
                <p:oleObj spid="_x0000_s6361" name="Equation" r:id="rId18" imgW="179903" imgH="269371" progId="Equation.DSMT4">
                  <p:embed/>
                </p:oleObj>
              </mc:Choice>
              <mc:Fallback>
                <p:oleObj name="Equation" r:id="rId18" imgW="179903" imgH="269371" progId="Equation.DSMT4">
                  <p:embed/>
                  <p:pic>
                    <p:nvPicPr>
                      <p:cNvPr id="0" name=""/>
                      <p:cNvPicPr/>
                      <p:nvPr/>
                    </p:nvPicPr>
                    <p:blipFill>
                      <a:blip r:embed="rId19"/>
                      <a:stretch>
                        <a:fillRect/>
                      </a:stretch>
                    </p:blipFill>
                    <p:spPr>
                      <a:xfrm>
                        <a:off x="7623844" y="2647077"/>
                        <a:ext cx="315454" cy="474578"/>
                      </a:xfrm>
                      <a:prstGeom prst="rect">
                        <a:avLst/>
                      </a:prstGeom>
                    </p:spPr>
                  </p:pic>
                </p:oleObj>
              </mc:Fallback>
            </mc:AlternateContent>
          </a:graphicData>
        </a:graphic>
      </p:graphicFrame>
      <p:graphicFrame>
        <p:nvGraphicFramePr>
          <p:cNvPr id="22" name="对象 21">
            <a:extLst>
              <a:ext uri="{FF2B5EF4-FFF2-40B4-BE49-F238E27FC236}">
                <a16:creationId xmlns:a16="http://schemas.microsoft.com/office/drawing/2014/main" id="{81DE9F8E-9BAA-DA4F-7BF6-EAAADE21A494}"/>
              </a:ext>
            </a:extLst>
          </p:cNvPr>
          <p:cNvGraphicFramePr>
            <a:graphicFrameLocks noChangeAspect="1"/>
          </p:cNvGraphicFramePr>
          <p:nvPr>
            <p:extLst>
              <p:ext uri="{D42A27DB-BD31-4B8C-83A1-F6EECF244321}">
                <p14:modId xmlns:p14="http://schemas.microsoft.com/office/powerpoint/2010/main" val="959177891"/>
              </p:ext>
            </p:extLst>
          </p:nvPr>
        </p:nvGraphicFramePr>
        <p:xfrm>
          <a:off x="7812284" y="3548479"/>
          <a:ext cx="384719" cy="433126"/>
        </p:xfrm>
        <a:graphic>
          <a:graphicData uri="http://schemas.openxmlformats.org/presentationml/2006/ole">
            <mc:AlternateContent xmlns:mc="http://schemas.openxmlformats.org/markup-compatibility/2006">
              <mc:Choice xmlns:v="urn:schemas-microsoft-com:vml" Requires="v">
                <p:oleObj spid="_x0000_s6362" name="Equation" r:id="rId20" imgW="239871" imgH="269371" progId="Equation.DSMT4">
                  <p:embed/>
                </p:oleObj>
              </mc:Choice>
              <mc:Fallback>
                <p:oleObj name="Equation" r:id="rId20" imgW="239871" imgH="269371" progId="Equation.DSMT4">
                  <p:embed/>
                  <p:pic>
                    <p:nvPicPr>
                      <p:cNvPr id="0" name=""/>
                      <p:cNvPicPr/>
                      <p:nvPr/>
                    </p:nvPicPr>
                    <p:blipFill>
                      <a:blip r:embed="rId21"/>
                      <a:stretch>
                        <a:fillRect/>
                      </a:stretch>
                    </p:blipFill>
                    <p:spPr>
                      <a:xfrm>
                        <a:off x="7812284" y="3548479"/>
                        <a:ext cx="384719" cy="433126"/>
                      </a:xfrm>
                      <a:prstGeom prst="rect">
                        <a:avLst/>
                      </a:prstGeom>
                    </p:spPr>
                  </p:pic>
                </p:oleObj>
              </mc:Fallback>
            </mc:AlternateContent>
          </a:graphicData>
        </a:graphic>
      </p:graphicFrame>
      <p:graphicFrame>
        <p:nvGraphicFramePr>
          <p:cNvPr id="39" name="对象 38">
            <a:extLst>
              <a:ext uri="{FF2B5EF4-FFF2-40B4-BE49-F238E27FC236}">
                <a16:creationId xmlns:a16="http://schemas.microsoft.com/office/drawing/2014/main" id="{3A31E6EE-9BBA-EB2A-54C0-664F0C21F08F}"/>
              </a:ext>
            </a:extLst>
          </p:cNvPr>
          <p:cNvGraphicFramePr>
            <a:graphicFrameLocks noChangeAspect="1"/>
          </p:cNvGraphicFramePr>
          <p:nvPr>
            <p:extLst>
              <p:ext uri="{D42A27DB-BD31-4B8C-83A1-F6EECF244321}">
                <p14:modId xmlns:p14="http://schemas.microsoft.com/office/powerpoint/2010/main" val="2210703629"/>
              </p:ext>
            </p:extLst>
          </p:nvPr>
        </p:nvGraphicFramePr>
        <p:xfrm>
          <a:off x="5624992" y="3691800"/>
          <a:ext cx="267022" cy="289274"/>
        </p:xfrm>
        <a:graphic>
          <a:graphicData uri="http://schemas.openxmlformats.org/presentationml/2006/ole">
            <mc:AlternateContent xmlns:mc="http://schemas.openxmlformats.org/markup-compatibility/2006">
              <mc:Choice xmlns:v="urn:schemas-microsoft-com:vml" Requires="v">
                <p:oleObj spid="_x0000_s6363" name="Equation" r:id="rId22" imgW="152280" imgH="164880" progId="Equation.DSMT4">
                  <p:embed/>
                </p:oleObj>
              </mc:Choice>
              <mc:Fallback>
                <p:oleObj name="Equation" r:id="rId22" imgW="152280" imgH="164880" progId="Equation.DSMT4">
                  <p:embed/>
                  <p:pic>
                    <p:nvPicPr>
                      <p:cNvPr id="0" name=""/>
                      <p:cNvPicPr/>
                      <p:nvPr/>
                    </p:nvPicPr>
                    <p:blipFill>
                      <a:blip r:embed="rId23"/>
                      <a:stretch>
                        <a:fillRect/>
                      </a:stretch>
                    </p:blipFill>
                    <p:spPr>
                      <a:xfrm>
                        <a:off x="5624992" y="3691800"/>
                        <a:ext cx="267022" cy="289274"/>
                      </a:xfrm>
                      <a:prstGeom prst="rect">
                        <a:avLst/>
                      </a:prstGeom>
                    </p:spPr>
                  </p:pic>
                </p:oleObj>
              </mc:Fallback>
            </mc:AlternateContent>
          </a:graphicData>
        </a:graphic>
      </p:graphicFrame>
      <p:graphicFrame>
        <p:nvGraphicFramePr>
          <p:cNvPr id="40" name="对象 39">
            <a:extLst>
              <a:ext uri="{FF2B5EF4-FFF2-40B4-BE49-F238E27FC236}">
                <a16:creationId xmlns:a16="http://schemas.microsoft.com/office/drawing/2014/main" id="{52F2B908-0AD4-7604-72A4-630F70408E95}"/>
              </a:ext>
            </a:extLst>
          </p:cNvPr>
          <p:cNvGraphicFramePr>
            <a:graphicFrameLocks noChangeAspect="1"/>
          </p:cNvGraphicFramePr>
          <p:nvPr>
            <p:extLst>
              <p:ext uri="{D42A27DB-BD31-4B8C-83A1-F6EECF244321}">
                <p14:modId xmlns:p14="http://schemas.microsoft.com/office/powerpoint/2010/main" val="1112975035"/>
              </p:ext>
            </p:extLst>
          </p:nvPr>
        </p:nvGraphicFramePr>
        <p:xfrm>
          <a:off x="9786256" y="4248365"/>
          <a:ext cx="1239984" cy="688880"/>
        </p:xfrm>
        <a:graphic>
          <a:graphicData uri="http://schemas.openxmlformats.org/presentationml/2006/ole">
            <mc:AlternateContent xmlns:mc="http://schemas.openxmlformats.org/markup-compatibility/2006">
              <mc:Choice xmlns:v="urn:schemas-microsoft-com:vml" Requires="v">
                <p:oleObj spid="_x0000_s6364" name="Equation" r:id="rId24" imgW="799920" imgH="444240" progId="Equation.DSMT4">
                  <p:embed/>
                </p:oleObj>
              </mc:Choice>
              <mc:Fallback>
                <p:oleObj name="Equation" r:id="rId24" imgW="799920" imgH="444240" progId="Equation.DSMT4">
                  <p:embed/>
                  <p:pic>
                    <p:nvPicPr>
                      <p:cNvPr id="0" name=""/>
                      <p:cNvPicPr/>
                      <p:nvPr/>
                    </p:nvPicPr>
                    <p:blipFill>
                      <a:blip r:embed="rId25"/>
                      <a:stretch>
                        <a:fillRect/>
                      </a:stretch>
                    </p:blipFill>
                    <p:spPr>
                      <a:xfrm>
                        <a:off x="9786256" y="4248365"/>
                        <a:ext cx="1239984" cy="688880"/>
                      </a:xfrm>
                      <a:prstGeom prst="rect">
                        <a:avLst/>
                      </a:prstGeom>
                    </p:spPr>
                  </p:pic>
                </p:oleObj>
              </mc:Fallback>
            </mc:AlternateContent>
          </a:graphicData>
        </a:graphic>
      </p:graphicFrame>
      <p:graphicFrame>
        <p:nvGraphicFramePr>
          <p:cNvPr id="45" name="对象 44">
            <a:extLst>
              <a:ext uri="{FF2B5EF4-FFF2-40B4-BE49-F238E27FC236}">
                <a16:creationId xmlns:a16="http://schemas.microsoft.com/office/drawing/2014/main" id="{FBC04326-BC95-2481-95AC-F0C514F34182}"/>
              </a:ext>
            </a:extLst>
          </p:cNvPr>
          <p:cNvGraphicFramePr>
            <a:graphicFrameLocks noChangeAspect="1"/>
          </p:cNvGraphicFramePr>
          <p:nvPr>
            <p:extLst>
              <p:ext uri="{D42A27DB-BD31-4B8C-83A1-F6EECF244321}">
                <p14:modId xmlns:p14="http://schemas.microsoft.com/office/powerpoint/2010/main" val="2753986899"/>
              </p:ext>
            </p:extLst>
          </p:nvPr>
        </p:nvGraphicFramePr>
        <p:xfrm>
          <a:off x="9369559" y="5320322"/>
          <a:ext cx="2083200" cy="1196732"/>
        </p:xfrm>
        <a:graphic>
          <a:graphicData uri="http://schemas.openxmlformats.org/presentationml/2006/ole">
            <mc:AlternateContent xmlns:mc="http://schemas.openxmlformats.org/markup-compatibility/2006">
              <mc:Choice xmlns:v="urn:schemas-microsoft-com:vml" Requires="v">
                <p:oleObj spid="_x0000_s6365" name="Equation" r:id="rId26" imgW="1193760" imgH="685800" progId="Equation.DSMT4">
                  <p:embed/>
                </p:oleObj>
              </mc:Choice>
              <mc:Fallback>
                <p:oleObj name="Equation" r:id="rId26" imgW="1193760" imgH="685800" progId="Equation.DSMT4">
                  <p:embed/>
                  <p:pic>
                    <p:nvPicPr>
                      <p:cNvPr id="0" name=""/>
                      <p:cNvPicPr/>
                      <p:nvPr/>
                    </p:nvPicPr>
                    <p:blipFill>
                      <a:blip r:embed="rId27"/>
                      <a:stretch>
                        <a:fillRect/>
                      </a:stretch>
                    </p:blipFill>
                    <p:spPr>
                      <a:xfrm>
                        <a:off x="9369559" y="5320322"/>
                        <a:ext cx="2083200" cy="1196732"/>
                      </a:xfrm>
                      <a:prstGeom prst="rect">
                        <a:avLst/>
                      </a:prstGeom>
                    </p:spPr>
                  </p:pic>
                </p:oleObj>
              </mc:Fallback>
            </mc:AlternateContent>
          </a:graphicData>
        </a:graphic>
      </p:graphicFrame>
      <p:sp>
        <p:nvSpPr>
          <p:cNvPr id="7" name="文本框 6">
            <a:extLst>
              <a:ext uri="{FF2B5EF4-FFF2-40B4-BE49-F238E27FC236}">
                <a16:creationId xmlns:a16="http://schemas.microsoft.com/office/drawing/2014/main" id="{298C432E-AA32-FD8B-8E51-B9FBBEDB9A47}"/>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ea typeface="微软雅黑" panose="020B0503020204020204" pitchFamily="34" charset="-122"/>
                <a:cs typeface="Times New Roman" panose="02020603050405020304" pitchFamily="18" charset="0"/>
              </a:rPr>
              <a:t>10.4 </a:t>
            </a:r>
            <a:r>
              <a:rPr lang="zh-CN" altLang="en-US" sz="3600" b="1" dirty="0">
                <a:solidFill>
                  <a:srgbClr val="003F88"/>
                </a:solidFill>
                <a:latin typeface="Times New Roman" panose="02020603050405020304" pitchFamily="18" charset="0"/>
                <a:ea typeface="微软雅黑" panose="020B0503020204020204" pitchFamily="34" charset="-122"/>
                <a:cs typeface="Times New Roman" panose="02020603050405020304" pitchFamily="18" charset="0"/>
              </a:rPr>
              <a:t>特性分析</a:t>
            </a:r>
          </a:p>
        </p:txBody>
      </p:sp>
    </p:spTree>
    <p:extLst>
      <p:ext uri="{BB962C8B-B14F-4D97-AF65-F5344CB8AC3E}">
        <p14:creationId xmlns:p14="http://schemas.microsoft.com/office/powerpoint/2010/main" val="4807285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13" name="文本框 12">
            <a:extLst>
              <a:ext uri="{FF2B5EF4-FFF2-40B4-BE49-F238E27FC236}">
                <a16:creationId xmlns:a16="http://schemas.microsoft.com/office/drawing/2014/main" id="{D69CC19E-8AB4-24D8-2D2D-FE40C8B5AC42}"/>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ea typeface="微软雅黑" panose="020B0503020204020204" pitchFamily="34" charset="-122"/>
                <a:cs typeface="Times New Roman" panose="02020603050405020304" pitchFamily="18" charset="0"/>
              </a:rPr>
              <a:t>10.4 </a:t>
            </a:r>
            <a:r>
              <a:rPr lang="zh-CN" altLang="en-US" sz="3600" b="1" dirty="0">
                <a:solidFill>
                  <a:srgbClr val="003F88"/>
                </a:solidFill>
                <a:latin typeface="Times New Roman" panose="02020603050405020304" pitchFamily="18" charset="0"/>
                <a:ea typeface="微软雅黑" panose="020B0503020204020204" pitchFamily="34" charset="-122"/>
                <a:cs typeface="Times New Roman" panose="02020603050405020304" pitchFamily="18" charset="0"/>
              </a:rPr>
              <a:t>特性分析</a:t>
            </a:r>
          </a:p>
        </p:txBody>
      </p:sp>
      <p:sp>
        <p:nvSpPr>
          <p:cNvPr id="2" name="矩形 1">
            <a:extLst>
              <a:ext uri="{FF2B5EF4-FFF2-40B4-BE49-F238E27FC236}">
                <a16:creationId xmlns:a16="http://schemas.microsoft.com/office/drawing/2014/main" id="{F0E3D3AB-2032-3259-2E49-DB4008F70325}"/>
              </a:ext>
            </a:extLst>
          </p:cNvPr>
          <p:cNvSpPr/>
          <p:nvPr/>
        </p:nvSpPr>
        <p:spPr>
          <a:xfrm>
            <a:off x="364557" y="965994"/>
            <a:ext cx="2082621" cy="581506"/>
          </a:xfrm>
          <a:prstGeom prst="rect">
            <a:avLst/>
          </a:prstGeom>
          <a:noFill/>
        </p:spPr>
        <p:txBody>
          <a:bodyPr wrap="none" lIns="91440" tIns="45720" rIns="91440" bIns="4572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marL="457200" indent="-457200">
              <a:lnSpc>
                <a:spcPct val="125000"/>
              </a:lnSpc>
              <a:buFont typeface="Wingdings" panose="05000000000000000000" pitchFamily="2" charset="2"/>
              <a:buChar char="p"/>
            </a:pPr>
            <a:r>
              <a:rPr lang="zh-CN" altLang="en-US" sz="2800" b="1" dirty="0">
                <a:solidFill>
                  <a:srgbClr val="003F88"/>
                </a:solidFill>
                <a:latin typeface="微软雅黑" panose="020B0503020204020204" pitchFamily="34" charset="-122"/>
                <a:ea typeface="微软雅黑" panose="020B0503020204020204" pitchFamily="34" charset="-122"/>
              </a:rPr>
              <a:t>动态特性</a:t>
            </a:r>
          </a:p>
        </p:txBody>
      </p:sp>
      <p:sp>
        <p:nvSpPr>
          <p:cNvPr id="3" name="矩形 2">
            <a:extLst>
              <a:ext uri="{FF2B5EF4-FFF2-40B4-BE49-F238E27FC236}">
                <a16:creationId xmlns:a16="http://schemas.microsoft.com/office/drawing/2014/main" id="{27E4372D-EB42-97F8-A288-72F334047BE2}"/>
              </a:ext>
            </a:extLst>
          </p:cNvPr>
          <p:cNvSpPr/>
          <p:nvPr/>
        </p:nvSpPr>
        <p:spPr>
          <a:xfrm>
            <a:off x="1209704" y="1735083"/>
            <a:ext cx="1415772" cy="461665"/>
          </a:xfrm>
          <a:prstGeom prst="rect">
            <a:avLst/>
          </a:prstGeom>
          <a:noFill/>
        </p:spPr>
        <p:txBody>
          <a:bodyPr wrap="none" lIns="91440" tIns="45720" rIns="91440" bIns="4572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r>
              <a:rPr lang="zh-CN" altLang="en-US" sz="2400" b="1" dirty="0">
                <a:ln w="0"/>
                <a:ea typeface="微软雅黑" panose="020B0503020204020204" pitchFamily="34" charset="-122"/>
                <a:cs typeface="Times New Roman" panose="02020603050405020304" pitchFamily="18" charset="0"/>
              </a:rPr>
              <a:t>频率特性</a:t>
            </a:r>
            <a:endParaRPr lang="en-US" altLang="zh-CN" sz="2400" b="1" dirty="0">
              <a:ln w="0"/>
              <a:ea typeface="微软雅黑" panose="020B0503020204020204" pitchFamily="34" charset="-122"/>
              <a:cs typeface="Times New Roman" panose="02020603050405020304" pitchFamily="18" charset="0"/>
            </a:endParaRPr>
          </a:p>
        </p:txBody>
      </p:sp>
      <p:sp>
        <p:nvSpPr>
          <p:cNvPr id="6" name="矩形 5">
            <a:extLst>
              <a:ext uri="{FF2B5EF4-FFF2-40B4-BE49-F238E27FC236}">
                <a16:creationId xmlns:a16="http://schemas.microsoft.com/office/drawing/2014/main" id="{081BA511-BA8F-F253-EDA9-7B09FA57E92A}"/>
              </a:ext>
            </a:extLst>
          </p:cNvPr>
          <p:cNvSpPr/>
          <p:nvPr/>
        </p:nvSpPr>
        <p:spPr>
          <a:xfrm>
            <a:off x="2843346" y="1648354"/>
            <a:ext cx="6505307" cy="1422954"/>
          </a:xfrm>
          <a:prstGeom prst="rect">
            <a:avLst/>
          </a:prstGeom>
          <a:noFill/>
        </p:spPr>
        <p:txBody>
          <a:bodyPr wrap="none" lIns="91440" tIns="45720" rIns="91440" bIns="4572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marL="342900" indent="-342900">
              <a:lnSpc>
                <a:spcPct val="150000"/>
              </a:lnSpc>
              <a:buFont typeface="Arial" panose="020B0604020202020204" pitchFamily="34" charset="0"/>
              <a:buChar char="•"/>
            </a:pPr>
            <a:r>
              <a:rPr lang="zh-CN" altLang="en-US" sz="2000" dirty="0">
                <a:solidFill>
                  <a:srgbClr val="000000"/>
                </a:solidFill>
                <a:ea typeface="微软雅黑" panose="020B0503020204020204" pitchFamily="34" charset="-122"/>
                <a:cs typeface="Times New Roman" panose="02020603050405020304" pitchFamily="18" charset="0"/>
              </a:rPr>
              <a:t>伺服阀的动态特性一般用频率特性表示</a:t>
            </a:r>
            <a:endParaRPr lang="en-US" altLang="zh-CN" sz="2000" dirty="0">
              <a:solidFill>
                <a:srgbClr val="000000"/>
              </a:solidFill>
              <a:ea typeface="微软雅黑" panose="020B0503020204020204" pitchFamily="34" charset="-122"/>
              <a:cs typeface="Times New Roman" panose="02020603050405020304" pitchFamily="18" charset="0"/>
            </a:endParaRPr>
          </a:p>
          <a:p>
            <a:pPr marL="342900" indent="-342900" algn="dist">
              <a:lnSpc>
                <a:spcPct val="150000"/>
              </a:lnSpc>
              <a:buFont typeface="Arial" panose="020B0604020202020204" pitchFamily="34" charset="0"/>
              <a:buChar char="•"/>
            </a:pPr>
            <a:r>
              <a:rPr lang="zh-CN" altLang="en-US" sz="2000" dirty="0">
                <a:ln w="0"/>
                <a:ea typeface="微软雅黑" panose="020B0503020204020204" pitchFamily="34" charset="-122"/>
                <a:cs typeface="Times New Roman" panose="02020603050405020304" pitchFamily="18" charset="0"/>
              </a:rPr>
              <a:t>频宽：幅值比为</a:t>
            </a:r>
            <a:r>
              <a:rPr lang="en-US" altLang="zh-CN" sz="2000" dirty="0">
                <a:ln w="0"/>
                <a:ea typeface="微软雅黑" panose="020B0503020204020204" pitchFamily="34" charset="-122"/>
                <a:cs typeface="Times New Roman" panose="02020603050405020304" pitchFamily="18" charset="0"/>
              </a:rPr>
              <a:t>-3dB</a:t>
            </a:r>
            <a:r>
              <a:rPr lang="zh-CN" altLang="en-US" sz="2000" dirty="0">
                <a:ln w="0"/>
                <a:ea typeface="微软雅黑" panose="020B0503020204020204" pitchFamily="34" charset="-122"/>
                <a:cs typeface="Times New Roman" panose="02020603050405020304" pitchFamily="18" charset="0"/>
              </a:rPr>
              <a:t>和相位差为</a:t>
            </a:r>
            <a:r>
              <a:rPr lang="en-US" altLang="zh-CN" sz="2000" dirty="0">
                <a:ln w="0"/>
                <a:ea typeface="微软雅黑" panose="020B0503020204020204" pitchFamily="34" charset="-122"/>
                <a:cs typeface="Times New Roman" panose="02020603050405020304" pitchFamily="18" charset="0"/>
              </a:rPr>
              <a:t>-90°</a:t>
            </a:r>
            <a:r>
              <a:rPr lang="zh-CN" altLang="en-US" sz="2000" dirty="0">
                <a:ln w="0"/>
                <a:ea typeface="微软雅黑" panose="020B0503020204020204" pitchFamily="34" charset="-122"/>
                <a:cs typeface="Times New Roman" panose="02020603050405020304" pitchFamily="18" charset="0"/>
              </a:rPr>
              <a:t>时所对应的频率</a:t>
            </a:r>
            <a:endParaRPr lang="en-US" altLang="zh-CN" sz="2000" dirty="0">
              <a:ln w="0"/>
              <a:ea typeface="微软雅黑" panose="020B0503020204020204" pitchFamily="34" charset="-122"/>
              <a:cs typeface="Times New Roman" panose="02020603050405020304" pitchFamily="18" charset="0"/>
            </a:endParaRPr>
          </a:p>
          <a:p>
            <a:pPr marL="342900" indent="-342900">
              <a:lnSpc>
                <a:spcPct val="150000"/>
              </a:lnSpc>
              <a:buFont typeface="Arial" panose="020B0604020202020204" pitchFamily="34" charset="0"/>
              <a:buChar char="•"/>
            </a:pPr>
            <a:r>
              <a:rPr lang="zh-CN" altLang="en-US" sz="2000" dirty="0">
                <a:ln w="0"/>
                <a:ea typeface="微软雅黑" panose="020B0503020204020204" pitchFamily="34" charset="-122"/>
                <a:cs typeface="Times New Roman" panose="02020603050405020304" pitchFamily="18" charset="0"/>
              </a:rPr>
              <a:t>频宽是衡量伺服阀动态特性的重要参数</a:t>
            </a:r>
            <a:endParaRPr lang="en-US" altLang="zh-CN" sz="2000" dirty="0">
              <a:ln w="0"/>
              <a:ea typeface="微软雅黑" panose="020B0503020204020204" pitchFamily="34" charset="-122"/>
              <a:cs typeface="Times New Roman" panose="02020603050405020304" pitchFamily="18" charset="0"/>
            </a:endParaRPr>
          </a:p>
        </p:txBody>
      </p:sp>
      <p:pic>
        <p:nvPicPr>
          <p:cNvPr id="9" name="图片 8">
            <a:extLst>
              <a:ext uri="{FF2B5EF4-FFF2-40B4-BE49-F238E27FC236}">
                <a16:creationId xmlns:a16="http://schemas.microsoft.com/office/drawing/2014/main" id="{E6306D13-242D-2D75-4623-09641DAD3E31}"/>
              </a:ext>
            </a:extLst>
          </p:cNvPr>
          <p:cNvPicPr>
            <a:picLocks noChangeAspect="1"/>
          </p:cNvPicPr>
          <p:nvPr/>
        </p:nvPicPr>
        <p:blipFill>
          <a:blip r:embed="rId3"/>
          <a:stretch>
            <a:fillRect/>
          </a:stretch>
        </p:blipFill>
        <p:spPr>
          <a:xfrm>
            <a:off x="6919039" y="3222655"/>
            <a:ext cx="3869007" cy="3072654"/>
          </a:xfrm>
          <a:prstGeom prst="rect">
            <a:avLst/>
          </a:prstGeom>
          <a:ln>
            <a:noFill/>
          </a:ln>
        </p:spPr>
      </p:pic>
      <p:pic>
        <p:nvPicPr>
          <p:cNvPr id="10" name="图片 9">
            <a:extLst>
              <a:ext uri="{FF2B5EF4-FFF2-40B4-BE49-F238E27FC236}">
                <a16:creationId xmlns:a16="http://schemas.microsoft.com/office/drawing/2014/main" id="{AD3C2883-DB08-07CF-1054-108ADB274310}"/>
              </a:ext>
            </a:extLst>
          </p:cNvPr>
          <p:cNvPicPr>
            <a:picLocks noChangeAspect="1"/>
          </p:cNvPicPr>
          <p:nvPr/>
        </p:nvPicPr>
        <p:blipFill>
          <a:blip r:embed="rId4"/>
          <a:stretch>
            <a:fillRect/>
          </a:stretch>
        </p:blipFill>
        <p:spPr>
          <a:xfrm>
            <a:off x="1579745" y="3429000"/>
            <a:ext cx="3651560" cy="3072654"/>
          </a:xfrm>
          <a:prstGeom prst="rect">
            <a:avLst/>
          </a:prstGeom>
        </p:spPr>
      </p:pic>
      <p:sp>
        <p:nvSpPr>
          <p:cNvPr id="11" name="矩形 10">
            <a:extLst>
              <a:ext uri="{FF2B5EF4-FFF2-40B4-BE49-F238E27FC236}">
                <a16:creationId xmlns:a16="http://schemas.microsoft.com/office/drawing/2014/main" id="{0EB21550-0CF5-2A6B-DC13-E4F5484C0B9E}"/>
              </a:ext>
            </a:extLst>
          </p:cNvPr>
          <p:cNvSpPr/>
          <p:nvPr/>
        </p:nvSpPr>
        <p:spPr>
          <a:xfrm>
            <a:off x="2328406" y="6188942"/>
            <a:ext cx="2590800" cy="23605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4" name="文本框 3">
            <a:extLst>
              <a:ext uri="{FF2B5EF4-FFF2-40B4-BE49-F238E27FC236}">
                <a16:creationId xmlns:a16="http://schemas.microsoft.com/office/drawing/2014/main" id="{A6EFFFC0-624B-1D85-21DC-1155F00FAB71}"/>
              </a:ext>
            </a:extLst>
          </p:cNvPr>
          <p:cNvSpPr txBox="1"/>
          <p:nvPr/>
        </p:nvSpPr>
        <p:spPr>
          <a:xfrm>
            <a:off x="2158060" y="6228672"/>
            <a:ext cx="2590800" cy="369332"/>
          </a:xfrm>
          <a:prstGeom prst="rect">
            <a:avLst/>
          </a:prstGeom>
          <a:noFill/>
        </p:spPr>
        <p:txBody>
          <a:bodyPr wrap="square" rtlCol="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algn="ctr"/>
            <a:r>
              <a:rPr lang="zh-CN" altLang="en-US" dirty="0">
                <a:ea typeface="微软雅黑" panose="020B0503020204020204" pitchFamily="34" charset="-122"/>
                <a:cs typeface="Times New Roman" panose="02020603050405020304" pitchFamily="18" charset="0"/>
              </a:rPr>
              <a:t>阀的动态特性曲线</a:t>
            </a:r>
          </a:p>
        </p:txBody>
      </p:sp>
      <p:sp>
        <p:nvSpPr>
          <p:cNvPr id="14" name="文本框 13">
            <a:extLst>
              <a:ext uri="{FF2B5EF4-FFF2-40B4-BE49-F238E27FC236}">
                <a16:creationId xmlns:a16="http://schemas.microsoft.com/office/drawing/2014/main" id="{412A7A85-A54E-8FE8-B09A-A50F74DE339F}"/>
              </a:ext>
            </a:extLst>
          </p:cNvPr>
          <p:cNvSpPr txBox="1"/>
          <p:nvPr/>
        </p:nvSpPr>
        <p:spPr>
          <a:xfrm>
            <a:off x="7003596" y="6228672"/>
            <a:ext cx="3506360" cy="369332"/>
          </a:xfrm>
          <a:prstGeom prst="rect">
            <a:avLst/>
          </a:prstGeom>
          <a:noFill/>
        </p:spPr>
        <p:txBody>
          <a:bodyPr wrap="square" rtlCol="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algn="ctr"/>
            <a:r>
              <a:rPr lang="zh-CN" altLang="en-US" dirty="0">
                <a:ea typeface="微软雅黑" panose="020B0503020204020204" pitchFamily="34" charset="-122"/>
                <a:cs typeface="Times New Roman" panose="02020603050405020304" pitchFamily="18" charset="0"/>
              </a:rPr>
              <a:t>不同电流下的动态特性曲线</a:t>
            </a:r>
          </a:p>
        </p:txBody>
      </p:sp>
    </p:spTree>
    <p:extLst>
      <p:ext uri="{BB962C8B-B14F-4D97-AF65-F5344CB8AC3E}">
        <p14:creationId xmlns:p14="http://schemas.microsoft.com/office/powerpoint/2010/main" val="16804126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微软雅黑" panose="020B0503020204020204" pitchFamily="34" charset="-122"/>
              <a:ea typeface="微软雅黑" panose="020B0503020204020204" pitchFamily="34" charset="-122"/>
            </a:endParaRPr>
          </a:p>
        </p:txBody>
      </p:sp>
      <p:sp>
        <p:nvSpPr>
          <p:cNvPr id="13" name="文本框 12">
            <a:extLst>
              <a:ext uri="{FF2B5EF4-FFF2-40B4-BE49-F238E27FC236}">
                <a16:creationId xmlns:a16="http://schemas.microsoft.com/office/drawing/2014/main" id="{D69CC19E-8AB4-24D8-2D2D-FE40C8B5AC42}"/>
              </a:ext>
            </a:extLst>
          </p:cNvPr>
          <p:cNvSpPr txBox="1"/>
          <p:nvPr/>
        </p:nvSpPr>
        <p:spPr>
          <a:xfrm>
            <a:off x="429656" y="135415"/>
            <a:ext cx="2975869"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ea typeface="微软雅黑" panose="020B0503020204020204" pitchFamily="34" charset="-122"/>
                <a:cs typeface="Times New Roman" panose="02020603050405020304" pitchFamily="18" charset="0"/>
              </a:rPr>
              <a:t>10.5</a:t>
            </a:r>
            <a:r>
              <a:rPr lang="en-US" altLang="zh-CN" sz="3600" b="1" dirty="0">
                <a:solidFill>
                  <a:srgbClr val="003F88"/>
                </a:solidFill>
                <a:latin typeface="微软雅黑" panose="020B0503020204020204" pitchFamily="34" charset="-122"/>
                <a:ea typeface="微软雅黑" panose="020B0503020204020204" pitchFamily="34" charset="-122"/>
              </a:rPr>
              <a:t> </a:t>
            </a:r>
            <a:r>
              <a:rPr lang="zh-CN" altLang="en-US" sz="3600" b="1" dirty="0">
                <a:solidFill>
                  <a:srgbClr val="003F88"/>
                </a:solidFill>
                <a:latin typeface="微软雅黑" panose="020B0503020204020204" pitchFamily="34" charset="-122"/>
                <a:ea typeface="微软雅黑" panose="020B0503020204020204" pitchFamily="34" charset="-122"/>
              </a:rPr>
              <a:t>应用场景</a:t>
            </a:r>
          </a:p>
        </p:txBody>
      </p:sp>
      <p:sp>
        <p:nvSpPr>
          <p:cNvPr id="39" name="Content Placeholder 2">
            <a:extLst>
              <a:ext uri="{FF2B5EF4-FFF2-40B4-BE49-F238E27FC236}">
                <a16:creationId xmlns:a16="http://schemas.microsoft.com/office/drawing/2014/main" id="{5A7AAC82-0E8B-51C4-A967-4C1859DFFA1E}"/>
              </a:ext>
            </a:extLst>
          </p:cNvPr>
          <p:cNvSpPr>
            <a:spLocks noGrp="1"/>
          </p:cNvSpPr>
          <p:nvPr/>
        </p:nvSpPr>
        <p:spPr bwMode="auto">
          <a:xfrm>
            <a:off x="302214" y="926885"/>
            <a:ext cx="8352928" cy="432049"/>
          </a:xfrm>
          <a:prstGeom prst="rect">
            <a:avLst/>
          </a:prstGeom>
          <a:noFill/>
          <a:ln w="9525">
            <a:noFill/>
            <a:miter lim="800000"/>
          </a:ln>
        </p:spPr>
        <p:txBody>
          <a:bodyPr vert="horz" wrap="square" lIns="91440" tIns="45720" rIns="91440" bIns="45720" numCol="1" anchor="t" anchorCtr="0" compatLnSpc="1"/>
          <a:lst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ea typeface="+mn-ea"/>
              </a:defRPr>
            </a:lvl2pPr>
            <a:lvl3pPr marL="1143000" indent="-228600" algn="l" rtl="0" eaLnBrk="0" fontAlgn="base" hangingPunct="0">
              <a:spcBef>
                <a:spcPct val="20000"/>
              </a:spcBef>
              <a:spcAft>
                <a:spcPct val="0"/>
              </a:spcAft>
              <a:buChar char="•"/>
              <a:defRPr sz="2400">
                <a:solidFill>
                  <a:schemeClr val="tx1"/>
                </a:solidFill>
                <a:latin typeface="+mn-lt"/>
                <a:ea typeface="+mn-ea"/>
              </a:defRPr>
            </a:lvl3pPr>
            <a:lvl4pPr marL="1600200" indent="-228600" algn="l" rtl="0" eaLnBrk="0" fontAlgn="base" hangingPunct="0">
              <a:spcBef>
                <a:spcPct val="20000"/>
              </a:spcBef>
              <a:spcAft>
                <a:spcPct val="0"/>
              </a:spcAft>
              <a:buChar char="–"/>
              <a:defRPr sz="20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sz="2000">
                <a:solidFill>
                  <a:schemeClr val="tx1"/>
                </a:solidFill>
                <a:latin typeface="+mn-lt"/>
                <a:ea typeface="+mn-ea"/>
              </a:defRPr>
            </a:lvl6pPr>
            <a:lvl7pPr marL="2971800" indent="-228600" algn="l" rtl="0" fontAlgn="base">
              <a:spcBef>
                <a:spcPct val="20000"/>
              </a:spcBef>
              <a:spcAft>
                <a:spcPct val="0"/>
              </a:spcAft>
              <a:buChar char="»"/>
              <a:defRPr sz="2000">
                <a:solidFill>
                  <a:schemeClr val="tx1"/>
                </a:solidFill>
                <a:latin typeface="+mn-lt"/>
                <a:ea typeface="+mn-ea"/>
              </a:defRPr>
            </a:lvl7pPr>
            <a:lvl8pPr marL="3429000" indent="-228600" algn="l" rtl="0" fontAlgn="base">
              <a:spcBef>
                <a:spcPct val="20000"/>
              </a:spcBef>
              <a:spcAft>
                <a:spcPct val="0"/>
              </a:spcAft>
              <a:buChar char="»"/>
              <a:defRPr sz="2000">
                <a:solidFill>
                  <a:schemeClr val="tx1"/>
                </a:solidFill>
                <a:latin typeface="+mn-lt"/>
                <a:ea typeface="+mn-ea"/>
              </a:defRPr>
            </a:lvl8pPr>
            <a:lvl9pPr marL="3886200" indent="-228600" algn="l" rtl="0" fontAlgn="base">
              <a:spcBef>
                <a:spcPct val="20000"/>
              </a:spcBef>
              <a:spcAft>
                <a:spcPct val="0"/>
              </a:spcAft>
              <a:buChar char="»"/>
              <a:defRPr sz="2000">
                <a:solidFill>
                  <a:schemeClr val="tx1"/>
                </a:solidFill>
                <a:latin typeface="+mn-lt"/>
                <a:ea typeface="+mn-ea"/>
              </a:defRPr>
            </a:lvl9pPr>
          </a:lstStyle>
          <a:p>
            <a:pPr marL="457200" indent="-457200" eaLnBrk="1" hangingPunct="1">
              <a:lnSpc>
                <a:spcPct val="125000"/>
              </a:lnSpc>
              <a:spcBef>
                <a:spcPct val="0"/>
              </a:spcBef>
              <a:buFont typeface="Wingdings" panose="05000000000000000000" pitchFamily="2" charset="2"/>
              <a:buChar char="p"/>
            </a:pPr>
            <a:r>
              <a:rPr lang="zh-CN" altLang="en-US" sz="2800" b="1" dirty="0">
                <a:solidFill>
                  <a:srgbClr val="003F88"/>
                </a:solidFill>
                <a:latin typeface="微软雅黑" panose="020B0503020204020204" pitchFamily="34" charset="-122"/>
                <a:ea typeface="微软雅黑" panose="020B0503020204020204" pitchFamily="34" charset="-122"/>
              </a:rPr>
              <a:t>电液伺服阀的选用</a:t>
            </a:r>
            <a:endParaRPr lang="en-US" altLang="zh-CN" sz="2800" b="1" dirty="0">
              <a:solidFill>
                <a:srgbClr val="003F88"/>
              </a:solidFill>
              <a:latin typeface="微软雅黑" panose="020B0503020204020204" pitchFamily="34" charset="-122"/>
              <a:ea typeface="微软雅黑" panose="020B0503020204020204" pitchFamily="34" charset="-122"/>
            </a:endParaRPr>
          </a:p>
        </p:txBody>
      </p:sp>
      <p:sp>
        <p:nvSpPr>
          <p:cNvPr id="40" name="文本框 2">
            <a:extLst>
              <a:ext uri="{FF2B5EF4-FFF2-40B4-BE49-F238E27FC236}">
                <a16:creationId xmlns:a16="http://schemas.microsoft.com/office/drawing/2014/main" id="{74FB5802-DB15-6FC9-0ADF-3E8064A8E4EE}"/>
              </a:ext>
            </a:extLst>
          </p:cNvPr>
          <p:cNvSpPr txBox="1"/>
          <p:nvPr/>
        </p:nvSpPr>
        <p:spPr>
          <a:xfrm>
            <a:off x="6537493" y="2212524"/>
            <a:ext cx="5328592" cy="1884618"/>
          </a:xfrm>
          <a:prstGeom prst="rect">
            <a:avLst/>
          </a:prstGeom>
          <a:noFill/>
        </p:spPr>
        <p:txBody>
          <a:bodyPr wrap="square" rtlCol="0">
            <a:spAutoFit/>
          </a:bodyPr>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a:lnSpc>
                <a:spcPct val="150000"/>
              </a:lnSpc>
            </a:pPr>
            <a:r>
              <a:rPr lang="zh-CN" altLang="en-US" sz="2000" dirty="0">
                <a:latin typeface="微软雅黑" panose="020B0503020204020204" pitchFamily="34" charset="-122"/>
                <a:ea typeface="微软雅黑" panose="020B0503020204020204" pitchFamily="34" charset="-122"/>
                <a:cs typeface="Times New Roman" panose="02020603050405020304" pitchFamily="18" charset="0"/>
              </a:rPr>
              <a:t>伺服阀的应用：</a:t>
            </a:r>
            <a:endParaRPr lang="en-US" altLang="zh-CN" sz="20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sz="2000" dirty="0">
                <a:latin typeface="微软雅黑" panose="020B0503020204020204" pitchFamily="34" charset="-122"/>
                <a:ea typeface="微软雅黑" panose="020B0503020204020204" pitchFamily="34" charset="-122"/>
                <a:cs typeface="Times New Roman" panose="02020603050405020304" pitchFamily="18" charset="0"/>
              </a:rPr>
              <a:t>控制精度高，响应速度快</a:t>
            </a:r>
            <a:endParaRPr lang="en-US" altLang="zh-CN" sz="20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sz="2000" dirty="0">
                <a:latin typeface="微软雅黑" panose="020B0503020204020204" pitchFamily="34" charset="-122"/>
                <a:ea typeface="微软雅黑" panose="020B0503020204020204" pitchFamily="34" charset="-122"/>
                <a:cs typeface="Times New Roman" panose="02020603050405020304" pitchFamily="18" charset="0"/>
              </a:rPr>
              <a:t>实现电液位置、速度、加速度和力控制</a:t>
            </a:r>
            <a:endParaRPr lang="en-US" altLang="zh-CN" sz="20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sz="2000" dirty="0">
                <a:latin typeface="微软雅黑" panose="020B0503020204020204" pitchFamily="34" charset="-122"/>
                <a:ea typeface="微软雅黑" panose="020B0503020204020204" pitchFamily="34" charset="-122"/>
                <a:cs typeface="Times New Roman" panose="02020603050405020304" pitchFamily="18" charset="0"/>
              </a:rPr>
              <a:t>工业设备、</a:t>
            </a:r>
            <a:r>
              <a:rPr lang="zh-CN" altLang="en-US" sz="2000" b="1" dirty="0">
                <a:solidFill>
                  <a:srgbClr val="00B0F0"/>
                </a:solidFill>
                <a:latin typeface="微软雅黑" panose="020B0503020204020204" pitchFamily="34" charset="-122"/>
                <a:ea typeface="微软雅黑" panose="020B0503020204020204" pitchFamily="34" charset="-122"/>
                <a:cs typeface="Times New Roman" panose="02020603050405020304" pitchFamily="18" charset="0"/>
              </a:rPr>
              <a:t>航天航空、军事装备</a:t>
            </a:r>
            <a:r>
              <a:rPr lang="zh-CN" altLang="en-US" sz="2000" dirty="0">
                <a:latin typeface="微软雅黑" panose="020B0503020204020204" pitchFamily="34" charset="-122"/>
                <a:ea typeface="微软雅黑" panose="020B0503020204020204" pitchFamily="34" charset="-122"/>
                <a:cs typeface="Times New Roman" panose="02020603050405020304" pitchFamily="18" charset="0"/>
              </a:rPr>
              <a:t>广泛应用</a:t>
            </a:r>
            <a:endParaRPr lang="en-US" altLang="zh-CN" sz="2000" dirty="0">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41" name="Content Placeholder 2">
            <a:extLst>
              <a:ext uri="{FF2B5EF4-FFF2-40B4-BE49-F238E27FC236}">
                <a16:creationId xmlns:a16="http://schemas.microsoft.com/office/drawing/2014/main" id="{F232BE15-D233-0888-DADC-7AEE55BFBB94}"/>
              </a:ext>
            </a:extLst>
          </p:cNvPr>
          <p:cNvSpPr txBox="1"/>
          <p:nvPr/>
        </p:nvSpPr>
        <p:spPr bwMode="auto">
          <a:xfrm>
            <a:off x="6537493" y="4313795"/>
            <a:ext cx="5106183" cy="1273874"/>
          </a:xfrm>
          <a:prstGeom prst="rect">
            <a:avLst/>
          </a:prstGeom>
          <a:noFill/>
          <a:ln w="9525">
            <a:noFill/>
            <a:miter lim="800000"/>
          </a:ln>
        </p:spPr>
        <p:txBody>
          <a:bodyPr vert="horz" wrap="square" lIns="91440" tIns="45720" rIns="91440" bIns="45720" numCol="1" anchor="t" anchorCtr="0" compatLnSpc="1"/>
          <a:lstStyle>
            <a:defPPr>
              <a:defRPr lang="zh-CN"/>
            </a:defPPr>
            <a:lvl1pPr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6pPr>
            <a:lvl7pPr marL="27432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7pPr>
            <a:lvl8pPr marL="32004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8pPr>
            <a:lvl9pPr marL="3657600" algn="l" defTabSz="914400" rtl="0" eaLnBrk="1" latinLnBrk="0" hangingPunct="1">
              <a:defRPr kern="1200">
                <a:solidFill>
                  <a:schemeClr val="tx1"/>
                </a:solidFill>
                <a:latin typeface="Times New Roman" panose="02020603050405020304" pitchFamily="18" charset="0"/>
                <a:ea typeface="宋体" panose="02010600030101010101" pitchFamily="2" charset="-122"/>
                <a:cs typeface="+mn-cs"/>
              </a:defRPr>
            </a:lvl9pPr>
          </a:lstStyle>
          <a:p>
            <a:pPr marL="0" indent="0">
              <a:lnSpc>
                <a:spcPct val="150000"/>
              </a:lnSpc>
              <a:buNone/>
            </a:pPr>
            <a:r>
              <a:rPr lang="zh-CN" altLang="en-US" sz="2000" kern="0" dirty="0">
                <a:latin typeface="微软雅黑" panose="020B0503020204020204" pitchFamily="34" charset="-122"/>
                <a:ea typeface="微软雅黑" panose="020B0503020204020204" pitchFamily="34" charset="-122"/>
                <a:cs typeface="Times New Roman" panose="02020603050405020304" pitchFamily="18" charset="0"/>
              </a:rPr>
              <a:t>图为依传递功率和动态指标要求（以</a:t>
            </a:r>
            <a:r>
              <a:rPr lang="en-US" altLang="zh-CN" sz="2000" kern="0" dirty="0">
                <a:latin typeface="微软雅黑" panose="020B0503020204020204" pitchFamily="34" charset="-122"/>
                <a:ea typeface="微软雅黑" panose="020B0503020204020204" pitchFamily="34" charset="-122"/>
                <a:cs typeface="Times New Roman" panose="02020603050405020304" pitchFamily="18" charset="0"/>
              </a:rPr>
              <a:t>-90°</a:t>
            </a:r>
            <a:r>
              <a:rPr lang="zh-CN" altLang="en-US" sz="2000" kern="0" dirty="0">
                <a:latin typeface="微软雅黑" panose="020B0503020204020204" pitchFamily="34" charset="-122"/>
                <a:ea typeface="微软雅黑" panose="020B0503020204020204" pitchFamily="34" charset="-122"/>
                <a:cs typeface="Times New Roman" panose="02020603050405020304" pitchFamily="18" charset="0"/>
              </a:rPr>
              <a:t>时相频宽标识）应用伺服阀的情况</a:t>
            </a:r>
            <a:endParaRPr lang="en-US" altLang="zh-CN" sz="2000" kern="0" dirty="0">
              <a:latin typeface="微软雅黑" panose="020B0503020204020204" pitchFamily="34" charset="-122"/>
              <a:ea typeface="微软雅黑" panose="020B0503020204020204" pitchFamily="34" charset="-122"/>
              <a:cs typeface="Times New Roman" panose="02020603050405020304" pitchFamily="18" charset="0"/>
            </a:endParaRPr>
          </a:p>
        </p:txBody>
      </p:sp>
      <p:pic>
        <p:nvPicPr>
          <p:cNvPr id="45" name="图片 44">
            <a:extLst>
              <a:ext uri="{FF2B5EF4-FFF2-40B4-BE49-F238E27FC236}">
                <a16:creationId xmlns:a16="http://schemas.microsoft.com/office/drawing/2014/main" id="{F22A0B59-6816-C4BD-388B-43D479259548}"/>
              </a:ext>
            </a:extLst>
          </p:cNvPr>
          <p:cNvPicPr>
            <a:picLocks noChangeAspect="1"/>
          </p:cNvPicPr>
          <p:nvPr/>
        </p:nvPicPr>
        <p:blipFill>
          <a:blip r:embed="rId4"/>
          <a:stretch>
            <a:fillRect/>
          </a:stretch>
        </p:blipFill>
        <p:spPr>
          <a:xfrm>
            <a:off x="823091" y="1539237"/>
            <a:ext cx="5714402" cy="4651259"/>
          </a:xfrm>
          <a:prstGeom prst="rect">
            <a:avLst/>
          </a:prstGeom>
        </p:spPr>
      </p:pic>
      <p:sp>
        <p:nvSpPr>
          <p:cNvPr id="47" name="文本框 46">
            <a:extLst>
              <a:ext uri="{FF2B5EF4-FFF2-40B4-BE49-F238E27FC236}">
                <a16:creationId xmlns:a16="http://schemas.microsoft.com/office/drawing/2014/main" id="{0BE78446-86DB-042D-3ABB-44925FB59A86}"/>
              </a:ext>
            </a:extLst>
          </p:cNvPr>
          <p:cNvSpPr txBox="1"/>
          <p:nvPr/>
        </p:nvSpPr>
        <p:spPr>
          <a:xfrm>
            <a:off x="2731911" y="6141569"/>
            <a:ext cx="2384100" cy="458459"/>
          </a:xfrm>
          <a:prstGeom prst="rect">
            <a:avLst/>
          </a:prstGeom>
          <a:noFill/>
        </p:spPr>
        <p:txBody>
          <a:bodyPr wrap="square">
            <a:spAutoFit/>
          </a:bodyPr>
          <a:lstStyle/>
          <a:p>
            <a:pPr algn="ctr">
              <a:lnSpc>
                <a:spcPct val="150000"/>
              </a:lnSpc>
            </a:pPr>
            <a:r>
              <a:rPr lang="zh-CN" altLang="en-US" kern="0" dirty="0">
                <a:latin typeface="微软雅黑" panose="020B0503020204020204" pitchFamily="34" charset="-122"/>
                <a:ea typeface="微软雅黑" panose="020B0503020204020204" pitchFamily="34" charset="-122"/>
                <a:cs typeface="Times New Roman" panose="02020603050405020304" pitchFamily="18" charset="0"/>
              </a:rPr>
              <a:t>伺服阀应用情况</a:t>
            </a:r>
            <a:endParaRPr lang="en-US" altLang="zh-CN" kern="0" dirty="0">
              <a:latin typeface="微软雅黑" panose="020B0503020204020204" pitchFamily="34" charset="-122"/>
              <a:ea typeface="微软雅黑" panose="020B0503020204020204" pitchFamily="34" charset="-122"/>
              <a:cs typeface="Times New Roman" panose="02020603050405020304" pitchFamily="18" charset="0"/>
            </a:endParaRPr>
          </a:p>
        </p:txBody>
      </p:sp>
    </p:spTree>
    <p:extLst>
      <p:ext uri="{BB962C8B-B14F-4D97-AF65-F5344CB8AC3E}">
        <p14:creationId xmlns:p14="http://schemas.microsoft.com/office/powerpoint/2010/main" val="40361292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BB1D33E-6A58-4E88-95E9-6A4048F9D03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429656" y="135415"/>
            <a:ext cx="3632036"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cs typeface="Times New Roman" panose="02020603050405020304" pitchFamily="18" charset="0"/>
              </a:rPr>
              <a:t>10.6</a:t>
            </a:r>
            <a:r>
              <a:rPr lang="en-US" altLang="zh-CN" sz="3600" b="1" dirty="0">
                <a:solidFill>
                  <a:srgbClr val="003F88"/>
                </a:solidFill>
                <a:latin typeface="+mn-ea"/>
              </a:rPr>
              <a:t> </a:t>
            </a:r>
            <a:r>
              <a:rPr lang="zh-CN" altLang="en-US" sz="3600" b="1" dirty="0">
                <a:solidFill>
                  <a:srgbClr val="003F88"/>
                </a:solidFill>
                <a:latin typeface="+mn-ea"/>
              </a:rPr>
              <a:t>电液比例阀</a:t>
            </a:r>
          </a:p>
        </p:txBody>
      </p:sp>
      <p:sp>
        <p:nvSpPr>
          <p:cNvPr id="25" name="矩形 24">
            <a:extLst>
              <a:ext uri="{FF2B5EF4-FFF2-40B4-BE49-F238E27FC236}">
                <a16:creationId xmlns:a16="http://schemas.microsoft.com/office/drawing/2014/main" id="{1AAD606F-562C-40BC-8417-9D9D48E8CC3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a:extLst>
              <a:ext uri="{FF2B5EF4-FFF2-40B4-BE49-F238E27FC236}">
                <a16:creationId xmlns:a16="http://schemas.microsoft.com/office/drawing/2014/main" id="{0269E511-7525-2C46-048B-C31900ECDE03}"/>
              </a:ext>
            </a:extLst>
          </p:cNvPr>
          <p:cNvSpPr/>
          <p:nvPr/>
        </p:nvSpPr>
        <p:spPr>
          <a:xfrm>
            <a:off x="4343966" y="2560054"/>
            <a:ext cx="4572000" cy="1323439"/>
          </a:xfrm>
          <a:prstGeom prst="rect">
            <a:avLst/>
          </a:prstGeom>
        </p:spPr>
        <p:txBody>
          <a:bodyPr>
            <a:spAutoFit/>
          </a:bodyPr>
          <a:lstStyle/>
          <a:p>
            <a:pPr algn="just"/>
            <a:r>
              <a:rPr lang="zh-CN" altLang="en-US" sz="2000" kern="0" dirty="0">
                <a:latin typeface="微软雅黑" panose="020B0503020204020204" pitchFamily="34" charset="-122"/>
                <a:ea typeface="微软雅黑" panose="020B0503020204020204" pitchFamily="34" charset="-122"/>
              </a:rPr>
              <a:t>电液比例压力阀</a:t>
            </a:r>
            <a:endParaRPr lang="en-US" altLang="zh-CN" sz="2000" kern="0" dirty="0">
              <a:latin typeface="微软雅黑" panose="020B0503020204020204" pitchFamily="34" charset="-122"/>
              <a:ea typeface="微软雅黑" panose="020B0503020204020204" pitchFamily="34" charset="-122"/>
            </a:endParaRPr>
          </a:p>
          <a:p>
            <a:pPr algn="just"/>
            <a:r>
              <a:rPr lang="zh-CN" altLang="en-US" sz="2000" kern="0" dirty="0">
                <a:latin typeface="微软雅黑" panose="020B0503020204020204" pitchFamily="34" charset="-122"/>
                <a:ea typeface="微软雅黑" panose="020B0503020204020204" pitchFamily="34" charset="-122"/>
              </a:rPr>
              <a:t>电液比例流量阀</a:t>
            </a:r>
            <a:endParaRPr lang="en-US" altLang="zh-CN" sz="2000" kern="0" dirty="0">
              <a:latin typeface="微软雅黑" panose="020B0503020204020204" pitchFamily="34" charset="-122"/>
              <a:ea typeface="微软雅黑" panose="020B0503020204020204" pitchFamily="34" charset="-122"/>
            </a:endParaRPr>
          </a:p>
          <a:p>
            <a:pPr algn="just"/>
            <a:r>
              <a:rPr lang="zh-CN" altLang="en-US" sz="2000" kern="0" dirty="0">
                <a:latin typeface="微软雅黑" panose="020B0503020204020204" pitchFamily="34" charset="-122"/>
                <a:ea typeface="微软雅黑" panose="020B0503020204020204" pitchFamily="34" charset="-122"/>
              </a:rPr>
              <a:t>电液比例方向阀</a:t>
            </a:r>
            <a:endParaRPr lang="en-US" altLang="zh-CN" sz="2000" kern="0" dirty="0">
              <a:latin typeface="微软雅黑" panose="020B0503020204020204" pitchFamily="34" charset="-122"/>
              <a:ea typeface="微软雅黑" panose="020B0503020204020204" pitchFamily="34" charset="-122"/>
            </a:endParaRPr>
          </a:p>
          <a:p>
            <a:pPr algn="just"/>
            <a:r>
              <a:rPr lang="zh-CN" altLang="en-US" sz="2000" kern="0" dirty="0">
                <a:latin typeface="微软雅黑" panose="020B0503020204020204" pitchFamily="34" charset="-122"/>
                <a:ea typeface="微软雅黑" panose="020B0503020204020204" pitchFamily="34" charset="-122"/>
              </a:rPr>
              <a:t>电液比例</a:t>
            </a:r>
            <a:r>
              <a:rPr lang="zh-CN" altLang="en-US" sz="2000" b="1" kern="0" dirty="0">
                <a:solidFill>
                  <a:srgbClr val="FF0000"/>
                </a:solidFill>
                <a:latin typeface="微软雅黑" panose="020B0503020204020204" pitchFamily="34" charset="-122"/>
                <a:ea typeface="微软雅黑" panose="020B0503020204020204" pitchFamily="34" charset="-122"/>
              </a:rPr>
              <a:t>复合阀</a:t>
            </a:r>
            <a:endParaRPr lang="en-US" altLang="zh-CN" sz="2000" b="1" kern="0" dirty="0">
              <a:solidFill>
                <a:srgbClr val="FF0000"/>
              </a:solidFill>
              <a:latin typeface="微软雅黑" panose="020B0503020204020204" pitchFamily="34" charset="-122"/>
              <a:ea typeface="微软雅黑" panose="020B0503020204020204" pitchFamily="34" charset="-122"/>
            </a:endParaRPr>
          </a:p>
        </p:txBody>
      </p:sp>
      <p:sp>
        <p:nvSpPr>
          <p:cNvPr id="4" name="矩形 3">
            <a:extLst>
              <a:ext uri="{FF2B5EF4-FFF2-40B4-BE49-F238E27FC236}">
                <a16:creationId xmlns:a16="http://schemas.microsoft.com/office/drawing/2014/main" id="{09C16FAB-B223-A99F-9DD8-22B91D6DD9C0}"/>
              </a:ext>
            </a:extLst>
          </p:cNvPr>
          <p:cNvSpPr/>
          <p:nvPr/>
        </p:nvSpPr>
        <p:spPr>
          <a:xfrm>
            <a:off x="2310151" y="2918345"/>
            <a:ext cx="1467068" cy="400110"/>
          </a:xfrm>
          <a:prstGeom prst="rect">
            <a:avLst/>
          </a:prstGeom>
        </p:spPr>
        <p:txBody>
          <a:bodyPr wrap="none">
            <a:spAutoFit/>
          </a:bodyPr>
          <a:lstStyle/>
          <a:p>
            <a:r>
              <a:rPr lang="zh-CN" altLang="en-US" sz="2000" kern="0" dirty="0">
                <a:solidFill>
                  <a:srgbClr val="0070C0"/>
                </a:solidFill>
                <a:latin typeface="微软雅黑" panose="020B0503020204020204" pitchFamily="34" charset="-122"/>
                <a:ea typeface="微软雅黑" panose="020B0503020204020204" pitchFamily="34" charset="-122"/>
              </a:rPr>
              <a:t>按控制功能</a:t>
            </a:r>
            <a:endParaRPr lang="zh-CN" altLang="en-US" sz="2000" dirty="0">
              <a:solidFill>
                <a:srgbClr val="0070C0"/>
              </a:solidFill>
            </a:endParaRPr>
          </a:p>
        </p:txBody>
      </p:sp>
      <p:sp>
        <p:nvSpPr>
          <p:cNvPr id="6" name="矩形 5">
            <a:extLst>
              <a:ext uri="{FF2B5EF4-FFF2-40B4-BE49-F238E27FC236}">
                <a16:creationId xmlns:a16="http://schemas.microsoft.com/office/drawing/2014/main" id="{F8C7A8D0-3CA6-D681-A07F-A4A007BBF1F2}"/>
              </a:ext>
            </a:extLst>
          </p:cNvPr>
          <p:cNvSpPr/>
          <p:nvPr/>
        </p:nvSpPr>
        <p:spPr>
          <a:xfrm>
            <a:off x="2204214" y="4325353"/>
            <a:ext cx="2053225" cy="400110"/>
          </a:xfrm>
          <a:prstGeom prst="rect">
            <a:avLst/>
          </a:prstGeom>
        </p:spPr>
        <p:txBody>
          <a:bodyPr wrap="square">
            <a:spAutoFit/>
          </a:bodyPr>
          <a:lstStyle/>
          <a:p>
            <a:r>
              <a:rPr lang="zh-CN" altLang="en-US" sz="2000" kern="0" dirty="0">
                <a:solidFill>
                  <a:srgbClr val="0070C0"/>
                </a:solidFill>
                <a:latin typeface="微软雅黑" panose="020B0503020204020204" pitchFamily="34" charset="-122"/>
                <a:ea typeface="微软雅黑" panose="020B0503020204020204" pitchFamily="34" charset="-122"/>
              </a:rPr>
              <a:t>按液压放大级</a:t>
            </a:r>
            <a:endParaRPr lang="zh-CN" altLang="en-US" sz="2000" dirty="0">
              <a:solidFill>
                <a:srgbClr val="0070C0"/>
              </a:solidFill>
            </a:endParaRPr>
          </a:p>
        </p:txBody>
      </p:sp>
      <p:sp>
        <p:nvSpPr>
          <p:cNvPr id="7" name="矩形 6">
            <a:extLst>
              <a:ext uri="{FF2B5EF4-FFF2-40B4-BE49-F238E27FC236}">
                <a16:creationId xmlns:a16="http://schemas.microsoft.com/office/drawing/2014/main" id="{5D2C3414-4494-889B-B74D-12BA7F3B0422}"/>
              </a:ext>
            </a:extLst>
          </p:cNvPr>
          <p:cNvSpPr/>
          <p:nvPr/>
        </p:nvSpPr>
        <p:spPr>
          <a:xfrm>
            <a:off x="2204214" y="5650544"/>
            <a:ext cx="1893438" cy="707886"/>
          </a:xfrm>
          <a:prstGeom prst="rect">
            <a:avLst/>
          </a:prstGeom>
        </p:spPr>
        <p:txBody>
          <a:bodyPr wrap="square">
            <a:spAutoFit/>
          </a:bodyPr>
          <a:lstStyle/>
          <a:p>
            <a:pPr algn="ctr"/>
            <a:r>
              <a:rPr lang="zh-CN" altLang="en-US" sz="2000" kern="0" dirty="0">
                <a:solidFill>
                  <a:srgbClr val="0070C0"/>
                </a:solidFill>
                <a:latin typeface="微软雅黑" panose="020B0503020204020204" pitchFamily="34" charset="-122"/>
                <a:ea typeface="微软雅黑" panose="020B0503020204020204" pitchFamily="34" charset="-122"/>
              </a:rPr>
              <a:t>按阀内级间参数反馈</a:t>
            </a:r>
            <a:endParaRPr lang="zh-CN" altLang="en-US" sz="2000" dirty="0">
              <a:solidFill>
                <a:srgbClr val="0070C0"/>
              </a:solidFill>
            </a:endParaRPr>
          </a:p>
        </p:txBody>
      </p:sp>
      <p:sp>
        <p:nvSpPr>
          <p:cNvPr id="10" name="矩形 9">
            <a:extLst>
              <a:ext uri="{FF2B5EF4-FFF2-40B4-BE49-F238E27FC236}">
                <a16:creationId xmlns:a16="http://schemas.microsoft.com/office/drawing/2014/main" id="{F59D3D54-ED38-49DD-1DDD-C1D5E18CA6A2}"/>
              </a:ext>
            </a:extLst>
          </p:cNvPr>
          <p:cNvSpPr/>
          <p:nvPr/>
        </p:nvSpPr>
        <p:spPr>
          <a:xfrm>
            <a:off x="6589265" y="4613053"/>
            <a:ext cx="3590689" cy="1538370"/>
          </a:xfrm>
          <a:prstGeom prst="rect">
            <a:avLst/>
          </a:prstGeom>
        </p:spPr>
        <p:txBody>
          <a:bodyPr wrap="square">
            <a:spAutoFit/>
          </a:bodyPr>
          <a:lstStyle/>
          <a:p>
            <a:pPr algn="just">
              <a:lnSpc>
                <a:spcPct val="120000"/>
              </a:lnSpc>
            </a:pPr>
            <a:r>
              <a:rPr lang="zh-CN" altLang="en-US" sz="2000" kern="0" dirty="0">
                <a:latin typeface="微软雅黑" panose="020B0503020204020204" pitchFamily="34" charset="-122"/>
                <a:ea typeface="微软雅黑" panose="020B0503020204020204" pitchFamily="34" charset="-122"/>
              </a:rPr>
              <a:t>流量反馈</a:t>
            </a:r>
            <a:endParaRPr lang="en-US" altLang="zh-CN" sz="2000" kern="0" dirty="0">
              <a:latin typeface="微软雅黑" panose="020B0503020204020204" pitchFamily="34" charset="-122"/>
              <a:ea typeface="微软雅黑" panose="020B0503020204020204" pitchFamily="34" charset="-122"/>
            </a:endParaRPr>
          </a:p>
          <a:p>
            <a:pPr algn="just">
              <a:lnSpc>
                <a:spcPct val="120000"/>
              </a:lnSpc>
            </a:pPr>
            <a:r>
              <a:rPr lang="zh-CN" altLang="en-US" sz="2000" kern="0" dirty="0">
                <a:latin typeface="微软雅黑" panose="020B0503020204020204" pitchFamily="34" charset="-122"/>
                <a:ea typeface="微软雅黑" panose="020B0503020204020204" pitchFamily="34" charset="-122"/>
              </a:rPr>
              <a:t>位移反馈</a:t>
            </a:r>
            <a:endParaRPr lang="en-US" altLang="zh-CN" sz="2000" kern="0" dirty="0">
              <a:latin typeface="微软雅黑" panose="020B0503020204020204" pitchFamily="34" charset="-122"/>
              <a:ea typeface="微软雅黑" panose="020B0503020204020204" pitchFamily="34" charset="-122"/>
            </a:endParaRPr>
          </a:p>
          <a:p>
            <a:pPr algn="just">
              <a:lnSpc>
                <a:spcPct val="120000"/>
              </a:lnSpc>
            </a:pPr>
            <a:r>
              <a:rPr lang="zh-CN" altLang="en-US" sz="2000" kern="0" dirty="0">
                <a:latin typeface="微软雅黑" panose="020B0503020204020204" pitchFamily="34" charset="-122"/>
                <a:ea typeface="微软雅黑" panose="020B0503020204020204" pitchFamily="34" charset="-122"/>
              </a:rPr>
              <a:t>力反馈</a:t>
            </a:r>
            <a:endParaRPr lang="en-US" altLang="zh-CN" sz="2000" kern="0" dirty="0">
              <a:latin typeface="微软雅黑" panose="020B0503020204020204" pitchFamily="34" charset="-122"/>
              <a:ea typeface="微软雅黑" panose="020B0503020204020204" pitchFamily="34" charset="-122"/>
            </a:endParaRPr>
          </a:p>
          <a:p>
            <a:pPr algn="just">
              <a:lnSpc>
                <a:spcPct val="120000"/>
              </a:lnSpc>
            </a:pPr>
            <a:r>
              <a:rPr lang="zh-CN" altLang="en-US" sz="2000" kern="0" dirty="0">
                <a:latin typeface="微软雅黑" panose="020B0503020204020204" pitchFamily="34" charset="-122"/>
                <a:ea typeface="微软雅黑" panose="020B0503020204020204" pitchFamily="34" charset="-122"/>
              </a:rPr>
              <a:t>位移电反馈、流量电反馈</a:t>
            </a:r>
            <a:endParaRPr lang="en-US" altLang="zh-CN" sz="2000" kern="0" dirty="0">
              <a:latin typeface="微软雅黑" panose="020B0503020204020204" pitchFamily="34" charset="-122"/>
              <a:ea typeface="微软雅黑" panose="020B0503020204020204" pitchFamily="34" charset="-122"/>
            </a:endParaRPr>
          </a:p>
        </p:txBody>
      </p:sp>
      <p:sp>
        <p:nvSpPr>
          <p:cNvPr id="11" name="左大括号 10">
            <a:extLst>
              <a:ext uri="{FF2B5EF4-FFF2-40B4-BE49-F238E27FC236}">
                <a16:creationId xmlns:a16="http://schemas.microsoft.com/office/drawing/2014/main" id="{052E539B-8154-B750-260F-B80908758735}"/>
              </a:ext>
            </a:extLst>
          </p:cNvPr>
          <p:cNvSpPr/>
          <p:nvPr/>
        </p:nvSpPr>
        <p:spPr>
          <a:xfrm>
            <a:off x="1700158" y="3107913"/>
            <a:ext cx="546041" cy="3187180"/>
          </a:xfrm>
          <a:prstGeom prst="leftBrace">
            <a:avLst>
              <a:gd name="adj1" fmla="val 8333"/>
              <a:gd name="adj2" fmla="val 46998"/>
            </a:avLst>
          </a:prstGeom>
          <a:ln w="25400">
            <a:solidFill>
              <a:schemeClr val="tx1"/>
            </a:solidFill>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sz="2000"/>
          </a:p>
        </p:txBody>
      </p:sp>
      <p:sp>
        <p:nvSpPr>
          <p:cNvPr id="12" name="矩形 11">
            <a:extLst>
              <a:ext uri="{FF2B5EF4-FFF2-40B4-BE49-F238E27FC236}">
                <a16:creationId xmlns:a16="http://schemas.microsoft.com/office/drawing/2014/main" id="{F00839B3-DD35-624F-ED2A-17D6DD15A9FD}"/>
              </a:ext>
            </a:extLst>
          </p:cNvPr>
          <p:cNvSpPr/>
          <p:nvPr/>
        </p:nvSpPr>
        <p:spPr>
          <a:xfrm>
            <a:off x="4700585" y="5036414"/>
            <a:ext cx="1508730" cy="499624"/>
          </a:xfrm>
          <a:prstGeom prst="rect">
            <a:avLst/>
          </a:prstGeom>
        </p:spPr>
        <p:txBody>
          <a:bodyPr wrap="square">
            <a:spAutoFit/>
          </a:bodyPr>
          <a:lstStyle/>
          <a:p>
            <a:pPr algn="just">
              <a:lnSpc>
                <a:spcPct val="150000"/>
              </a:lnSpc>
            </a:pPr>
            <a:r>
              <a:rPr lang="zh-CN" altLang="en-US" sz="2000" kern="0" dirty="0">
                <a:latin typeface="微软雅黑" panose="020B0503020204020204" pitchFamily="34" charset="-122"/>
                <a:ea typeface="微软雅黑" panose="020B0503020204020204" pitchFamily="34" charset="-122"/>
              </a:rPr>
              <a:t>带反馈型</a:t>
            </a:r>
          </a:p>
        </p:txBody>
      </p:sp>
      <p:sp>
        <p:nvSpPr>
          <p:cNvPr id="13" name="矩形 12">
            <a:extLst>
              <a:ext uri="{FF2B5EF4-FFF2-40B4-BE49-F238E27FC236}">
                <a16:creationId xmlns:a16="http://schemas.microsoft.com/office/drawing/2014/main" id="{D5FEB1A6-3E40-F846-E92D-C4921FECAB54}"/>
              </a:ext>
            </a:extLst>
          </p:cNvPr>
          <p:cNvSpPr/>
          <p:nvPr/>
        </p:nvSpPr>
        <p:spPr>
          <a:xfrm>
            <a:off x="4700585" y="6302281"/>
            <a:ext cx="1787162" cy="499624"/>
          </a:xfrm>
          <a:prstGeom prst="rect">
            <a:avLst/>
          </a:prstGeom>
        </p:spPr>
        <p:txBody>
          <a:bodyPr wrap="square">
            <a:spAutoFit/>
          </a:bodyPr>
          <a:lstStyle/>
          <a:p>
            <a:pPr algn="just">
              <a:lnSpc>
                <a:spcPct val="150000"/>
              </a:lnSpc>
            </a:pPr>
            <a:r>
              <a:rPr lang="zh-CN" altLang="en-US" sz="2000" kern="0" dirty="0">
                <a:latin typeface="微软雅黑" panose="020B0503020204020204" pitchFamily="34" charset="-122"/>
                <a:ea typeface="微软雅黑" panose="020B0503020204020204" pitchFamily="34" charset="-122"/>
              </a:rPr>
              <a:t>不带反馈型</a:t>
            </a:r>
          </a:p>
        </p:txBody>
      </p:sp>
      <p:sp>
        <p:nvSpPr>
          <p:cNvPr id="14" name="矩形 13">
            <a:extLst>
              <a:ext uri="{FF2B5EF4-FFF2-40B4-BE49-F238E27FC236}">
                <a16:creationId xmlns:a16="http://schemas.microsoft.com/office/drawing/2014/main" id="{667E804A-6C3F-A9CB-4344-36F03864980B}"/>
              </a:ext>
            </a:extLst>
          </p:cNvPr>
          <p:cNvSpPr/>
          <p:nvPr/>
        </p:nvSpPr>
        <p:spPr>
          <a:xfrm>
            <a:off x="4826930" y="4464614"/>
            <a:ext cx="1180954" cy="499624"/>
          </a:xfrm>
          <a:prstGeom prst="rect">
            <a:avLst/>
          </a:prstGeom>
        </p:spPr>
        <p:txBody>
          <a:bodyPr wrap="square">
            <a:spAutoFit/>
          </a:bodyPr>
          <a:lstStyle/>
          <a:p>
            <a:pPr algn="just">
              <a:lnSpc>
                <a:spcPct val="150000"/>
              </a:lnSpc>
            </a:pPr>
            <a:r>
              <a:rPr lang="zh-CN" altLang="en-US" sz="2000" kern="0" dirty="0">
                <a:latin typeface="微软雅黑" panose="020B0503020204020204" pitchFamily="34" charset="-122"/>
                <a:ea typeface="微软雅黑" panose="020B0503020204020204" pitchFamily="34" charset="-122"/>
              </a:rPr>
              <a:t>先导式</a:t>
            </a:r>
          </a:p>
        </p:txBody>
      </p:sp>
      <p:sp>
        <p:nvSpPr>
          <p:cNvPr id="15" name="矩形 14">
            <a:extLst>
              <a:ext uri="{FF2B5EF4-FFF2-40B4-BE49-F238E27FC236}">
                <a16:creationId xmlns:a16="http://schemas.microsoft.com/office/drawing/2014/main" id="{CD7EC809-EA38-20E1-77FE-49C1FEB434DC}"/>
              </a:ext>
            </a:extLst>
          </p:cNvPr>
          <p:cNvSpPr/>
          <p:nvPr/>
        </p:nvSpPr>
        <p:spPr>
          <a:xfrm>
            <a:off x="4804988" y="3952768"/>
            <a:ext cx="1719706" cy="499624"/>
          </a:xfrm>
          <a:prstGeom prst="rect">
            <a:avLst/>
          </a:prstGeom>
        </p:spPr>
        <p:txBody>
          <a:bodyPr wrap="square">
            <a:spAutoFit/>
          </a:bodyPr>
          <a:lstStyle/>
          <a:p>
            <a:pPr algn="just">
              <a:lnSpc>
                <a:spcPct val="150000"/>
              </a:lnSpc>
            </a:pPr>
            <a:r>
              <a:rPr lang="zh-CN" altLang="en-US" sz="2000" kern="0" dirty="0">
                <a:latin typeface="微软雅黑" panose="020B0503020204020204" pitchFamily="34" charset="-122"/>
                <a:ea typeface="微软雅黑" panose="020B0503020204020204" pitchFamily="34" charset="-122"/>
              </a:rPr>
              <a:t>直动式</a:t>
            </a:r>
            <a:endParaRPr lang="en-US" altLang="zh-CN" sz="2000" kern="0" dirty="0">
              <a:latin typeface="微软雅黑" panose="020B0503020204020204" pitchFamily="34" charset="-122"/>
              <a:ea typeface="微软雅黑" panose="020B0503020204020204" pitchFamily="34" charset="-122"/>
            </a:endParaRPr>
          </a:p>
        </p:txBody>
      </p:sp>
      <p:sp>
        <p:nvSpPr>
          <p:cNvPr id="16" name="左大括号 15">
            <a:extLst>
              <a:ext uri="{FF2B5EF4-FFF2-40B4-BE49-F238E27FC236}">
                <a16:creationId xmlns:a16="http://schemas.microsoft.com/office/drawing/2014/main" id="{C3FBFF5A-2A05-51CC-DE28-45F9E377E718}"/>
              </a:ext>
            </a:extLst>
          </p:cNvPr>
          <p:cNvSpPr/>
          <p:nvPr/>
        </p:nvSpPr>
        <p:spPr>
          <a:xfrm>
            <a:off x="3998248" y="2689195"/>
            <a:ext cx="259191" cy="1027438"/>
          </a:xfrm>
          <a:prstGeom prst="leftBrace">
            <a:avLst/>
          </a:prstGeom>
          <a:ln w="25400">
            <a:solidFill>
              <a:schemeClr val="tx1"/>
            </a:solidFill>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sz="2000"/>
          </a:p>
        </p:txBody>
      </p:sp>
      <p:sp>
        <p:nvSpPr>
          <p:cNvPr id="17" name="左大括号 16">
            <a:extLst>
              <a:ext uri="{FF2B5EF4-FFF2-40B4-BE49-F238E27FC236}">
                <a16:creationId xmlns:a16="http://schemas.microsoft.com/office/drawing/2014/main" id="{8A57252B-44EF-1B06-0B92-A25753CF4633}"/>
              </a:ext>
            </a:extLst>
          </p:cNvPr>
          <p:cNvSpPr/>
          <p:nvPr/>
        </p:nvSpPr>
        <p:spPr>
          <a:xfrm>
            <a:off x="4343966" y="4233836"/>
            <a:ext cx="259191" cy="583144"/>
          </a:xfrm>
          <a:prstGeom prst="leftBrace">
            <a:avLst/>
          </a:prstGeom>
          <a:ln w="25400">
            <a:solidFill>
              <a:schemeClr val="tx1"/>
            </a:solidFill>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sz="2000"/>
          </a:p>
        </p:txBody>
      </p:sp>
      <p:sp>
        <p:nvSpPr>
          <p:cNvPr id="18" name="左大括号 17">
            <a:extLst>
              <a:ext uri="{FF2B5EF4-FFF2-40B4-BE49-F238E27FC236}">
                <a16:creationId xmlns:a16="http://schemas.microsoft.com/office/drawing/2014/main" id="{36796750-EA92-5DD1-209A-A0CDB1A16F5E}"/>
              </a:ext>
            </a:extLst>
          </p:cNvPr>
          <p:cNvSpPr/>
          <p:nvPr/>
        </p:nvSpPr>
        <p:spPr>
          <a:xfrm>
            <a:off x="4232481" y="5382238"/>
            <a:ext cx="370502" cy="1243209"/>
          </a:xfrm>
          <a:prstGeom prst="leftBrace">
            <a:avLst/>
          </a:prstGeom>
          <a:ln w="25400">
            <a:solidFill>
              <a:schemeClr val="tx1"/>
            </a:solidFill>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sz="2000"/>
          </a:p>
        </p:txBody>
      </p:sp>
      <p:sp>
        <p:nvSpPr>
          <p:cNvPr id="20" name="左大括号 19">
            <a:extLst>
              <a:ext uri="{FF2B5EF4-FFF2-40B4-BE49-F238E27FC236}">
                <a16:creationId xmlns:a16="http://schemas.microsoft.com/office/drawing/2014/main" id="{8DA84740-8BF3-89CF-9013-02E42975B3BE}"/>
              </a:ext>
            </a:extLst>
          </p:cNvPr>
          <p:cNvSpPr/>
          <p:nvPr/>
        </p:nvSpPr>
        <p:spPr>
          <a:xfrm>
            <a:off x="6153100" y="4669886"/>
            <a:ext cx="356940" cy="1451534"/>
          </a:xfrm>
          <a:prstGeom prst="leftBrace">
            <a:avLst/>
          </a:prstGeom>
          <a:ln w="25400">
            <a:solidFill>
              <a:schemeClr val="tx1"/>
            </a:solidFill>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sz="2000"/>
          </a:p>
        </p:txBody>
      </p:sp>
      <p:sp>
        <p:nvSpPr>
          <p:cNvPr id="22" name="文本框 21">
            <a:extLst>
              <a:ext uri="{FF2B5EF4-FFF2-40B4-BE49-F238E27FC236}">
                <a16:creationId xmlns:a16="http://schemas.microsoft.com/office/drawing/2014/main" id="{18531F04-59A7-372B-7A7E-07368BA98818}"/>
              </a:ext>
            </a:extLst>
          </p:cNvPr>
          <p:cNvSpPr txBox="1"/>
          <p:nvPr/>
        </p:nvSpPr>
        <p:spPr>
          <a:xfrm>
            <a:off x="965192" y="943113"/>
            <a:ext cx="10488245" cy="1607620"/>
          </a:xfrm>
          <a:prstGeom prst="rect">
            <a:avLst/>
          </a:prstGeom>
          <a:noFill/>
        </p:spPr>
        <p:txBody>
          <a:bodyPr wrap="square">
            <a:spAutoFit/>
          </a:bodyPr>
          <a:lstStyle/>
          <a:p>
            <a:pPr marL="457200" indent="-457200" algn="just">
              <a:lnSpc>
                <a:spcPct val="150000"/>
              </a:lnSpc>
              <a:buFont typeface="Wingdings" panose="05000000000000000000" pitchFamily="2" charset="2"/>
              <a:buChar char="p"/>
            </a:pPr>
            <a:r>
              <a:rPr lang="zh-CN" altLang="en-US" sz="2800" b="1" dirty="0">
                <a:solidFill>
                  <a:srgbClr val="003F88"/>
                </a:solidFill>
                <a:latin typeface="微软雅黑" panose="020B0503020204020204" pitchFamily="34" charset="-122"/>
                <a:ea typeface="微软雅黑" panose="020B0503020204020204" pitchFamily="34" charset="-122"/>
              </a:rPr>
              <a:t>电液比例阀概述</a:t>
            </a:r>
            <a:endParaRPr lang="en-US" altLang="zh-CN" sz="2800" b="1" dirty="0">
              <a:solidFill>
                <a:srgbClr val="003F88"/>
              </a:solidFill>
              <a:latin typeface="微软雅黑" panose="020B0503020204020204" pitchFamily="34" charset="-122"/>
              <a:ea typeface="微软雅黑" panose="020B0503020204020204" pitchFamily="34" charset="-122"/>
            </a:endParaRPr>
          </a:p>
          <a:p>
            <a:pPr marL="342900" indent="-342900" algn="just">
              <a:lnSpc>
                <a:spcPct val="150000"/>
              </a:lnSpc>
              <a:buFont typeface="Wingdings" panose="05000000000000000000" pitchFamily="2" charset="2"/>
              <a:buChar char="Ø"/>
            </a:pPr>
            <a:r>
              <a:rPr lang="zh-CN" altLang="en-US" sz="2000" kern="0" dirty="0">
                <a:latin typeface="+mn-ea"/>
              </a:rPr>
              <a:t>按输入的电信号</a:t>
            </a:r>
            <a:r>
              <a:rPr lang="zh-CN" altLang="en-US" sz="2000" b="1" kern="0" dirty="0">
                <a:solidFill>
                  <a:srgbClr val="FF0000"/>
                </a:solidFill>
                <a:latin typeface="+mn-ea"/>
              </a:rPr>
              <a:t>连续成比例</a:t>
            </a:r>
            <a:r>
              <a:rPr lang="zh-CN" altLang="en-US" sz="2000" kern="0" dirty="0">
                <a:latin typeface="+mn-ea"/>
              </a:rPr>
              <a:t>地对油液的压力、流量、方向进行控制</a:t>
            </a:r>
            <a:endParaRPr lang="en-US" altLang="zh-CN" sz="2000" kern="0" dirty="0">
              <a:latin typeface="+mn-ea"/>
            </a:endParaRPr>
          </a:p>
          <a:p>
            <a:pPr marL="342900" indent="-342900" algn="just">
              <a:lnSpc>
                <a:spcPct val="150000"/>
              </a:lnSpc>
              <a:buFont typeface="Wingdings" panose="05000000000000000000" pitchFamily="2" charset="2"/>
              <a:buChar char="Ø"/>
            </a:pPr>
            <a:r>
              <a:rPr lang="zh-CN" altLang="en-US" sz="2000" b="1" kern="0" dirty="0">
                <a:solidFill>
                  <a:srgbClr val="FF0000"/>
                </a:solidFill>
                <a:latin typeface="+mn-ea"/>
              </a:rPr>
              <a:t>制造成本、抗污染</a:t>
            </a:r>
            <a:r>
              <a:rPr lang="zh-CN" altLang="en-US" sz="2000" kern="0" dirty="0">
                <a:latin typeface="+mn-ea"/>
              </a:rPr>
              <a:t>等方面优于电液伺服阀。</a:t>
            </a:r>
          </a:p>
        </p:txBody>
      </p:sp>
    </p:spTree>
    <p:extLst>
      <p:ext uri="{BB962C8B-B14F-4D97-AF65-F5344CB8AC3E}">
        <p14:creationId xmlns:p14="http://schemas.microsoft.com/office/powerpoint/2010/main" val="12220292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6950BFC3-D8DA-4A85-94F7-54DA5524770B}">
      <p188:commentRel xmlns:p188="http://schemas.microsoft.com/office/powerpoint/2018/8/main" r:id="rId2"/>
    </p:ext>
  </p:extLs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E26370-91EC-675C-4FD2-26EF3931E2B0}"/>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9DB045BE-C609-4739-EC70-EEC4778F3616}"/>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918ABDEF-9682-1334-CBDC-FF062BB6A9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288B88F2-92DE-EF3A-0E85-D7F5F20D90DB}"/>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Content Placeholder 2">
            <a:extLst>
              <a:ext uri="{FF2B5EF4-FFF2-40B4-BE49-F238E27FC236}">
                <a16:creationId xmlns:a16="http://schemas.microsoft.com/office/drawing/2014/main" id="{D4250E8D-B556-399F-B9EB-9B90D0927655}"/>
              </a:ext>
            </a:extLst>
          </p:cNvPr>
          <p:cNvSpPr txBox="1">
            <a:spLocks/>
          </p:cNvSpPr>
          <p:nvPr/>
        </p:nvSpPr>
        <p:spPr>
          <a:xfrm>
            <a:off x="739778" y="1097861"/>
            <a:ext cx="3014075" cy="50405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buFont typeface="Wingdings" panose="05000000000000000000" pitchFamily="2" charset="2"/>
              <a:buChar char="p"/>
            </a:pPr>
            <a:r>
              <a:rPr lang="zh-CN" altLang="en-US" b="1" dirty="0">
                <a:solidFill>
                  <a:srgbClr val="003F88"/>
                </a:solidFill>
                <a:latin typeface="微软雅黑" panose="020B0503020204020204" pitchFamily="34" charset="-122"/>
                <a:ea typeface="微软雅黑" panose="020B0503020204020204" pitchFamily="34" charset="-122"/>
              </a:rPr>
              <a:t>比例阀的结构</a:t>
            </a:r>
            <a:endParaRPr lang="en-US" altLang="zh-CN" b="1" dirty="0">
              <a:solidFill>
                <a:srgbClr val="003F88"/>
              </a:solidFill>
              <a:latin typeface="微软雅黑" panose="020B0503020204020204" pitchFamily="34" charset="-122"/>
              <a:ea typeface="微软雅黑" panose="020B0503020204020204" pitchFamily="34" charset="-122"/>
            </a:endParaRPr>
          </a:p>
        </p:txBody>
      </p:sp>
      <p:sp>
        <p:nvSpPr>
          <p:cNvPr id="21" name="文本框 20">
            <a:extLst>
              <a:ext uri="{FF2B5EF4-FFF2-40B4-BE49-F238E27FC236}">
                <a16:creationId xmlns:a16="http://schemas.microsoft.com/office/drawing/2014/main" id="{2413BEDE-EFD2-04E4-F1E0-263B3519F922}"/>
              </a:ext>
            </a:extLst>
          </p:cNvPr>
          <p:cNvSpPr txBox="1"/>
          <p:nvPr/>
        </p:nvSpPr>
        <p:spPr>
          <a:xfrm>
            <a:off x="1520888" y="1584186"/>
            <a:ext cx="4824536" cy="499624"/>
          </a:xfrm>
          <a:prstGeom prst="rect">
            <a:avLst/>
          </a:prstGeom>
          <a:noFill/>
        </p:spPr>
        <p:txBody>
          <a:bodyPr wrap="square" rtlCol="0">
            <a:spAutoFit/>
          </a:bodyPr>
          <a:lstStyle/>
          <a:p>
            <a:pPr>
              <a:lnSpc>
                <a:spcPct val="150000"/>
              </a:lnSpc>
            </a:pPr>
            <a:r>
              <a:rPr lang="en-US" altLang="zh-CN" sz="2000" dirty="0">
                <a:latin typeface="+mn-ea"/>
              </a:rPr>
              <a:t>A</a:t>
            </a:r>
            <a:r>
              <a:rPr lang="zh-CN" altLang="en-US" sz="2000" dirty="0">
                <a:latin typeface="+mn-ea"/>
              </a:rPr>
              <a:t>、电</a:t>
            </a:r>
            <a:r>
              <a:rPr lang="en-US" altLang="zh-CN" sz="2000" dirty="0">
                <a:latin typeface="+mn-ea"/>
              </a:rPr>
              <a:t>-</a:t>
            </a:r>
            <a:r>
              <a:rPr lang="zh-CN" altLang="en-US" sz="2000" dirty="0">
                <a:latin typeface="+mn-ea"/>
              </a:rPr>
              <a:t>机械转换器 </a:t>
            </a:r>
            <a:r>
              <a:rPr lang="zh-CN" altLang="en-US" sz="2000" dirty="0">
                <a:solidFill>
                  <a:srgbClr val="FF0000"/>
                </a:solidFill>
                <a:latin typeface="+mn-ea"/>
              </a:rPr>
              <a:t>（比例电磁铁）</a:t>
            </a:r>
            <a:endParaRPr lang="en-US" altLang="zh-CN" sz="2000" dirty="0">
              <a:solidFill>
                <a:srgbClr val="FF0000"/>
              </a:solidFill>
              <a:latin typeface="+mn-ea"/>
            </a:endParaRPr>
          </a:p>
        </p:txBody>
      </p:sp>
      <p:sp>
        <p:nvSpPr>
          <p:cNvPr id="22" name="文本框 21">
            <a:extLst>
              <a:ext uri="{FF2B5EF4-FFF2-40B4-BE49-F238E27FC236}">
                <a16:creationId xmlns:a16="http://schemas.microsoft.com/office/drawing/2014/main" id="{40234B84-8128-43E1-9BC9-82EB30741FFA}"/>
              </a:ext>
            </a:extLst>
          </p:cNvPr>
          <p:cNvSpPr txBox="1"/>
          <p:nvPr/>
        </p:nvSpPr>
        <p:spPr>
          <a:xfrm>
            <a:off x="1484783" y="2092236"/>
            <a:ext cx="9721282" cy="1422954"/>
          </a:xfrm>
          <a:prstGeom prst="rect">
            <a:avLst/>
          </a:prstGeom>
          <a:noFill/>
        </p:spPr>
        <p:txBody>
          <a:bodyPr wrap="square" rtlCol="0">
            <a:spAutoFit/>
          </a:bodyPr>
          <a:lstStyle/>
          <a:p>
            <a:pPr marL="285750" indent="-285750">
              <a:lnSpc>
                <a:spcPct val="150000"/>
              </a:lnSpc>
              <a:buFont typeface="Wingdings" panose="05000000000000000000" pitchFamily="2" charset="2"/>
              <a:buChar char="ü"/>
            </a:pPr>
            <a:r>
              <a:rPr lang="zh-CN" altLang="en-US" sz="2000" dirty="0">
                <a:latin typeface="+mn-ea"/>
              </a:rPr>
              <a:t>水平的位移力特性：比例电磁铁有效工作行程内，</a:t>
            </a:r>
            <a:r>
              <a:rPr lang="zh-CN" altLang="en-US" sz="2000" b="1" dirty="0">
                <a:solidFill>
                  <a:srgbClr val="00B0F0"/>
                </a:solidFill>
                <a:latin typeface="+mn-ea"/>
              </a:rPr>
              <a:t>线圈电流一定，输出力保持恒定</a:t>
            </a:r>
            <a:r>
              <a:rPr lang="zh-CN" altLang="en-US" sz="2000" dirty="0">
                <a:latin typeface="+mn-ea"/>
              </a:rPr>
              <a:t>。</a:t>
            </a:r>
            <a:endParaRPr lang="en-US" altLang="zh-CN" sz="2000" dirty="0">
              <a:latin typeface="+mn-ea"/>
            </a:endParaRPr>
          </a:p>
          <a:p>
            <a:pPr marL="285750" indent="-285750">
              <a:lnSpc>
                <a:spcPct val="150000"/>
              </a:lnSpc>
              <a:buFont typeface="Wingdings" panose="05000000000000000000" pitchFamily="2" charset="2"/>
              <a:buChar char="ü"/>
            </a:pPr>
            <a:r>
              <a:rPr lang="zh-CN" altLang="en-US" sz="2000" dirty="0">
                <a:latin typeface="+mn-ea"/>
              </a:rPr>
              <a:t>稳态电流</a:t>
            </a:r>
            <a:r>
              <a:rPr lang="en-US" altLang="zh-CN" sz="2000" dirty="0">
                <a:latin typeface="+mn-ea"/>
              </a:rPr>
              <a:t>-</a:t>
            </a:r>
            <a:r>
              <a:rPr lang="zh-CN" altLang="en-US" sz="2000" dirty="0">
                <a:latin typeface="+mn-ea"/>
              </a:rPr>
              <a:t>力特性具有良好的线性度、较小的死区及滞回</a:t>
            </a:r>
            <a:endParaRPr lang="en-US" altLang="zh-CN" sz="2000" dirty="0">
              <a:latin typeface="+mn-ea"/>
            </a:endParaRPr>
          </a:p>
          <a:p>
            <a:pPr marL="285750" indent="-285750">
              <a:lnSpc>
                <a:spcPct val="150000"/>
              </a:lnSpc>
              <a:buFont typeface="Wingdings" panose="05000000000000000000" pitchFamily="2" charset="2"/>
              <a:buChar char="ü"/>
            </a:pPr>
            <a:r>
              <a:rPr lang="zh-CN" altLang="en-US" sz="2000" dirty="0">
                <a:latin typeface="+mn-ea"/>
              </a:rPr>
              <a:t>阶跃响应快、频响高</a:t>
            </a:r>
          </a:p>
        </p:txBody>
      </p:sp>
      <p:pic>
        <p:nvPicPr>
          <p:cNvPr id="23" name="图片 22">
            <a:extLst>
              <a:ext uri="{FF2B5EF4-FFF2-40B4-BE49-F238E27FC236}">
                <a16:creationId xmlns:a16="http://schemas.microsoft.com/office/drawing/2014/main" id="{3DAF1736-8510-EAEA-9DB5-51A72A288A11}"/>
              </a:ext>
            </a:extLst>
          </p:cNvPr>
          <p:cNvPicPr>
            <a:picLocks noChangeAspect="1"/>
          </p:cNvPicPr>
          <p:nvPr/>
        </p:nvPicPr>
        <p:blipFill>
          <a:blip r:embed="rId4"/>
          <a:stretch>
            <a:fillRect/>
          </a:stretch>
        </p:blipFill>
        <p:spPr>
          <a:xfrm>
            <a:off x="2977367" y="3496596"/>
            <a:ext cx="5908725" cy="3028559"/>
          </a:xfrm>
          <a:prstGeom prst="rect">
            <a:avLst/>
          </a:prstGeom>
        </p:spPr>
      </p:pic>
      <p:sp>
        <p:nvSpPr>
          <p:cNvPr id="24" name="Content Placeholder 2">
            <a:extLst>
              <a:ext uri="{FF2B5EF4-FFF2-40B4-BE49-F238E27FC236}">
                <a16:creationId xmlns:a16="http://schemas.microsoft.com/office/drawing/2014/main" id="{1AAB999F-0A46-CA2D-CFD9-A0F46C35C93F}"/>
              </a:ext>
            </a:extLst>
          </p:cNvPr>
          <p:cNvSpPr txBox="1">
            <a:spLocks/>
          </p:cNvSpPr>
          <p:nvPr/>
        </p:nvSpPr>
        <p:spPr bwMode="auto">
          <a:xfrm>
            <a:off x="4486844" y="6506561"/>
            <a:ext cx="3717160" cy="43204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ea typeface="+mn-ea"/>
              </a:defRPr>
            </a:lvl2pPr>
            <a:lvl3pPr marL="1143000" indent="-228600" algn="l" rtl="0" eaLnBrk="0" fontAlgn="base" hangingPunct="0">
              <a:spcBef>
                <a:spcPct val="20000"/>
              </a:spcBef>
              <a:spcAft>
                <a:spcPct val="0"/>
              </a:spcAft>
              <a:buChar char="•"/>
              <a:defRPr sz="2400">
                <a:solidFill>
                  <a:schemeClr val="tx1"/>
                </a:solidFill>
                <a:latin typeface="+mn-lt"/>
                <a:ea typeface="+mn-ea"/>
              </a:defRPr>
            </a:lvl3pPr>
            <a:lvl4pPr marL="1600200" indent="-228600" algn="l" rtl="0" eaLnBrk="0" fontAlgn="base" hangingPunct="0">
              <a:spcBef>
                <a:spcPct val="20000"/>
              </a:spcBef>
              <a:spcAft>
                <a:spcPct val="0"/>
              </a:spcAft>
              <a:buChar char="–"/>
              <a:defRPr sz="20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sz="2000">
                <a:solidFill>
                  <a:schemeClr val="tx1"/>
                </a:solidFill>
                <a:latin typeface="+mn-lt"/>
                <a:ea typeface="+mn-ea"/>
              </a:defRPr>
            </a:lvl6pPr>
            <a:lvl7pPr marL="2971800" indent="-228600" algn="l" rtl="0" fontAlgn="base">
              <a:spcBef>
                <a:spcPct val="20000"/>
              </a:spcBef>
              <a:spcAft>
                <a:spcPct val="0"/>
              </a:spcAft>
              <a:buChar char="»"/>
              <a:defRPr sz="2000">
                <a:solidFill>
                  <a:schemeClr val="tx1"/>
                </a:solidFill>
                <a:latin typeface="+mn-lt"/>
                <a:ea typeface="+mn-ea"/>
              </a:defRPr>
            </a:lvl7pPr>
            <a:lvl8pPr marL="3429000" indent="-228600" algn="l" rtl="0" fontAlgn="base">
              <a:spcBef>
                <a:spcPct val="20000"/>
              </a:spcBef>
              <a:spcAft>
                <a:spcPct val="0"/>
              </a:spcAft>
              <a:buChar char="»"/>
              <a:defRPr sz="2000">
                <a:solidFill>
                  <a:schemeClr val="tx1"/>
                </a:solidFill>
                <a:latin typeface="+mn-lt"/>
                <a:ea typeface="+mn-ea"/>
              </a:defRPr>
            </a:lvl8pPr>
            <a:lvl9pPr marL="3886200" indent="-228600" algn="l" rtl="0" fontAlgn="base">
              <a:spcBef>
                <a:spcPct val="20000"/>
              </a:spcBef>
              <a:spcAft>
                <a:spcPct val="0"/>
              </a:spcAft>
              <a:buChar char="»"/>
              <a:defRPr sz="2000">
                <a:solidFill>
                  <a:schemeClr val="tx1"/>
                </a:solidFill>
                <a:latin typeface="+mn-lt"/>
                <a:ea typeface="+mn-ea"/>
              </a:defRPr>
            </a:lvl9pPr>
          </a:lstStyle>
          <a:p>
            <a:pPr marL="0" indent="0">
              <a:buNone/>
            </a:pPr>
            <a:r>
              <a:rPr lang="zh-CN" altLang="en-US" sz="1800" kern="0" dirty="0">
                <a:latin typeface="+mn-ea"/>
              </a:rPr>
              <a:t>耐高压直流比例电磁铁结构及特性</a:t>
            </a:r>
            <a:endParaRPr lang="en-US" altLang="zh-CN" sz="1800" kern="0" dirty="0">
              <a:latin typeface="+mn-ea"/>
            </a:endParaRPr>
          </a:p>
        </p:txBody>
      </p:sp>
      <p:sp>
        <p:nvSpPr>
          <p:cNvPr id="11" name="文本框 10">
            <a:extLst>
              <a:ext uri="{FF2B5EF4-FFF2-40B4-BE49-F238E27FC236}">
                <a16:creationId xmlns:a16="http://schemas.microsoft.com/office/drawing/2014/main" id="{49D2D1A5-559A-4F55-869A-DED64CEE5529}"/>
              </a:ext>
            </a:extLst>
          </p:cNvPr>
          <p:cNvSpPr txBox="1"/>
          <p:nvPr/>
        </p:nvSpPr>
        <p:spPr>
          <a:xfrm>
            <a:off x="429656" y="135415"/>
            <a:ext cx="3632036"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cs typeface="Times New Roman" panose="02020603050405020304" pitchFamily="18" charset="0"/>
              </a:rPr>
              <a:t>10.6</a:t>
            </a:r>
            <a:r>
              <a:rPr lang="en-US" altLang="zh-CN" sz="3600" b="1" dirty="0">
                <a:solidFill>
                  <a:srgbClr val="003F88"/>
                </a:solidFill>
                <a:latin typeface="+mn-ea"/>
              </a:rPr>
              <a:t> </a:t>
            </a:r>
            <a:r>
              <a:rPr lang="zh-CN" altLang="en-US" sz="3600" b="1" dirty="0">
                <a:solidFill>
                  <a:srgbClr val="003F88"/>
                </a:solidFill>
                <a:latin typeface="+mn-ea"/>
              </a:rPr>
              <a:t>电液比例阀</a:t>
            </a:r>
          </a:p>
        </p:txBody>
      </p:sp>
    </p:spTree>
    <p:extLst>
      <p:ext uri="{BB962C8B-B14F-4D97-AF65-F5344CB8AC3E}">
        <p14:creationId xmlns:p14="http://schemas.microsoft.com/office/powerpoint/2010/main" val="34016912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136CC6-83B0-E30D-1325-DAFC987EE05F}"/>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E5CFC0F9-D2B0-E383-50E8-F290B6D11C9F}"/>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8D64EC68-7825-0F6B-C81F-AFFBD5F6B41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A44D7656-89C0-10F7-DD95-6DD751485546}"/>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Content Placeholder 2">
            <a:extLst>
              <a:ext uri="{FF2B5EF4-FFF2-40B4-BE49-F238E27FC236}">
                <a16:creationId xmlns:a16="http://schemas.microsoft.com/office/drawing/2014/main" id="{4CFD7EA1-AB7E-FA86-17C5-41074CE6EA43}"/>
              </a:ext>
            </a:extLst>
          </p:cNvPr>
          <p:cNvSpPr txBox="1">
            <a:spLocks/>
          </p:cNvSpPr>
          <p:nvPr/>
        </p:nvSpPr>
        <p:spPr>
          <a:xfrm>
            <a:off x="876440" y="926885"/>
            <a:ext cx="3110023" cy="50405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lnSpc>
                <a:spcPct val="150000"/>
              </a:lnSpc>
              <a:buFont typeface="Wingdings" panose="05000000000000000000" pitchFamily="2" charset="2"/>
              <a:buChar char="p"/>
            </a:pPr>
            <a:r>
              <a:rPr lang="zh-CN" altLang="en-US" b="1" dirty="0">
                <a:solidFill>
                  <a:srgbClr val="003F88"/>
                </a:solidFill>
                <a:latin typeface="微软雅黑" panose="020B0503020204020204" pitchFamily="34" charset="-122"/>
                <a:ea typeface="微软雅黑" panose="020B0503020204020204" pitchFamily="34" charset="-122"/>
              </a:rPr>
              <a:t>比例阀的结构</a:t>
            </a:r>
            <a:endParaRPr lang="en-US" altLang="zh-CN" b="1" dirty="0">
              <a:solidFill>
                <a:srgbClr val="003F88"/>
              </a:solidFill>
              <a:latin typeface="微软雅黑" panose="020B0503020204020204" pitchFamily="34" charset="-122"/>
              <a:ea typeface="微软雅黑" panose="020B0503020204020204" pitchFamily="34" charset="-122"/>
            </a:endParaRPr>
          </a:p>
        </p:txBody>
      </p:sp>
      <p:sp>
        <p:nvSpPr>
          <p:cNvPr id="21" name="文本框 20">
            <a:extLst>
              <a:ext uri="{FF2B5EF4-FFF2-40B4-BE49-F238E27FC236}">
                <a16:creationId xmlns:a16="http://schemas.microsoft.com/office/drawing/2014/main" id="{104611A1-D785-507E-DC43-32CD9637F7A2}"/>
              </a:ext>
            </a:extLst>
          </p:cNvPr>
          <p:cNvSpPr txBox="1"/>
          <p:nvPr/>
        </p:nvSpPr>
        <p:spPr>
          <a:xfrm>
            <a:off x="1007779" y="1499996"/>
            <a:ext cx="4824536" cy="499624"/>
          </a:xfrm>
          <a:prstGeom prst="rect">
            <a:avLst/>
          </a:prstGeom>
          <a:noFill/>
        </p:spPr>
        <p:txBody>
          <a:bodyPr wrap="square" rtlCol="0">
            <a:spAutoFit/>
          </a:bodyPr>
          <a:lstStyle/>
          <a:p>
            <a:pPr>
              <a:lnSpc>
                <a:spcPct val="150000"/>
              </a:lnSpc>
            </a:pPr>
            <a:r>
              <a:rPr lang="en-US" altLang="zh-CN" sz="2000" dirty="0">
                <a:latin typeface="+mn-ea"/>
              </a:rPr>
              <a:t>A</a:t>
            </a:r>
            <a:r>
              <a:rPr lang="zh-CN" altLang="en-US" sz="2000" dirty="0">
                <a:latin typeface="+mn-ea"/>
              </a:rPr>
              <a:t>、电</a:t>
            </a:r>
            <a:r>
              <a:rPr lang="en-US" altLang="zh-CN" sz="2000" dirty="0">
                <a:latin typeface="+mn-ea"/>
              </a:rPr>
              <a:t>-</a:t>
            </a:r>
            <a:r>
              <a:rPr lang="zh-CN" altLang="en-US" sz="2000" dirty="0">
                <a:latin typeface="+mn-ea"/>
              </a:rPr>
              <a:t>机械转换器 </a:t>
            </a:r>
            <a:r>
              <a:rPr lang="zh-CN" altLang="en-US" sz="2000" dirty="0">
                <a:solidFill>
                  <a:srgbClr val="FF0000"/>
                </a:solidFill>
                <a:latin typeface="+mn-ea"/>
              </a:rPr>
              <a:t>（比例电磁铁）</a:t>
            </a:r>
            <a:endParaRPr lang="en-US" altLang="zh-CN" sz="2000" dirty="0">
              <a:solidFill>
                <a:srgbClr val="FF0000"/>
              </a:solidFill>
              <a:latin typeface="+mn-ea"/>
            </a:endParaRPr>
          </a:p>
        </p:txBody>
      </p:sp>
      <p:pic>
        <p:nvPicPr>
          <p:cNvPr id="2" name="图片 1">
            <a:extLst>
              <a:ext uri="{FF2B5EF4-FFF2-40B4-BE49-F238E27FC236}">
                <a16:creationId xmlns:a16="http://schemas.microsoft.com/office/drawing/2014/main" id="{EE214A0E-0FBD-3946-FE50-417F416B6C96}"/>
              </a:ext>
            </a:extLst>
          </p:cNvPr>
          <p:cNvPicPr>
            <a:picLocks noChangeAspect="1"/>
          </p:cNvPicPr>
          <p:nvPr/>
        </p:nvPicPr>
        <p:blipFill rotWithShape="1">
          <a:blip r:embed="rId4"/>
          <a:srcRect r="45637" b="5813"/>
          <a:stretch/>
        </p:blipFill>
        <p:spPr>
          <a:xfrm>
            <a:off x="1347724" y="3707366"/>
            <a:ext cx="3764421" cy="2880549"/>
          </a:xfrm>
          <a:prstGeom prst="rect">
            <a:avLst/>
          </a:prstGeom>
        </p:spPr>
      </p:pic>
      <p:pic>
        <p:nvPicPr>
          <p:cNvPr id="3" name="图片 2">
            <a:extLst>
              <a:ext uri="{FF2B5EF4-FFF2-40B4-BE49-F238E27FC236}">
                <a16:creationId xmlns:a16="http://schemas.microsoft.com/office/drawing/2014/main" id="{6E2847C6-79EE-88F6-BB4F-34323E90F93F}"/>
              </a:ext>
            </a:extLst>
          </p:cNvPr>
          <p:cNvPicPr>
            <a:picLocks noChangeAspect="1"/>
          </p:cNvPicPr>
          <p:nvPr/>
        </p:nvPicPr>
        <p:blipFill rotWithShape="1">
          <a:blip r:embed="rId5"/>
          <a:srcRect b="8954"/>
          <a:stretch/>
        </p:blipFill>
        <p:spPr>
          <a:xfrm>
            <a:off x="5988397" y="3788721"/>
            <a:ext cx="4015837" cy="2717840"/>
          </a:xfrm>
          <a:prstGeom prst="rect">
            <a:avLst/>
          </a:prstGeom>
        </p:spPr>
      </p:pic>
      <p:sp>
        <p:nvSpPr>
          <p:cNvPr id="4" name="Content Placeholder 2">
            <a:extLst>
              <a:ext uri="{FF2B5EF4-FFF2-40B4-BE49-F238E27FC236}">
                <a16:creationId xmlns:a16="http://schemas.microsoft.com/office/drawing/2014/main" id="{E3461D50-64B1-4A09-6D55-100166F7124E}"/>
              </a:ext>
            </a:extLst>
          </p:cNvPr>
          <p:cNvSpPr txBox="1">
            <a:spLocks/>
          </p:cNvSpPr>
          <p:nvPr/>
        </p:nvSpPr>
        <p:spPr bwMode="auto">
          <a:xfrm>
            <a:off x="1843781" y="6506561"/>
            <a:ext cx="2772308" cy="43204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ea typeface="+mn-ea"/>
              </a:defRPr>
            </a:lvl2pPr>
            <a:lvl3pPr marL="1143000" indent="-228600" algn="l" rtl="0" eaLnBrk="0" fontAlgn="base" hangingPunct="0">
              <a:spcBef>
                <a:spcPct val="20000"/>
              </a:spcBef>
              <a:spcAft>
                <a:spcPct val="0"/>
              </a:spcAft>
              <a:buChar char="•"/>
              <a:defRPr sz="2400">
                <a:solidFill>
                  <a:schemeClr val="tx1"/>
                </a:solidFill>
                <a:latin typeface="+mn-lt"/>
                <a:ea typeface="+mn-ea"/>
              </a:defRPr>
            </a:lvl3pPr>
            <a:lvl4pPr marL="1600200" indent="-228600" algn="l" rtl="0" eaLnBrk="0" fontAlgn="base" hangingPunct="0">
              <a:spcBef>
                <a:spcPct val="20000"/>
              </a:spcBef>
              <a:spcAft>
                <a:spcPct val="0"/>
              </a:spcAft>
              <a:buChar char="–"/>
              <a:defRPr sz="20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sz="2000">
                <a:solidFill>
                  <a:schemeClr val="tx1"/>
                </a:solidFill>
                <a:latin typeface="+mn-lt"/>
                <a:ea typeface="+mn-ea"/>
              </a:defRPr>
            </a:lvl6pPr>
            <a:lvl7pPr marL="2971800" indent="-228600" algn="l" rtl="0" fontAlgn="base">
              <a:spcBef>
                <a:spcPct val="20000"/>
              </a:spcBef>
              <a:spcAft>
                <a:spcPct val="0"/>
              </a:spcAft>
              <a:buChar char="»"/>
              <a:defRPr sz="2000">
                <a:solidFill>
                  <a:schemeClr val="tx1"/>
                </a:solidFill>
                <a:latin typeface="+mn-lt"/>
                <a:ea typeface="+mn-ea"/>
              </a:defRPr>
            </a:lvl7pPr>
            <a:lvl8pPr marL="3429000" indent="-228600" algn="l" rtl="0" fontAlgn="base">
              <a:spcBef>
                <a:spcPct val="20000"/>
              </a:spcBef>
              <a:spcAft>
                <a:spcPct val="0"/>
              </a:spcAft>
              <a:buChar char="»"/>
              <a:defRPr sz="2000">
                <a:solidFill>
                  <a:schemeClr val="tx1"/>
                </a:solidFill>
                <a:latin typeface="+mn-lt"/>
                <a:ea typeface="+mn-ea"/>
              </a:defRPr>
            </a:lvl8pPr>
            <a:lvl9pPr marL="3886200" indent="-228600" algn="l" rtl="0" fontAlgn="base">
              <a:spcBef>
                <a:spcPct val="20000"/>
              </a:spcBef>
              <a:spcAft>
                <a:spcPct val="0"/>
              </a:spcAft>
              <a:buChar char="»"/>
              <a:defRPr sz="2000">
                <a:solidFill>
                  <a:schemeClr val="tx1"/>
                </a:solidFill>
                <a:latin typeface="+mn-lt"/>
                <a:ea typeface="+mn-ea"/>
              </a:defRPr>
            </a:lvl9pPr>
          </a:lstStyle>
          <a:p>
            <a:pPr marL="0" indent="0" algn="ctr">
              <a:buNone/>
            </a:pPr>
            <a:r>
              <a:rPr lang="zh-CN" altLang="en-US" sz="1800" kern="0" dirty="0">
                <a:latin typeface="微软雅黑" panose="020B0503020204020204" pitchFamily="34" charset="-122"/>
                <a:ea typeface="微软雅黑" panose="020B0503020204020204" pitchFamily="34" charset="-122"/>
              </a:rPr>
              <a:t>力输出型（不带反馈）</a:t>
            </a:r>
            <a:endParaRPr lang="en-US" altLang="zh-CN" sz="1800" kern="0" dirty="0">
              <a:latin typeface="微软雅黑" panose="020B0503020204020204" pitchFamily="34" charset="-122"/>
              <a:ea typeface="微软雅黑" panose="020B0503020204020204" pitchFamily="34" charset="-122"/>
            </a:endParaRPr>
          </a:p>
        </p:txBody>
      </p:sp>
      <p:sp>
        <p:nvSpPr>
          <p:cNvPr id="6" name="Content Placeholder 2">
            <a:extLst>
              <a:ext uri="{FF2B5EF4-FFF2-40B4-BE49-F238E27FC236}">
                <a16:creationId xmlns:a16="http://schemas.microsoft.com/office/drawing/2014/main" id="{B082ADDA-8331-F982-7C2B-D002937FCE24}"/>
              </a:ext>
            </a:extLst>
          </p:cNvPr>
          <p:cNvSpPr txBox="1">
            <a:spLocks/>
          </p:cNvSpPr>
          <p:nvPr/>
        </p:nvSpPr>
        <p:spPr bwMode="auto">
          <a:xfrm>
            <a:off x="6724506" y="6506561"/>
            <a:ext cx="3419871" cy="43204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ea typeface="+mn-ea"/>
              </a:defRPr>
            </a:lvl2pPr>
            <a:lvl3pPr marL="1143000" indent="-228600" algn="l" rtl="0" eaLnBrk="0" fontAlgn="base" hangingPunct="0">
              <a:spcBef>
                <a:spcPct val="20000"/>
              </a:spcBef>
              <a:spcAft>
                <a:spcPct val="0"/>
              </a:spcAft>
              <a:buChar char="•"/>
              <a:defRPr sz="2400">
                <a:solidFill>
                  <a:schemeClr val="tx1"/>
                </a:solidFill>
                <a:latin typeface="+mn-lt"/>
                <a:ea typeface="+mn-ea"/>
              </a:defRPr>
            </a:lvl3pPr>
            <a:lvl4pPr marL="1600200" indent="-228600" algn="l" rtl="0" eaLnBrk="0" fontAlgn="base" hangingPunct="0">
              <a:spcBef>
                <a:spcPct val="20000"/>
              </a:spcBef>
              <a:spcAft>
                <a:spcPct val="0"/>
              </a:spcAft>
              <a:buChar char="–"/>
              <a:defRPr sz="20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sz="2000">
                <a:solidFill>
                  <a:schemeClr val="tx1"/>
                </a:solidFill>
                <a:latin typeface="+mn-lt"/>
                <a:ea typeface="+mn-ea"/>
              </a:defRPr>
            </a:lvl6pPr>
            <a:lvl7pPr marL="2971800" indent="-228600" algn="l" rtl="0" fontAlgn="base">
              <a:spcBef>
                <a:spcPct val="20000"/>
              </a:spcBef>
              <a:spcAft>
                <a:spcPct val="0"/>
              </a:spcAft>
              <a:buChar char="»"/>
              <a:defRPr sz="2000">
                <a:solidFill>
                  <a:schemeClr val="tx1"/>
                </a:solidFill>
                <a:latin typeface="+mn-lt"/>
                <a:ea typeface="+mn-ea"/>
              </a:defRPr>
            </a:lvl7pPr>
            <a:lvl8pPr marL="3429000" indent="-228600" algn="l" rtl="0" fontAlgn="base">
              <a:spcBef>
                <a:spcPct val="20000"/>
              </a:spcBef>
              <a:spcAft>
                <a:spcPct val="0"/>
              </a:spcAft>
              <a:buChar char="»"/>
              <a:defRPr sz="2000">
                <a:solidFill>
                  <a:schemeClr val="tx1"/>
                </a:solidFill>
                <a:latin typeface="+mn-lt"/>
                <a:ea typeface="+mn-ea"/>
              </a:defRPr>
            </a:lvl8pPr>
            <a:lvl9pPr marL="3886200" indent="-228600" algn="l" rtl="0" fontAlgn="base">
              <a:spcBef>
                <a:spcPct val="20000"/>
              </a:spcBef>
              <a:spcAft>
                <a:spcPct val="0"/>
              </a:spcAft>
              <a:buChar char="»"/>
              <a:defRPr sz="2000">
                <a:solidFill>
                  <a:schemeClr val="tx1"/>
                </a:solidFill>
                <a:latin typeface="+mn-lt"/>
                <a:ea typeface="+mn-ea"/>
              </a:defRPr>
            </a:lvl9pPr>
          </a:lstStyle>
          <a:p>
            <a:pPr marL="0" indent="0" algn="ctr">
              <a:buNone/>
            </a:pPr>
            <a:r>
              <a:rPr lang="zh-CN" altLang="en-US" sz="1800" kern="0" dirty="0">
                <a:latin typeface="微软雅黑" panose="020B0503020204020204" pitchFamily="34" charset="-122"/>
                <a:ea typeface="微软雅黑" panose="020B0503020204020204" pitchFamily="34" charset="-122"/>
              </a:rPr>
              <a:t>位移输出型（闭环控制）</a:t>
            </a:r>
            <a:endParaRPr lang="en-US" altLang="zh-CN" sz="1800" kern="0" dirty="0">
              <a:latin typeface="微软雅黑" panose="020B0503020204020204" pitchFamily="34" charset="-122"/>
              <a:ea typeface="微软雅黑" panose="020B0503020204020204" pitchFamily="34" charset="-122"/>
            </a:endParaRPr>
          </a:p>
        </p:txBody>
      </p:sp>
      <p:sp>
        <p:nvSpPr>
          <p:cNvPr id="7" name="文本框 6">
            <a:extLst>
              <a:ext uri="{FF2B5EF4-FFF2-40B4-BE49-F238E27FC236}">
                <a16:creationId xmlns:a16="http://schemas.microsoft.com/office/drawing/2014/main" id="{0573C7F5-6B92-C20E-6F15-35FF620B8103}"/>
              </a:ext>
            </a:extLst>
          </p:cNvPr>
          <p:cNvSpPr txBox="1"/>
          <p:nvPr/>
        </p:nvSpPr>
        <p:spPr>
          <a:xfrm>
            <a:off x="876440" y="1968282"/>
            <a:ext cx="11173003" cy="2412263"/>
          </a:xfrm>
          <a:prstGeom prst="rect">
            <a:avLst/>
          </a:prstGeom>
          <a:noFill/>
        </p:spPr>
        <p:txBody>
          <a:bodyPr wrap="square" rtlCol="0">
            <a:spAutoFit/>
          </a:bodyPr>
          <a:lstStyle>
            <a:defPPr>
              <a:defRPr lang="zh-CN"/>
            </a:defPPr>
            <a:lvl1pPr marL="457200" indent="-457200">
              <a:lnSpc>
                <a:spcPct val="150000"/>
              </a:lnSpc>
              <a:buFont typeface="Wingdings" panose="05000000000000000000" pitchFamily="2" charset="2"/>
              <a:buChar char="p"/>
              <a:defRPr sz="2800">
                <a:latin typeface="微软雅黑" panose="020B0503020204020204" pitchFamily="34" charset="-122"/>
                <a:ea typeface="微软雅黑" panose="020B0503020204020204" pitchFamily="34" charset="-122"/>
              </a:defRPr>
            </a:lvl1pPr>
          </a:lstStyle>
          <a:p>
            <a:pPr>
              <a:buFont typeface="Wingdings" panose="05000000000000000000" pitchFamily="2" charset="2"/>
              <a:buChar char="ü"/>
            </a:pPr>
            <a:r>
              <a:rPr lang="zh-CN" altLang="en-US" sz="2000" b="1" dirty="0">
                <a:solidFill>
                  <a:srgbClr val="0000FF"/>
                </a:solidFill>
              </a:rPr>
              <a:t>力输出型</a:t>
            </a:r>
            <a:r>
              <a:rPr lang="zh-CN" altLang="en-US" sz="2000" dirty="0"/>
              <a:t>比例电磁铁</a:t>
            </a:r>
            <a:endParaRPr lang="en-US" altLang="zh-CN" sz="2000" dirty="0">
              <a:latin typeface="+mn-lt"/>
              <a:ea typeface="+mn-ea"/>
            </a:endParaRPr>
          </a:p>
          <a:p>
            <a:pPr marL="0" indent="0">
              <a:buNone/>
            </a:pPr>
            <a:r>
              <a:rPr lang="en-US" altLang="zh-CN" sz="2000" dirty="0">
                <a:latin typeface="+mn-lt"/>
                <a:ea typeface="+mn-ea"/>
              </a:rPr>
              <a:t>     </a:t>
            </a:r>
            <a:r>
              <a:rPr lang="en-US" altLang="zh-CN" sz="2000" dirty="0">
                <a:latin typeface="微软雅黑" panose="020B0503020204020204" pitchFamily="34" charset="-122"/>
                <a:ea typeface="微软雅黑" panose="020B0503020204020204" pitchFamily="34" charset="-122"/>
              </a:rPr>
              <a:t>——</a:t>
            </a:r>
            <a:r>
              <a:rPr lang="zh-CN" altLang="en-US" sz="2000" dirty="0">
                <a:latin typeface="微软雅黑" panose="020B0503020204020204" pitchFamily="34" charset="-122"/>
                <a:ea typeface="微软雅黑" panose="020B0503020204020204" pitchFamily="34" charset="-122"/>
              </a:rPr>
              <a:t>开环控制，精度一般，抗干扰差</a:t>
            </a:r>
            <a:endParaRPr lang="en-US" altLang="zh-CN" sz="2000" dirty="0">
              <a:latin typeface="微软雅黑" panose="020B0503020204020204" pitchFamily="34" charset="-122"/>
              <a:ea typeface="微软雅黑" panose="020B0503020204020204" pitchFamily="34" charset="-122"/>
            </a:endParaRPr>
          </a:p>
          <a:p>
            <a:pPr marL="342900" lvl="1" indent="-342900">
              <a:lnSpc>
                <a:spcPct val="150000"/>
              </a:lnSpc>
              <a:buFont typeface="Wingdings" panose="05000000000000000000" pitchFamily="2" charset="2"/>
              <a:buChar char="ü"/>
            </a:pPr>
            <a:r>
              <a:rPr lang="zh-CN" altLang="en-US" sz="2000" b="1" dirty="0">
                <a:solidFill>
                  <a:srgbClr val="0000FF"/>
                </a:solidFill>
                <a:latin typeface="微软雅黑" panose="020B0503020204020204" pitchFamily="34" charset="-122"/>
                <a:ea typeface="微软雅黑" panose="020B0503020204020204" pitchFamily="34" charset="-122"/>
              </a:rPr>
              <a:t> 位移输出型</a:t>
            </a:r>
            <a:r>
              <a:rPr lang="zh-CN" altLang="en-US" sz="2000" dirty="0">
                <a:latin typeface="微软雅黑" panose="020B0503020204020204" pitchFamily="34" charset="-122"/>
                <a:ea typeface="微软雅黑" panose="020B0503020204020204" pitchFamily="34" charset="-122"/>
              </a:rPr>
              <a:t>比例电磁铁</a:t>
            </a:r>
            <a:endParaRPr lang="en-US" altLang="zh-CN" sz="2000" dirty="0">
              <a:latin typeface="微软雅黑" panose="020B0503020204020204" pitchFamily="34" charset="-122"/>
              <a:ea typeface="微软雅黑" panose="020B0503020204020204" pitchFamily="34" charset="-122"/>
            </a:endParaRPr>
          </a:p>
          <a:p>
            <a:pPr marL="0" lvl="1">
              <a:lnSpc>
                <a:spcPct val="150000"/>
              </a:lnSpc>
            </a:pPr>
            <a:r>
              <a:rPr lang="en-US" altLang="zh-CN" sz="2000" dirty="0">
                <a:latin typeface="微软雅黑" panose="020B0503020204020204" pitchFamily="34" charset="-122"/>
                <a:ea typeface="微软雅黑" panose="020B0503020204020204" pitchFamily="34" charset="-122"/>
              </a:rPr>
              <a:t>     ——</a:t>
            </a:r>
            <a:r>
              <a:rPr lang="zh-CN" altLang="en-US" sz="2000" dirty="0">
                <a:latin typeface="微软雅黑" panose="020B0503020204020204" pitchFamily="34" charset="-122"/>
                <a:ea typeface="微软雅黑" panose="020B0503020204020204" pitchFamily="34" charset="-122"/>
              </a:rPr>
              <a:t>衔铁位移电反馈闭环：抑制摩擦力等扰动</a:t>
            </a:r>
            <a:r>
              <a:rPr lang="en-US" altLang="zh-CN" sz="2000" dirty="0">
                <a:latin typeface="微软雅黑" panose="020B0503020204020204" pitchFamily="34" charset="-122"/>
                <a:ea typeface="微软雅黑" panose="020B0503020204020204" pitchFamily="34" charset="-122"/>
              </a:rPr>
              <a:t>,</a:t>
            </a:r>
            <a:r>
              <a:rPr lang="zh-CN" altLang="en-US" sz="2000" dirty="0">
                <a:latin typeface="微软雅黑" panose="020B0503020204020204" pitchFamily="34" charset="-122"/>
                <a:ea typeface="微软雅黑" panose="020B0503020204020204" pitchFamily="34" charset="-122"/>
              </a:rPr>
              <a:t> 稳态控制精度和抗干扰特性优良</a:t>
            </a:r>
          </a:p>
          <a:p>
            <a:pPr marL="742950" lvl="1" indent="-285750">
              <a:lnSpc>
                <a:spcPct val="120000"/>
              </a:lnSpc>
              <a:buFont typeface="Arial" panose="020B0604020202020204" pitchFamily="34" charset="0"/>
              <a:buChar char="•"/>
            </a:pPr>
            <a:endParaRPr lang="zh-CN" altLang="en-US" sz="2800" dirty="0">
              <a:latin typeface="微软雅黑" panose="020B0503020204020204" pitchFamily="34" charset="-122"/>
              <a:ea typeface="微软雅黑" panose="020B0503020204020204" pitchFamily="34" charset="-122"/>
            </a:endParaRPr>
          </a:p>
        </p:txBody>
      </p:sp>
      <p:sp>
        <p:nvSpPr>
          <p:cNvPr id="13" name="文本框 12">
            <a:extLst>
              <a:ext uri="{FF2B5EF4-FFF2-40B4-BE49-F238E27FC236}">
                <a16:creationId xmlns:a16="http://schemas.microsoft.com/office/drawing/2014/main" id="{7C46BD31-014B-4945-B15E-3CB1AC5698C5}"/>
              </a:ext>
            </a:extLst>
          </p:cNvPr>
          <p:cNvSpPr txBox="1"/>
          <p:nvPr/>
        </p:nvSpPr>
        <p:spPr>
          <a:xfrm>
            <a:off x="429656" y="135415"/>
            <a:ext cx="3632036"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cs typeface="Times New Roman" panose="02020603050405020304" pitchFamily="18" charset="0"/>
              </a:rPr>
              <a:t>10.6</a:t>
            </a:r>
            <a:r>
              <a:rPr lang="en-US" altLang="zh-CN" sz="3600" b="1" dirty="0">
                <a:solidFill>
                  <a:srgbClr val="003F88"/>
                </a:solidFill>
                <a:latin typeface="+mn-ea"/>
              </a:rPr>
              <a:t> </a:t>
            </a:r>
            <a:r>
              <a:rPr lang="zh-CN" altLang="en-US" sz="3600" b="1" dirty="0">
                <a:solidFill>
                  <a:srgbClr val="003F88"/>
                </a:solidFill>
                <a:latin typeface="+mn-ea"/>
              </a:rPr>
              <a:t>电液比例阀</a:t>
            </a:r>
          </a:p>
        </p:txBody>
      </p:sp>
    </p:spTree>
    <p:extLst>
      <p:ext uri="{BB962C8B-B14F-4D97-AF65-F5344CB8AC3E}">
        <p14:creationId xmlns:p14="http://schemas.microsoft.com/office/powerpoint/2010/main" val="5458540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96E60C-9711-0AF6-59D9-B5B9D82E4086}"/>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14E06E9B-EB08-5E41-9635-235EAFCAE0B8}"/>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3BF82523-9D27-81C9-8153-6E15D0546AC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3B67CE0D-CD9F-E980-646D-B0137228E0E4}"/>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Content Placeholder 2">
            <a:extLst>
              <a:ext uri="{FF2B5EF4-FFF2-40B4-BE49-F238E27FC236}">
                <a16:creationId xmlns:a16="http://schemas.microsoft.com/office/drawing/2014/main" id="{152ADA34-DD27-E1DB-1247-9A5B1F555017}"/>
              </a:ext>
            </a:extLst>
          </p:cNvPr>
          <p:cNvSpPr txBox="1">
            <a:spLocks/>
          </p:cNvSpPr>
          <p:nvPr/>
        </p:nvSpPr>
        <p:spPr>
          <a:xfrm>
            <a:off x="585780" y="794597"/>
            <a:ext cx="2983588" cy="50405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lnSpc>
                <a:spcPct val="150000"/>
              </a:lnSpc>
              <a:buFont typeface="Wingdings" panose="05000000000000000000" pitchFamily="2" charset="2"/>
              <a:buChar char="p"/>
            </a:pPr>
            <a:r>
              <a:rPr lang="zh-CN" altLang="en-US" b="1" dirty="0">
                <a:solidFill>
                  <a:srgbClr val="003F88"/>
                </a:solidFill>
                <a:latin typeface="微软雅黑" panose="020B0503020204020204" pitchFamily="34" charset="-122"/>
                <a:ea typeface="微软雅黑" panose="020B0503020204020204" pitchFamily="34" charset="-122"/>
              </a:rPr>
              <a:t>比例阀的结构</a:t>
            </a:r>
            <a:endParaRPr lang="en-US" altLang="zh-CN" b="1" dirty="0">
              <a:solidFill>
                <a:srgbClr val="003F88"/>
              </a:solidFill>
              <a:latin typeface="微软雅黑" panose="020B0503020204020204" pitchFamily="34" charset="-122"/>
              <a:ea typeface="微软雅黑" panose="020B0503020204020204" pitchFamily="34" charset="-122"/>
            </a:endParaRPr>
          </a:p>
        </p:txBody>
      </p:sp>
      <p:sp>
        <p:nvSpPr>
          <p:cNvPr id="21" name="文本框 20">
            <a:extLst>
              <a:ext uri="{FF2B5EF4-FFF2-40B4-BE49-F238E27FC236}">
                <a16:creationId xmlns:a16="http://schemas.microsoft.com/office/drawing/2014/main" id="{9A212B27-EA3D-6FE1-0B49-49101B03A73A}"/>
              </a:ext>
            </a:extLst>
          </p:cNvPr>
          <p:cNvSpPr txBox="1"/>
          <p:nvPr/>
        </p:nvSpPr>
        <p:spPr>
          <a:xfrm>
            <a:off x="919857" y="1433057"/>
            <a:ext cx="4824536" cy="499624"/>
          </a:xfrm>
          <a:prstGeom prst="rect">
            <a:avLst/>
          </a:prstGeom>
          <a:noFill/>
        </p:spPr>
        <p:txBody>
          <a:bodyPr wrap="square" rtlCol="0">
            <a:spAutoFit/>
          </a:bodyPr>
          <a:lstStyle/>
          <a:p>
            <a:pPr>
              <a:lnSpc>
                <a:spcPct val="150000"/>
              </a:lnSpc>
            </a:pPr>
            <a:r>
              <a:rPr lang="en-US" altLang="zh-CN" sz="2000" dirty="0">
                <a:latin typeface="+mn-ea"/>
              </a:rPr>
              <a:t>B</a:t>
            </a:r>
            <a:r>
              <a:rPr lang="zh-CN" altLang="en-US" sz="2000" dirty="0">
                <a:latin typeface="+mn-ea"/>
              </a:rPr>
              <a:t>、比例放大控制器</a:t>
            </a:r>
          </a:p>
        </p:txBody>
      </p:sp>
      <p:sp>
        <p:nvSpPr>
          <p:cNvPr id="2" name="矩形 1">
            <a:extLst>
              <a:ext uri="{FF2B5EF4-FFF2-40B4-BE49-F238E27FC236}">
                <a16:creationId xmlns:a16="http://schemas.microsoft.com/office/drawing/2014/main" id="{4626F5BD-7B0C-A98D-C322-538FF8B9CDEB}"/>
              </a:ext>
            </a:extLst>
          </p:cNvPr>
          <p:cNvSpPr/>
          <p:nvPr/>
        </p:nvSpPr>
        <p:spPr>
          <a:xfrm>
            <a:off x="68952" y="2308711"/>
            <a:ext cx="6341175" cy="3904402"/>
          </a:xfrm>
          <a:prstGeom prst="rect">
            <a:avLst/>
          </a:prstGeom>
        </p:spPr>
        <p:txBody>
          <a:bodyPr wrap="square">
            <a:spAutoFit/>
          </a:bodyPr>
          <a:lstStyle/>
          <a:p>
            <a:pPr marL="285750" indent="-285750" algn="just">
              <a:lnSpc>
                <a:spcPct val="125000"/>
              </a:lnSpc>
              <a:buFont typeface="Wingdings" panose="05000000000000000000" pitchFamily="2" charset="2"/>
              <a:buChar char="Ø"/>
            </a:pPr>
            <a:r>
              <a:rPr lang="zh-CN" altLang="en-US" sz="2000" dirty="0">
                <a:latin typeface="+mn-ea"/>
              </a:rPr>
              <a:t>功率放大： </a:t>
            </a:r>
            <a:endParaRPr lang="en-US" altLang="zh-CN" sz="2000" dirty="0">
              <a:latin typeface="+mn-ea"/>
            </a:endParaRPr>
          </a:p>
          <a:p>
            <a:pPr algn="just">
              <a:lnSpc>
                <a:spcPct val="125000"/>
              </a:lnSpc>
            </a:pPr>
            <a:r>
              <a:rPr lang="zh-CN" altLang="en-US" sz="2000" dirty="0">
                <a:latin typeface="+mn-ea"/>
              </a:rPr>
              <a:t>输入信号：</a:t>
            </a:r>
            <a:r>
              <a:rPr lang="en-US" altLang="zh-CN" sz="2000" dirty="0">
                <a:latin typeface="+mn-ea"/>
              </a:rPr>
              <a:t>0</a:t>
            </a:r>
            <a:r>
              <a:rPr lang="zh-CN" altLang="en-US" sz="2000" dirty="0">
                <a:latin typeface="+mn-ea"/>
              </a:rPr>
              <a:t>－</a:t>
            </a:r>
            <a:r>
              <a:rPr lang="en-US" altLang="zh-CN" sz="2000" dirty="0">
                <a:latin typeface="+mn-ea"/>
              </a:rPr>
              <a:t>10V</a:t>
            </a:r>
            <a:r>
              <a:rPr lang="zh-CN" altLang="en-US" sz="2000" dirty="0">
                <a:latin typeface="+mn-ea"/>
              </a:rPr>
              <a:t>； </a:t>
            </a:r>
            <a:r>
              <a:rPr lang="en-US" altLang="zh-CN" sz="2000" dirty="0">
                <a:latin typeface="+mn-ea"/>
              </a:rPr>
              <a:t>0</a:t>
            </a:r>
            <a:r>
              <a:rPr lang="zh-CN" altLang="en-US" sz="2000" dirty="0">
                <a:latin typeface="+mn-ea"/>
              </a:rPr>
              <a:t>－</a:t>
            </a:r>
            <a:r>
              <a:rPr lang="en-US" altLang="zh-CN" sz="2000" dirty="0">
                <a:latin typeface="+mn-ea"/>
              </a:rPr>
              <a:t>±10V</a:t>
            </a:r>
            <a:r>
              <a:rPr lang="zh-CN" altLang="en-US" sz="2000" dirty="0">
                <a:latin typeface="+mn-ea"/>
              </a:rPr>
              <a:t>；</a:t>
            </a:r>
            <a:r>
              <a:rPr lang="en-US" altLang="zh-CN" sz="2000" dirty="0">
                <a:latin typeface="+mn-ea"/>
              </a:rPr>
              <a:t>0</a:t>
            </a:r>
            <a:r>
              <a:rPr lang="zh-CN" altLang="en-US" sz="2000" dirty="0">
                <a:latin typeface="+mn-ea"/>
              </a:rPr>
              <a:t>－</a:t>
            </a:r>
            <a:r>
              <a:rPr lang="en-US" altLang="zh-CN" sz="2000" dirty="0">
                <a:latin typeface="+mn-ea"/>
              </a:rPr>
              <a:t>±20mA</a:t>
            </a:r>
            <a:r>
              <a:rPr lang="zh-CN" altLang="en-US" sz="2000" dirty="0">
                <a:latin typeface="+mn-ea"/>
              </a:rPr>
              <a:t>，</a:t>
            </a:r>
            <a:r>
              <a:rPr lang="en-US" altLang="zh-CN" sz="2000" dirty="0">
                <a:latin typeface="+mn-ea"/>
              </a:rPr>
              <a:t>0</a:t>
            </a:r>
            <a:r>
              <a:rPr lang="zh-CN" altLang="en-US" sz="2000" dirty="0">
                <a:latin typeface="+mn-ea"/>
              </a:rPr>
              <a:t>－</a:t>
            </a:r>
            <a:r>
              <a:rPr lang="en-US" altLang="zh-CN" sz="2000" dirty="0">
                <a:latin typeface="+mn-ea"/>
              </a:rPr>
              <a:t>20mA </a:t>
            </a:r>
          </a:p>
          <a:p>
            <a:pPr algn="just">
              <a:lnSpc>
                <a:spcPct val="125000"/>
              </a:lnSpc>
            </a:pPr>
            <a:r>
              <a:rPr lang="zh-CN" altLang="en-US" sz="2000" dirty="0">
                <a:latin typeface="+mn-ea"/>
              </a:rPr>
              <a:t>输出信号：</a:t>
            </a:r>
            <a:r>
              <a:rPr lang="en-US" altLang="zh-CN" sz="2000" dirty="0">
                <a:latin typeface="+mn-ea"/>
              </a:rPr>
              <a:t>0</a:t>
            </a:r>
            <a:r>
              <a:rPr lang="zh-CN" altLang="en-US" sz="2000" dirty="0">
                <a:latin typeface="+mn-ea"/>
              </a:rPr>
              <a:t>－</a:t>
            </a:r>
            <a:r>
              <a:rPr lang="en-US" altLang="zh-CN" sz="2000" dirty="0">
                <a:latin typeface="+mn-ea"/>
              </a:rPr>
              <a:t>800mA</a:t>
            </a:r>
            <a:r>
              <a:rPr lang="zh-CN" altLang="en-US" sz="2000" dirty="0">
                <a:latin typeface="+mn-ea"/>
              </a:rPr>
              <a:t>；</a:t>
            </a:r>
            <a:r>
              <a:rPr lang="en-US" altLang="zh-CN" sz="2000" dirty="0">
                <a:latin typeface="+mn-ea"/>
              </a:rPr>
              <a:t>0</a:t>
            </a:r>
            <a:r>
              <a:rPr lang="zh-CN" altLang="en-US" sz="2000" dirty="0">
                <a:latin typeface="+mn-ea"/>
              </a:rPr>
              <a:t>－</a:t>
            </a:r>
            <a:r>
              <a:rPr lang="en-US" altLang="zh-CN" sz="2000" dirty="0">
                <a:latin typeface="+mn-ea"/>
              </a:rPr>
              <a:t>1500mA</a:t>
            </a:r>
            <a:r>
              <a:rPr lang="zh-CN" altLang="en-US" sz="2000" dirty="0">
                <a:latin typeface="+mn-ea"/>
              </a:rPr>
              <a:t>；</a:t>
            </a:r>
            <a:r>
              <a:rPr lang="en-US" altLang="zh-CN" sz="2000" dirty="0">
                <a:latin typeface="+mn-ea"/>
              </a:rPr>
              <a:t>0</a:t>
            </a:r>
            <a:r>
              <a:rPr lang="zh-CN" altLang="en-US" sz="2000" dirty="0">
                <a:latin typeface="+mn-ea"/>
              </a:rPr>
              <a:t>－</a:t>
            </a:r>
            <a:r>
              <a:rPr lang="en-US" altLang="zh-CN" sz="2000" dirty="0">
                <a:latin typeface="+mn-ea"/>
              </a:rPr>
              <a:t>2500mA</a:t>
            </a:r>
            <a:r>
              <a:rPr lang="zh-CN" altLang="en-US" sz="2000" dirty="0">
                <a:latin typeface="+mn-ea"/>
              </a:rPr>
              <a:t>；</a:t>
            </a:r>
            <a:r>
              <a:rPr lang="en-US" altLang="zh-CN" sz="2000" dirty="0">
                <a:latin typeface="+mn-ea"/>
              </a:rPr>
              <a:t>0</a:t>
            </a:r>
            <a:r>
              <a:rPr lang="zh-CN" altLang="en-US" sz="2000" dirty="0">
                <a:latin typeface="+mn-ea"/>
              </a:rPr>
              <a:t>－</a:t>
            </a:r>
            <a:r>
              <a:rPr lang="en-US" altLang="zh-CN" sz="2000" dirty="0">
                <a:latin typeface="+mn-ea"/>
              </a:rPr>
              <a:t>2700mA</a:t>
            </a:r>
          </a:p>
          <a:p>
            <a:pPr marL="285750" indent="-285750" algn="just">
              <a:lnSpc>
                <a:spcPct val="125000"/>
              </a:lnSpc>
              <a:buFont typeface="Wingdings" panose="05000000000000000000" pitchFamily="2" charset="2"/>
              <a:buChar char="Ø"/>
            </a:pPr>
            <a:r>
              <a:rPr lang="zh-CN" altLang="en-US" sz="2000" dirty="0">
                <a:latin typeface="+mn-ea"/>
              </a:rPr>
              <a:t>死区补偿：零位时，为可靠密封及降低加工成本，阀口正遮盖，通过死区补偿以消除正遮盖的影响</a:t>
            </a:r>
            <a:endParaRPr lang="en-US" altLang="zh-CN" sz="2000" dirty="0">
              <a:latin typeface="+mn-ea"/>
            </a:endParaRPr>
          </a:p>
          <a:p>
            <a:pPr marL="285750" indent="-285750" algn="just">
              <a:lnSpc>
                <a:spcPct val="125000"/>
              </a:lnSpc>
              <a:buFont typeface="Wingdings" panose="05000000000000000000" pitchFamily="2" charset="2"/>
              <a:buChar char="Ø"/>
            </a:pPr>
            <a:r>
              <a:rPr lang="zh-CN" altLang="en-US" sz="2000" b="1" dirty="0">
                <a:solidFill>
                  <a:srgbClr val="0000FF"/>
                </a:solidFill>
                <a:latin typeface="+mn-ea"/>
              </a:rPr>
              <a:t>颤振</a:t>
            </a:r>
            <a:r>
              <a:rPr lang="zh-CN" altLang="en-US" sz="2000" dirty="0">
                <a:latin typeface="+mn-ea"/>
              </a:rPr>
              <a:t>：减小摩擦力及磁滞所造成的滞环，消除卡滞</a:t>
            </a:r>
            <a:endParaRPr lang="en-US" altLang="zh-CN" sz="2000" dirty="0">
              <a:latin typeface="+mn-ea"/>
            </a:endParaRPr>
          </a:p>
          <a:p>
            <a:pPr marL="285750" indent="-285750" algn="just">
              <a:lnSpc>
                <a:spcPct val="125000"/>
              </a:lnSpc>
              <a:buFont typeface="Wingdings" panose="05000000000000000000" pitchFamily="2" charset="2"/>
              <a:buChar char="Ø"/>
            </a:pPr>
            <a:r>
              <a:rPr lang="zh-CN" altLang="en-US" sz="2000" dirty="0">
                <a:latin typeface="+mn-ea"/>
              </a:rPr>
              <a:t>缓冲：使电液比例阀过渡过程比较平缓，减小冲击。 </a:t>
            </a:r>
            <a:endParaRPr lang="en-US" altLang="zh-CN" sz="2000" dirty="0">
              <a:latin typeface="+mn-ea"/>
            </a:endParaRPr>
          </a:p>
          <a:p>
            <a:pPr marL="285750" indent="-285750" algn="just">
              <a:lnSpc>
                <a:spcPct val="125000"/>
              </a:lnSpc>
              <a:buFont typeface="Wingdings" panose="05000000000000000000" pitchFamily="2" charset="2"/>
              <a:buChar char="Ø"/>
            </a:pPr>
            <a:r>
              <a:rPr lang="zh-CN" altLang="en-US" sz="2000" b="1" dirty="0">
                <a:solidFill>
                  <a:srgbClr val="0000FF"/>
                </a:solidFill>
                <a:latin typeface="+mn-ea"/>
              </a:rPr>
              <a:t>位移传感器</a:t>
            </a:r>
            <a:r>
              <a:rPr lang="zh-CN" altLang="en-US" sz="2000" dirty="0">
                <a:latin typeface="+mn-ea"/>
              </a:rPr>
              <a:t>：提高阀芯控制精度（电感式、</a:t>
            </a:r>
            <a:r>
              <a:rPr lang="en-US" altLang="zh-CN" sz="2000" dirty="0">
                <a:latin typeface="+mn-ea"/>
              </a:rPr>
              <a:t>LVDT </a:t>
            </a:r>
            <a:r>
              <a:rPr lang="zh-CN" altLang="en-US" sz="2000" dirty="0">
                <a:latin typeface="+mn-ea"/>
              </a:rPr>
              <a:t>式） </a:t>
            </a:r>
          </a:p>
        </p:txBody>
      </p:sp>
      <p:sp>
        <p:nvSpPr>
          <p:cNvPr id="3" name="矩形 2">
            <a:extLst>
              <a:ext uri="{FF2B5EF4-FFF2-40B4-BE49-F238E27FC236}">
                <a16:creationId xmlns:a16="http://schemas.microsoft.com/office/drawing/2014/main" id="{99506B11-E1E1-69DA-6631-941871274287}"/>
              </a:ext>
            </a:extLst>
          </p:cNvPr>
          <p:cNvSpPr/>
          <p:nvPr/>
        </p:nvSpPr>
        <p:spPr>
          <a:xfrm>
            <a:off x="6549611" y="2025449"/>
            <a:ext cx="2329543" cy="400110"/>
          </a:xfrm>
          <a:prstGeom prst="rect">
            <a:avLst/>
          </a:prstGeom>
        </p:spPr>
        <p:txBody>
          <a:bodyPr wrap="square">
            <a:spAutoFit/>
          </a:bodyPr>
          <a:lstStyle/>
          <a:p>
            <a:r>
              <a:rPr lang="zh-CN" altLang="en-US" sz="2000" dirty="0">
                <a:solidFill>
                  <a:srgbClr val="FF0000"/>
                </a:solidFill>
                <a:latin typeface="+mn-ea"/>
              </a:rPr>
              <a:t>结构形式：</a:t>
            </a:r>
            <a:endParaRPr lang="en-US" altLang="zh-CN" sz="2000" dirty="0">
              <a:solidFill>
                <a:srgbClr val="FF0000"/>
              </a:solidFill>
              <a:latin typeface="+mn-ea"/>
            </a:endParaRPr>
          </a:p>
        </p:txBody>
      </p:sp>
      <p:sp>
        <p:nvSpPr>
          <p:cNvPr id="4" name="矩形 3">
            <a:extLst>
              <a:ext uri="{FF2B5EF4-FFF2-40B4-BE49-F238E27FC236}">
                <a16:creationId xmlns:a16="http://schemas.microsoft.com/office/drawing/2014/main" id="{3A2B4FB2-C367-F020-5066-74BDED642A53}"/>
              </a:ext>
            </a:extLst>
          </p:cNvPr>
          <p:cNvSpPr/>
          <p:nvPr/>
        </p:nvSpPr>
        <p:spPr>
          <a:xfrm>
            <a:off x="106423" y="1932681"/>
            <a:ext cx="954108" cy="400110"/>
          </a:xfrm>
          <a:prstGeom prst="rect">
            <a:avLst/>
          </a:prstGeom>
          <a:noFill/>
        </p:spPr>
        <p:txBody>
          <a:bodyPr wrap="none" lIns="91440" tIns="45720" rIns="91440" bIns="45720">
            <a:spAutoFit/>
          </a:bodyPr>
          <a:lstStyle/>
          <a:p>
            <a:r>
              <a:rPr lang="zh-CN" altLang="en-US" sz="2000" dirty="0">
                <a:solidFill>
                  <a:srgbClr val="FF0000"/>
                </a:solidFill>
                <a:latin typeface="+mn-ea"/>
              </a:rPr>
              <a:t>作用：</a:t>
            </a:r>
          </a:p>
        </p:txBody>
      </p:sp>
      <p:sp>
        <p:nvSpPr>
          <p:cNvPr id="6" name="矩形 5">
            <a:extLst>
              <a:ext uri="{FF2B5EF4-FFF2-40B4-BE49-F238E27FC236}">
                <a16:creationId xmlns:a16="http://schemas.microsoft.com/office/drawing/2014/main" id="{871173E2-FB79-502F-4CEF-A77D3EF11AA2}"/>
              </a:ext>
            </a:extLst>
          </p:cNvPr>
          <p:cNvSpPr/>
          <p:nvPr/>
        </p:nvSpPr>
        <p:spPr>
          <a:xfrm>
            <a:off x="6374958" y="2470544"/>
            <a:ext cx="5942671" cy="2346283"/>
          </a:xfrm>
          <a:prstGeom prst="rect">
            <a:avLst/>
          </a:prstGeom>
        </p:spPr>
        <p:txBody>
          <a:bodyPr wrap="square">
            <a:spAutoFit/>
          </a:bodyPr>
          <a:lstStyle/>
          <a:p>
            <a:pPr marL="285750" indent="-285750">
              <a:lnSpc>
                <a:spcPct val="150000"/>
              </a:lnSpc>
              <a:buFont typeface="Wingdings" panose="05000000000000000000" pitchFamily="2" charset="2"/>
              <a:buChar char="Ø"/>
            </a:pPr>
            <a:r>
              <a:rPr lang="zh-CN" altLang="en-US" sz="2000" dirty="0">
                <a:latin typeface="+mn-ea"/>
              </a:rPr>
              <a:t>板式（工业应用最多，性能最好，要有安装机箱） </a:t>
            </a:r>
            <a:endParaRPr lang="en-US" altLang="zh-CN" sz="2000" dirty="0">
              <a:latin typeface="+mn-ea"/>
            </a:endParaRPr>
          </a:p>
          <a:p>
            <a:pPr marL="285750" indent="-285750">
              <a:lnSpc>
                <a:spcPct val="150000"/>
              </a:lnSpc>
              <a:buFont typeface="Wingdings" panose="05000000000000000000" pitchFamily="2" charset="2"/>
              <a:buChar char="Ø"/>
            </a:pPr>
            <a:r>
              <a:rPr lang="zh-CN" altLang="en-US" sz="2000" dirty="0">
                <a:latin typeface="+mn-ea"/>
              </a:rPr>
              <a:t>盒式（行走机械，有保护外壳，防水防灰）</a:t>
            </a:r>
            <a:endParaRPr lang="en-US" altLang="zh-CN" sz="2000" dirty="0">
              <a:latin typeface="+mn-ea"/>
            </a:endParaRPr>
          </a:p>
          <a:p>
            <a:pPr marL="285750" indent="-285750">
              <a:lnSpc>
                <a:spcPct val="150000"/>
              </a:lnSpc>
              <a:buFont typeface="Wingdings" panose="05000000000000000000" pitchFamily="2" charset="2"/>
              <a:buChar char="Ø"/>
            </a:pPr>
            <a:r>
              <a:rPr lang="zh-CN" altLang="en-US" sz="2000" dirty="0">
                <a:latin typeface="+mn-ea"/>
              </a:rPr>
              <a:t>插头式（结构紧凑，功能较弱，不带位移控制） </a:t>
            </a:r>
            <a:endParaRPr lang="en-US" altLang="zh-CN" sz="2000" dirty="0">
              <a:latin typeface="+mn-ea"/>
            </a:endParaRPr>
          </a:p>
          <a:p>
            <a:pPr marL="285750" indent="-285750">
              <a:lnSpc>
                <a:spcPct val="150000"/>
              </a:lnSpc>
              <a:buFont typeface="Wingdings" panose="05000000000000000000" pitchFamily="2" charset="2"/>
              <a:buChar char="Ø"/>
            </a:pPr>
            <a:r>
              <a:rPr lang="zh-CN" altLang="en-US" sz="2000" dirty="0">
                <a:latin typeface="+mn-ea"/>
              </a:rPr>
              <a:t>模块式（工业应用最多，性能好，要有安装机箱）</a:t>
            </a:r>
            <a:endParaRPr lang="en-US" altLang="zh-CN" sz="2000" dirty="0">
              <a:latin typeface="+mn-ea"/>
            </a:endParaRPr>
          </a:p>
          <a:p>
            <a:pPr marL="285750" indent="-285750">
              <a:lnSpc>
                <a:spcPct val="150000"/>
              </a:lnSpc>
              <a:buFont typeface="Wingdings" panose="05000000000000000000" pitchFamily="2" charset="2"/>
              <a:buChar char="Ø"/>
            </a:pPr>
            <a:r>
              <a:rPr lang="zh-CN" altLang="en-US" sz="2000" dirty="0">
                <a:latin typeface="+mn-ea"/>
              </a:rPr>
              <a:t>集成功放（工业应用） </a:t>
            </a:r>
          </a:p>
        </p:txBody>
      </p:sp>
      <p:cxnSp>
        <p:nvCxnSpPr>
          <p:cNvPr id="7" name="直接连接符 6">
            <a:extLst>
              <a:ext uri="{FF2B5EF4-FFF2-40B4-BE49-F238E27FC236}">
                <a16:creationId xmlns:a16="http://schemas.microsoft.com/office/drawing/2014/main" id="{C7473E12-F7D4-034F-EB7F-CC16562A4790}"/>
              </a:ext>
            </a:extLst>
          </p:cNvPr>
          <p:cNvCxnSpPr>
            <a:cxnSpLocks/>
          </p:cNvCxnSpPr>
          <p:nvPr/>
        </p:nvCxnSpPr>
        <p:spPr>
          <a:xfrm>
            <a:off x="6410127" y="2072443"/>
            <a:ext cx="0" cy="3446760"/>
          </a:xfrm>
          <a:prstGeom prst="line">
            <a:avLst/>
          </a:prstGeom>
          <a:ln w="19050">
            <a:solidFill>
              <a:srgbClr val="003F88"/>
            </a:solidFill>
            <a:prstDash val="sysDash"/>
          </a:ln>
        </p:spPr>
        <p:style>
          <a:lnRef idx="1">
            <a:schemeClr val="accent1"/>
          </a:lnRef>
          <a:fillRef idx="0">
            <a:schemeClr val="accent1"/>
          </a:fillRef>
          <a:effectRef idx="0">
            <a:schemeClr val="accent1"/>
          </a:effectRef>
          <a:fontRef idx="minor">
            <a:schemeClr val="tx1"/>
          </a:fontRef>
        </p:style>
      </p:cxnSp>
      <p:pic>
        <p:nvPicPr>
          <p:cNvPr id="13" name="图片 12">
            <a:extLst>
              <a:ext uri="{FF2B5EF4-FFF2-40B4-BE49-F238E27FC236}">
                <a16:creationId xmlns:a16="http://schemas.microsoft.com/office/drawing/2014/main" id="{5BF92A43-8CC7-4C01-A681-7E2A69376CD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233639" y="4397540"/>
            <a:ext cx="2714020" cy="2035515"/>
          </a:xfrm>
          <a:prstGeom prst="rect">
            <a:avLst/>
          </a:prstGeom>
        </p:spPr>
      </p:pic>
      <p:pic>
        <p:nvPicPr>
          <p:cNvPr id="14" name="图片 13">
            <a:extLst>
              <a:ext uri="{FF2B5EF4-FFF2-40B4-BE49-F238E27FC236}">
                <a16:creationId xmlns:a16="http://schemas.microsoft.com/office/drawing/2014/main" id="{4C241389-D560-46B8-AF2E-F1A50625CBA7}"/>
              </a:ext>
            </a:extLst>
          </p:cNvPr>
          <p:cNvPicPr/>
          <p:nvPr/>
        </p:nvPicPr>
        <p:blipFill>
          <a:blip r:embed="rId6" cstate="print"/>
          <a:stretch>
            <a:fillRect/>
          </a:stretch>
        </p:blipFill>
        <p:spPr>
          <a:xfrm>
            <a:off x="6692866" y="4933953"/>
            <a:ext cx="2361920" cy="1435224"/>
          </a:xfrm>
          <a:prstGeom prst="rect">
            <a:avLst/>
          </a:prstGeom>
        </p:spPr>
      </p:pic>
      <p:sp>
        <p:nvSpPr>
          <p:cNvPr id="10" name="文本框 9">
            <a:extLst>
              <a:ext uri="{FF2B5EF4-FFF2-40B4-BE49-F238E27FC236}">
                <a16:creationId xmlns:a16="http://schemas.microsoft.com/office/drawing/2014/main" id="{F080FA8C-A995-4A04-BBB5-1CBAF5D155BB}"/>
              </a:ext>
            </a:extLst>
          </p:cNvPr>
          <p:cNvSpPr txBox="1"/>
          <p:nvPr/>
        </p:nvSpPr>
        <p:spPr>
          <a:xfrm>
            <a:off x="8437277" y="6374491"/>
            <a:ext cx="1800493" cy="369332"/>
          </a:xfrm>
          <a:prstGeom prst="rect">
            <a:avLst/>
          </a:prstGeom>
          <a:noFill/>
        </p:spPr>
        <p:txBody>
          <a:bodyPr wrap="none" rtlCol="0">
            <a:spAutoFit/>
          </a:bodyPr>
          <a:lstStyle/>
          <a:p>
            <a:r>
              <a:rPr lang="zh-CN" altLang="en-US" dirty="0"/>
              <a:t>原理图和实物图</a:t>
            </a:r>
          </a:p>
        </p:txBody>
      </p:sp>
      <p:pic>
        <p:nvPicPr>
          <p:cNvPr id="11" name="图片 10">
            <a:extLst>
              <a:ext uri="{FF2B5EF4-FFF2-40B4-BE49-F238E27FC236}">
                <a16:creationId xmlns:a16="http://schemas.microsoft.com/office/drawing/2014/main" id="{773A1A44-3B21-4910-9769-C30DD11E49BB}"/>
              </a:ext>
            </a:extLst>
          </p:cNvPr>
          <p:cNvPicPr>
            <a:picLocks noChangeAspect="1"/>
          </p:cNvPicPr>
          <p:nvPr/>
        </p:nvPicPr>
        <p:blipFill>
          <a:blip r:embed="rId7">
            <a:clrChange>
              <a:clrFrom>
                <a:srgbClr val="FFFFFF"/>
              </a:clrFrom>
              <a:clrTo>
                <a:srgbClr val="FFFFFF">
                  <a:alpha val="0"/>
                </a:srgbClr>
              </a:clrTo>
            </a:clrChange>
          </a:blip>
          <a:stretch>
            <a:fillRect/>
          </a:stretch>
        </p:blipFill>
        <p:spPr>
          <a:xfrm>
            <a:off x="8468284" y="956075"/>
            <a:ext cx="2660476" cy="1624186"/>
          </a:xfrm>
          <a:prstGeom prst="rect">
            <a:avLst/>
          </a:prstGeom>
        </p:spPr>
      </p:pic>
      <p:sp>
        <p:nvSpPr>
          <p:cNvPr id="17" name="文本框 16">
            <a:extLst>
              <a:ext uri="{FF2B5EF4-FFF2-40B4-BE49-F238E27FC236}">
                <a16:creationId xmlns:a16="http://schemas.microsoft.com/office/drawing/2014/main" id="{B3D081CE-C9C8-4540-B5A1-FC4BE1CB8467}"/>
              </a:ext>
            </a:extLst>
          </p:cNvPr>
          <p:cNvSpPr txBox="1"/>
          <p:nvPr/>
        </p:nvSpPr>
        <p:spPr>
          <a:xfrm>
            <a:off x="429656" y="135415"/>
            <a:ext cx="3632036"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cs typeface="Times New Roman" panose="02020603050405020304" pitchFamily="18" charset="0"/>
              </a:rPr>
              <a:t>10.6</a:t>
            </a:r>
            <a:r>
              <a:rPr lang="en-US" altLang="zh-CN" sz="3600" b="1" dirty="0">
                <a:solidFill>
                  <a:srgbClr val="003F88"/>
                </a:solidFill>
                <a:latin typeface="+mn-ea"/>
              </a:rPr>
              <a:t> </a:t>
            </a:r>
            <a:r>
              <a:rPr lang="zh-CN" altLang="en-US" sz="3600" b="1" dirty="0">
                <a:solidFill>
                  <a:srgbClr val="003F88"/>
                </a:solidFill>
                <a:latin typeface="+mn-ea"/>
              </a:rPr>
              <a:t>电液比例阀</a:t>
            </a:r>
          </a:p>
        </p:txBody>
      </p:sp>
    </p:spTree>
    <p:extLst>
      <p:ext uri="{BB962C8B-B14F-4D97-AF65-F5344CB8AC3E}">
        <p14:creationId xmlns:p14="http://schemas.microsoft.com/office/powerpoint/2010/main" val="39770272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6950BFC3-D8DA-4A85-94F7-54DA5524770B}">
      <p188:commentRel xmlns:p188="http://schemas.microsoft.com/office/powerpoint/2018/8/main" r:id="rId3"/>
    </p:ext>
  </p:extLs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57097-BAF0-5C01-34FE-16C9876EDB39}"/>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272FD888-81E6-F590-490C-169DDC0D2847}"/>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CB74DA41-0F1A-404A-86BF-F23EBD4F5C3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00F9F6E3-0DAA-EB3F-FE1A-5707A97607B6}"/>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92D60803-1970-B962-3249-4B94F821EE90}"/>
              </a:ext>
            </a:extLst>
          </p:cNvPr>
          <p:cNvSpPr/>
          <p:nvPr/>
        </p:nvSpPr>
        <p:spPr>
          <a:xfrm>
            <a:off x="544341" y="847469"/>
            <a:ext cx="8680807" cy="662554"/>
          </a:xfrm>
          <a:prstGeom prst="rect">
            <a:avLst/>
          </a:prstGeom>
          <a:noFill/>
        </p:spPr>
        <p:txBody>
          <a:bodyPr wrap="square" rtlCol="0">
            <a:spAutoFit/>
          </a:bodyPr>
          <a:lstStyle/>
          <a:p>
            <a:pPr marL="457200" indent="-457200" algn="just">
              <a:lnSpc>
                <a:spcPct val="150000"/>
              </a:lnSpc>
              <a:spcBef>
                <a:spcPts val="1000"/>
              </a:spcBef>
              <a:buFont typeface="Wingdings" panose="05000000000000000000" pitchFamily="2" charset="2"/>
              <a:buChar char="p"/>
            </a:pPr>
            <a:r>
              <a:rPr lang="zh-CN" altLang="en-US" sz="2800" b="1" dirty="0">
                <a:solidFill>
                  <a:srgbClr val="003F88"/>
                </a:solidFill>
                <a:latin typeface="微软雅黑" panose="020B0503020204020204" pitchFamily="34" charset="-122"/>
                <a:ea typeface="微软雅黑" panose="020B0503020204020204" pitchFamily="34" charset="-122"/>
              </a:rPr>
              <a:t>电液比例压力阀</a:t>
            </a:r>
            <a:endParaRPr lang="en-US" altLang="zh-CN" sz="2800" b="1" dirty="0">
              <a:solidFill>
                <a:srgbClr val="003F88"/>
              </a:solidFill>
              <a:latin typeface="微软雅黑" panose="020B0503020204020204" pitchFamily="34" charset="-122"/>
              <a:ea typeface="微软雅黑" panose="020B0503020204020204" pitchFamily="34" charset="-122"/>
            </a:endParaRPr>
          </a:p>
        </p:txBody>
      </p:sp>
      <p:sp>
        <p:nvSpPr>
          <p:cNvPr id="15" name="Content Placeholder 2">
            <a:extLst>
              <a:ext uri="{FF2B5EF4-FFF2-40B4-BE49-F238E27FC236}">
                <a16:creationId xmlns:a16="http://schemas.microsoft.com/office/drawing/2014/main" id="{99924C06-B745-49AB-AE02-AA0D9BE5DAE7}"/>
              </a:ext>
            </a:extLst>
          </p:cNvPr>
          <p:cNvSpPr txBox="1">
            <a:spLocks/>
          </p:cNvSpPr>
          <p:nvPr/>
        </p:nvSpPr>
        <p:spPr bwMode="auto">
          <a:xfrm>
            <a:off x="302214" y="5717538"/>
            <a:ext cx="5298529" cy="114046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ea typeface="+mn-ea"/>
              </a:defRPr>
            </a:lvl2pPr>
            <a:lvl3pPr marL="1143000" indent="-228600" algn="l" rtl="0" eaLnBrk="0" fontAlgn="base" hangingPunct="0">
              <a:spcBef>
                <a:spcPct val="20000"/>
              </a:spcBef>
              <a:spcAft>
                <a:spcPct val="0"/>
              </a:spcAft>
              <a:buChar char="•"/>
              <a:defRPr sz="2400">
                <a:solidFill>
                  <a:schemeClr val="tx1"/>
                </a:solidFill>
                <a:latin typeface="+mn-lt"/>
                <a:ea typeface="+mn-ea"/>
              </a:defRPr>
            </a:lvl3pPr>
            <a:lvl4pPr marL="1600200" indent="-228600" algn="l" rtl="0" eaLnBrk="0" fontAlgn="base" hangingPunct="0">
              <a:spcBef>
                <a:spcPct val="20000"/>
              </a:spcBef>
              <a:spcAft>
                <a:spcPct val="0"/>
              </a:spcAft>
              <a:buChar char="–"/>
              <a:defRPr sz="20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sz="2000">
                <a:solidFill>
                  <a:schemeClr val="tx1"/>
                </a:solidFill>
                <a:latin typeface="+mn-lt"/>
                <a:ea typeface="+mn-ea"/>
              </a:defRPr>
            </a:lvl6pPr>
            <a:lvl7pPr marL="2971800" indent="-228600" algn="l" rtl="0" fontAlgn="base">
              <a:spcBef>
                <a:spcPct val="20000"/>
              </a:spcBef>
              <a:spcAft>
                <a:spcPct val="0"/>
              </a:spcAft>
              <a:buChar char="»"/>
              <a:defRPr sz="2000">
                <a:solidFill>
                  <a:schemeClr val="tx1"/>
                </a:solidFill>
                <a:latin typeface="+mn-lt"/>
                <a:ea typeface="+mn-ea"/>
              </a:defRPr>
            </a:lvl7pPr>
            <a:lvl8pPr marL="3429000" indent="-228600" algn="l" rtl="0" fontAlgn="base">
              <a:spcBef>
                <a:spcPct val="20000"/>
              </a:spcBef>
              <a:spcAft>
                <a:spcPct val="0"/>
              </a:spcAft>
              <a:buChar char="»"/>
              <a:defRPr sz="2000">
                <a:solidFill>
                  <a:schemeClr val="tx1"/>
                </a:solidFill>
                <a:latin typeface="+mn-lt"/>
                <a:ea typeface="+mn-ea"/>
              </a:defRPr>
            </a:lvl8pPr>
            <a:lvl9pPr marL="3886200" indent="-228600" algn="l" rtl="0" fontAlgn="base">
              <a:spcBef>
                <a:spcPct val="20000"/>
              </a:spcBef>
              <a:spcAft>
                <a:spcPct val="0"/>
              </a:spcAft>
              <a:buChar char="»"/>
              <a:defRPr sz="2000">
                <a:solidFill>
                  <a:schemeClr val="tx1"/>
                </a:solidFill>
                <a:latin typeface="+mn-lt"/>
                <a:ea typeface="+mn-ea"/>
              </a:defRPr>
            </a:lvl9pPr>
          </a:lstStyle>
          <a:p>
            <a:pPr marL="0" indent="0" algn="ctr">
              <a:buNone/>
            </a:pPr>
            <a:r>
              <a:rPr lang="zh-CN" altLang="en-US" sz="2000" kern="0" dirty="0">
                <a:latin typeface="微软雅黑" panose="020B0503020204020204" pitchFamily="34" charset="-122"/>
                <a:ea typeface="微软雅黑" panose="020B0503020204020204" pitchFamily="34" charset="-122"/>
              </a:rPr>
              <a:t>普通比例电磁铁控制 </a:t>
            </a:r>
          </a:p>
          <a:p>
            <a:pPr marL="0" indent="0" algn="ctr">
              <a:buNone/>
            </a:pPr>
            <a:r>
              <a:rPr lang="en-US" altLang="zh-CN" sz="2000" kern="0" dirty="0">
                <a:latin typeface="微软雅黑" panose="020B0503020204020204" pitchFamily="34" charset="-122"/>
                <a:ea typeface="微软雅黑" panose="020B0503020204020204" pitchFamily="34" charset="-122"/>
              </a:rPr>
              <a:t>1—</a:t>
            </a:r>
            <a:r>
              <a:rPr lang="zh-CN" altLang="en-US" sz="2000" kern="0" dirty="0">
                <a:latin typeface="微软雅黑" panose="020B0503020204020204" pitchFamily="34" charset="-122"/>
                <a:ea typeface="微软雅黑" panose="020B0503020204020204" pitchFamily="34" charset="-122"/>
              </a:rPr>
              <a:t>比例电磁铁 </a:t>
            </a:r>
            <a:r>
              <a:rPr lang="en-US" altLang="zh-CN" sz="2000" kern="0" dirty="0">
                <a:latin typeface="微软雅黑" panose="020B0503020204020204" pitchFamily="34" charset="-122"/>
                <a:ea typeface="微软雅黑" panose="020B0503020204020204" pitchFamily="34" charset="-122"/>
              </a:rPr>
              <a:t>2—</a:t>
            </a:r>
            <a:r>
              <a:rPr lang="zh-CN" altLang="en-US" sz="2000" kern="0" dirty="0">
                <a:latin typeface="微软雅黑" panose="020B0503020204020204" pitchFamily="34" charset="-122"/>
                <a:ea typeface="微软雅黑" panose="020B0503020204020204" pitchFamily="34" charset="-122"/>
              </a:rPr>
              <a:t>推杆 </a:t>
            </a:r>
            <a:r>
              <a:rPr lang="en-US" altLang="zh-CN" sz="2000" kern="0" dirty="0">
                <a:latin typeface="微软雅黑" panose="020B0503020204020204" pitchFamily="34" charset="-122"/>
                <a:ea typeface="微软雅黑" panose="020B0503020204020204" pitchFamily="34" charset="-122"/>
              </a:rPr>
              <a:t>3—</a:t>
            </a:r>
            <a:r>
              <a:rPr lang="zh-CN" altLang="en-US" sz="2000" kern="0" dirty="0">
                <a:latin typeface="微软雅黑" panose="020B0503020204020204" pitchFamily="34" charset="-122"/>
                <a:ea typeface="微软雅黑" panose="020B0503020204020204" pitchFamily="34" charset="-122"/>
              </a:rPr>
              <a:t>弹簧 </a:t>
            </a:r>
            <a:r>
              <a:rPr lang="en-US" altLang="zh-CN" sz="2000" kern="0" dirty="0">
                <a:latin typeface="微软雅黑" panose="020B0503020204020204" pitchFamily="34" charset="-122"/>
                <a:ea typeface="微软雅黑" panose="020B0503020204020204" pitchFamily="34" charset="-122"/>
              </a:rPr>
              <a:t>4—</a:t>
            </a:r>
            <a:r>
              <a:rPr lang="zh-CN" altLang="en-US" sz="2000" kern="0" dirty="0">
                <a:latin typeface="微软雅黑" panose="020B0503020204020204" pitchFamily="34" charset="-122"/>
                <a:ea typeface="微软雅黑" panose="020B0503020204020204" pitchFamily="34" charset="-122"/>
              </a:rPr>
              <a:t>锥阀</a:t>
            </a:r>
            <a:endParaRPr lang="en-US" altLang="zh-CN" sz="2000" kern="0" dirty="0">
              <a:latin typeface="微软雅黑" panose="020B0503020204020204" pitchFamily="34" charset="-122"/>
              <a:ea typeface="微软雅黑" panose="020B0503020204020204" pitchFamily="34" charset="-122"/>
            </a:endParaRPr>
          </a:p>
        </p:txBody>
      </p:sp>
      <p:pic>
        <p:nvPicPr>
          <p:cNvPr id="16" name="图片 15">
            <a:extLst>
              <a:ext uri="{FF2B5EF4-FFF2-40B4-BE49-F238E27FC236}">
                <a16:creationId xmlns:a16="http://schemas.microsoft.com/office/drawing/2014/main" id="{4E98290D-FA71-4DB1-A681-563A406EA342}"/>
              </a:ext>
            </a:extLst>
          </p:cNvPr>
          <p:cNvPicPr>
            <a:picLocks noChangeAspect="1"/>
          </p:cNvPicPr>
          <p:nvPr/>
        </p:nvPicPr>
        <p:blipFill rotWithShape="1">
          <a:blip r:embed="rId3"/>
          <a:srcRect b="50738"/>
          <a:stretch/>
        </p:blipFill>
        <p:spPr>
          <a:xfrm>
            <a:off x="142557" y="2723946"/>
            <a:ext cx="6069302" cy="2613577"/>
          </a:xfrm>
          <a:prstGeom prst="rect">
            <a:avLst/>
          </a:prstGeom>
        </p:spPr>
      </p:pic>
      <p:sp>
        <p:nvSpPr>
          <p:cNvPr id="17" name="矩形 16">
            <a:extLst>
              <a:ext uri="{FF2B5EF4-FFF2-40B4-BE49-F238E27FC236}">
                <a16:creationId xmlns:a16="http://schemas.microsoft.com/office/drawing/2014/main" id="{3298ADC0-1831-415B-A761-32683314E5CE}"/>
              </a:ext>
            </a:extLst>
          </p:cNvPr>
          <p:cNvSpPr/>
          <p:nvPr/>
        </p:nvSpPr>
        <p:spPr>
          <a:xfrm>
            <a:off x="357221" y="1547348"/>
            <a:ext cx="4464496" cy="581057"/>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zh-CN" altLang="en-US" sz="2400" dirty="0">
                <a:latin typeface="微软雅黑" panose="020B0503020204020204" pitchFamily="34" charset="-122"/>
                <a:ea typeface="微软雅黑" panose="020B0503020204020204" pitchFamily="34" charset="-122"/>
              </a:rPr>
              <a:t>直动式比例压力阀</a:t>
            </a:r>
            <a:endParaRPr lang="en-US" altLang="zh-CN" sz="2400" dirty="0">
              <a:solidFill>
                <a:srgbClr val="0070C0"/>
              </a:solidFill>
              <a:latin typeface="微软雅黑" panose="020B0503020204020204" pitchFamily="34" charset="-122"/>
              <a:ea typeface="微软雅黑" panose="020B0503020204020204" pitchFamily="34" charset="-122"/>
            </a:endParaRPr>
          </a:p>
        </p:txBody>
      </p:sp>
      <p:sp>
        <p:nvSpPr>
          <p:cNvPr id="18" name="Content Placeholder 2">
            <a:extLst>
              <a:ext uri="{FF2B5EF4-FFF2-40B4-BE49-F238E27FC236}">
                <a16:creationId xmlns:a16="http://schemas.microsoft.com/office/drawing/2014/main" id="{D9BEE267-29EF-40FA-B389-3FC8C7C58CF1}"/>
              </a:ext>
            </a:extLst>
          </p:cNvPr>
          <p:cNvSpPr txBox="1">
            <a:spLocks/>
          </p:cNvSpPr>
          <p:nvPr/>
        </p:nvSpPr>
        <p:spPr bwMode="auto">
          <a:xfrm>
            <a:off x="6638073" y="5759067"/>
            <a:ext cx="5298529" cy="73344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ea typeface="+mn-ea"/>
              </a:defRPr>
            </a:lvl2pPr>
            <a:lvl3pPr marL="1143000" indent="-228600" algn="l" rtl="0" eaLnBrk="0" fontAlgn="base" hangingPunct="0">
              <a:spcBef>
                <a:spcPct val="20000"/>
              </a:spcBef>
              <a:spcAft>
                <a:spcPct val="0"/>
              </a:spcAft>
              <a:buChar char="•"/>
              <a:defRPr sz="2400">
                <a:solidFill>
                  <a:schemeClr val="tx1"/>
                </a:solidFill>
                <a:latin typeface="+mn-lt"/>
                <a:ea typeface="+mn-ea"/>
              </a:defRPr>
            </a:lvl3pPr>
            <a:lvl4pPr marL="1600200" indent="-228600" algn="l" rtl="0" eaLnBrk="0" fontAlgn="base" hangingPunct="0">
              <a:spcBef>
                <a:spcPct val="20000"/>
              </a:spcBef>
              <a:spcAft>
                <a:spcPct val="0"/>
              </a:spcAft>
              <a:buChar char="–"/>
              <a:defRPr sz="20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sz="2000">
                <a:solidFill>
                  <a:schemeClr val="tx1"/>
                </a:solidFill>
                <a:latin typeface="+mn-lt"/>
                <a:ea typeface="+mn-ea"/>
              </a:defRPr>
            </a:lvl6pPr>
            <a:lvl7pPr marL="2971800" indent="-228600" algn="l" rtl="0" fontAlgn="base">
              <a:spcBef>
                <a:spcPct val="20000"/>
              </a:spcBef>
              <a:spcAft>
                <a:spcPct val="0"/>
              </a:spcAft>
              <a:buChar char="»"/>
              <a:defRPr sz="2000">
                <a:solidFill>
                  <a:schemeClr val="tx1"/>
                </a:solidFill>
                <a:latin typeface="+mn-lt"/>
                <a:ea typeface="+mn-ea"/>
              </a:defRPr>
            </a:lvl7pPr>
            <a:lvl8pPr marL="3429000" indent="-228600" algn="l" rtl="0" fontAlgn="base">
              <a:spcBef>
                <a:spcPct val="20000"/>
              </a:spcBef>
              <a:spcAft>
                <a:spcPct val="0"/>
              </a:spcAft>
              <a:buChar char="»"/>
              <a:defRPr sz="2000">
                <a:solidFill>
                  <a:schemeClr val="tx1"/>
                </a:solidFill>
                <a:latin typeface="+mn-lt"/>
                <a:ea typeface="+mn-ea"/>
              </a:defRPr>
            </a:lvl8pPr>
            <a:lvl9pPr marL="3886200" indent="-228600" algn="l" rtl="0" fontAlgn="base">
              <a:spcBef>
                <a:spcPct val="20000"/>
              </a:spcBef>
              <a:spcAft>
                <a:spcPct val="0"/>
              </a:spcAft>
              <a:buChar char="»"/>
              <a:defRPr sz="2000">
                <a:solidFill>
                  <a:schemeClr val="tx1"/>
                </a:solidFill>
                <a:latin typeface="+mn-lt"/>
                <a:ea typeface="+mn-ea"/>
              </a:defRPr>
            </a:lvl9pPr>
          </a:lstStyle>
          <a:p>
            <a:pPr marL="0" indent="0" algn="ctr">
              <a:buNone/>
            </a:pPr>
            <a:r>
              <a:rPr lang="zh-CN" altLang="en-US" sz="2000" kern="0" dirty="0">
                <a:latin typeface="微软雅黑" panose="020B0503020204020204" pitchFamily="34" charset="-122"/>
                <a:ea typeface="微软雅黑" panose="020B0503020204020204" pitchFamily="34" charset="-122"/>
              </a:rPr>
              <a:t>位移反馈型比例电磁铁控制</a:t>
            </a:r>
          </a:p>
          <a:p>
            <a:pPr marL="0" indent="0" algn="ctr">
              <a:buNone/>
            </a:pPr>
            <a:r>
              <a:rPr lang="en-US" altLang="zh-CN" sz="2000" kern="0" dirty="0">
                <a:latin typeface="微软雅黑" panose="020B0503020204020204" pitchFamily="34" charset="-122"/>
                <a:ea typeface="微软雅黑" panose="020B0503020204020204" pitchFamily="34" charset="-122"/>
              </a:rPr>
              <a:t>1—</a:t>
            </a:r>
            <a:r>
              <a:rPr lang="zh-CN" altLang="en-US" sz="2000" kern="0" dirty="0">
                <a:latin typeface="微软雅黑" panose="020B0503020204020204" pitchFamily="34" charset="-122"/>
                <a:ea typeface="微软雅黑" panose="020B0503020204020204" pitchFamily="34" charset="-122"/>
              </a:rPr>
              <a:t>比例电磁铁 </a:t>
            </a:r>
            <a:r>
              <a:rPr lang="en-US" altLang="zh-CN" sz="2000" kern="0" dirty="0">
                <a:latin typeface="微软雅黑" panose="020B0503020204020204" pitchFamily="34" charset="-122"/>
                <a:ea typeface="微软雅黑" panose="020B0503020204020204" pitchFamily="34" charset="-122"/>
              </a:rPr>
              <a:t>2—</a:t>
            </a:r>
            <a:r>
              <a:rPr lang="zh-CN" altLang="en-US" sz="2000" kern="0" dirty="0">
                <a:latin typeface="微软雅黑" panose="020B0503020204020204" pitchFamily="34" charset="-122"/>
                <a:ea typeface="微软雅黑" panose="020B0503020204020204" pitchFamily="34" charset="-122"/>
              </a:rPr>
              <a:t>推杆 </a:t>
            </a:r>
            <a:r>
              <a:rPr lang="en-US" altLang="zh-CN" sz="2000" kern="0" dirty="0">
                <a:latin typeface="微软雅黑" panose="020B0503020204020204" pitchFamily="34" charset="-122"/>
                <a:ea typeface="微软雅黑" panose="020B0503020204020204" pitchFamily="34" charset="-122"/>
              </a:rPr>
              <a:t>3—</a:t>
            </a:r>
            <a:r>
              <a:rPr lang="zh-CN" altLang="en-US" sz="2000" kern="0" dirty="0">
                <a:latin typeface="微软雅黑" panose="020B0503020204020204" pitchFamily="34" charset="-122"/>
                <a:ea typeface="微软雅黑" panose="020B0503020204020204" pitchFamily="34" charset="-122"/>
              </a:rPr>
              <a:t>弹簧 </a:t>
            </a:r>
            <a:r>
              <a:rPr lang="en-US" altLang="zh-CN" sz="2000" kern="0" dirty="0">
                <a:latin typeface="微软雅黑" panose="020B0503020204020204" pitchFamily="34" charset="-122"/>
                <a:ea typeface="微软雅黑" panose="020B0503020204020204" pitchFamily="34" charset="-122"/>
              </a:rPr>
              <a:t>4—</a:t>
            </a:r>
            <a:r>
              <a:rPr lang="zh-CN" altLang="en-US" sz="2000" kern="0" dirty="0">
                <a:latin typeface="微软雅黑" panose="020B0503020204020204" pitchFamily="34" charset="-122"/>
                <a:ea typeface="微软雅黑" panose="020B0503020204020204" pitchFamily="34" charset="-122"/>
              </a:rPr>
              <a:t>锥阀</a:t>
            </a:r>
            <a:endParaRPr lang="en-US" altLang="zh-CN" sz="2000" kern="0" dirty="0">
              <a:latin typeface="微软雅黑" panose="020B0503020204020204" pitchFamily="34" charset="-122"/>
              <a:ea typeface="微软雅黑" panose="020B0503020204020204" pitchFamily="34" charset="-122"/>
            </a:endParaRPr>
          </a:p>
        </p:txBody>
      </p:sp>
      <p:pic>
        <p:nvPicPr>
          <p:cNvPr id="19" name="图片 18">
            <a:extLst>
              <a:ext uri="{FF2B5EF4-FFF2-40B4-BE49-F238E27FC236}">
                <a16:creationId xmlns:a16="http://schemas.microsoft.com/office/drawing/2014/main" id="{5A4D4F34-F803-43CE-82D5-A12AD6886519}"/>
              </a:ext>
            </a:extLst>
          </p:cNvPr>
          <p:cNvPicPr>
            <a:picLocks noChangeAspect="1"/>
          </p:cNvPicPr>
          <p:nvPr/>
        </p:nvPicPr>
        <p:blipFill rotWithShape="1">
          <a:blip r:embed="rId3"/>
          <a:srcRect t="52246" r="5980" b="2985"/>
          <a:stretch/>
        </p:blipFill>
        <p:spPr>
          <a:xfrm>
            <a:off x="6186081" y="2943926"/>
            <a:ext cx="5750522" cy="2393595"/>
          </a:xfrm>
          <a:prstGeom prst="rect">
            <a:avLst/>
          </a:prstGeom>
        </p:spPr>
      </p:pic>
      <p:sp>
        <p:nvSpPr>
          <p:cNvPr id="20" name="矩形 19">
            <a:extLst>
              <a:ext uri="{FF2B5EF4-FFF2-40B4-BE49-F238E27FC236}">
                <a16:creationId xmlns:a16="http://schemas.microsoft.com/office/drawing/2014/main" id="{E8BE64D5-F6F2-4A78-AE3A-002AB93FAC30}"/>
              </a:ext>
            </a:extLst>
          </p:cNvPr>
          <p:cNvSpPr/>
          <p:nvPr/>
        </p:nvSpPr>
        <p:spPr>
          <a:xfrm>
            <a:off x="6186080" y="2195026"/>
            <a:ext cx="6005920" cy="499624"/>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zh-CN" altLang="en-US" sz="2000" dirty="0">
                <a:latin typeface="微软雅黑" panose="020B0503020204020204" pitchFamily="34" charset="-122"/>
                <a:ea typeface="微软雅黑" panose="020B0503020204020204" pitchFamily="34" charset="-122"/>
              </a:rPr>
              <a:t>位移反馈型电磁铁：</a:t>
            </a:r>
            <a:r>
              <a:rPr lang="zh-CN" altLang="en-US" sz="2000" dirty="0">
                <a:solidFill>
                  <a:srgbClr val="0070C0"/>
                </a:solidFill>
                <a:latin typeface="微软雅黑" panose="020B0503020204020204" pitchFamily="34" charset="-122"/>
                <a:ea typeface="微软雅黑" panose="020B0503020204020204" pitchFamily="34" charset="-122"/>
              </a:rPr>
              <a:t>输出位移，</a:t>
            </a:r>
            <a:r>
              <a:rPr lang="zh-CN" altLang="en-US" sz="2000" dirty="0">
                <a:latin typeface="微软雅黑" panose="020B0503020204020204" pitchFamily="34" charset="-122"/>
                <a:ea typeface="微软雅黑" panose="020B0503020204020204" pitchFamily="34" charset="-122"/>
              </a:rPr>
              <a:t>经弹簧转换为力</a:t>
            </a:r>
          </a:p>
        </p:txBody>
      </p:sp>
      <p:sp>
        <p:nvSpPr>
          <p:cNvPr id="21" name="矩形 20">
            <a:extLst>
              <a:ext uri="{FF2B5EF4-FFF2-40B4-BE49-F238E27FC236}">
                <a16:creationId xmlns:a16="http://schemas.microsoft.com/office/drawing/2014/main" id="{D3AEEC47-0E64-41C2-922A-4A0994CAB265}"/>
              </a:ext>
            </a:extLst>
          </p:cNvPr>
          <p:cNvSpPr/>
          <p:nvPr/>
        </p:nvSpPr>
        <p:spPr>
          <a:xfrm>
            <a:off x="1990469" y="2743632"/>
            <a:ext cx="4464496" cy="499624"/>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zh-CN" altLang="en-US" sz="2000" dirty="0">
                <a:latin typeface="微软雅黑" panose="020B0503020204020204" pitchFamily="34" charset="-122"/>
                <a:ea typeface="微软雅黑" panose="020B0503020204020204" pitchFamily="34" charset="-122"/>
              </a:rPr>
              <a:t>力输出型电磁铁：</a:t>
            </a:r>
            <a:r>
              <a:rPr lang="zh-CN" altLang="en-US" sz="2000" dirty="0">
                <a:solidFill>
                  <a:srgbClr val="0070C0"/>
                </a:solidFill>
                <a:latin typeface="微软雅黑" panose="020B0503020204020204" pitchFamily="34" charset="-122"/>
                <a:ea typeface="微软雅黑" panose="020B0503020204020204" pitchFamily="34" charset="-122"/>
              </a:rPr>
              <a:t>输出力</a:t>
            </a:r>
            <a:endParaRPr lang="en-US" altLang="zh-CN" sz="2000" dirty="0">
              <a:solidFill>
                <a:srgbClr val="0070C0"/>
              </a:solidFill>
              <a:latin typeface="微软雅黑" panose="020B0503020204020204" pitchFamily="34" charset="-122"/>
              <a:ea typeface="微软雅黑" panose="020B0503020204020204" pitchFamily="34" charset="-122"/>
            </a:endParaRPr>
          </a:p>
        </p:txBody>
      </p:sp>
      <p:sp>
        <p:nvSpPr>
          <p:cNvPr id="14" name="文本框 13">
            <a:extLst>
              <a:ext uri="{FF2B5EF4-FFF2-40B4-BE49-F238E27FC236}">
                <a16:creationId xmlns:a16="http://schemas.microsoft.com/office/drawing/2014/main" id="{B1D21F64-2D36-4901-AC54-9869B22662A2}"/>
              </a:ext>
            </a:extLst>
          </p:cNvPr>
          <p:cNvSpPr txBox="1"/>
          <p:nvPr/>
        </p:nvSpPr>
        <p:spPr>
          <a:xfrm>
            <a:off x="429656" y="135415"/>
            <a:ext cx="3632036"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cs typeface="Times New Roman" panose="02020603050405020304" pitchFamily="18" charset="0"/>
              </a:rPr>
              <a:t>10.6</a:t>
            </a:r>
            <a:r>
              <a:rPr lang="en-US" altLang="zh-CN" sz="3600" b="1" dirty="0">
                <a:solidFill>
                  <a:srgbClr val="003F88"/>
                </a:solidFill>
                <a:latin typeface="+mn-ea"/>
              </a:rPr>
              <a:t> </a:t>
            </a:r>
            <a:r>
              <a:rPr lang="zh-CN" altLang="en-US" sz="3600" b="1" dirty="0">
                <a:solidFill>
                  <a:srgbClr val="003F88"/>
                </a:solidFill>
                <a:latin typeface="+mn-ea"/>
              </a:rPr>
              <a:t>电液比例阀</a:t>
            </a:r>
          </a:p>
        </p:txBody>
      </p:sp>
    </p:spTree>
    <p:extLst>
      <p:ext uri="{BB962C8B-B14F-4D97-AF65-F5344CB8AC3E}">
        <p14:creationId xmlns:p14="http://schemas.microsoft.com/office/powerpoint/2010/main" val="42381555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57097-BAF0-5C01-34FE-16C9876EDB39}"/>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272FD888-81E6-F590-490C-169DDC0D2847}"/>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CB74DA41-0F1A-404A-86BF-F23EBD4F5C3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00F9F6E3-0DAA-EB3F-FE1A-5707A97607B6}"/>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Content Placeholder 2">
            <a:extLst>
              <a:ext uri="{FF2B5EF4-FFF2-40B4-BE49-F238E27FC236}">
                <a16:creationId xmlns:a16="http://schemas.microsoft.com/office/drawing/2014/main" id="{CE09E293-3091-9974-5162-D4D82AC608DA}"/>
              </a:ext>
            </a:extLst>
          </p:cNvPr>
          <p:cNvSpPr txBox="1">
            <a:spLocks/>
          </p:cNvSpPr>
          <p:nvPr/>
        </p:nvSpPr>
        <p:spPr bwMode="auto">
          <a:xfrm>
            <a:off x="867574" y="5673710"/>
            <a:ext cx="5521549" cy="146596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ea typeface="+mn-ea"/>
              </a:defRPr>
            </a:lvl2pPr>
            <a:lvl3pPr marL="1143000" indent="-228600" algn="l" rtl="0" eaLnBrk="0" fontAlgn="base" hangingPunct="0">
              <a:spcBef>
                <a:spcPct val="20000"/>
              </a:spcBef>
              <a:spcAft>
                <a:spcPct val="0"/>
              </a:spcAft>
              <a:buChar char="•"/>
              <a:defRPr sz="2400">
                <a:solidFill>
                  <a:schemeClr val="tx1"/>
                </a:solidFill>
                <a:latin typeface="+mn-lt"/>
                <a:ea typeface="+mn-ea"/>
              </a:defRPr>
            </a:lvl3pPr>
            <a:lvl4pPr marL="1600200" indent="-228600" algn="l" rtl="0" eaLnBrk="0" fontAlgn="base" hangingPunct="0">
              <a:spcBef>
                <a:spcPct val="20000"/>
              </a:spcBef>
              <a:spcAft>
                <a:spcPct val="0"/>
              </a:spcAft>
              <a:buChar char="–"/>
              <a:defRPr sz="20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sz="2000">
                <a:solidFill>
                  <a:schemeClr val="tx1"/>
                </a:solidFill>
                <a:latin typeface="+mn-lt"/>
                <a:ea typeface="+mn-ea"/>
              </a:defRPr>
            </a:lvl6pPr>
            <a:lvl7pPr marL="2971800" indent="-228600" algn="l" rtl="0" fontAlgn="base">
              <a:spcBef>
                <a:spcPct val="20000"/>
              </a:spcBef>
              <a:spcAft>
                <a:spcPct val="0"/>
              </a:spcAft>
              <a:buChar char="»"/>
              <a:defRPr sz="2000">
                <a:solidFill>
                  <a:schemeClr val="tx1"/>
                </a:solidFill>
                <a:latin typeface="+mn-lt"/>
                <a:ea typeface="+mn-ea"/>
              </a:defRPr>
            </a:lvl7pPr>
            <a:lvl8pPr marL="3429000" indent="-228600" algn="l" rtl="0" fontAlgn="base">
              <a:spcBef>
                <a:spcPct val="20000"/>
              </a:spcBef>
              <a:spcAft>
                <a:spcPct val="0"/>
              </a:spcAft>
              <a:buChar char="»"/>
              <a:defRPr sz="2000">
                <a:solidFill>
                  <a:schemeClr val="tx1"/>
                </a:solidFill>
                <a:latin typeface="+mn-lt"/>
                <a:ea typeface="+mn-ea"/>
              </a:defRPr>
            </a:lvl8pPr>
            <a:lvl9pPr marL="3886200" indent="-228600" algn="l" rtl="0" fontAlgn="base">
              <a:spcBef>
                <a:spcPct val="20000"/>
              </a:spcBef>
              <a:spcAft>
                <a:spcPct val="0"/>
              </a:spcAft>
              <a:buChar char="»"/>
              <a:defRPr sz="2000">
                <a:solidFill>
                  <a:schemeClr val="tx1"/>
                </a:solidFill>
                <a:latin typeface="+mn-lt"/>
                <a:ea typeface="+mn-ea"/>
              </a:defRPr>
            </a:lvl9pPr>
          </a:lstStyle>
          <a:p>
            <a:pPr marL="0" indent="0" algn="ctr">
              <a:buNone/>
            </a:pPr>
            <a:r>
              <a:rPr lang="zh-CN" altLang="en-US" sz="1800" kern="0" dirty="0">
                <a:latin typeface="微软雅黑" panose="020B0503020204020204" pitchFamily="34" charset="-122"/>
                <a:ea typeface="微软雅黑" panose="020B0503020204020204" pitchFamily="34" charset="-122"/>
              </a:rPr>
              <a:t>先导式电液比例溢流阀</a:t>
            </a:r>
          </a:p>
          <a:p>
            <a:pPr marL="0" indent="0" algn="ctr">
              <a:buNone/>
            </a:pPr>
            <a:r>
              <a:rPr lang="en-US" altLang="zh-CN" sz="1800" kern="0" dirty="0">
                <a:latin typeface="微软雅黑" panose="020B0503020204020204" pitchFamily="34" charset="-122"/>
                <a:ea typeface="微软雅黑" panose="020B0503020204020204" pitchFamily="34" charset="-122"/>
              </a:rPr>
              <a:t>1—</a:t>
            </a:r>
            <a:r>
              <a:rPr lang="zh-CN" altLang="en-US" sz="1800" kern="0" dirty="0">
                <a:latin typeface="微软雅黑" panose="020B0503020204020204" pitchFamily="34" charset="-122"/>
                <a:ea typeface="微软雅黑" panose="020B0503020204020204" pitchFamily="34" charset="-122"/>
              </a:rPr>
              <a:t>比例电磁铁 </a:t>
            </a:r>
            <a:r>
              <a:rPr lang="en-US" altLang="zh-CN" sz="1800" kern="0" dirty="0">
                <a:latin typeface="微软雅黑" panose="020B0503020204020204" pitchFamily="34" charset="-122"/>
                <a:ea typeface="微软雅黑" panose="020B0503020204020204" pitchFamily="34" charset="-122"/>
              </a:rPr>
              <a:t>2—</a:t>
            </a:r>
            <a:r>
              <a:rPr lang="zh-CN" altLang="en-US" sz="1800" kern="0" dirty="0">
                <a:latin typeface="微软雅黑" panose="020B0503020204020204" pitchFamily="34" charset="-122"/>
                <a:ea typeface="微软雅黑" panose="020B0503020204020204" pitchFamily="34" charset="-122"/>
              </a:rPr>
              <a:t>主阀阀芯 </a:t>
            </a:r>
            <a:r>
              <a:rPr lang="en-US" altLang="zh-CN" sz="1800" kern="0" dirty="0">
                <a:latin typeface="微软雅黑" panose="020B0503020204020204" pitchFamily="34" charset="-122"/>
                <a:ea typeface="微软雅黑" panose="020B0503020204020204" pitchFamily="34" charset="-122"/>
              </a:rPr>
              <a:t>3—</a:t>
            </a:r>
            <a:r>
              <a:rPr lang="zh-CN" altLang="en-US" sz="1800" kern="0" dirty="0">
                <a:latin typeface="微软雅黑" panose="020B0503020204020204" pitchFamily="34" charset="-122"/>
                <a:ea typeface="微软雅黑" panose="020B0503020204020204" pitchFamily="34" charset="-122"/>
              </a:rPr>
              <a:t>固定节流孔</a:t>
            </a:r>
            <a:endParaRPr lang="en-US" altLang="zh-CN" sz="1800" kern="0" dirty="0">
              <a:latin typeface="微软雅黑" panose="020B0503020204020204" pitchFamily="34" charset="-122"/>
              <a:ea typeface="微软雅黑" panose="020B0503020204020204" pitchFamily="34" charset="-122"/>
            </a:endParaRPr>
          </a:p>
          <a:p>
            <a:pPr marL="0" indent="0" algn="ctr">
              <a:buNone/>
            </a:pPr>
            <a:r>
              <a:rPr lang="en-US" altLang="zh-CN" sz="1800" kern="0" dirty="0">
                <a:latin typeface="微软雅黑" panose="020B0503020204020204" pitchFamily="34" charset="-122"/>
                <a:ea typeface="微软雅黑" panose="020B0503020204020204" pitchFamily="34" charset="-122"/>
              </a:rPr>
              <a:t>4—</a:t>
            </a:r>
            <a:r>
              <a:rPr lang="zh-CN" altLang="en-US" sz="1800" kern="0" dirty="0">
                <a:latin typeface="微软雅黑" panose="020B0503020204020204" pitchFamily="34" charset="-122"/>
                <a:ea typeface="微软雅黑" panose="020B0503020204020204" pitchFamily="34" charset="-122"/>
              </a:rPr>
              <a:t>先导阀芯 </a:t>
            </a:r>
            <a:r>
              <a:rPr lang="en-US" altLang="zh-CN" sz="1800" kern="0" dirty="0">
                <a:latin typeface="微软雅黑" panose="020B0503020204020204" pitchFamily="34" charset="-122"/>
                <a:ea typeface="微软雅黑" panose="020B0503020204020204" pitchFamily="34" charset="-122"/>
              </a:rPr>
              <a:t>5—</a:t>
            </a:r>
            <a:r>
              <a:rPr lang="zh-CN" altLang="en-US" sz="1800" kern="0" dirty="0">
                <a:latin typeface="微软雅黑" panose="020B0503020204020204" pitchFamily="34" charset="-122"/>
                <a:ea typeface="微软雅黑" panose="020B0503020204020204" pitchFamily="34" charset="-122"/>
              </a:rPr>
              <a:t>压力反馈推杆 </a:t>
            </a:r>
            <a:r>
              <a:rPr lang="en-US" altLang="zh-CN" sz="1800" kern="0" dirty="0">
                <a:latin typeface="微软雅黑" panose="020B0503020204020204" pitchFamily="34" charset="-122"/>
                <a:ea typeface="微软雅黑" panose="020B0503020204020204" pitchFamily="34" charset="-122"/>
              </a:rPr>
              <a:t>6—</a:t>
            </a:r>
            <a:r>
              <a:rPr lang="zh-CN" altLang="en-US" sz="1800" kern="0" dirty="0">
                <a:latin typeface="微软雅黑" panose="020B0503020204020204" pitchFamily="34" charset="-122"/>
                <a:ea typeface="微软雅黑" panose="020B0503020204020204" pitchFamily="34" charset="-122"/>
              </a:rPr>
              <a:t>固定节流孔</a:t>
            </a:r>
            <a:endParaRPr lang="en-US" altLang="zh-CN" sz="1800" kern="0" dirty="0">
              <a:latin typeface="微软雅黑" panose="020B0503020204020204" pitchFamily="34" charset="-122"/>
              <a:ea typeface="微软雅黑" panose="020B0503020204020204" pitchFamily="34" charset="-122"/>
            </a:endParaRPr>
          </a:p>
        </p:txBody>
      </p:sp>
      <p:grpSp>
        <p:nvGrpSpPr>
          <p:cNvPr id="34" name="组合 33">
            <a:extLst>
              <a:ext uri="{FF2B5EF4-FFF2-40B4-BE49-F238E27FC236}">
                <a16:creationId xmlns:a16="http://schemas.microsoft.com/office/drawing/2014/main" id="{22FFCD44-4AA7-BC76-FC15-EEF8AB30B99E}"/>
              </a:ext>
            </a:extLst>
          </p:cNvPr>
          <p:cNvGrpSpPr/>
          <p:nvPr/>
        </p:nvGrpSpPr>
        <p:grpSpPr>
          <a:xfrm>
            <a:off x="1426325" y="2014954"/>
            <a:ext cx="3723192" cy="3537176"/>
            <a:chOff x="4623675" y="1719651"/>
            <a:chExt cx="4683723" cy="4196390"/>
          </a:xfrm>
        </p:grpSpPr>
        <p:pic>
          <p:nvPicPr>
            <p:cNvPr id="35" name="图片 34">
              <a:extLst>
                <a:ext uri="{FF2B5EF4-FFF2-40B4-BE49-F238E27FC236}">
                  <a16:creationId xmlns:a16="http://schemas.microsoft.com/office/drawing/2014/main" id="{28DF55DD-1F9D-BA72-CBDC-E38C95FEA2CD}"/>
                </a:ext>
              </a:extLst>
            </p:cNvPr>
            <p:cNvPicPr>
              <a:picLocks noChangeAspect="1"/>
            </p:cNvPicPr>
            <p:nvPr/>
          </p:nvPicPr>
          <p:blipFill rotWithShape="1">
            <a:blip r:embed="rId3"/>
            <a:srcRect l="2512" r="53429" b="31182"/>
            <a:stretch/>
          </p:blipFill>
          <p:spPr>
            <a:xfrm>
              <a:off x="4623675" y="1719651"/>
              <a:ext cx="4683723" cy="4196390"/>
            </a:xfrm>
            <a:prstGeom prst="rect">
              <a:avLst/>
            </a:prstGeom>
            <a:ln>
              <a:solidFill>
                <a:srgbClr val="003F88"/>
              </a:solidFill>
            </a:ln>
          </p:spPr>
        </p:pic>
        <p:pic>
          <p:nvPicPr>
            <p:cNvPr id="36" name="图片 35">
              <a:extLst>
                <a:ext uri="{FF2B5EF4-FFF2-40B4-BE49-F238E27FC236}">
                  <a16:creationId xmlns:a16="http://schemas.microsoft.com/office/drawing/2014/main" id="{6AB5AADE-8AB8-B5BF-F9D3-997CF3655642}"/>
                </a:ext>
              </a:extLst>
            </p:cNvPr>
            <p:cNvPicPr>
              <a:picLocks noChangeAspect="1"/>
            </p:cNvPicPr>
            <p:nvPr/>
          </p:nvPicPr>
          <p:blipFill rotWithShape="1">
            <a:blip r:embed="rId3"/>
            <a:srcRect l="13726" t="72665" r="67886"/>
            <a:stretch/>
          </p:blipFill>
          <p:spPr>
            <a:xfrm>
              <a:off x="7285221" y="4474288"/>
              <a:ext cx="1528114" cy="1302993"/>
            </a:xfrm>
            <a:prstGeom prst="rect">
              <a:avLst/>
            </a:prstGeom>
            <a:ln>
              <a:solidFill>
                <a:schemeClr val="bg1"/>
              </a:solidFill>
            </a:ln>
          </p:spPr>
        </p:pic>
      </p:grpSp>
      <p:sp>
        <p:nvSpPr>
          <p:cNvPr id="2" name="矩形 1">
            <a:extLst>
              <a:ext uri="{FF2B5EF4-FFF2-40B4-BE49-F238E27FC236}">
                <a16:creationId xmlns:a16="http://schemas.microsoft.com/office/drawing/2014/main" id="{FBAC386D-17BD-7C13-860E-CC8F48DB0874}"/>
              </a:ext>
            </a:extLst>
          </p:cNvPr>
          <p:cNvSpPr/>
          <p:nvPr/>
        </p:nvSpPr>
        <p:spPr>
          <a:xfrm>
            <a:off x="6389123" y="4244040"/>
            <a:ext cx="5348778" cy="1292149"/>
          </a:xfrm>
          <a:prstGeom prst="rect">
            <a:avLst/>
          </a:prstGeom>
        </p:spPr>
        <p:txBody>
          <a:bodyPr wrap="square">
            <a:spAutoFit/>
          </a:bodyPr>
          <a:lstStyle/>
          <a:p>
            <a:pPr eaLnBrk="0" hangingPunct="0">
              <a:lnSpc>
                <a:spcPct val="120000"/>
              </a:lnSpc>
              <a:spcBef>
                <a:spcPct val="20000"/>
              </a:spcBef>
            </a:pPr>
            <a:r>
              <a:rPr lang="zh-CN" altLang="en-US" sz="2000" kern="0" dirty="0">
                <a:latin typeface="微软雅黑" panose="020B0503020204020204" pitchFamily="34" charset="-122"/>
                <a:ea typeface="微软雅黑" panose="020B0503020204020204" pitchFamily="34" charset="-122"/>
              </a:rPr>
              <a:t>先导式电液比例溢流阀</a:t>
            </a:r>
            <a:endParaRPr lang="en-US" altLang="zh-CN" sz="2000" kern="0" dirty="0">
              <a:latin typeface="微软雅黑" panose="020B0503020204020204" pitchFamily="34" charset="-122"/>
              <a:ea typeface="微软雅黑" panose="020B0503020204020204" pitchFamily="34" charset="-122"/>
            </a:endParaRPr>
          </a:p>
          <a:p>
            <a:pPr marL="342900" indent="-342900" eaLnBrk="0" hangingPunct="0">
              <a:lnSpc>
                <a:spcPct val="120000"/>
              </a:lnSpc>
              <a:spcBef>
                <a:spcPct val="20000"/>
              </a:spcBef>
              <a:buFont typeface="Arial" panose="020B0604020202020204" pitchFamily="34" charset="0"/>
              <a:buChar char="•"/>
            </a:pPr>
            <a:r>
              <a:rPr lang="zh-CN" altLang="en-US" sz="2000" kern="0" dirty="0">
                <a:latin typeface="微软雅黑" panose="020B0503020204020204" pitchFamily="34" charset="-122"/>
                <a:ea typeface="微软雅黑" panose="020B0503020204020204" pitchFamily="34" charset="-122"/>
              </a:rPr>
              <a:t>电磁力与压力</a:t>
            </a:r>
            <a:r>
              <a:rPr lang="en-US" altLang="zh-CN" sz="2000" kern="0" dirty="0" err="1">
                <a:latin typeface="微软雅黑" panose="020B0503020204020204" pitchFamily="34" charset="-122"/>
                <a:ea typeface="微软雅黑" panose="020B0503020204020204" pitchFamily="34" charset="-122"/>
              </a:rPr>
              <a:t>p</a:t>
            </a:r>
            <a:r>
              <a:rPr lang="en-US" altLang="zh-CN" sz="2000" kern="0" baseline="-25000" dirty="0" err="1">
                <a:latin typeface="微软雅黑" panose="020B0503020204020204" pitchFamily="34" charset="-122"/>
                <a:ea typeface="微软雅黑" panose="020B0503020204020204" pitchFamily="34" charset="-122"/>
              </a:rPr>
              <a:t>A</a:t>
            </a:r>
            <a:r>
              <a:rPr lang="zh-CN" altLang="en-US" sz="2000" kern="0" dirty="0">
                <a:latin typeface="微软雅黑" panose="020B0503020204020204" pitchFamily="34" charset="-122"/>
                <a:ea typeface="微软雅黑" panose="020B0503020204020204" pitchFamily="34" charset="-122"/>
              </a:rPr>
              <a:t>形成</a:t>
            </a:r>
            <a:r>
              <a:rPr lang="zh-CN" altLang="en-US" sz="2000" kern="0" dirty="0">
                <a:solidFill>
                  <a:srgbClr val="FF0000"/>
                </a:solidFill>
                <a:latin typeface="微软雅黑" panose="020B0503020204020204" pitchFamily="34" charset="-122"/>
                <a:ea typeface="微软雅黑" panose="020B0503020204020204" pitchFamily="34" charset="-122"/>
              </a:rPr>
              <a:t>反馈闭环控制</a:t>
            </a:r>
            <a:endParaRPr lang="en-US" altLang="zh-CN" sz="2000" kern="0" dirty="0">
              <a:solidFill>
                <a:srgbClr val="FF0000"/>
              </a:solidFill>
              <a:latin typeface="微软雅黑" panose="020B0503020204020204" pitchFamily="34" charset="-122"/>
              <a:ea typeface="微软雅黑" panose="020B0503020204020204" pitchFamily="34" charset="-122"/>
            </a:endParaRPr>
          </a:p>
          <a:p>
            <a:pPr marL="342900" indent="-342900" eaLnBrk="0" hangingPunct="0">
              <a:lnSpc>
                <a:spcPct val="120000"/>
              </a:lnSpc>
              <a:spcBef>
                <a:spcPct val="20000"/>
              </a:spcBef>
              <a:buFont typeface="Arial" panose="020B0604020202020204" pitchFamily="34" charset="0"/>
              <a:buChar char="•"/>
            </a:pPr>
            <a:r>
              <a:rPr lang="zh-CN" altLang="en-US" sz="2000" kern="0" dirty="0">
                <a:latin typeface="微软雅黑" panose="020B0503020204020204" pitchFamily="34" charset="-122"/>
                <a:ea typeface="微软雅黑" panose="020B0503020204020204" pitchFamily="34" charset="-122"/>
              </a:rPr>
              <a:t>输出</a:t>
            </a:r>
            <a:r>
              <a:rPr lang="zh-CN" altLang="en-US" sz="2000" kern="0" dirty="0">
                <a:solidFill>
                  <a:srgbClr val="FF0000"/>
                </a:solidFill>
                <a:latin typeface="微软雅黑" panose="020B0503020204020204" pitchFamily="34" charset="-122"/>
                <a:ea typeface="微软雅黑" panose="020B0503020204020204" pitchFamily="34" charset="-122"/>
              </a:rPr>
              <a:t>压力稳定</a:t>
            </a:r>
          </a:p>
        </p:txBody>
      </p:sp>
      <p:sp>
        <p:nvSpPr>
          <p:cNvPr id="3" name="矩形 2">
            <a:extLst>
              <a:ext uri="{FF2B5EF4-FFF2-40B4-BE49-F238E27FC236}">
                <a16:creationId xmlns:a16="http://schemas.microsoft.com/office/drawing/2014/main" id="{94CF2543-08C9-04E5-7DE3-5776B574C5C4}"/>
              </a:ext>
            </a:extLst>
          </p:cNvPr>
          <p:cNvSpPr/>
          <p:nvPr/>
        </p:nvSpPr>
        <p:spPr>
          <a:xfrm>
            <a:off x="6389123" y="2732429"/>
            <a:ext cx="4748415" cy="1168525"/>
          </a:xfrm>
          <a:prstGeom prst="rect">
            <a:avLst/>
          </a:prstGeom>
        </p:spPr>
        <p:txBody>
          <a:bodyPr wrap="square">
            <a:spAutoFit/>
          </a:bodyPr>
          <a:lstStyle/>
          <a:p>
            <a:pPr>
              <a:lnSpc>
                <a:spcPct val="120000"/>
              </a:lnSpc>
            </a:pPr>
            <a:r>
              <a:rPr lang="zh-CN" altLang="en-US" sz="2000" kern="0" dirty="0">
                <a:latin typeface="微软雅黑" panose="020B0503020204020204" pitchFamily="34" charset="-122"/>
                <a:ea typeface="微软雅黑" panose="020B0503020204020204" pitchFamily="34" charset="-122"/>
              </a:rPr>
              <a:t>传统先导式溢流阀</a:t>
            </a:r>
            <a:endParaRPr lang="en-US" altLang="zh-CN" sz="2000" kern="0" dirty="0">
              <a:latin typeface="微软雅黑" panose="020B0503020204020204" pitchFamily="34" charset="-122"/>
              <a:ea typeface="微软雅黑" panose="020B0503020204020204" pitchFamily="34" charset="-122"/>
            </a:endParaRPr>
          </a:p>
          <a:p>
            <a:pPr marL="342900" indent="-342900">
              <a:lnSpc>
                <a:spcPct val="120000"/>
              </a:lnSpc>
              <a:buFont typeface="Arial" panose="020B0604020202020204" pitchFamily="34" charset="0"/>
              <a:buChar char="•"/>
            </a:pPr>
            <a:r>
              <a:rPr lang="zh-CN" altLang="en-US" sz="2000" kern="0" dirty="0">
                <a:latin typeface="微软雅黑" panose="020B0503020204020204" pitchFamily="34" charset="-122"/>
                <a:ea typeface="微软雅黑" panose="020B0503020204020204" pitchFamily="34" charset="-122"/>
              </a:rPr>
              <a:t>电磁力与上腔压力平衡</a:t>
            </a:r>
          </a:p>
          <a:p>
            <a:pPr marL="342900" indent="-342900">
              <a:lnSpc>
                <a:spcPct val="120000"/>
              </a:lnSpc>
              <a:buFont typeface="Arial" panose="020B0604020202020204" pitchFamily="34" charset="0"/>
              <a:buChar char="•"/>
            </a:pPr>
            <a:r>
              <a:rPr lang="zh-CN" altLang="en-US" sz="2000" kern="0" dirty="0">
                <a:latin typeface="微软雅黑" panose="020B0503020204020204" pitchFamily="34" charset="-122"/>
                <a:ea typeface="微软雅黑" panose="020B0503020204020204" pitchFamily="34" charset="-122"/>
              </a:rPr>
              <a:t>受液动力和</a:t>
            </a:r>
            <a:r>
              <a:rPr lang="en-US" altLang="zh-CN" sz="2000" kern="0" dirty="0" err="1">
                <a:latin typeface="微软雅黑" panose="020B0503020204020204" pitchFamily="34" charset="-122"/>
                <a:ea typeface="微软雅黑" panose="020B0503020204020204" pitchFamily="34" charset="-122"/>
              </a:rPr>
              <a:t>p</a:t>
            </a:r>
            <a:r>
              <a:rPr lang="en-US" altLang="zh-CN" sz="2000" kern="0" baseline="-25000" dirty="0" err="1">
                <a:latin typeface="微软雅黑" panose="020B0503020204020204" pitchFamily="34" charset="-122"/>
                <a:ea typeface="微软雅黑" panose="020B0503020204020204" pitchFamily="34" charset="-122"/>
              </a:rPr>
              <a:t>B</a:t>
            </a:r>
            <a:r>
              <a:rPr lang="zh-CN" altLang="en-US" sz="2000" kern="0" dirty="0">
                <a:latin typeface="微软雅黑" panose="020B0503020204020204" pitchFamily="34" charset="-122"/>
                <a:ea typeface="微软雅黑" panose="020B0503020204020204" pitchFamily="34" charset="-122"/>
              </a:rPr>
              <a:t>影响</a:t>
            </a:r>
            <a:endParaRPr lang="zh-CN" altLang="en-US" sz="2000" dirty="0"/>
          </a:p>
        </p:txBody>
      </p:sp>
      <p:sp>
        <p:nvSpPr>
          <p:cNvPr id="4" name="矩形 3">
            <a:extLst>
              <a:ext uri="{FF2B5EF4-FFF2-40B4-BE49-F238E27FC236}">
                <a16:creationId xmlns:a16="http://schemas.microsoft.com/office/drawing/2014/main" id="{E5C7A805-60D1-5783-5A07-2E41F167A3A0}"/>
              </a:ext>
            </a:extLst>
          </p:cNvPr>
          <p:cNvSpPr/>
          <p:nvPr/>
        </p:nvSpPr>
        <p:spPr>
          <a:xfrm>
            <a:off x="914763" y="1427611"/>
            <a:ext cx="8680807" cy="511807"/>
          </a:xfrm>
          <a:prstGeom prst="rect">
            <a:avLst/>
          </a:prstGeom>
          <a:noFill/>
        </p:spPr>
        <p:txBody>
          <a:bodyPr wrap="square" rtlCol="0">
            <a:spAutoFit/>
          </a:bodyPr>
          <a:lstStyle/>
          <a:p>
            <a:pPr>
              <a:lnSpc>
                <a:spcPct val="125000"/>
              </a:lnSpc>
              <a:spcBef>
                <a:spcPts val="1000"/>
              </a:spcBef>
            </a:pPr>
            <a:r>
              <a:rPr lang="zh-CN" altLang="en-US" sz="2400" b="1" dirty="0">
                <a:latin typeface="+mj-ea"/>
                <a:ea typeface="+mj-ea"/>
              </a:rPr>
              <a:t>压力直接检测反馈 </a:t>
            </a:r>
            <a:endParaRPr lang="en-US" altLang="zh-CN" sz="2400" b="1" dirty="0">
              <a:latin typeface="+mj-ea"/>
              <a:ea typeface="+mj-ea"/>
            </a:endParaRPr>
          </a:p>
        </p:txBody>
      </p:sp>
      <p:sp>
        <p:nvSpPr>
          <p:cNvPr id="7" name="文本框 6">
            <a:extLst>
              <a:ext uri="{FF2B5EF4-FFF2-40B4-BE49-F238E27FC236}">
                <a16:creationId xmlns:a16="http://schemas.microsoft.com/office/drawing/2014/main" id="{5A6E3FAE-59C2-29F4-C083-884B0626F1C1}"/>
              </a:ext>
            </a:extLst>
          </p:cNvPr>
          <p:cNvSpPr txBox="1"/>
          <p:nvPr/>
        </p:nvSpPr>
        <p:spPr>
          <a:xfrm>
            <a:off x="6097589" y="2208769"/>
            <a:ext cx="2386264" cy="400110"/>
          </a:xfrm>
          <a:prstGeom prst="rect">
            <a:avLst/>
          </a:prstGeom>
          <a:noFill/>
        </p:spPr>
        <p:txBody>
          <a:bodyPr wrap="square">
            <a:spAutoFit/>
          </a:bodyPr>
          <a:lstStyle/>
          <a:p>
            <a:r>
              <a:rPr lang="zh-CN" altLang="en-US" sz="2000" kern="0" dirty="0">
                <a:latin typeface="微软雅黑" panose="020B0503020204020204" pitchFamily="34" charset="-122"/>
                <a:ea typeface="微软雅黑" panose="020B0503020204020204" pitchFamily="34" charset="-122"/>
              </a:rPr>
              <a:t>溢流阀比较：</a:t>
            </a:r>
            <a:endParaRPr lang="zh-CN" altLang="en-US" sz="2000" dirty="0"/>
          </a:p>
        </p:txBody>
      </p:sp>
      <p:sp>
        <p:nvSpPr>
          <p:cNvPr id="6" name="矩形 5">
            <a:extLst>
              <a:ext uri="{FF2B5EF4-FFF2-40B4-BE49-F238E27FC236}">
                <a16:creationId xmlns:a16="http://schemas.microsoft.com/office/drawing/2014/main" id="{92D60803-1970-B962-3249-4B94F821EE90}"/>
              </a:ext>
            </a:extLst>
          </p:cNvPr>
          <p:cNvSpPr/>
          <p:nvPr/>
        </p:nvSpPr>
        <p:spPr>
          <a:xfrm>
            <a:off x="544341" y="847469"/>
            <a:ext cx="8680807" cy="662554"/>
          </a:xfrm>
          <a:prstGeom prst="rect">
            <a:avLst/>
          </a:prstGeom>
          <a:noFill/>
        </p:spPr>
        <p:txBody>
          <a:bodyPr wrap="square" rtlCol="0">
            <a:spAutoFit/>
          </a:bodyPr>
          <a:lstStyle/>
          <a:p>
            <a:pPr marL="457200" indent="-457200" algn="just">
              <a:lnSpc>
                <a:spcPct val="150000"/>
              </a:lnSpc>
              <a:spcBef>
                <a:spcPts val="1000"/>
              </a:spcBef>
              <a:buFont typeface="Wingdings" panose="05000000000000000000" pitchFamily="2" charset="2"/>
              <a:buChar char="p"/>
            </a:pPr>
            <a:r>
              <a:rPr lang="zh-CN" altLang="en-US" sz="2800" b="1" dirty="0">
                <a:solidFill>
                  <a:srgbClr val="003F88"/>
                </a:solidFill>
                <a:latin typeface="微软雅黑" panose="020B0503020204020204" pitchFamily="34" charset="-122"/>
                <a:ea typeface="微软雅黑" panose="020B0503020204020204" pitchFamily="34" charset="-122"/>
              </a:rPr>
              <a:t>电液比例压力阀</a:t>
            </a:r>
            <a:endParaRPr lang="en-US" altLang="zh-CN" sz="2800" b="1" dirty="0">
              <a:solidFill>
                <a:srgbClr val="003F88"/>
              </a:solidFill>
              <a:latin typeface="微软雅黑" panose="020B0503020204020204" pitchFamily="34" charset="-122"/>
              <a:ea typeface="微软雅黑" panose="020B0503020204020204" pitchFamily="34" charset="-122"/>
            </a:endParaRPr>
          </a:p>
        </p:txBody>
      </p:sp>
      <p:sp>
        <p:nvSpPr>
          <p:cNvPr id="15" name="文本框 14">
            <a:extLst>
              <a:ext uri="{FF2B5EF4-FFF2-40B4-BE49-F238E27FC236}">
                <a16:creationId xmlns:a16="http://schemas.microsoft.com/office/drawing/2014/main" id="{E2CAC1DB-FE3F-4BE6-9F0B-9B1DAF39835F}"/>
              </a:ext>
            </a:extLst>
          </p:cNvPr>
          <p:cNvSpPr txBox="1"/>
          <p:nvPr/>
        </p:nvSpPr>
        <p:spPr>
          <a:xfrm>
            <a:off x="429656" y="135415"/>
            <a:ext cx="3632036"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cs typeface="Times New Roman" panose="02020603050405020304" pitchFamily="18" charset="0"/>
              </a:rPr>
              <a:t>10.6</a:t>
            </a:r>
            <a:r>
              <a:rPr lang="en-US" altLang="zh-CN" sz="3600" b="1" dirty="0">
                <a:solidFill>
                  <a:srgbClr val="003F88"/>
                </a:solidFill>
                <a:latin typeface="+mn-ea"/>
              </a:rPr>
              <a:t> </a:t>
            </a:r>
            <a:r>
              <a:rPr lang="zh-CN" altLang="en-US" sz="3600" b="1" dirty="0">
                <a:solidFill>
                  <a:srgbClr val="003F88"/>
                </a:solidFill>
                <a:latin typeface="+mn-ea"/>
              </a:rPr>
              <a:t>电液比例阀</a:t>
            </a:r>
          </a:p>
        </p:txBody>
      </p:sp>
    </p:spTree>
    <p:extLst>
      <p:ext uri="{BB962C8B-B14F-4D97-AF65-F5344CB8AC3E}">
        <p14:creationId xmlns:p14="http://schemas.microsoft.com/office/powerpoint/2010/main" val="18673190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57097-BAF0-5C01-34FE-16C9876EDB39}"/>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272FD888-81E6-F590-490C-169DDC0D2847}"/>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CB74DA41-0F1A-404A-86BF-F23EBD4F5C3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00F9F6E3-0DAA-EB3F-FE1A-5707A97607B6}"/>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Content Placeholder 2">
            <a:extLst>
              <a:ext uri="{FF2B5EF4-FFF2-40B4-BE49-F238E27FC236}">
                <a16:creationId xmlns:a16="http://schemas.microsoft.com/office/drawing/2014/main" id="{CE09E293-3091-9974-5162-D4D82AC608DA}"/>
              </a:ext>
            </a:extLst>
          </p:cNvPr>
          <p:cNvSpPr txBox="1">
            <a:spLocks/>
          </p:cNvSpPr>
          <p:nvPr/>
        </p:nvSpPr>
        <p:spPr bwMode="auto">
          <a:xfrm>
            <a:off x="867574" y="5673710"/>
            <a:ext cx="5521549" cy="146596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ea typeface="+mn-ea"/>
              </a:defRPr>
            </a:lvl2pPr>
            <a:lvl3pPr marL="1143000" indent="-228600" algn="l" rtl="0" eaLnBrk="0" fontAlgn="base" hangingPunct="0">
              <a:spcBef>
                <a:spcPct val="20000"/>
              </a:spcBef>
              <a:spcAft>
                <a:spcPct val="0"/>
              </a:spcAft>
              <a:buChar char="•"/>
              <a:defRPr sz="2400">
                <a:solidFill>
                  <a:schemeClr val="tx1"/>
                </a:solidFill>
                <a:latin typeface="+mn-lt"/>
                <a:ea typeface="+mn-ea"/>
              </a:defRPr>
            </a:lvl3pPr>
            <a:lvl4pPr marL="1600200" indent="-228600" algn="l" rtl="0" eaLnBrk="0" fontAlgn="base" hangingPunct="0">
              <a:spcBef>
                <a:spcPct val="20000"/>
              </a:spcBef>
              <a:spcAft>
                <a:spcPct val="0"/>
              </a:spcAft>
              <a:buChar char="–"/>
              <a:defRPr sz="20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sz="2000">
                <a:solidFill>
                  <a:schemeClr val="tx1"/>
                </a:solidFill>
                <a:latin typeface="+mn-lt"/>
                <a:ea typeface="+mn-ea"/>
              </a:defRPr>
            </a:lvl6pPr>
            <a:lvl7pPr marL="2971800" indent="-228600" algn="l" rtl="0" fontAlgn="base">
              <a:spcBef>
                <a:spcPct val="20000"/>
              </a:spcBef>
              <a:spcAft>
                <a:spcPct val="0"/>
              </a:spcAft>
              <a:buChar char="»"/>
              <a:defRPr sz="2000">
                <a:solidFill>
                  <a:schemeClr val="tx1"/>
                </a:solidFill>
                <a:latin typeface="+mn-lt"/>
                <a:ea typeface="+mn-ea"/>
              </a:defRPr>
            </a:lvl7pPr>
            <a:lvl8pPr marL="3429000" indent="-228600" algn="l" rtl="0" fontAlgn="base">
              <a:spcBef>
                <a:spcPct val="20000"/>
              </a:spcBef>
              <a:spcAft>
                <a:spcPct val="0"/>
              </a:spcAft>
              <a:buChar char="»"/>
              <a:defRPr sz="2000">
                <a:solidFill>
                  <a:schemeClr val="tx1"/>
                </a:solidFill>
                <a:latin typeface="+mn-lt"/>
                <a:ea typeface="+mn-ea"/>
              </a:defRPr>
            </a:lvl8pPr>
            <a:lvl9pPr marL="3886200" indent="-228600" algn="l" rtl="0" fontAlgn="base">
              <a:spcBef>
                <a:spcPct val="20000"/>
              </a:spcBef>
              <a:spcAft>
                <a:spcPct val="0"/>
              </a:spcAft>
              <a:buChar char="»"/>
              <a:defRPr sz="2000">
                <a:solidFill>
                  <a:schemeClr val="tx1"/>
                </a:solidFill>
                <a:latin typeface="+mn-lt"/>
                <a:ea typeface="+mn-ea"/>
              </a:defRPr>
            </a:lvl9pPr>
          </a:lstStyle>
          <a:p>
            <a:pPr marL="0" indent="0" algn="ctr">
              <a:buNone/>
            </a:pPr>
            <a:r>
              <a:rPr lang="zh-CN" altLang="en-US" sz="1800" kern="0" dirty="0">
                <a:latin typeface="微软雅黑" panose="020B0503020204020204" pitchFamily="34" charset="-122"/>
                <a:ea typeface="微软雅黑" panose="020B0503020204020204" pitchFamily="34" charset="-122"/>
              </a:rPr>
              <a:t>先导式电液比例溢流阀</a:t>
            </a:r>
          </a:p>
          <a:p>
            <a:pPr marL="0" indent="0" algn="ctr">
              <a:buNone/>
            </a:pPr>
            <a:r>
              <a:rPr lang="en-US" altLang="zh-CN" sz="1800" kern="0" dirty="0">
                <a:latin typeface="微软雅黑" panose="020B0503020204020204" pitchFamily="34" charset="-122"/>
                <a:ea typeface="微软雅黑" panose="020B0503020204020204" pitchFamily="34" charset="-122"/>
              </a:rPr>
              <a:t>1—</a:t>
            </a:r>
            <a:r>
              <a:rPr lang="zh-CN" altLang="en-US" sz="1800" kern="0" dirty="0">
                <a:latin typeface="微软雅黑" panose="020B0503020204020204" pitchFamily="34" charset="-122"/>
                <a:ea typeface="微软雅黑" panose="020B0503020204020204" pitchFamily="34" charset="-122"/>
              </a:rPr>
              <a:t>比例电磁铁 </a:t>
            </a:r>
            <a:r>
              <a:rPr lang="en-US" altLang="zh-CN" sz="1800" kern="0" dirty="0">
                <a:latin typeface="微软雅黑" panose="020B0503020204020204" pitchFamily="34" charset="-122"/>
                <a:ea typeface="微软雅黑" panose="020B0503020204020204" pitchFamily="34" charset="-122"/>
              </a:rPr>
              <a:t>2—</a:t>
            </a:r>
            <a:r>
              <a:rPr lang="zh-CN" altLang="en-US" sz="1800" kern="0" dirty="0">
                <a:latin typeface="微软雅黑" panose="020B0503020204020204" pitchFamily="34" charset="-122"/>
                <a:ea typeface="微软雅黑" panose="020B0503020204020204" pitchFamily="34" charset="-122"/>
              </a:rPr>
              <a:t>主阀阀芯 </a:t>
            </a:r>
            <a:r>
              <a:rPr lang="en-US" altLang="zh-CN" sz="1800" kern="0" dirty="0">
                <a:latin typeface="微软雅黑" panose="020B0503020204020204" pitchFamily="34" charset="-122"/>
                <a:ea typeface="微软雅黑" panose="020B0503020204020204" pitchFamily="34" charset="-122"/>
              </a:rPr>
              <a:t>3—</a:t>
            </a:r>
            <a:r>
              <a:rPr lang="zh-CN" altLang="en-US" sz="1800" kern="0" dirty="0">
                <a:latin typeface="微软雅黑" panose="020B0503020204020204" pitchFamily="34" charset="-122"/>
                <a:ea typeface="微软雅黑" panose="020B0503020204020204" pitchFamily="34" charset="-122"/>
              </a:rPr>
              <a:t>固定节流孔</a:t>
            </a:r>
            <a:endParaRPr lang="en-US" altLang="zh-CN" sz="1800" kern="0" dirty="0">
              <a:latin typeface="微软雅黑" panose="020B0503020204020204" pitchFamily="34" charset="-122"/>
              <a:ea typeface="微软雅黑" panose="020B0503020204020204" pitchFamily="34" charset="-122"/>
            </a:endParaRPr>
          </a:p>
          <a:p>
            <a:pPr marL="0" indent="0" algn="ctr">
              <a:buNone/>
            </a:pPr>
            <a:r>
              <a:rPr lang="en-US" altLang="zh-CN" sz="1800" kern="0" dirty="0">
                <a:latin typeface="微软雅黑" panose="020B0503020204020204" pitchFamily="34" charset="-122"/>
                <a:ea typeface="微软雅黑" panose="020B0503020204020204" pitchFamily="34" charset="-122"/>
              </a:rPr>
              <a:t>4—</a:t>
            </a:r>
            <a:r>
              <a:rPr lang="zh-CN" altLang="en-US" sz="1800" kern="0" dirty="0">
                <a:latin typeface="微软雅黑" panose="020B0503020204020204" pitchFamily="34" charset="-122"/>
                <a:ea typeface="微软雅黑" panose="020B0503020204020204" pitchFamily="34" charset="-122"/>
              </a:rPr>
              <a:t>先导阀芯 </a:t>
            </a:r>
            <a:r>
              <a:rPr lang="en-US" altLang="zh-CN" sz="1800" kern="0" dirty="0">
                <a:latin typeface="微软雅黑" panose="020B0503020204020204" pitchFamily="34" charset="-122"/>
                <a:ea typeface="微软雅黑" panose="020B0503020204020204" pitchFamily="34" charset="-122"/>
              </a:rPr>
              <a:t>5—</a:t>
            </a:r>
            <a:r>
              <a:rPr lang="zh-CN" altLang="en-US" sz="1800" kern="0" dirty="0">
                <a:latin typeface="微软雅黑" panose="020B0503020204020204" pitchFamily="34" charset="-122"/>
                <a:ea typeface="微软雅黑" panose="020B0503020204020204" pitchFamily="34" charset="-122"/>
              </a:rPr>
              <a:t>压力反馈推杆 </a:t>
            </a:r>
            <a:r>
              <a:rPr lang="en-US" altLang="zh-CN" sz="1800" kern="0" dirty="0">
                <a:latin typeface="微软雅黑" panose="020B0503020204020204" pitchFamily="34" charset="-122"/>
                <a:ea typeface="微软雅黑" panose="020B0503020204020204" pitchFamily="34" charset="-122"/>
              </a:rPr>
              <a:t>6—</a:t>
            </a:r>
            <a:r>
              <a:rPr lang="zh-CN" altLang="en-US" sz="1800" kern="0" dirty="0">
                <a:latin typeface="微软雅黑" panose="020B0503020204020204" pitchFamily="34" charset="-122"/>
                <a:ea typeface="微软雅黑" panose="020B0503020204020204" pitchFamily="34" charset="-122"/>
              </a:rPr>
              <a:t>固定节流孔</a:t>
            </a:r>
            <a:endParaRPr lang="en-US" altLang="zh-CN" sz="1800" kern="0" dirty="0">
              <a:latin typeface="微软雅黑" panose="020B0503020204020204" pitchFamily="34" charset="-122"/>
              <a:ea typeface="微软雅黑" panose="020B0503020204020204" pitchFamily="34" charset="-122"/>
            </a:endParaRPr>
          </a:p>
        </p:txBody>
      </p:sp>
      <p:grpSp>
        <p:nvGrpSpPr>
          <p:cNvPr id="34" name="组合 33">
            <a:extLst>
              <a:ext uri="{FF2B5EF4-FFF2-40B4-BE49-F238E27FC236}">
                <a16:creationId xmlns:a16="http://schemas.microsoft.com/office/drawing/2014/main" id="{22FFCD44-4AA7-BC76-FC15-EEF8AB30B99E}"/>
              </a:ext>
            </a:extLst>
          </p:cNvPr>
          <p:cNvGrpSpPr/>
          <p:nvPr/>
        </p:nvGrpSpPr>
        <p:grpSpPr>
          <a:xfrm>
            <a:off x="1426325" y="2014954"/>
            <a:ext cx="3723192" cy="3537176"/>
            <a:chOff x="4623675" y="1719651"/>
            <a:chExt cx="4683723" cy="4196390"/>
          </a:xfrm>
        </p:grpSpPr>
        <p:pic>
          <p:nvPicPr>
            <p:cNvPr id="35" name="图片 34">
              <a:extLst>
                <a:ext uri="{FF2B5EF4-FFF2-40B4-BE49-F238E27FC236}">
                  <a16:creationId xmlns:a16="http://schemas.microsoft.com/office/drawing/2014/main" id="{28DF55DD-1F9D-BA72-CBDC-E38C95FEA2CD}"/>
                </a:ext>
              </a:extLst>
            </p:cNvPr>
            <p:cNvPicPr>
              <a:picLocks noChangeAspect="1"/>
            </p:cNvPicPr>
            <p:nvPr/>
          </p:nvPicPr>
          <p:blipFill rotWithShape="1">
            <a:blip r:embed="rId3"/>
            <a:srcRect l="2512" r="53429" b="31182"/>
            <a:stretch/>
          </p:blipFill>
          <p:spPr>
            <a:xfrm>
              <a:off x="4623675" y="1719651"/>
              <a:ext cx="4683723" cy="4196390"/>
            </a:xfrm>
            <a:prstGeom prst="rect">
              <a:avLst/>
            </a:prstGeom>
            <a:ln>
              <a:solidFill>
                <a:srgbClr val="003F88"/>
              </a:solidFill>
            </a:ln>
          </p:spPr>
        </p:pic>
        <p:pic>
          <p:nvPicPr>
            <p:cNvPr id="36" name="图片 35">
              <a:extLst>
                <a:ext uri="{FF2B5EF4-FFF2-40B4-BE49-F238E27FC236}">
                  <a16:creationId xmlns:a16="http://schemas.microsoft.com/office/drawing/2014/main" id="{6AB5AADE-8AB8-B5BF-F9D3-997CF3655642}"/>
                </a:ext>
              </a:extLst>
            </p:cNvPr>
            <p:cNvPicPr>
              <a:picLocks noChangeAspect="1"/>
            </p:cNvPicPr>
            <p:nvPr/>
          </p:nvPicPr>
          <p:blipFill rotWithShape="1">
            <a:blip r:embed="rId3"/>
            <a:srcRect l="13726" t="72665" r="67886"/>
            <a:stretch/>
          </p:blipFill>
          <p:spPr>
            <a:xfrm>
              <a:off x="7285221" y="4474288"/>
              <a:ext cx="1528114" cy="1302993"/>
            </a:xfrm>
            <a:prstGeom prst="rect">
              <a:avLst/>
            </a:prstGeom>
            <a:ln>
              <a:solidFill>
                <a:schemeClr val="bg1"/>
              </a:solidFill>
            </a:ln>
          </p:spPr>
        </p:pic>
      </p:grpSp>
      <p:sp>
        <p:nvSpPr>
          <p:cNvPr id="4" name="矩形 3">
            <a:extLst>
              <a:ext uri="{FF2B5EF4-FFF2-40B4-BE49-F238E27FC236}">
                <a16:creationId xmlns:a16="http://schemas.microsoft.com/office/drawing/2014/main" id="{E5C7A805-60D1-5783-5A07-2E41F167A3A0}"/>
              </a:ext>
            </a:extLst>
          </p:cNvPr>
          <p:cNvSpPr/>
          <p:nvPr/>
        </p:nvSpPr>
        <p:spPr>
          <a:xfrm>
            <a:off x="914763" y="1427611"/>
            <a:ext cx="8680807" cy="511807"/>
          </a:xfrm>
          <a:prstGeom prst="rect">
            <a:avLst/>
          </a:prstGeom>
          <a:noFill/>
        </p:spPr>
        <p:txBody>
          <a:bodyPr wrap="square" rtlCol="0">
            <a:spAutoFit/>
          </a:bodyPr>
          <a:lstStyle/>
          <a:p>
            <a:pPr>
              <a:lnSpc>
                <a:spcPct val="125000"/>
              </a:lnSpc>
              <a:spcBef>
                <a:spcPts val="1000"/>
              </a:spcBef>
            </a:pPr>
            <a:r>
              <a:rPr lang="zh-CN" altLang="en-US" sz="2400" b="1" dirty="0">
                <a:latin typeface="+mj-ea"/>
                <a:ea typeface="+mj-ea"/>
              </a:rPr>
              <a:t>压力直接检测反馈 </a:t>
            </a:r>
            <a:endParaRPr lang="en-US" altLang="zh-CN" sz="2400" b="1" dirty="0">
              <a:latin typeface="+mj-ea"/>
              <a:ea typeface="+mj-ea"/>
            </a:endParaRPr>
          </a:p>
        </p:txBody>
      </p:sp>
      <p:sp>
        <p:nvSpPr>
          <p:cNvPr id="6" name="矩形 5">
            <a:extLst>
              <a:ext uri="{FF2B5EF4-FFF2-40B4-BE49-F238E27FC236}">
                <a16:creationId xmlns:a16="http://schemas.microsoft.com/office/drawing/2014/main" id="{92D60803-1970-B962-3249-4B94F821EE90}"/>
              </a:ext>
            </a:extLst>
          </p:cNvPr>
          <p:cNvSpPr/>
          <p:nvPr/>
        </p:nvSpPr>
        <p:spPr>
          <a:xfrm>
            <a:off x="544341" y="847469"/>
            <a:ext cx="8680807" cy="662554"/>
          </a:xfrm>
          <a:prstGeom prst="rect">
            <a:avLst/>
          </a:prstGeom>
          <a:noFill/>
        </p:spPr>
        <p:txBody>
          <a:bodyPr wrap="square" rtlCol="0">
            <a:spAutoFit/>
          </a:bodyPr>
          <a:lstStyle/>
          <a:p>
            <a:pPr marL="457200" indent="-457200" algn="just">
              <a:lnSpc>
                <a:spcPct val="150000"/>
              </a:lnSpc>
              <a:spcBef>
                <a:spcPts val="1000"/>
              </a:spcBef>
              <a:buFont typeface="Wingdings" panose="05000000000000000000" pitchFamily="2" charset="2"/>
              <a:buChar char="p"/>
            </a:pPr>
            <a:r>
              <a:rPr lang="zh-CN" altLang="en-US" sz="2800" b="1" dirty="0">
                <a:solidFill>
                  <a:srgbClr val="003F88"/>
                </a:solidFill>
                <a:latin typeface="微软雅黑" panose="020B0503020204020204" pitchFamily="34" charset="-122"/>
                <a:ea typeface="微软雅黑" panose="020B0503020204020204" pitchFamily="34" charset="-122"/>
              </a:rPr>
              <a:t>电液比例压力阀</a:t>
            </a:r>
            <a:endParaRPr lang="en-US" altLang="zh-CN" sz="2800" b="1" dirty="0">
              <a:solidFill>
                <a:srgbClr val="003F88"/>
              </a:solidFill>
              <a:latin typeface="微软雅黑" panose="020B0503020204020204" pitchFamily="34" charset="-122"/>
              <a:ea typeface="微软雅黑" panose="020B0503020204020204" pitchFamily="34" charset="-122"/>
            </a:endParaRPr>
          </a:p>
        </p:txBody>
      </p:sp>
      <p:pic>
        <p:nvPicPr>
          <p:cNvPr id="15" name="图片 14">
            <a:extLst>
              <a:ext uri="{FF2B5EF4-FFF2-40B4-BE49-F238E27FC236}">
                <a16:creationId xmlns:a16="http://schemas.microsoft.com/office/drawing/2014/main" id="{569E6E11-3A0A-408E-BEE3-5C6D85896E3C}"/>
              </a:ext>
            </a:extLst>
          </p:cNvPr>
          <p:cNvPicPr>
            <a:picLocks noChangeAspect="1"/>
          </p:cNvPicPr>
          <p:nvPr/>
        </p:nvPicPr>
        <p:blipFill rotWithShape="1">
          <a:blip r:embed="rId4"/>
          <a:srcRect l="8644" b="23820"/>
          <a:stretch/>
        </p:blipFill>
        <p:spPr>
          <a:xfrm>
            <a:off x="5809785" y="2074486"/>
            <a:ext cx="5978223" cy="3487546"/>
          </a:xfrm>
          <a:prstGeom prst="rect">
            <a:avLst/>
          </a:prstGeom>
        </p:spPr>
      </p:pic>
      <p:sp>
        <p:nvSpPr>
          <p:cNvPr id="16" name="文本框 15">
            <a:extLst>
              <a:ext uri="{FF2B5EF4-FFF2-40B4-BE49-F238E27FC236}">
                <a16:creationId xmlns:a16="http://schemas.microsoft.com/office/drawing/2014/main" id="{D28A986D-A3D2-48CB-B7ED-1D9FC6585917}"/>
              </a:ext>
            </a:extLst>
          </p:cNvPr>
          <p:cNvSpPr txBox="1"/>
          <p:nvPr/>
        </p:nvSpPr>
        <p:spPr>
          <a:xfrm>
            <a:off x="6266459" y="5673710"/>
            <a:ext cx="5521549" cy="1025922"/>
          </a:xfrm>
          <a:prstGeom prst="rect">
            <a:avLst/>
          </a:prstGeom>
          <a:solidFill>
            <a:schemeClr val="bg1"/>
          </a:solidFill>
        </p:spPr>
        <p:txBody>
          <a:bodyPr wrap="square" rtlCol="0">
            <a:spAutoFit/>
          </a:bodyPr>
          <a:lstStyle/>
          <a:p>
            <a:pPr algn="ctr">
              <a:spcBef>
                <a:spcPts val="385"/>
              </a:spcBef>
            </a:pPr>
            <a:r>
              <a:rPr lang="zh-CN" altLang="en-US" dirty="0">
                <a:latin typeface="微软雅黑" panose="020B0503020204020204" pitchFamily="34" charset="-122"/>
                <a:ea typeface="微软雅黑" panose="020B0503020204020204" pitchFamily="34" charset="-122"/>
              </a:rPr>
              <a:t>图</a:t>
            </a:r>
            <a:r>
              <a:rPr lang="en-US" altLang="zh-CN" dirty="0">
                <a:latin typeface="微软雅黑" panose="020B0503020204020204" pitchFamily="34" charset="-122"/>
                <a:ea typeface="微软雅黑" panose="020B0503020204020204" pitchFamily="34" charset="-122"/>
              </a:rPr>
              <a:t>24 </a:t>
            </a:r>
            <a:r>
              <a:rPr lang="zh-CN" altLang="en-US" dirty="0">
                <a:latin typeface="微软雅黑" panose="020B0503020204020204" pitchFamily="34" charset="-122"/>
                <a:ea typeface="微软雅黑" panose="020B0503020204020204" pitchFamily="34" charset="-122"/>
              </a:rPr>
              <a:t>先导式溢流阀的工作原理</a:t>
            </a:r>
            <a:endParaRPr lang="en-US" altLang="zh-CN" dirty="0">
              <a:latin typeface="微软雅黑" panose="020B0503020204020204" pitchFamily="34" charset="-122"/>
              <a:ea typeface="微软雅黑" panose="020B0503020204020204" pitchFamily="34" charset="-122"/>
            </a:endParaRPr>
          </a:p>
          <a:p>
            <a:pPr algn="ctr">
              <a:spcBef>
                <a:spcPts val="385"/>
              </a:spcBef>
            </a:pPr>
            <a:r>
              <a:rPr lang="en-US" altLang="zh-CN" dirty="0">
                <a:latin typeface="微软雅黑" panose="020B0503020204020204" pitchFamily="34" charset="-122"/>
                <a:ea typeface="微软雅黑" panose="020B0503020204020204" pitchFamily="34" charset="-122"/>
              </a:rPr>
              <a:t>a)</a:t>
            </a:r>
            <a:r>
              <a:rPr lang="zh-CN" altLang="en-US" dirty="0">
                <a:latin typeface="微软雅黑" panose="020B0503020204020204" pitchFamily="34" charset="-122"/>
                <a:ea typeface="微软雅黑" panose="020B0503020204020204" pitchFamily="34" charset="-122"/>
              </a:rPr>
              <a:t>原理图 </a:t>
            </a:r>
            <a:r>
              <a:rPr lang="en-US" altLang="zh-CN" dirty="0">
                <a:latin typeface="微软雅黑" panose="020B0503020204020204" pitchFamily="34" charset="-122"/>
                <a:ea typeface="微软雅黑" panose="020B0503020204020204" pitchFamily="34" charset="-122"/>
              </a:rPr>
              <a:t>b)</a:t>
            </a:r>
            <a:r>
              <a:rPr lang="zh-CN" altLang="en-US" dirty="0">
                <a:latin typeface="微软雅黑" panose="020B0503020204020204" pitchFamily="34" charset="-122"/>
                <a:ea typeface="微软雅黑" panose="020B0503020204020204" pitchFamily="34" charset="-122"/>
              </a:rPr>
              <a:t>图形符号</a:t>
            </a:r>
            <a:endParaRPr lang="en-US" altLang="zh-CN" dirty="0">
              <a:latin typeface="微软雅黑" panose="020B0503020204020204" pitchFamily="34" charset="-122"/>
              <a:ea typeface="微软雅黑" panose="020B0503020204020204" pitchFamily="34" charset="-122"/>
            </a:endParaRPr>
          </a:p>
          <a:p>
            <a:pPr algn="ctr">
              <a:spcBef>
                <a:spcPts val="385"/>
              </a:spcBef>
            </a:pPr>
            <a:r>
              <a:rPr lang="en-US" altLang="zh-CN" dirty="0">
                <a:latin typeface="微软雅黑" panose="020B0503020204020204" pitchFamily="34" charset="-122"/>
                <a:ea typeface="微软雅黑" panose="020B0503020204020204" pitchFamily="34" charset="-122"/>
              </a:rPr>
              <a:t>1-</a:t>
            </a:r>
            <a:r>
              <a:rPr lang="zh-CN" altLang="en-US" dirty="0">
                <a:latin typeface="微软雅黑" panose="020B0503020204020204" pitchFamily="34" charset="-122"/>
                <a:ea typeface="微软雅黑" panose="020B0503020204020204" pitchFamily="34" charset="-122"/>
              </a:rPr>
              <a:t>主阀 </a:t>
            </a:r>
            <a:r>
              <a:rPr lang="en-US" altLang="zh-CN" dirty="0">
                <a:latin typeface="微软雅黑" panose="020B0503020204020204" pitchFamily="34" charset="-122"/>
                <a:ea typeface="微软雅黑" panose="020B0503020204020204" pitchFamily="34" charset="-122"/>
              </a:rPr>
              <a:t>2-</a:t>
            </a:r>
            <a:r>
              <a:rPr lang="zh-CN" altLang="en-US" dirty="0">
                <a:latin typeface="微软雅黑" panose="020B0503020204020204" pitchFamily="34" charset="-122"/>
                <a:ea typeface="微软雅黑" panose="020B0503020204020204" pitchFamily="34" charset="-122"/>
              </a:rPr>
              <a:t>主阀弹簧 </a:t>
            </a:r>
            <a:r>
              <a:rPr lang="en-US" altLang="zh-CN" dirty="0">
                <a:latin typeface="微软雅黑" panose="020B0503020204020204" pitchFamily="34" charset="-122"/>
                <a:ea typeface="微软雅黑" panose="020B0503020204020204" pitchFamily="34" charset="-122"/>
              </a:rPr>
              <a:t>3-</a:t>
            </a:r>
            <a:r>
              <a:rPr lang="zh-CN" altLang="en-US" dirty="0">
                <a:latin typeface="微软雅黑" panose="020B0503020204020204" pitchFamily="34" charset="-122"/>
                <a:ea typeface="微软雅黑" panose="020B0503020204020204" pitchFamily="34" charset="-122"/>
              </a:rPr>
              <a:t>先导阀 </a:t>
            </a:r>
            <a:r>
              <a:rPr lang="en-US" altLang="zh-CN" dirty="0">
                <a:latin typeface="微软雅黑" panose="020B0503020204020204" pitchFamily="34" charset="-122"/>
                <a:ea typeface="微软雅黑" panose="020B0503020204020204" pitchFamily="34" charset="-122"/>
              </a:rPr>
              <a:t>4-</a:t>
            </a:r>
            <a:r>
              <a:rPr lang="zh-CN" altLang="en-US" dirty="0">
                <a:latin typeface="微软雅黑" panose="020B0503020204020204" pitchFamily="34" charset="-122"/>
                <a:ea typeface="微软雅黑" panose="020B0503020204020204" pitchFamily="34" charset="-122"/>
              </a:rPr>
              <a:t>调压弹簧 </a:t>
            </a:r>
            <a:r>
              <a:rPr lang="en-US" altLang="zh-CN" dirty="0">
                <a:latin typeface="微软雅黑" panose="020B0503020204020204" pitchFamily="34" charset="-122"/>
                <a:ea typeface="微软雅黑" panose="020B0503020204020204" pitchFamily="34" charset="-122"/>
              </a:rPr>
              <a:t>5-</a:t>
            </a:r>
            <a:r>
              <a:rPr lang="zh-CN" altLang="en-US" dirty="0">
                <a:latin typeface="微软雅黑" panose="020B0503020204020204" pitchFamily="34" charset="-122"/>
                <a:ea typeface="微软雅黑" panose="020B0503020204020204" pitchFamily="34" charset="-122"/>
              </a:rPr>
              <a:t>阻尼孔</a:t>
            </a:r>
          </a:p>
        </p:txBody>
      </p:sp>
      <p:sp>
        <p:nvSpPr>
          <p:cNvPr id="14" name="文本框 13">
            <a:extLst>
              <a:ext uri="{FF2B5EF4-FFF2-40B4-BE49-F238E27FC236}">
                <a16:creationId xmlns:a16="http://schemas.microsoft.com/office/drawing/2014/main" id="{67C8993A-19C1-443A-B740-B0C8A8BAC6AA}"/>
              </a:ext>
            </a:extLst>
          </p:cNvPr>
          <p:cNvSpPr txBox="1"/>
          <p:nvPr/>
        </p:nvSpPr>
        <p:spPr>
          <a:xfrm>
            <a:off x="429656" y="135415"/>
            <a:ext cx="3632036"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cs typeface="Times New Roman" panose="02020603050405020304" pitchFamily="18" charset="0"/>
              </a:rPr>
              <a:t>10.6</a:t>
            </a:r>
            <a:r>
              <a:rPr lang="en-US" altLang="zh-CN" sz="3600" b="1" dirty="0">
                <a:solidFill>
                  <a:srgbClr val="003F88"/>
                </a:solidFill>
                <a:latin typeface="+mn-ea"/>
              </a:rPr>
              <a:t> </a:t>
            </a:r>
            <a:r>
              <a:rPr lang="zh-CN" altLang="en-US" sz="3600" b="1" dirty="0">
                <a:solidFill>
                  <a:srgbClr val="003F88"/>
                </a:solidFill>
                <a:latin typeface="+mn-ea"/>
              </a:rPr>
              <a:t>电液比例阀</a:t>
            </a:r>
          </a:p>
        </p:txBody>
      </p:sp>
    </p:spTree>
    <p:extLst>
      <p:ext uri="{BB962C8B-B14F-4D97-AF65-F5344CB8AC3E}">
        <p14:creationId xmlns:p14="http://schemas.microsoft.com/office/powerpoint/2010/main" val="5182878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80AE5-D3CA-9830-1758-6148D1A7BA00}"/>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1FCBDC45-543E-4402-EA1F-D2A50EFA2E26}"/>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A9953114-7F6E-C659-B6B4-1ECFFE3CF11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54879863-3A13-C349-FE96-C227DE4A5041}"/>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9" name="图片 28">
            <a:extLst>
              <a:ext uri="{FF2B5EF4-FFF2-40B4-BE49-F238E27FC236}">
                <a16:creationId xmlns:a16="http://schemas.microsoft.com/office/drawing/2014/main" id="{955DE823-F8F6-21D8-A026-D9605BF8954E}"/>
              </a:ext>
            </a:extLst>
          </p:cNvPr>
          <p:cNvPicPr>
            <a:picLocks noChangeAspect="1"/>
          </p:cNvPicPr>
          <p:nvPr/>
        </p:nvPicPr>
        <p:blipFill>
          <a:blip r:embed="rId4"/>
          <a:stretch>
            <a:fillRect/>
          </a:stretch>
        </p:blipFill>
        <p:spPr>
          <a:xfrm>
            <a:off x="2375187" y="2223952"/>
            <a:ext cx="2783165" cy="2358337"/>
          </a:xfrm>
          <a:prstGeom prst="rect">
            <a:avLst/>
          </a:prstGeom>
        </p:spPr>
      </p:pic>
      <p:pic>
        <p:nvPicPr>
          <p:cNvPr id="30" name="图片 29">
            <a:extLst>
              <a:ext uri="{FF2B5EF4-FFF2-40B4-BE49-F238E27FC236}">
                <a16:creationId xmlns:a16="http://schemas.microsoft.com/office/drawing/2014/main" id="{F1655894-5007-F975-39C7-BFD6D7C769CE}"/>
              </a:ext>
            </a:extLst>
          </p:cNvPr>
          <p:cNvPicPr>
            <a:picLocks noChangeAspect="1"/>
          </p:cNvPicPr>
          <p:nvPr/>
        </p:nvPicPr>
        <p:blipFill>
          <a:blip r:embed="rId5"/>
          <a:stretch>
            <a:fillRect/>
          </a:stretch>
        </p:blipFill>
        <p:spPr>
          <a:xfrm>
            <a:off x="2080802" y="4984948"/>
            <a:ext cx="3799444" cy="1446300"/>
          </a:xfrm>
          <a:prstGeom prst="rect">
            <a:avLst/>
          </a:prstGeom>
        </p:spPr>
      </p:pic>
      <p:sp>
        <p:nvSpPr>
          <p:cNvPr id="31" name="矩形 30">
            <a:extLst>
              <a:ext uri="{FF2B5EF4-FFF2-40B4-BE49-F238E27FC236}">
                <a16:creationId xmlns:a16="http://schemas.microsoft.com/office/drawing/2014/main" id="{2A2B4DEC-7258-EA43-0F02-CBE99CD156E5}"/>
              </a:ext>
            </a:extLst>
          </p:cNvPr>
          <p:cNvSpPr/>
          <p:nvPr/>
        </p:nvSpPr>
        <p:spPr>
          <a:xfrm>
            <a:off x="2467276" y="1873249"/>
            <a:ext cx="2236510" cy="400110"/>
          </a:xfrm>
          <a:prstGeom prst="rect">
            <a:avLst/>
          </a:prstGeom>
          <a:noFill/>
        </p:spPr>
        <p:txBody>
          <a:bodyPr wrap="none" lIns="91440" tIns="45720" rIns="91440" bIns="45720">
            <a:spAutoFit/>
          </a:bodyPr>
          <a:lstStyle/>
          <a:p>
            <a:pPr algn="ctr"/>
            <a:r>
              <a:rPr lang="zh-CN" altLang="en-US" sz="2000" b="0" cap="none" spc="0" dirty="0">
                <a:ln w="0"/>
                <a:solidFill>
                  <a:srgbClr val="FF0000"/>
                </a:solidFill>
                <a:effectLst>
                  <a:outerShdw blurRad="38100" dist="19050" dir="2700000" algn="tl" rotWithShape="0">
                    <a:schemeClr val="dk1">
                      <a:alpha val="40000"/>
                    </a:schemeClr>
                  </a:outerShdw>
                </a:effectLst>
                <a:latin typeface="+mn-ea"/>
              </a:rPr>
              <a:t>直动式比例溢流阀</a:t>
            </a:r>
          </a:p>
        </p:txBody>
      </p:sp>
      <p:sp>
        <p:nvSpPr>
          <p:cNvPr id="32" name="Content Placeholder 2">
            <a:extLst>
              <a:ext uri="{FF2B5EF4-FFF2-40B4-BE49-F238E27FC236}">
                <a16:creationId xmlns:a16="http://schemas.microsoft.com/office/drawing/2014/main" id="{3B19C2AC-F09B-C1CC-3EE8-192698263909}"/>
              </a:ext>
            </a:extLst>
          </p:cNvPr>
          <p:cNvSpPr txBox="1">
            <a:spLocks/>
          </p:cNvSpPr>
          <p:nvPr/>
        </p:nvSpPr>
        <p:spPr bwMode="auto">
          <a:xfrm>
            <a:off x="2202488" y="4629393"/>
            <a:ext cx="3388608" cy="37043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ea typeface="+mn-ea"/>
              </a:defRPr>
            </a:lvl2pPr>
            <a:lvl3pPr marL="1143000" indent="-228600" algn="l" rtl="0" eaLnBrk="0" fontAlgn="base" hangingPunct="0">
              <a:spcBef>
                <a:spcPct val="20000"/>
              </a:spcBef>
              <a:spcAft>
                <a:spcPct val="0"/>
              </a:spcAft>
              <a:buChar char="•"/>
              <a:defRPr sz="2400">
                <a:solidFill>
                  <a:schemeClr val="tx1"/>
                </a:solidFill>
                <a:latin typeface="+mn-lt"/>
                <a:ea typeface="+mn-ea"/>
              </a:defRPr>
            </a:lvl3pPr>
            <a:lvl4pPr marL="1600200" indent="-228600" algn="l" rtl="0" eaLnBrk="0" fontAlgn="base" hangingPunct="0">
              <a:spcBef>
                <a:spcPct val="20000"/>
              </a:spcBef>
              <a:spcAft>
                <a:spcPct val="0"/>
              </a:spcAft>
              <a:buChar char="–"/>
              <a:defRPr sz="20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sz="2000">
                <a:solidFill>
                  <a:schemeClr val="tx1"/>
                </a:solidFill>
                <a:latin typeface="+mn-lt"/>
                <a:ea typeface="+mn-ea"/>
              </a:defRPr>
            </a:lvl6pPr>
            <a:lvl7pPr marL="2971800" indent="-228600" algn="l" rtl="0" fontAlgn="base">
              <a:spcBef>
                <a:spcPct val="20000"/>
              </a:spcBef>
              <a:spcAft>
                <a:spcPct val="0"/>
              </a:spcAft>
              <a:buChar char="»"/>
              <a:defRPr sz="2000">
                <a:solidFill>
                  <a:schemeClr val="tx1"/>
                </a:solidFill>
                <a:latin typeface="+mn-lt"/>
                <a:ea typeface="+mn-ea"/>
              </a:defRPr>
            </a:lvl7pPr>
            <a:lvl8pPr marL="3429000" indent="-228600" algn="l" rtl="0" fontAlgn="base">
              <a:spcBef>
                <a:spcPct val="20000"/>
              </a:spcBef>
              <a:spcAft>
                <a:spcPct val="0"/>
              </a:spcAft>
              <a:buChar char="»"/>
              <a:defRPr sz="2000">
                <a:solidFill>
                  <a:schemeClr val="tx1"/>
                </a:solidFill>
                <a:latin typeface="+mn-lt"/>
                <a:ea typeface="+mn-ea"/>
              </a:defRPr>
            </a:lvl8pPr>
            <a:lvl9pPr marL="3886200" indent="-228600" algn="l" rtl="0" fontAlgn="base">
              <a:spcBef>
                <a:spcPct val="20000"/>
              </a:spcBef>
              <a:spcAft>
                <a:spcPct val="0"/>
              </a:spcAft>
              <a:buChar char="»"/>
              <a:defRPr sz="2000">
                <a:solidFill>
                  <a:schemeClr val="tx1"/>
                </a:solidFill>
                <a:latin typeface="+mn-lt"/>
                <a:ea typeface="+mn-ea"/>
              </a:defRPr>
            </a:lvl9pPr>
          </a:lstStyle>
          <a:p>
            <a:pPr marL="0" indent="0">
              <a:buNone/>
            </a:pPr>
            <a:r>
              <a:rPr lang="zh-CN" altLang="en-US" sz="1800" kern="0" dirty="0">
                <a:latin typeface="+mn-ea"/>
              </a:rPr>
              <a:t>图</a:t>
            </a:r>
            <a:r>
              <a:rPr lang="en-US" altLang="zh-CN" sz="1800" kern="0" dirty="0">
                <a:latin typeface="+mn-ea"/>
              </a:rPr>
              <a:t>a </a:t>
            </a:r>
            <a:r>
              <a:rPr lang="zh-CN" altLang="en-US" sz="1800" kern="0" dirty="0">
                <a:latin typeface="+mn-ea"/>
              </a:rPr>
              <a:t>直接作用式比例溢流阀</a:t>
            </a:r>
            <a:endParaRPr lang="en-US" altLang="zh-CN" sz="1800" kern="0" dirty="0">
              <a:latin typeface="+mn-ea"/>
            </a:endParaRPr>
          </a:p>
        </p:txBody>
      </p:sp>
      <p:sp>
        <p:nvSpPr>
          <p:cNvPr id="33" name="Content Placeholder 2">
            <a:extLst>
              <a:ext uri="{FF2B5EF4-FFF2-40B4-BE49-F238E27FC236}">
                <a16:creationId xmlns:a16="http://schemas.microsoft.com/office/drawing/2014/main" id="{0EC42F40-E0E0-796D-1155-122972B64969}"/>
              </a:ext>
            </a:extLst>
          </p:cNvPr>
          <p:cNvSpPr txBox="1">
            <a:spLocks/>
          </p:cNvSpPr>
          <p:nvPr/>
        </p:nvSpPr>
        <p:spPr bwMode="auto">
          <a:xfrm>
            <a:off x="2080802" y="6431249"/>
            <a:ext cx="3897015" cy="37043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ea typeface="+mn-ea"/>
              </a:defRPr>
            </a:lvl2pPr>
            <a:lvl3pPr marL="1143000" indent="-228600" algn="l" rtl="0" eaLnBrk="0" fontAlgn="base" hangingPunct="0">
              <a:spcBef>
                <a:spcPct val="20000"/>
              </a:spcBef>
              <a:spcAft>
                <a:spcPct val="0"/>
              </a:spcAft>
              <a:buChar char="•"/>
              <a:defRPr sz="2400">
                <a:solidFill>
                  <a:schemeClr val="tx1"/>
                </a:solidFill>
                <a:latin typeface="+mn-lt"/>
                <a:ea typeface="+mn-ea"/>
              </a:defRPr>
            </a:lvl3pPr>
            <a:lvl4pPr marL="1600200" indent="-228600" algn="l" rtl="0" eaLnBrk="0" fontAlgn="base" hangingPunct="0">
              <a:spcBef>
                <a:spcPct val="20000"/>
              </a:spcBef>
              <a:spcAft>
                <a:spcPct val="0"/>
              </a:spcAft>
              <a:buChar char="–"/>
              <a:defRPr sz="20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sz="2000">
                <a:solidFill>
                  <a:schemeClr val="tx1"/>
                </a:solidFill>
                <a:latin typeface="+mn-lt"/>
                <a:ea typeface="+mn-ea"/>
              </a:defRPr>
            </a:lvl6pPr>
            <a:lvl7pPr marL="2971800" indent="-228600" algn="l" rtl="0" fontAlgn="base">
              <a:spcBef>
                <a:spcPct val="20000"/>
              </a:spcBef>
              <a:spcAft>
                <a:spcPct val="0"/>
              </a:spcAft>
              <a:buChar char="»"/>
              <a:defRPr sz="2000">
                <a:solidFill>
                  <a:schemeClr val="tx1"/>
                </a:solidFill>
                <a:latin typeface="+mn-lt"/>
                <a:ea typeface="+mn-ea"/>
              </a:defRPr>
            </a:lvl7pPr>
            <a:lvl8pPr marL="3429000" indent="-228600" algn="l" rtl="0" fontAlgn="base">
              <a:spcBef>
                <a:spcPct val="20000"/>
              </a:spcBef>
              <a:spcAft>
                <a:spcPct val="0"/>
              </a:spcAft>
              <a:buChar char="»"/>
              <a:defRPr sz="2000">
                <a:solidFill>
                  <a:schemeClr val="tx1"/>
                </a:solidFill>
                <a:latin typeface="+mn-lt"/>
                <a:ea typeface="+mn-ea"/>
              </a:defRPr>
            </a:lvl8pPr>
            <a:lvl9pPr marL="3886200" indent="-228600" algn="l" rtl="0" fontAlgn="base">
              <a:spcBef>
                <a:spcPct val="20000"/>
              </a:spcBef>
              <a:spcAft>
                <a:spcPct val="0"/>
              </a:spcAft>
              <a:buChar char="»"/>
              <a:defRPr sz="2000">
                <a:solidFill>
                  <a:schemeClr val="tx1"/>
                </a:solidFill>
                <a:latin typeface="+mn-lt"/>
                <a:ea typeface="+mn-ea"/>
              </a:defRPr>
            </a:lvl9pPr>
          </a:lstStyle>
          <a:p>
            <a:pPr marL="0" indent="0">
              <a:buNone/>
            </a:pPr>
            <a:r>
              <a:rPr lang="zh-CN" altLang="en-US" sz="1800" kern="0" dirty="0">
                <a:latin typeface="+mn-ea"/>
              </a:rPr>
              <a:t>图</a:t>
            </a:r>
            <a:r>
              <a:rPr lang="en-US" altLang="zh-CN" sz="1800" kern="0" dirty="0">
                <a:latin typeface="+mn-ea"/>
              </a:rPr>
              <a:t>c</a:t>
            </a:r>
            <a:r>
              <a:rPr lang="zh-CN" altLang="en-US" sz="1800" kern="0" dirty="0">
                <a:latin typeface="+mn-ea"/>
              </a:rPr>
              <a:t> 带电反馈直接作用式比例溢流阀</a:t>
            </a:r>
            <a:endParaRPr lang="en-US" altLang="zh-CN" sz="1800" kern="0" dirty="0">
              <a:latin typeface="+mn-ea"/>
            </a:endParaRPr>
          </a:p>
        </p:txBody>
      </p:sp>
      <p:pic>
        <p:nvPicPr>
          <p:cNvPr id="34" name="图片 33">
            <a:extLst>
              <a:ext uri="{FF2B5EF4-FFF2-40B4-BE49-F238E27FC236}">
                <a16:creationId xmlns:a16="http://schemas.microsoft.com/office/drawing/2014/main" id="{7DEB8621-1E21-ED82-B567-45614A92EB6B}"/>
              </a:ext>
            </a:extLst>
          </p:cNvPr>
          <p:cNvPicPr>
            <a:picLocks noChangeAspect="1"/>
          </p:cNvPicPr>
          <p:nvPr/>
        </p:nvPicPr>
        <p:blipFill>
          <a:blip r:embed="rId6"/>
          <a:stretch>
            <a:fillRect/>
          </a:stretch>
        </p:blipFill>
        <p:spPr>
          <a:xfrm>
            <a:off x="6582584" y="4820713"/>
            <a:ext cx="4337908" cy="1956165"/>
          </a:xfrm>
          <a:prstGeom prst="rect">
            <a:avLst/>
          </a:prstGeom>
        </p:spPr>
      </p:pic>
      <p:sp>
        <p:nvSpPr>
          <p:cNvPr id="35" name="矩形 34">
            <a:extLst>
              <a:ext uri="{FF2B5EF4-FFF2-40B4-BE49-F238E27FC236}">
                <a16:creationId xmlns:a16="http://schemas.microsoft.com/office/drawing/2014/main" id="{F5BBD340-E0B8-6DD5-ADF7-78663A7A711C}"/>
              </a:ext>
            </a:extLst>
          </p:cNvPr>
          <p:cNvSpPr/>
          <p:nvPr/>
        </p:nvSpPr>
        <p:spPr>
          <a:xfrm>
            <a:off x="6824550" y="1847894"/>
            <a:ext cx="2236510" cy="400110"/>
          </a:xfrm>
          <a:prstGeom prst="rect">
            <a:avLst/>
          </a:prstGeom>
          <a:noFill/>
        </p:spPr>
        <p:txBody>
          <a:bodyPr wrap="none" lIns="91440" tIns="45720" rIns="91440" bIns="45720">
            <a:spAutoFit/>
          </a:bodyPr>
          <a:lstStyle/>
          <a:p>
            <a:pPr algn="ctr"/>
            <a:r>
              <a:rPr lang="zh-CN" altLang="en-US" sz="2000" dirty="0">
                <a:ln w="0"/>
                <a:solidFill>
                  <a:srgbClr val="FF0000"/>
                </a:solidFill>
                <a:effectLst>
                  <a:outerShdw blurRad="38100" dist="19050" dir="2700000" algn="tl" rotWithShape="0">
                    <a:schemeClr val="dk1">
                      <a:alpha val="40000"/>
                    </a:schemeClr>
                  </a:outerShdw>
                </a:effectLst>
                <a:latin typeface="+mn-ea"/>
              </a:rPr>
              <a:t>先导式比例溢流阀</a:t>
            </a:r>
          </a:p>
        </p:txBody>
      </p:sp>
      <p:pic>
        <p:nvPicPr>
          <p:cNvPr id="36" name="图片 35">
            <a:extLst>
              <a:ext uri="{FF2B5EF4-FFF2-40B4-BE49-F238E27FC236}">
                <a16:creationId xmlns:a16="http://schemas.microsoft.com/office/drawing/2014/main" id="{57A43553-9845-2CDE-F4A5-9550F2F7E06D}"/>
              </a:ext>
            </a:extLst>
          </p:cNvPr>
          <p:cNvPicPr>
            <a:picLocks noChangeAspect="1"/>
          </p:cNvPicPr>
          <p:nvPr/>
        </p:nvPicPr>
        <p:blipFill>
          <a:blip r:embed="rId7"/>
          <a:stretch>
            <a:fillRect/>
          </a:stretch>
        </p:blipFill>
        <p:spPr>
          <a:xfrm>
            <a:off x="6178092" y="2202231"/>
            <a:ext cx="4082251" cy="2380058"/>
          </a:xfrm>
          <a:prstGeom prst="rect">
            <a:avLst/>
          </a:prstGeom>
        </p:spPr>
      </p:pic>
      <p:sp>
        <p:nvSpPr>
          <p:cNvPr id="37" name="Content Placeholder 2">
            <a:extLst>
              <a:ext uri="{FF2B5EF4-FFF2-40B4-BE49-F238E27FC236}">
                <a16:creationId xmlns:a16="http://schemas.microsoft.com/office/drawing/2014/main" id="{382A0B88-06B1-1321-952D-3C24D61CCF67}"/>
              </a:ext>
            </a:extLst>
          </p:cNvPr>
          <p:cNvSpPr txBox="1">
            <a:spLocks/>
          </p:cNvSpPr>
          <p:nvPr/>
        </p:nvSpPr>
        <p:spPr bwMode="auto">
          <a:xfrm>
            <a:off x="6871735" y="4618724"/>
            <a:ext cx="3388608" cy="370431"/>
          </a:xfrm>
          <a:prstGeom prst="rect">
            <a:avLst/>
          </a:prstGeom>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ea typeface="+mn-ea"/>
              </a:defRPr>
            </a:lvl2pPr>
            <a:lvl3pPr marL="1143000" indent="-228600" algn="l" rtl="0" eaLnBrk="0" fontAlgn="base" hangingPunct="0">
              <a:spcBef>
                <a:spcPct val="20000"/>
              </a:spcBef>
              <a:spcAft>
                <a:spcPct val="0"/>
              </a:spcAft>
              <a:buChar char="•"/>
              <a:defRPr sz="2400">
                <a:solidFill>
                  <a:schemeClr val="tx1"/>
                </a:solidFill>
                <a:latin typeface="+mn-lt"/>
                <a:ea typeface="+mn-ea"/>
              </a:defRPr>
            </a:lvl3pPr>
            <a:lvl4pPr marL="1600200" indent="-228600" algn="l" rtl="0" eaLnBrk="0" fontAlgn="base" hangingPunct="0">
              <a:spcBef>
                <a:spcPct val="20000"/>
              </a:spcBef>
              <a:spcAft>
                <a:spcPct val="0"/>
              </a:spcAft>
              <a:buChar char="–"/>
              <a:defRPr sz="20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sz="2000">
                <a:solidFill>
                  <a:schemeClr val="tx1"/>
                </a:solidFill>
                <a:latin typeface="+mn-lt"/>
                <a:ea typeface="+mn-ea"/>
              </a:defRPr>
            </a:lvl6pPr>
            <a:lvl7pPr marL="2971800" indent="-228600" algn="l" rtl="0" fontAlgn="base">
              <a:spcBef>
                <a:spcPct val="20000"/>
              </a:spcBef>
              <a:spcAft>
                <a:spcPct val="0"/>
              </a:spcAft>
              <a:buChar char="»"/>
              <a:defRPr sz="2000">
                <a:solidFill>
                  <a:schemeClr val="tx1"/>
                </a:solidFill>
                <a:latin typeface="+mn-lt"/>
                <a:ea typeface="+mn-ea"/>
              </a:defRPr>
            </a:lvl7pPr>
            <a:lvl8pPr marL="3429000" indent="-228600" algn="l" rtl="0" fontAlgn="base">
              <a:spcBef>
                <a:spcPct val="20000"/>
              </a:spcBef>
              <a:spcAft>
                <a:spcPct val="0"/>
              </a:spcAft>
              <a:buChar char="»"/>
              <a:defRPr sz="2000">
                <a:solidFill>
                  <a:schemeClr val="tx1"/>
                </a:solidFill>
                <a:latin typeface="+mn-lt"/>
                <a:ea typeface="+mn-ea"/>
              </a:defRPr>
            </a:lvl8pPr>
            <a:lvl9pPr marL="3886200" indent="-228600" algn="l" rtl="0" fontAlgn="base">
              <a:spcBef>
                <a:spcPct val="20000"/>
              </a:spcBef>
              <a:spcAft>
                <a:spcPct val="0"/>
              </a:spcAft>
              <a:buChar char="»"/>
              <a:defRPr sz="2000">
                <a:solidFill>
                  <a:schemeClr val="tx1"/>
                </a:solidFill>
                <a:latin typeface="+mn-lt"/>
                <a:ea typeface="+mn-ea"/>
              </a:defRPr>
            </a:lvl9pPr>
          </a:lstStyle>
          <a:p>
            <a:pPr marL="0" indent="0">
              <a:buNone/>
            </a:pPr>
            <a:r>
              <a:rPr lang="zh-CN" altLang="en-US" sz="1800" kern="0" dirty="0">
                <a:latin typeface="+mn-ea"/>
              </a:rPr>
              <a:t>图</a:t>
            </a:r>
            <a:r>
              <a:rPr lang="en-US" altLang="zh-CN" sz="1800" kern="0" dirty="0">
                <a:latin typeface="+mn-ea"/>
              </a:rPr>
              <a:t>b </a:t>
            </a:r>
            <a:r>
              <a:rPr lang="zh-CN" altLang="en-US" sz="1800" kern="0" dirty="0">
                <a:latin typeface="+mn-ea"/>
              </a:rPr>
              <a:t>先导式比例溢流阀</a:t>
            </a:r>
            <a:endParaRPr lang="en-US" altLang="zh-CN" sz="1800" kern="0" dirty="0">
              <a:latin typeface="+mn-ea"/>
            </a:endParaRPr>
          </a:p>
        </p:txBody>
      </p:sp>
      <p:sp>
        <p:nvSpPr>
          <p:cNvPr id="38" name="Content Placeholder 2">
            <a:extLst>
              <a:ext uri="{FF2B5EF4-FFF2-40B4-BE49-F238E27FC236}">
                <a16:creationId xmlns:a16="http://schemas.microsoft.com/office/drawing/2014/main" id="{D0CB53D4-CBCC-79D9-08FE-CF56AE04FC05}"/>
              </a:ext>
            </a:extLst>
          </p:cNvPr>
          <p:cNvSpPr txBox="1">
            <a:spLocks/>
          </p:cNvSpPr>
          <p:nvPr/>
        </p:nvSpPr>
        <p:spPr bwMode="auto">
          <a:xfrm>
            <a:off x="6582584" y="6431248"/>
            <a:ext cx="3388608" cy="37043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ea typeface="+mn-ea"/>
              </a:defRPr>
            </a:lvl2pPr>
            <a:lvl3pPr marL="1143000" indent="-228600" algn="l" rtl="0" eaLnBrk="0" fontAlgn="base" hangingPunct="0">
              <a:spcBef>
                <a:spcPct val="20000"/>
              </a:spcBef>
              <a:spcAft>
                <a:spcPct val="0"/>
              </a:spcAft>
              <a:buChar char="•"/>
              <a:defRPr sz="2400">
                <a:solidFill>
                  <a:schemeClr val="tx1"/>
                </a:solidFill>
                <a:latin typeface="+mn-lt"/>
                <a:ea typeface="+mn-ea"/>
              </a:defRPr>
            </a:lvl3pPr>
            <a:lvl4pPr marL="1600200" indent="-228600" algn="l" rtl="0" eaLnBrk="0" fontAlgn="base" hangingPunct="0">
              <a:spcBef>
                <a:spcPct val="20000"/>
              </a:spcBef>
              <a:spcAft>
                <a:spcPct val="0"/>
              </a:spcAft>
              <a:buChar char="–"/>
              <a:defRPr sz="20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sz="2000">
                <a:solidFill>
                  <a:schemeClr val="tx1"/>
                </a:solidFill>
                <a:latin typeface="+mn-lt"/>
                <a:ea typeface="+mn-ea"/>
              </a:defRPr>
            </a:lvl6pPr>
            <a:lvl7pPr marL="2971800" indent="-228600" algn="l" rtl="0" fontAlgn="base">
              <a:spcBef>
                <a:spcPct val="20000"/>
              </a:spcBef>
              <a:spcAft>
                <a:spcPct val="0"/>
              </a:spcAft>
              <a:buChar char="»"/>
              <a:defRPr sz="2000">
                <a:solidFill>
                  <a:schemeClr val="tx1"/>
                </a:solidFill>
                <a:latin typeface="+mn-lt"/>
                <a:ea typeface="+mn-ea"/>
              </a:defRPr>
            </a:lvl7pPr>
            <a:lvl8pPr marL="3429000" indent="-228600" algn="l" rtl="0" fontAlgn="base">
              <a:spcBef>
                <a:spcPct val="20000"/>
              </a:spcBef>
              <a:spcAft>
                <a:spcPct val="0"/>
              </a:spcAft>
              <a:buChar char="»"/>
              <a:defRPr sz="2000">
                <a:solidFill>
                  <a:schemeClr val="tx1"/>
                </a:solidFill>
                <a:latin typeface="+mn-lt"/>
                <a:ea typeface="+mn-ea"/>
              </a:defRPr>
            </a:lvl8pPr>
            <a:lvl9pPr marL="3886200" indent="-228600" algn="l" rtl="0" fontAlgn="base">
              <a:spcBef>
                <a:spcPct val="20000"/>
              </a:spcBef>
              <a:spcAft>
                <a:spcPct val="0"/>
              </a:spcAft>
              <a:buChar char="»"/>
              <a:defRPr sz="2000">
                <a:solidFill>
                  <a:schemeClr val="tx1"/>
                </a:solidFill>
                <a:latin typeface="+mn-lt"/>
                <a:ea typeface="+mn-ea"/>
              </a:defRPr>
            </a:lvl9pPr>
          </a:lstStyle>
          <a:p>
            <a:pPr marL="0" indent="0">
              <a:buNone/>
            </a:pPr>
            <a:r>
              <a:rPr lang="zh-CN" altLang="en-US" sz="1800" kern="0" dirty="0">
                <a:latin typeface="+mn-ea"/>
              </a:rPr>
              <a:t>图</a:t>
            </a:r>
            <a:r>
              <a:rPr lang="en-US" altLang="zh-CN" sz="1800" kern="0" dirty="0">
                <a:latin typeface="+mn-ea"/>
              </a:rPr>
              <a:t>d </a:t>
            </a:r>
            <a:r>
              <a:rPr lang="zh-CN" altLang="en-US" sz="1800" kern="0" dirty="0">
                <a:latin typeface="+mn-ea"/>
              </a:rPr>
              <a:t>带电反馈先导式比例溢流阀</a:t>
            </a:r>
            <a:endParaRPr lang="en-US" altLang="zh-CN" sz="1800" kern="0" dirty="0">
              <a:latin typeface="+mn-ea"/>
            </a:endParaRPr>
          </a:p>
        </p:txBody>
      </p:sp>
      <p:pic>
        <p:nvPicPr>
          <p:cNvPr id="39" name="图片 38">
            <a:extLst>
              <a:ext uri="{FF2B5EF4-FFF2-40B4-BE49-F238E27FC236}">
                <a16:creationId xmlns:a16="http://schemas.microsoft.com/office/drawing/2014/main" id="{F858CB90-D73E-A09C-CB2A-0E143F8CA7FB}"/>
              </a:ext>
            </a:extLst>
          </p:cNvPr>
          <p:cNvPicPr>
            <a:picLocks noChangeAspect="1"/>
          </p:cNvPicPr>
          <p:nvPr/>
        </p:nvPicPr>
        <p:blipFill rotWithShape="1">
          <a:blip r:embed="rId8"/>
          <a:srcRect l="76184" t="12288" b="59456"/>
          <a:stretch/>
        </p:blipFill>
        <p:spPr>
          <a:xfrm>
            <a:off x="4683662" y="1870493"/>
            <a:ext cx="961716" cy="1174949"/>
          </a:xfrm>
          <a:prstGeom prst="rect">
            <a:avLst/>
          </a:prstGeom>
        </p:spPr>
      </p:pic>
      <p:sp>
        <p:nvSpPr>
          <p:cNvPr id="2" name="矩形 1">
            <a:extLst>
              <a:ext uri="{FF2B5EF4-FFF2-40B4-BE49-F238E27FC236}">
                <a16:creationId xmlns:a16="http://schemas.microsoft.com/office/drawing/2014/main" id="{A400B30A-7BB2-9689-EFBB-1768A3E3C5D6}"/>
              </a:ext>
            </a:extLst>
          </p:cNvPr>
          <p:cNvSpPr/>
          <p:nvPr/>
        </p:nvSpPr>
        <p:spPr>
          <a:xfrm>
            <a:off x="593986" y="1355153"/>
            <a:ext cx="4745731" cy="581057"/>
          </a:xfrm>
          <a:prstGeom prst="rect">
            <a:avLst/>
          </a:prstGeom>
          <a:noFill/>
        </p:spPr>
        <p:txBody>
          <a:bodyPr wrap="square" rtlCol="0">
            <a:spAutoFit/>
          </a:bodyPr>
          <a:lstStyle/>
          <a:p>
            <a:pPr algn="just">
              <a:lnSpc>
                <a:spcPct val="150000"/>
              </a:lnSpc>
              <a:spcBef>
                <a:spcPts val="1000"/>
              </a:spcBef>
            </a:pPr>
            <a:r>
              <a:rPr lang="zh-CN" altLang="en-US" sz="2400" b="1" kern="0" dirty="0">
                <a:latin typeface="+mn-ea"/>
              </a:rPr>
              <a:t>比例溢流阀分类：</a:t>
            </a:r>
          </a:p>
        </p:txBody>
      </p:sp>
      <p:sp>
        <p:nvSpPr>
          <p:cNvPr id="3" name="矩形 2">
            <a:extLst>
              <a:ext uri="{FF2B5EF4-FFF2-40B4-BE49-F238E27FC236}">
                <a16:creationId xmlns:a16="http://schemas.microsoft.com/office/drawing/2014/main" id="{53401BFA-CF64-8DC5-4160-A18971A6E7F0}"/>
              </a:ext>
            </a:extLst>
          </p:cNvPr>
          <p:cNvSpPr/>
          <p:nvPr/>
        </p:nvSpPr>
        <p:spPr>
          <a:xfrm>
            <a:off x="544341" y="847469"/>
            <a:ext cx="8680807" cy="662554"/>
          </a:xfrm>
          <a:prstGeom prst="rect">
            <a:avLst/>
          </a:prstGeom>
          <a:noFill/>
        </p:spPr>
        <p:txBody>
          <a:bodyPr wrap="square" rtlCol="0">
            <a:spAutoFit/>
          </a:bodyPr>
          <a:lstStyle/>
          <a:p>
            <a:pPr marL="457200" indent="-457200" algn="just">
              <a:lnSpc>
                <a:spcPct val="150000"/>
              </a:lnSpc>
              <a:spcBef>
                <a:spcPts val="1000"/>
              </a:spcBef>
              <a:buFont typeface="Wingdings" panose="05000000000000000000" pitchFamily="2" charset="2"/>
              <a:buChar char="p"/>
            </a:pPr>
            <a:r>
              <a:rPr lang="zh-CN" altLang="en-US" sz="2800" b="1" dirty="0">
                <a:solidFill>
                  <a:srgbClr val="003F88"/>
                </a:solidFill>
                <a:latin typeface="微软雅黑" panose="020B0503020204020204" pitchFamily="34" charset="-122"/>
                <a:ea typeface="微软雅黑" panose="020B0503020204020204" pitchFamily="34" charset="-122"/>
              </a:rPr>
              <a:t>电液比例压力阀</a:t>
            </a:r>
            <a:endParaRPr lang="en-US" altLang="zh-CN" sz="2800" b="1" dirty="0">
              <a:solidFill>
                <a:srgbClr val="003F88"/>
              </a:solidFill>
              <a:latin typeface="微软雅黑" panose="020B0503020204020204" pitchFamily="34" charset="-122"/>
              <a:ea typeface="微软雅黑" panose="020B0503020204020204" pitchFamily="34" charset="-122"/>
            </a:endParaRPr>
          </a:p>
        </p:txBody>
      </p:sp>
      <p:sp>
        <p:nvSpPr>
          <p:cNvPr id="19" name="文本框 18">
            <a:extLst>
              <a:ext uri="{FF2B5EF4-FFF2-40B4-BE49-F238E27FC236}">
                <a16:creationId xmlns:a16="http://schemas.microsoft.com/office/drawing/2014/main" id="{D13F62F7-0FD5-45DF-86F9-2A4A750D22E2}"/>
              </a:ext>
            </a:extLst>
          </p:cNvPr>
          <p:cNvSpPr txBox="1"/>
          <p:nvPr/>
        </p:nvSpPr>
        <p:spPr>
          <a:xfrm>
            <a:off x="429656" y="135415"/>
            <a:ext cx="3632036"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cs typeface="Times New Roman" panose="02020603050405020304" pitchFamily="18" charset="0"/>
              </a:rPr>
              <a:t>10.6</a:t>
            </a:r>
            <a:r>
              <a:rPr lang="en-US" altLang="zh-CN" sz="3600" b="1" dirty="0">
                <a:solidFill>
                  <a:srgbClr val="003F88"/>
                </a:solidFill>
                <a:latin typeface="+mn-ea"/>
              </a:rPr>
              <a:t> </a:t>
            </a:r>
            <a:r>
              <a:rPr lang="zh-CN" altLang="en-US" sz="3600" b="1" dirty="0">
                <a:solidFill>
                  <a:srgbClr val="003F88"/>
                </a:solidFill>
                <a:latin typeface="+mn-ea"/>
              </a:rPr>
              <a:t>电液比例阀</a:t>
            </a:r>
          </a:p>
        </p:txBody>
      </p:sp>
    </p:spTree>
    <p:extLst>
      <p:ext uri="{BB962C8B-B14F-4D97-AF65-F5344CB8AC3E}">
        <p14:creationId xmlns:p14="http://schemas.microsoft.com/office/powerpoint/2010/main" val="10116244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fade">
                                      <p:cBhvr>
                                        <p:cTn id="7" dur="1000"/>
                                        <p:tgtEl>
                                          <p:spTgt spid="39"/>
                                        </p:tgtEl>
                                      </p:cBhvr>
                                    </p:animEffect>
                                    <p:anim calcmode="lin" valueType="num">
                                      <p:cBhvr>
                                        <p:cTn id="8" dur="1000" fill="hold"/>
                                        <p:tgtEl>
                                          <p:spTgt spid="39"/>
                                        </p:tgtEl>
                                        <p:attrNameLst>
                                          <p:attrName>ppt_x</p:attrName>
                                        </p:attrNameLst>
                                      </p:cBhvr>
                                      <p:tavLst>
                                        <p:tav tm="0">
                                          <p:val>
                                            <p:strVal val="#ppt_x"/>
                                          </p:val>
                                        </p:tav>
                                        <p:tav tm="100000">
                                          <p:val>
                                            <p:strVal val="#ppt_x"/>
                                          </p:val>
                                        </p:tav>
                                      </p:tavLst>
                                    </p:anim>
                                    <p:anim calcmode="lin" valueType="num">
                                      <p:cBhvr>
                                        <p:cTn id="9" dur="1000" fill="hold"/>
                                        <p:tgtEl>
                                          <p:spTgt spid="3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AF678-BC43-7521-2E98-7C91CB2B0D02}"/>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19FF28C3-3B5D-9CE2-09E2-F5C9EC332610}"/>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3F2041BA-C335-98E3-2FD4-1A9AEB8866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16EBFE63-425C-8FE7-36BC-12EB166FB0A9}"/>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 name="组合 2">
            <a:extLst>
              <a:ext uri="{FF2B5EF4-FFF2-40B4-BE49-F238E27FC236}">
                <a16:creationId xmlns:a16="http://schemas.microsoft.com/office/drawing/2014/main" id="{D5B102FD-42A7-4916-6938-9A6508060E16}"/>
              </a:ext>
            </a:extLst>
          </p:cNvPr>
          <p:cNvGrpSpPr/>
          <p:nvPr/>
        </p:nvGrpSpPr>
        <p:grpSpPr>
          <a:xfrm>
            <a:off x="1808950" y="2075756"/>
            <a:ext cx="3918081" cy="3544286"/>
            <a:chOff x="5090427" y="2866981"/>
            <a:chExt cx="3816424" cy="3472047"/>
          </a:xfrm>
        </p:grpSpPr>
        <p:pic>
          <p:nvPicPr>
            <p:cNvPr id="7" name="图片 6">
              <a:extLst>
                <a:ext uri="{FF2B5EF4-FFF2-40B4-BE49-F238E27FC236}">
                  <a16:creationId xmlns:a16="http://schemas.microsoft.com/office/drawing/2014/main" id="{11C33409-3A57-3CA9-65CD-BC0CE45043B6}"/>
                </a:ext>
              </a:extLst>
            </p:cNvPr>
            <p:cNvPicPr>
              <a:picLocks noChangeAspect="1"/>
            </p:cNvPicPr>
            <p:nvPr/>
          </p:nvPicPr>
          <p:blipFill rotWithShape="1">
            <a:blip r:embed="rId4"/>
            <a:srcRect l="53430" b="26137"/>
            <a:stretch/>
          </p:blipFill>
          <p:spPr>
            <a:xfrm>
              <a:off x="5090427" y="2866981"/>
              <a:ext cx="3816424" cy="3472047"/>
            </a:xfrm>
            <a:prstGeom prst="rect">
              <a:avLst/>
            </a:prstGeom>
            <a:ln>
              <a:solidFill>
                <a:srgbClr val="003F88"/>
              </a:solidFill>
            </a:ln>
          </p:spPr>
        </p:pic>
        <p:pic>
          <p:nvPicPr>
            <p:cNvPr id="10" name="图片 9">
              <a:extLst>
                <a:ext uri="{FF2B5EF4-FFF2-40B4-BE49-F238E27FC236}">
                  <a16:creationId xmlns:a16="http://schemas.microsoft.com/office/drawing/2014/main" id="{2ABD6EF7-8B4D-6157-7BD3-3368F4F55050}"/>
                </a:ext>
              </a:extLst>
            </p:cNvPr>
            <p:cNvPicPr>
              <a:picLocks noChangeAspect="1"/>
            </p:cNvPicPr>
            <p:nvPr/>
          </p:nvPicPr>
          <p:blipFill rotWithShape="1">
            <a:blip r:embed="rId4"/>
            <a:srcRect l="70397" t="70016" r="13561"/>
            <a:stretch/>
          </p:blipFill>
          <p:spPr>
            <a:xfrm>
              <a:off x="7649345" y="5202631"/>
              <a:ext cx="1059992" cy="1136397"/>
            </a:xfrm>
            <a:prstGeom prst="rect">
              <a:avLst/>
            </a:prstGeom>
          </p:spPr>
        </p:pic>
      </p:grpSp>
      <p:sp>
        <p:nvSpPr>
          <p:cNvPr id="11" name="文本框 10">
            <a:extLst>
              <a:ext uri="{FF2B5EF4-FFF2-40B4-BE49-F238E27FC236}">
                <a16:creationId xmlns:a16="http://schemas.microsoft.com/office/drawing/2014/main" id="{CBC118C6-BC7E-1FCE-DA89-842775352CBE}"/>
              </a:ext>
            </a:extLst>
          </p:cNvPr>
          <p:cNvSpPr txBox="1"/>
          <p:nvPr/>
        </p:nvSpPr>
        <p:spPr>
          <a:xfrm>
            <a:off x="6715381" y="2640146"/>
            <a:ext cx="4311457" cy="2346283"/>
          </a:xfrm>
          <a:prstGeom prst="rect">
            <a:avLst/>
          </a:prstGeom>
        </p:spPr>
        <p:txBody>
          <a:bodyPr wrap="square">
            <a:spAutoFit/>
          </a:bodyPr>
          <a:lstStyle>
            <a:defPPr>
              <a:defRPr lang="zh-CN"/>
            </a:defPPr>
            <a:lvl1pPr marL="285750" indent="-285750" eaLnBrk="0" hangingPunct="0">
              <a:lnSpc>
                <a:spcPct val="150000"/>
              </a:lnSpc>
              <a:spcBef>
                <a:spcPct val="20000"/>
              </a:spcBef>
              <a:buFont typeface="Wingdings" panose="05000000000000000000" pitchFamily="2" charset="2"/>
              <a:buChar char="Ø"/>
              <a:defRPr kern="0">
                <a:solidFill>
                  <a:schemeClr val="tx1"/>
                </a:solidFill>
                <a:latin typeface="黑体" panose="02010609060101010101" pitchFamily="49" charset="-122"/>
                <a:ea typeface="黑体" panose="02010609060101010101" pitchFamily="49" charset="-122"/>
              </a:defRPr>
            </a:lvl1pPr>
            <a:lvl2pPr>
              <a:defRPr>
                <a:solidFill>
                  <a:schemeClr val="tx1"/>
                </a:solidFill>
                <a:latin typeface="Times New Roman" pitchFamily="18" charset="0"/>
                <a:ea typeface="宋体" pitchFamily="2" charset="-122"/>
              </a:defRPr>
            </a:lvl2pPr>
            <a:lvl3pPr>
              <a:defRPr>
                <a:solidFill>
                  <a:schemeClr val="tx1"/>
                </a:solidFill>
                <a:latin typeface="Times New Roman" pitchFamily="18" charset="0"/>
                <a:ea typeface="宋体" pitchFamily="2" charset="-122"/>
              </a:defRPr>
            </a:lvl3pPr>
            <a:lvl4pPr>
              <a:defRPr>
                <a:solidFill>
                  <a:schemeClr val="tx1"/>
                </a:solidFill>
                <a:latin typeface="Times New Roman" pitchFamily="18" charset="0"/>
                <a:ea typeface="宋体" pitchFamily="2" charset="-122"/>
              </a:defRPr>
            </a:lvl4pPr>
            <a:lvl5pPr>
              <a:defRPr>
                <a:solidFill>
                  <a:schemeClr val="tx1"/>
                </a:solidFill>
                <a:latin typeface="Times New Roman" pitchFamily="18" charset="0"/>
                <a:ea typeface="宋体" pitchFamily="2" charset="-122"/>
              </a:defRPr>
            </a:lvl5pPr>
            <a:lvl6pPr>
              <a:defRPr>
                <a:solidFill>
                  <a:schemeClr val="tx1"/>
                </a:solidFill>
                <a:latin typeface="Times New Roman" pitchFamily="18" charset="0"/>
                <a:ea typeface="宋体" pitchFamily="2" charset="-122"/>
              </a:defRPr>
            </a:lvl6pPr>
            <a:lvl7pPr>
              <a:defRPr>
                <a:solidFill>
                  <a:schemeClr val="tx1"/>
                </a:solidFill>
                <a:latin typeface="Times New Roman" pitchFamily="18" charset="0"/>
                <a:ea typeface="宋体" pitchFamily="2" charset="-122"/>
              </a:defRPr>
            </a:lvl7pPr>
            <a:lvl8pPr>
              <a:defRPr>
                <a:solidFill>
                  <a:schemeClr val="tx1"/>
                </a:solidFill>
                <a:latin typeface="Times New Roman" pitchFamily="18" charset="0"/>
                <a:ea typeface="宋体" pitchFamily="2" charset="-122"/>
              </a:defRPr>
            </a:lvl8pPr>
            <a:lvl9pPr>
              <a:defRPr>
                <a:solidFill>
                  <a:schemeClr val="tx1"/>
                </a:solidFill>
                <a:latin typeface="Times New Roman" pitchFamily="18" charset="0"/>
                <a:ea typeface="宋体" pitchFamily="2" charset="-122"/>
              </a:defRPr>
            </a:lvl9pPr>
          </a:lstStyle>
          <a:p>
            <a:r>
              <a:rPr lang="zh-CN" altLang="en-US" sz="2000" dirty="0">
                <a:latin typeface="微软雅黑" panose="020B0503020204020204" pitchFamily="34" charset="-122"/>
                <a:ea typeface="微软雅黑" panose="020B0503020204020204" pitchFamily="34" charset="-122"/>
              </a:rPr>
              <a:t>动态阻尼孔</a:t>
            </a:r>
            <a:r>
              <a:rPr lang="en-US" altLang="zh-CN" sz="2000" dirty="0">
                <a:latin typeface="微软雅黑" panose="020B0503020204020204" pitchFamily="34" charset="-122"/>
                <a:ea typeface="微软雅黑" panose="020B0503020204020204" pitchFamily="34" charset="-122"/>
              </a:rPr>
              <a:t>R</a:t>
            </a:r>
            <a:r>
              <a:rPr lang="en-US" altLang="zh-CN" sz="2000" baseline="-25000" dirty="0">
                <a:latin typeface="微软雅黑" panose="020B0503020204020204" pitchFamily="34" charset="-122"/>
                <a:ea typeface="微软雅黑" panose="020B0503020204020204" pitchFamily="34" charset="-122"/>
              </a:rPr>
              <a:t>2</a:t>
            </a:r>
            <a:r>
              <a:rPr lang="zh-CN" altLang="en-US" sz="2000" dirty="0">
                <a:latin typeface="微软雅黑" panose="020B0503020204020204" pitchFamily="34" charset="-122"/>
                <a:ea typeface="微软雅黑" panose="020B0503020204020204" pitchFamily="34" charset="-122"/>
              </a:rPr>
              <a:t>两端压差对主阀运动产生阻尼作用。</a:t>
            </a:r>
            <a:endParaRPr lang="en-US" altLang="zh-CN" sz="2000" dirty="0">
              <a:latin typeface="微软雅黑" panose="020B0503020204020204" pitchFamily="34" charset="-122"/>
              <a:ea typeface="微软雅黑" panose="020B0503020204020204" pitchFamily="34" charset="-122"/>
            </a:endParaRPr>
          </a:p>
          <a:p>
            <a:pPr lvl="1">
              <a:lnSpc>
                <a:spcPct val="150000"/>
              </a:lnSpc>
              <a:buFont typeface="Arial" panose="020B0604020202020204" pitchFamily="34" charset="0"/>
              <a:buChar char="•"/>
            </a:pPr>
            <a:r>
              <a:rPr lang="zh-CN" altLang="en-US" sz="2000" dirty="0">
                <a:latin typeface="微软雅黑" panose="020B0503020204020204" pitchFamily="34" charset="-122"/>
                <a:ea typeface="微软雅黑" panose="020B0503020204020204" pitchFamily="34" charset="-122"/>
              </a:rPr>
              <a:t> 提高阀</a:t>
            </a:r>
            <a:r>
              <a:rPr lang="zh-CN" altLang="en-US" sz="2000" dirty="0">
                <a:solidFill>
                  <a:srgbClr val="FF0000"/>
                </a:solidFill>
                <a:latin typeface="微软雅黑" panose="020B0503020204020204" pitchFamily="34" charset="-122"/>
                <a:ea typeface="微软雅黑" panose="020B0503020204020204" pitchFamily="34" charset="-122"/>
              </a:rPr>
              <a:t>动态稳定性</a:t>
            </a:r>
            <a:endParaRPr lang="en-US" altLang="zh-CN" sz="2000" dirty="0">
              <a:solidFill>
                <a:srgbClr val="FF0000"/>
              </a:solidFill>
              <a:latin typeface="微软雅黑" panose="020B0503020204020204" pitchFamily="34" charset="-122"/>
              <a:ea typeface="微软雅黑" panose="020B0503020204020204" pitchFamily="34" charset="-122"/>
            </a:endParaRPr>
          </a:p>
          <a:p>
            <a:pPr lvl="1">
              <a:lnSpc>
                <a:spcPct val="150000"/>
              </a:lnSpc>
              <a:buFont typeface="Arial" panose="020B0604020202020204" pitchFamily="34" charset="0"/>
              <a:buChar char="•"/>
            </a:pPr>
            <a:r>
              <a:rPr lang="zh-CN" altLang="en-US" sz="2000" dirty="0">
                <a:latin typeface="微软雅黑" panose="020B0503020204020204" pitchFamily="34" charset="-122"/>
                <a:ea typeface="微软雅黑" panose="020B0503020204020204" pitchFamily="34" charset="-122"/>
              </a:rPr>
              <a:t> 调节动态阻尼孔径</a:t>
            </a:r>
            <a:br>
              <a:rPr lang="en-US" altLang="zh-CN" sz="2000" dirty="0">
                <a:latin typeface="微软雅黑" panose="020B0503020204020204" pitchFamily="34" charset="-122"/>
                <a:ea typeface="微软雅黑" panose="020B0503020204020204" pitchFamily="34" charset="-122"/>
              </a:rPr>
            </a:br>
            <a:r>
              <a:rPr lang="en-US" altLang="zh-CN" sz="2000" dirty="0">
                <a:latin typeface="微软雅黑" panose="020B0503020204020204" pitchFamily="34" charset="-122"/>
                <a:ea typeface="微软雅黑" panose="020B0503020204020204" pitchFamily="34" charset="-122"/>
              </a:rPr>
              <a:t>-&gt;</a:t>
            </a:r>
            <a:r>
              <a:rPr lang="zh-CN" altLang="en-US" sz="2000" dirty="0">
                <a:latin typeface="微软雅黑" panose="020B0503020204020204" pitchFamily="34" charset="-122"/>
                <a:ea typeface="微软雅黑" panose="020B0503020204020204" pitchFamily="34" charset="-122"/>
              </a:rPr>
              <a:t>阀的</a:t>
            </a:r>
            <a:r>
              <a:rPr lang="zh-CN" altLang="en-US" sz="2000" dirty="0">
                <a:solidFill>
                  <a:srgbClr val="FF0000"/>
                </a:solidFill>
                <a:latin typeface="微软雅黑" panose="020B0503020204020204" pitchFamily="34" charset="-122"/>
                <a:ea typeface="微软雅黑" panose="020B0503020204020204" pitchFamily="34" charset="-122"/>
              </a:rPr>
              <a:t>快速性</a:t>
            </a:r>
          </a:p>
        </p:txBody>
      </p:sp>
      <p:sp>
        <p:nvSpPr>
          <p:cNvPr id="12" name="Content Placeholder 2">
            <a:extLst>
              <a:ext uri="{FF2B5EF4-FFF2-40B4-BE49-F238E27FC236}">
                <a16:creationId xmlns:a16="http://schemas.microsoft.com/office/drawing/2014/main" id="{E216BBEB-8E53-D708-E117-EC143F1F1E34}"/>
              </a:ext>
            </a:extLst>
          </p:cNvPr>
          <p:cNvSpPr txBox="1">
            <a:spLocks/>
          </p:cNvSpPr>
          <p:nvPr/>
        </p:nvSpPr>
        <p:spPr bwMode="auto">
          <a:xfrm>
            <a:off x="831809" y="5670232"/>
            <a:ext cx="6020176" cy="146596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ea typeface="+mn-ea"/>
              </a:defRPr>
            </a:lvl2pPr>
            <a:lvl3pPr marL="1143000" indent="-228600" algn="l" rtl="0" eaLnBrk="0" fontAlgn="base" hangingPunct="0">
              <a:spcBef>
                <a:spcPct val="20000"/>
              </a:spcBef>
              <a:spcAft>
                <a:spcPct val="0"/>
              </a:spcAft>
              <a:buChar char="•"/>
              <a:defRPr sz="2400">
                <a:solidFill>
                  <a:schemeClr val="tx1"/>
                </a:solidFill>
                <a:latin typeface="+mn-lt"/>
                <a:ea typeface="+mn-ea"/>
              </a:defRPr>
            </a:lvl3pPr>
            <a:lvl4pPr marL="1600200" indent="-228600" algn="l" rtl="0" eaLnBrk="0" fontAlgn="base" hangingPunct="0">
              <a:spcBef>
                <a:spcPct val="20000"/>
              </a:spcBef>
              <a:spcAft>
                <a:spcPct val="0"/>
              </a:spcAft>
              <a:buChar char="–"/>
              <a:defRPr sz="20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sz="2000">
                <a:solidFill>
                  <a:schemeClr val="tx1"/>
                </a:solidFill>
                <a:latin typeface="+mn-lt"/>
                <a:ea typeface="+mn-ea"/>
              </a:defRPr>
            </a:lvl6pPr>
            <a:lvl7pPr marL="2971800" indent="-228600" algn="l" rtl="0" fontAlgn="base">
              <a:spcBef>
                <a:spcPct val="20000"/>
              </a:spcBef>
              <a:spcAft>
                <a:spcPct val="0"/>
              </a:spcAft>
              <a:buChar char="»"/>
              <a:defRPr sz="2000">
                <a:solidFill>
                  <a:schemeClr val="tx1"/>
                </a:solidFill>
                <a:latin typeface="+mn-lt"/>
                <a:ea typeface="+mn-ea"/>
              </a:defRPr>
            </a:lvl7pPr>
            <a:lvl8pPr marL="3429000" indent="-228600" algn="l" rtl="0" fontAlgn="base">
              <a:spcBef>
                <a:spcPct val="20000"/>
              </a:spcBef>
              <a:spcAft>
                <a:spcPct val="0"/>
              </a:spcAft>
              <a:buChar char="»"/>
              <a:defRPr sz="2000">
                <a:solidFill>
                  <a:schemeClr val="tx1"/>
                </a:solidFill>
                <a:latin typeface="+mn-lt"/>
                <a:ea typeface="+mn-ea"/>
              </a:defRPr>
            </a:lvl8pPr>
            <a:lvl9pPr marL="3886200" indent="-228600" algn="l" rtl="0" fontAlgn="base">
              <a:spcBef>
                <a:spcPct val="20000"/>
              </a:spcBef>
              <a:spcAft>
                <a:spcPct val="0"/>
              </a:spcAft>
              <a:buChar char="»"/>
              <a:defRPr sz="2000">
                <a:solidFill>
                  <a:schemeClr val="tx1"/>
                </a:solidFill>
                <a:latin typeface="+mn-lt"/>
                <a:ea typeface="+mn-ea"/>
              </a:defRPr>
            </a:lvl9pPr>
          </a:lstStyle>
          <a:p>
            <a:pPr marL="0" indent="0" algn="ctr">
              <a:buNone/>
            </a:pPr>
            <a:r>
              <a:rPr lang="zh-CN" altLang="en-US" sz="1800" kern="0" dirty="0">
                <a:latin typeface="微软雅黑" panose="020B0503020204020204" pitchFamily="34" charset="-122"/>
                <a:ea typeface="微软雅黑" panose="020B0503020204020204" pitchFamily="34" charset="-122"/>
              </a:rPr>
              <a:t>先导式比例减压阀</a:t>
            </a:r>
          </a:p>
          <a:p>
            <a:pPr marL="0" indent="0" algn="ctr">
              <a:buNone/>
            </a:pPr>
            <a:r>
              <a:rPr lang="en-US" altLang="zh-CN" sz="1800" kern="0" dirty="0">
                <a:latin typeface="微软雅黑" panose="020B0503020204020204" pitchFamily="34" charset="-122"/>
                <a:ea typeface="微软雅黑" panose="020B0503020204020204" pitchFamily="34" charset="-122"/>
              </a:rPr>
              <a:t>1—</a:t>
            </a:r>
            <a:r>
              <a:rPr lang="zh-CN" altLang="en-US" sz="1800" kern="0" dirty="0">
                <a:latin typeface="微软雅黑" panose="020B0503020204020204" pitchFamily="34" charset="-122"/>
                <a:ea typeface="微软雅黑" panose="020B0503020204020204" pitchFamily="34" charset="-122"/>
              </a:rPr>
              <a:t>比例电磁铁 </a:t>
            </a:r>
            <a:r>
              <a:rPr lang="en-US" altLang="zh-CN" sz="1800" kern="0" dirty="0">
                <a:latin typeface="微软雅黑" panose="020B0503020204020204" pitchFamily="34" charset="-122"/>
                <a:ea typeface="微软雅黑" panose="020B0503020204020204" pitchFamily="34" charset="-122"/>
              </a:rPr>
              <a:t>2—</a:t>
            </a:r>
            <a:r>
              <a:rPr lang="zh-CN" altLang="en-US" sz="1800" kern="0" dirty="0">
                <a:latin typeface="微软雅黑" panose="020B0503020204020204" pitchFamily="34" charset="-122"/>
                <a:ea typeface="微软雅黑" panose="020B0503020204020204" pitchFamily="34" charset="-122"/>
              </a:rPr>
              <a:t>主阀阀芯 </a:t>
            </a:r>
            <a:r>
              <a:rPr lang="en-US" altLang="zh-CN" sz="1800" kern="0" dirty="0">
                <a:latin typeface="微软雅黑" panose="020B0503020204020204" pitchFamily="34" charset="-122"/>
                <a:ea typeface="微软雅黑" panose="020B0503020204020204" pitchFamily="34" charset="-122"/>
              </a:rPr>
              <a:t>3—</a:t>
            </a:r>
            <a:r>
              <a:rPr lang="zh-CN" altLang="en-US" sz="1800" kern="0" dirty="0">
                <a:latin typeface="微软雅黑" panose="020B0503020204020204" pitchFamily="34" charset="-122"/>
                <a:ea typeface="微软雅黑" panose="020B0503020204020204" pitchFamily="34" charset="-122"/>
              </a:rPr>
              <a:t>固定节流孔</a:t>
            </a:r>
            <a:endParaRPr lang="en-US" altLang="zh-CN" sz="1800" kern="0" dirty="0">
              <a:latin typeface="微软雅黑" panose="020B0503020204020204" pitchFamily="34" charset="-122"/>
              <a:ea typeface="微软雅黑" panose="020B0503020204020204" pitchFamily="34" charset="-122"/>
            </a:endParaRPr>
          </a:p>
          <a:p>
            <a:pPr marL="0" indent="0" algn="ctr">
              <a:buNone/>
            </a:pPr>
            <a:r>
              <a:rPr lang="en-US" altLang="zh-CN" sz="1800" kern="0" dirty="0">
                <a:latin typeface="微软雅黑" panose="020B0503020204020204" pitchFamily="34" charset="-122"/>
                <a:ea typeface="微软雅黑" panose="020B0503020204020204" pitchFamily="34" charset="-122"/>
              </a:rPr>
              <a:t>4—</a:t>
            </a:r>
            <a:r>
              <a:rPr lang="zh-CN" altLang="en-US" sz="1800" kern="0" dirty="0">
                <a:latin typeface="微软雅黑" panose="020B0503020204020204" pitchFamily="34" charset="-122"/>
                <a:ea typeface="微软雅黑" panose="020B0503020204020204" pitchFamily="34" charset="-122"/>
              </a:rPr>
              <a:t>先导阀芯 </a:t>
            </a:r>
            <a:r>
              <a:rPr lang="en-US" altLang="zh-CN" sz="1800" kern="0" dirty="0">
                <a:latin typeface="微软雅黑" panose="020B0503020204020204" pitchFamily="34" charset="-122"/>
                <a:ea typeface="微软雅黑" panose="020B0503020204020204" pitchFamily="34" charset="-122"/>
              </a:rPr>
              <a:t>5—</a:t>
            </a:r>
            <a:r>
              <a:rPr lang="zh-CN" altLang="en-US" sz="1800" kern="0" dirty="0">
                <a:latin typeface="微软雅黑" panose="020B0503020204020204" pitchFamily="34" charset="-122"/>
                <a:ea typeface="微软雅黑" panose="020B0503020204020204" pitchFamily="34" charset="-122"/>
              </a:rPr>
              <a:t>压力反馈推杆 </a:t>
            </a:r>
            <a:r>
              <a:rPr lang="en-US" altLang="zh-CN" sz="1800" kern="0" dirty="0">
                <a:latin typeface="微软雅黑" panose="020B0503020204020204" pitchFamily="34" charset="-122"/>
                <a:ea typeface="微软雅黑" panose="020B0503020204020204" pitchFamily="34" charset="-122"/>
              </a:rPr>
              <a:t>6—</a:t>
            </a:r>
            <a:r>
              <a:rPr lang="zh-CN" altLang="en-US" sz="1800" kern="0" dirty="0">
                <a:latin typeface="微软雅黑" panose="020B0503020204020204" pitchFamily="34" charset="-122"/>
                <a:ea typeface="微软雅黑" panose="020B0503020204020204" pitchFamily="34" charset="-122"/>
              </a:rPr>
              <a:t>固定节流孔</a:t>
            </a:r>
            <a:endParaRPr lang="en-US" altLang="zh-CN" sz="1800" kern="0" dirty="0">
              <a:latin typeface="微软雅黑" panose="020B0503020204020204" pitchFamily="34" charset="-122"/>
              <a:ea typeface="微软雅黑" panose="020B0503020204020204" pitchFamily="34" charset="-122"/>
            </a:endParaRPr>
          </a:p>
        </p:txBody>
      </p:sp>
      <p:sp>
        <p:nvSpPr>
          <p:cNvPr id="13" name="矩形 12">
            <a:extLst>
              <a:ext uri="{FF2B5EF4-FFF2-40B4-BE49-F238E27FC236}">
                <a16:creationId xmlns:a16="http://schemas.microsoft.com/office/drawing/2014/main" id="{336937A8-16EB-57F1-2240-E665FA02BB58}"/>
              </a:ext>
            </a:extLst>
          </p:cNvPr>
          <p:cNvSpPr/>
          <p:nvPr/>
        </p:nvSpPr>
        <p:spPr>
          <a:xfrm>
            <a:off x="831809" y="1402638"/>
            <a:ext cx="4745731" cy="581057"/>
          </a:xfrm>
          <a:prstGeom prst="rect">
            <a:avLst/>
          </a:prstGeom>
          <a:noFill/>
        </p:spPr>
        <p:txBody>
          <a:bodyPr wrap="square" rtlCol="0">
            <a:spAutoFit/>
          </a:bodyPr>
          <a:lstStyle/>
          <a:p>
            <a:pPr algn="just">
              <a:lnSpc>
                <a:spcPct val="150000"/>
              </a:lnSpc>
              <a:spcBef>
                <a:spcPts val="1000"/>
              </a:spcBef>
            </a:pPr>
            <a:r>
              <a:rPr lang="zh-CN" altLang="en-US" sz="2400" b="1" kern="0" dirty="0">
                <a:latin typeface="+mn-ea"/>
              </a:rPr>
              <a:t>级间动压反馈</a:t>
            </a:r>
          </a:p>
        </p:txBody>
      </p:sp>
      <p:sp>
        <p:nvSpPr>
          <p:cNvPr id="2" name="矩形 1">
            <a:extLst>
              <a:ext uri="{FF2B5EF4-FFF2-40B4-BE49-F238E27FC236}">
                <a16:creationId xmlns:a16="http://schemas.microsoft.com/office/drawing/2014/main" id="{D9449CE4-22B9-73E1-038F-E8021447D36C}"/>
              </a:ext>
            </a:extLst>
          </p:cNvPr>
          <p:cNvSpPr/>
          <p:nvPr/>
        </p:nvSpPr>
        <p:spPr>
          <a:xfrm>
            <a:off x="544341" y="847469"/>
            <a:ext cx="8680807" cy="662554"/>
          </a:xfrm>
          <a:prstGeom prst="rect">
            <a:avLst/>
          </a:prstGeom>
          <a:noFill/>
        </p:spPr>
        <p:txBody>
          <a:bodyPr wrap="square" rtlCol="0">
            <a:spAutoFit/>
          </a:bodyPr>
          <a:lstStyle/>
          <a:p>
            <a:pPr marL="457200" indent="-457200" algn="just">
              <a:lnSpc>
                <a:spcPct val="150000"/>
              </a:lnSpc>
              <a:spcBef>
                <a:spcPts val="1000"/>
              </a:spcBef>
              <a:buFont typeface="Wingdings" panose="05000000000000000000" pitchFamily="2" charset="2"/>
              <a:buChar char="p"/>
            </a:pPr>
            <a:r>
              <a:rPr lang="zh-CN" altLang="en-US" sz="2800" b="1" dirty="0">
                <a:solidFill>
                  <a:srgbClr val="003F88"/>
                </a:solidFill>
                <a:latin typeface="微软雅黑" panose="020B0503020204020204" pitchFamily="34" charset="-122"/>
                <a:ea typeface="微软雅黑" panose="020B0503020204020204" pitchFamily="34" charset="-122"/>
              </a:rPr>
              <a:t>电液比例压力阀</a:t>
            </a:r>
            <a:endParaRPr lang="en-US" altLang="zh-CN" sz="2800" b="1" dirty="0">
              <a:solidFill>
                <a:srgbClr val="003F88"/>
              </a:solidFill>
              <a:latin typeface="微软雅黑" panose="020B0503020204020204" pitchFamily="34" charset="-122"/>
              <a:ea typeface="微软雅黑" panose="020B0503020204020204" pitchFamily="34" charset="-122"/>
            </a:endParaRPr>
          </a:p>
        </p:txBody>
      </p:sp>
      <p:sp>
        <p:nvSpPr>
          <p:cNvPr id="14" name="文本框 13">
            <a:extLst>
              <a:ext uri="{FF2B5EF4-FFF2-40B4-BE49-F238E27FC236}">
                <a16:creationId xmlns:a16="http://schemas.microsoft.com/office/drawing/2014/main" id="{D5DF3028-F83C-4AFE-80FE-9B890FECF630}"/>
              </a:ext>
            </a:extLst>
          </p:cNvPr>
          <p:cNvSpPr txBox="1"/>
          <p:nvPr/>
        </p:nvSpPr>
        <p:spPr>
          <a:xfrm>
            <a:off x="429656" y="135415"/>
            <a:ext cx="3632036"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cs typeface="Times New Roman" panose="02020603050405020304" pitchFamily="18" charset="0"/>
              </a:rPr>
              <a:t>10.6</a:t>
            </a:r>
            <a:r>
              <a:rPr lang="en-US" altLang="zh-CN" sz="3600" b="1" dirty="0">
                <a:solidFill>
                  <a:srgbClr val="003F88"/>
                </a:solidFill>
                <a:latin typeface="+mn-ea"/>
              </a:rPr>
              <a:t> </a:t>
            </a:r>
            <a:r>
              <a:rPr lang="zh-CN" altLang="en-US" sz="3600" b="1" dirty="0">
                <a:solidFill>
                  <a:srgbClr val="003F88"/>
                </a:solidFill>
                <a:latin typeface="+mn-ea"/>
              </a:rPr>
              <a:t>电液比例阀</a:t>
            </a:r>
          </a:p>
        </p:txBody>
      </p:sp>
    </p:spTree>
    <p:extLst>
      <p:ext uri="{BB962C8B-B14F-4D97-AF65-F5344CB8AC3E}">
        <p14:creationId xmlns:p14="http://schemas.microsoft.com/office/powerpoint/2010/main" val="5778397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5FC5EF-58FF-F949-C26B-DB7A86EE4597}"/>
            </a:ext>
          </a:extLst>
        </p:cNvPr>
        <p:cNvGrpSpPr/>
        <p:nvPr/>
      </p:nvGrpSpPr>
      <p:grpSpPr>
        <a:xfrm>
          <a:off x="0" y="0"/>
          <a:ext cx="0" cy="0"/>
          <a:chOff x="0" y="0"/>
          <a:chExt cx="0" cy="0"/>
        </a:xfrm>
      </p:grpSpPr>
      <p:pic>
        <p:nvPicPr>
          <p:cNvPr id="12" name="图片 11">
            <a:extLst>
              <a:ext uri="{FF2B5EF4-FFF2-40B4-BE49-F238E27FC236}">
                <a16:creationId xmlns:a16="http://schemas.microsoft.com/office/drawing/2014/main" id="{387240C3-E035-2FE5-BD4E-ACCFC6DC8532}"/>
              </a:ext>
            </a:extLst>
          </p:cNvPr>
          <p:cNvPicPr>
            <a:picLocks noChangeAspect="1"/>
          </p:cNvPicPr>
          <p:nvPr/>
        </p:nvPicPr>
        <p:blipFill rotWithShape="1">
          <a:blip r:embed="rId3"/>
          <a:srcRect l="65892" t="62897" r="18887" b="14331"/>
          <a:stretch/>
        </p:blipFill>
        <p:spPr>
          <a:xfrm>
            <a:off x="7399130" y="3147863"/>
            <a:ext cx="1008113" cy="1378975"/>
          </a:xfrm>
          <a:prstGeom prst="rect">
            <a:avLst/>
          </a:prstGeom>
        </p:spPr>
      </p:pic>
      <p:grpSp>
        <p:nvGrpSpPr>
          <p:cNvPr id="13" name="组合 12">
            <a:extLst>
              <a:ext uri="{FF2B5EF4-FFF2-40B4-BE49-F238E27FC236}">
                <a16:creationId xmlns:a16="http://schemas.microsoft.com/office/drawing/2014/main" id="{3C740CB1-6F8A-B473-7465-5DF64C247C3C}"/>
              </a:ext>
            </a:extLst>
          </p:cNvPr>
          <p:cNvGrpSpPr/>
          <p:nvPr/>
        </p:nvGrpSpPr>
        <p:grpSpPr>
          <a:xfrm>
            <a:off x="9413159" y="3419889"/>
            <a:ext cx="1093397" cy="799943"/>
            <a:chOff x="6963098" y="3906840"/>
            <a:chExt cx="1093397" cy="799943"/>
          </a:xfrm>
        </p:grpSpPr>
        <p:grpSp>
          <p:nvGrpSpPr>
            <p:cNvPr id="14" name="组合 13">
              <a:extLst>
                <a:ext uri="{FF2B5EF4-FFF2-40B4-BE49-F238E27FC236}">
                  <a16:creationId xmlns:a16="http://schemas.microsoft.com/office/drawing/2014/main" id="{4C0C67A1-AA71-57D7-72F2-3F538E8DA223}"/>
                </a:ext>
              </a:extLst>
            </p:cNvPr>
            <p:cNvGrpSpPr/>
            <p:nvPr/>
          </p:nvGrpSpPr>
          <p:grpSpPr>
            <a:xfrm rot="5400000">
              <a:off x="7024578" y="3949120"/>
              <a:ext cx="799943" cy="715383"/>
              <a:chOff x="3076617" y="4451804"/>
              <a:chExt cx="799943" cy="715383"/>
            </a:xfrm>
          </p:grpSpPr>
          <p:sp>
            <p:nvSpPr>
              <p:cNvPr id="16" name="矩形 15">
                <a:extLst>
                  <a:ext uri="{FF2B5EF4-FFF2-40B4-BE49-F238E27FC236}">
                    <a16:creationId xmlns:a16="http://schemas.microsoft.com/office/drawing/2014/main" id="{68ADEF42-9250-F583-53BF-64A6E0636EBE}"/>
                  </a:ext>
                </a:extLst>
              </p:cNvPr>
              <p:cNvSpPr/>
              <p:nvPr/>
            </p:nvSpPr>
            <p:spPr>
              <a:xfrm>
                <a:off x="3076617" y="4807154"/>
                <a:ext cx="378055" cy="216017"/>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r"/>
                <a:endParaRPr lang="zh-CN" altLang="en-US"/>
              </a:p>
            </p:txBody>
          </p:sp>
          <p:sp>
            <p:nvSpPr>
              <p:cNvPr id="17" name="矩形 16">
                <a:extLst>
                  <a:ext uri="{FF2B5EF4-FFF2-40B4-BE49-F238E27FC236}">
                    <a16:creationId xmlns:a16="http://schemas.microsoft.com/office/drawing/2014/main" id="{794D3635-FDFF-3444-F081-9BA00021ADE2}"/>
                  </a:ext>
                </a:extLst>
              </p:cNvPr>
              <p:cNvSpPr/>
              <p:nvPr/>
            </p:nvSpPr>
            <p:spPr>
              <a:xfrm>
                <a:off x="3444512" y="4451804"/>
                <a:ext cx="432048" cy="576062"/>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a:p>
            </p:txBody>
          </p:sp>
          <p:grpSp>
            <p:nvGrpSpPr>
              <p:cNvPr id="18" name="组合 17">
                <a:extLst>
                  <a:ext uri="{FF2B5EF4-FFF2-40B4-BE49-F238E27FC236}">
                    <a16:creationId xmlns:a16="http://schemas.microsoft.com/office/drawing/2014/main" id="{C50ADD4C-7805-5767-E5D9-408D222E7022}"/>
                  </a:ext>
                </a:extLst>
              </p:cNvPr>
              <p:cNvGrpSpPr/>
              <p:nvPr/>
            </p:nvGrpSpPr>
            <p:grpSpPr>
              <a:xfrm>
                <a:off x="3444512" y="4523810"/>
                <a:ext cx="432048" cy="432034"/>
                <a:chOff x="3924937" y="5301208"/>
                <a:chExt cx="432048" cy="432034"/>
              </a:xfrm>
            </p:grpSpPr>
            <p:sp>
              <p:nvSpPr>
                <p:cNvPr id="21" name="弧形 20">
                  <a:extLst>
                    <a:ext uri="{FF2B5EF4-FFF2-40B4-BE49-F238E27FC236}">
                      <a16:creationId xmlns:a16="http://schemas.microsoft.com/office/drawing/2014/main" id="{D72422AF-BEF5-993A-AA5F-EDDE30CFA804}"/>
                    </a:ext>
                  </a:extLst>
                </p:cNvPr>
                <p:cNvSpPr/>
                <p:nvPr/>
              </p:nvSpPr>
              <p:spPr>
                <a:xfrm>
                  <a:off x="3924937" y="5301208"/>
                  <a:ext cx="162802" cy="432034"/>
                </a:xfrm>
                <a:prstGeom prst="arc">
                  <a:avLst>
                    <a:gd name="adj1" fmla="val 16945223"/>
                    <a:gd name="adj2" fmla="val 4551486"/>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r"/>
                  <a:endParaRPr lang="zh-CN" altLang="en-US"/>
                </a:p>
              </p:txBody>
            </p:sp>
            <p:sp>
              <p:nvSpPr>
                <p:cNvPr id="22" name="弧形 21">
                  <a:extLst>
                    <a:ext uri="{FF2B5EF4-FFF2-40B4-BE49-F238E27FC236}">
                      <a16:creationId xmlns:a16="http://schemas.microsoft.com/office/drawing/2014/main" id="{1F713A48-1E57-EAAC-01AD-6A3114FDC5C8}"/>
                    </a:ext>
                  </a:extLst>
                </p:cNvPr>
                <p:cNvSpPr/>
                <p:nvPr/>
              </p:nvSpPr>
              <p:spPr>
                <a:xfrm flipH="1">
                  <a:off x="4194183" y="5301208"/>
                  <a:ext cx="162802" cy="432034"/>
                </a:xfrm>
                <a:prstGeom prst="arc">
                  <a:avLst>
                    <a:gd name="adj1" fmla="val 16929481"/>
                    <a:gd name="adj2" fmla="val 4706504"/>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r"/>
                  <a:endParaRPr lang="zh-CN" altLang="en-US"/>
                </a:p>
              </p:txBody>
            </p:sp>
          </p:grpSp>
          <p:cxnSp>
            <p:nvCxnSpPr>
              <p:cNvPr id="19" name="直接连接符 18">
                <a:extLst>
                  <a:ext uri="{FF2B5EF4-FFF2-40B4-BE49-F238E27FC236}">
                    <a16:creationId xmlns:a16="http://schemas.microsoft.com/office/drawing/2014/main" id="{F570130E-A733-3911-87B6-FE4BF45ED388}"/>
                  </a:ext>
                </a:extLst>
              </p:cNvPr>
              <p:cNvCxnSpPr>
                <a:cxnSpLocks/>
              </p:cNvCxnSpPr>
              <p:nvPr/>
            </p:nvCxnSpPr>
            <p:spPr>
              <a:xfrm flipH="1">
                <a:off x="3206372" y="4807147"/>
                <a:ext cx="124131" cy="216024"/>
              </a:xfrm>
              <a:prstGeom prst="lin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cxnSp>
          <p:cxnSp>
            <p:nvCxnSpPr>
              <p:cNvPr id="20" name="直接连接符 19">
                <a:extLst>
                  <a:ext uri="{FF2B5EF4-FFF2-40B4-BE49-F238E27FC236}">
                    <a16:creationId xmlns:a16="http://schemas.microsoft.com/office/drawing/2014/main" id="{CA9AACE8-5F4F-3BF1-7086-3D8D3A29B31A}"/>
                  </a:ext>
                </a:extLst>
              </p:cNvPr>
              <p:cNvCxnSpPr>
                <a:cxnSpLocks/>
              </p:cNvCxnSpPr>
              <p:nvPr/>
            </p:nvCxnSpPr>
            <p:spPr>
              <a:xfrm flipH="1" flipV="1">
                <a:off x="3190210" y="4591123"/>
                <a:ext cx="140294" cy="576064"/>
              </a:xfrm>
              <a:prstGeom prst="line">
                <a:avLst/>
              </a:prstGeom>
              <a:solidFill>
                <a:schemeClr val="bg1"/>
              </a:solidFill>
              <a:ln w="19050">
                <a:solidFill>
                  <a:schemeClr val="tx1"/>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cxnSp>
        </p:grpSp>
        <p:cxnSp>
          <p:nvCxnSpPr>
            <p:cNvPr id="15" name="直接连接符 14">
              <a:extLst>
                <a:ext uri="{FF2B5EF4-FFF2-40B4-BE49-F238E27FC236}">
                  <a16:creationId xmlns:a16="http://schemas.microsoft.com/office/drawing/2014/main" id="{177493EB-CBE3-ED3A-B414-482D71CFF03C}"/>
                </a:ext>
              </a:extLst>
            </p:cNvPr>
            <p:cNvCxnSpPr>
              <a:cxnSpLocks/>
            </p:cNvCxnSpPr>
            <p:nvPr/>
          </p:nvCxnSpPr>
          <p:spPr>
            <a:xfrm rot="5400000">
              <a:off x="7509797" y="3943579"/>
              <a:ext cx="0" cy="109339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26" name="矩形 25">
                <a:extLst>
                  <a:ext uri="{FF2B5EF4-FFF2-40B4-BE49-F238E27FC236}">
                    <a16:creationId xmlns:a16="http://schemas.microsoft.com/office/drawing/2014/main" id="{2CA13814-5DFC-0185-D388-52E5267B2D3D}"/>
                  </a:ext>
                </a:extLst>
              </p:cNvPr>
              <p:cNvSpPr/>
              <p:nvPr/>
            </p:nvSpPr>
            <p:spPr>
              <a:xfrm>
                <a:off x="7021810" y="3757707"/>
                <a:ext cx="415195" cy="369332"/>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i="1" kern="0" smtClean="0">
                          <a:solidFill>
                            <a:schemeClr val="tx1"/>
                          </a:solidFill>
                          <a:latin typeface="Cambria Math" panose="02040503050406030204" pitchFamily="18" charset="0"/>
                          <a:ea typeface="Cambria Math" panose="02040503050406030204" pitchFamily="18" charset="0"/>
                        </a:rPr>
                        <m:t>𝑝</m:t>
                      </m:r>
                      <m:r>
                        <a:rPr lang="en-US" altLang="zh-CN" b="0" i="1" kern="0" smtClean="0">
                          <a:solidFill>
                            <a:schemeClr val="tx1"/>
                          </a:solidFill>
                          <a:latin typeface="Cambria Math" panose="02040503050406030204" pitchFamily="18" charset="0"/>
                          <a:ea typeface="Cambria Math" panose="02040503050406030204" pitchFamily="18" charset="0"/>
                        </a:rPr>
                        <m:t>1</m:t>
                      </m:r>
                    </m:oMath>
                  </m:oMathPara>
                </a14:m>
                <a:endParaRPr lang="en-US" dirty="0">
                  <a:solidFill>
                    <a:schemeClr val="tx1"/>
                  </a:solidFill>
                </a:endParaRPr>
              </a:p>
            </p:txBody>
          </p:sp>
        </mc:Choice>
        <mc:Fallback xmlns="">
          <p:sp>
            <p:nvSpPr>
              <p:cNvPr id="26" name="矩形 25">
                <a:extLst>
                  <a:ext uri="{FF2B5EF4-FFF2-40B4-BE49-F238E27FC236}">
                    <a16:creationId xmlns:a16="http://schemas.microsoft.com/office/drawing/2014/main" id="{2CA13814-5DFC-0185-D388-52E5267B2D3D}"/>
                  </a:ext>
                </a:extLst>
              </p:cNvPr>
              <p:cNvSpPr>
                <a:spLocks noRot="1" noChangeAspect="1" noMove="1" noResize="1" noEditPoints="1" noAdjustHandles="1" noChangeArrowheads="1" noChangeShapeType="1" noTextEdit="1"/>
              </p:cNvSpPr>
              <p:nvPr/>
            </p:nvSpPr>
            <p:spPr>
              <a:xfrm>
                <a:off x="7021810" y="3757707"/>
                <a:ext cx="415195" cy="369332"/>
              </a:xfrm>
              <a:prstGeom prst="rect">
                <a:avLst/>
              </a:prstGeom>
              <a:blipFill>
                <a:blip r:embed="rId4"/>
                <a:stretch>
                  <a:fillRect r="-2941" b="-819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7" name="矩形 26">
                <a:extLst>
                  <a:ext uri="{FF2B5EF4-FFF2-40B4-BE49-F238E27FC236}">
                    <a16:creationId xmlns:a16="http://schemas.microsoft.com/office/drawing/2014/main" id="{90042205-463C-CBA5-D079-5D0427164072}"/>
                  </a:ext>
                </a:extLst>
              </p:cNvPr>
              <p:cNvSpPr/>
              <p:nvPr/>
            </p:nvSpPr>
            <p:spPr>
              <a:xfrm>
                <a:off x="8436593" y="3685699"/>
                <a:ext cx="518310" cy="369332"/>
              </a:xfrm>
              <a:prstGeom prst="rect">
                <a:avLst/>
              </a:prstGeom>
            </p:spPr>
            <p:txBody>
              <a:bodyPr wrap="square">
                <a:spAutoFit/>
              </a:bodyPr>
              <a:lstStyle/>
              <a:p>
                <a14:m>
                  <m:oMath xmlns:m="http://schemas.openxmlformats.org/officeDocument/2006/math">
                    <m:r>
                      <a:rPr lang="en-US" altLang="zh-CN" i="1" kern="0" smtClean="0">
                        <a:solidFill>
                          <a:schemeClr val="tx1"/>
                        </a:solidFill>
                        <a:latin typeface="Cambria Math" panose="02040503050406030204" pitchFamily="18" charset="0"/>
                        <a:ea typeface="Cambria Math" panose="02040503050406030204" pitchFamily="18" charset="0"/>
                      </a:rPr>
                      <m:t>𝑝</m:t>
                    </m:r>
                  </m:oMath>
                </a14:m>
                <a:r>
                  <a:rPr lang="en-US" dirty="0">
                    <a:solidFill>
                      <a:schemeClr val="tx1"/>
                    </a:solidFill>
                  </a:rPr>
                  <a:t>2</a:t>
                </a:r>
              </a:p>
            </p:txBody>
          </p:sp>
        </mc:Choice>
        <mc:Fallback xmlns="">
          <p:sp>
            <p:nvSpPr>
              <p:cNvPr id="27" name="矩形 26">
                <a:extLst>
                  <a:ext uri="{FF2B5EF4-FFF2-40B4-BE49-F238E27FC236}">
                    <a16:creationId xmlns:a16="http://schemas.microsoft.com/office/drawing/2014/main" id="{90042205-463C-CBA5-D079-5D0427164072}"/>
                  </a:ext>
                </a:extLst>
              </p:cNvPr>
              <p:cNvSpPr>
                <a:spLocks noRot="1" noChangeAspect="1" noMove="1" noResize="1" noEditPoints="1" noAdjustHandles="1" noChangeArrowheads="1" noChangeShapeType="1" noTextEdit="1"/>
              </p:cNvSpPr>
              <p:nvPr/>
            </p:nvSpPr>
            <p:spPr>
              <a:xfrm>
                <a:off x="8436593" y="3685699"/>
                <a:ext cx="518310" cy="369332"/>
              </a:xfrm>
              <a:prstGeom prst="rect">
                <a:avLst/>
              </a:prstGeom>
              <a:blipFill>
                <a:blip r:embed="rId5"/>
                <a:stretch>
                  <a:fillRect t="-10000" b="-2666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8" name="矩形 57">
                <a:extLst>
                  <a:ext uri="{FF2B5EF4-FFF2-40B4-BE49-F238E27FC236}">
                    <a16:creationId xmlns:a16="http://schemas.microsoft.com/office/drawing/2014/main" id="{7ADF2180-8913-62AD-DA4B-F0A26B2812DC}"/>
                  </a:ext>
                </a:extLst>
              </p:cNvPr>
              <p:cNvSpPr/>
              <p:nvPr/>
            </p:nvSpPr>
            <p:spPr>
              <a:xfrm>
                <a:off x="9018108" y="3795935"/>
                <a:ext cx="415195" cy="369332"/>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i="1" kern="0" smtClean="0">
                          <a:solidFill>
                            <a:schemeClr val="tx1"/>
                          </a:solidFill>
                          <a:latin typeface="Cambria Math" panose="02040503050406030204" pitchFamily="18" charset="0"/>
                          <a:ea typeface="Cambria Math" panose="02040503050406030204" pitchFamily="18" charset="0"/>
                        </a:rPr>
                        <m:t>𝑝</m:t>
                      </m:r>
                      <m:r>
                        <a:rPr lang="en-US" altLang="zh-CN" b="0" i="1" kern="0" smtClean="0">
                          <a:solidFill>
                            <a:schemeClr val="tx1"/>
                          </a:solidFill>
                          <a:latin typeface="Cambria Math" panose="02040503050406030204" pitchFamily="18" charset="0"/>
                          <a:ea typeface="Cambria Math" panose="02040503050406030204" pitchFamily="18" charset="0"/>
                        </a:rPr>
                        <m:t>1</m:t>
                      </m:r>
                    </m:oMath>
                  </m:oMathPara>
                </a14:m>
                <a:endParaRPr lang="en-US" dirty="0">
                  <a:solidFill>
                    <a:schemeClr val="tx1"/>
                  </a:solidFill>
                </a:endParaRPr>
              </a:p>
            </p:txBody>
          </p:sp>
        </mc:Choice>
        <mc:Fallback xmlns="">
          <p:sp>
            <p:nvSpPr>
              <p:cNvPr id="58" name="矩形 57">
                <a:extLst>
                  <a:ext uri="{FF2B5EF4-FFF2-40B4-BE49-F238E27FC236}">
                    <a16:creationId xmlns:a16="http://schemas.microsoft.com/office/drawing/2014/main" id="{7ADF2180-8913-62AD-DA4B-F0A26B2812DC}"/>
                  </a:ext>
                </a:extLst>
              </p:cNvPr>
              <p:cNvSpPr>
                <a:spLocks noRot="1" noChangeAspect="1" noMove="1" noResize="1" noEditPoints="1" noAdjustHandles="1" noChangeArrowheads="1" noChangeShapeType="1" noTextEdit="1"/>
              </p:cNvSpPr>
              <p:nvPr/>
            </p:nvSpPr>
            <p:spPr>
              <a:xfrm>
                <a:off x="9018108" y="3795935"/>
                <a:ext cx="415195" cy="369332"/>
              </a:xfrm>
              <a:prstGeom prst="rect">
                <a:avLst/>
              </a:prstGeom>
              <a:blipFill>
                <a:blip r:embed="rId6"/>
                <a:stretch>
                  <a:fillRect r="-4412" b="-8333"/>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9" name="矩形 58">
                <a:extLst>
                  <a:ext uri="{FF2B5EF4-FFF2-40B4-BE49-F238E27FC236}">
                    <a16:creationId xmlns:a16="http://schemas.microsoft.com/office/drawing/2014/main" id="{C808C9DD-AF5B-E821-35C5-F317395F7911}"/>
                  </a:ext>
                </a:extLst>
              </p:cNvPr>
              <p:cNvSpPr/>
              <p:nvPr/>
            </p:nvSpPr>
            <p:spPr>
              <a:xfrm>
                <a:off x="10504899" y="3795935"/>
                <a:ext cx="518310" cy="369332"/>
              </a:xfrm>
              <a:prstGeom prst="rect">
                <a:avLst/>
              </a:prstGeom>
            </p:spPr>
            <p:txBody>
              <a:bodyPr wrap="square">
                <a:spAutoFit/>
              </a:bodyPr>
              <a:lstStyle/>
              <a:p>
                <a14:m>
                  <m:oMath xmlns:m="http://schemas.openxmlformats.org/officeDocument/2006/math">
                    <m:r>
                      <a:rPr lang="en-US" altLang="zh-CN" i="1" kern="0" smtClean="0">
                        <a:solidFill>
                          <a:schemeClr val="tx1"/>
                        </a:solidFill>
                        <a:latin typeface="Cambria Math" panose="02040503050406030204" pitchFamily="18" charset="0"/>
                        <a:ea typeface="Cambria Math" panose="02040503050406030204" pitchFamily="18" charset="0"/>
                      </a:rPr>
                      <m:t>𝑝</m:t>
                    </m:r>
                  </m:oMath>
                </a14:m>
                <a:r>
                  <a:rPr lang="en-US" dirty="0">
                    <a:solidFill>
                      <a:schemeClr val="tx1"/>
                    </a:solidFill>
                  </a:rPr>
                  <a:t>2</a:t>
                </a:r>
              </a:p>
            </p:txBody>
          </p:sp>
        </mc:Choice>
        <mc:Fallback xmlns="">
          <p:sp>
            <p:nvSpPr>
              <p:cNvPr id="59" name="矩形 58">
                <a:extLst>
                  <a:ext uri="{FF2B5EF4-FFF2-40B4-BE49-F238E27FC236}">
                    <a16:creationId xmlns:a16="http://schemas.microsoft.com/office/drawing/2014/main" id="{C808C9DD-AF5B-E821-35C5-F317395F7911}"/>
                  </a:ext>
                </a:extLst>
              </p:cNvPr>
              <p:cNvSpPr>
                <a:spLocks noRot="1" noChangeAspect="1" noMove="1" noResize="1" noEditPoints="1" noAdjustHandles="1" noChangeArrowheads="1" noChangeShapeType="1" noTextEdit="1"/>
              </p:cNvSpPr>
              <p:nvPr/>
            </p:nvSpPr>
            <p:spPr>
              <a:xfrm>
                <a:off x="10504899" y="3795935"/>
                <a:ext cx="518310" cy="369332"/>
              </a:xfrm>
              <a:prstGeom prst="rect">
                <a:avLst/>
              </a:prstGeom>
              <a:blipFill>
                <a:blip r:embed="rId7"/>
                <a:stretch>
                  <a:fillRect t="-10000" b="-26667"/>
                </a:stretch>
              </a:blipFill>
            </p:spPr>
            <p:txBody>
              <a:bodyPr/>
              <a:lstStyle/>
              <a:p>
                <a:r>
                  <a:rPr lang="zh-CN" altLang="en-US">
                    <a:noFill/>
                  </a:rPr>
                  <a:t> </a:t>
                </a:r>
              </a:p>
            </p:txBody>
          </p:sp>
        </mc:Fallback>
      </mc:AlternateContent>
      <p:cxnSp>
        <p:nvCxnSpPr>
          <p:cNvPr id="5" name="直接连接符 4">
            <a:extLst>
              <a:ext uri="{FF2B5EF4-FFF2-40B4-BE49-F238E27FC236}">
                <a16:creationId xmlns:a16="http://schemas.microsoft.com/office/drawing/2014/main" id="{544B207D-8289-F6C1-6905-82526A98A4FC}"/>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BE984E81-0E59-8A6C-E927-5FDCEFA03C7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B3DE6A99-8791-0628-75DF-93D990E08B15}"/>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a:extLst>
              <a:ext uri="{FF2B5EF4-FFF2-40B4-BE49-F238E27FC236}">
                <a16:creationId xmlns:a16="http://schemas.microsoft.com/office/drawing/2014/main" id="{285A2E5E-8F53-5AEA-8689-0B3CB3B416D5}"/>
              </a:ext>
            </a:extLst>
          </p:cNvPr>
          <p:cNvSpPr txBox="1"/>
          <p:nvPr/>
        </p:nvSpPr>
        <p:spPr>
          <a:xfrm>
            <a:off x="1683763" y="1783151"/>
            <a:ext cx="9753600" cy="1422954"/>
          </a:xfrm>
          <a:prstGeom prst="rect">
            <a:avLst/>
          </a:prstGeom>
          <a:noFill/>
        </p:spPr>
        <p:txBody>
          <a:bodyPr wrap="square">
            <a:spAutoFit/>
          </a:bodyPr>
          <a:lstStyle/>
          <a:p>
            <a:pPr marL="342900" indent="-342900">
              <a:lnSpc>
                <a:spcPct val="150000"/>
              </a:lnSpc>
              <a:buFont typeface="Wingdings" panose="05000000000000000000" pitchFamily="2" charset="2"/>
              <a:buChar char="ü"/>
            </a:pPr>
            <a:r>
              <a:rPr lang="zh-CN" altLang="en-US" sz="2000" dirty="0">
                <a:latin typeface="微软雅黑" panose="020B0503020204020204" pitchFamily="34" charset="-122"/>
                <a:ea typeface="微软雅黑" panose="020B0503020204020204" pitchFamily="34" charset="-122"/>
              </a:rPr>
              <a:t>通过</a:t>
            </a:r>
            <a:r>
              <a:rPr lang="zh-CN" altLang="en-US" sz="2000" dirty="0">
                <a:solidFill>
                  <a:srgbClr val="0070C0"/>
                </a:solidFill>
                <a:latin typeface="微软雅黑" panose="020B0503020204020204" pitchFamily="34" charset="-122"/>
                <a:ea typeface="微软雅黑" panose="020B0503020204020204" pitchFamily="34" charset="-122"/>
              </a:rPr>
              <a:t>比例电磁铁</a:t>
            </a:r>
            <a:r>
              <a:rPr lang="zh-CN" altLang="en-US" sz="2000" dirty="0">
                <a:latin typeface="微软雅黑" panose="020B0503020204020204" pitchFamily="34" charset="-122"/>
                <a:ea typeface="微软雅黑" panose="020B0503020204020204" pitchFamily="34" charset="-122"/>
              </a:rPr>
              <a:t>来调节阀口通流面积，达到调节流量的目的</a:t>
            </a:r>
            <a:endParaRPr lang="en-US" altLang="zh-CN" sz="2000" dirty="0">
              <a:solidFill>
                <a:srgbClr val="0070C0"/>
              </a:solidFill>
              <a:latin typeface="微软雅黑" panose="020B0503020204020204" pitchFamily="34" charset="-122"/>
              <a:ea typeface="微软雅黑" panose="020B0503020204020204" pitchFamily="34" charset="-122"/>
            </a:endParaRPr>
          </a:p>
          <a:p>
            <a:pPr marL="342900" indent="-342900">
              <a:lnSpc>
                <a:spcPct val="150000"/>
              </a:lnSpc>
              <a:buFont typeface="Wingdings" panose="05000000000000000000" pitchFamily="2" charset="2"/>
              <a:buChar char="ü"/>
            </a:pPr>
            <a:r>
              <a:rPr lang="zh-CN" altLang="en-US" sz="2000" dirty="0">
                <a:latin typeface="微软雅黑" panose="020B0503020204020204" pitchFamily="34" charset="-122"/>
                <a:ea typeface="微软雅黑" panose="020B0503020204020204" pitchFamily="34" charset="-122"/>
              </a:rPr>
              <a:t>分类：电液</a:t>
            </a:r>
            <a:r>
              <a:rPr lang="zh-CN" altLang="en-US" sz="2000" dirty="0">
                <a:solidFill>
                  <a:srgbClr val="0070C0"/>
                </a:solidFill>
                <a:latin typeface="微软雅黑" panose="020B0503020204020204" pitchFamily="34" charset="-122"/>
                <a:ea typeface="微软雅黑" panose="020B0503020204020204" pitchFamily="34" charset="-122"/>
              </a:rPr>
              <a:t>比例节流阀</a:t>
            </a:r>
            <a:r>
              <a:rPr lang="zh-CN" altLang="en-US" sz="2000" dirty="0">
                <a:latin typeface="微软雅黑" panose="020B0503020204020204" pitchFamily="34" charset="-122"/>
                <a:ea typeface="微软雅黑" panose="020B0503020204020204" pitchFamily="34" charset="-122"/>
              </a:rPr>
              <a:t>和电液</a:t>
            </a:r>
            <a:r>
              <a:rPr lang="zh-CN" altLang="en-US" sz="2000" dirty="0">
                <a:solidFill>
                  <a:srgbClr val="0070C0"/>
                </a:solidFill>
                <a:latin typeface="微软雅黑" panose="020B0503020204020204" pitchFamily="34" charset="-122"/>
                <a:ea typeface="微软雅黑" panose="020B0503020204020204" pitchFamily="34" charset="-122"/>
              </a:rPr>
              <a:t>比例调速阀</a:t>
            </a:r>
            <a:endParaRPr lang="en-US" altLang="zh-CN" sz="2000" dirty="0">
              <a:solidFill>
                <a:srgbClr val="0070C0"/>
              </a:solidFill>
              <a:latin typeface="微软雅黑" panose="020B0503020204020204" pitchFamily="34" charset="-122"/>
              <a:ea typeface="微软雅黑" panose="020B0503020204020204" pitchFamily="34" charset="-122"/>
            </a:endParaRPr>
          </a:p>
          <a:p>
            <a:pPr marL="342900" indent="-342900">
              <a:lnSpc>
                <a:spcPct val="150000"/>
              </a:lnSpc>
              <a:buFont typeface="Wingdings" panose="05000000000000000000" pitchFamily="2" charset="2"/>
              <a:buChar char="ü"/>
            </a:pPr>
            <a:r>
              <a:rPr lang="zh-CN" altLang="en-US" sz="2000" dirty="0">
                <a:latin typeface="微软雅黑" panose="020B0503020204020204" pitchFamily="34" charset="-122"/>
                <a:ea typeface="微软雅黑" panose="020B0503020204020204" pitchFamily="34" charset="-122"/>
              </a:rPr>
              <a:t>与普通节流阀和调速阀最大的不同是</a:t>
            </a:r>
            <a:r>
              <a:rPr lang="zh-CN" altLang="en-US" sz="2000" dirty="0">
                <a:solidFill>
                  <a:srgbClr val="0070C0"/>
                </a:solidFill>
                <a:latin typeface="微软雅黑" panose="020B0503020204020204" pitchFamily="34" charset="-122"/>
                <a:ea typeface="微软雅黑" panose="020B0503020204020204" pitchFamily="34" charset="-122"/>
              </a:rPr>
              <a:t>阀口调节方式</a:t>
            </a:r>
          </a:p>
        </p:txBody>
      </p:sp>
      <p:sp>
        <p:nvSpPr>
          <p:cNvPr id="4" name="矩形 3">
            <a:extLst>
              <a:ext uri="{FF2B5EF4-FFF2-40B4-BE49-F238E27FC236}">
                <a16:creationId xmlns:a16="http://schemas.microsoft.com/office/drawing/2014/main" id="{2EA7B2E4-152C-006C-2DAE-24F2C91ED829}"/>
              </a:ext>
            </a:extLst>
          </p:cNvPr>
          <p:cNvSpPr/>
          <p:nvPr/>
        </p:nvSpPr>
        <p:spPr>
          <a:xfrm>
            <a:off x="6924519" y="4405936"/>
            <a:ext cx="2081426" cy="400110"/>
          </a:xfrm>
          <a:prstGeom prst="rect">
            <a:avLst/>
          </a:prstGeom>
        </p:spPr>
        <p:txBody>
          <a:bodyPr wrap="square">
            <a:spAutoFit/>
          </a:bodyPr>
          <a:lstStyle/>
          <a:p>
            <a:pPr algn="ctr"/>
            <a:r>
              <a:rPr lang="zh-CN" altLang="en-US" sz="2000" dirty="0">
                <a:solidFill>
                  <a:srgbClr val="000000"/>
                </a:solidFill>
                <a:latin typeface="微软雅黑" panose="020B0503020204020204" pitchFamily="34" charset="-122"/>
                <a:ea typeface="微软雅黑" panose="020B0503020204020204" pitchFamily="34" charset="-122"/>
              </a:rPr>
              <a:t>普通调速阀</a:t>
            </a:r>
          </a:p>
        </p:txBody>
      </p:sp>
      <p:sp>
        <p:nvSpPr>
          <p:cNvPr id="6" name="矩形 5">
            <a:extLst>
              <a:ext uri="{FF2B5EF4-FFF2-40B4-BE49-F238E27FC236}">
                <a16:creationId xmlns:a16="http://schemas.microsoft.com/office/drawing/2014/main" id="{CB008122-60E1-B674-C638-72B340351FA4}"/>
              </a:ext>
            </a:extLst>
          </p:cNvPr>
          <p:cNvSpPr/>
          <p:nvPr/>
        </p:nvSpPr>
        <p:spPr>
          <a:xfrm>
            <a:off x="9047820" y="4405935"/>
            <a:ext cx="2081426" cy="400110"/>
          </a:xfrm>
          <a:prstGeom prst="rect">
            <a:avLst/>
          </a:prstGeom>
        </p:spPr>
        <p:txBody>
          <a:bodyPr wrap="square">
            <a:spAutoFit/>
          </a:bodyPr>
          <a:lstStyle/>
          <a:p>
            <a:pPr algn="ctr"/>
            <a:r>
              <a:rPr lang="zh-CN" altLang="en-US" sz="2000" dirty="0">
                <a:solidFill>
                  <a:srgbClr val="000000"/>
                </a:solidFill>
                <a:latin typeface="微软雅黑" panose="020B0503020204020204" pitchFamily="34" charset="-122"/>
                <a:ea typeface="微软雅黑" panose="020B0503020204020204" pitchFamily="34" charset="-122"/>
              </a:rPr>
              <a:t>电比例调速阀</a:t>
            </a:r>
          </a:p>
        </p:txBody>
      </p:sp>
      <p:pic>
        <p:nvPicPr>
          <p:cNvPr id="7" name="图片 6">
            <a:extLst>
              <a:ext uri="{FF2B5EF4-FFF2-40B4-BE49-F238E27FC236}">
                <a16:creationId xmlns:a16="http://schemas.microsoft.com/office/drawing/2014/main" id="{B1E2097E-3C1F-198D-A7A2-AC553041E086}"/>
              </a:ext>
            </a:extLst>
          </p:cNvPr>
          <p:cNvPicPr>
            <a:picLocks noChangeAspect="1"/>
          </p:cNvPicPr>
          <p:nvPr/>
        </p:nvPicPr>
        <p:blipFill>
          <a:blip r:embed="rId9"/>
          <a:stretch>
            <a:fillRect/>
          </a:stretch>
        </p:blipFill>
        <p:spPr>
          <a:xfrm>
            <a:off x="1294388" y="3435763"/>
            <a:ext cx="1283659" cy="984138"/>
          </a:xfrm>
          <a:prstGeom prst="rect">
            <a:avLst/>
          </a:prstGeom>
        </p:spPr>
      </p:pic>
      <p:sp>
        <p:nvSpPr>
          <p:cNvPr id="10" name="矩形 9">
            <a:extLst>
              <a:ext uri="{FF2B5EF4-FFF2-40B4-BE49-F238E27FC236}">
                <a16:creationId xmlns:a16="http://schemas.microsoft.com/office/drawing/2014/main" id="{E1015DF9-1622-FC17-215B-8AE872AEE08D}"/>
              </a:ext>
            </a:extLst>
          </p:cNvPr>
          <p:cNvSpPr/>
          <p:nvPr/>
        </p:nvSpPr>
        <p:spPr>
          <a:xfrm>
            <a:off x="643050" y="4415669"/>
            <a:ext cx="2081426" cy="400110"/>
          </a:xfrm>
          <a:prstGeom prst="rect">
            <a:avLst/>
          </a:prstGeom>
        </p:spPr>
        <p:txBody>
          <a:bodyPr wrap="square">
            <a:spAutoFit/>
          </a:bodyPr>
          <a:lstStyle/>
          <a:p>
            <a:pPr algn="ctr"/>
            <a:r>
              <a:rPr lang="zh-CN" altLang="en-US" sz="2000" dirty="0">
                <a:solidFill>
                  <a:srgbClr val="000000"/>
                </a:solidFill>
                <a:latin typeface="微软雅黑" panose="020B0503020204020204" pitchFamily="34" charset="-122"/>
                <a:ea typeface="微软雅黑" panose="020B0503020204020204" pitchFamily="34" charset="-122"/>
              </a:rPr>
              <a:t>普通节流阀</a:t>
            </a:r>
          </a:p>
        </p:txBody>
      </p:sp>
      <p:sp>
        <p:nvSpPr>
          <p:cNvPr id="11" name="矩形 10">
            <a:extLst>
              <a:ext uri="{FF2B5EF4-FFF2-40B4-BE49-F238E27FC236}">
                <a16:creationId xmlns:a16="http://schemas.microsoft.com/office/drawing/2014/main" id="{3C1C06A1-8BFA-CD11-CABE-FA74DA530938}"/>
              </a:ext>
            </a:extLst>
          </p:cNvPr>
          <p:cNvSpPr/>
          <p:nvPr/>
        </p:nvSpPr>
        <p:spPr>
          <a:xfrm>
            <a:off x="2780150" y="4460253"/>
            <a:ext cx="2081426" cy="400110"/>
          </a:xfrm>
          <a:prstGeom prst="rect">
            <a:avLst/>
          </a:prstGeom>
        </p:spPr>
        <p:txBody>
          <a:bodyPr wrap="square">
            <a:spAutoFit/>
          </a:bodyPr>
          <a:lstStyle/>
          <a:p>
            <a:pPr algn="ctr"/>
            <a:r>
              <a:rPr lang="zh-CN" altLang="en-US" sz="2000" dirty="0">
                <a:solidFill>
                  <a:srgbClr val="000000"/>
                </a:solidFill>
                <a:latin typeface="微软雅黑" panose="020B0503020204020204" pitchFamily="34" charset="-122"/>
                <a:ea typeface="微软雅黑" panose="020B0503020204020204" pitchFamily="34" charset="-122"/>
              </a:rPr>
              <a:t>电比例节流阀</a:t>
            </a:r>
            <a:endParaRPr lang="zh-CN" altLang="en-US" sz="2000" dirty="0">
              <a:latin typeface="微软雅黑" panose="020B0503020204020204" pitchFamily="34" charset="-122"/>
              <a:ea typeface="微软雅黑" panose="020B0503020204020204" pitchFamily="34" charset="-122"/>
            </a:endParaRPr>
          </a:p>
        </p:txBody>
      </p:sp>
      <mc:AlternateContent xmlns:mc="http://schemas.openxmlformats.org/markup-compatibility/2006" xmlns:a14="http://schemas.microsoft.com/office/drawing/2010/main">
        <mc:Choice Requires="a14">
          <p:sp>
            <p:nvSpPr>
              <p:cNvPr id="23" name="矩形 22">
                <a:extLst>
                  <a:ext uri="{FF2B5EF4-FFF2-40B4-BE49-F238E27FC236}">
                    <a16:creationId xmlns:a16="http://schemas.microsoft.com/office/drawing/2014/main" id="{477A6FDB-DE61-F761-340D-0EC2D598799B}"/>
                  </a:ext>
                </a:extLst>
              </p:cNvPr>
              <p:cNvSpPr/>
              <p:nvPr/>
            </p:nvSpPr>
            <p:spPr>
              <a:xfrm>
                <a:off x="1065565" y="3772523"/>
                <a:ext cx="415195" cy="369332"/>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i="1" kern="0" smtClean="0">
                          <a:solidFill>
                            <a:schemeClr val="tx1"/>
                          </a:solidFill>
                          <a:latin typeface="Cambria Math" panose="02040503050406030204" pitchFamily="18" charset="0"/>
                          <a:ea typeface="Cambria Math" panose="02040503050406030204" pitchFamily="18" charset="0"/>
                        </a:rPr>
                        <m:t>𝑝</m:t>
                      </m:r>
                      <m:r>
                        <a:rPr lang="en-US" altLang="zh-CN" b="0" i="1" kern="0" smtClean="0">
                          <a:solidFill>
                            <a:schemeClr val="tx1"/>
                          </a:solidFill>
                          <a:latin typeface="Cambria Math" panose="02040503050406030204" pitchFamily="18" charset="0"/>
                          <a:ea typeface="Cambria Math" panose="02040503050406030204" pitchFamily="18" charset="0"/>
                        </a:rPr>
                        <m:t>1</m:t>
                      </m:r>
                    </m:oMath>
                  </m:oMathPara>
                </a14:m>
                <a:endParaRPr lang="en-US" dirty="0">
                  <a:solidFill>
                    <a:schemeClr val="tx1"/>
                  </a:solidFill>
                </a:endParaRPr>
              </a:p>
            </p:txBody>
          </p:sp>
        </mc:Choice>
        <mc:Fallback xmlns="">
          <p:sp>
            <p:nvSpPr>
              <p:cNvPr id="23" name="矩形 22">
                <a:extLst>
                  <a:ext uri="{FF2B5EF4-FFF2-40B4-BE49-F238E27FC236}">
                    <a16:creationId xmlns:a16="http://schemas.microsoft.com/office/drawing/2014/main" id="{477A6FDB-DE61-F761-340D-0EC2D598799B}"/>
                  </a:ext>
                </a:extLst>
              </p:cNvPr>
              <p:cNvSpPr>
                <a:spLocks noRot="1" noChangeAspect="1" noMove="1" noResize="1" noEditPoints="1" noAdjustHandles="1" noChangeArrowheads="1" noChangeShapeType="1" noTextEdit="1"/>
              </p:cNvSpPr>
              <p:nvPr/>
            </p:nvSpPr>
            <p:spPr>
              <a:xfrm>
                <a:off x="1065565" y="3772523"/>
                <a:ext cx="415195" cy="369332"/>
              </a:xfrm>
              <a:prstGeom prst="rect">
                <a:avLst/>
              </a:prstGeom>
              <a:blipFill>
                <a:blip r:embed="rId10"/>
                <a:stretch>
                  <a:fillRect r="-2941" b="-8333"/>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4" name="矩形 23">
                <a:extLst>
                  <a:ext uri="{FF2B5EF4-FFF2-40B4-BE49-F238E27FC236}">
                    <a16:creationId xmlns:a16="http://schemas.microsoft.com/office/drawing/2014/main" id="{D95905DB-15CE-D85E-2AA6-2A5309E4C11C}"/>
                  </a:ext>
                </a:extLst>
              </p:cNvPr>
              <p:cNvSpPr/>
              <p:nvPr/>
            </p:nvSpPr>
            <p:spPr>
              <a:xfrm>
                <a:off x="2336332" y="3804845"/>
                <a:ext cx="518310" cy="369332"/>
              </a:xfrm>
              <a:prstGeom prst="rect">
                <a:avLst/>
              </a:prstGeom>
            </p:spPr>
            <p:txBody>
              <a:bodyPr wrap="square">
                <a:spAutoFit/>
              </a:bodyPr>
              <a:lstStyle/>
              <a:p>
                <a14:m>
                  <m:oMath xmlns:m="http://schemas.openxmlformats.org/officeDocument/2006/math">
                    <m:r>
                      <a:rPr lang="en-US" altLang="zh-CN" i="1" kern="0" smtClean="0">
                        <a:solidFill>
                          <a:schemeClr val="tx1"/>
                        </a:solidFill>
                        <a:latin typeface="Cambria Math" panose="02040503050406030204" pitchFamily="18" charset="0"/>
                        <a:ea typeface="Cambria Math" panose="02040503050406030204" pitchFamily="18" charset="0"/>
                      </a:rPr>
                      <m:t>𝑝</m:t>
                    </m:r>
                  </m:oMath>
                </a14:m>
                <a:r>
                  <a:rPr lang="en-US" dirty="0">
                    <a:solidFill>
                      <a:schemeClr val="tx1"/>
                    </a:solidFill>
                  </a:rPr>
                  <a:t>2</a:t>
                </a:r>
              </a:p>
            </p:txBody>
          </p:sp>
        </mc:Choice>
        <mc:Fallback xmlns="">
          <p:sp>
            <p:nvSpPr>
              <p:cNvPr id="24" name="矩形 23">
                <a:extLst>
                  <a:ext uri="{FF2B5EF4-FFF2-40B4-BE49-F238E27FC236}">
                    <a16:creationId xmlns:a16="http://schemas.microsoft.com/office/drawing/2014/main" id="{D95905DB-15CE-D85E-2AA6-2A5309E4C11C}"/>
                  </a:ext>
                </a:extLst>
              </p:cNvPr>
              <p:cNvSpPr>
                <a:spLocks noRot="1" noChangeAspect="1" noMove="1" noResize="1" noEditPoints="1" noAdjustHandles="1" noChangeArrowheads="1" noChangeShapeType="1" noTextEdit="1"/>
              </p:cNvSpPr>
              <p:nvPr/>
            </p:nvSpPr>
            <p:spPr>
              <a:xfrm>
                <a:off x="2336332" y="3804845"/>
                <a:ext cx="518310" cy="369332"/>
              </a:xfrm>
              <a:prstGeom prst="rect">
                <a:avLst/>
              </a:prstGeom>
              <a:blipFill>
                <a:blip r:embed="rId11"/>
                <a:stretch>
                  <a:fillRect t="-8197" b="-24590"/>
                </a:stretch>
              </a:blipFill>
            </p:spPr>
            <p:txBody>
              <a:bodyPr/>
              <a:lstStyle/>
              <a:p>
                <a:r>
                  <a:rPr lang="zh-CN" altLang="en-US">
                    <a:noFill/>
                  </a:rPr>
                  <a:t> </a:t>
                </a:r>
              </a:p>
            </p:txBody>
          </p:sp>
        </mc:Fallback>
      </mc:AlternateContent>
      <p:sp>
        <p:nvSpPr>
          <p:cNvPr id="40" name="矩形 39">
            <a:extLst>
              <a:ext uri="{FF2B5EF4-FFF2-40B4-BE49-F238E27FC236}">
                <a16:creationId xmlns:a16="http://schemas.microsoft.com/office/drawing/2014/main" id="{FC095B14-BEA9-4251-50D1-D4DECCE9FE36}"/>
              </a:ext>
            </a:extLst>
          </p:cNvPr>
          <p:cNvSpPr/>
          <p:nvPr/>
        </p:nvSpPr>
        <p:spPr>
          <a:xfrm>
            <a:off x="4234455" y="3635913"/>
            <a:ext cx="432048" cy="432048"/>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1" name="直接连接符 40">
            <a:extLst>
              <a:ext uri="{FF2B5EF4-FFF2-40B4-BE49-F238E27FC236}">
                <a16:creationId xmlns:a16="http://schemas.microsoft.com/office/drawing/2014/main" id="{4B7223C1-791F-4CDE-D8F8-EE86C024619B}"/>
              </a:ext>
            </a:extLst>
          </p:cNvPr>
          <p:cNvCxnSpPr>
            <a:cxnSpLocks/>
          </p:cNvCxnSpPr>
          <p:nvPr/>
        </p:nvCxnSpPr>
        <p:spPr>
          <a:xfrm>
            <a:off x="4450479" y="3635913"/>
            <a:ext cx="0" cy="432048"/>
          </a:xfrm>
          <a:prstGeom prst="line">
            <a:avLst/>
          </a:prstGeom>
          <a:ln w="19050">
            <a:solidFill>
              <a:schemeClr val="tx1"/>
            </a:solidFill>
            <a:headEnd type="triangle" w="med" len="lg"/>
            <a:tailEnd type="triangle" w="med" len="lg"/>
          </a:ln>
        </p:spPr>
        <p:style>
          <a:lnRef idx="1">
            <a:schemeClr val="accent1"/>
          </a:lnRef>
          <a:fillRef idx="0">
            <a:schemeClr val="accent1"/>
          </a:fillRef>
          <a:effectRef idx="0">
            <a:schemeClr val="accent1"/>
          </a:effectRef>
          <a:fontRef idx="minor">
            <a:schemeClr val="tx1"/>
          </a:fontRef>
        </p:style>
      </p:cxnSp>
      <p:sp>
        <p:nvSpPr>
          <p:cNvPr id="42" name="矩形 41">
            <a:extLst>
              <a:ext uri="{FF2B5EF4-FFF2-40B4-BE49-F238E27FC236}">
                <a16:creationId xmlns:a16="http://schemas.microsoft.com/office/drawing/2014/main" id="{42FFC4DC-9978-4712-7544-F14AF0FB06A3}"/>
              </a:ext>
            </a:extLst>
          </p:cNvPr>
          <p:cNvSpPr/>
          <p:nvPr/>
        </p:nvSpPr>
        <p:spPr>
          <a:xfrm>
            <a:off x="3802407" y="3635913"/>
            <a:ext cx="432048" cy="432048"/>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3" name="直接连接符 42">
            <a:extLst>
              <a:ext uri="{FF2B5EF4-FFF2-40B4-BE49-F238E27FC236}">
                <a16:creationId xmlns:a16="http://schemas.microsoft.com/office/drawing/2014/main" id="{E20F465A-FFD8-88E3-0129-7B4ED53C5C36}"/>
              </a:ext>
            </a:extLst>
          </p:cNvPr>
          <p:cNvCxnSpPr>
            <a:cxnSpLocks/>
          </p:cNvCxnSpPr>
          <p:nvPr/>
        </p:nvCxnSpPr>
        <p:spPr>
          <a:xfrm>
            <a:off x="4018431" y="3419889"/>
            <a:ext cx="0" cy="36004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0850E1C0-BFA6-B644-F36F-D5A17290F8D2}"/>
              </a:ext>
            </a:extLst>
          </p:cNvPr>
          <p:cNvCxnSpPr>
            <a:cxnSpLocks/>
          </p:cNvCxnSpPr>
          <p:nvPr/>
        </p:nvCxnSpPr>
        <p:spPr>
          <a:xfrm>
            <a:off x="4018431" y="3923945"/>
            <a:ext cx="0" cy="28803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DE91927A-7067-3F45-CA4F-69BF1CACEDE1}"/>
              </a:ext>
            </a:extLst>
          </p:cNvPr>
          <p:cNvCxnSpPr>
            <a:cxnSpLocks/>
          </p:cNvCxnSpPr>
          <p:nvPr/>
        </p:nvCxnSpPr>
        <p:spPr>
          <a:xfrm>
            <a:off x="3946423" y="3923945"/>
            <a:ext cx="1524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FB7B59AA-5BD1-F4DD-EB7F-BF1F2D9DA2BD}"/>
              </a:ext>
            </a:extLst>
          </p:cNvPr>
          <p:cNvCxnSpPr>
            <a:cxnSpLocks/>
          </p:cNvCxnSpPr>
          <p:nvPr/>
        </p:nvCxnSpPr>
        <p:spPr>
          <a:xfrm>
            <a:off x="3946423" y="3779929"/>
            <a:ext cx="1524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B2FBC9BB-7A64-4A4A-57D9-036FFDF80FE7}"/>
              </a:ext>
            </a:extLst>
          </p:cNvPr>
          <p:cNvCxnSpPr>
            <a:cxnSpLocks/>
          </p:cNvCxnSpPr>
          <p:nvPr/>
        </p:nvCxnSpPr>
        <p:spPr>
          <a:xfrm>
            <a:off x="3802407" y="3563905"/>
            <a:ext cx="85571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606A3AD8-3BC1-B8A0-C2A6-B3E3D85832A5}"/>
              </a:ext>
            </a:extLst>
          </p:cNvPr>
          <p:cNvCxnSpPr>
            <a:cxnSpLocks/>
          </p:cNvCxnSpPr>
          <p:nvPr/>
        </p:nvCxnSpPr>
        <p:spPr>
          <a:xfrm>
            <a:off x="3802407" y="4139969"/>
            <a:ext cx="85571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9" name="组合 48">
            <a:extLst>
              <a:ext uri="{FF2B5EF4-FFF2-40B4-BE49-F238E27FC236}">
                <a16:creationId xmlns:a16="http://schemas.microsoft.com/office/drawing/2014/main" id="{FC6C22AE-802E-E643-132F-7F38DB08A546}"/>
              </a:ext>
            </a:extLst>
          </p:cNvPr>
          <p:cNvGrpSpPr/>
          <p:nvPr/>
        </p:nvGrpSpPr>
        <p:grpSpPr>
          <a:xfrm>
            <a:off x="3444606" y="3749471"/>
            <a:ext cx="360039" cy="216018"/>
            <a:chOff x="3059837" y="2420888"/>
            <a:chExt cx="360035" cy="144017"/>
          </a:xfrm>
        </p:grpSpPr>
        <p:sp>
          <p:nvSpPr>
            <p:cNvPr id="54" name="矩形 53">
              <a:extLst>
                <a:ext uri="{FF2B5EF4-FFF2-40B4-BE49-F238E27FC236}">
                  <a16:creationId xmlns:a16="http://schemas.microsoft.com/office/drawing/2014/main" id="{19A73265-FEF4-095B-EE8C-C56D7F9A66D4}"/>
                </a:ext>
              </a:extLst>
            </p:cNvPr>
            <p:cNvSpPr/>
            <p:nvPr/>
          </p:nvSpPr>
          <p:spPr>
            <a:xfrm>
              <a:off x="3059837" y="2420888"/>
              <a:ext cx="360035" cy="144016"/>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zh-CN" altLang="en-US"/>
            </a:p>
          </p:txBody>
        </p:sp>
        <p:sp>
          <p:nvSpPr>
            <p:cNvPr id="55" name="等腰三角形 54">
              <a:extLst>
                <a:ext uri="{FF2B5EF4-FFF2-40B4-BE49-F238E27FC236}">
                  <a16:creationId xmlns:a16="http://schemas.microsoft.com/office/drawing/2014/main" id="{17E603C6-A3FD-C2BA-05D0-E375721089A2}"/>
                </a:ext>
              </a:extLst>
            </p:cNvPr>
            <p:cNvSpPr/>
            <p:nvPr/>
          </p:nvSpPr>
          <p:spPr>
            <a:xfrm rot="5400000">
              <a:off x="3090571" y="2390179"/>
              <a:ext cx="143992" cy="205460"/>
            </a:xfrm>
            <a:prstGeom prst="triangle">
              <a:avLst/>
            </a:prstGeom>
            <a:solidFill>
              <a:schemeClr val="tx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zh-CN" altLang="en-US"/>
            </a:p>
          </p:txBody>
        </p:sp>
      </p:grpSp>
      <p:sp>
        <p:nvSpPr>
          <p:cNvPr id="50" name="矩形 49">
            <a:extLst>
              <a:ext uri="{FF2B5EF4-FFF2-40B4-BE49-F238E27FC236}">
                <a16:creationId xmlns:a16="http://schemas.microsoft.com/office/drawing/2014/main" id="{96D7983C-F599-9C4B-A155-40F42C7ACE93}"/>
              </a:ext>
            </a:extLst>
          </p:cNvPr>
          <p:cNvSpPr/>
          <p:nvPr/>
        </p:nvSpPr>
        <p:spPr>
          <a:xfrm>
            <a:off x="3084567" y="3749470"/>
            <a:ext cx="360039" cy="216017"/>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zh-CN" altLang="en-US"/>
          </a:p>
        </p:txBody>
      </p:sp>
      <p:cxnSp>
        <p:nvCxnSpPr>
          <p:cNvPr id="51" name="直接连接符 50">
            <a:extLst>
              <a:ext uri="{FF2B5EF4-FFF2-40B4-BE49-F238E27FC236}">
                <a16:creationId xmlns:a16="http://schemas.microsoft.com/office/drawing/2014/main" id="{648D3E07-937E-093C-1BC8-A29C96562CD7}"/>
              </a:ext>
            </a:extLst>
          </p:cNvPr>
          <p:cNvCxnSpPr>
            <a:cxnSpLocks/>
          </p:cNvCxnSpPr>
          <p:nvPr/>
        </p:nvCxnSpPr>
        <p:spPr>
          <a:xfrm flipH="1">
            <a:off x="3214322" y="3749463"/>
            <a:ext cx="124131" cy="216024"/>
          </a:xfrm>
          <a:prstGeom prst="lin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cxnSp>
      <p:cxnSp>
        <p:nvCxnSpPr>
          <p:cNvPr id="52" name="直接连接符 51">
            <a:extLst>
              <a:ext uri="{FF2B5EF4-FFF2-40B4-BE49-F238E27FC236}">
                <a16:creationId xmlns:a16="http://schemas.microsoft.com/office/drawing/2014/main" id="{3103A2AA-6851-077D-721A-9C4E9C76E40B}"/>
              </a:ext>
            </a:extLst>
          </p:cNvPr>
          <p:cNvCxnSpPr>
            <a:cxnSpLocks/>
          </p:cNvCxnSpPr>
          <p:nvPr/>
        </p:nvCxnSpPr>
        <p:spPr>
          <a:xfrm flipH="1" flipV="1">
            <a:off x="3198160" y="3533439"/>
            <a:ext cx="140294" cy="576064"/>
          </a:xfrm>
          <a:prstGeom prst="line">
            <a:avLst/>
          </a:prstGeom>
          <a:solidFill>
            <a:schemeClr val="bg1"/>
          </a:solidFill>
          <a:ln w="19050">
            <a:solidFill>
              <a:schemeClr val="tx1"/>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cxnSp>
      <p:sp>
        <p:nvSpPr>
          <p:cNvPr id="53" name="任意多边形: 形状 32">
            <a:extLst>
              <a:ext uri="{FF2B5EF4-FFF2-40B4-BE49-F238E27FC236}">
                <a16:creationId xmlns:a16="http://schemas.microsoft.com/office/drawing/2014/main" id="{B15858EB-983F-A501-543E-E8B32C9F759A}"/>
              </a:ext>
            </a:extLst>
          </p:cNvPr>
          <p:cNvSpPr/>
          <p:nvPr/>
        </p:nvSpPr>
        <p:spPr>
          <a:xfrm rot="16200000" flipV="1">
            <a:off x="4765996" y="3685158"/>
            <a:ext cx="215981" cy="349878"/>
          </a:xfrm>
          <a:custGeom>
            <a:avLst/>
            <a:gdLst>
              <a:gd name="connsiteX0" fmla="*/ 152400 w 266700"/>
              <a:gd name="connsiteY0" fmla="*/ 342900 h 342900"/>
              <a:gd name="connsiteX1" fmla="*/ 0 w 266700"/>
              <a:gd name="connsiteY1" fmla="*/ 295275 h 342900"/>
              <a:gd name="connsiteX2" fmla="*/ 238125 w 266700"/>
              <a:gd name="connsiteY2" fmla="*/ 247650 h 342900"/>
              <a:gd name="connsiteX3" fmla="*/ 9525 w 266700"/>
              <a:gd name="connsiteY3" fmla="*/ 209550 h 342900"/>
              <a:gd name="connsiteX4" fmla="*/ 257175 w 266700"/>
              <a:gd name="connsiteY4" fmla="*/ 161925 h 342900"/>
              <a:gd name="connsiteX5" fmla="*/ 9525 w 266700"/>
              <a:gd name="connsiteY5" fmla="*/ 104775 h 342900"/>
              <a:gd name="connsiteX6" fmla="*/ 266700 w 266700"/>
              <a:gd name="connsiteY6" fmla="*/ 66675 h 342900"/>
              <a:gd name="connsiteX7" fmla="*/ 9525 w 266700"/>
              <a:gd name="connsiteY7" fmla="*/ 0 h 342900"/>
              <a:gd name="connsiteX0" fmla="*/ 150019 w 264319"/>
              <a:gd name="connsiteY0" fmla="*/ 342900 h 342900"/>
              <a:gd name="connsiteX1" fmla="*/ 0 w 264319"/>
              <a:gd name="connsiteY1" fmla="*/ 290513 h 342900"/>
              <a:gd name="connsiteX2" fmla="*/ 235744 w 264319"/>
              <a:gd name="connsiteY2" fmla="*/ 247650 h 342900"/>
              <a:gd name="connsiteX3" fmla="*/ 7144 w 264319"/>
              <a:gd name="connsiteY3" fmla="*/ 209550 h 342900"/>
              <a:gd name="connsiteX4" fmla="*/ 254794 w 264319"/>
              <a:gd name="connsiteY4" fmla="*/ 161925 h 342900"/>
              <a:gd name="connsiteX5" fmla="*/ 7144 w 264319"/>
              <a:gd name="connsiteY5" fmla="*/ 104775 h 342900"/>
              <a:gd name="connsiteX6" fmla="*/ 264319 w 264319"/>
              <a:gd name="connsiteY6" fmla="*/ 66675 h 342900"/>
              <a:gd name="connsiteX7" fmla="*/ 7144 w 264319"/>
              <a:gd name="connsiteY7" fmla="*/ 0 h 342900"/>
              <a:gd name="connsiteX0" fmla="*/ 150019 w 264319"/>
              <a:gd name="connsiteY0" fmla="*/ 342900 h 342900"/>
              <a:gd name="connsiteX1" fmla="*/ 0 w 264319"/>
              <a:gd name="connsiteY1" fmla="*/ 290513 h 342900"/>
              <a:gd name="connsiteX2" fmla="*/ 257175 w 264319"/>
              <a:gd name="connsiteY2" fmla="*/ 247650 h 342900"/>
              <a:gd name="connsiteX3" fmla="*/ 7144 w 264319"/>
              <a:gd name="connsiteY3" fmla="*/ 209550 h 342900"/>
              <a:gd name="connsiteX4" fmla="*/ 254794 w 264319"/>
              <a:gd name="connsiteY4" fmla="*/ 161925 h 342900"/>
              <a:gd name="connsiteX5" fmla="*/ 7144 w 264319"/>
              <a:gd name="connsiteY5" fmla="*/ 104775 h 342900"/>
              <a:gd name="connsiteX6" fmla="*/ 264319 w 264319"/>
              <a:gd name="connsiteY6" fmla="*/ 66675 h 342900"/>
              <a:gd name="connsiteX7" fmla="*/ 7144 w 264319"/>
              <a:gd name="connsiteY7" fmla="*/ 0 h 342900"/>
              <a:gd name="connsiteX0" fmla="*/ 150019 w 266700"/>
              <a:gd name="connsiteY0" fmla="*/ 342900 h 342900"/>
              <a:gd name="connsiteX1" fmla="*/ 0 w 266700"/>
              <a:gd name="connsiteY1" fmla="*/ 290513 h 342900"/>
              <a:gd name="connsiteX2" fmla="*/ 257175 w 266700"/>
              <a:gd name="connsiteY2" fmla="*/ 247650 h 342900"/>
              <a:gd name="connsiteX3" fmla="*/ 7144 w 266700"/>
              <a:gd name="connsiteY3" fmla="*/ 209550 h 342900"/>
              <a:gd name="connsiteX4" fmla="*/ 254794 w 266700"/>
              <a:gd name="connsiteY4" fmla="*/ 161925 h 342900"/>
              <a:gd name="connsiteX5" fmla="*/ 7144 w 266700"/>
              <a:gd name="connsiteY5" fmla="*/ 104775 h 342900"/>
              <a:gd name="connsiteX6" fmla="*/ 266700 w 266700"/>
              <a:gd name="connsiteY6" fmla="*/ 57150 h 342900"/>
              <a:gd name="connsiteX7" fmla="*/ 7144 w 266700"/>
              <a:gd name="connsiteY7" fmla="*/ 0 h 342900"/>
              <a:gd name="connsiteX0" fmla="*/ 150019 w 261937"/>
              <a:gd name="connsiteY0" fmla="*/ 342900 h 342900"/>
              <a:gd name="connsiteX1" fmla="*/ 0 w 261937"/>
              <a:gd name="connsiteY1" fmla="*/ 290513 h 342900"/>
              <a:gd name="connsiteX2" fmla="*/ 257175 w 261937"/>
              <a:gd name="connsiteY2" fmla="*/ 247650 h 342900"/>
              <a:gd name="connsiteX3" fmla="*/ 7144 w 261937"/>
              <a:gd name="connsiteY3" fmla="*/ 209550 h 342900"/>
              <a:gd name="connsiteX4" fmla="*/ 254794 w 261937"/>
              <a:gd name="connsiteY4" fmla="*/ 161925 h 342900"/>
              <a:gd name="connsiteX5" fmla="*/ 7144 w 261937"/>
              <a:gd name="connsiteY5" fmla="*/ 104775 h 342900"/>
              <a:gd name="connsiteX6" fmla="*/ 261937 w 261937"/>
              <a:gd name="connsiteY6" fmla="*/ 69057 h 342900"/>
              <a:gd name="connsiteX7" fmla="*/ 7144 w 261937"/>
              <a:gd name="connsiteY7" fmla="*/ 0 h 342900"/>
              <a:gd name="connsiteX0" fmla="*/ 154781 w 266699"/>
              <a:gd name="connsiteY0" fmla="*/ 345281 h 345281"/>
              <a:gd name="connsiteX1" fmla="*/ 4762 w 266699"/>
              <a:gd name="connsiteY1" fmla="*/ 292894 h 345281"/>
              <a:gd name="connsiteX2" fmla="*/ 261937 w 266699"/>
              <a:gd name="connsiteY2" fmla="*/ 250031 h 345281"/>
              <a:gd name="connsiteX3" fmla="*/ 11906 w 266699"/>
              <a:gd name="connsiteY3" fmla="*/ 211931 h 345281"/>
              <a:gd name="connsiteX4" fmla="*/ 259556 w 266699"/>
              <a:gd name="connsiteY4" fmla="*/ 164306 h 345281"/>
              <a:gd name="connsiteX5" fmla="*/ 11906 w 266699"/>
              <a:gd name="connsiteY5" fmla="*/ 107156 h 345281"/>
              <a:gd name="connsiteX6" fmla="*/ 266699 w 266699"/>
              <a:gd name="connsiteY6" fmla="*/ 71438 h 345281"/>
              <a:gd name="connsiteX7" fmla="*/ 0 w 266699"/>
              <a:gd name="connsiteY7" fmla="*/ 0 h 345281"/>
              <a:gd name="connsiteX0" fmla="*/ 154782 w 266700"/>
              <a:gd name="connsiteY0" fmla="*/ 345281 h 345281"/>
              <a:gd name="connsiteX1" fmla="*/ 4763 w 266700"/>
              <a:gd name="connsiteY1" fmla="*/ 292894 h 345281"/>
              <a:gd name="connsiteX2" fmla="*/ 261938 w 266700"/>
              <a:gd name="connsiteY2" fmla="*/ 250031 h 345281"/>
              <a:gd name="connsiteX3" fmla="*/ 0 w 266700"/>
              <a:gd name="connsiteY3" fmla="*/ 204787 h 345281"/>
              <a:gd name="connsiteX4" fmla="*/ 259557 w 266700"/>
              <a:gd name="connsiteY4" fmla="*/ 164306 h 345281"/>
              <a:gd name="connsiteX5" fmla="*/ 11907 w 266700"/>
              <a:gd name="connsiteY5" fmla="*/ 107156 h 345281"/>
              <a:gd name="connsiteX6" fmla="*/ 266700 w 266700"/>
              <a:gd name="connsiteY6" fmla="*/ 71438 h 345281"/>
              <a:gd name="connsiteX7" fmla="*/ 1 w 266700"/>
              <a:gd name="connsiteY7" fmla="*/ 0 h 345281"/>
              <a:gd name="connsiteX0" fmla="*/ 157162 w 269080"/>
              <a:gd name="connsiteY0" fmla="*/ 345281 h 345281"/>
              <a:gd name="connsiteX1" fmla="*/ 7143 w 269080"/>
              <a:gd name="connsiteY1" fmla="*/ 292894 h 345281"/>
              <a:gd name="connsiteX2" fmla="*/ 264318 w 269080"/>
              <a:gd name="connsiteY2" fmla="*/ 250031 h 345281"/>
              <a:gd name="connsiteX3" fmla="*/ 2380 w 269080"/>
              <a:gd name="connsiteY3" fmla="*/ 204787 h 345281"/>
              <a:gd name="connsiteX4" fmla="*/ 261937 w 269080"/>
              <a:gd name="connsiteY4" fmla="*/ 164306 h 345281"/>
              <a:gd name="connsiteX5" fmla="*/ 0 w 269080"/>
              <a:gd name="connsiteY5" fmla="*/ 104775 h 345281"/>
              <a:gd name="connsiteX6" fmla="*/ 269080 w 269080"/>
              <a:gd name="connsiteY6" fmla="*/ 71438 h 345281"/>
              <a:gd name="connsiteX7" fmla="*/ 2381 w 269080"/>
              <a:gd name="connsiteY7" fmla="*/ 0 h 345281"/>
              <a:gd name="connsiteX0" fmla="*/ 164305 w 269080"/>
              <a:gd name="connsiteY0" fmla="*/ 328612 h 328612"/>
              <a:gd name="connsiteX1" fmla="*/ 7143 w 269080"/>
              <a:gd name="connsiteY1" fmla="*/ 292894 h 328612"/>
              <a:gd name="connsiteX2" fmla="*/ 264318 w 269080"/>
              <a:gd name="connsiteY2" fmla="*/ 250031 h 328612"/>
              <a:gd name="connsiteX3" fmla="*/ 2380 w 269080"/>
              <a:gd name="connsiteY3" fmla="*/ 204787 h 328612"/>
              <a:gd name="connsiteX4" fmla="*/ 261937 w 269080"/>
              <a:gd name="connsiteY4" fmla="*/ 164306 h 328612"/>
              <a:gd name="connsiteX5" fmla="*/ 0 w 269080"/>
              <a:gd name="connsiteY5" fmla="*/ 104775 h 328612"/>
              <a:gd name="connsiteX6" fmla="*/ 269080 w 269080"/>
              <a:gd name="connsiteY6" fmla="*/ 71438 h 328612"/>
              <a:gd name="connsiteX7" fmla="*/ 2381 w 269080"/>
              <a:gd name="connsiteY7" fmla="*/ 0 h 328612"/>
              <a:gd name="connsiteX0" fmla="*/ 164305 w 269080"/>
              <a:gd name="connsiteY0" fmla="*/ 302103 h 302103"/>
              <a:gd name="connsiteX1" fmla="*/ 7143 w 269080"/>
              <a:gd name="connsiteY1" fmla="*/ 266385 h 302103"/>
              <a:gd name="connsiteX2" fmla="*/ 264318 w 269080"/>
              <a:gd name="connsiteY2" fmla="*/ 223522 h 302103"/>
              <a:gd name="connsiteX3" fmla="*/ 2380 w 269080"/>
              <a:gd name="connsiteY3" fmla="*/ 178278 h 302103"/>
              <a:gd name="connsiteX4" fmla="*/ 261937 w 269080"/>
              <a:gd name="connsiteY4" fmla="*/ 137797 h 302103"/>
              <a:gd name="connsiteX5" fmla="*/ 0 w 269080"/>
              <a:gd name="connsiteY5" fmla="*/ 78266 h 302103"/>
              <a:gd name="connsiteX6" fmla="*/ 269080 w 269080"/>
              <a:gd name="connsiteY6" fmla="*/ 44929 h 302103"/>
              <a:gd name="connsiteX7" fmla="*/ 106618 w 269080"/>
              <a:gd name="connsiteY7" fmla="*/ 0 h 3021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9080" h="302103">
                <a:moveTo>
                  <a:pt x="164305" y="302103"/>
                </a:moveTo>
                <a:lnTo>
                  <a:pt x="7143" y="266385"/>
                </a:lnTo>
                <a:lnTo>
                  <a:pt x="264318" y="223522"/>
                </a:lnTo>
                <a:lnTo>
                  <a:pt x="2380" y="178278"/>
                </a:lnTo>
                <a:lnTo>
                  <a:pt x="261937" y="137797"/>
                </a:lnTo>
                <a:lnTo>
                  <a:pt x="0" y="78266"/>
                </a:lnTo>
                <a:lnTo>
                  <a:pt x="269080" y="44929"/>
                </a:lnTo>
                <a:cubicBezTo>
                  <a:pt x="180180" y="21116"/>
                  <a:pt x="195518" y="23813"/>
                  <a:pt x="106618" y="0"/>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mc:AlternateContent xmlns:mc="http://schemas.openxmlformats.org/markup-compatibility/2006" xmlns:a14="http://schemas.microsoft.com/office/drawing/2010/main">
        <mc:Choice Requires="a14">
          <p:sp>
            <p:nvSpPr>
              <p:cNvPr id="56" name="矩形 55">
                <a:extLst>
                  <a:ext uri="{FF2B5EF4-FFF2-40B4-BE49-F238E27FC236}">
                    <a16:creationId xmlns:a16="http://schemas.microsoft.com/office/drawing/2014/main" id="{39A5342E-41F2-1B17-D003-1E553E436547}"/>
                  </a:ext>
                </a:extLst>
              </p:cNvPr>
              <p:cNvSpPr/>
              <p:nvPr/>
            </p:nvSpPr>
            <p:spPr>
              <a:xfrm>
                <a:off x="3815068" y="4168493"/>
                <a:ext cx="415195" cy="369332"/>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i="1" kern="0" smtClean="0">
                          <a:solidFill>
                            <a:schemeClr val="tx1"/>
                          </a:solidFill>
                          <a:latin typeface="Cambria Math" panose="02040503050406030204" pitchFamily="18" charset="0"/>
                          <a:ea typeface="Cambria Math" panose="02040503050406030204" pitchFamily="18" charset="0"/>
                        </a:rPr>
                        <m:t>𝑝</m:t>
                      </m:r>
                      <m:r>
                        <a:rPr lang="en-US" altLang="zh-CN" b="0" i="1" kern="0" smtClean="0">
                          <a:solidFill>
                            <a:schemeClr val="tx1"/>
                          </a:solidFill>
                          <a:latin typeface="Cambria Math" panose="02040503050406030204" pitchFamily="18" charset="0"/>
                          <a:ea typeface="Cambria Math" panose="02040503050406030204" pitchFamily="18" charset="0"/>
                        </a:rPr>
                        <m:t>1</m:t>
                      </m:r>
                    </m:oMath>
                  </m:oMathPara>
                </a14:m>
                <a:endParaRPr lang="en-US" dirty="0">
                  <a:solidFill>
                    <a:schemeClr val="tx1"/>
                  </a:solidFill>
                </a:endParaRPr>
              </a:p>
            </p:txBody>
          </p:sp>
        </mc:Choice>
        <mc:Fallback xmlns="">
          <p:sp>
            <p:nvSpPr>
              <p:cNvPr id="56" name="矩形 55">
                <a:extLst>
                  <a:ext uri="{FF2B5EF4-FFF2-40B4-BE49-F238E27FC236}">
                    <a16:creationId xmlns:a16="http://schemas.microsoft.com/office/drawing/2014/main" id="{39A5342E-41F2-1B17-D003-1E553E436547}"/>
                  </a:ext>
                </a:extLst>
              </p:cNvPr>
              <p:cNvSpPr>
                <a:spLocks noRot="1" noChangeAspect="1" noMove="1" noResize="1" noEditPoints="1" noAdjustHandles="1" noChangeArrowheads="1" noChangeShapeType="1" noTextEdit="1"/>
              </p:cNvSpPr>
              <p:nvPr/>
            </p:nvSpPr>
            <p:spPr>
              <a:xfrm>
                <a:off x="3815068" y="4168493"/>
                <a:ext cx="415195" cy="369332"/>
              </a:xfrm>
              <a:prstGeom prst="rect">
                <a:avLst/>
              </a:prstGeom>
              <a:blipFill>
                <a:blip r:embed="rId12"/>
                <a:stretch>
                  <a:fillRect r="-2941" b="-8333"/>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7" name="矩形 56">
                <a:extLst>
                  <a:ext uri="{FF2B5EF4-FFF2-40B4-BE49-F238E27FC236}">
                    <a16:creationId xmlns:a16="http://schemas.microsoft.com/office/drawing/2014/main" id="{5B37A556-264E-3671-82C9-DFDC6B6E9193}"/>
                  </a:ext>
                </a:extLst>
              </p:cNvPr>
              <p:cNvSpPr/>
              <p:nvPr/>
            </p:nvSpPr>
            <p:spPr>
              <a:xfrm>
                <a:off x="3791290" y="3044005"/>
                <a:ext cx="518310" cy="369332"/>
              </a:xfrm>
              <a:prstGeom prst="rect">
                <a:avLst/>
              </a:prstGeom>
            </p:spPr>
            <p:txBody>
              <a:bodyPr wrap="square">
                <a:spAutoFit/>
              </a:bodyPr>
              <a:lstStyle/>
              <a:p>
                <a14:m>
                  <m:oMath xmlns:m="http://schemas.openxmlformats.org/officeDocument/2006/math">
                    <m:r>
                      <a:rPr lang="en-US" altLang="zh-CN" i="1" kern="0" smtClean="0">
                        <a:solidFill>
                          <a:schemeClr val="tx1"/>
                        </a:solidFill>
                        <a:latin typeface="Cambria Math" panose="02040503050406030204" pitchFamily="18" charset="0"/>
                        <a:ea typeface="Cambria Math" panose="02040503050406030204" pitchFamily="18" charset="0"/>
                      </a:rPr>
                      <m:t>𝑝</m:t>
                    </m:r>
                  </m:oMath>
                </a14:m>
                <a:r>
                  <a:rPr lang="en-US" dirty="0">
                    <a:solidFill>
                      <a:schemeClr val="tx1"/>
                    </a:solidFill>
                  </a:rPr>
                  <a:t>2</a:t>
                </a:r>
              </a:p>
            </p:txBody>
          </p:sp>
        </mc:Choice>
        <mc:Fallback xmlns="">
          <p:sp>
            <p:nvSpPr>
              <p:cNvPr id="57" name="矩形 56">
                <a:extLst>
                  <a:ext uri="{FF2B5EF4-FFF2-40B4-BE49-F238E27FC236}">
                    <a16:creationId xmlns:a16="http://schemas.microsoft.com/office/drawing/2014/main" id="{5B37A556-264E-3671-82C9-DFDC6B6E9193}"/>
                  </a:ext>
                </a:extLst>
              </p:cNvPr>
              <p:cNvSpPr>
                <a:spLocks noRot="1" noChangeAspect="1" noMove="1" noResize="1" noEditPoints="1" noAdjustHandles="1" noChangeArrowheads="1" noChangeShapeType="1" noTextEdit="1"/>
              </p:cNvSpPr>
              <p:nvPr/>
            </p:nvSpPr>
            <p:spPr>
              <a:xfrm>
                <a:off x="3791290" y="3044005"/>
                <a:ext cx="518310" cy="369332"/>
              </a:xfrm>
              <a:prstGeom prst="rect">
                <a:avLst/>
              </a:prstGeom>
              <a:blipFill>
                <a:blip r:embed="rId13"/>
                <a:stretch>
                  <a:fillRect t="-8197" b="-24590"/>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61" name="矩形 60">
                <a:extLst>
                  <a:ext uri="{FF2B5EF4-FFF2-40B4-BE49-F238E27FC236}">
                    <a16:creationId xmlns:a16="http://schemas.microsoft.com/office/drawing/2014/main" id="{A586890C-E57E-BB06-0228-29211AB868A7}"/>
                  </a:ext>
                </a:extLst>
              </p:cNvPr>
              <p:cNvSpPr/>
              <p:nvPr/>
            </p:nvSpPr>
            <p:spPr>
              <a:xfrm>
                <a:off x="907299" y="4915935"/>
                <a:ext cx="2313197" cy="1183529"/>
              </a:xfrm>
              <a:prstGeom prst="rect">
                <a:avLst/>
              </a:prstGeom>
            </p:spPr>
            <p:txBody>
              <a:bodyPr wrap="none">
                <a:spAutoFit/>
              </a:bodyPr>
              <a:lstStyle/>
              <a:p>
                <a:pPr algn="just"/>
                <a14:m>
                  <m:oMathPara xmlns:m="http://schemas.openxmlformats.org/officeDocument/2006/math">
                    <m:oMathParaPr>
                      <m:jc m:val="centerGroup"/>
                    </m:oMathParaPr>
                    <m:oMath xmlns:m="http://schemas.openxmlformats.org/officeDocument/2006/math">
                      <m:r>
                        <a:rPr lang="en-US" altLang="zh-CN" sz="2400" b="0" i="1" kern="0" smtClean="0">
                          <a:solidFill>
                            <a:srgbClr val="FF0000"/>
                          </a:solidFill>
                          <a:latin typeface="Cambria Math" panose="02040503050406030204" pitchFamily="18" charset="0"/>
                          <a:ea typeface="黑体" panose="02010609060101010101" pitchFamily="49" charset="-122"/>
                        </a:rPr>
                        <m:t>𝑄</m:t>
                      </m:r>
                      <m:r>
                        <a:rPr lang="en-US" altLang="zh-CN" sz="2400" i="1" kern="0">
                          <a:solidFill>
                            <a:srgbClr val="FF0000"/>
                          </a:solidFill>
                          <a:latin typeface="Cambria Math" panose="02040503050406030204" pitchFamily="18" charset="0"/>
                          <a:ea typeface="黑体" panose="02010609060101010101" pitchFamily="49" charset="-122"/>
                        </a:rPr>
                        <m:t>=</m:t>
                      </m:r>
                      <m:sSub>
                        <m:sSubPr>
                          <m:ctrlPr>
                            <a:rPr lang="en-US" altLang="zh-CN" sz="2400" i="1" kern="0">
                              <a:solidFill>
                                <a:srgbClr val="FF0000"/>
                              </a:solidFill>
                              <a:latin typeface="Cambria Math" panose="02040503050406030204" pitchFamily="18" charset="0"/>
                              <a:ea typeface="黑体" panose="02010609060101010101" pitchFamily="49" charset="-122"/>
                            </a:rPr>
                          </m:ctrlPr>
                        </m:sSubPr>
                        <m:e>
                          <m:r>
                            <a:rPr lang="en-US" altLang="zh-CN" sz="2400" i="1" kern="0">
                              <a:solidFill>
                                <a:srgbClr val="FF0000"/>
                              </a:solidFill>
                              <a:latin typeface="Cambria Math" panose="02040503050406030204" pitchFamily="18" charset="0"/>
                              <a:ea typeface="黑体" panose="02010609060101010101" pitchFamily="49" charset="-122"/>
                            </a:rPr>
                            <m:t>𝐶</m:t>
                          </m:r>
                        </m:e>
                        <m:sub>
                          <m:r>
                            <a:rPr lang="en-US" altLang="zh-CN" sz="2400" i="1" kern="0">
                              <a:solidFill>
                                <a:srgbClr val="FF0000"/>
                              </a:solidFill>
                              <a:latin typeface="Cambria Math" panose="02040503050406030204" pitchFamily="18" charset="0"/>
                              <a:ea typeface="黑体" panose="02010609060101010101" pitchFamily="49" charset="-122"/>
                            </a:rPr>
                            <m:t>𝑑</m:t>
                          </m:r>
                        </m:sub>
                      </m:sSub>
                      <m:r>
                        <a:rPr lang="en-US" altLang="zh-CN" sz="2400" b="0" i="1" kern="0" smtClean="0">
                          <a:solidFill>
                            <a:srgbClr val="FF0000"/>
                          </a:solidFill>
                          <a:latin typeface="Cambria Math" panose="02040503050406030204" pitchFamily="18" charset="0"/>
                          <a:ea typeface="黑体" panose="02010609060101010101" pitchFamily="49" charset="-122"/>
                        </a:rPr>
                        <m:t>𝐴</m:t>
                      </m:r>
                      <m:rad>
                        <m:radPr>
                          <m:degHide m:val="on"/>
                          <m:ctrlPr>
                            <a:rPr lang="en-US" altLang="zh-CN" sz="2400" i="1" kern="0">
                              <a:solidFill>
                                <a:srgbClr val="FF0000"/>
                              </a:solidFill>
                              <a:latin typeface="Cambria Math" panose="02040503050406030204" pitchFamily="18" charset="0"/>
                              <a:ea typeface="黑体" panose="02010609060101010101" pitchFamily="49" charset="-122"/>
                            </a:rPr>
                          </m:ctrlPr>
                        </m:radPr>
                        <m:deg/>
                        <m:e>
                          <m:f>
                            <m:fPr>
                              <m:ctrlPr>
                                <a:rPr lang="en-US" altLang="zh-CN" sz="2400" i="1" kern="0" smtClean="0">
                                  <a:solidFill>
                                    <a:srgbClr val="FF0000"/>
                                  </a:solidFill>
                                  <a:latin typeface="Cambria Math" panose="02040503050406030204" pitchFamily="18" charset="0"/>
                                  <a:ea typeface="黑体" panose="02010609060101010101" pitchFamily="49" charset="-122"/>
                                </a:rPr>
                              </m:ctrlPr>
                            </m:fPr>
                            <m:num>
                              <m:r>
                                <a:rPr lang="en-US" altLang="zh-CN" sz="2400" b="0" i="1" kern="0" smtClean="0">
                                  <a:solidFill>
                                    <a:srgbClr val="FF0000"/>
                                  </a:solidFill>
                                  <a:latin typeface="Cambria Math" panose="02040503050406030204" pitchFamily="18" charset="0"/>
                                  <a:ea typeface="黑体" panose="02010609060101010101" pitchFamily="49" charset="-122"/>
                                </a:rPr>
                                <m:t>2</m:t>
                              </m:r>
                            </m:num>
                            <m:den>
                              <m:r>
                                <a:rPr lang="zh-CN" altLang="en-US" sz="2400" i="1" kern="0" smtClean="0">
                                  <a:solidFill>
                                    <a:srgbClr val="FF0000"/>
                                  </a:solidFill>
                                  <a:latin typeface="Cambria Math" panose="02040503050406030204" pitchFamily="18" charset="0"/>
                                  <a:ea typeface="黑体" panose="02010609060101010101" pitchFamily="49" charset="-122"/>
                                </a:rPr>
                                <m:t>𝜌</m:t>
                              </m:r>
                            </m:den>
                          </m:f>
                          <m:r>
                            <a:rPr lang="el-GR" altLang="zh-CN" sz="2400" i="1" kern="0">
                              <a:solidFill>
                                <a:srgbClr val="FF0000"/>
                              </a:solidFill>
                              <a:latin typeface="Cambria Math" panose="02040503050406030204" pitchFamily="18" charset="0"/>
                              <a:ea typeface="Cambria Math" panose="02040503050406030204" pitchFamily="18" charset="0"/>
                            </a:rPr>
                            <m:t>𝛥</m:t>
                          </m:r>
                          <m:r>
                            <a:rPr lang="en-US" altLang="zh-CN" sz="2400" i="1" kern="0">
                              <a:solidFill>
                                <a:srgbClr val="FF0000"/>
                              </a:solidFill>
                              <a:latin typeface="Cambria Math" panose="02040503050406030204" pitchFamily="18" charset="0"/>
                              <a:ea typeface="Cambria Math" panose="02040503050406030204" pitchFamily="18" charset="0"/>
                            </a:rPr>
                            <m:t>𝑝</m:t>
                          </m:r>
                        </m:e>
                      </m:rad>
                    </m:oMath>
                  </m:oMathPara>
                </a14:m>
                <a:endParaRPr lang="en-US" altLang="zh-CN" sz="2400" i="1" kern="0" dirty="0">
                  <a:solidFill>
                    <a:srgbClr val="FF0000"/>
                  </a:solidFill>
                  <a:latin typeface="黑体" panose="02010609060101010101" pitchFamily="49" charset="-122"/>
                  <a:ea typeface="黑体" panose="02010609060101010101" pitchFamily="49" charset="-122"/>
                </a:endParaRPr>
              </a:p>
            </p:txBody>
          </p:sp>
        </mc:Choice>
        <mc:Fallback xmlns="">
          <p:sp>
            <p:nvSpPr>
              <p:cNvPr id="61" name="矩形 60">
                <a:extLst>
                  <a:ext uri="{FF2B5EF4-FFF2-40B4-BE49-F238E27FC236}">
                    <a16:creationId xmlns:a16="http://schemas.microsoft.com/office/drawing/2014/main" id="{A586890C-E57E-BB06-0228-29211AB868A7}"/>
                  </a:ext>
                </a:extLst>
              </p:cNvPr>
              <p:cNvSpPr>
                <a:spLocks noRot="1" noChangeAspect="1" noMove="1" noResize="1" noEditPoints="1" noAdjustHandles="1" noChangeArrowheads="1" noChangeShapeType="1" noTextEdit="1"/>
              </p:cNvSpPr>
              <p:nvPr/>
            </p:nvSpPr>
            <p:spPr>
              <a:xfrm>
                <a:off x="907299" y="4915935"/>
                <a:ext cx="2313197" cy="1183529"/>
              </a:xfrm>
              <a:prstGeom prst="rect">
                <a:avLst/>
              </a:prstGeom>
              <a:blipFill>
                <a:blip r:embed="rId14"/>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66" name="矩形 65">
                <a:extLst>
                  <a:ext uri="{FF2B5EF4-FFF2-40B4-BE49-F238E27FC236}">
                    <a16:creationId xmlns:a16="http://schemas.microsoft.com/office/drawing/2014/main" id="{F2CA18EE-1DC2-07E2-D5AC-0784405072A1}"/>
                  </a:ext>
                </a:extLst>
              </p:cNvPr>
              <p:cNvSpPr/>
              <p:nvPr/>
            </p:nvSpPr>
            <p:spPr>
              <a:xfrm>
                <a:off x="8346902" y="5084919"/>
                <a:ext cx="2313197" cy="1183529"/>
              </a:xfrm>
              <a:prstGeom prst="rect">
                <a:avLst/>
              </a:prstGeom>
            </p:spPr>
            <p:txBody>
              <a:bodyPr wrap="none">
                <a:spAutoFit/>
              </a:bodyPr>
              <a:lstStyle/>
              <a:p>
                <a:pPr algn="just"/>
                <a14:m>
                  <m:oMathPara xmlns:m="http://schemas.openxmlformats.org/officeDocument/2006/math">
                    <m:oMathParaPr>
                      <m:jc m:val="centerGroup"/>
                    </m:oMathParaPr>
                    <m:oMath xmlns:m="http://schemas.openxmlformats.org/officeDocument/2006/math">
                      <m:r>
                        <a:rPr lang="en-US" altLang="zh-CN" sz="2400" b="0" i="1" kern="0" smtClean="0">
                          <a:solidFill>
                            <a:srgbClr val="FF0000"/>
                          </a:solidFill>
                          <a:latin typeface="Cambria Math" panose="02040503050406030204" pitchFamily="18" charset="0"/>
                          <a:ea typeface="黑体" panose="02010609060101010101" pitchFamily="49" charset="-122"/>
                        </a:rPr>
                        <m:t>𝑄</m:t>
                      </m:r>
                      <m:r>
                        <a:rPr lang="en-US" altLang="zh-CN" sz="2400" i="1" kern="0">
                          <a:solidFill>
                            <a:srgbClr val="FF0000"/>
                          </a:solidFill>
                          <a:latin typeface="Cambria Math" panose="02040503050406030204" pitchFamily="18" charset="0"/>
                          <a:ea typeface="黑体" panose="02010609060101010101" pitchFamily="49" charset="-122"/>
                        </a:rPr>
                        <m:t>=</m:t>
                      </m:r>
                      <m:sSub>
                        <m:sSubPr>
                          <m:ctrlPr>
                            <a:rPr lang="en-US" altLang="zh-CN" sz="2400" i="1" kern="0">
                              <a:solidFill>
                                <a:srgbClr val="FF0000"/>
                              </a:solidFill>
                              <a:latin typeface="Cambria Math" panose="02040503050406030204" pitchFamily="18" charset="0"/>
                              <a:ea typeface="黑体" panose="02010609060101010101" pitchFamily="49" charset="-122"/>
                            </a:rPr>
                          </m:ctrlPr>
                        </m:sSubPr>
                        <m:e>
                          <m:r>
                            <a:rPr lang="en-US" altLang="zh-CN" sz="2400" i="1" kern="0">
                              <a:solidFill>
                                <a:srgbClr val="FF0000"/>
                              </a:solidFill>
                              <a:latin typeface="Cambria Math" panose="02040503050406030204" pitchFamily="18" charset="0"/>
                              <a:ea typeface="黑体" panose="02010609060101010101" pitchFamily="49" charset="-122"/>
                            </a:rPr>
                            <m:t>𝐶</m:t>
                          </m:r>
                        </m:e>
                        <m:sub>
                          <m:r>
                            <a:rPr lang="en-US" altLang="zh-CN" sz="2400" i="1" kern="0">
                              <a:solidFill>
                                <a:srgbClr val="FF0000"/>
                              </a:solidFill>
                              <a:latin typeface="Cambria Math" panose="02040503050406030204" pitchFamily="18" charset="0"/>
                              <a:ea typeface="黑体" panose="02010609060101010101" pitchFamily="49" charset="-122"/>
                            </a:rPr>
                            <m:t>𝑑</m:t>
                          </m:r>
                        </m:sub>
                      </m:sSub>
                      <m:r>
                        <a:rPr lang="en-US" altLang="zh-CN" sz="2400" b="0" i="1" kern="0" smtClean="0">
                          <a:solidFill>
                            <a:srgbClr val="FF0000"/>
                          </a:solidFill>
                          <a:latin typeface="Cambria Math" panose="02040503050406030204" pitchFamily="18" charset="0"/>
                          <a:ea typeface="黑体" panose="02010609060101010101" pitchFamily="49" charset="-122"/>
                        </a:rPr>
                        <m:t>𝐴</m:t>
                      </m:r>
                      <m:rad>
                        <m:radPr>
                          <m:degHide m:val="on"/>
                          <m:ctrlPr>
                            <a:rPr lang="en-US" altLang="zh-CN" sz="2400" i="1" kern="0">
                              <a:solidFill>
                                <a:srgbClr val="FF0000"/>
                              </a:solidFill>
                              <a:latin typeface="Cambria Math" panose="02040503050406030204" pitchFamily="18" charset="0"/>
                              <a:ea typeface="黑体" panose="02010609060101010101" pitchFamily="49" charset="-122"/>
                            </a:rPr>
                          </m:ctrlPr>
                        </m:radPr>
                        <m:deg/>
                        <m:e>
                          <m:f>
                            <m:fPr>
                              <m:ctrlPr>
                                <a:rPr lang="en-US" altLang="zh-CN" sz="2400" i="1" kern="0" smtClean="0">
                                  <a:solidFill>
                                    <a:srgbClr val="FF0000"/>
                                  </a:solidFill>
                                  <a:latin typeface="Cambria Math" panose="02040503050406030204" pitchFamily="18" charset="0"/>
                                  <a:ea typeface="黑体" panose="02010609060101010101" pitchFamily="49" charset="-122"/>
                                </a:rPr>
                              </m:ctrlPr>
                            </m:fPr>
                            <m:num>
                              <m:r>
                                <a:rPr lang="en-US" altLang="zh-CN" sz="2400" b="0" i="1" kern="0" smtClean="0">
                                  <a:solidFill>
                                    <a:srgbClr val="FF0000"/>
                                  </a:solidFill>
                                  <a:latin typeface="Cambria Math" panose="02040503050406030204" pitchFamily="18" charset="0"/>
                                  <a:ea typeface="黑体" panose="02010609060101010101" pitchFamily="49" charset="-122"/>
                                </a:rPr>
                                <m:t>2</m:t>
                              </m:r>
                            </m:num>
                            <m:den>
                              <m:r>
                                <a:rPr lang="zh-CN" altLang="en-US" sz="2400" i="1" kern="0" smtClean="0">
                                  <a:solidFill>
                                    <a:srgbClr val="FF0000"/>
                                  </a:solidFill>
                                  <a:latin typeface="Cambria Math" panose="02040503050406030204" pitchFamily="18" charset="0"/>
                                  <a:ea typeface="黑体" panose="02010609060101010101" pitchFamily="49" charset="-122"/>
                                </a:rPr>
                                <m:t>𝜌</m:t>
                              </m:r>
                            </m:den>
                          </m:f>
                          <m:r>
                            <a:rPr lang="el-GR" altLang="zh-CN" sz="2400" i="1" kern="0">
                              <a:solidFill>
                                <a:srgbClr val="FF0000"/>
                              </a:solidFill>
                              <a:latin typeface="Cambria Math" panose="02040503050406030204" pitchFamily="18" charset="0"/>
                              <a:ea typeface="Cambria Math" panose="02040503050406030204" pitchFamily="18" charset="0"/>
                            </a:rPr>
                            <m:t>𝛥</m:t>
                          </m:r>
                          <m:r>
                            <a:rPr lang="en-US" altLang="zh-CN" sz="2400" i="1" kern="0">
                              <a:solidFill>
                                <a:srgbClr val="FF0000"/>
                              </a:solidFill>
                              <a:latin typeface="Cambria Math" panose="02040503050406030204" pitchFamily="18" charset="0"/>
                              <a:ea typeface="Cambria Math" panose="02040503050406030204" pitchFamily="18" charset="0"/>
                            </a:rPr>
                            <m:t>𝑝</m:t>
                          </m:r>
                        </m:e>
                      </m:rad>
                    </m:oMath>
                  </m:oMathPara>
                </a14:m>
                <a:endParaRPr lang="en-US" altLang="zh-CN" sz="2400" i="1" kern="0" dirty="0">
                  <a:solidFill>
                    <a:srgbClr val="FF0000"/>
                  </a:solidFill>
                  <a:latin typeface="黑体" panose="02010609060101010101" pitchFamily="49" charset="-122"/>
                  <a:ea typeface="黑体" panose="02010609060101010101" pitchFamily="49" charset="-122"/>
                </a:endParaRPr>
              </a:p>
            </p:txBody>
          </p:sp>
        </mc:Choice>
        <mc:Fallback xmlns="">
          <p:sp>
            <p:nvSpPr>
              <p:cNvPr id="66" name="矩形 65">
                <a:extLst>
                  <a:ext uri="{FF2B5EF4-FFF2-40B4-BE49-F238E27FC236}">
                    <a16:creationId xmlns:a16="http://schemas.microsoft.com/office/drawing/2014/main" id="{F2CA18EE-1DC2-07E2-D5AC-0784405072A1}"/>
                  </a:ext>
                </a:extLst>
              </p:cNvPr>
              <p:cNvSpPr>
                <a:spLocks noRot="1" noChangeAspect="1" noMove="1" noResize="1" noEditPoints="1" noAdjustHandles="1" noChangeArrowheads="1" noChangeShapeType="1" noTextEdit="1"/>
              </p:cNvSpPr>
              <p:nvPr/>
            </p:nvSpPr>
            <p:spPr>
              <a:xfrm>
                <a:off x="8346902" y="5084919"/>
                <a:ext cx="2313197" cy="1183529"/>
              </a:xfrm>
              <a:prstGeom prst="rect">
                <a:avLst/>
              </a:prstGeom>
              <a:blipFill>
                <a:blip r:embed="rId15"/>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68" name="矩形 67">
                <a:extLst>
                  <a:ext uri="{FF2B5EF4-FFF2-40B4-BE49-F238E27FC236}">
                    <a16:creationId xmlns:a16="http://schemas.microsoft.com/office/drawing/2014/main" id="{46D63C28-668C-4F21-B6A1-F621206A28EB}"/>
                  </a:ext>
                </a:extLst>
              </p:cNvPr>
              <p:cNvSpPr/>
              <p:nvPr/>
            </p:nvSpPr>
            <p:spPr>
              <a:xfrm>
                <a:off x="995525" y="6191899"/>
                <a:ext cx="1536383" cy="539571"/>
              </a:xfrm>
              <a:prstGeom prst="rect">
                <a:avLst/>
              </a:prstGeom>
            </p:spPr>
            <p:txBody>
              <a:bodyPr wrap="none">
                <a:spAutoFit/>
              </a:bodyPr>
              <a:lstStyle/>
              <a:p>
                <a:pPr algn="just"/>
                <a14:m>
                  <m:oMathPara xmlns:m="http://schemas.openxmlformats.org/officeDocument/2006/math">
                    <m:oMathParaPr>
                      <m:jc m:val="centerGroup"/>
                    </m:oMathParaPr>
                    <m:oMath xmlns:m="http://schemas.openxmlformats.org/officeDocument/2006/math">
                      <m:r>
                        <a:rPr lang="en-US" altLang="zh-CN" sz="2400" b="0" i="1" kern="0" smtClean="0">
                          <a:solidFill>
                            <a:srgbClr val="FF0000"/>
                          </a:solidFill>
                          <a:latin typeface="Cambria Math" panose="02040503050406030204" pitchFamily="18" charset="0"/>
                          <a:ea typeface="黑体" panose="02010609060101010101" pitchFamily="49" charset="-122"/>
                        </a:rPr>
                        <m:t>𝑄</m:t>
                      </m:r>
                      <m:r>
                        <a:rPr lang="en-US" altLang="zh-CN" sz="2400" b="0" i="1" kern="0" smtClean="0">
                          <a:solidFill>
                            <a:srgbClr val="FF0000"/>
                          </a:solidFill>
                          <a:latin typeface="Cambria Math" panose="02040503050406030204" pitchFamily="18" charset="0"/>
                          <a:ea typeface="Cambria Math" panose="02040503050406030204" pitchFamily="18" charset="0"/>
                        </a:rPr>
                        <m:t>∝</m:t>
                      </m:r>
                      <m:rad>
                        <m:radPr>
                          <m:degHide m:val="on"/>
                          <m:ctrlPr>
                            <a:rPr lang="en-US" altLang="zh-CN" sz="2400" b="0" i="1" kern="0" smtClean="0">
                              <a:solidFill>
                                <a:srgbClr val="FF0000"/>
                              </a:solidFill>
                              <a:latin typeface="Cambria Math" panose="02040503050406030204" pitchFamily="18" charset="0"/>
                              <a:ea typeface="Cambria Math" panose="02040503050406030204" pitchFamily="18" charset="0"/>
                            </a:rPr>
                          </m:ctrlPr>
                        </m:radPr>
                        <m:deg/>
                        <m:e>
                          <m:r>
                            <a:rPr lang="el-GR" altLang="zh-CN" sz="2400" i="1" kern="0">
                              <a:solidFill>
                                <a:srgbClr val="FF0000"/>
                              </a:solidFill>
                              <a:latin typeface="Cambria Math" panose="02040503050406030204" pitchFamily="18" charset="0"/>
                              <a:ea typeface="Cambria Math" panose="02040503050406030204" pitchFamily="18" charset="0"/>
                            </a:rPr>
                            <m:t>𝛥</m:t>
                          </m:r>
                          <m:r>
                            <a:rPr lang="en-US" altLang="zh-CN" sz="2400" i="1" kern="0">
                              <a:solidFill>
                                <a:srgbClr val="FF0000"/>
                              </a:solidFill>
                              <a:latin typeface="Cambria Math" panose="02040503050406030204" pitchFamily="18" charset="0"/>
                              <a:ea typeface="Cambria Math" panose="02040503050406030204" pitchFamily="18" charset="0"/>
                            </a:rPr>
                            <m:t>𝑝</m:t>
                          </m:r>
                        </m:e>
                      </m:rad>
                    </m:oMath>
                  </m:oMathPara>
                </a14:m>
                <a:endParaRPr lang="en-US" altLang="zh-CN" sz="2400" i="1" kern="0" dirty="0">
                  <a:solidFill>
                    <a:srgbClr val="FF0000"/>
                  </a:solidFill>
                  <a:latin typeface="黑体" panose="02010609060101010101" pitchFamily="49" charset="-122"/>
                  <a:ea typeface="黑体" panose="02010609060101010101" pitchFamily="49" charset="-122"/>
                </a:endParaRPr>
              </a:p>
            </p:txBody>
          </p:sp>
        </mc:Choice>
        <mc:Fallback xmlns="">
          <p:sp>
            <p:nvSpPr>
              <p:cNvPr id="68" name="矩形 67">
                <a:extLst>
                  <a:ext uri="{FF2B5EF4-FFF2-40B4-BE49-F238E27FC236}">
                    <a16:creationId xmlns:a16="http://schemas.microsoft.com/office/drawing/2014/main" id="{46D63C28-668C-4F21-B6A1-F621206A28EB}"/>
                  </a:ext>
                </a:extLst>
              </p:cNvPr>
              <p:cNvSpPr>
                <a:spLocks noRot="1" noChangeAspect="1" noMove="1" noResize="1" noEditPoints="1" noAdjustHandles="1" noChangeArrowheads="1" noChangeShapeType="1" noTextEdit="1"/>
              </p:cNvSpPr>
              <p:nvPr/>
            </p:nvSpPr>
            <p:spPr>
              <a:xfrm>
                <a:off x="995525" y="6191899"/>
                <a:ext cx="1536383" cy="539571"/>
              </a:xfrm>
              <a:prstGeom prst="rect">
                <a:avLst/>
              </a:prstGeom>
              <a:blipFill>
                <a:blip r:embed="rId16"/>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69" name="矩形 68">
                <a:extLst>
                  <a:ext uri="{FF2B5EF4-FFF2-40B4-BE49-F238E27FC236}">
                    <a16:creationId xmlns:a16="http://schemas.microsoft.com/office/drawing/2014/main" id="{679E84EF-74A5-FF1A-2D20-0326DC855DD0}"/>
                  </a:ext>
                </a:extLst>
              </p:cNvPr>
              <p:cNvSpPr/>
              <p:nvPr/>
            </p:nvSpPr>
            <p:spPr>
              <a:xfrm>
                <a:off x="8950596" y="6279354"/>
                <a:ext cx="1705852" cy="461665"/>
              </a:xfrm>
              <a:prstGeom prst="rect">
                <a:avLst/>
              </a:prstGeom>
            </p:spPr>
            <p:txBody>
              <a:bodyPr wrap="none">
                <a:spAutoFit/>
              </a:bodyPr>
              <a:lstStyle/>
              <a:p>
                <a:pPr algn="just"/>
                <a14:m>
                  <m:oMathPara xmlns:m="http://schemas.openxmlformats.org/officeDocument/2006/math">
                    <m:oMathParaPr>
                      <m:jc m:val="centerGroup"/>
                    </m:oMathParaPr>
                    <m:oMath xmlns:m="http://schemas.openxmlformats.org/officeDocument/2006/math">
                      <m:r>
                        <a:rPr lang="en-US" altLang="zh-CN" sz="2400" b="0" i="1" kern="0" smtClean="0">
                          <a:solidFill>
                            <a:srgbClr val="FF0000"/>
                          </a:solidFill>
                          <a:latin typeface="Cambria Math" panose="02040503050406030204" pitchFamily="18" charset="0"/>
                          <a:ea typeface="黑体" panose="02010609060101010101" pitchFamily="49" charset="-122"/>
                        </a:rPr>
                        <m:t>𝑄</m:t>
                      </m:r>
                      <m:r>
                        <a:rPr lang="en-US" altLang="zh-CN" sz="2400" b="0" i="1" kern="0" smtClean="0">
                          <a:solidFill>
                            <a:srgbClr val="FF0000"/>
                          </a:solidFill>
                          <a:latin typeface="Cambria Math" panose="02040503050406030204" pitchFamily="18" charset="0"/>
                          <a:ea typeface="Cambria Math" panose="02040503050406030204" pitchFamily="18" charset="0"/>
                        </a:rPr>
                        <m:t>≈</m:t>
                      </m:r>
                      <m:r>
                        <a:rPr lang="en-US" altLang="zh-CN" sz="2400" b="0" i="1" kern="0" smtClean="0">
                          <a:solidFill>
                            <a:srgbClr val="FF0000"/>
                          </a:solidFill>
                          <a:latin typeface="Cambria Math" panose="02040503050406030204" pitchFamily="18" charset="0"/>
                          <a:ea typeface="Cambria Math" panose="02040503050406030204" pitchFamily="18" charset="0"/>
                        </a:rPr>
                        <m:t>𝑐𝑜𝑛𝑠𝑡</m:t>
                      </m:r>
                    </m:oMath>
                  </m:oMathPara>
                </a14:m>
                <a:endParaRPr lang="en-US" altLang="zh-CN" sz="2400" i="1" kern="0" dirty="0">
                  <a:solidFill>
                    <a:srgbClr val="FF0000"/>
                  </a:solidFill>
                  <a:latin typeface="黑体" panose="02010609060101010101" pitchFamily="49" charset="-122"/>
                  <a:ea typeface="黑体" panose="02010609060101010101" pitchFamily="49" charset="-122"/>
                </a:endParaRPr>
              </a:p>
            </p:txBody>
          </p:sp>
        </mc:Choice>
        <mc:Fallback xmlns="">
          <p:sp>
            <p:nvSpPr>
              <p:cNvPr id="69" name="矩形 68">
                <a:extLst>
                  <a:ext uri="{FF2B5EF4-FFF2-40B4-BE49-F238E27FC236}">
                    <a16:creationId xmlns:a16="http://schemas.microsoft.com/office/drawing/2014/main" id="{679E84EF-74A5-FF1A-2D20-0326DC855DD0}"/>
                  </a:ext>
                </a:extLst>
              </p:cNvPr>
              <p:cNvSpPr>
                <a:spLocks noRot="1" noChangeAspect="1" noMove="1" noResize="1" noEditPoints="1" noAdjustHandles="1" noChangeArrowheads="1" noChangeShapeType="1" noTextEdit="1"/>
              </p:cNvSpPr>
              <p:nvPr/>
            </p:nvSpPr>
            <p:spPr>
              <a:xfrm>
                <a:off x="8950596" y="6279354"/>
                <a:ext cx="1705852" cy="461665"/>
              </a:xfrm>
              <a:prstGeom prst="rect">
                <a:avLst/>
              </a:prstGeom>
              <a:blipFill>
                <a:blip r:embed="rId17"/>
                <a:stretch>
                  <a:fillRect b="-15789"/>
                </a:stretch>
              </a:blipFill>
            </p:spPr>
            <p:txBody>
              <a:bodyPr/>
              <a:lstStyle/>
              <a:p>
                <a:r>
                  <a:rPr lang="zh-CN" altLang="en-US">
                    <a:noFill/>
                  </a:rPr>
                  <a:t> </a:t>
                </a:r>
              </a:p>
            </p:txBody>
          </p:sp>
        </mc:Fallback>
      </mc:AlternateContent>
      <p:pic>
        <p:nvPicPr>
          <p:cNvPr id="70" name="图片 69">
            <a:extLst>
              <a:ext uri="{FF2B5EF4-FFF2-40B4-BE49-F238E27FC236}">
                <a16:creationId xmlns:a16="http://schemas.microsoft.com/office/drawing/2014/main" id="{3DFB83B7-8622-3972-5C7B-E16A7E7103C1}"/>
              </a:ext>
            </a:extLst>
          </p:cNvPr>
          <p:cNvPicPr>
            <a:picLocks noChangeAspect="1"/>
          </p:cNvPicPr>
          <p:nvPr/>
        </p:nvPicPr>
        <p:blipFill>
          <a:blip r:embed="rId18"/>
          <a:stretch>
            <a:fillRect/>
          </a:stretch>
        </p:blipFill>
        <p:spPr>
          <a:xfrm>
            <a:off x="3936092" y="4779517"/>
            <a:ext cx="4417707" cy="1908840"/>
          </a:xfrm>
          <a:prstGeom prst="rect">
            <a:avLst/>
          </a:prstGeom>
          <a:ln w="28575">
            <a:noFill/>
            <a:prstDash val="sysDot"/>
          </a:ln>
        </p:spPr>
      </p:pic>
      <p:cxnSp>
        <p:nvCxnSpPr>
          <p:cNvPr id="71" name="直接连接符 70">
            <a:extLst>
              <a:ext uri="{FF2B5EF4-FFF2-40B4-BE49-F238E27FC236}">
                <a16:creationId xmlns:a16="http://schemas.microsoft.com/office/drawing/2014/main" id="{9B7E6566-0595-EE01-9709-A29A468BE613}"/>
              </a:ext>
            </a:extLst>
          </p:cNvPr>
          <p:cNvCxnSpPr>
            <a:cxnSpLocks/>
          </p:cNvCxnSpPr>
          <p:nvPr/>
        </p:nvCxnSpPr>
        <p:spPr>
          <a:xfrm>
            <a:off x="6120063" y="3366310"/>
            <a:ext cx="0" cy="1609204"/>
          </a:xfrm>
          <a:prstGeom prst="line">
            <a:avLst/>
          </a:prstGeom>
          <a:ln w="28575">
            <a:solidFill>
              <a:srgbClr val="003F88"/>
            </a:solidFill>
            <a:prstDash val="sysDot"/>
          </a:ln>
        </p:spPr>
        <p:style>
          <a:lnRef idx="1">
            <a:schemeClr val="accent1"/>
          </a:lnRef>
          <a:fillRef idx="0">
            <a:schemeClr val="accent1"/>
          </a:fillRef>
          <a:effectRef idx="0">
            <a:schemeClr val="accent1"/>
          </a:effectRef>
          <a:fontRef idx="minor">
            <a:schemeClr val="tx1"/>
          </a:fontRef>
        </p:style>
      </p:cxnSp>
      <p:sp>
        <p:nvSpPr>
          <p:cNvPr id="29" name="文本框 28">
            <a:extLst>
              <a:ext uri="{FF2B5EF4-FFF2-40B4-BE49-F238E27FC236}">
                <a16:creationId xmlns:a16="http://schemas.microsoft.com/office/drawing/2014/main" id="{C526E980-41EC-3D9A-D4B9-D03439A5AE8E}"/>
              </a:ext>
            </a:extLst>
          </p:cNvPr>
          <p:cNvSpPr txBox="1"/>
          <p:nvPr/>
        </p:nvSpPr>
        <p:spPr>
          <a:xfrm>
            <a:off x="731259" y="1353524"/>
            <a:ext cx="6120062" cy="581057"/>
          </a:xfrm>
          <a:prstGeom prst="rect">
            <a:avLst/>
          </a:prstGeom>
          <a:noFill/>
        </p:spPr>
        <p:txBody>
          <a:bodyPr wrap="square">
            <a:spAutoFit/>
          </a:bodyPr>
          <a:lstStyle/>
          <a:p>
            <a:pPr algn="just">
              <a:lnSpc>
                <a:spcPct val="150000"/>
              </a:lnSpc>
            </a:pPr>
            <a:r>
              <a:rPr lang="zh-CN" altLang="en-US" sz="2400" b="1" kern="0" dirty="0">
                <a:latin typeface="+mn-ea"/>
              </a:rPr>
              <a:t>比例流量阀分类及原理</a:t>
            </a:r>
            <a:endParaRPr lang="en-US" altLang="zh-CN" sz="2400" b="1" kern="0" dirty="0">
              <a:latin typeface="+mn-ea"/>
            </a:endParaRPr>
          </a:p>
        </p:txBody>
      </p:sp>
      <p:sp>
        <p:nvSpPr>
          <p:cNvPr id="2" name="矩形 1">
            <a:extLst>
              <a:ext uri="{FF2B5EF4-FFF2-40B4-BE49-F238E27FC236}">
                <a16:creationId xmlns:a16="http://schemas.microsoft.com/office/drawing/2014/main" id="{ACFDA1A9-1754-8989-954B-5297C948B457}"/>
              </a:ext>
            </a:extLst>
          </p:cNvPr>
          <p:cNvSpPr/>
          <p:nvPr/>
        </p:nvSpPr>
        <p:spPr>
          <a:xfrm>
            <a:off x="356630" y="821294"/>
            <a:ext cx="8680807" cy="662554"/>
          </a:xfrm>
          <a:prstGeom prst="rect">
            <a:avLst/>
          </a:prstGeom>
          <a:noFill/>
        </p:spPr>
        <p:txBody>
          <a:bodyPr wrap="square" rtlCol="0">
            <a:spAutoFit/>
          </a:bodyPr>
          <a:lstStyle/>
          <a:p>
            <a:pPr marL="457200" indent="-457200" algn="just">
              <a:lnSpc>
                <a:spcPct val="150000"/>
              </a:lnSpc>
              <a:spcBef>
                <a:spcPts val="1000"/>
              </a:spcBef>
              <a:buFont typeface="Wingdings" panose="05000000000000000000" pitchFamily="2" charset="2"/>
              <a:buChar char="p"/>
            </a:pPr>
            <a:r>
              <a:rPr lang="zh-CN" altLang="en-US" sz="2800" b="1" dirty="0">
                <a:solidFill>
                  <a:srgbClr val="003F88"/>
                </a:solidFill>
                <a:latin typeface="微软雅黑" panose="020B0503020204020204" pitchFamily="34" charset="-122"/>
                <a:ea typeface="微软雅黑" panose="020B0503020204020204" pitchFamily="34" charset="-122"/>
              </a:rPr>
              <a:t>电液比例流量阀</a:t>
            </a:r>
            <a:endParaRPr lang="en-US" altLang="zh-CN" sz="2800" b="1" dirty="0">
              <a:solidFill>
                <a:srgbClr val="003F88"/>
              </a:solidFill>
              <a:latin typeface="微软雅黑" panose="020B0503020204020204" pitchFamily="34" charset="-122"/>
              <a:ea typeface="微软雅黑" panose="020B0503020204020204" pitchFamily="34" charset="-122"/>
            </a:endParaRPr>
          </a:p>
        </p:txBody>
      </p:sp>
      <p:sp>
        <p:nvSpPr>
          <p:cNvPr id="60" name="文本框 59">
            <a:extLst>
              <a:ext uri="{FF2B5EF4-FFF2-40B4-BE49-F238E27FC236}">
                <a16:creationId xmlns:a16="http://schemas.microsoft.com/office/drawing/2014/main" id="{C770CC26-E317-42AF-A245-CC337B9EA105}"/>
              </a:ext>
            </a:extLst>
          </p:cNvPr>
          <p:cNvSpPr txBox="1"/>
          <p:nvPr/>
        </p:nvSpPr>
        <p:spPr>
          <a:xfrm>
            <a:off x="429656" y="135415"/>
            <a:ext cx="3632036"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cs typeface="Times New Roman" panose="02020603050405020304" pitchFamily="18" charset="0"/>
              </a:rPr>
              <a:t>10.6</a:t>
            </a:r>
            <a:r>
              <a:rPr lang="en-US" altLang="zh-CN" sz="3600" b="1" dirty="0">
                <a:solidFill>
                  <a:srgbClr val="003F88"/>
                </a:solidFill>
                <a:latin typeface="+mn-ea"/>
              </a:rPr>
              <a:t> </a:t>
            </a:r>
            <a:r>
              <a:rPr lang="zh-CN" altLang="en-US" sz="3600" b="1" dirty="0">
                <a:solidFill>
                  <a:srgbClr val="003F88"/>
                </a:solidFill>
                <a:latin typeface="+mn-ea"/>
              </a:rPr>
              <a:t>电液比例阀</a:t>
            </a:r>
          </a:p>
        </p:txBody>
      </p:sp>
    </p:spTree>
    <p:extLst>
      <p:ext uri="{BB962C8B-B14F-4D97-AF65-F5344CB8AC3E}">
        <p14:creationId xmlns:p14="http://schemas.microsoft.com/office/powerpoint/2010/main" val="38558805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46B6A6-CF5D-4F18-5D9C-2D43A0EE67B8}"/>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020628CF-FB42-766A-9272-AF23A3C92BF7}"/>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A0183C1B-7540-89F4-B9A3-307417073E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CA766386-BFAF-C23B-E868-FEAF21878C80}"/>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a:extLst>
              <a:ext uri="{FF2B5EF4-FFF2-40B4-BE49-F238E27FC236}">
                <a16:creationId xmlns:a16="http://schemas.microsoft.com/office/drawing/2014/main" id="{313F3337-BDB5-12C0-EF99-BFC036842711}"/>
              </a:ext>
            </a:extLst>
          </p:cNvPr>
          <p:cNvSpPr/>
          <p:nvPr/>
        </p:nvSpPr>
        <p:spPr>
          <a:xfrm>
            <a:off x="1184886" y="1400141"/>
            <a:ext cx="7128792" cy="1515287"/>
          </a:xfrm>
          <a:prstGeom prst="rect">
            <a:avLst/>
          </a:prstGeom>
        </p:spPr>
        <p:txBody>
          <a:bodyPr wrap="square">
            <a:spAutoFit/>
          </a:bodyPr>
          <a:lstStyle/>
          <a:p>
            <a:pPr algn="just">
              <a:lnSpc>
                <a:spcPct val="150000"/>
              </a:lnSpc>
            </a:pPr>
            <a:r>
              <a:rPr lang="zh-CN" altLang="en-US" sz="2400" b="1" kern="0" dirty="0">
                <a:latin typeface="+mn-ea"/>
              </a:rPr>
              <a:t>电液比例节流阀</a:t>
            </a:r>
            <a:endParaRPr lang="en-US" altLang="zh-CN" sz="2400" b="1" kern="0" dirty="0">
              <a:latin typeface="+mn-ea"/>
            </a:endParaRPr>
          </a:p>
          <a:p>
            <a:pPr marL="342900" indent="-342900">
              <a:lnSpc>
                <a:spcPct val="150000"/>
              </a:lnSpc>
              <a:buFont typeface="Arial" panose="020B0604020202020204" pitchFamily="34" charset="0"/>
              <a:buChar char="•"/>
            </a:pPr>
            <a:r>
              <a:rPr lang="zh-CN" altLang="en-US" sz="2000" dirty="0">
                <a:latin typeface="微软雅黑" panose="020B0503020204020204" pitchFamily="34" charset="-122"/>
                <a:ea typeface="微软雅黑" panose="020B0503020204020204" pitchFamily="34" charset="-122"/>
              </a:rPr>
              <a:t>阀芯位移与输入信号成正比，</a:t>
            </a:r>
            <a:r>
              <a:rPr lang="zh-CN" altLang="en-US" sz="2000" dirty="0">
                <a:solidFill>
                  <a:srgbClr val="FF0000"/>
                </a:solidFill>
                <a:latin typeface="微软雅黑" panose="020B0503020204020204" pitchFamily="34" charset="-122"/>
                <a:ea typeface="微软雅黑" panose="020B0503020204020204" pitchFamily="34" charset="-122"/>
              </a:rPr>
              <a:t>无压力补偿阀</a:t>
            </a:r>
            <a:endParaRPr lang="en-US" altLang="zh-CN" sz="2000" dirty="0">
              <a:solidFill>
                <a:srgbClr val="FF0000"/>
              </a:solidFill>
              <a:latin typeface="微软雅黑" panose="020B0503020204020204" pitchFamily="34" charset="-122"/>
              <a:ea typeface="微软雅黑" panose="020B0503020204020204" pitchFamily="34" charset="-122"/>
            </a:endParaRPr>
          </a:p>
          <a:p>
            <a:pPr marL="342900" indent="-342900">
              <a:lnSpc>
                <a:spcPct val="150000"/>
              </a:lnSpc>
              <a:buFont typeface="Arial" panose="020B0604020202020204" pitchFamily="34" charset="0"/>
              <a:buChar char="•"/>
            </a:pPr>
            <a:r>
              <a:rPr lang="zh-CN" altLang="en-US" sz="2000" dirty="0">
                <a:latin typeface="微软雅黑" panose="020B0503020204020204" pitchFamily="34" charset="-122"/>
                <a:ea typeface="微软雅黑" panose="020B0503020204020204" pitchFamily="34" charset="-122"/>
              </a:rPr>
              <a:t>流量受负载压力和系统压力影响</a:t>
            </a:r>
            <a:endParaRPr lang="en-US" altLang="zh-CN" sz="2000" dirty="0">
              <a:latin typeface="微软雅黑" panose="020B0503020204020204" pitchFamily="34" charset="-122"/>
              <a:ea typeface="微软雅黑" panose="020B0503020204020204" pitchFamily="34" charset="-122"/>
            </a:endParaRPr>
          </a:p>
        </p:txBody>
      </p:sp>
      <p:pic>
        <p:nvPicPr>
          <p:cNvPr id="29" name="图片 28">
            <a:extLst>
              <a:ext uri="{FF2B5EF4-FFF2-40B4-BE49-F238E27FC236}">
                <a16:creationId xmlns:a16="http://schemas.microsoft.com/office/drawing/2014/main" id="{D425B684-8E33-345C-6952-8F5FA6D550AF}"/>
              </a:ext>
            </a:extLst>
          </p:cNvPr>
          <p:cNvPicPr>
            <a:picLocks noChangeAspect="1"/>
          </p:cNvPicPr>
          <p:nvPr/>
        </p:nvPicPr>
        <p:blipFill rotWithShape="1">
          <a:blip r:embed="rId4"/>
          <a:srcRect r="27774" b="8899"/>
          <a:stretch/>
        </p:blipFill>
        <p:spPr>
          <a:xfrm>
            <a:off x="1589291" y="3091224"/>
            <a:ext cx="3483178" cy="3744416"/>
          </a:xfrm>
          <a:prstGeom prst="rect">
            <a:avLst/>
          </a:prstGeom>
        </p:spPr>
      </p:pic>
      <p:sp>
        <p:nvSpPr>
          <p:cNvPr id="30" name="Rectangle 2">
            <a:extLst>
              <a:ext uri="{FF2B5EF4-FFF2-40B4-BE49-F238E27FC236}">
                <a16:creationId xmlns:a16="http://schemas.microsoft.com/office/drawing/2014/main" id="{5A58B612-7DD6-7833-7AF0-3DB23E2F8E30}"/>
              </a:ext>
            </a:extLst>
          </p:cNvPr>
          <p:cNvSpPr txBox="1">
            <a:spLocks/>
          </p:cNvSpPr>
          <p:nvPr/>
        </p:nvSpPr>
        <p:spPr bwMode="auto">
          <a:xfrm>
            <a:off x="3245475" y="2916704"/>
            <a:ext cx="2024194" cy="773158"/>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noAutofit/>
          </a:bodyPr>
          <a:lst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ea typeface="宋体" pitchFamily="2" charset="-122"/>
              </a:defRPr>
            </a:lvl2pPr>
            <a:lvl3pPr algn="ctr" rtl="0" eaLnBrk="0" fontAlgn="base" hangingPunct="0">
              <a:spcBef>
                <a:spcPct val="0"/>
              </a:spcBef>
              <a:spcAft>
                <a:spcPct val="0"/>
              </a:spcAft>
              <a:defRPr sz="4400">
                <a:solidFill>
                  <a:schemeClr val="tx2"/>
                </a:solidFill>
                <a:latin typeface="Times New Roman" pitchFamily="18" charset="0"/>
                <a:ea typeface="宋体" pitchFamily="2" charset="-122"/>
              </a:defRPr>
            </a:lvl3pPr>
            <a:lvl4pPr algn="ctr" rtl="0" eaLnBrk="0" fontAlgn="base" hangingPunct="0">
              <a:spcBef>
                <a:spcPct val="0"/>
              </a:spcBef>
              <a:spcAft>
                <a:spcPct val="0"/>
              </a:spcAft>
              <a:defRPr sz="4400">
                <a:solidFill>
                  <a:schemeClr val="tx2"/>
                </a:solidFill>
                <a:latin typeface="Times New Roman" pitchFamily="18" charset="0"/>
                <a:ea typeface="宋体" pitchFamily="2" charset="-122"/>
              </a:defRPr>
            </a:lvl4pPr>
            <a:lvl5pPr algn="ctr" rtl="0" eaLnBrk="0" fontAlgn="base" hangingPunct="0">
              <a:spcBef>
                <a:spcPct val="0"/>
              </a:spcBef>
              <a:spcAft>
                <a:spcPct val="0"/>
              </a:spcAft>
              <a:defRPr sz="4400">
                <a:solidFill>
                  <a:schemeClr val="tx2"/>
                </a:solidFill>
                <a:latin typeface="Times New Roman" pitchFamily="18" charset="0"/>
                <a:ea typeface="宋体" pitchFamily="2" charset="-122"/>
              </a:defRPr>
            </a:lvl5pPr>
            <a:lvl6pPr marL="457200" algn="ctr" rtl="0" fontAlgn="base">
              <a:spcBef>
                <a:spcPct val="0"/>
              </a:spcBef>
              <a:spcAft>
                <a:spcPct val="0"/>
              </a:spcAft>
              <a:defRPr sz="4400">
                <a:solidFill>
                  <a:schemeClr val="tx2"/>
                </a:solidFill>
                <a:latin typeface="Times New Roman" pitchFamily="18" charset="0"/>
                <a:ea typeface="宋体" pitchFamily="2" charset="-122"/>
              </a:defRPr>
            </a:lvl6pPr>
            <a:lvl7pPr marL="914400" algn="ctr" rtl="0" fontAlgn="base">
              <a:spcBef>
                <a:spcPct val="0"/>
              </a:spcBef>
              <a:spcAft>
                <a:spcPct val="0"/>
              </a:spcAft>
              <a:defRPr sz="4400">
                <a:solidFill>
                  <a:schemeClr val="tx2"/>
                </a:solidFill>
                <a:latin typeface="Times New Roman" pitchFamily="18" charset="0"/>
                <a:ea typeface="宋体" pitchFamily="2" charset="-122"/>
              </a:defRPr>
            </a:lvl7pPr>
            <a:lvl8pPr marL="1371600" algn="ctr" rtl="0" fontAlgn="base">
              <a:spcBef>
                <a:spcPct val="0"/>
              </a:spcBef>
              <a:spcAft>
                <a:spcPct val="0"/>
              </a:spcAft>
              <a:defRPr sz="4400">
                <a:solidFill>
                  <a:schemeClr val="tx2"/>
                </a:solidFill>
                <a:latin typeface="Times New Roman" pitchFamily="18" charset="0"/>
                <a:ea typeface="宋体" pitchFamily="2" charset="-122"/>
              </a:defRPr>
            </a:lvl8pPr>
            <a:lvl9pPr marL="1828800" algn="ctr" rtl="0" fontAlgn="base">
              <a:spcBef>
                <a:spcPct val="0"/>
              </a:spcBef>
              <a:spcAft>
                <a:spcPct val="0"/>
              </a:spcAft>
              <a:defRPr sz="4400">
                <a:solidFill>
                  <a:schemeClr val="tx2"/>
                </a:solidFill>
                <a:latin typeface="Times New Roman" pitchFamily="18" charset="0"/>
                <a:ea typeface="宋体" pitchFamily="2" charset="-122"/>
              </a:defRPr>
            </a:lvl9pPr>
          </a:lstStyle>
          <a:p>
            <a:pPr>
              <a:defRPr/>
            </a:pPr>
            <a:r>
              <a:rPr lang="zh-CN" altLang="en-US" sz="2000" kern="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手动调节</a:t>
            </a:r>
            <a:r>
              <a:rPr lang="en-US" altLang="zh-CN" sz="2000" kern="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-&gt;</a:t>
            </a:r>
            <a:r>
              <a:rPr lang="zh-CN" altLang="en-US" sz="2000" kern="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电比例电磁铁调节</a:t>
            </a:r>
          </a:p>
        </p:txBody>
      </p:sp>
      <p:pic>
        <p:nvPicPr>
          <p:cNvPr id="31" name="图片 30">
            <a:extLst>
              <a:ext uri="{FF2B5EF4-FFF2-40B4-BE49-F238E27FC236}">
                <a16:creationId xmlns:a16="http://schemas.microsoft.com/office/drawing/2014/main" id="{283382E0-07AD-4E17-33D7-C8FB9AD39170}"/>
              </a:ext>
            </a:extLst>
          </p:cNvPr>
          <p:cNvPicPr>
            <a:picLocks noChangeAspect="1"/>
          </p:cNvPicPr>
          <p:nvPr/>
        </p:nvPicPr>
        <p:blipFill rotWithShape="1">
          <a:blip r:embed="rId5"/>
          <a:srcRect l="28198" t="5284" r="53429" b="52138"/>
          <a:stretch/>
        </p:blipFill>
        <p:spPr>
          <a:xfrm>
            <a:off x="5072469" y="3266480"/>
            <a:ext cx="1496773" cy="1989684"/>
          </a:xfrm>
          <a:prstGeom prst="rect">
            <a:avLst/>
          </a:prstGeom>
        </p:spPr>
      </p:pic>
      <p:cxnSp>
        <p:nvCxnSpPr>
          <p:cNvPr id="32" name="直接箭头连接符 31">
            <a:extLst>
              <a:ext uri="{FF2B5EF4-FFF2-40B4-BE49-F238E27FC236}">
                <a16:creationId xmlns:a16="http://schemas.microsoft.com/office/drawing/2014/main" id="{24EE9A3B-79E4-317E-6FF1-E1E182C1716C}"/>
              </a:ext>
            </a:extLst>
          </p:cNvPr>
          <p:cNvCxnSpPr>
            <a:cxnSpLocks/>
          </p:cNvCxnSpPr>
          <p:nvPr/>
        </p:nvCxnSpPr>
        <p:spPr>
          <a:xfrm>
            <a:off x="3749531" y="3883312"/>
            <a:ext cx="1186138" cy="0"/>
          </a:xfrm>
          <a:prstGeom prst="straightConnector1">
            <a:avLst/>
          </a:prstGeom>
          <a:ln>
            <a:solidFill>
              <a:srgbClr val="003F88"/>
            </a:solidFill>
            <a:tailEnd type="triangle"/>
          </a:ln>
        </p:spPr>
        <p:style>
          <a:lnRef idx="3">
            <a:schemeClr val="accent4"/>
          </a:lnRef>
          <a:fillRef idx="0">
            <a:schemeClr val="accent4"/>
          </a:fillRef>
          <a:effectRef idx="2">
            <a:schemeClr val="accent4"/>
          </a:effectRef>
          <a:fontRef idx="minor">
            <a:schemeClr val="tx1"/>
          </a:fontRef>
        </p:style>
      </p:cxnSp>
      <p:sp>
        <p:nvSpPr>
          <p:cNvPr id="33" name="矩形 32">
            <a:extLst>
              <a:ext uri="{FF2B5EF4-FFF2-40B4-BE49-F238E27FC236}">
                <a16:creationId xmlns:a16="http://schemas.microsoft.com/office/drawing/2014/main" id="{2DDA0134-B0B8-3FAF-3803-C2F5E49CE89A}"/>
              </a:ext>
            </a:extLst>
          </p:cNvPr>
          <p:cNvSpPr/>
          <p:nvPr/>
        </p:nvSpPr>
        <p:spPr>
          <a:xfrm>
            <a:off x="1733307" y="3163232"/>
            <a:ext cx="1512168" cy="1728192"/>
          </a:xfrm>
          <a:prstGeom prst="rect">
            <a:avLst/>
          </a:prstGeom>
          <a:noFill/>
          <a:ln w="38100">
            <a:solidFill>
              <a:srgbClr val="FF00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solidFill>
                <a:srgbClr val="FF0000"/>
              </a:solidFill>
            </a:endParaRPr>
          </a:p>
        </p:txBody>
      </p:sp>
      <p:pic>
        <p:nvPicPr>
          <p:cNvPr id="34" name="图片 33">
            <a:extLst>
              <a:ext uri="{FF2B5EF4-FFF2-40B4-BE49-F238E27FC236}">
                <a16:creationId xmlns:a16="http://schemas.microsoft.com/office/drawing/2014/main" id="{BE755F1C-4FCC-CE2B-2E08-0E8F6D086001}"/>
              </a:ext>
            </a:extLst>
          </p:cNvPr>
          <p:cNvPicPr>
            <a:picLocks noChangeAspect="1"/>
          </p:cNvPicPr>
          <p:nvPr/>
        </p:nvPicPr>
        <p:blipFill>
          <a:blip r:embed="rId6"/>
          <a:stretch>
            <a:fillRect/>
          </a:stretch>
        </p:blipFill>
        <p:spPr>
          <a:xfrm>
            <a:off x="7032993" y="2866214"/>
            <a:ext cx="3756103" cy="2952328"/>
          </a:xfrm>
          <a:prstGeom prst="rect">
            <a:avLst/>
          </a:prstGeom>
        </p:spPr>
      </p:pic>
      <p:sp>
        <p:nvSpPr>
          <p:cNvPr id="35" name="Rectangle 2">
            <a:extLst>
              <a:ext uri="{FF2B5EF4-FFF2-40B4-BE49-F238E27FC236}">
                <a16:creationId xmlns:a16="http://schemas.microsoft.com/office/drawing/2014/main" id="{DCA23820-989A-B7F8-AC8C-26D9B191181F}"/>
              </a:ext>
            </a:extLst>
          </p:cNvPr>
          <p:cNvSpPr txBox="1">
            <a:spLocks/>
          </p:cNvSpPr>
          <p:nvPr/>
        </p:nvSpPr>
        <p:spPr bwMode="auto">
          <a:xfrm>
            <a:off x="9743895" y="3054136"/>
            <a:ext cx="1163776" cy="771905"/>
          </a:xfrm>
          <a:prstGeom prst="rect">
            <a:avLst/>
          </a:prstGeom>
          <a:solidFill>
            <a:schemeClr val="bg1"/>
          </a:solidFill>
          <a:ln w="9525">
            <a:noFill/>
            <a:miter lim="800000"/>
            <a:headEnd/>
            <a:tailEnd/>
          </a:ln>
        </p:spPr>
        <p:txBody>
          <a:bodyPr vert="horz" wrap="square" lIns="91440" tIns="45720" rIns="91440" bIns="45720" numCol="1" anchor="ctr" anchorCtr="0" compatLnSpc="1">
            <a:prstTxWarp prst="textNoShape">
              <a:avLst/>
            </a:prstTxWarp>
            <a:noAutofit/>
          </a:bodyPr>
          <a:lst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ea typeface="宋体" pitchFamily="2" charset="-122"/>
              </a:defRPr>
            </a:lvl2pPr>
            <a:lvl3pPr algn="ctr" rtl="0" eaLnBrk="0" fontAlgn="base" hangingPunct="0">
              <a:spcBef>
                <a:spcPct val="0"/>
              </a:spcBef>
              <a:spcAft>
                <a:spcPct val="0"/>
              </a:spcAft>
              <a:defRPr sz="4400">
                <a:solidFill>
                  <a:schemeClr val="tx2"/>
                </a:solidFill>
                <a:latin typeface="Times New Roman" pitchFamily="18" charset="0"/>
                <a:ea typeface="宋体" pitchFamily="2" charset="-122"/>
              </a:defRPr>
            </a:lvl3pPr>
            <a:lvl4pPr algn="ctr" rtl="0" eaLnBrk="0" fontAlgn="base" hangingPunct="0">
              <a:spcBef>
                <a:spcPct val="0"/>
              </a:spcBef>
              <a:spcAft>
                <a:spcPct val="0"/>
              </a:spcAft>
              <a:defRPr sz="4400">
                <a:solidFill>
                  <a:schemeClr val="tx2"/>
                </a:solidFill>
                <a:latin typeface="Times New Roman" pitchFamily="18" charset="0"/>
                <a:ea typeface="宋体" pitchFamily="2" charset="-122"/>
              </a:defRPr>
            </a:lvl4pPr>
            <a:lvl5pPr algn="ctr" rtl="0" eaLnBrk="0" fontAlgn="base" hangingPunct="0">
              <a:spcBef>
                <a:spcPct val="0"/>
              </a:spcBef>
              <a:spcAft>
                <a:spcPct val="0"/>
              </a:spcAft>
              <a:defRPr sz="4400">
                <a:solidFill>
                  <a:schemeClr val="tx2"/>
                </a:solidFill>
                <a:latin typeface="Times New Roman" pitchFamily="18" charset="0"/>
                <a:ea typeface="宋体" pitchFamily="2" charset="-122"/>
              </a:defRPr>
            </a:lvl5pPr>
            <a:lvl6pPr marL="457200" algn="ctr" rtl="0" fontAlgn="base">
              <a:spcBef>
                <a:spcPct val="0"/>
              </a:spcBef>
              <a:spcAft>
                <a:spcPct val="0"/>
              </a:spcAft>
              <a:defRPr sz="4400">
                <a:solidFill>
                  <a:schemeClr val="tx2"/>
                </a:solidFill>
                <a:latin typeface="Times New Roman" pitchFamily="18" charset="0"/>
                <a:ea typeface="宋体" pitchFamily="2" charset="-122"/>
              </a:defRPr>
            </a:lvl6pPr>
            <a:lvl7pPr marL="914400" algn="ctr" rtl="0" fontAlgn="base">
              <a:spcBef>
                <a:spcPct val="0"/>
              </a:spcBef>
              <a:spcAft>
                <a:spcPct val="0"/>
              </a:spcAft>
              <a:defRPr sz="4400">
                <a:solidFill>
                  <a:schemeClr val="tx2"/>
                </a:solidFill>
                <a:latin typeface="Times New Roman" pitchFamily="18" charset="0"/>
                <a:ea typeface="宋体" pitchFamily="2" charset="-122"/>
              </a:defRPr>
            </a:lvl7pPr>
            <a:lvl8pPr marL="1371600" algn="ctr" rtl="0" fontAlgn="base">
              <a:spcBef>
                <a:spcPct val="0"/>
              </a:spcBef>
              <a:spcAft>
                <a:spcPct val="0"/>
              </a:spcAft>
              <a:defRPr sz="4400">
                <a:solidFill>
                  <a:schemeClr val="tx2"/>
                </a:solidFill>
                <a:latin typeface="Times New Roman" pitchFamily="18" charset="0"/>
                <a:ea typeface="宋体" pitchFamily="2" charset="-122"/>
              </a:defRPr>
            </a:lvl8pPr>
            <a:lvl9pPr marL="1828800" algn="ctr" rtl="0" fontAlgn="base">
              <a:spcBef>
                <a:spcPct val="0"/>
              </a:spcBef>
              <a:spcAft>
                <a:spcPct val="0"/>
              </a:spcAft>
              <a:defRPr sz="4400">
                <a:solidFill>
                  <a:schemeClr val="tx2"/>
                </a:solidFill>
                <a:latin typeface="Times New Roman" pitchFamily="18" charset="0"/>
                <a:ea typeface="宋体" pitchFamily="2" charset="-122"/>
              </a:defRPr>
            </a:lvl9pPr>
          </a:lstStyle>
          <a:p>
            <a:pPr>
              <a:defRPr/>
            </a:pPr>
            <a:r>
              <a:rPr lang="zh-CN" altLang="en-US" sz="1800" kern="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电比例节流阀</a:t>
            </a:r>
          </a:p>
        </p:txBody>
      </p:sp>
      <p:sp>
        <p:nvSpPr>
          <p:cNvPr id="36" name="Rectangle 2">
            <a:extLst>
              <a:ext uri="{FF2B5EF4-FFF2-40B4-BE49-F238E27FC236}">
                <a16:creationId xmlns:a16="http://schemas.microsoft.com/office/drawing/2014/main" id="{37016DA7-D0B3-A6A2-32FE-FB2E686DB7C0}"/>
              </a:ext>
            </a:extLst>
          </p:cNvPr>
          <p:cNvSpPr txBox="1">
            <a:spLocks/>
          </p:cNvSpPr>
          <p:nvPr/>
        </p:nvSpPr>
        <p:spPr bwMode="auto">
          <a:xfrm>
            <a:off x="9743895" y="4546121"/>
            <a:ext cx="1163776" cy="771905"/>
          </a:xfrm>
          <a:prstGeom prst="rect">
            <a:avLst/>
          </a:prstGeom>
          <a:solidFill>
            <a:schemeClr val="bg1"/>
          </a:solidFill>
          <a:ln w="9525">
            <a:noFill/>
            <a:miter lim="800000"/>
            <a:headEnd/>
            <a:tailEnd/>
          </a:ln>
        </p:spPr>
        <p:txBody>
          <a:bodyPr vert="horz" wrap="square" lIns="91440" tIns="45720" rIns="91440" bIns="45720" numCol="1" anchor="ctr" anchorCtr="0" compatLnSpc="1">
            <a:prstTxWarp prst="textNoShape">
              <a:avLst/>
            </a:prstTxWarp>
            <a:noAutofit/>
          </a:bodyPr>
          <a:lst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ea typeface="宋体" pitchFamily="2" charset="-122"/>
              </a:defRPr>
            </a:lvl2pPr>
            <a:lvl3pPr algn="ctr" rtl="0" eaLnBrk="0" fontAlgn="base" hangingPunct="0">
              <a:spcBef>
                <a:spcPct val="0"/>
              </a:spcBef>
              <a:spcAft>
                <a:spcPct val="0"/>
              </a:spcAft>
              <a:defRPr sz="4400">
                <a:solidFill>
                  <a:schemeClr val="tx2"/>
                </a:solidFill>
                <a:latin typeface="Times New Roman" pitchFamily="18" charset="0"/>
                <a:ea typeface="宋体" pitchFamily="2" charset="-122"/>
              </a:defRPr>
            </a:lvl3pPr>
            <a:lvl4pPr algn="ctr" rtl="0" eaLnBrk="0" fontAlgn="base" hangingPunct="0">
              <a:spcBef>
                <a:spcPct val="0"/>
              </a:spcBef>
              <a:spcAft>
                <a:spcPct val="0"/>
              </a:spcAft>
              <a:defRPr sz="4400">
                <a:solidFill>
                  <a:schemeClr val="tx2"/>
                </a:solidFill>
                <a:latin typeface="Times New Roman" pitchFamily="18" charset="0"/>
                <a:ea typeface="宋体" pitchFamily="2" charset="-122"/>
              </a:defRPr>
            </a:lvl4pPr>
            <a:lvl5pPr algn="ctr" rtl="0" eaLnBrk="0" fontAlgn="base" hangingPunct="0">
              <a:spcBef>
                <a:spcPct val="0"/>
              </a:spcBef>
              <a:spcAft>
                <a:spcPct val="0"/>
              </a:spcAft>
              <a:defRPr sz="4400">
                <a:solidFill>
                  <a:schemeClr val="tx2"/>
                </a:solidFill>
                <a:latin typeface="Times New Roman" pitchFamily="18" charset="0"/>
                <a:ea typeface="宋体" pitchFamily="2" charset="-122"/>
              </a:defRPr>
            </a:lvl5pPr>
            <a:lvl6pPr marL="457200" algn="ctr" rtl="0" fontAlgn="base">
              <a:spcBef>
                <a:spcPct val="0"/>
              </a:spcBef>
              <a:spcAft>
                <a:spcPct val="0"/>
              </a:spcAft>
              <a:defRPr sz="4400">
                <a:solidFill>
                  <a:schemeClr val="tx2"/>
                </a:solidFill>
                <a:latin typeface="Times New Roman" pitchFamily="18" charset="0"/>
                <a:ea typeface="宋体" pitchFamily="2" charset="-122"/>
              </a:defRPr>
            </a:lvl6pPr>
            <a:lvl7pPr marL="914400" algn="ctr" rtl="0" fontAlgn="base">
              <a:spcBef>
                <a:spcPct val="0"/>
              </a:spcBef>
              <a:spcAft>
                <a:spcPct val="0"/>
              </a:spcAft>
              <a:defRPr sz="4400">
                <a:solidFill>
                  <a:schemeClr val="tx2"/>
                </a:solidFill>
                <a:latin typeface="Times New Roman" pitchFamily="18" charset="0"/>
                <a:ea typeface="宋体" pitchFamily="2" charset="-122"/>
              </a:defRPr>
            </a:lvl7pPr>
            <a:lvl8pPr marL="1371600" algn="ctr" rtl="0" fontAlgn="base">
              <a:spcBef>
                <a:spcPct val="0"/>
              </a:spcBef>
              <a:spcAft>
                <a:spcPct val="0"/>
              </a:spcAft>
              <a:defRPr sz="4400">
                <a:solidFill>
                  <a:schemeClr val="tx2"/>
                </a:solidFill>
                <a:latin typeface="Times New Roman" pitchFamily="18" charset="0"/>
                <a:ea typeface="宋体" pitchFamily="2" charset="-122"/>
              </a:defRPr>
            </a:lvl8pPr>
            <a:lvl9pPr marL="1828800" algn="ctr" rtl="0" fontAlgn="base">
              <a:spcBef>
                <a:spcPct val="0"/>
              </a:spcBef>
              <a:spcAft>
                <a:spcPct val="0"/>
              </a:spcAft>
              <a:defRPr sz="4400">
                <a:solidFill>
                  <a:schemeClr val="tx2"/>
                </a:solidFill>
                <a:latin typeface="Times New Roman" pitchFamily="18" charset="0"/>
                <a:ea typeface="宋体" pitchFamily="2" charset="-122"/>
              </a:defRPr>
            </a:lvl9pPr>
          </a:lstStyle>
          <a:p>
            <a:pPr>
              <a:defRPr/>
            </a:pPr>
            <a:r>
              <a:rPr lang="zh-CN" altLang="en-US" sz="1800" kern="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电比例调速阀</a:t>
            </a:r>
          </a:p>
        </p:txBody>
      </p:sp>
      <p:sp>
        <p:nvSpPr>
          <p:cNvPr id="37" name="Rectangle 2">
            <a:extLst>
              <a:ext uri="{FF2B5EF4-FFF2-40B4-BE49-F238E27FC236}">
                <a16:creationId xmlns:a16="http://schemas.microsoft.com/office/drawing/2014/main" id="{B59D75B2-E316-4D27-9F31-B6A3A49982BC}"/>
              </a:ext>
            </a:extLst>
          </p:cNvPr>
          <p:cNvSpPr txBox="1">
            <a:spLocks/>
          </p:cNvSpPr>
          <p:nvPr/>
        </p:nvSpPr>
        <p:spPr bwMode="auto">
          <a:xfrm>
            <a:off x="7733495" y="5766717"/>
            <a:ext cx="2592288" cy="771905"/>
          </a:xfrm>
          <a:prstGeom prst="rect">
            <a:avLst/>
          </a:prstGeom>
          <a:solidFill>
            <a:schemeClr val="bg1"/>
          </a:solidFill>
          <a:ln w="9525">
            <a:noFill/>
            <a:miter lim="800000"/>
            <a:headEnd/>
            <a:tailEnd/>
          </a:ln>
        </p:spPr>
        <p:txBody>
          <a:bodyPr vert="horz" wrap="square" lIns="91440" tIns="45720" rIns="91440" bIns="45720" numCol="1" anchor="ctr" anchorCtr="0" compatLnSpc="1">
            <a:prstTxWarp prst="textNoShape">
              <a:avLst/>
            </a:prstTxWarp>
            <a:noAutofit/>
          </a:bodyPr>
          <a:lst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ea typeface="宋体" pitchFamily="2" charset="-122"/>
              </a:defRPr>
            </a:lvl2pPr>
            <a:lvl3pPr algn="ctr" rtl="0" eaLnBrk="0" fontAlgn="base" hangingPunct="0">
              <a:spcBef>
                <a:spcPct val="0"/>
              </a:spcBef>
              <a:spcAft>
                <a:spcPct val="0"/>
              </a:spcAft>
              <a:defRPr sz="4400">
                <a:solidFill>
                  <a:schemeClr val="tx2"/>
                </a:solidFill>
                <a:latin typeface="Times New Roman" pitchFamily="18" charset="0"/>
                <a:ea typeface="宋体" pitchFamily="2" charset="-122"/>
              </a:defRPr>
            </a:lvl3pPr>
            <a:lvl4pPr algn="ctr" rtl="0" eaLnBrk="0" fontAlgn="base" hangingPunct="0">
              <a:spcBef>
                <a:spcPct val="0"/>
              </a:spcBef>
              <a:spcAft>
                <a:spcPct val="0"/>
              </a:spcAft>
              <a:defRPr sz="4400">
                <a:solidFill>
                  <a:schemeClr val="tx2"/>
                </a:solidFill>
                <a:latin typeface="Times New Roman" pitchFamily="18" charset="0"/>
                <a:ea typeface="宋体" pitchFamily="2" charset="-122"/>
              </a:defRPr>
            </a:lvl4pPr>
            <a:lvl5pPr algn="ctr" rtl="0" eaLnBrk="0" fontAlgn="base" hangingPunct="0">
              <a:spcBef>
                <a:spcPct val="0"/>
              </a:spcBef>
              <a:spcAft>
                <a:spcPct val="0"/>
              </a:spcAft>
              <a:defRPr sz="4400">
                <a:solidFill>
                  <a:schemeClr val="tx2"/>
                </a:solidFill>
                <a:latin typeface="Times New Roman" pitchFamily="18" charset="0"/>
                <a:ea typeface="宋体" pitchFamily="2" charset="-122"/>
              </a:defRPr>
            </a:lvl5pPr>
            <a:lvl6pPr marL="457200" algn="ctr" rtl="0" fontAlgn="base">
              <a:spcBef>
                <a:spcPct val="0"/>
              </a:spcBef>
              <a:spcAft>
                <a:spcPct val="0"/>
              </a:spcAft>
              <a:defRPr sz="4400">
                <a:solidFill>
                  <a:schemeClr val="tx2"/>
                </a:solidFill>
                <a:latin typeface="Times New Roman" pitchFamily="18" charset="0"/>
                <a:ea typeface="宋体" pitchFamily="2" charset="-122"/>
              </a:defRPr>
            </a:lvl6pPr>
            <a:lvl7pPr marL="914400" algn="ctr" rtl="0" fontAlgn="base">
              <a:spcBef>
                <a:spcPct val="0"/>
              </a:spcBef>
              <a:spcAft>
                <a:spcPct val="0"/>
              </a:spcAft>
              <a:defRPr sz="4400">
                <a:solidFill>
                  <a:schemeClr val="tx2"/>
                </a:solidFill>
                <a:latin typeface="Times New Roman" pitchFamily="18" charset="0"/>
                <a:ea typeface="宋体" pitchFamily="2" charset="-122"/>
              </a:defRPr>
            </a:lvl7pPr>
            <a:lvl8pPr marL="1371600" algn="ctr" rtl="0" fontAlgn="base">
              <a:spcBef>
                <a:spcPct val="0"/>
              </a:spcBef>
              <a:spcAft>
                <a:spcPct val="0"/>
              </a:spcAft>
              <a:defRPr sz="4400">
                <a:solidFill>
                  <a:schemeClr val="tx2"/>
                </a:solidFill>
                <a:latin typeface="Times New Roman" pitchFamily="18" charset="0"/>
                <a:ea typeface="宋体" pitchFamily="2" charset="-122"/>
              </a:defRPr>
            </a:lvl8pPr>
            <a:lvl9pPr marL="1828800" algn="ctr" rtl="0" fontAlgn="base">
              <a:spcBef>
                <a:spcPct val="0"/>
              </a:spcBef>
              <a:spcAft>
                <a:spcPct val="0"/>
              </a:spcAft>
              <a:defRPr sz="4400">
                <a:solidFill>
                  <a:schemeClr val="tx2"/>
                </a:solidFill>
                <a:latin typeface="Times New Roman" pitchFamily="18" charset="0"/>
                <a:ea typeface="宋体" pitchFamily="2" charset="-122"/>
              </a:defRPr>
            </a:lvl9pPr>
          </a:lstStyle>
          <a:p>
            <a:pPr>
              <a:defRPr/>
            </a:pPr>
            <a:r>
              <a:rPr lang="zh-CN" altLang="en-US" sz="1800" kern="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流量特性曲线</a:t>
            </a:r>
          </a:p>
        </p:txBody>
      </p:sp>
      <p:sp>
        <p:nvSpPr>
          <p:cNvPr id="4" name="文本框 3">
            <a:extLst>
              <a:ext uri="{FF2B5EF4-FFF2-40B4-BE49-F238E27FC236}">
                <a16:creationId xmlns:a16="http://schemas.microsoft.com/office/drawing/2014/main" id="{09F35399-0461-2768-A7CB-65D2D072AF2E}"/>
              </a:ext>
            </a:extLst>
          </p:cNvPr>
          <p:cNvSpPr txBox="1"/>
          <p:nvPr/>
        </p:nvSpPr>
        <p:spPr>
          <a:xfrm>
            <a:off x="5072469" y="5133360"/>
            <a:ext cx="1671282" cy="369332"/>
          </a:xfrm>
          <a:prstGeom prst="rect">
            <a:avLst/>
          </a:prstGeom>
          <a:noFill/>
        </p:spPr>
        <p:txBody>
          <a:bodyPr wrap="square">
            <a:spAutoFit/>
          </a:bodyPr>
          <a:lstStyle/>
          <a:p>
            <a:r>
              <a:rPr lang="zh-CN" altLang="en-US" sz="1800" kern="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电比例电磁铁</a:t>
            </a:r>
            <a:endParaRPr lang="zh-CN" altLang="en-US" dirty="0"/>
          </a:p>
        </p:txBody>
      </p:sp>
      <p:sp>
        <p:nvSpPr>
          <p:cNvPr id="3" name="矩形 2">
            <a:extLst>
              <a:ext uri="{FF2B5EF4-FFF2-40B4-BE49-F238E27FC236}">
                <a16:creationId xmlns:a16="http://schemas.microsoft.com/office/drawing/2014/main" id="{22048DA6-F772-705A-733B-E46AF2263B57}"/>
              </a:ext>
            </a:extLst>
          </p:cNvPr>
          <p:cNvSpPr/>
          <p:nvPr/>
        </p:nvSpPr>
        <p:spPr>
          <a:xfrm>
            <a:off x="544341" y="847469"/>
            <a:ext cx="8680807" cy="662554"/>
          </a:xfrm>
          <a:prstGeom prst="rect">
            <a:avLst/>
          </a:prstGeom>
          <a:noFill/>
        </p:spPr>
        <p:txBody>
          <a:bodyPr wrap="square" rtlCol="0">
            <a:spAutoFit/>
          </a:bodyPr>
          <a:lstStyle/>
          <a:p>
            <a:pPr marL="457200" indent="-457200" algn="just">
              <a:lnSpc>
                <a:spcPct val="150000"/>
              </a:lnSpc>
              <a:spcBef>
                <a:spcPts val="1000"/>
              </a:spcBef>
              <a:buFont typeface="Wingdings" panose="05000000000000000000" pitchFamily="2" charset="2"/>
              <a:buChar char="p"/>
            </a:pPr>
            <a:r>
              <a:rPr lang="zh-CN" altLang="en-US" sz="2800" b="1" dirty="0">
                <a:solidFill>
                  <a:srgbClr val="003F88"/>
                </a:solidFill>
                <a:latin typeface="微软雅黑" panose="020B0503020204020204" pitchFamily="34" charset="-122"/>
                <a:ea typeface="微软雅黑" panose="020B0503020204020204" pitchFamily="34" charset="-122"/>
              </a:rPr>
              <a:t>电液比例流量阀</a:t>
            </a:r>
            <a:endParaRPr lang="en-US" altLang="zh-CN" sz="2800" b="1" dirty="0">
              <a:solidFill>
                <a:srgbClr val="003F88"/>
              </a:solidFill>
              <a:latin typeface="微软雅黑" panose="020B0503020204020204" pitchFamily="34" charset="-122"/>
              <a:ea typeface="微软雅黑" panose="020B0503020204020204" pitchFamily="34" charset="-122"/>
            </a:endParaRPr>
          </a:p>
        </p:txBody>
      </p:sp>
      <p:sp>
        <p:nvSpPr>
          <p:cNvPr id="18" name="文本框 17">
            <a:extLst>
              <a:ext uri="{FF2B5EF4-FFF2-40B4-BE49-F238E27FC236}">
                <a16:creationId xmlns:a16="http://schemas.microsoft.com/office/drawing/2014/main" id="{0919A602-36D8-4C5F-B925-81FBE57951EE}"/>
              </a:ext>
            </a:extLst>
          </p:cNvPr>
          <p:cNvSpPr txBox="1"/>
          <p:nvPr/>
        </p:nvSpPr>
        <p:spPr>
          <a:xfrm>
            <a:off x="429656" y="135415"/>
            <a:ext cx="3632036"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cs typeface="Times New Roman" panose="02020603050405020304" pitchFamily="18" charset="0"/>
              </a:rPr>
              <a:t>10.6</a:t>
            </a:r>
            <a:r>
              <a:rPr lang="en-US" altLang="zh-CN" sz="3600" b="1" dirty="0">
                <a:solidFill>
                  <a:srgbClr val="003F88"/>
                </a:solidFill>
                <a:latin typeface="+mn-ea"/>
              </a:rPr>
              <a:t> </a:t>
            </a:r>
            <a:r>
              <a:rPr lang="zh-CN" altLang="en-US" sz="3600" b="1" dirty="0">
                <a:solidFill>
                  <a:srgbClr val="003F88"/>
                </a:solidFill>
                <a:latin typeface="+mn-ea"/>
              </a:rPr>
              <a:t>电液比例阀</a:t>
            </a:r>
          </a:p>
        </p:txBody>
      </p:sp>
    </p:spTree>
    <p:extLst>
      <p:ext uri="{BB962C8B-B14F-4D97-AF65-F5344CB8AC3E}">
        <p14:creationId xmlns:p14="http://schemas.microsoft.com/office/powerpoint/2010/main" val="16379886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E82AF0-3906-5163-39E0-A8C7D1E543A0}"/>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D577F806-5031-D751-0F85-B6C477DCA19B}"/>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583269AC-559A-E13B-3AE8-ED7BF67BF12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DF05332E-47B3-C0F1-A407-90B6F8D0219C}"/>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a:extLst>
              <a:ext uri="{FF2B5EF4-FFF2-40B4-BE49-F238E27FC236}">
                <a16:creationId xmlns:a16="http://schemas.microsoft.com/office/drawing/2014/main" id="{45CABB7D-DE58-BEF6-FA0F-7BB6A965DCB2}"/>
              </a:ext>
            </a:extLst>
          </p:cNvPr>
          <p:cNvSpPr/>
          <p:nvPr/>
        </p:nvSpPr>
        <p:spPr>
          <a:xfrm>
            <a:off x="1245317" y="1244001"/>
            <a:ext cx="8904167" cy="2530949"/>
          </a:xfrm>
          <a:prstGeom prst="rect">
            <a:avLst/>
          </a:prstGeom>
        </p:spPr>
        <p:txBody>
          <a:bodyPr wrap="square">
            <a:spAutoFit/>
          </a:bodyPr>
          <a:lstStyle/>
          <a:p>
            <a:pPr algn="just">
              <a:lnSpc>
                <a:spcPct val="150000"/>
              </a:lnSpc>
            </a:pPr>
            <a:r>
              <a:rPr lang="zh-CN" altLang="en-US" sz="2400" b="1" kern="0" dirty="0">
                <a:latin typeface="+mn-ea"/>
              </a:rPr>
              <a:t>电液比例调速阀</a:t>
            </a:r>
            <a:endParaRPr lang="en-US" altLang="zh-CN" sz="2400" b="1" kern="0" dirty="0">
              <a:latin typeface="+mn-ea"/>
            </a:endParaRPr>
          </a:p>
          <a:p>
            <a:pPr marL="342900" indent="-342900">
              <a:lnSpc>
                <a:spcPct val="150000"/>
              </a:lnSpc>
              <a:buFont typeface="Arial" panose="020B0604020202020204" pitchFamily="34" charset="0"/>
              <a:buChar char="•"/>
            </a:pPr>
            <a:r>
              <a:rPr lang="zh-CN" altLang="en-US" sz="2000" dirty="0">
                <a:latin typeface="微软雅黑" panose="020B0503020204020204" pitchFamily="34" charset="-122"/>
                <a:ea typeface="微软雅黑" panose="020B0503020204020204" pitchFamily="34" charset="-122"/>
              </a:rPr>
              <a:t>电液比例节流阀</a:t>
            </a:r>
            <a:r>
              <a:rPr lang="en-US" altLang="zh-CN" sz="2000" dirty="0">
                <a:latin typeface="微软雅黑" panose="020B0503020204020204" pitchFamily="34" charset="-122"/>
                <a:ea typeface="微软雅黑" panose="020B0503020204020204" pitchFamily="34" charset="-122"/>
              </a:rPr>
              <a:t>+</a:t>
            </a:r>
            <a:r>
              <a:rPr lang="zh-CN" altLang="en-US" sz="2000" dirty="0">
                <a:solidFill>
                  <a:srgbClr val="FF0000"/>
                </a:solidFill>
                <a:latin typeface="微软雅黑" panose="020B0503020204020204" pitchFamily="34" charset="-122"/>
                <a:ea typeface="微软雅黑" panose="020B0503020204020204" pitchFamily="34" charset="-122"/>
              </a:rPr>
              <a:t>压力补偿阀（定差减压阀</a:t>
            </a:r>
            <a:r>
              <a:rPr lang="en-US" altLang="zh-CN" sz="2000" dirty="0">
                <a:solidFill>
                  <a:srgbClr val="FF0000"/>
                </a:solidFill>
                <a:latin typeface="微软雅黑" panose="020B0503020204020204" pitchFamily="34" charset="-122"/>
                <a:ea typeface="微软雅黑" panose="020B0503020204020204" pitchFamily="34" charset="-122"/>
              </a:rPr>
              <a:t>/</a:t>
            </a:r>
            <a:r>
              <a:rPr lang="zh-CN" altLang="en-US" sz="2000" dirty="0">
                <a:solidFill>
                  <a:srgbClr val="FF0000"/>
                </a:solidFill>
                <a:latin typeface="微软雅黑" panose="020B0503020204020204" pitchFamily="34" charset="-122"/>
                <a:ea typeface="微软雅黑" panose="020B0503020204020204" pitchFamily="34" charset="-122"/>
              </a:rPr>
              <a:t>定差溢流阀）</a:t>
            </a:r>
            <a:endParaRPr lang="en-US" altLang="zh-CN" sz="2000" dirty="0">
              <a:solidFill>
                <a:srgbClr val="FF0000"/>
              </a:solidFill>
              <a:latin typeface="微软雅黑" panose="020B0503020204020204" pitchFamily="34" charset="-122"/>
              <a:ea typeface="微软雅黑" panose="020B0503020204020204" pitchFamily="34" charset="-122"/>
            </a:endParaRPr>
          </a:p>
          <a:p>
            <a:pPr marL="342900" indent="-342900">
              <a:lnSpc>
                <a:spcPct val="150000"/>
              </a:lnSpc>
              <a:buFont typeface="Arial" panose="020B0604020202020204" pitchFamily="34" charset="0"/>
              <a:buChar char="•"/>
            </a:pPr>
            <a:r>
              <a:rPr lang="zh-CN" altLang="en-US" sz="2000" dirty="0">
                <a:latin typeface="微软雅黑" panose="020B0503020204020204" pitchFamily="34" charset="-122"/>
                <a:ea typeface="微软雅黑" panose="020B0503020204020204" pitchFamily="34" charset="-122"/>
              </a:rPr>
              <a:t>阀芯位移与输入信号成正比</a:t>
            </a:r>
            <a:endParaRPr lang="en-US" altLang="zh-CN" sz="2000" dirty="0">
              <a:latin typeface="微软雅黑" panose="020B0503020204020204" pitchFamily="34" charset="-122"/>
              <a:ea typeface="微软雅黑" panose="020B0503020204020204" pitchFamily="34" charset="-122"/>
            </a:endParaRPr>
          </a:p>
          <a:p>
            <a:pPr marL="342900" indent="-342900">
              <a:lnSpc>
                <a:spcPct val="150000"/>
              </a:lnSpc>
              <a:buFont typeface="Arial" panose="020B0604020202020204" pitchFamily="34" charset="0"/>
              <a:buChar char="•"/>
            </a:pPr>
            <a:r>
              <a:rPr lang="zh-CN" altLang="en-US" sz="2000" dirty="0">
                <a:solidFill>
                  <a:srgbClr val="FF0000"/>
                </a:solidFill>
                <a:latin typeface="微软雅黑" panose="020B0503020204020204" pitchFamily="34" charset="-122"/>
                <a:ea typeface="微软雅黑" panose="020B0503020204020204" pitchFamily="34" charset="-122"/>
              </a:rPr>
              <a:t>压力补偿阀：保证阀口前后压差为定值</a:t>
            </a:r>
            <a:endParaRPr lang="en-US" altLang="zh-CN" sz="2000" dirty="0">
              <a:solidFill>
                <a:srgbClr val="FF0000"/>
              </a:solidFill>
              <a:latin typeface="微软雅黑" panose="020B0503020204020204" pitchFamily="34" charset="-122"/>
              <a:ea typeface="微软雅黑" panose="020B0503020204020204" pitchFamily="34" charset="-122"/>
            </a:endParaRPr>
          </a:p>
          <a:p>
            <a:pPr marL="342900" indent="-342900">
              <a:lnSpc>
                <a:spcPct val="150000"/>
              </a:lnSpc>
              <a:buFont typeface="Arial" panose="020B0604020202020204" pitchFamily="34" charset="0"/>
              <a:buChar char="•"/>
            </a:pPr>
            <a:r>
              <a:rPr lang="zh-CN" altLang="en-US" sz="2000" dirty="0">
                <a:latin typeface="微软雅黑" panose="020B0503020204020204" pitchFamily="34" charset="-122"/>
                <a:ea typeface="微软雅黑" panose="020B0503020204020204" pitchFamily="34" charset="-122"/>
              </a:rPr>
              <a:t>流量不受负载压力和系统压力影响</a:t>
            </a:r>
          </a:p>
        </p:txBody>
      </p:sp>
      <p:cxnSp>
        <p:nvCxnSpPr>
          <p:cNvPr id="17" name="直接箭头连接符 16">
            <a:extLst>
              <a:ext uri="{FF2B5EF4-FFF2-40B4-BE49-F238E27FC236}">
                <a16:creationId xmlns:a16="http://schemas.microsoft.com/office/drawing/2014/main" id="{CA85BC0F-019E-1320-3FB8-A3BDED1DB071}"/>
              </a:ext>
            </a:extLst>
          </p:cNvPr>
          <p:cNvCxnSpPr>
            <a:cxnSpLocks/>
          </p:cNvCxnSpPr>
          <p:nvPr/>
        </p:nvCxnSpPr>
        <p:spPr>
          <a:xfrm>
            <a:off x="3681177" y="6211645"/>
            <a:ext cx="1872208" cy="0"/>
          </a:xfrm>
          <a:prstGeom prst="straightConnector1">
            <a:avLst/>
          </a:prstGeom>
          <a:ln>
            <a:solidFill>
              <a:srgbClr val="FF0000"/>
            </a:solidFill>
            <a:tailEnd type="triangle"/>
          </a:ln>
        </p:spPr>
        <p:style>
          <a:lnRef idx="3">
            <a:schemeClr val="accent4"/>
          </a:lnRef>
          <a:fillRef idx="0">
            <a:schemeClr val="accent4"/>
          </a:fillRef>
          <a:effectRef idx="2">
            <a:schemeClr val="accent4"/>
          </a:effectRef>
          <a:fontRef idx="minor">
            <a:schemeClr val="tx1"/>
          </a:fontRef>
        </p:style>
      </p:cxnSp>
      <p:pic>
        <p:nvPicPr>
          <p:cNvPr id="18" name="图片 17">
            <a:extLst>
              <a:ext uri="{FF2B5EF4-FFF2-40B4-BE49-F238E27FC236}">
                <a16:creationId xmlns:a16="http://schemas.microsoft.com/office/drawing/2014/main" id="{DB3498D9-2572-F8DE-59D8-149B493107EA}"/>
              </a:ext>
            </a:extLst>
          </p:cNvPr>
          <p:cNvPicPr>
            <a:picLocks noChangeAspect="1"/>
          </p:cNvPicPr>
          <p:nvPr/>
        </p:nvPicPr>
        <p:blipFill rotWithShape="1">
          <a:blip r:embed="rId3"/>
          <a:srcRect t="23587" r="49077" b="35749"/>
          <a:stretch/>
        </p:blipFill>
        <p:spPr>
          <a:xfrm>
            <a:off x="1980032" y="3676925"/>
            <a:ext cx="3413554" cy="2492280"/>
          </a:xfrm>
          <a:prstGeom prst="rect">
            <a:avLst/>
          </a:prstGeom>
        </p:spPr>
      </p:pic>
      <p:sp>
        <p:nvSpPr>
          <p:cNvPr id="19" name="矩形 18">
            <a:extLst>
              <a:ext uri="{FF2B5EF4-FFF2-40B4-BE49-F238E27FC236}">
                <a16:creationId xmlns:a16="http://schemas.microsoft.com/office/drawing/2014/main" id="{50FBA6C8-D743-297F-5271-734244766087}"/>
              </a:ext>
            </a:extLst>
          </p:cNvPr>
          <p:cNvSpPr/>
          <p:nvPr/>
        </p:nvSpPr>
        <p:spPr>
          <a:xfrm>
            <a:off x="2673065" y="5601811"/>
            <a:ext cx="864096" cy="773158"/>
          </a:xfrm>
          <a:prstGeom prst="rect">
            <a:avLst/>
          </a:prstGeom>
          <a:noFill/>
          <a:ln w="38100">
            <a:solidFill>
              <a:srgbClr val="FF00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solidFill>
                <a:srgbClr val="FF0000"/>
              </a:solidFill>
            </a:endParaRPr>
          </a:p>
        </p:txBody>
      </p:sp>
      <p:sp>
        <p:nvSpPr>
          <p:cNvPr id="20" name="Rectangle 2">
            <a:extLst>
              <a:ext uri="{FF2B5EF4-FFF2-40B4-BE49-F238E27FC236}">
                <a16:creationId xmlns:a16="http://schemas.microsoft.com/office/drawing/2014/main" id="{EDE6E9A8-07F7-3186-25D1-DD70DD088217}"/>
              </a:ext>
            </a:extLst>
          </p:cNvPr>
          <p:cNvSpPr txBox="1">
            <a:spLocks/>
          </p:cNvSpPr>
          <p:nvPr/>
        </p:nvSpPr>
        <p:spPr bwMode="auto">
          <a:xfrm>
            <a:off x="3977762" y="6115089"/>
            <a:ext cx="1543038" cy="773158"/>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noAutofit/>
          </a:bodyPr>
          <a:lst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ea typeface="宋体" pitchFamily="2" charset="-122"/>
              </a:defRPr>
            </a:lvl2pPr>
            <a:lvl3pPr algn="ctr" rtl="0" eaLnBrk="0" fontAlgn="base" hangingPunct="0">
              <a:spcBef>
                <a:spcPct val="0"/>
              </a:spcBef>
              <a:spcAft>
                <a:spcPct val="0"/>
              </a:spcAft>
              <a:defRPr sz="4400">
                <a:solidFill>
                  <a:schemeClr val="tx2"/>
                </a:solidFill>
                <a:latin typeface="Times New Roman" pitchFamily="18" charset="0"/>
                <a:ea typeface="宋体" pitchFamily="2" charset="-122"/>
              </a:defRPr>
            </a:lvl3pPr>
            <a:lvl4pPr algn="ctr" rtl="0" eaLnBrk="0" fontAlgn="base" hangingPunct="0">
              <a:spcBef>
                <a:spcPct val="0"/>
              </a:spcBef>
              <a:spcAft>
                <a:spcPct val="0"/>
              </a:spcAft>
              <a:defRPr sz="4400">
                <a:solidFill>
                  <a:schemeClr val="tx2"/>
                </a:solidFill>
                <a:latin typeface="Times New Roman" pitchFamily="18" charset="0"/>
                <a:ea typeface="宋体" pitchFamily="2" charset="-122"/>
              </a:defRPr>
            </a:lvl4pPr>
            <a:lvl5pPr algn="ctr" rtl="0" eaLnBrk="0" fontAlgn="base" hangingPunct="0">
              <a:spcBef>
                <a:spcPct val="0"/>
              </a:spcBef>
              <a:spcAft>
                <a:spcPct val="0"/>
              </a:spcAft>
              <a:defRPr sz="4400">
                <a:solidFill>
                  <a:schemeClr val="tx2"/>
                </a:solidFill>
                <a:latin typeface="Times New Roman" pitchFamily="18" charset="0"/>
                <a:ea typeface="宋体" pitchFamily="2" charset="-122"/>
              </a:defRPr>
            </a:lvl5pPr>
            <a:lvl6pPr marL="457200" algn="ctr" rtl="0" fontAlgn="base">
              <a:spcBef>
                <a:spcPct val="0"/>
              </a:spcBef>
              <a:spcAft>
                <a:spcPct val="0"/>
              </a:spcAft>
              <a:defRPr sz="4400">
                <a:solidFill>
                  <a:schemeClr val="tx2"/>
                </a:solidFill>
                <a:latin typeface="Times New Roman" pitchFamily="18" charset="0"/>
                <a:ea typeface="宋体" pitchFamily="2" charset="-122"/>
              </a:defRPr>
            </a:lvl6pPr>
            <a:lvl7pPr marL="914400" algn="ctr" rtl="0" fontAlgn="base">
              <a:spcBef>
                <a:spcPct val="0"/>
              </a:spcBef>
              <a:spcAft>
                <a:spcPct val="0"/>
              </a:spcAft>
              <a:defRPr sz="4400">
                <a:solidFill>
                  <a:schemeClr val="tx2"/>
                </a:solidFill>
                <a:latin typeface="Times New Roman" pitchFamily="18" charset="0"/>
                <a:ea typeface="宋体" pitchFamily="2" charset="-122"/>
              </a:defRPr>
            </a:lvl7pPr>
            <a:lvl8pPr marL="1371600" algn="ctr" rtl="0" fontAlgn="base">
              <a:spcBef>
                <a:spcPct val="0"/>
              </a:spcBef>
              <a:spcAft>
                <a:spcPct val="0"/>
              </a:spcAft>
              <a:defRPr sz="4400">
                <a:solidFill>
                  <a:schemeClr val="tx2"/>
                </a:solidFill>
                <a:latin typeface="Times New Roman" pitchFamily="18" charset="0"/>
                <a:ea typeface="宋体" pitchFamily="2" charset="-122"/>
              </a:defRPr>
            </a:lvl8pPr>
            <a:lvl9pPr marL="1828800" algn="ctr" rtl="0" fontAlgn="base">
              <a:spcBef>
                <a:spcPct val="0"/>
              </a:spcBef>
              <a:spcAft>
                <a:spcPct val="0"/>
              </a:spcAft>
              <a:defRPr sz="4400">
                <a:solidFill>
                  <a:schemeClr val="tx2"/>
                </a:solidFill>
                <a:latin typeface="Times New Roman" pitchFamily="18" charset="0"/>
                <a:ea typeface="宋体" pitchFamily="2" charset="-122"/>
              </a:defRPr>
            </a:lvl9pPr>
          </a:lstStyle>
          <a:p>
            <a:pPr>
              <a:defRPr/>
            </a:pPr>
            <a:r>
              <a:rPr lang="zh-CN" altLang="en-US" sz="1800" kern="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电比例电磁铁调节</a:t>
            </a:r>
          </a:p>
        </p:txBody>
      </p:sp>
      <p:pic>
        <p:nvPicPr>
          <p:cNvPr id="21" name="图片 20">
            <a:extLst>
              <a:ext uri="{FF2B5EF4-FFF2-40B4-BE49-F238E27FC236}">
                <a16:creationId xmlns:a16="http://schemas.microsoft.com/office/drawing/2014/main" id="{954A3550-51F0-8FED-EF07-0CD6503C81C5}"/>
              </a:ext>
            </a:extLst>
          </p:cNvPr>
          <p:cNvPicPr>
            <a:picLocks noChangeAspect="1"/>
          </p:cNvPicPr>
          <p:nvPr/>
        </p:nvPicPr>
        <p:blipFill rotWithShape="1">
          <a:blip r:embed="rId4"/>
          <a:srcRect l="28198" t="5284" r="53429" b="52138"/>
          <a:stretch/>
        </p:blipFill>
        <p:spPr>
          <a:xfrm>
            <a:off x="5697401" y="5424193"/>
            <a:ext cx="1031005" cy="1370531"/>
          </a:xfrm>
          <a:prstGeom prst="rect">
            <a:avLst/>
          </a:prstGeom>
        </p:spPr>
      </p:pic>
      <p:pic>
        <p:nvPicPr>
          <p:cNvPr id="22" name="图片 21">
            <a:extLst>
              <a:ext uri="{FF2B5EF4-FFF2-40B4-BE49-F238E27FC236}">
                <a16:creationId xmlns:a16="http://schemas.microsoft.com/office/drawing/2014/main" id="{17CED700-3879-0690-4904-757CB5BBB41C}"/>
              </a:ext>
            </a:extLst>
          </p:cNvPr>
          <p:cNvPicPr>
            <a:picLocks noChangeAspect="1"/>
          </p:cNvPicPr>
          <p:nvPr/>
        </p:nvPicPr>
        <p:blipFill>
          <a:blip r:embed="rId5"/>
          <a:stretch>
            <a:fillRect/>
          </a:stretch>
        </p:blipFill>
        <p:spPr>
          <a:xfrm>
            <a:off x="6867427" y="3429000"/>
            <a:ext cx="3576292" cy="2810996"/>
          </a:xfrm>
          <a:prstGeom prst="rect">
            <a:avLst/>
          </a:prstGeom>
        </p:spPr>
      </p:pic>
      <p:sp>
        <p:nvSpPr>
          <p:cNvPr id="23" name="Rectangle 2">
            <a:extLst>
              <a:ext uri="{FF2B5EF4-FFF2-40B4-BE49-F238E27FC236}">
                <a16:creationId xmlns:a16="http://schemas.microsoft.com/office/drawing/2014/main" id="{74A9031C-2E3F-27FD-7187-299B3BC524AD}"/>
              </a:ext>
            </a:extLst>
          </p:cNvPr>
          <p:cNvSpPr txBox="1">
            <a:spLocks/>
          </p:cNvSpPr>
          <p:nvPr/>
        </p:nvSpPr>
        <p:spPr bwMode="auto">
          <a:xfrm>
            <a:off x="9488423" y="3546256"/>
            <a:ext cx="1163776" cy="771905"/>
          </a:xfrm>
          <a:prstGeom prst="rect">
            <a:avLst/>
          </a:prstGeom>
          <a:solidFill>
            <a:schemeClr val="bg1"/>
          </a:solidFill>
          <a:ln w="9525">
            <a:noFill/>
            <a:miter lim="800000"/>
            <a:headEnd/>
            <a:tailEnd/>
          </a:ln>
        </p:spPr>
        <p:txBody>
          <a:bodyPr vert="horz" wrap="square" lIns="91440" tIns="45720" rIns="91440" bIns="45720" numCol="1" anchor="ctr" anchorCtr="0" compatLnSpc="1">
            <a:prstTxWarp prst="textNoShape">
              <a:avLst/>
            </a:prstTxWarp>
            <a:noAutofit/>
          </a:bodyPr>
          <a:lst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ea typeface="宋体" pitchFamily="2" charset="-122"/>
              </a:defRPr>
            </a:lvl2pPr>
            <a:lvl3pPr algn="ctr" rtl="0" eaLnBrk="0" fontAlgn="base" hangingPunct="0">
              <a:spcBef>
                <a:spcPct val="0"/>
              </a:spcBef>
              <a:spcAft>
                <a:spcPct val="0"/>
              </a:spcAft>
              <a:defRPr sz="4400">
                <a:solidFill>
                  <a:schemeClr val="tx2"/>
                </a:solidFill>
                <a:latin typeface="Times New Roman" pitchFamily="18" charset="0"/>
                <a:ea typeface="宋体" pitchFamily="2" charset="-122"/>
              </a:defRPr>
            </a:lvl3pPr>
            <a:lvl4pPr algn="ctr" rtl="0" eaLnBrk="0" fontAlgn="base" hangingPunct="0">
              <a:spcBef>
                <a:spcPct val="0"/>
              </a:spcBef>
              <a:spcAft>
                <a:spcPct val="0"/>
              </a:spcAft>
              <a:defRPr sz="4400">
                <a:solidFill>
                  <a:schemeClr val="tx2"/>
                </a:solidFill>
                <a:latin typeface="Times New Roman" pitchFamily="18" charset="0"/>
                <a:ea typeface="宋体" pitchFamily="2" charset="-122"/>
              </a:defRPr>
            </a:lvl4pPr>
            <a:lvl5pPr algn="ctr" rtl="0" eaLnBrk="0" fontAlgn="base" hangingPunct="0">
              <a:spcBef>
                <a:spcPct val="0"/>
              </a:spcBef>
              <a:spcAft>
                <a:spcPct val="0"/>
              </a:spcAft>
              <a:defRPr sz="4400">
                <a:solidFill>
                  <a:schemeClr val="tx2"/>
                </a:solidFill>
                <a:latin typeface="Times New Roman" pitchFamily="18" charset="0"/>
                <a:ea typeface="宋体" pitchFamily="2" charset="-122"/>
              </a:defRPr>
            </a:lvl5pPr>
            <a:lvl6pPr marL="457200" algn="ctr" rtl="0" fontAlgn="base">
              <a:spcBef>
                <a:spcPct val="0"/>
              </a:spcBef>
              <a:spcAft>
                <a:spcPct val="0"/>
              </a:spcAft>
              <a:defRPr sz="4400">
                <a:solidFill>
                  <a:schemeClr val="tx2"/>
                </a:solidFill>
                <a:latin typeface="Times New Roman" pitchFamily="18" charset="0"/>
                <a:ea typeface="宋体" pitchFamily="2" charset="-122"/>
              </a:defRPr>
            </a:lvl6pPr>
            <a:lvl7pPr marL="914400" algn="ctr" rtl="0" fontAlgn="base">
              <a:spcBef>
                <a:spcPct val="0"/>
              </a:spcBef>
              <a:spcAft>
                <a:spcPct val="0"/>
              </a:spcAft>
              <a:defRPr sz="4400">
                <a:solidFill>
                  <a:schemeClr val="tx2"/>
                </a:solidFill>
                <a:latin typeface="Times New Roman" pitchFamily="18" charset="0"/>
                <a:ea typeface="宋体" pitchFamily="2" charset="-122"/>
              </a:defRPr>
            </a:lvl7pPr>
            <a:lvl8pPr marL="1371600" algn="ctr" rtl="0" fontAlgn="base">
              <a:spcBef>
                <a:spcPct val="0"/>
              </a:spcBef>
              <a:spcAft>
                <a:spcPct val="0"/>
              </a:spcAft>
              <a:defRPr sz="4400">
                <a:solidFill>
                  <a:schemeClr val="tx2"/>
                </a:solidFill>
                <a:latin typeface="Times New Roman" pitchFamily="18" charset="0"/>
                <a:ea typeface="宋体" pitchFamily="2" charset="-122"/>
              </a:defRPr>
            </a:lvl8pPr>
            <a:lvl9pPr marL="1828800" algn="ctr" rtl="0" fontAlgn="base">
              <a:spcBef>
                <a:spcPct val="0"/>
              </a:spcBef>
              <a:spcAft>
                <a:spcPct val="0"/>
              </a:spcAft>
              <a:defRPr sz="4400">
                <a:solidFill>
                  <a:schemeClr val="tx2"/>
                </a:solidFill>
                <a:latin typeface="Times New Roman" pitchFamily="18" charset="0"/>
                <a:ea typeface="宋体" pitchFamily="2" charset="-122"/>
              </a:defRPr>
            </a:lvl9pPr>
          </a:lstStyle>
          <a:p>
            <a:pPr>
              <a:defRPr/>
            </a:pPr>
            <a:r>
              <a:rPr lang="zh-CN" altLang="en-US" sz="1800" kern="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电比例节流阀</a:t>
            </a:r>
          </a:p>
        </p:txBody>
      </p:sp>
      <p:sp>
        <p:nvSpPr>
          <p:cNvPr id="24" name="Rectangle 2">
            <a:extLst>
              <a:ext uri="{FF2B5EF4-FFF2-40B4-BE49-F238E27FC236}">
                <a16:creationId xmlns:a16="http://schemas.microsoft.com/office/drawing/2014/main" id="{FF245026-C9BB-007E-F55A-F936B9725928}"/>
              </a:ext>
            </a:extLst>
          </p:cNvPr>
          <p:cNvSpPr txBox="1">
            <a:spLocks/>
          </p:cNvSpPr>
          <p:nvPr/>
        </p:nvSpPr>
        <p:spPr bwMode="auto">
          <a:xfrm>
            <a:off x="9488423" y="5038241"/>
            <a:ext cx="1163776" cy="771905"/>
          </a:xfrm>
          <a:prstGeom prst="rect">
            <a:avLst/>
          </a:prstGeom>
          <a:solidFill>
            <a:schemeClr val="bg1"/>
          </a:solidFill>
          <a:ln w="9525">
            <a:noFill/>
            <a:miter lim="800000"/>
            <a:headEnd/>
            <a:tailEnd/>
          </a:ln>
        </p:spPr>
        <p:txBody>
          <a:bodyPr vert="horz" wrap="square" lIns="91440" tIns="45720" rIns="91440" bIns="45720" numCol="1" anchor="ctr" anchorCtr="0" compatLnSpc="1">
            <a:prstTxWarp prst="textNoShape">
              <a:avLst/>
            </a:prstTxWarp>
            <a:noAutofit/>
          </a:bodyPr>
          <a:lst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ea typeface="宋体" pitchFamily="2" charset="-122"/>
              </a:defRPr>
            </a:lvl2pPr>
            <a:lvl3pPr algn="ctr" rtl="0" eaLnBrk="0" fontAlgn="base" hangingPunct="0">
              <a:spcBef>
                <a:spcPct val="0"/>
              </a:spcBef>
              <a:spcAft>
                <a:spcPct val="0"/>
              </a:spcAft>
              <a:defRPr sz="4400">
                <a:solidFill>
                  <a:schemeClr val="tx2"/>
                </a:solidFill>
                <a:latin typeface="Times New Roman" pitchFamily="18" charset="0"/>
                <a:ea typeface="宋体" pitchFamily="2" charset="-122"/>
              </a:defRPr>
            </a:lvl3pPr>
            <a:lvl4pPr algn="ctr" rtl="0" eaLnBrk="0" fontAlgn="base" hangingPunct="0">
              <a:spcBef>
                <a:spcPct val="0"/>
              </a:spcBef>
              <a:spcAft>
                <a:spcPct val="0"/>
              </a:spcAft>
              <a:defRPr sz="4400">
                <a:solidFill>
                  <a:schemeClr val="tx2"/>
                </a:solidFill>
                <a:latin typeface="Times New Roman" pitchFamily="18" charset="0"/>
                <a:ea typeface="宋体" pitchFamily="2" charset="-122"/>
              </a:defRPr>
            </a:lvl4pPr>
            <a:lvl5pPr algn="ctr" rtl="0" eaLnBrk="0" fontAlgn="base" hangingPunct="0">
              <a:spcBef>
                <a:spcPct val="0"/>
              </a:spcBef>
              <a:spcAft>
                <a:spcPct val="0"/>
              </a:spcAft>
              <a:defRPr sz="4400">
                <a:solidFill>
                  <a:schemeClr val="tx2"/>
                </a:solidFill>
                <a:latin typeface="Times New Roman" pitchFamily="18" charset="0"/>
                <a:ea typeface="宋体" pitchFamily="2" charset="-122"/>
              </a:defRPr>
            </a:lvl5pPr>
            <a:lvl6pPr marL="457200" algn="ctr" rtl="0" fontAlgn="base">
              <a:spcBef>
                <a:spcPct val="0"/>
              </a:spcBef>
              <a:spcAft>
                <a:spcPct val="0"/>
              </a:spcAft>
              <a:defRPr sz="4400">
                <a:solidFill>
                  <a:schemeClr val="tx2"/>
                </a:solidFill>
                <a:latin typeface="Times New Roman" pitchFamily="18" charset="0"/>
                <a:ea typeface="宋体" pitchFamily="2" charset="-122"/>
              </a:defRPr>
            </a:lvl6pPr>
            <a:lvl7pPr marL="914400" algn="ctr" rtl="0" fontAlgn="base">
              <a:spcBef>
                <a:spcPct val="0"/>
              </a:spcBef>
              <a:spcAft>
                <a:spcPct val="0"/>
              </a:spcAft>
              <a:defRPr sz="4400">
                <a:solidFill>
                  <a:schemeClr val="tx2"/>
                </a:solidFill>
                <a:latin typeface="Times New Roman" pitchFamily="18" charset="0"/>
                <a:ea typeface="宋体" pitchFamily="2" charset="-122"/>
              </a:defRPr>
            </a:lvl7pPr>
            <a:lvl8pPr marL="1371600" algn="ctr" rtl="0" fontAlgn="base">
              <a:spcBef>
                <a:spcPct val="0"/>
              </a:spcBef>
              <a:spcAft>
                <a:spcPct val="0"/>
              </a:spcAft>
              <a:defRPr sz="4400">
                <a:solidFill>
                  <a:schemeClr val="tx2"/>
                </a:solidFill>
                <a:latin typeface="Times New Roman" pitchFamily="18" charset="0"/>
                <a:ea typeface="宋体" pitchFamily="2" charset="-122"/>
              </a:defRPr>
            </a:lvl8pPr>
            <a:lvl9pPr marL="1828800" algn="ctr" rtl="0" fontAlgn="base">
              <a:spcBef>
                <a:spcPct val="0"/>
              </a:spcBef>
              <a:spcAft>
                <a:spcPct val="0"/>
              </a:spcAft>
              <a:defRPr sz="4400">
                <a:solidFill>
                  <a:schemeClr val="tx2"/>
                </a:solidFill>
                <a:latin typeface="Times New Roman" pitchFamily="18" charset="0"/>
                <a:ea typeface="宋体" pitchFamily="2" charset="-122"/>
              </a:defRPr>
            </a:lvl9pPr>
          </a:lstStyle>
          <a:p>
            <a:pPr>
              <a:defRPr/>
            </a:pPr>
            <a:r>
              <a:rPr lang="zh-CN" altLang="en-US" sz="1800" kern="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电比例调速阀</a:t>
            </a:r>
          </a:p>
        </p:txBody>
      </p:sp>
      <p:sp>
        <p:nvSpPr>
          <p:cNvPr id="26" name="Rectangle 2">
            <a:extLst>
              <a:ext uri="{FF2B5EF4-FFF2-40B4-BE49-F238E27FC236}">
                <a16:creationId xmlns:a16="http://schemas.microsoft.com/office/drawing/2014/main" id="{27465F09-7B9A-F54A-7947-FBFE92073F3E}"/>
              </a:ext>
            </a:extLst>
          </p:cNvPr>
          <p:cNvSpPr txBox="1">
            <a:spLocks/>
          </p:cNvSpPr>
          <p:nvPr/>
        </p:nvSpPr>
        <p:spPr bwMode="auto">
          <a:xfrm>
            <a:off x="7359428" y="6144273"/>
            <a:ext cx="2506467" cy="650451"/>
          </a:xfrm>
          <a:prstGeom prst="rect">
            <a:avLst/>
          </a:prstGeom>
          <a:solidFill>
            <a:schemeClr val="bg1"/>
          </a:solidFill>
          <a:ln w="9525">
            <a:noFill/>
            <a:miter lim="800000"/>
            <a:headEnd/>
            <a:tailEnd/>
          </a:ln>
        </p:spPr>
        <p:txBody>
          <a:bodyPr vert="horz" wrap="square" lIns="91440" tIns="45720" rIns="91440" bIns="45720" numCol="1" anchor="ctr" anchorCtr="0" compatLnSpc="1">
            <a:prstTxWarp prst="textNoShape">
              <a:avLst/>
            </a:prstTxWarp>
            <a:noAutofit/>
          </a:bodyPr>
          <a:lst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ea typeface="宋体" pitchFamily="2" charset="-122"/>
              </a:defRPr>
            </a:lvl2pPr>
            <a:lvl3pPr algn="ctr" rtl="0" eaLnBrk="0" fontAlgn="base" hangingPunct="0">
              <a:spcBef>
                <a:spcPct val="0"/>
              </a:spcBef>
              <a:spcAft>
                <a:spcPct val="0"/>
              </a:spcAft>
              <a:defRPr sz="4400">
                <a:solidFill>
                  <a:schemeClr val="tx2"/>
                </a:solidFill>
                <a:latin typeface="Times New Roman" pitchFamily="18" charset="0"/>
                <a:ea typeface="宋体" pitchFamily="2" charset="-122"/>
              </a:defRPr>
            </a:lvl3pPr>
            <a:lvl4pPr algn="ctr" rtl="0" eaLnBrk="0" fontAlgn="base" hangingPunct="0">
              <a:spcBef>
                <a:spcPct val="0"/>
              </a:spcBef>
              <a:spcAft>
                <a:spcPct val="0"/>
              </a:spcAft>
              <a:defRPr sz="4400">
                <a:solidFill>
                  <a:schemeClr val="tx2"/>
                </a:solidFill>
                <a:latin typeface="Times New Roman" pitchFamily="18" charset="0"/>
                <a:ea typeface="宋体" pitchFamily="2" charset="-122"/>
              </a:defRPr>
            </a:lvl4pPr>
            <a:lvl5pPr algn="ctr" rtl="0" eaLnBrk="0" fontAlgn="base" hangingPunct="0">
              <a:spcBef>
                <a:spcPct val="0"/>
              </a:spcBef>
              <a:spcAft>
                <a:spcPct val="0"/>
              </a:spcAft>
              <a:defRPr sz="4400">
                <a:solidFill>
                  <a:schemeClr val="tx2"/>
                </a:solidFill>
                <a:latin typeface="Times New Roman" pitchFamily="18" charset="0"/>
                <a:ea typeface="宋体" pitchFamily="2" charset="-122"/>
              </a:defRPr>
            </a:lvl5pPr>
            <a:lvl6pPr marL="457200" algn="ctr" rtl="0" fontAlgn="base">
              <a:spcBef>
                <a:spcPct val="0"/>
              </a:spcBef>
              <a:spcAft>
                <a:spcPct val="0"/>
              </a:spcAft>
              <a:defRPr sz="4400">
                <a:solidFill>
                  <a:schemeClr val="tx2"/>
                </a:solidFill>
                <a:latin typeface="Times New Roman" pitchFamily="18" charset="0"/>
                <a:ea typeface="宋体" pitchFamily="2" charset="-122"/>
              </a:defRPr>
            </a:lvl6pPr>
            <a:lvl7pPr marL="914400" algn="ctr" rtl="0" fontAlgn="base">
              <a:spcBef>
                <a:spcPct val="0"/>
              </a:spcBef>
              <a:spcAft>
                <a:spcPct val="0"/>
              </a:spcAft>
              <a:defRPr sz="4400">
                <a:solidFill>
                  <a:schemeClr val="tx2"/>
                </a:solidFill>
                <a:latin typeface="Times New Roman" pitchFamily="18" charset="0"/>
                <a:ea typeface="宋体" pitchFamily="2" charset="-122"/>
              </a:defRPr>
            </a:lvl7pPr>
            <a:lvl8pPr marL="1371600" algn="ctr" rtl="0" fontAlgn="base">
              <a:spcBef>
                <a:spcPct val="0"/>
              </a:spcBef>
              <a:spcAft>
                <a:spcPct val="0"/>
              </a:spcAft>
              <a:defRPr sz="4400">
                <a:solidFill>
                  <a:schemeClr val="tx2"/>
                </a:solidFill>
                <a:latin typeface="Times New Roman" pitchFamily="18" charset="0"/>
                <a:ea typeface="宋体" pitchFamily="2" charset="-122"/>
              </a:defRPr>
            </a:lvl8pPr>
            <a:lvl9pPr marL="1828800" algn="ctr" rtl="0" fontAlgn="base">
              <a:spcBef>
                <a:spcPct val="0"/>
              </a:spcBef>
              <a:spcAft>
                <a:spcPct val="0"/>
              </a:spcAft>
              <a:defRPr sz="4400">
                <a:solidFill>
                  <a:schemeClr val="tx2"/>
                </a:solidFill>
                <a:latin typeface="Times New Roman" pitchFamily="18" charset="0"/>
                <a:ea typeface="宋体" pitchFamily="2" charset="-122"/>
              </a:defRPr>
            </a:lvl9pPr>
          </a:lstStyle>
          <a:p>
            <a:pPr>
              <a:defRPr/>
            </a:pPr>
            <a:r>
              <a:rPr lang="zh-CN" altLang="en-US" sz="1800" kern="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流量特性曲线</a:t>
            </a:r>
          </a:p>
        </p:txBody>
      </p:sp>
      <p:sp>
        <p:nvSpPr>
          <p:cNvPr id="2" name="矩形 1">
            <a:extLst>
              <a:ext uri="{FF2B5EF4-FFF2-40B4-BE49-F238E27FC236}">
                <a16:creationId xmlns:a16="http://schemas.microsoft.com/office/drawing/2014/main" id="{5EBCCC2F-7609-F9FB-5785-579982469077}"/>
              </a:ext>
            </a:extLst>
          </p:cNvPr>
          <p:cNvSpPr/>
          <p:nvPr/>
        </p:nvSpPr>
        <p:spPr>
          <a:xfrm>
            <a:off x="429656" y="772259"/>
            <a:ext cx="8680807" cy="662554"/>
          </a:xfrm>
          <a:prstGeom prst="rect">
            <a:avLst/>
          </a:prstGeom>
          <a:noFill/>
        </p:spPr>
        <p:txBody>
          <a:bodyPr wrap="square" rtlCol="0">
            <a:spAutoFit/>
          </a:bodyPr>
          <a:lstStyle/>
          <a:p>
            <a:pPr marL="457200" indent="-457200" algn="just">
              <a:lnSpc>
                <a:spcPct val="150000"/>
              </a:lnSpc>
              <a:spcBef>
                <a:spcPts val="1000"/>
              </a:spcBef>
              <a:buFont typeface="Wingdings" panose="05000000000000000000" pitchFamily="2" charset="2"/>
              <a:buChar char="p"/>
            </a:pPr>
            <a:r>
              <a:rPr lang="zh-CN" altLang="en-US" sz="2800" b="1" dirty="0">
                <a:solidFill>
                  <a:srgbClr val="003F88"/>
                </a:solidFill>
                <a:latin typeface="微软雅黑" panose="020B0503020204020204" pitchFamily="34" charset="-122"/>
                <a:ea typeface="微软雅黑" panose="020B0503020204020204" pitchFamily="34" charset="-122"/>
              </a:rPr>
              <a:t>电液比例流量阀</a:t>
            </a:r>
            <a:endParaRPr lang="en-US" altLang="zh-CN" sz="2800" b="1" dirty="0">
              <a:solidFill>
                <a:srgbClr val="003F88"/>
              </a:solidFill>
              <a:latin typeface="微软雅黑" panose="020B0503020204020204" pitchFamily="34" charset="-122"/>
              <a:ea typeface="微软雅黑" panose="020B0503020204020204" pitchFamily="34" charset="-122"/>
            </a:endParaRPr>
          </a:p>
        </p:txBody>
      </p:sp>
      <p:sp>
        <p:nvSpPr>
          <p:cNvPr id="27" name="文本框 26">
            <a:extLst>
              <a:ext uri="{FF2B5EF4-FFF2-40B4-BE49-F238E27FC236}">
                <a16:creationId xmlns:a16="http://schemas.microsoft.com/office/drawing/2014/main" id="{956DC984-3C78-4DF7-A334-C679384EE6CA}"/>
              </a:ext>
            </a:extLst>
          </p:cNvPr>
          <p:cNvSpPr txBox="1"/>
          <p:nvPr/>
        </p:nvSpPr>
        <p:spPr>
          <a:xfrm>
            <a:off x="429656" y="135415"/>
            <a:ext cx="3632036"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cs typeface="Times New Roman" panose="02020603050405020304" pitchFamily="18" charset="0"/>
              </a:rPr>
              <a:t>10.6</a:t>
            </a:r>
            <a:r>
              <a:rPr lang="en-US" altLang="zh-CN" sz="3600" b="1" dirty="0">
                <a:solidFill>
                  <a:srgbClr val="003F88"/>
                </a:solidFill>
                <a:latin typeface="+mn-ea"/>
              </a:rPr>
              <a:t> </a:t>
            </a:r>
            <a:r>
              <a:rPr lang="zh-CN" altLang="en-US" sz="3600" b="1" dirty="0">
                <a:solidFill>
                  <a:srgbClr val="003F88"/>
                </a:solidFill>
                <a:latin typeface="+mn-ea"/>
              </a:rPr>
              <a:t>电液比例阀</a:t>
            </a:r>
          </a:p>
        </p:txBody>
      </p:sp>
    </p:spTree>
    <p:extLst>
      <p:ext uri="{BB962C8B-B14F-4D97-AF65-F5344CB8AC3E}">
        <p14:creationId xmlns:p14="http://schemas.microsoft.com/office/powerpoint/2010/main" val="34342040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1EB21E-BE05-5431-69E4-12B3936E3583}"/>
            </a:ext>
          </a:extLst>
        </p:cNvPr>
        <p:cNvGrpSpPr/>
        <p:nvPr/>
      </p:nvGrpSpPr>
      <p:grpSpPr>
        <a:xfrm>
          <a:off x="0" y="0"/>
          <a:ext cx="0" cy="0"/>
          <a:chOff x="0" y="0"/>
          <a:chExt cx="0" cy="0"/>
        </a:xfrm>
      </p:grpSpPr>
      <p:pic>
        <p:nvPicPr>
          <p:cNvPr id="13" name="图片 12">
            <a:extLst>
              <a:ext uri="{FF2B5EF4-FFF2-40B4-BE49-F238E27FC236}">
                <a16:creationId xmlns:a16="http://schemas.microsoft.com/office/drawing/2014/main" id="{9D73EA2E-91C3-86BD-C9B6-1F64ED2F628A}"/>
              </a:ext>
            </a:extLst>
          </p:cNvPr>
          <p:cNvPicPr>
            <a:picLocks noChangeAspect="1"/>
          </p:cNvPicPr>
          <p:nvPr/>
        </p:nvPicPr>
        <p:blipFill>
          <a:blip r:embed="rId2"/>
          <a:stretch>
            <a:fillRect/>
          </a:stretch>
        </p:blipFill>
        <p:spPr>
          <a:xfrm>
            <a:off x="1476077" y="3177671"/>
            <a:ext cx="5233750" cy="3016601"/>
          </a:xfrm>
          <a:prstGeom prst="rect">
            <a:avLst/>
          </a:prstGeom>
        </p:spPr>
      </p:pic>
      <p:cxnSp>
        <p:nvCxnSpPr>
          <p:cNvPr id="5" name="直接连接符 4">
            <a:extLst>
              <a:ext uri="{FF2B5EF4-FFF2-40B4-BE49-F238E27FC236}">
                <a16:creationId xmlns:a16="http://schemas.microsoft.com/office/drawing/2014/main" id="{72B89FE5-7E07-B097-12F8-90B91A723B7E}"/>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D373A563-79B8-5C31-5E1D-B023819D596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C997C459-5AFD-879C-3DBC-62E26E9CCEDD}"/>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Content Placeholder 2">
            <a:extLst>
              <a:ext uri="{FF2B5EF4-FFF2-40B4-BE49-F238E27FC236}">
                <a16:creationId xmlns:a16="http://schemas.microsoft.com/office/drawing/2014/main" id="{F64FD2F3-266B-420C-6823-19177E3A4CCA}"/>
              </a:ext>
            </a:extLst>
          </p:cNvPr>
          <p:cNvSpPr txBox="1">
            <a:spLocks/>
          </p:cNvSpPr>
          <p:nvPr/>
        </p:nvSpPr>
        <p:spPr>
          <a:xfrm>
            <a:off x="1960291" y="1551447"/>
            <a:ext cx="8820472" cy="2132445"/>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lnSpc>
                <a:spcPct val="120000"/>
              </a:lnSpc>
            </a:pPr>
            <a:r>
              <a:rPr lang="zh-CN" altLang="en-US" sz="2000" dirty="0">
                <a:latin typeface="微软雅黑" panose="020B0503020204020204" pitchFamily="34" charset="-122"/>
                <a:ea typeface="微软雅黑" panose="020B0503020204020204" pitchFamily="34" charset="-122"/>
              </a:rPr>
              <a:t>电比例方向阀：</a:t>
            </a:r>
            <a:r>
              <a:rPr lang="zh-CN" altLang="en-US" sz="2000" dirty="0">
                <a:solidFill>
                  <a:srgbClr val="FF0000"/>
                </a:solidFill>
                <a:latin typeface="微软雅黑" panose="020B0503020204020204" pitchFamily="34" charset="-122"/>
                <a:ea typeface="微软雅黑" panose="020B0503020204020204" pitchFamily="34" charset="-122"/>
              </a:rPr>
              <a:t>换向阀</a:t>
            </a:r>
            <a:r>
              <a:rPr lang="en-US" altLang="zh-CN" sz="2000" dirty="0">
                <a:solidFill>
                  <a:srgbClr val="FF0000"/>
                </a:solidFill>
                <a:latin typeface="微软雅黑" panose="020B0503020204020204" pitchFamily="34" charset="-122"/>
                <a:ea typeface="微软雅黑" panose="020B0503020204020204" pitchFamily="34" charset="-122"/>
              </a:rPr>
              <a:t>+</a:t>
            </a:r>
            <a:r>
              <a:rPr lang="zh-CN" altLang="en-US" sz="2000" dirty="0">
                <a:solidFill>
                  <a:srgbClr val="FF0000"/>
                </a:solidFill>
                <a:latin typeface="微软雅黑" panose="020B0503020204020204" pitchFamily="34" charset="-122"/>
                <a:ea typeface="微软雅黑" panose="020B0503020204020204" pitchFamily="34" charset="-122"/>
              </a:rPr>
              <a:t>电比例流量阀</a:t>
            </a:r>
            <a:endParaRPr lang="en-US" altLang="zh-CN" sz="2000" dirty="0">
              <a:solidFill>
                <a:srgbClr val="FF0000"/>
              </a:solidFill>
              <a:latin typeface="微软雅黑" panose="020B0503020204020204" pitchFamily="34" charset="-122"/>
              <a:ea typeface="微软雅黑" panose="020B0503020204020204" pitchFamily="34" charset="-122"/>
            </a:endParaRPr>
          </a:p>
          <a:p>
            <a:pPr algn="just">
              <a:lnSpc>
                <a:spcPct val="120000"/>
              </a:lnSpc>
            </a:pPr>
            <a:r>
              <a:rPr lang="zh-CN" altLang="en-US" sz="2000" dirty="0">
                <a:latin typeface="微软雅黑" panose="020B0503020204020204" pitchFamily="34" charset="-122"/>
                <a:ea typeface="微软雅黑" panose="020B0503020204020204" pitchFamily="34" charset="-122"/>
              </a:rPr>
              <a:t>既能</a:t>
            </a:r>
            <a:r>
              <a:rPr lang="zh-CN" altLang="en-US" sz="2000" dirty="0">
                <a:solidFill>
                  <a:srgbClr val="FF0000"/>
                </a:solidFill>
                <a:latin typeface="微软雅黑" panose="020B0503020204020204" pitchFamily="34" charset="-122"/>
                <a:ea typeface="微软雅黑" panose="020B0503020204020204" pitchFamily="34" charset="-122"/>
              </a:rPr>
              <a:t>调节流量方向</a:t>
            </a:r>
            <a:r>
              <a:rPr lang="zh-CN" altLang="en-US" sz="2000" dirty="0">
                <a:latin typeface="微软雅黑" panose="020B0503020204020204" pitchFamily="34" charset="-122"/>
                <a:ea typeface="微软雅黑" panose="020B0503020204020204" pitchFamily="34" charset="-122"/>
              </a:rPr>
              <a:t>，又能</a:t>
            </a:r>
            <a:r>
              <a:rPr lang="zh-CN" altLang="en-US" sz="2000" dirty="0">
                <a:solidFill>
                  <a:srgbClr val="FF0000"/>
                </a:solidFill>
                <a:latin typeface="微软雅黑" panose="020B0503020204020204" pitchFamily="34" charset="-122"/>
                <a:ea typeface="微软雅黑" panose="020B0503020204020204" pitchFamily="34" charset="-122"/>
              </a:rPr>
              <a:t>调节流量大小</a:t>
            </a:r>
            <a:endParaRPr lang="en-US" altLang="zh-CN" sz="2000" dirty="0">
              <a:solidFill>
                <a:srgbClr val="FF0000"/>
              </a:solidFill>
              <a:latin typeface="微软雅黑" panose="020B0503020204020204" pitchFamily="34" charset="-122"/>
              <a:ea typeface="微软雅黑" panose="020B0503020204020204" pitchFamily="34" charset="-122"/>
            </a:endParaRPr>
          </a:p>
          <a:p>
            <a:pPr algn="just">
              <a:lnSpc>
                <a:spcPct val="120000"/>
              </a:lnSpc>
            </a:pPr>
            <a:r>
              <a:rPr lang="zh-CN" altLang="en-US" sz="2000" dirty="0">
                <a:latin typeface="微软雅黑" panose="020B0503020204020204" pitchFamily="34" charset="-122"/>
                <a:ea typeface="微软雅黑" panose="020B0503020204020204" pitchFamily="34" charset="-122"/>
              </a:rPr>
              <a:t>直动式和先导式</a:t>
            </a:r>
            <a:endParaRPr lang="en-US" altLang="zh-CN" sz="2000" dirty="0">
              <a:latin typeface="微软雅黑" panose="020B0503020204020204" pitchFamily="34" charset="-122"/>
              <a:ea typeface="微软雅黑" panose="020B0503020204020204" pitchFamily="34" charset="-122"/>
            </a:endParaRPr>
          </a:p>
          <a:p>
            <a:pPr algn="just">
              <a:lnSpc>
                <a:spcPct val="120000"/>
              </a:lnSpc>
            </a:pPr>
            <a:r>
              <a:rPr lang="zh-CN" altLang="en-US" sz="2000" dirty="0">
                <a:latin typeface="微软雅黑" panose="020B0503020204020204" pitchFamily="34" charset="-122"/>
                <a:ea typeface="微软雅黑" panose="020B0503020204020204" pitchFamily="34" charset="-122"/>
              </a:rPr>
              <a:t>开环控制和阀芯位移反馈闭环控制</a:t>
            </a:r>
            <a:endParaRPr lang="en-US" altLang="zh-CN" sz="2000" dirty="0">
              <a:latin typeface="微软雅黑" panose="020B0503020204020204" pitchFamily="34" charset="-122"/>
              <a:ea typeface="微软雅黑" panose="020B0503020204020204" pitchFamily="34" charset="-122"/>
            </a:endParaRPr>
          </a:p>
        </p:txBody>
      </p:sp>
      <p:pic>
        <p:nvPicPr>
          <p:cNvPr id="14" name="图片 13">
            <a:extLst>
              <a:ext uri="{FF2B5EF4-FFF2-40B4-BE49-F238E27FC236}">
                <a16:creationId xmlns:a16="http://schemas.microsoft.com/office/drawing/2014/main" id="{2C7F474D-B996-2D7B-2573-A1D237F85221}"/>
              </a:ext>
            </a:extLst>
          </p:cNvPr>
          <p:cNvPicPr>
            <a:picLocks noChangeAspect="1"/>
          </p:cNvPicPr>
          <p:nvPr/>
        </p:nvPicPr>
        <p:blipFill>
          <a:blip r:embed="rId4"/>
          <a:stretch>
            <a:fillRect/>
          </a:stretch>
        </p:blipFill>
        <p:spPr>
          <a:xfrm>
            <a:off x="6486425" y="2993930"/>
            <a:ext cx="4127226" cy="3016601"/>
          </a:xfrm>
          <a:prstGeom prst="rect">
            <a:avLst/>
          </a:prstGeom>
        </p:spPr>
      </p:pic>
      <p:sp>
        <p:nvSpPr>
          <p:cNvPr id="15" name="Rectangle 2">
            <a:extLst>
              <a:ext uri="{FF2B5EF4-FFF2-40B4-BE49-F238E27FC236}">
                <a16:creationId xmlns:a16="http://schemas.microsoft.com/office/drawing/2014/main" id="{3DEC577B-25B8-FF5E-F212-A41CF0439537}"/>
              </a:ext>
            </a:extLst>
          </p:cNvPr>
          <p:cNvSpPr txBox="1">
            <a:spLocks/>
          </p:cNvSpPr>
          <p:nvPr/>
        </p:nvSpPr>
        <p:spPr bwMode="auto">
          <a:xfrm>
            <a:off x="6645188" y="6155869"/>
            <a:ext cx="3522483" cy="414663"/>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noAutofit/>
          </a:bodyPr>
          <a:lst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ea typeface="宋体" pitchFamily="2" charset="-122"/>
              </a:defRPr>
            </a:lvl2pPr>
            <a:lvl3pPr algn="ctr" rtl="0" eaLnBrk="0" fontAlgn="base" hangingPunct="0">
              <a:spcBef>
                <a:spcPct val="0"/>
              </a:spcBef>
              <a:spcAft>
                <a:spcPct val="0"/>
              </a:spcAft>
              <a:defRPr sz="4400">
                <a:solidFill>
                  <a:schemeClr val="tx2"/>
                </a:solidFill>
                <a:latin typeface="Times New Roman" pitchFamily="18" charset="0"/>
                <a:ea typeface="宋体" pitchFamily="2" charset="-122"/>
              </a:defRPr>
            </a:lvl3pPr>
            <a:lvl4pPr algn="ctr" rtl="0" eaLnBrk="0" fontAlgn="base" hangingPunct="0">
              <a:spcBef>
                <a:spcPct val="0"/>
              </a:spcBef>
              <a:spcAft>
                <a:spcPct val="0"/>
              </a:spcAft>
              <a:defRPr sz="4400">
                <a:solidFill>
                  <a:schemeClr val="tx2"/>
                </a:solidFill>
                <a:latin typeface="Times New Roman" pitchFamily="18" charset="0"/>
                <a:ea typeface="宋体" pitchFamily="2" charset="-122"/>
              </a:defRPr>
            </a:lvl4pPr>
            <a:lvl5pPr algn="ctr" rtl="0" eaLnBrk="0" fontAlgn="base" hangingPunct="0">
              <a:spcBef>
                <a:spcPct val="0"/>
              </a:spcBef>
              <a:spcAft>
                <a:spcPct val="0"/>
              </a:spcAft>
              <a:defRPr sz="4400">
                <a:solidFill>
                  <a:schemeClr val="tx2"/>
                </a:solidFill>
                <a:latin typeface="Times New Roman" pitchFamily="18" charset="0"/>
                <a:ea typeface="宋体" pitchFamily="2" charset="-122"/>
              </a:defRPr>
            </a:lvl5pPr>
            <a:lvl6pPr marL="457200" algn="ctr" rtl="0" fontAlgn="base">
              <a:spcBef>
                <a:spcPct val="0"/>
              </a:spcBef>
              <a:spcAft>
                <a:spcPct val="0"/>
              </a:spcAft>
              <a:defRPr sz="4400">
                <a:solidFill>
                  <a:schemeClr val="tx2"/>
                </a:solidFill>
                <a:latin typeface="Times New Roman" pitchFamily="18" charset="0"/>
                <a:ea typeface="宋体" pitchFamily="2" charset="-122"/>
              </a:defRPr>
            </a:lvl6pPr>
            <a:lvl7pPr marL="914400" algn="ctr" rtl="0" fontAlgn="base">
              <a:spcBef>
                <a:spcPct val="0"/>
              </a:spcBef>
              <a:spcAft>
                <a:spcPct val="0"/>
              </a:spcAft>
              <a:defRPr sz="4400">
                <a:solidFill>
                  <a:schemeClr val="tx2"/>
                </a:solidFill>
                <a:latin typeface="Times New Roman" pitchFamily="18" charset="0"/>
                <a:ea typeface="宋体" pitchFamily="2" charset="-122"/>
              </a:defRPr>
            </a:lvl7pPr>
            <a:lvl8pPr marL="1371600" algn="ctr" rtl="0" fontAlgn="base">
              <a:spcBef>
                <a:spcPct val="0"/>
              </a:spcBef>
              <a:spcAft>
                <a:spcPct val="0"/>
              </a:spcAft>
              <a:defRPr sz="4400">
                <a:solidFill>
                  <a:schemeClr val="tx2"/>
                </a:solidFill>
                <a:latin typeface="Times New Roman" pitchFamily="18" charset="0"/>
                <a:ea typeface="宋体" pitchFamily="2" charset="-122"/>
              </a:defRPr>
            </a:lvl8pPr>
            <a:lvl9pPr marL="1828800" algn="ctr" rtl="0" fontAlgn="base">
              <a:spcBef>
                <a:spcPct val="0"/>
              </a:spcBef>
              <a:spcAft>
                <a:spcPct val="0"/>
              </a:spcAft>
              <a:defRPr sz="4400">
                <a:solidFill>
                  <a:schemeClr val="tx2"/>
                </a:solidFill>
                <a:latin typeface="Times New Roman" pitchFamily="18" charset="0"/>
                <a:ea typeface="宋体" pitchFamily="2" charset="-122"/>
              </a:defRPr>
            </a:lvl9pPr>
          </a:lstStyle>
          <a:p>
            <a:pPr>
              <a:defRPr/>
            </a:pPr>
            <a:r>
              <a:rPr lang="zh-CN" altLang="en-US" sz="1800" kern="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先导式电比例方向阀</a:t>
            </a:r>
          </a:p>
        </p:txBody>
      </p:sp>
      <p:sp>
        <p:nvSpPr>
          <p:cNvPr id="16" name="Rectangle 2">
            <a:extLst>
              <a:ext uri="{FF2B5EF4-FFF2-40B4-BE49-F238E27FC236}">
                <a16:creationId xmlns:a16="http://schemas.microsoft.com/office/drawing/2014/main" id="{5C8CCCDE-CD54-0102-DFA9-CEB56D9B606A}"/>
              </a:ext>
            </a:extLst>
          </p:cNvPr>
          <p:cNvSpPr txBox="1">
            <a:spLocks/>
          </p:cNvSpPr>
          <p:nvPr/>
        </p:nvSpPr>
        <p:spPr bwMode="auto">
          <a:xfrm>
            <a:off x="2129837" y="6155868"/>
            <a:ext cx="3522483" cy="414663"/>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noAutofit/>
          </a:bodyPr>
          <a:lst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ea typeface="宋体" pitchFamily="2" charset="-122"/>
              </a:defRPr>
            </a:lvl2pPr>
            <a:lvl3pPr algn="ctr" rtl="0" eaLnBrk="0" fontAlgn="base" hangingPunct="0">
              <a:spcBef>
                <a:spcPct val="0"/>
              </a:spcBef>
              <a:spcAft>
                <a:spcPct val="0"/>
              </a:spcAft>
              <a:defRPr sz="4400">
                <a:solidFill>
                  <a:schemeClr val="tx2"/>
                </a:solidFill>
                <a:latin typeface="Times New Roman" pitchFamily="18" charset="0"/>
                <a:ea typeface="宋体" pitchFamily="2" charset="-122"/>
              </a:defRPr>
            </a:lvl3pPr>
            <a:lvl4pPr algn="ctr" rtl="0" eaLnBrk="0" fontAlgn="base" hangingPunct="0">
              <a:spcBef>
                <a:spcPct val="0"/>
              </a:spcBef>
              <a:spcAft>
                <a:spcPct val="0"/>
              </a:spcAft>
              <a:defRPr sz="4400">
                <a:solidFill>
                  <a:schemeClr val="tx2"/>
                </a:solidFill>
                <a:latin typeface="Times New Roman" pitchFamily="18" charset="0"/>
                <a:ea typeface="宋体" pitchFamily="2" charset="-122"/>
              </a:defRPr>
            </a:lvl4pPr>
            <a:lvl5pPr algn="ctr" rtl="0" eaLnBrk="0" fontAlgn="base" hangingPunct="0">
              <a:spcBef>
                <a:spcPct val="0"/>
              </a:spcBef>
              <a:spcAft>
                <a:spcPct val="0"/>
              </a:spcAft>
              <a:defRPr sz="4400">
                <a:solidFill>
                  <a:schemeClr val="tx2"/>
                </a:solidFill>
                <a:latin typeface="Times New Roman" pitchFamily="18" charset="0"/>
                <a:ea typeface="宋体" pitchFamily="2" charset="-122"/>
              </a:defRPr>
            </a:lvl5pPr>
            <a:lvl6pPr marL="457200" algn="ctr" rtl="0" fontAlgn="base">
              <a:spcBef>
                <a:spcPct val="0"/>
              </a:spcBef>
              <a:spcAft>
                <a:spcPct val="0"/>
              </a:spcAft>
              <a:defRPr sz="4400">
                <a:solidFill>
                  <a:schemeClr val="tx2"/>
                </a:solidFill>
                <a:latin typeface="Times New Roman" pitchFamily="18" charset="0"/>
                <a:ea typeface="宋体" pitchFamily="2" charset="-122"/>
              </a:defRPr>
            </a:lvl6pPr>
            <a:lvl7pPr marL="914400" algn="ctr" rtl="0" fontAlgn="base">
              <a:spcBef>
                <a:spcPct val="0"/>
              </a:spcBef>
              <a:spcAft>
                <a:spcPct val="0"/>
              </a:spcAft>
              <a:defRPr sz="4400">
                <a:solidFill>
                  <a:schemeClr val="tx2"/>
                </a:solidFill>
                <a:latin typeface="Times New Roman" pitchFamily="18" charset="0"/>
                <a:ea typeface="宋体" pitchFamily="2" charset="-122"/>
              </a:defRPr>
            </a:lvl7pPr>
            <a:lvl8pPr marL="1371600" algn="ctr" rtl="0" fontAlgn="base">
              <a:spcBef>
                <a:spcPct val="0"/>
              </a:spcBef>
              <a:spcAft>
                <a:spcPct val="0"/>
              </a:spcAft>
              <a:defRPr sz="4400">
                <a:solidFill>
                  <a:schemeClr val="tx2"/>
                </a:solidFill>
                <a:latin typeface="Times New Roman" pitchFamily="18" charset="0"/>
                <a:ea typeface="宋体" pitchFamily="2" charset="-122"/>
              </a:defRPr>
            </a:lvl8pPr>
            <a:lvl9pPr marL="1828800" algn="ctr" rtl="0" fontAlgn="base">
              <a:spcBef>
                <a:spcPct val="0"/>
              </a:spcBef>
              <a:spcAft>
                <a:spcPct val="0"/>
              </a:spcAft>
              <a:defRPr sz="4400">
                <a:solidFill>
                  <a:schemeClr val="tx2"/>
                </a:solidFill>
                <a:latin typeface="Times New Roman" pitchFamily="18" charset="0"/>
                <a:ea typeface="宋体" pitchFamily="2" charset="-122"/>
              </a:defRPr>
            </a:lvl9pPr>
          </a:lstStyle>
          <a:p>
            <a:pPr>
              <a:defRPr/>
            </a:pPr>
            <a:r>
              <a:rPr lang="zh-CN" altLang="en-US" sz="1800" kern="0" dirty="0">
                <a:solidFill>
                  <a:schemeClr val="tx1"/>
                </a:solidFill>
                <a:latin typeface="微软雅黑" panose="020B0503020204020204" pitchFamily="34" charset="-122"/>
                <a:ea typeface="微软雅黑" panose="020B0503020204020204" pitchFamily="34" charset="-122"/>
                <a:cs typeface="Times New Roman" panose="02020603050405020304" pitchFamily="18" charset="0"/>
              </a:rPr>
              <a:t>直控式电比例方向阀</a:t>
            </a:r>
          </a:p>
        </p:txBody>
      </p:sp>
      <p:sp>
        <p:nvSpPr>
          <p:cNvPr id="2" name="矩形 1">
            <a:extLst>
              <a:ext uri="{FF2B5EF4-FFF2-40B4-BE49-F238E27FC236}">
                <a16:creationId xmlns:a16="http://schemas.microsoft.com/office/drawing/2014/main" id="{22B447B9-1A70-8ED8-D49B-10A657A954FA}"/>
              </a:ext>
            </a:extLst>
          </p:cNvPr>
          <p:cNvSpPr/>
          <p:nvPr/>
        </p:nvSpPr>
        <p:spPr>
          <a:xfrm>
            <a:off x="544341" y="847469"/>
            <a:ext cx="8680807" cy="662554"/>
          </a:xfrm>
          <a:prstGeom prst="rect">
            <a:avLst/>
          </a:prstGeom>
          <a:noFill/>
        </p:spPr>
        <p:txBody>
          <a:bodyPr wrap="square" rtlCol="0">
            <a:spAutoFit/>
          </a:bodyPr>
          <a:lstStyle/>
          <a:p>
            <a:pPr marL="457200" indent="-457200" algn="just">
              <a:lnSpc>
                <a:spcPct val="150000"/>
              </a:lnSpc>
              <a:spcBef>
                <a:spcPts val="1000"/>
              </a:spcBef>
              <a:buFont typeface="Wingdings" panose="05000000000000000000" pitchFamily="2" charset="2"/>
              <a:buChar char="p"/>
            </a:pPr>
            <a:r>
              <a:rPr lang="zh-CN" altLang="en-US" sz="2800" b="1" dirty="0">
                <a:solidFill>
                  <a:srgbClr val="003F88"/>
                </a:solidFill>
                <a:latin typeface="微软雅黑" panose="020B0503020204020204" pitchFamily="34" charset="-122"/>
                <a:ea typeface="微软雅黑" panose="020B0503020204020204" pitchFamily="34" charset="-122"/>
              </a:rPr>
              <a:t>电液比例方向阀</a:t>
            </a:r>
            <a:endParaRPr lang="en-US" altLang="zh-CN" sz="2800" b="1" dirty="0">
              <a:solidFill>
                <a:srgbClr val="003F88"/>
              </a:solidFill>
              <a:latin typeface="微软雅黑" panose="020B0503020204020204" pitchFamily="34" charset="-122"/>
              <a:ea typeface="微软雅黑" panose="020B0503020204020204" pitchFamily="34" charset="-122"/>
            </a:endParaRPr>
          </a:p>
        </p:txBody>
      </p:sp>
      <p:sp>
        <p:nvSpPr>
          <p:cNvPr id="17" name="文本框 16">
            <a:extLst>
              <a:ext uri="{FF2B5EF4-FFF2-40B4-BE49-F238E27FC236}">
                <a16:creationId xmlns:a16="http://schemas.microsoft.com/office/drawing/2014/main" id="{7E2F6F95-BE0E-4CB4-8F65-34B3D0F570BF}"/>
              </a:ext>
            </a:extLst>
          </p:cNvPr>
          <p:cNvSpPr txBox="1"/>
          <p:nvPr/>
        </p:nvSpPr>
        <p:spPr>
          <a:xfrm>
            <a:off x="429656" y="135415"/>
            <a:ext cx="3632036"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cs typeface="Times New Roman" panose="02020603050405020304" pitchFamily="18" charset="0"/>
              </a:rPr>
              <a:t>10.6</a:t>
            </a:r>
            <a:r>
              <a:rPr lang="en-US" altLang="zh-CN" sz="3600" b="1" dirty="0">
                <a:solidFill>
                  <a:srgbClr val="003F88"/>
                </a:solidFill>
                <a:latin typeface="+mn-ea"/>
              </a:rPr>
              <a:t> </a:t>
            </a:r>
            <a:r>
              <a:rPr lang="zh-CN" altLang="en-US" sz="3600" b="1" dirty="0">
                <a:solidFill>
                  <a:srgbClr val="003F88"/>
                </a:solidFill>
                <a:latin typeface="+mn-ea"/>
              </a:rPr>
              <a:t>电液比例阀</a:t>
            </a:r>
          </a:p>
        </p:txBody>
      </p:sp>
    </p:spTree>
    <p:extLst>
      <p:ext uri="{BB962C8B-B14F-4D97-AF65-F5344CB8AC3E}">
        <p14:creationId xmlns:p14="http://schemas.microsoft.com/office/powerpoint/2010/main" val="5449946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9CAB01-63EA-FEEA-EA1B-D5514847F89C}"/>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62BDF5E1-820C-4B0E-0799-26EBF8054CFB}"/>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1C9DD18E-A2BA-F283-4812-B10044C7FDA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0410915D-7D91-48F0-0B36-642DD419DCB4}"/>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0" name="图片 9">
            <a:extLst>
              <a:ext uri="{FF2B5EF4-FFF2-40B4-BE49-F238E27FC236}">
                <a16:creationId xmlns:a16="http://schemas.microsoft.com/office/drawing/2014/main" id="{FC63389F-5609-4D5A-9A56-223DDDC8C8F2}"/>
              </a:ext>
            </a:extLst>
          </p:cNvPr>
          <p:cNvPicPr>
            <a:picLocks noChangeAspect="1"/>
          </p:cNvPicPr>
          <p:nvPr/>
        </p:nvPicPr>
        <p:blipFill rotWithShape="1">
          <a:blip r:embed="rId4"/>
          <a:srcRect l="5100" r="3093" b="20264"/>
          <a:stretch/>
        </p:blipFill>
        <p:spPr>
          <a:xfrm>
            <a:off x="1388444" y="2883591"/>
            <a:ext cx="5777802" cy="3838994"/>
          </a:xfrm>
          <a:prstGeom prst="rect">
            <a:avLst/>
          </a:prstGeom>
        </p:spPr>
      </p:pic>
      <p:pic>
        <p:nvPicPr>
          <p:cNvPr id="11" name="图片 10">
            <a:extLst>
              <a:ext uri="{FF2B5EF4-FFF2-40B4-BE49-F238E27FC236}">
                <a16:creationId xmlns:a16="http://schemas.microsoft.com/office/drawing/2014/main" id="{FD87F744-2DCC-1A45-AE8F-EC9A9253DB42}"/>
              </a:ext>
            </a:extLst>
          </p:cNvPr>
          <p:cNvPicPr>
            <a:picLocks noChangeAspect="1"/>
          </p:cNvPicPr>
          <p:nvPr/>
        </p:nvPicPr>
        <p:blipFill rotWithShape="1">
          <a:blip r:embed="rId4"/>
          <a:srcRect l="35923" t="78203" r="21847"/>
          <a:stretch/>
        </p:blipFill>
        <p:spPr>
          <a:xfrm>
            <a:off x="7522820" y="2199590"/>
            <a:ext cx="2968962" cy="1172337"/>
          </a:xfrm>
          <a:prstGeom prst="rect">
            <a:avLst/>
          </a:prstGeom>
        </p:spPr>
      </p:pic>
      <p:sp>
        <p:nvSpPr>
          <p:cNvPr id="17" name="矩形 16">
            <a:extLst>
              <a:ext uri="{FF2B5EF4-FFF2-40B4-BE49-F238E27FC236}">
                <a16:creationId xmlns:a16="http://schemas.microsoft.com/office/drawing/2014/main" id="{D79278FE-9A12-DB08-977A-6926F4DDCAC1}"/>
              </a:ext>
            </a:extLst>
          </p:cNvPr>
          <p:cNvSpPr/>
          <p:nvPr/>
        </p:nvSpPr>
        <p:spPr>
          <a:xfrm>
            <a:off x="8233739" y="3371927"/>
            <a:ext cx="2727479" cy="2585323"/>
          </a:xfrm>
          <a:prstGeom prst="rect">
            <a:avLst/>
          </a:prstGeom>
        </p:spPr>
        <p:txBody>
          <a:bodyPr wrap="square">
            <a:spAutoFit/>
          </a:bodyPr>
          <a:lstStyle/>
          <a:p>
            <a:r>
              <a:rPr lang="en-US" altLang="zh-CN" dirty="0">
                <a:latin typeface="微软雅黑" panose="020B0503020204020204" pitchFamily="34" charset="-122"/>
                <a:ea typeface="微软雅黑" panose="020B0503020204020204" pitchFamily="34" charset="-122"/>
              </a:rPr>
              <a:t>1</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2—</a:t>
            </a:r>
            <a:r>
              <a:rPr lang="zh-CN" altLang="en-US" dirty="0">
                <a:latin typeface="微软雅黑" panose="020B0503020204020204" pitchFamily="34" charset="-122"/>
                <a:ea typeface="微软雅黑" panose="020B0503020204020204" pitchFamily="34" charset="-122"/>
              </a:rPr>
              <a:t>比例电磁铁 </a:t>
            </a:r>
            <a:br>
              <a:rPr lang="en-US" altLang="zh-CN" dirty="0">
                <a:latin typeface="微软雅黑" panose="020B0503020204020204" pitchFamily="34" charset="-122"/>
                <a:ea typeface="微软雅黑" panose="020B0503020204020204" pitchFamily="34" charset="-122"/>
              </a:rPr>
            </a:br>
            <a:r>
              <a:rPr lang="en-US" altLang="zh-CN" dirty="0">
                <a:latin typeface="微软雅黑" panose="020B0503020204020204" pitchFamily="34" charset="-122"/>
                <a:ea typeface="微软雅黑" panose="020B0503020204020204" pitchFamily="34" charset="-122"/>
              </a:rPr>
              <a:t>3—</a:t>
            </a:r>
            <a:r>
              <a:rPr lang="zh-CN" altLang="en-US" dirty="0">
                <a:latin typeface="微软雅黑" panose="020B0503020204020204" pitchFamily="34" charset="-122"/>
                <a:ea typeface="微软雅黑" panose="020B0503020204020204" pitchFamily="34" charset="-122"/>
              </a:rPr>
              <a:t>先导阀阀体</a:t>
            </a:r>
            <a:br>
              <a:rPr lang="en-US" altLang="zh-CN" dirty="0">
                <a:latin typeface="微软雅黑" panose="020B0503020204020204" pitchFamily="34" charset="-122"/>
                <a:ea typeface="微软雅黑" panose="020B0503020204020204" pitchFamily="34" charset="-122"/>
              </a:rPr>
            </a:br>
            <a:r>
              <a:rPr lang="en-US" altLang="zh-CN" dirty="0">
                <a:latin typeface="微软雅黑" panose="020B0503020204020204" pitchFamily="34" charset="-122"/>
                <a:ea typeface="微软雅黑" panose="020B0503020204020204" pitchFamily="34" charset="-122"/>
              </a:rPr>
              <a:t>4—</a:t>
            </a:r>
            <a:r>
              <a:rPr lang="zh-CN" altLang="en-US" dirty="0">
                <a:latin typeface="微软雅黑" panose="020B0503020204020204" pitchFamily="34" charset="-122"/>
                <a:ea typeface="微软雅黑" panose="020B0503020204020204" pitchFamily="34" charset="-122"/>
              </a:rPr>
              <a:t>先导阀阀芯 </a:t>
            </a:r>
            <a:br>
              <a:rPr lang="en-US" altLang="zh-CN" dirty="0">
                <a:latin typeface="微软雅黑" panose="020B0503020204020204" pitchFamily="34" charset="-122"/>
                <a:ea typeface="微软雅黑" panose="020B0503020204020204" pitchFamily="34" charset="-122"/>
              </a:rPr>
            </a:br>
            <a:r>
              <a:rPr lang="en-US" altLang="zh-CN" dirty="0">
                <a:latin typeface="微软雅黑" panose="020B0503020204020204" pitchFamily="34" charset="-122"/>
                <a:ea typeface="微软雅黑" panose="020B0503020204020204" pitchFamily="34" charset="-122"/>
              </a:rPr>
              <a:t>5—</a:t>
            </a:r>
            <a:r>
              <a:rPr lang="zh-CN" altLang="en-US" dirty="0">
                <a:latin typeface="微软雅黑" panose="020B0503020204020204" pitchFamily="34" charset="-122"/>
                <a:ea typeface="微软雅黑" panose="020B0503020204020204" pitchFamily="34" charset="-122"/>
              </a:rPr>
              <a:t>左固定阻尼孔 </a:t>
            </a:r>
            <a:br>
              <a:rPr lang="en-US" altLang="zh-CN" dirty="0">
                <a:latin typeface="微软雅黑" panose="020B0503020204020204" pitchFamily="34" charset="-122"/>
                <a:ea typeface="微软雅黑" panose="020B0503020204020204" pitchFamily="34" charset="-122"/>
              </a:rPr>
            </a:br>
            <a:r>
              <a:rPr lang="en-US" altLang="zh-CN" dirty="0">
                <a:latin typeface="微软雅黑" panose="020B0503020204020204" pitchFamily="34" charset="-122"/>
                <a:ea typeface="微软雅黑" panose="020B0503020204020204" pitchFamily="34" charset="-122"/>
              </a:rPr>
              <a:t>6—</a:t>
            </a:r>
            <a:r>
              <a:rPr lang="zh-CN" altLang="en-US" dirty="0">
                <a:latin typeface="微软雅黑" panose="020B0503020204020204" pitchFamily="34" charset="-122"/>
                <a:ea typeface="微软雅黑" panose="020B0503020204020204" pitchFamily="34" charset="-122"/>
              </a:rPr>
              <a:t>反馈活塞</a:t>
            </a:r>
            <a:br>
              <a:rPr lang="en-US" altLang="zh-CN" dirty="0">
                <a:latin typeface="微软雅黑" panose="020B0503020204020204" pitchFamily="34" charset="-122"/>
                <a:ea typeface="微软雅黑" panose="020B0503020204020204" pitchFamily="34" charset="-122"/>
              </a:rPr>
            </a:br>
            <a:r>
              <a:rPr lang="en-US" altLang="zh-CN" dirty="0">
                <a:latin typeface="微软雅黑" panose="020B0503020204020204" pitchFamily="34" charset="-122"/>
                <a:ea typeface="微软雅黑" panose="020B0503020204020204" pitchFamily="34" charset="-122"/>
              </a:rPr>
              <a:t>7—</a:t>
            </a:r>
            <a:r>
              <a:rPr lang="zh-CN" altLang="en-US" dirty="0">
                <a:latin typeface="微软雅黑" panose="020B0503020204020204" pitchFamily="34" charset="-122"/>
                <a:ea typeface="微软雅黑" panose="020B0503020204020204" pitchFamily="34" charset="-122"/>
              </a:rPr>
              <a:t>主阀阀体 </a:t>
            </a:r>
            <a:br>
              <a:rPr lang="en-US" altLang="zh-CN" dirty="0">
                <a:latin typeface="微软雅黑" panose="020B0503020204020204" pitchFamily="34" charset="-122"/>
                <a:ea typeface="微软雅黑" panose="020B0503020204020204" pitchFamily="34" charset="-122"/>
              </a:rPr>
            </a:br>
            <a:r>
              <a:rPr lang="en-US" altLang="zh-CN" dirty="0">
                <a:latin typeface="微软雅黑" panose="020B0503020204020204" pitchFamily="34" charset="-122"/>
                <a:ea typeface="微软雅黑" panose="020B0503020204020204" pitchFamily="34" charset="-122"/>
              </a:rPr>
              <a:t>8—</a:t>
            </a:r>
            <a:r>
              <a:rPr lang="zh-CN" altLang="en-US" dirty="0">
                <a:latin typeface="微软雅黑" panose="020B0503020204020204" pitchFamily="34" charset="-122"/>
                <a:ea typeface="微软雅黑" panose="020B0503020204020204" pitchFamily="34" charset="-122"/>
              </a:rPr>
              <a:t>主阀阀芯 </a:t>
            </a:r>
            <a:br>
              <a:rPr lang="en-US" altLang="zh-CN" dirty="0">
                <a:latin typeface="微软雅黑" panose="020B0503020204020204" pitchFamily="34" charset="-122"/>
                <a:ea typeface="微软雅黑" panose="020B0503020204020204" pitchFamily="34" charset="-122"/>
              </a:rPr>
            </a:br>
            <a:r>
              <a:rPr lang="en-US" altLang="zh-CN" dirty="0">
                <a:latin typeface="微软雅黑" panose="020B0503020204020204" pitchFamily="34" charset="-122"/>
                <a:ea typeface="微软雅黑" panose="020B0503020204020204" pitchFamily="34" charset="-122"/>
              </a:rPr>
              <a:t>9—</a:t>
            </a:r>
            <a:r>
              <a:rPr lang="zh-CN" altLang="en-US" dirty="0">
                <a:latin typeface="微软雅黑" panose="020B0503020204020204" pitchFamily="34" charset="-122"/>
                <a:ea typeface="微软雅黑" panose="020B0503020204020204" pitchFamily="34" charset="-122"/>
              </a:rPr>
              <a:t>弹簧座 </a:t>
            </a:r>
            <a:br>
              <a:rPr lang="en-US" altLang="zh-CN" dirty="0">
                <a:latin typeface="微软雅黑" panose="020B0503020204020204" pitchFamily="34" charset="-122"/>
                <a:ea typeface="微软雅黑" panose="020B0503020204020204" pitchFamily="34" charset="-122"/>
              </a:rPr>
            </a:br>
            <a:r>
              <a:rPr lang="en-US" altLang="zh-CN" dirty="0">
                <a:latin typeface="微软雅黑" panose="020B0503020204020204" pitchFamily="34" charset="-122"/>
                <a:ea typeface="微软雅黑" panose="020B0503020204020204" pitchFamily="34" charset="-122"/>
              </a:rPr>
              <a:t>10—</a:t>
            </a:r>
            <a:r>
              <a:rPr lang="zh-CN" altLang="en-US" dirty="0">
                <a:latin typeface="微软雅黑" panose="020B0503020204020204" pitchFamily="34" charset="-122"/>
                <a:ea typeface="微软雅黑" panose="020B0503020204020204" pitchFamily="34" charset="-122"/>
              </a:rPr>
              <a:t>主阀对中弹簧</a:t>
            </a:r>
          </a:p>
        </p:txBody>
      </p:sp>
      <p:sp>
        <p:nvSpPr>
          <p:cNvPr id="18" name="矩形 17">
            <a:extLst>
              <a:ext uri="{FF2B5EF4-FFF2-40B4-BE49-F238E27FC236}">
                <a16:creationId xmlns:a16="http://schemas.microsoft.com/office/drawing/2014/main" id="{B8C05618-7E26-0557-1179-DCE5B8BC8BEE}"/>
              </a:ext>
            </a:extLst>
          </p:cNvPr>
          <p:cNvSpPr/>
          <p:nvPr/>
        </p:nvSpPr>
        <p:spPr>
          <a:xfrm>
            <a:off x="889323" y="1412969"/>
            <a:ext cx="2954655" cy="581057"/>
          </a:xfrm>
          <a:prstGeom prst="rect">
            <a:avLst/>
          </a:prstGeom>
        </p:spPr>
        <p:txBody>
          <a:bodyPr wrap="none">
            <a:spAutoFit/>
          </a:bodyPr>
          <a:lstStyle/>
          <a:p>
            <a:pPr algn="just">
              <a:lnSpc>
                <a:spcPct val="150000"/>
              </a:lnSpc>
            </a:pPr>
            <a:r>
              <a:rPr lang="zh-CN" altLang="en-US" sz="2400" b="1" kern="0" dirty="0">
                <a:latin typeface="+mn-ea"/>
              </a:rPr>
              <a:t>先导式电比例方向阀</a:t>
            </a:r>
          </a:p>
        </p:txBody>
      </p:sp>
      <p:sp>
        <p:nvSpPr>
          <p:cNvPr id="19" name="矩形 18">
            <a:extLst>
              <a:ext uri="{FF2B5EF4-FFF2-40B4-BE49-F238E27FC236}">
                <a16:creationId xmlns:a16="http://schemas.microsoft.com/office/drawing/2014/main" id="{4C87FAC0-E1A2-B314-CC14-C3D94522296C}"/>
              </a:ext>
            </a:extLst>
          </p:cNvPr>
          <p:cNvSpPr/>
          <p:nvPr/>
        </p:nvSpPr>
        <p:spPr>
          <a:xfrm>
            <a:off x="1726405" y="1931212"/>
            <a:ext cx="3865161" cy="961289"/>
          </a:xfrm>
          <a:prstGeom prst="rect">
            <a:avLst/>
          </a:prstGeom>
        </p:spPr>
        <p:txBody>
          <a:bodyPr wrap="none">
            <a:spAutoFit/>
          </a:bodyPr>
          <a:lstStyle/>
          <a:p>
            <a:pPr marL="342900" indent="-342900">
              <a:lnSpc>
                <a:spcPct val="150000"/>
              </a:lnSpc>
              <a:buFont typeface="Arial" panose="020B0604020202020204" pitchFamily="34" charset="0"/>
              <a:buChar char="•"/>
            </a:pPr>
            <a:r>
              <a:rPr lang="zh-CN" altLang="en-US" sz="2000" dirty="0">
                <a:latin typeface="微软雅黑" panose="020B0503020204020204" pitchFamily="34" charset="-122"/>
                <a:ea typeface="微软雅黑" panose="020B0503020204020204" pitchFamily="34" charset="-122"/>
              </a:rPr>
              <a:t>比例电磁铁控制先导阀压力</a:t>
            </a:r>
            <a:endParaRPr lang="en-US" altLang="zh-CN" sz="2000" dirty="0">
              <a:latin typeface="微软雅黑" panose="020B0503020204020204" pitchFamily="34" charset="-122"/>
              <a:ea typeface="微软雅黑" panose="020B0503020204020204" pitchFamily="34" charset="-122"/>
            </a:endParaRPr>
          </a:p>
          <a:p>
            <a:pPr marL="342900" indent="-342900">
              <a:lnSpc>
                <a:spcPct val="150000"/>
              </a:lnSpc>
              <a:buFont typeface="Arial" panose="020B0604020202020204" pitchFamily="34" charset="0"/>
              <a:buChar char="•"/>
            </a:pPr>
            <a:r>
              <a:rPr lang="zh-CN" altLang="en-US" sz="2000" dirty="0">
                <a:latin typeface="微软雅黑" panose="020B0503020204020204" pitchFamily="34" charset="-122"/>
                <a:ea typeface="微软雅黑" panose="020B0503020204020204" pitchFamily="34" charset="-122"/>
              </a:rPr>
              <a:t>电磁力与主阀阀芯位移成正比</a:t>
            </a:r>
          </a:p>
        </p:txBody>
      </p:sp>
      <p:sp>
        <p:nvSpPr>
          <p:cNvPr id="2" name="矩形 1">
            <a:extLst>
              <a:ext uri="{FF2B5EF4-FFF2-40B4-BE49-F238E27FC236}">
                <a16:creationId xmlns:a16="http://schemas.microsoft.com/office/drawing/2014/main" id="{69BFAA0F-F39A-9989-7C99-DC0F03F8DD04}"/>
              </a:ext>
            </a:extLst>
          </p:cNvPr>
          <p:cNvSpPr/>
          <p:nvPr/>
        </p:nvSpPr>
        <p:spPr>
          <a:xfrm>
            <a:off x="429656" y="866144"/>
            <a:ext cx="8680807" cy="662554"/>
          </a:xfrm>
          <a:prstGeom prst="rect">
            <a:avLst/>
          </a:prstGeom>
          <a:noFill/>
        </p:spPr>
        <p:txBody>
          <a:bodyPr wrap="square" rtlCol="0">
            <a:spAutoFit/>
          </a:bodyPr>
          <a:lstStyle/>
          <a:p>
            <a:pPr marL="457200" indent="-457200" algn="just">
              <a:lnSpc>
                <a:spcPct val="150000"/>
              </a:lnSpc>
              <a:spcBef>
                <a:spcPts val="1000"/>
              </a:spcBef>
              <a:buFont typeface="Wingdings" panose="05000000000000000000" pitchFamily="2" charset="2"/>
              <a:buChar char="p"/>
            </a:pPr>
            <a:r>
              <a:rPr lang="zh-CN" altLang="en-US" sz="2800" b="1" dirty="0">
                <a:solidFill>
                  <a:srgbClr val="003F88"/>
                </a:solidFill>
                <a:latin typeface="微软雅黑" panose="020B0503020204020204" pitchFamily="34" charset="-122"/>
                <a:ea typeface="微软雅黑" panose="020B0503020204020204" pitchFamily="34" charset="-122"/>
              </a:rPr>
              <a:t>电液比例方向阀</a:t>
            </a:r>
            <a:endParaRPr lang="en-US" altLang="zh-CN" sz="2800" b="1" dirty="0">
              <a:solidFill>
                <a:srgbClr val="003F88"/>
              </a:solidFill>
              <a:latin typeface="微软雅黑" panose="020B0503020204020204" pitchFamily="34" charset="-122"/>
              <a:ea typeface="微软雅黑" panose="020B0503020204020204" pitchFamily="34" charset="-122"/>
            </a:endParaRPr>
          </a:p>
        </p:txBody>
      </p:sp>
      <p:sp>
        <p:nvSpPr>
          <p:cNvPr id="12" name="文本框 11">
            <a:extLst>
              <a:ext uri="{FF2B5EF4-FFF2-40B4-BE49-F238E27FC236}">
                <a16:creationId xmlns:a16="http://schemas.microsoft.com/office/drawing/2014/main" id="{7BB6CEA4-6DD5-475B-8AF2-FDCB807301CA}"/>
              </a:ext>
            </a:extLst>
          </p:cNvPr>
          <p:cNvSpPr txBox="1"/>
          <p:nvPr/>
        </p:nvSpPr>
        <p:spPr>
          <a:xfrm>
            <a:off x="429656" y="135415"/>
            <a:ext cx="3632036"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cs typeface="Times New Roman" panose="02020603050405020304" pitchFamily="18" charset="0"/>
              </a:rPr>
              <a:t>10.6</a:t>
            </a:r>
            <a:r>
              <a:rPr lang="en-US" altLang="zh-CN" sz="3600" b="1" dirty="0">
                <a:solidFill>
                  <a:srgbClr val="003F88"/>
                </a:solidFill>
                <a:latin typeface="+mn-ea"/>
              </a:rPr>
              <a:t> </a:t>
            </a:r>
            <a:r>
              <a:rPr lang="zh-CN" altLang="en-US" sz="3600" b="1" dirty="0">
                <a:solidFill>
                  <a:srgbClr val="003F88"/>
                </a:solidFill>
                <a:latin typeface="+mn-ea"/>
              </a:rPr>
              <a:t>电液比例阀</a:t>
            </a:r>
          </a:p>
        </p:txBody>
      </p:sp>
    </p:spTree>
    <p:extLst>
      <p:ext uri="{BB962C8B-B14F-4D97-AF65-F5344CB8AC3E}">
        <p14:creationId xmlns:p14="http://schemas.microsoft.com/office/powerpoint/2010/main" val="10926451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FFDC63-AA78-2780-CFCE-ECC36E6D9E63}"/>
            </a:ext>
          </a:extLst>
        </p:cNvPr>
        <p:cNvGrpSpPr/>
        <p:nvPr/>
      </p:nvGrpSpPr>
      <p:grpSpPr>
        <a:xfrm>
          <a:off x="0" y="0"/>
          <a:ext cx="0" cy="0"/>
          <a:chOff x="0" y="0"/>
          <a:chExt cx="0" cy="0"/>
        </a:xfrm>
      </p:grpSpPr>
      <p:pic>
        <p:nvPicPr>
          <p:cNvPr id="28" name="图片 27">
            <a:extLst>
              <a:ext uri="{FF2B5EF4-FFF2-40B4-BE49-F238E27FC236}">
                <a16:creationId xmlns:a16="http://schemas.microsoft.com/office/drawing/2014/main" id="{D1D85040-A086-883B-60B1-7E6F886638D1}"/>
              </a:ext>
            </a:extLst>
          </p:cNvPr>
          <p:cNvPicPr>
            <a:picLocks noChangeAspect="1"/>
          </p:cNvPicPr>
          <p:nvPr/>
        </p:nvPicPr>
        <p:blipFill>
          <a:blip r:embed="rId3"/>
          <a:stretch>
            <a:fillRect/>
          </a:stretch>
        </p:blipFill>
        <p:spPr>
          <a:xfrm>
            <a:off x="7825265" y="2062258"/>
            <a:ext cx="4335340" cy="2909732"/>
          </a:xfrm>
          <a:prstGeom prst="rect">
            <a:avLst/>
          </a:prstGeom>
        </p:spPr>
      </p:pic>
      <p:cxnSp>
        <p:nvCxnSpPr>
          <p:cNvPr id="5" name="直接连接符 4">
            <a:extLst>
              <a:ext uri="{FF2B5EF4-FFF2-40B4-BE49-F238E27FC236}">
                <a16:creationId xmlns:a16="http://schemas.microsoft.com/office/drawing/2014/main" id="{DBD16DB7-48D4-45B4-28EA-2FCD087AB833}"/>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ABEA7504-8775-481E-42B2-5CC0C4F5026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372E97D6-ECF0-DBF3-C0C2-C9E45DFF24D2}"/>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 name="图片 14" descr="屏幕剪辑">
            <a:extLst>
              <a:ext uri="{FF2B5EF4-FFF2-40B4-BE49-F238E27FC236}">
                <a16:creationId xmlns:a16="http://schemas.microsoft.com/office/drawing/2014/main" id="{D68378F1-3063-3D71-145F-5EFA69C6226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83375" y="1775943"/>
            <a:ext cx="3761078" cy="2511847"/>
          </a:xfrm>
          <a:prstGeom prst="rect">
            <a:avLst/>
          </a:prstGeom>
        </p:spPr>
      </p:pic>
      <p:sp>
        <p:nvSpPr>
          <p:cNvPr id="16" name="文本框 15">
            <a:extLst>
              <a:ext uri="{FF2B5EF4-FFF2-40B4-BE49-F238E27FC236}">
                <a16:creationId xmlns:a16="http://schemas.microsoft.com/office/drawing/2014/main" id="{67B50638-C036-A0C5-D874-EE6C155254A5}"/>
              </a:ext>
            </a:extLst>
          </p:cNvPr>
          <p:cNvSpPr txBox="1"/>
          <p:nvPr/>
        </p:nvSpPr>
        <p:spPr>
          <a:xfrm>
            <a:off x="88584" y="4549501"/>
            <a:ext cx="4824536" cy="1261884"/>
          </a:xfrm>
          <a:prstGeom prst="rect">
            <a:avLst/>
          </a:prstGeom>
          <a:noFill/>
        </p:spPr>
        <p:txBody>
          <a:bodyPr wrap="square" rtlCol="0">
            <a:spAutoFit/>
          </a:bodyPr>
          <a:lstStyle/>
          <a:p>
            <a:pPr algn="ctr">
              <a:spcBef>
                <a:spcPts val="384"/>
              </a:spcBef>
            </a:pPr>
            <a:r>
              <a:rPr lang="en-US" altLang="zh-CN" dirty="0">
                <a:latin typeface="微软雅黑" panose="020B0503020204020204" pitchFamily="34" charset="-122"/>
                <a:ea typeface="微软雅黑" panose="020B0503020204020204" pitchFamily="34" charset="-122"/>
              </a:rPr>
              <a:t>1.Parker D1FP E50M</a:t>
            </a:r>
            <a:r>
              <a:rPr lang="zh-CN" altLang="en-US" dirty="0">
                <a:latin typeface="微软雅黑" panose="020B0503020204020204" pitchFamily="34" charset="-122"/>
                <a:ea typeface="微软雅黑" panose="020B0503020204020204" pitchFamily="34" charset="-122"/>
              </a:rPr>
              <a:t>高频响比例方向阀</a:t>
            </a:r>
            <a:endParaRPr lang="en-US" altLang="zh-CN" dirty="0">
              <a:latin typeface="微软雅黑" panose="020B0503020204020204" pitchFamily="34" charset="-122"/>
              <a:ea typeface="微软雅黑" panose="020B0503020204020204" pitchFamily="34" charset="-122"/>
            </a:endParaRPr>
          </a:p>
          <a:p>
            <a:pPr algn="ctr">
              <a:spcBef>
                <a:spcPts val="384"/>
              </a:spcBef>
            </a:pPr>
            <a:r>
              <a:rPr lang="zh-CN" altLang="en-US" sz="1600" dirty="0">
                <a:latin typeface="微软雅黑" panose="020B0503020204020204" pitchFamily="34" charset="-122"/>
                <a:ea typeface="微软雅黑" panose="020B0503020204020204" pitchFamily="34" charset="-122"/>
              </a:rPr>
              <a:t>额定流量（单边压降</a:t>
            </a:r>
            <a:r>
              <a:rPr lang="en-US" altLang="zh-CN" sz="1600" dirty="0">
                <a:latin typeface="微软雅黑" panose="020B0503020204020204" pitchFamily="34" charset="-122"/>
                <a:ea typeface="微软雅黑" panose="020B0503020204020204" pitchFamily="34" charset="-122"/>
              </a:rPr>
              <a:t>35bar</a:t>
            </a:r>
            <a:r>
              <a:rPr lang="zh-CN" altLang="en-US" sz="1600" dirty="0">
                <a:latin typeface="微软雅黑" panose="020B0503020204020204" pitchFamily="34" charset="-122"/>
                <a:ea typeface="微软雅黑" panose="020B0503020204020204" pitchFamily="34" charset="-122"/>
              </a:rPr>
              <a:t>）：</a:t>
            </a:r>
            <a:r>
              <a:rPr lang="en-US" altLang="zh-CN" sz="1600" dirty="0">
                <a:latin typeface="微软雅黑" panose="020B0503020204020204" pitchFamily="34" charset="-122"/>
                <a:ea typeface="微软雅黑" panose="020B0503020204020204" pitchFamily="34" charset="-122"/>
              </a:rPr>
              <a:t>40L/min</a:t>
            </a:r>
          </a:p>
          <a:p>
            <a:pPr algn="ctr">
              <a:spcBef>
                <a:spcPts val="384"/>
              </a:spcBef>
            </a:pPr>
            <a:r>
              <a:rPr lang="zh-CN" altLang="en-US" sz="1600" dirty="0">
                <a:latin typeface="微软雅黑" panose="020B0503020204020204" pitchFamily="34" charset="-122"/>
                <a:ea typeface="微软雅黑" panose="020B0503020204020204" pitchFamily="34" charset="-122"/>
              </a:rPr>
              <a:t>阶跃响应时间（</a:t>
            </a:r>
            <a:r>
              <a:rPr lang="en-US" altLang="zh-CN" sz="1600" dirty="0">
                <a:latin typeface="微软雅黑" panose="020B0503020204020204" pitchFamily="34" charset="-122"/>
                <a:ea typeface="微软雅黑" panose="020B0503020204020204" pitchFamily="34" charset="-122"/>
              </a:rPr>
              <a:t>100%</a:t>
            </a:r>
            <a:r>
              <a:rPr lang="zh-CN" altLang="en-US" sz="1600" dirty="0">
                <a:latin typeface="微软雅黑" panose="020B0503020204020204" pitchFamily="34" charset="-122"/>
                <a:ea typeface="微软雅黑" panose="020B0503020204020204" pitchFamily="34" charset="-122"/>
              </a:rPr>
              <a:t>）：</a:t>
            </a:r>
            <a:r>
              <a:rPr lang="en-US" altLang="zh-CN" sz="1600" dirty="0">
                <a:latin typeface="微软雅黑" panose="020B0503020204020204" pitchFamily="34" charset="-122"/>
                <a:ea typeface="微软雅黑" panose="020B0503020204020204" pitchFamily="34" charset="-122"/>
              </a:rPr>
              <a:t>3.5ms</a:t>
            </a:r>
          </a:p>
          <a:p>
            <a:pPr algn="ctr">
              <a:spcBef>
                <a:spcPts val="384"/>
              </a:spcBef>
            </a:pPr>
            <a:r>
              <a:rPr lang="zh-CN" altLang="en-US" sz="1600" dirty="0">
                <a:latin typeface="微软雅黑" panose="020B0503020204020204" pitchFamily="34" charset="-122"/>
                <a:ea typeface="微软雅黑" panose="020B0503020204020204" pitchFamily="34" charset="-122"/>
              </a:rPr>
              <a:t>频率响应（</a:t>
            </a:r>
            <a:r>
              <a:rPr lang="en-US" altLang="zh-CN" sz="1600" dirty="0">
                <a:latin typeface="微软雅黑" panose="020B0503020204020204" pitchFamily="34" charset="-122"/>
                <a:ea typeface="微软雅黑" panose="020B0503020204020204" pitchFamily="34" charset="-122"/>
              </a:rPr>
              <a:t>±5%</a:t>
            </a:r>
            <a:r>
              <a:rPr lang="zh-CN" altLang="en-US" sz="1600" dirty="0">
                <a:latin typeface="微软雅黑" panose="020B0503020204020204" pitchFamily="34" charset="-122"/>
                <a:ea typeface="微软雅黑" panose="020B0503020204020204" pitchFamily="34" charset="-122"/>
              </a:rPr>
              <a:t>）：</a:t>
            </a:r>
            <a:r>
              <a:rPr lang="en-US" altLang="zh-CN" sz="1600" dirty="0">
                <a:latin typeface="微软雅黑" panose="020B0503020204020204" pitchFamily="34" charset="-122"/>
                <a:ea typeface="微软雅黑" panose="020B0503020204020204" pitchFamily="34" charset="-122"/>
              </a:rPr>
              <a:t>350Hz</a:t>
            </a:r>
          </a:p>
        </p:txBody>
      </p:sp>
      <p:pic>
        <p:nvPicPr>
          <p:cNvPr id="20" name="图片 19" descr="屏幕剪辑">
            <a:extLst>
              <a:ext uri="{FF2B5EF4-FFF2-40B4-BE49-F238E27FC236}">
                <a16:creationId xmlns:a16="http://schemas.microsoft.com/office/drawing/2014/main" id="{9EE9A1D3-DD60-ED3A-485B-98D6686FED1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848180" y="1993257"/>
            <a:ext cx="3160753" cy="3701894"/>
          </a:xfrm>
          <a:prstGeom prst="rect">
            <a:avLst/>
          </a:prstGeom>
        </p:spPr>
      </p:pic>
      <p:sp>
        <p:nvSpPr>
          <p:cNvPr id="21" name="文本框 20">
            <a:extLst>
              <a:ext uri="{FF2B5EF4-FFF2-40B4-BE49-F238E27FC236}">
                <a16:creationId xmlns:a16="http://schemas.microsoft.com/office/drawing/2014/main" id="{23E72042-7AB5-C218-C588-2984C3C3BE19}"/>
              </a:ext>
            </a:extLst>
          </p:cNvPr>
          <p:cNvSpPr txBox="1"/>
          <p:nvPr/>
        </p:nvSpPr>
        <p:spPr>
          <a:xfrm>
            <a:off x="4847983" y="5688275"/>
            <a:ext cx="3690992" cy="338554"/>
          </a:xfrm>
          <a:prstGeom prst="rect">
            <a:avLst/>
          </a:prstGeom>
          <a:noFill/>
        </p:spPr>
        <p:txBody>
          <a:bodyPr wrap="square" rtlCol="0">
            <a:spAutoFit/>
          </a:bodyPr>
          <a:lstStyle/>
          <a:p>
            <a:pPr algn="ctr">
              <a:spcBef>
                <a:spcPts val="384"/>
              </a:spcBef>
            </a:pPr>
            <a:r>
              <a:rPr lang="zh-CN" altLang="en-US" sz="1600" dirty="0">
                <a:latin typeface="微软雅黑" panose="020B0503020204020204" pitchFamily="34" charset="-122"/>
                <a:ea typeface="微软雅黑" panose="020B0503020204020204" pitchFamily="34" charset="-122"/>
              </a:rPr>
              <a:t>不同控制信号下的流量</a:t>
            </a:r>
            <a:r>
              <a:rPr lang="en-US" altLang="zh-CN" sz="1600" dirty="0">
                <a:latin typeface="微软雅黑" panose="020B0503020204020204" pitchFamily="34" charset="-122"/>
                <a:ea typeface="微软雅黑" panose="020B0503020204020204" pitchFamily="34" charset="-122"/>
              </a:rPr>
              <a:t>-</a:t>
            </a:r>
            <a:r>
              <a:rPr lang="zh-CN" altLang="en-US" sz="1600" dirty="0">
                <a:latin typeface="微软雅黑" panose="020B0503020204020204" pitchFamily="34" charset="-122"/>
                <a:ea typeface="微软雅黑" panose="020B0503020204020204" pitchFamily="34" charset="-122"/>
              </a:rPr>
              <a:t>压力特性曲线</a:t>
            </a:r>
          </a:p>
        </p:txBody>
      </p:sp>
      <p:cxnSp>
        <p:nvCxnSpPr>
          <p:cNvPr id="22" name="直接连接符 21">
            <a:extLst>
              <a:ext uri="{FF2B5EF4-FFF2-40B4-BE49-F238E27FC236}">
                <a16:creationId xmlns:a16="http://schemas.microsoft.com/office/drawing/2014/main" id="{23294621-02D6-F142-9BA9-6E413A459109}"/>
              </a:ext>
            </a:extLst>
          </p:cNvPr>
          <p:cNvCxnSpPr>
            <a:cxnSpLocks/>
          </p:cNvCxnSpPr>
          <p:nvPr/>
        </p:nvCxnSpPr>
        <p:spPr>
          <a:xfrm>
            <a:off x="5773069" y="3970579"/>
            <a:ext cx="0" cy="138054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23" name="椭圆 22">
            <a:extLst>
              <a:ext uri="{FF2B5EF4-FFF2-40B4-BE49-F238E27FC236}">
                <a16:creationId xmlns:a16="http://schemas.microsoft.com/office/drawing/2014/main" id="{0D19D828-05D2-F751-A848-2093C37C3E57}"/>
              </a:ext>
            </a:extLst>
          </p:cNvPr>
          <p:cNvSpPr/>
          <p:nvPr/>
        </p:nvSpPr>
        <p:spPr>
          <a:xfrm>
            <a:off x="5701061" y="3898571"/>
            <a:ext cx="144016" cy="144016"/>
          </a:xfrm>
          <a:prstGeom prst="ellipse">
            <a:avLst/>
          </a:prstGeom>
          <a:solidFill>
            <a:srgbClr val="FF0000"/>
          </a:solidFill>
          <a:ln>
            <a:solidFill>
              <a:srgbClr val="FF00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cxnSp>
        <p:nvCxnSpPr>
          <p:cNvPr id="24" name="直接连接符 23">
            <a:extLst>
              <a:ext uri="{FF2B5EF4-FFF2-40B4-BE49-F238E27FC236}">
                <a16:creationId xmlns:a16="http://schemas.microsoft.com/office/drawing/2014/main" id="{D2B518E8-CE0F-ADE6-4B56-DC0F4CFC7540}"/>
              </a:ext>
            </a:extLst>
          </p:cNvPr>
          <p:cNvCxnSpPr>
            <a:cxnSpLocks/>
            <a:stCxn id="23" idx="3"/>
          </p:cNvCxnSpPr>
          <p:nvPr/>
        </p:nvCxnSpPr>
        <p:spPr>
          <a:xfrm flipH="1">
            <a:off x="4458873" y="4021496"/>
            <a:ext cx="1263279" cy="1454951"/>
          </a:xfrm>
          <a:prstGeom prst="line">
            <a:avLst/>
          </a:prstGeom>
          <a:ln w="2857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pic>
        <p:nvPicPr>
          <p:cNvPr id="26" name="Picture 2" descr="See the source image">
            <a:extLst>
              <a:ext uri="{FF2B5EF4-FFF2-40B4-BE49-F238E27FC236}">
                <a16:creationId xmlns:a16="http://schemas.microsoft.com/office/drawing/2014/main" id="{A5F455DE-154A-6A23-711D-597CA6E9B2A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0630" y="1589677"/>
            <a:ext cx="2302607" cy="1981638"/>
          </a:xfrm>
          <a:prstGeom prst="rect">
            <a:avLst/>
          </a:prstGeom>
          <a:noFill/>
          <a:extLst>
            <a:ext uri="{909E8E84-426E-40DD-AFC4-6F175D3DCCD1}">
              <a14:hiddenFill xmlns:a14="http://schemas.microsoft.com/office/drawing/2010/main">
                <a:solidFill>
                  <a:srgbClr val="FFFFFF"/>
                </a:solidFill>
              </a14:hiddenFill>
            </a:ext>
          </a:extLst>
        </p:spPr>
      </p:pic>
      <p:sp>
        <p:nvSpPr>
          <p:cNvPr id="27" name="Rectangle 2">
            <a:extLst>
              <a:ext uri="{FF2B5EF4-FFF2-40B4-BE49-F238E27FC236}">
                <a16:creationId xmlns:a16="http://schemas.microsoft.com/office/drawing/2014/main" id="{223E9124-075F-F573-974C-630DE3EEBE2B}"/>
              </a:ext>
            </a:extLst>
          </p:cNvPr>
          <p:cNvSpPr txBox="1">
            <a:spLocks/>
          </p:cNvSpPr>
          <p:nvPr/>
        </p:nvSpPr>
        <p:spPr bwMode="auto">
          <a:xfrm>
            <a:off x="8398240" y="5113575"/>
            <a:ext cx="3522483" cy="414663"/>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noAutofit/>
          </a:bodyPr>
          <a:lst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ea typeface="宋体" pitchFamily="2" charset="-122"/>
              </a:defRPr>
            </a:lvl2pPr>
            <a:lvl3pPr algn="ctr" rtl="0" eaLnBrk="0" fontAlgn="base" hangingPunct="0">
              <a:spcBef>
                <a:spcPct val="0"/>
              </a:spcBef>
              <a:spcAft>
                <a:spcPct val="0"/>
              </a:spcAft>
              <a:defRPr sz="4400">
                <a:solidFill>
                  <a:schemeClr val="tx2"/>
                </a:solidFill>
                <a:latin typeface="Times New Roman" pitchFamily="18" charset="0"/>
                <a:ea typeface="宋体" pitchFamily="2" charset="-122"/>
              </a:defRPr>
            </a:lvl3pPr>
            <a:lvl4pPr algn="ctr" rtl="0" eaLnBrk="0" fontAlgn="base" hangingPunct="0">
              <a:spcBef>
                <a:spcPct val="0"/>
              </a:spcBef>
              <a:spcAft>
                <a:spcPct val="0"/>
              </a:spcAft>
              <a:defRPr sz="4400">
                <a:solidFill>
                  <a:schemeClr val="tx2"/>
                </a:solidFill>
                <a:latin typeface="Times New Roman" pitchFamily="18" charset="0"/>
                <a:ea typeface="宋体" pitchFamily="2" charset="-122"/>
              </a:defRPr>
            </a:lvl4pPr>
            <a:lvl5pPr algn="ctr" rtl="0" eaLnBrk="0" fontAlgn="base" hangingPunct="0">
              <a:spcBef>
                <a:spcPct val="0"/>
              </a:spcBef>
              <a:spcAft>
                <a:spcPct val="0"/>
              </a:spcAft>
              <a:defRPr sz="4400">
                <a:solidFill>
                  <a:schemeClr val="tx2"/>
                </a:solidFill>
                <a:latin typeface="Times New Roman" pitchFamily="18" charset="0"/>
                <a:ea typeface="宋体" pitchFamily="2" charset="-122"/>
              </a:defRPr>
            </a:lvl5pPr>
            <a:lvl6pPr marL="457200" algn="ctr" rtl="0" fontAlgn="base">
              <a:spcBef>
                <a:spcPct val="0"/>
              </a:spcBef>
              <a:spcAft>
                <a:spcPct val="0"/>
              </a:spcAft>
              <a:defRPr sz="4400">
                <a:solidFill>
                  <a:schemeClr val="tx2"/>
                </a:solidFill>
                <a:latin typeface="Times New Roman" pitchFamily="18" charset="0"/>
                <a:ea typeface="宋体" pitchFamily="2" charset="-122"/>
              </a:defRPr>
            </a:lvl6pPr>
            <a:lvl7pPr marL="914400" algn="ctr" rtl="0" fontAlgn="base">
              <a:spcBef>
                <a:spcPct val="0"/>
              </a:spcBef>
              <a:spcAft>
                <a:spcPct val="0"/>
              </a:spcAft>
              <a:defRPr sz="4400">
                <a:solidFill>
                  <a:schemeClr val="tx2"/>
                </a:solidFill>
                <a:latin typeface="Times New Roman" pitchFamily="18" charset="0"/>
                <a:ea typeface="宋体" pitchFamily="2" charset="-122"/>
              </a:defRPr>
            </a:lvl7pPr>
            <a:lvl8pPr marL="1371600" algn="ctr" rtl="0" fontAlgn="base">
              <a:spcBef>
                <a:spcPct val="0"/>
              </a:spcBef>
              <a:spcAft>
                <a:spcPct val="0"/>
              </a:spcAft>
              <a:defRPr sz="4400">
                <a:solidFill>
                  <a:schemeClr val="tx2"/>
                </a:solidFill>
                <a:latin typeface="Times New Roman" pitchFamily="18" charset="0"/>
                <a:ea typeface="宋体" pitchFamily="2" charset="-122"/>
              </a:defRPr>
            </a:lvl8pPr>
            <a:lvl9pPr marL="1828800" algn="ctr" rtl="0" fontAlgn="base">
              <a:spcBef>
                <a:spcPct val="0"/>
              </a:spcBef>
              <a:spcAft>
                <a:spcPct val="0"/>
              </a:spcAft>
              <a:defRPr sz="4400">
                <a:solidFill>
                  <a:schemeClr val="tx2"/>
                </a:solidFill>
                <a:latin typeface="Times New Roman" pitchFamily="18" charset="0"/>
                <a:ea typeface="宋体" pitchFamily="2" charset="-122"/>
              </a:defRPr>
            </a:lvl9pPr>
          </a:lstStyle>
          <a:p>
            <a:pPr eaLnBrk="1" hangingPunct="1">
              <a:spcBef>
                <a:spcPts val="384"/>
              </a:spcBef>
              <a:defRPr/>
            </a:pPr>
            <a:r>
              <a:rPr lang="en-US" altLang="zh-CN" sz="1800" dirty="0">
                <a:solidFill>
                  <a:schemeClr val="tx1"/>
                </a:solidFill>
                <a:latin typeface="微软雅黑" panose="020B0503020204020204" pitchFamily="34" charset="-122"/>
                <a:ea typeface="微软雅黑" panose="020B0503020204020204" pitchFamily="34" charset="-122"/>
                <a:cs typeface="+mn-cs"/>
              </a:rPr>
              <a:t>2.</a:t>
            </a:r>
            <a:r>
              <a:rPr lang="zh-CN" altLang="en-US" sz="1800" dirty="0">
                <a:solidFill>
                  <a:schemeClr val="tx1"/>
                </a:solidFill>
                <a:latin typeface="微软雅黑" panose="020B0503020204020204" pitchFamily="34" charset="-122"/>
                <a:ea typeface="微软雅黑" panose="020B0503020204020204" pitchFamily="34" charset="-122"/>
                <a:cs typeface="+mn-cs"/>
              </a:rPr>
              <a:t>两级电反馈电液比例方向阀</a:t>
            </a:r>
          </a:p>
        </p:txBody>
      </p:sp>
      <p:sp>
        <p:nvSpPr>
          <p:cNvPr id="4" name="矩形 3">
            <a:extLst>
              <a:ext uri="{FF2B5EF4-FFF2-40B4-BE49-F238E27FC236}">
                <a16:creationId xmlns:a16="http://schemas.microsoft.com/office/drawing/2014/main" id="{DC2C3DDF-0A6E-68E2-7573-45EF320FEBAF}"/>
              </a:ext>
            </a:extLst>
          </p:cNvPr>
          <p:cNvSpPr/>
          <p:nvPr/>
        </p:nvSpPr>
        <p:spPr>
          <a:xfrm>
            <a:off x="429656" y="866144"/>
            <a:ext cx="8680807" cy="662554"/>
          </a:xfrm>
          <a:prstGeom prst="rect">
            <a:avLst/>
          </a:prstGeom>
          <a:noFill/>
        </p:spPr>
        <p:txBody>
          <a:bodyPr wrap="square" rtlCol="0">
            <a:spAutoFit/>
          </a:bodyPr>
          <a:lstStyle/>
          <a:p>
            <a:pPr marL="457200" indent="-457200" algn="just">
              <a:lnSpc>
                <a:spcPct val="150000"/>
              </a:lnSpc>
              <a:spcBef>
                <a:spcPts val="1000"/>
              </a:spcBef>
              <a:buFont typeface="Wingdings" panose="05000000000000000000" pitchFamily="2" charset="2"/>
              <a:buChar char="p"/>
            </a:pPr>
            <a:r>
              <a:rPr lang="zh-CN" altLang="en-US" sz="2800" b="1" dirty="0">
                <a:solidFill>
                  <a:srgbClr val="003F88"/>
                </a:solidFill>
                <a:latin typeface="微软雅黑" panose="020B0503020204020204" pitchFamily="34" charset="-122"/>
                <a:ea typeface="微软雅黑" panose="020B0503020204020204" pitchFamily="34" charset="-122"/>
              </a:rPr>
              <a:t>电液比例方向阀</a:t>
            </a:r>
            <a:endParaRPr lang="en-US" altLang="zh-CN" sz="2800" b="1" dirty="0">
              <a:solidFill>
                <a:srgbClr val="003F88"/>
              </a:solidFill>
              <a:latin typeface="微软雅黑" panose="020B0503020204020204" pitchFamily="34" charset="-122"/>
              <a:ea typeface="微软雅黑" panose="020B0503020204020204" pitchFamily="34" charset="-122"/>
            </a:endParaRPr>
          </a:p>
        </p:txBody>
      </p:sp>
      <p:sp>
        <p:nvSpPr>
          <p:cNvPr id="17" name="文本框 16">
            <a:extLst>
              <a:ext uri="{FF2B5EF4-FFF2-40B4-BE49-F238E27FC236}">
                <a16:creationId xmlns:a16="http://schemas.microsoft.com/office/drawing/2014/main" id="{2BBB2BC3-80BB-47D3-8DE1-018DC298B3F1}"/>
              </a:ext>
            </a:extLst>
          </p:cNvPr>
          <p:cNvSpPr txBox="1"/>
          <p:nvPr/>
        </p:nvSpPr>
        <p:spPr>
          <a:xfrm>
            <a:off x="429656" y="135415"/>
            <a:ext cx="3632036"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cs typeface="Times New Roman" panose="02020603050405020304" pitchFamily="18" charset="0"/>
              </a:rPr>
              <a:t>10.6</a:t>
            </a:r>
            <a:r>
              <a:rPr lang="en-US" altLang="zh-CN" sz="3600" b="1" dirty="0">
                <a:solidFill>
                  <a:srgbClr val="003F88"/>
                </a:solidFill>
                <a:latin typeface="+mn-ea"/>
              </a:rPr>
              <a:t> </a:t>
            </a:r>
            <a:r>
              <a:rPr lang="zh-CN" altLang="en-US" sz="3600" b="1" dirty="0">
                <a:solidFill>
                  <a:srgbClr val="003F88"/>
                </a:solidFill>
                <a:latin typeface="+mn-ea"/>
              </a:rPr>
              <a:t>电液比例阀</a:t>
            </a:r>
          </a:p>
        </p:txBody>
      </p:sp>
    </p:spTree>
    <p:extLst>
      <p:ext uri="{BB962C8B-B14F-4D97-AF65-F5344CB8AC3E}">
        <p14:creationId xmlns:p14="http://schemas.microsoft.com/office/powerpoint/2010/main" val="6965479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AD4B7-7128-0EDD-723B-20B3D6939307}"/>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666B9F5B-C483-9B77-BF26-65EF50D8E8A3}"/>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14C4B9C4-DC1C-4457-07B6-F0F0C431E2A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EB2D4C7E-CBD8-40BB-055D-C17331E5C540}"/>
              </a:ext>
            </a:extLst>
          </p:cNvPr>
          <p:cNvSpPr/>
          <p:nvPr/>
        </p:nvSpPr>
        <p:spPr>
          <a:xfrm>
            <a:off x="-17100" y="174526"/>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3" name="表格 2">
            <a:extLst>
              <a:ext uri="{FF2B5EF4-FFF2-40B4-BE49-F238E27FC236}">
                <a16:creationId xmlns:a16="http://schemas.microsoft.com/office/drawing/2014/main" id="{E7258EF0-87E1-0982-4DFE-F593BD68ED3B}"/>
              </a:ext>
            </a:extLst>
          </p:cNvPr>
          <p:cNvGraphicFramePr>
            <a:graphicFrameLocks noGrp="1"/>
          </p:cNvGraphicFramePr>
          <p:nvPr/>
        </p:nvGraphicFramePr>
        <p:xfrm>
          <a:off x="2414328" y="1581001"/>
          <a:ext cx="8136905" cy="5141584"/>
        </p:xfrm>
        <a:graphic>
          <a:graphicData uri="http://schemas.openxmlformats.org/drawingml/2006/table">
            <a:tbl>
              <a:tblPr firstRow="1" bandRow="1">
                <a:tableStyleId>{6E25E649-3F16-4E02-A733-19D2CDBF48F0}</a:tableStyleId>
              </a:tblPr>
              <a:tblGrid>
                <a:gridCol w="1221292">
                  <a:extLst>
                    <a:ext uri="{9D8B030D-6E8A-4147-A177-3AD203B41FA5}">
                      <a16:colId xmlns:a16="http://schemas.microsoft.com/office/drawing/2014/main" val="2165829214"/>
                    </a:ext>
                  </a:extLst>
                </a:gridCol>
                <a:gridCol w="3423225">
                  <a:extLst>
                    <a:ext uri="{9D8B030D-6E8A-4147-A177-3AD203B41FA5}">
                      <a16:colId xmlns:a16="http://schemas.microsoft.com/office/drawing/2014/main" val="1322939713"/>
                    </a:ext>
                  </a:extLst>
                </a:gridCol>
                <a:gridCol w="3492388">
                  <a:extLst>
                    <a:ext uri="{9D8B030D-6E8A-4147-A177-3AD203B41FA5}">
                      <a16:colId xmlns:a16="http://schemas.microsoft.com/office/drawing/2014/main" val="459580201"/>
                    </a:ext>
                  </a:extLst>
                </a:gridCol>
              </a:tblGrid>
              <a:tr h="288339">
                <a:tc>
                  <a:txBody>
                    <a:bodyPr/>
                    <a:lstStyle/>
                    <a:p>
                      <a:pPr algn="ctr"/>
                      <a:endParaRPr lang="zh-CN" altLang="en-US" dirty="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3F88"/>
                    </a:solidFill>
                  </a:tcPr>
                </a:tc>
                <a:tc>
                  <a:txBody>
                    <a:bodyPr/>
                    <a:lstStyle/>
                    <a:p>
                      <a:pPr algn="ctr"/>
                      <a:r>
                        <a:rPr lang="zh-CN" altLang="en-US" dirty="0"/>
                        <a:t>电液比例阀</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3F88"/>
                    </a:solidFill>
                  </a:tcPr>
                </a:tc>
                <a:tc>
                  <a:txBody>
                    <a:bodyPr/>
                    <a:lstStyle/>
                    <a:p>
                      <a:pPr algn="ctr"/>
                      <a:r>
                        <a:rPr lang="zh-CN" altLang="en-US" dirty="0"/>
                        <a:t>电液伺服阀</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3F88"/>
                    </a:solidFill>
                  </a:tcPr>
                </a:tc>
                <a:extLst>
                  <a:ext uri="{0D108BD9-81ED-4DB2-BD59-A6C34878D82A}">
                    <a16:rowId xmlns:a16="http://schemas.microsoft.com/office/drawing/2014/main" val="2321602113"/>
                  </a:ext>
                </a:extLst>
              </a:tr>
              <a:tr h="421718">
                <a:tc>
                  <a:txBody>
                    <a:bodyPr/>
                    <a:lstStyle/>
                    <a:p>
                      <a:pPr algn="ctr"/>
                      <a:r>
                        <a:rPr lang="zh-CN" altLang="en-US" sz="1600" dirty="0">
                          <a:solidFill>
                            <a:schemeClr val="tx1"/>
                          </a:solidFill>
                        </a:rPr>
                        <a:t>功能</a:t>
                      </a:r>
                      <a:endParaRPr lang="zh-CN" altLang="en-US" sz="1600" dirty="0">
                        <a:solidFill>
                          <a:schemeClr val="tx1"/>
                        </a:solidFill>
                        <a:latin typeface="黑体" panose="02010609060101010101" pitchFamily="49" charset="-122"/>
                        <a:ea typeface="黑体" panose="02010609060101010101" pitchFamily="49" charset="-122"/>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solidFill>
                            <a:schemeClr val="tx1"/>
                          </a:solidFill>
                        </a:rPr>
                        <a:t>压力、流量、方向控制</a:t>
                      </a:r>
                      <a:endParaRPr lang="zh-CN" altLang="en-US" sz="1600" dirty="0">
                        <a:solidFill>
                          <a:schemeClr val="tx1"/>
                        </a:solidFill>
                        <a:latin typeface="黑体" panose="02010609060101010101" pitchFamily="49" charset="-122"/>
                        <a:ea typeface="黑体" panose="02010609060101010101" pitchFamily="49"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solidFill>
                            <a:schemeClr val="tx1"/>
                          </a:solidFill>
                        </a:rPr>
                        <a:t>多为四通，同时控制方向和流量</a:t>
                      </a:r>
                      <a:endParaRPr lang="zh-CN" altLang="en-US" sz="1600" dirty="0">
                        <a:solidFill>
                          <a:schemeClr val="tx1"/>
                        </a:solidFill>
                        <a:latin typeface="黑体" panose="02010609060101010101" pitchFamily="49" charset="-122"/>
                        <a:ea typeface="黑体" panose="02010609060101010101" pitchFamily="49" charset="-122"/>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58750412"/>
                  </a:ext>
                </a:extLst>
              </a:tr>
              <a:tr h="421718">
                <a:tc>
                  <a:txBody>
                    <a:bodyPr/>
                    <a:lstStyle/>
                    <a:p>
                      <a:pPr algn="ctr"/>
                      <a:r>
                        <a:rPr lang="zh-CN" altLang="en-US" sz="1600" dirty="0">
                          <a:solidFill>
                            <a:schemeClr val="tx1"/>
                          </a:solidFill>
                        </a:rPr>
                        <a:t>电</a:t>
                      </a:r>
                      <a:r>
                        <a:rPr lang="en-US" altLang="zh-CN" sz="1600" dirty="0">
                          <a:solidFill>
                            <a:schemeClr val="tx1"/>
                          </a:solidFill>
                        </a:rPr>
                        <a:t>-</a:t>
                      </a:r>
                      <a:r>
                        <a:rPr lang="zh-CN" altLang="en-US" sz="1600" dirty="0">
                          <a:solidFill>
                            <a:schemeClr val="tx1"/>
                          </a:solidFill>
                        </a:rPr>
                        <a:t>位移转换器</a:t>
                      </a:r>
                      <a:endParaRPr lang="zh-CN" altLang="en-US" sz="1600" dirty="0">
                        <a:solidFill>
                          <a:schemeClr val="tx1"/>
                        </a:solidFill>
                        <a:latin typeface="黑体" panose="02010609060101010101" pitchFamily="49" charset="-122"/>
                        <a:ea typeface="黑体" panose="02010609060101010101" pitchFamily="49" charset="-122"/>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solidFill>
                            <a:schemeClr val="tx1"/>
                          </a:solidFill>
                        </a:rPr>
                        <a:t>功率较大的</a:t>
                      </a:r>
                      <a:r>
                        <a:rPr lang="zh-CN" altLang="en-US" sz="1600" b="1" dirty="0">
                          <a:solidFill>
                            <a:srgbClr val="FF0000"/>
                          </a:solidFill>
                        </a:rPr>
                        <a:t>比例电磁铁</a:t>
                      </a:r>
                      <a:r>
                        <a:rPr lang="zh-CN" altLang="en-US" sz="1600" dirty="0">
                          <a:solidFill>
                            <a:schemeClr val="tx1"/>
                          </a:solidFill>
                        </a:rPr>
                        <a:t>（</a:t>
                      </a:r>
                      <a:r>
                        <a:rPr lang="en-US" altLang="zh-CN" sz="1600" dirty="0">
                          <a:solidFill>
                            <a:schemeClr val="tx1"/>
                          </a:solidFill>
                        </a:rPr>
                        <a:t>50W</a:t>
                      </a:r>
                      <a:r>
                        <a:rPr lang="zh-CN" altLang="en-US" sz="1600" dirty="0">
                          <a:solidFill>
                            <a:schemeClr val="tx1"/>
                          </a:solidFill>
                        </a:rPr>
                        <a:t>）</a:t>
                      </a:r>
                      <a:endParaRPr lang="en-US" altLang="zh-CN" sz="1600" dirty="0">
                        <a:solidFill>
                          <a:schemeClr val="tx1"/>
                        </a:solidFill>
                      </a:endParaRPr>
                    </a:p>
                    <a:p>
                      <a:r>
                        <a:rPr lang="zh-CN" altLang="en-US" sz="1600" dirty="0">
                          <a:solidFill>
                            <a:schemeClr val="tx1"/>
                          </a:solidFill>
                        </a:rPr>
                        <a:t>直接驱动阀芯或压缩弹簧</a:t>
                      </a:r>
                      <a:endParaRPr lang="zh-CN" altLang="en-US" sz="1600" dirty="0">
                        <a:solidFill>
                          <a:schemeClr val="tx1"/>
                        </a:solidFill>
                        <a:latin typeface="黑体" panose="02010609060101010101" pitchFamily="49" charset="-122"/>
                        <a:ea typeface="黑体" panose="02010609060101010101" pitchFamily="49" charset="-122"/>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solidFill>
                            <a:schemeClr val="tx1"/>
                          </a:solidFill>
                        </a:rPr>
                        <a:t>功率较小的</a:t>
                      </a:r>
                      <a:r>
                        <a:rPr lang="zh-CN" altLang="en-US" sz="1600" b="1" dirty="0">
                          <a:solidFill>
                            <a:srgbClr val="FF0000"/>
                          </a:solidFill>
                        </a:rPr>
                        <a:t>力矩马达</a:t>
                      </a:r>
                      <a:r>
                        <a:rPr lang="zh-CN" altLang="en-US" sz="1600" dirty="0">
                          <a:solidFill>
                            <a:schemeClr val="tx1"/>
                          </a:solidFill>
                        </a:rPr>
                        <a:t>（</a:t>
                      </a:r>
                      <a:r>
                        <a:rPr lang="en-US" altLang="zh-CN" sz="1600" dirty="0">
                          <a:solidFill>
                            <a:schemeClr val="tx1"/>
                          </a:solidFill>
                        </a:rPr>
                        <a:t>0.1-0.3W</a:t>
                      </a:r>
                      <a:r>
                        <a:rPr lang="zh-CN" altLang="en-US" sz="1600" dirty="0">
                          <a:solidFill>
                            <a:schemeClr val="tx1"/>
                          </a:solidFill>
                        </a:rPr>
                        <a:t>）</a:t>
                      </a:r>
                      <a:endParaRPr lang="en-US" altLang="zh-CN" sz="1600" dirty="0">
                        <a:solidFill>
                          <a:schemeClr val="tx1"/>
                        </a:solidFill>
                      </a:endParaRPr>
                    </a:p>
                    <a:p>
                      <a:r>
                        <a:rPr lang="zh-CN" altLang="en-US" sz="1600" b="1" dirty="0">
                          <a:solidFill>
                            <a:srgbClr val="FF0000"/>
                          </a:solidFill>
                        </a:rPr>
                        <a:t>带动喷嘴挡板或射流管</a:t>
                      </a:r>
                      <a:r>
                        <a:rPr lang="zh-CN" altLang="en-US" sz="1600" dirty="0">
                          <a:solidFill>
                            <a:schemeClr val="tx1"/>
                          </a:solidFill>
                        </a:rPr>
                        <a:t>放大管</a:t>
                      </a:r>
                      <a:endParaRPr lang="en-US" altLang="zh-CN" sz="1600" dirty="0">
                        <a:solidFill>
                          <a:schemeClr val="tx1"/>
                        </a:solidFill>
                      </a:endParaRPr>
                    </a:p>
                    <a:p>
                      <a:r>
                        <a:rPr lang="zh-CN" altLang="en-US" sz="1600" dirty="0">
                          <a:solidFill>
                            <a:schemeClr val="tx1"/>
                          </a:solidFill>
                        </a:rPr>
                        <a:t>先导输出功率</a:t>
                      </a:r>
                      <a:r>
                        <a:rPr lang="en-US" altLang="zh-CN" sz="1600" dirty="0">
                          <a:solidFill>
                            <a:schemeClr val="tx1"/>
                          </a:solidFill>
                        </a:rPr>
                        <a:t>100W</a:t>
                      </a:r>
                      <a:endParaRPr lang="zh-CN" altLang="en-US" sz="1600" dirty="0">
                        <a:solidFill>
                          <a:schemeClr val="tx1"/>
                        </a:solidFill>
                        <a:latin typeface="黑体" panose="02010609060101010101" pitchFamily="49" charset="-122"/>
                        <a:ea typeface="黑体" panose="02010609060101010101" pitchFamily="49" charset="-122"/>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68277286"/>
                  </a:ext>
                </a:extLst>
              </a:tr>
              <a:tr h="421718">
                <a:tc>
                  <a:txBody>
                    <a:bodyPr/>
                    <a:lstStyle/>
                    <a:p>
                      <a:pPr algn="ctr"/>
                      <a:r>
                        <a:rPr lang="zh-CN" altLang="en-US" sz="1600" b="1" dirty="0">
                          <a:solidFill>
                            <a:srgbClr val="FF0000"/>
                          </a:solidFill>
                        </a:rPr>
                        <a:t>过滤精度</a:t>
                      </a:r>
                      <a:endParaRPr lang="zh-CN" altLang="en-US" sz="1600" b="1" dirty="0">
                        <a:solidFill>
                          <a:srgbClr val="FF0000"/>
                        </a:solidFill>
                        <a:latin typeface="黑体" panose="02010609060101010101" pitchFamily="49" charset="-122"/>
                        <a:ea typeface="黑体" panose="02010609060101010101" pitchFamily="49" charset="-122"/>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ltLang="zh-CN" sz="1600" dirty="0">
                          <a:solidFill>
                            <a:schemeClr val="tx1"/>
                          </a:solidFill>
                        </a:rPr>
                        <a:t>-/16/13---/18/14</a:t>
                      </a:r>
                      <a:endParaRPr lang="zh-CN" altLang="en-US" sz="1600" dirty="0">
                        <a:solidFill>
                          <a:schemeClr val="tx1"/>
                        </a:solidFill>
                        <a:latin typeface="黑体" panose="02010609060101010101" pitchFamily="49" charset="-122"/>
                        <a:ea typeface="黑体" panose="02010609060101010101" pitchFamily="49" charset="-122"/>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-/13/9---/15/11  </a:t>
                      </a:r>
                      <a:r>
                        <a:rPr lang="zh-CN" altLang="en-US" sz="1600" dirty="0">
                          <a:solidFill>
                            <a:schemeClr val="tx1"/>
                          </a:solidFill>
                        </a:rPr>
                        <a:t>进口过滤</a:t>
                      </a:r>
                      <a:endParaRPr lang="zh-CN" altLang="en-US" sz="1600" dirty="0">
                        <a:solidFill>
                          <a:schemeClr val="tx1"/>
                        </a:solidFill>
                        <a:latin typeface="黑体" panose="02010609060101010101" pitchFamily="49" charset="-122"/>
                        <a:ea typeface="黑体" panose="02010609060101010101" pitchFamily="49" charset="-122"/>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57349396"/>
                  </a:ext>
                </a:extLst>
              </a:tr>
              <a:tr h="421718">
                <a:tc>
                  <a:txBody>
                    <a:bodyPr/>
                    <a:lstStyle/>
                    <a:p>
                      <a:pPr algn="ctr"/>
                      <a:r>
                        <a:rPr lang="zh-CN" altLang="en-US" sz="1600" dirty="0">
                          <a:solidFill>
                            <a:schemeClr val="tx1"/>
                          </a:solidFill>
                        </a:rPr>
                        <a:t>线性度</a:t>
                      </a:r>
                      <a:endParaRPr lang="zh-CN" altLang="en-US" sz="1600" dirty="0">
                        <a:solidFill>
                          <a:schemeClr val="tx1"/>
                        </a:solidFill>
                        <a:latin typeface="黑体" panose="02010609060101010101" pitchFamily="49" charset="-122"/>
                        <a:ea typeface="黑体" panose="02010609060101010101" pitchFamily="49" charset="-122"/>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solidFill>
                            <a:schemeClr val="tx1"/>
                          </a:solidFill>
                        </a:rPr>
                        <a:t>低压降（</a:t>
                      </a:r>
                      <a:r>
                        <a:rPr lang="en-US" altLang="zh-CN" sz="1600" dirty="0">
                          <a:solidFill>
                            <a:schemeClr val="tx1"/>
                          </a:solidFill>
                        </a:rPr>
                        <a:t>0.8MPa</a:t>
                      </a:r>
                      <a:r>
                        <a:rPr lang="zh-CN" altLang="en-US" sz="1600" dirty="0">
                          <a:solidFill>
                            <a:schemeClr val="tx1"/>
                          </a:solidFill>
                        </a:rPr>
                        <a:t>）工作通过较大流量阀体内阻力影响线性度（饱和）</a:t>
                      </a:r>
                      <a:endParaRPr lang="zh-CN" altLang="en-US" sz="1600" dirty="0">
                        <a:solidFill>
                          <a:schemeClr val="tx1"/>
                        </a:solidFill>
                        <a:latin typeface="黑体" panose="02010609060101010101" pitchFamily="49" charset="-122"/>
                        <a:ea typeface="黑体" panose="02010609060101010101" pitchFamily="49" charset="-122"/>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solidFill>
                            <a:schemeClr val="tx1"/>
                          </a:solidFill>
                        </a:rPr>
                        <a:t>高压降（</a:t>
                      </a:r>
                      <a:r>
                        <a:rPr lang="en-US" altLang="zh-CN" sz="1600" dirty="0">
                          <a:solidFill>
                            <a:schemeClr val="tx1"/>
                          </a:solidFill>
                        </a:rPr>
                        <a:t>7MPa</a:t>
                      </a:r>
                      <a:r>
                        <a:rPr lang="zh-CN" altLang="en-US" sz="1600" dirty="0">
                          <a:solidFill>
                            <a:schemeClr val="tx1"/>
                          </a:solidFill>
                        </a:rPr>
                        <a:t>）下工作</a:t>
                      </a:r>
                      <a:r>
                        <a:rPr lang="en-US" altLang="zh-CN" sz="1600" dirty="0">
                          <a:solidFill>
                            <a:schemeClr val="tx1"/>
                          </a:solidFill>
                        </a:rPr>
                        <a:t>,</a:t>
                      </a:r>
                      <a:r>
                        <a:rPr lang="zh-CN" altLang="en-US" sz="1600" dirty="0">
                          <a:solidFill>
                            <a:schemeClr val="tx1"/>
                          </a:solidFill>
                        </a:rPr>
                        <a:t>阀体内阻力对线性度影响不大</a:t>
                      </a:r>
                      <a:endParaRPr lang="zh-CN" altLang="en-US" sz="1600" dirty="0">
                        <a:solidFill>
                          <a:schemeClr val="tx1"/>
                        </a:solidFill>
                        <a:latin typeface="黑体" panose="02010609060101010101" pitchFamily="49" charset="-122"/>
                        <a:ea typeface="黑体" panose="02010609060101010101" pitchFamily="49" charset="-122"/>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34194904"/>
                  </a:ext>
                </a:extLst>
              </a:tr>
              <a:tr h="421718">
                <a:tc>
                  <a:txBody>
                    <a:bodyPr/>
                    <a:lstStyle/>
                    <a:p>
                      <a:pPr algn="ctr"/>
                      <a:r>
                        <a:rPr lang="zh-CN" altLang="en-US" sz="1600" b="1" dirty="0">
                          <a:solidFill>
                            <a:srgbClr val="FF0000"/>
                          </a:solidFill>
                        </a:rPr>
                        <a:t>遮盖</a:t>
                      </a:r>
                      <a:endParaRPr lang="zh-CN" altLang="en-US" sz="1600" b="1" dirty="0">
                        <a:solidFill>
                          <a:srgbClr val="FF0000"/>
                        </a:solidFill>
                        <a:latin typeface="黑体" panose="02010609060101010101" pitchFamily="49" charset="-122"/>
                        <a:ea typeface="黑体" panose="02010609060101010101" pitchFamily="49" charset="-122"/>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ltLang="zh-CN" sz="1600" dirty="0">
                          <a:solidFill>
                            <a:schemeClr val="tx1"/>
                          </a:solidFill>
                        </a:rPr>
                        <a:t>20% </a:t>
                      </a:r>
                      <a:r>
                        <a:rPr lang="zh-CN" altLang="en-US" sz="1600" dirty="0">
                          <a:solidFill>
                            <a:schemeClr val="tx1"/>
                          </a:solidFill>
                        </a:rPr>
                        <a:t>一般精度，可以互换</a:t>
                      </a:r>
                      <a:endParaRPr lang="zh-CN" altLang="en-US" sz="1600" dirty="0">
                        <a:solidFill>
                          <a:schemeClr val="tx1"/>
                        </a:solidFill>
                        <a:latin typeface="黑体" panose="02010609060101010101" pitchFamily="49" charset="-122"/>
                        <a:ea typeface="黑体" panose="02010609060101010101" pitchFamily="49" charset="-122"/>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ltLang="zh-CN" sz="1600" dirty="0">
                          <a:solidFill>
                            <a:schemeClr val="tx1"/>
                          </a:solidFill>
                        </a:rPr>
                        <a:t>0 </a:t>
                      </a:r>
                      <a:r>
                        <a:rPr lang="zh-CN" altLang="en-US" sz="1600" dirty="0">
                          <a:solidFill>
                            <a:schemeClr val="tx1"/>
                          </a:solidFill>
                        </a:rPr>
                        <a:t>极高精度，</a:t>
                      </a:r>
                      <a:r>
                        <a:rPr lang="zh-CN" altLang="en-US" sz="1600" b="1" dirty="0">
                          <a:solidFill>
                            <a:srgbClr val="FF0000"/>
                          </a:solidFill>
                        </a:rPr>
                        <a:t>单件配作</a:t>
                      </a:r>
                      <a:endParaRPr lang="zh-CN" altLang="en-US" sz="1600" b="1" dirty="0">
                        <a:solidFill>
                          <a:srgbClr val="FF0000"/>
                        </a:solidFill>
                        <a:latin typeface="黑体" panose="02010609060101010101" pitchFamily="49" charset="-122"/>
                        <a:ea typeface="黑体" panose="02010609060101010101" pitchFamily="49" charset="-122"/>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26771786"/>
                  </a:ext>
                </a:extLst>
              </a:tr>
              <a:tr h="421718">
                <a:tc>
                  <a:txBody>
                    <a:bodyPr/>
                    <a:lstStyle/>
                    <a:p>
                      <a:pPr algn="ctr"/>
                      <a:r>
                        <a:rPr lang="zh-CN" altLang="en-US" sz="1600" dirty="0">
                          <a:solidFill>
                            <a:schemeClr val="tx1"/>
                          </a:solidFill>
                        </a:rPr>
                        <a:t>响应时间</a:t>
                      </a:r>
                      <a:endParaRPr lang="zh-CN" altLang="en-US" sz="1600" dirty="0">
                        <a:solidFill>
                          <a:schemeClr val="tx1"/>
                        </a:solidFill>
                        <a:latin typeface="黑体" panose="02010609060101010101" pitchFamily="49" charset="-122"/>
                        <a:ea typeface="黑体" panose="02010609060101010101" pitchFamily="49" charset="-122"/>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ltLang="zh-CN" sz="1600" dirty="0">
                          <a:solidFill>
                            <a:schemeClr val="tx1"/>
                          </a:solidFill>
                        </a:rPr>
                        <a:t>8-60ms</a:t>
                      </a:r>
                      <a:endParaRPr lang="zh-CN" altLang="en-US" sz="1600" dirty="0">
                        <a:solidFill>
                          <a:schemeClr val="tx1"/>
                        </a:solidFill>
                        <a:latin typeface="黑体" panose="02010609060101010101" pitchFamily="49" charset="-122"/>
                        <a:ea typeface="黑体" panose="02010609060101010101" pitchFamily="49" charset="-122"/>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ltLang="zh-CN" sz="1600" dirty="0">
                          <a:solidFill>
                            <a:schemeClr val="tx1"/>
                          </a:solidFill>
                        </a:rPr>
                        <a:t>2-10ms</a:t>
                      </a:r>
                      <a:endParaRPr lang="zh-CN" altLang="en-US" sz="1600" dirty="0">
                        <a:solidFill>
                          <a:schemeClr val="tx1"/>
                        </a:solidFill>
                        <a:latin typeface="黑体" panose="02010609060101010101" pitchFamily="49" charset="-122"/>
                        <a:ea typeface="黑体" panose="02010609060101010101" pitchFamily="49" charset="-122"/>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92993548"/>
                  </a:ext>
                </a:extLst>
              </a:tr>
              <a:tr h="421718">
                <a:tc>
                  <a:txBody>
                    <a:bodyPr/>
                    <a:lstStyle/>
                    <a:p>
                      <a:pPr algn="ctr"/>
                      <a:r>
                        <a:rPr lang="zh-CN" altLang="en-US" sz="1600" dirty="0">
                          <a:solidFill>
                            <a:schemeClr val="tx1"/>
                          </a:solidFill>
                        </a:rPr>
                        <a:t>频率响应</a:t>
                      </a:r>
                      <a:endParaRPr lang="zh-CN" altLang="en-US" sz="1600" dirty="0">
                        <a:solidFill>
                          <a:schemeClr val="tx1"/>
                        </a:solidFill>
                        <a:latin typeface="黑体" panose="02010609060101010101" pitchFamily="49" charset="-122"/>
                        <a:ea typeface="黑体" panose="02010609060101010101" pitchFamily="49" charset="-122"/>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ltLang="zh-CN" sz="1600" dirty="0">
                          <a:solidFill>
                            <a:schemeClr val="tx1"/>
                          </a:solidFill>
                        </a:rPr>
                        <a:t>10-150Hz</a:t>
                      </a:r>
                      <a:endParaRPr lang="zh-CN" altLang="en-US" sz="1600" dirty="0">
                        <a:solidFill>
                          <a:schemeClr val="tx1"/>
                        </a:solidFill>
                        <a:latin typeface="黑体" panose="02010609060101010101" pitchFamily="49" charset="-122"/>
                        <a:ea typeface="黑体" panose="02010609060101010101" pitchFamily="49" charset="-122"/>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ltLang="zh-CN" sz="1600" dirty="0">
                          <a:solidFill>
                            <a:schemeClr val="tx1"/>
                          </a:solidFill>
                        </a:rPr>
                        <a:t>100-500Hz</a:t>
                      </a:r>
                      <a:endParaRPr lang="zh-CN" altLang="en-US" sz="1600" dirty="0">
                        <a:solidFill>
                          <a:schemeClr val="tx1"/>
                        </a:solidFill>
                        <a:latin typeface="黑体" panose="02010609060101010101" pitchFamily="49" charset="-122"/>
                        <a:ea typeface="黑体" panose="02010609060101010101" pitchFamily="49" charset="-122"/>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92226903"/>
                  </a:ext>
                </a:extLst>
              </a:tr>
              <a:tr h="421718">
                <a:tc>
                  <a:txBody>
                    <a:bodyPr/>
                    <a:lstStyle/>
                    <a:p>
                      <a:pPr algn="ctr"/>
                      <a:r>
                        <a:rPr lang="zh-CN" altLang="en-US" sz="1600" dirty="0">
                          <a:solidFill>
                            <a:schemeClr val="tx1"/>
                          </a:solidFill>
                        </a:rPr>
                        <a:t>电子控制</a:t>
                      </a:r>
                      <a:endParaRPr lang="zh-CN" altLang="en-US" sz="1600" dirty="0">
                        <a:solidFill>
                          <a:schemeClr val="tx1"/>
                        </a:solidFill>
                        <a:latin typeface="黑体" panose="02010609060101010101" pitchFamily="49" charset="-122"/>
                        <a:ea typeface="黑体" panose="02010609060101010101" pitchFamily="49" charset="-122"/>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solidFill>
                            <a:schemeClr val="tx1"/>
                          </a:solidFill>
                        </a:rPr>
                        <a:t>比例放大器与阀一起供应</a:t>
                      </a:r>
                      <a:endParaRPr lang="zh-CN" altLang="en-US" sz="1600" dirty="0">
                        <a:solidFill>
                          <a:schemeClr val="tx1"/>
                        </a:solidFill>
                        <a:latin typeface="黑体" panose="02010609060101010101" pitchFamily="49" charset="-122"/>
                        <a:ea typeface="黑体" panose="02010609060101010101" pitchFamily="49" charset="-122"/>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solidFill>
                            <a:schemeClr val="tx1"/>
                          </a:solidFill>
                        </a:rPr>
                        <a:t>电子电路专门设计，包括整个闭环</a:t>
                      </a:r>
                      <a:endParaRPr lang="zh-CN" altLang="en-US" sz="1600" dirty="0">
                        <a:solidFill>
                          <a:schemeClr val="tx1"/>
                        </a:solidFill>
                        <a:latin typeface="黑体" panose="02010609060101010101" pitchFamily="49" charset="-122"/>
                        <a:ea typeface="黑体" panose="02010609060101010101" pitchFamily="49" charset="-122"/>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97405368"/>
                  </a:ext>
                </a:extLst>
              </a:tr>
              <a:tr h="421718">
                <a:tc>
                  <a:txBody>
                    <a:bodyPr/>
                    <a:lstStyle/>
                    <a:p>
                      <a:pPr algn="ctr"/>
                      <a:r>
                        <a:rPr lang="zh-CN" altLang="en-US" sz="1600" dirty="0">
                          <a:solidFill>
                            <a:schemeClr val="tx1"/>
                          </a:solidFill>
                        </a:rPr>
                        <a:t>应用领域</a:t>
                      </a:r>
                      <a:endParaRPr lang="zh-CN" altLang="en-US" sz="1600" dirty="0">
                        <a:solidFill>
                          <a:schemeClr val="tx1"/>
                        </a:solidFill>
                        <a:latin typeface="黑体" panose="02010609060101010101" pitchFamily="49" charset="-122"/>
                        <a:ea typeface="黑体" panose="02010609060101010101" pitchFamily="49" charset="-122"/>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solidFill>
                            <a:schemeClr val="tx1"/>
                          </a:solidFill>
                        </a:rPr>
                        <a:t>执行元件开环或闭环控制</a:t>
                      </a:r>
                      <a:endParaRPr lang="zh-CN" altLang="en-US" sz="1600" dirty="0">
                        <a:solidFill>
                          <a:schemeClr val="tx1"/>
                        </a:solidFill>
                        <a:latin typeface="黑体" panose="02010609060101010101" pitchFamily="49" charset="-122"/>
                        <a:ea typeface="黑体" panose="02010609060101010101" pitchFamily="49" charset="-122"/>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solidFill>
                            <a:schemeClr val="tx1"/>
                          </a:solidFill>
                        </a:rPr>
                        <a:t>执行元件闭环控制</a:t>
                      </a:r>
                      <a:endParaRPr lang="zh-CN" altLang="en-US" sz="1600" dirty="0">
                        <a:solidFill>
                          <a:schemeClr val="tx1"/>
                        </a:solidFill>
                        <a:latin typeface="黑体" panose="02010609060101010101" pitchFamily="49" charset="-122"/>
                        <a:ea typeface="黑体" panose="02010609060101010101" pitchFamily="49" charset="-122"/>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65861332"/>
                  </a:ext>
                </a:extLst>
              </a:tr>
              <a:tr h="421718">
                <a:tc>
                  <a:txBody>
                    <a:bodyPr/>
                    <a:lstStyle/>
                    <a:p>
                      <a:pPr algn="ctr"/>
                      <a:r>
                        <a:rPr lang="zh-CN" altLang="en-US" sz="1600" b="1" dirty="0">
                          <a:solidFill>
                            <a:srgbClr val="FF0000"/>
                          </a:solidFill>
                        </a:rPr>
                        <a:t>价格</a:t>
                      </a:r>
                      <a:endParaRPr lang="zh-CN" altLang="en-US" sz="1600" b="1" dirty="0">
                        <a:solidFill>
                          <a:srgbClr val="FF0000"/>
                        </a:solidFill>
                        <a:latin typeface="黑体" panose="02010609060101010101" pitchFamily="49" charset="-122"/>
                        <a:ea typeface="黑体" panose="02010609060101010101" pitchFamily="49" charset="-122"/>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solidFill>
                            <a:schemeClr val="tx1"/>
                          </a:solidFill>
                        </a:rPr>
                        <a:t>普通阀</a:t>
                      </a:r>
                      <a:r>
                        <a:rPr lang="en-US" altLang="zh-CN" sz="1600" dirty="0">
                          <a:solidFill>
                            <a:schemeClr val="tx1"/>
                          </a:solidFill>
                        </a:rPr>
                        <a:t>3-6</a:t>
                      </a:r>
                      <a:r>
                        <a:rPr lang="zh-CN" altLang="en-US" sz="1600" dirty="0">
                          <a:solidFill>
                            <a:schemeClr val="tx1"/>
                          </a:solidFill>
                        </a:rPr>
                        <a:t>倍</a:t>
                      </a:r>
                      <a:endParaRPr lang="zh-CN" altLang="en-US" sz="1600" dirty="0">
                        <a:solidFill>
                          <a:schemeClr val="tx1"/>
                        </a:solidFill>
                        <a:latin typeface="黑体" panose="02010609060101010101" pitchFamily="49" charset="-122"/>
                        <a:ea typeface="黑体" panose="02010609060101010101" pitchFamily="49" charset="-122"/>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solidFill>
                            <a:schemeClr val="tx1"/>
                          </a:solidFill>
                        </a:rPr>
                        <a:t>普通阀</a:t>
                      </a:r>
                      <a:r>
                        <a:rPr lang="en-US" altLang="zh-CN" sz="1600" dirty="0">
                          <a:solidFill>
                            <a:schemeClr val="tx1"/>
                          </a:solidFill>
                        </a:rPr>
                        <a:t>10</a:t>
                      </a:r>
                      <a:r>
                        <a:rPr lang="zh-CN" altLang="en-US" sz="1600" dirty="0">
                          <a:solidFill>
                            <a:schemeClr val="tx1"/>
                          </a:solidFill>
                        </a:rPr>
                        <a:t>倍以上</a:t>
                      </a:r>
                      <a:endParaRPr lang="zh-CN" altLang="en-US" sz="1600" dirty="0">
                        <a:solidFill>
                          <a:schemeClr val="tx1"/>
                        </a:solidFill>
                        <a:latin typeface="黑体" panose="02010609060101010101" pitchFamily="49" charset="-122"/>
                        <a:ea typeface="黑体" panose="02010609060101010101" pitchFamily="49" charset="-122"/>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30802468"/>
                  </a:ext>
                </a:extLst>
              </a:tr>
            </a:tbl>
          </a:graphicData>
        </a:graphic>
      </p:graphicFrame>
      <p:sp>
        <p:nvSpPr>
          <p:cNvPr id="4" name="Content Placeholder 2">
            <a:extLst>
              <a:ext uri="{FF2B5EF4-FFF2-40B4-BE49-F238E27FC236}">
                <a16:creationId xmlns:a16="http://schemas.microsoft.com/office/drawing/2014/main" id="{25E21E29-82F4-E935-13F2-3C12C2DDBBA1}"/>
              </a:ext>
            </a:extLst>
          </p:cNvPr>
          <p:cNvSpPr txBox="1">
            <a:spLocks/>
          </p:cNvSpPr>
          <p:nvPr/>
        </p:nvSpPr>
        <p:spPr bwMode="auto">
          <a:xfrm>
            <a:off x="4470603" y="1115635"/>
            <a:ext cx="4015935" cy="43204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ea typeface="+mn-ea"/>
              </a:defRPr>
            </a:lvl2pPr>
            <a:lvl3pPr marL="1143000" indent="-228600" algn="l" rtl="0" eaLnBrk="0" fontAlgn="base" hangingPunct="0">
              <a:spcBef>
                <a:spcPct val="20000"/>
              </a:spcBef>
              <a:spcAft>
                <a:spcPct val="0"/>
              </a:spcAft>
              <a:buChar char="•"/>
              <a:defRPr sz="2400">
                <a:solidFill>
                  <a:schemeClr val="tx1"/>
                </a:solidFill>
                <a:latin typeface="+mn-lt"/>
                <a:ea typeface="+mn-ea"/>
              </a:defRPr>
            </a:lvl3pPr>
            <a:lvl4pPr marL="1600200" indent="-228600" algn="l" rtl="0" eaLnBrk="0" fontAlgn="base" hangingPunct="0">
              <a:spcBef>
                <a:spcPct val="20000"/>
              </a:spcBef>
              <a:spcAft>
                <a:spcPct val="0"/>
              </a:spcAft>
              <a:buChar char="–"/>
              <a:defRPr sz="20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sz="2000">
                <a:solidFill>
                  <a:schemeClr val="tx1"/>
                </a:solidFill>
                <a:latin typeface="+mn-lt"/>
                <a:ea typeface="+mn-ea"/>
              </a:defRPr>
            </a:lvl6pPr>
            <a:lvl7pPr marL="2971800" indent="-228600" algn="l" rtl="0" fontAlgn="base">
              <a:spcBef>
                <a:spcPct val="20000"/>
              </a:spcBef>
              <a:spcAft>
                <a:spcPct val="0"/>
              </a:spcAft>
              <a:buChar char="»"/>
              <a:defRPr sz="2000">
                <a:solidFill>
                  <a:schemeClr val="tx1"/>
                </a:solidFill>
                <a:latin typeface="+mn-lt"/>
                <a:ea typeface="+mn-ea"/>
              </a:defRPr>
            </a:lvl7pPr>
            <a:lvl8pPr marL="3429000" indent="-228600" algn="l" rtl="0" fontAlgn="base">
              <a:spcBef>
                <a:spcPct val="20000"/>
              </a:spcBef>
              <a:spcAft>
                <a:spcPct val="0"/>
              </a:spcAft>
              <a:buChar char="»"/>
              <a:defRPr sz="2000">
                <a:solidFill>
                  <a:schemeClr val="tx1"/>
                </a:solidFill>
                <a:latin typeface="+mn-lt"/>
                <a:ea typeface="+mn-ea"/>
              </a:defRPr>
            </a:lvl8pPr>
            <a:lvl9pPr marL="3886200" indent="-228600" algn="l" rtl="0" fontAlgn="base">
              <a:spcBef>
                <a:spcPct val="20000"/>
              </a:spcBef>
              <a:spcAft>
                <a:spcPct val="0"/>
              </a:spcAft>
              <a:buChar char="»"/>
              <a:defRPr sz="2000">
                <a:solidFill>
                  <a:schemeClr val="tx1"/>
                </a:solidFill>
                <a:latin typeface="+mn-lt"/>
                <a:ea typeface="+mn-ea"/>
              </a:defRPr>
            </a:lvl9pPr>
          </a:lstStyle>
          <a:p>
            <a:pPr marL="0" indent="0">
              <a:buNone/>
            </a:pPr>
            <a:r>
              <a:rPr lang="zh-CN" altLang="en-US" sz="1800" kern="0" dirty="0">
                <a:latin typeface="+mn-ea"/>
              </a:rPr>
              <a:t>表</a:t>
            </a:r>
            <a:r>
              <a:rPr lang="en-US" altLang="zh-CN" sz="1800" kern="0" dirty="0">
                <a:latin typeface="+mn-ea"/>
              </a:rPr>
              <a:t> </a:t>
            </a:r>
            <a:r>
              <a:rPr lang="zh-CN" altLang="en-US" sz="1800" kern="0" dirty="0">
                <a:latin typeface="+mn-ea"/>
              </a:rPr>
              <a:t>电液比例阀和电液伺服阀特点比较</a:t>
            </a:r>
            <a:endParaRPr lang="en-US" altLang="zh-CN" sz="1800" kern="0" dirty="0">
              <a:latin typeface="+mn-ea"/>
            </a:endParaRPr>
          </a:p>
        </p:txBody>
      </p:sp>
      <p:sp>
        <p:nvSpPr>
          <p:cNvPr id="2" name="矩形 1">
            <a:extLst>
              <a:ext uri="{FF2B5EF4-FFF2-40B4-BE49-F238E27FC236}">
                <a16:creationId xmlns:a16="http://schemas.microsoft.com/office/drawing/2014/main" id="{19CDA027-BB02-50CF-C2FB-B10AF174E471}"/>
              </a:ext>
            </a:extLst>
          </p:cNvPr>
          <p:cNvSpPr/>
          <p:nvPr/>
        </p:nvSpPr>
        <p:spPr>
          <a:xfrm>
            <a:off x="429656" y="866144"/>
            <a:ext cx="8680807" cy="662554"/>
          </a:xfrm>
          <a:prstGeom prst="rect">
            <a:avLst/>
          </a:prstGeom>
          <a:noFill/>
        </p:spPr>
        <p:txBody>
          <a:bodyPr wrap="square" rtlCol="0">
            <a:spAutoFit/>
          </a:bodyPr>
          <a:lstStyle/>
          <a:p>
            <a:pPr marL="457200" indent="-457200" algn="just">
              <a:lnSpc>
                <a:spcPct val="150000"/>
              </a:lnSpc>
              <a:spcBef>
                <a:spcPts val="1000"/>
              </a:spcBef>
              <a:buFont typeface="Wingdings" panose="05000000000000000000" pitchFamily="2" charset="2"/>
              <a:buChar char="p"/>
            </a:pPr>
            <a:r>
              <a:rPr lang="zh-CN" altLang="en-US" sz="2800" b="1" dirty="0">
                <a:solidFill>
                  <a:srgbClr val="003F88"/>
                </a:solidFill>
                <a:latin typeface="微软雅黑" panose="020B0503020204020204" pitchFamily="34" charset="-122"/>
                <a:ea typeface="微软雅黑" panose="020B0503020204020204" pitchFamily="34" charset="-122"/>
              </a:rPr>
              <a:t>电液比例阀特点</a:t>
            </a:r>
            <a:endParaRPr lang="en-US" altLang="zh-CN" sz="2800" b="1" dirty="0">
              <a:solidFill>
                <a:srgbClr val="003F88"/>
              </a:solidFill>
              <a:latin typeface="微软雅黑" panose="020B0503020204020204" pitchFamily="34" charset="-122"/>
              <a:ea typeface="微软雅黑" panose="020B0503020204020204" pitchFamily="34" charset="-122"/>
            </a:endParaRPr>
          </a:p>
        </p:txBody>
      </p:sp>
      <p:sp>
        <p:nvSpPr>
          <p:cNvPr id="10" name="文本框 9">
            <a:extLst>
              <a:ext uri="{FF2B5EF4-FFF2-40B4-BE49-F238E27FC236}">
                <a16:creationId xmlns:a16="http://schemas.microsoft.com/office/drawing/2014/main" id="{9DF608D2-3B32-40B9-A23A-65DB606590EC}"/>
              </a:ext>
            </a:extLst>
          </p:cNvPr>
          <p:cNvSpPr txBox="1"/>
          <p:nvPr/>
        </p:nvSpPr>
        <p:spPr>
          <a:xfrm>
            <a:off x="429656" y="135415"/>
            <a:ext cx="3632036"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cs typeface="Times New Roman" panose="02020603050405020304" pitchFamily="18" charset="0"/>
              </a:rPr>
              <a:t>10.6</a:t>
            </a:r>
            <a:r>
              <a:rPr lang="en-US" altLang="zh-CN" sz="3600" b="1" dirty="0">
                <a:solidFill>
                  <a:srgbClr val="003F88"/>
                </a:solidFill>
                <a:latin typeface="+mn-ea"/>
              </a:rPr>
              <a:t> </a:t>
            </a:r>
            <a:r>
              <a:rPr lang="zh-CN" altLang="en-US" sz="3600" b="1" dirty="0">
                <a:solidFill>
                  <a:srgbClr val="003F88"/>
                </a:solidFill>
                <a:latin typeface="+mn-ea"/>
              </a:rPr>
              <a:t>电液比例阀</a:t>
            </a:r>
          </a:p>
        </p:txBody>
      </p:sp>
    </p:spTree>
    <p:extLst>
      <p:ext uri="{BB962C8B-B14F-4D97-AF65-F5344CB8AC3E}">
        <p14:creationId xmlns:p14="http://schemas.microsoft.com/office/powerpoint/2010/main" val="34009634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B4444E-E255-058D-8568-620275FFD454}"/>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EE8D53C0-0A0E-16CF-2BA7-70C923C444A2}"/>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5DA07749-3694-7067-541A-41EB5C15EA0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37F1BC0C-E777-0701-DBC0-30CE910308D1}"/>
              </a:ext>
            </a:extLst>
          </p:cNvPr>
          <p:cNvSpPr txBox="1"/>
          <p:nvPr/>
        </p:nvSpPr>
        <p:spPr>
          <a:xfrm>
            <a:off x="429656" y="135415"/>
            <a:ext cx="4319626"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cs typeface="Times New Roman" panose="02020603050405020304" pitchFamily="18" charset="0"/>
              </a:rPr>
              <a:t>10.7</a:t>
            </a:r>
            <a:r>
              <a:rPr lang="en-US" altLang="zh-CN" sz="3600" b="1" dirty="0">
                <a:solidFill>
                  <a:srgbClr val="003F88"/>
                </a:solidFill>
                <a:latin typeface="+mn-ea"/>
              </a:rPr>
              <a:t> </a:t>
            </a:r>
            <a:r>
              <a:rPr lang="zh-CN" altLang="en-US" sz="3600" b="1" dirty="0">
                <a:solidFill>
                  <a:srgbClr val="003F88"/>
                </a:solidFill>
                <a:latin typeface="+mn-ea"/>
              </a:rPr>
              <a:t>电液数字阀</a:t>
            </a:r>
          </a:p>
        </p:txBody>
      </p:sp>
      <p:sp>
        <p:nvSpPr>
          <p:cNvPr id="25" name="矩形 24">
            <a:extLst>
              <a:ext uri="{FF2B5EF4-FFF2-40B4-BE49-F238E27FC236}">
                <a16:creationId xmlns:a16="http://schemas.microsoft.com/office/drawing/2014/main" id="{AF8C4B4C-0635-8D78-8900-FB39E5CC2B8E}"/>
              </a:ext>
            </a:extLst>
          </p:cNvPr>
          <p:cNvSpPr/>
          <p:nvPr/>
        </p:nvSpPr>
        <p:spPr>
          <a:xfrm>
            <a:off x="0" y="174524"/>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Content Placeholder 2">
            <a:extLst>
              <a:ext uri="{FF2B5EF4-FFF2-40B4-BE49-F238E27FC236}">
                <a16:creationId xmlns:a16="http://schemas.microsoft.com/office/drawing/2014/main" id="{B70441CB-4CD7-78B6-3036-7B3CE8F58AEA}"/>
              </a:ext>
            </a:extLst>
          </p:cNvPr>
          <p:cNvSpPr txBox="1">
            <a:spLocks/>
          </p:cNvSpPr>
          <p:nvPr/>
        </p:nvSpPr>
        <p:spPr>
          <a:xfrm>
            <a:off x="1307003" y="1581395"/>
            <a:ext cx="10172081" cy="2501364"/>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lnSpc>
                <a:spcPct val="150000"/>
              </a:lnSpc>
              <a:buFont typeface="Wingdings" panose="05000000000000000000" pitchFamily="2" charset="2"/>
              <a:buChar char="ü"/>
            </a:pPr>
            <a:r>
              <a:rPr lang="zh-CN" altLang="en-US" sz="2000" dirty="0">
                <a:solidFill>
                  <a:srgbClr val="FF0000"/>
                </a:solidFill>
                <a:latin typeface="+mn-ea"/>
              </a:rPr>
              <a:t>数字信号直接控制阀</a:t>
            </a:r>
            <a:r>
              <a:rPr lang="zh-CN" altLang="en-US" sz="2000" dirty="0">
                <a:latin typeface="+mn-ea"/>
              </a:rPr>
              <a:t>，直接与计算机接口，不需数模转换器</a:t>
            </a:r>
            <a:endParaRPr lang="en-US" altLang="zh-CN" sz="2000" dirty="0">
              <a:latin typeface="+mn-ea"/>
            </a:endParaRPr>
          </a:p>
          <a:p>
            <a:pPr algn="just">
              <a:lnSpc>
                <a:spcPct val="150000"/>
              </a:lnSpc>
              <a:buFont typeface="Wingdings" panose="05000000000000000000" pitchFamily="2" charset="2"/>
              <a:buChar char="ü"/>
            </a:pPr>
            <a:r>
              <a:rPr lang="zh-CN" altLang="en-US" sz="2000" dirty="0">
                <a:latin typeface="+mn-ea"/>
              </a:rPr>
              <a:t>结构简单、工艺性好、制造成本低、抗污染能力强、重复性好、</a:t>
            </a:r>
            <a:r>
              <a:rPr lang="zh-CN" altLang="en-US" sz="2000" dirty="0">
                <a:solidFill>
                  <a:srgbClr val="FF0000"/>
                </a:solidFill>
                <a:latin typeface="+mn-ea"/>
              </a:rPr>
              <a:t>工作稳定可靠、功耗小</a:t>
            </a:r>
            <a:endParaRPr lang="en-US" altLang="zh-CN" sz="2000" dirty="0">
              <a:solidFill>
                <a:srgbClr val="FF0000"/>
              </a:solidFill>
              <a:latin typeface="+mn-ea"/>
            </a:endParaRPr>
          </a:p>
          <a:p>
            <a:pPr algn="just">
              <a:lnSpc>
                <a:spcPct val="150000"/>
              </a:lnSpc>
              <a:buFont typeface="Wingdings" panose="05000000000000000000" pitchFamily="2" charset="2"/>
              <a:buChar char="ü"/>
            </a:pPr>
            <a:r>
              <a:rPr lang="zh-CN" altLang="en-US" sz="2000" dirty="0">
                <a:latin typeface="+mn-ea"/>
              </a:rPr>
              <a:t>计算机实时控制电液系统部分取代比例阀或伺服阀</a:t>
            </a:r>
            <a:endParaRPr lang="en-US" altLang="zh-CN" sz="2000" dirty="0">
              <a:latin typeface="+mn-ea"/>
            </a:endParaRPr>
          </a:p>
          <a:p>
            <a:pPr algn="just">
              <a:lnSpc>
                <a:spcPct val="150000"/>
              </a:lnSpc>
              <a:buFont typeface="Wingdings" panose="05000000000000000000" pitchFamily="2" charset="2"/>
              <a:buChar char="ü"/>
            </a:pPr>
            <a:r>
              <a:rPr lang="zh-CN" altLang="en-US" sz="2000" dirty="0">
                <a:latin typeface="+mn-ea"/>
              </a:rPr>
              <a:t>嵌入式数字化控制提升电液伺服阀的动静特性</a:t>
            </a:r>
            <a:endParaRPr lang="en-US" altLang="zh-CN" sz="2000" dirty="0">
              <a:latin typeface="+mn-ea"/>
            </a:endParaRPr>
          </a:p>
        </p:txBody>
      </p:sp>
      <p:sp>
        <p:nvSpPr>
          <p:cNvPr id="17" name="文本框 16">
            <a:extLst>
              <a:ext uri="{FF2B5EF4-FFF2-40B4-BE49-F238E27FC236}">
                <a16:creationId xmlns:a16="http://schemas.microsoft.com/office/drawing/2014/main" id="{2D3E0FA2-98EC-1320-9FC5-2123C16DB32B}"/>
              </a:ext>
            </a:extLst>
          </p:cNvPr>
          <p:cNvSpPr txBox="1"/>
          <p:nvPr/>
        </p:nvSpPr>
        <p:spPr>
          <a:xfrm>
            <a:off x="6513643" y="4198175"/>
            <a:ext cx="5270442" cy="1422954"/>
          </a:xfrm>
          <a:prstGeom prst="rect">
            <a:avLst/>
          </a:prstGeom>
          <a:noFill/>
        </p:spPr>
        <p:txBody>
          <a:bodyPr wrap="square">
            <a:spAutoFit/>
          </a:bodyPr>
          <a:lstStyle/>
          <a:p>
            <a:pPr algn="just">
              <a:lnSpc>
                <a:spcPct val="150000"/>
              </a:lnSpc>
            </a:pPr>
            <a:r>
              <a:rPr lang="zh-CN" altLang="en-US" sz="2000" dirty="0">
                <a:latin typeface="+mn-ea"/>
              </a:rPr>
              <a:t>数字量控制方法：</a:t>
            </a:r>
            <a:endParaRPr lang="en-US" altLang="zh-CN" sz="2000" dirty="0">
              <a:latin typeface="+mn-ea"/>
            </a:endParaRPr>
          </a:p>
          <a:p>
            <a:pPr marL="342900" indent="-342900" algn="just">
              <a:lnSpc>
                <a:spcPct val="150000"/>
              </a:lnSpc>
              <a:buFont typeface="+mj-ea"/>
              <a:buAutoNum type="circleNumDbPlain"/>
            </a:pPr>
            <a:r>
              <a:rPr lang="zh-CN" altLang="en-US" sz="2000" dirty="0">
                <a:latin typeface="+mn-ea"/>
              </a:rPr>
              <a:t>脉数调制（</a:t>
            </a:r>
            <a:r>
              <a:rPr lang="en-US" altLang="zh-CN" sz="2000" dirty="0">
                <a:latin typeface="+mn-ea"/>
              </a:rPr>
              <a:t>PNM</a:t>
            </a:r>
            <a:r>
              <a:rPr lang="zh-CN" altLang="en-US" sz="2000" dirty="0">
                <a:latin typeface="+mn-ea"/>
              </a:rPr>
              <a:t>）</a:t>
            </a:r>
            <a:r>
              <a:rPr lang="en-US" altLang="zh-CN" sz="2000" dirty="0">
                <a:latin typeface="+mn-ea"/>
              </a:rPr>
              <a:t>——</a:t>
            </a:r>
            <a:r>
              <a:rPr lang="zh-CN" altLang="en-US" sz="2000" dirty="0">
                <a:latin typeface="+mn-ea"/>
              </a:rPr>
              <a:t>增量控制</a:t>
            </a:r>
            <a:endParaRPr lang="en-US" altLang="zh-CN" sz="2000" dirty="0">
              <a:latin typeface="+mn-ea"/>
            </a:endParaRPr>
          </a:p>
          <a:p>
            <a:pPr marL="342900" indent="-342900" algn="just">
              <a:lnSpc>
                <a:spcPct val="150000"/>
              </a:lnSpc>
              <a:buFont typeface="+mj-ea"/>
              <a:buAutoNum type="circleNumDbPlain"/>
            </a:pPr>
            <a:r>
              <a:rPr lang="zh-CN" altLang="en-US" sz="2000" dirty="0">
                <a:latin typeface="+mn-ea"/>
              </a:rPr>
              <a:t>脉宽调制（</a:t>
            </a:r>
            <a:r>
              <a:rPr lang="en-US" altLang="zh-CN" sz="2000" dirty="0">
                <a:latin typeface="+mn-ea"/>
              </a:rPr>
              <a:t>PWM</a:t>
            </a:r>
            <a:r>
              <a:rPr lang="zh-CN" altLang="en-US" sz="2000" dirty="0">
                <a:latin typeface="+mn-ea"/>
              </a:rPr>
              <a:t>）控制</a:t>
            </a:r>
            <a:endParaRPr lang="en-US" altLang="zh-CN" sz="2000" dirty="0">
              <a:latin typeface="+mn-ea"/>
            </a:endParaRPr>
          </a:p>
        </p:txBody>
      </p:sp>
      <p:sp>
        <p:nvSpPr>
          <p:cNvPr id="19" name="文本框 18">
            <a:extLst>
              <a:ext uri="{FF2B5EF4-FFF2-40B4-BE49-F238E27FC236}">
                <a16:creationId xmlns:a16="http://schemas.microsoft.com/office/drawing/2014/main" id="{5C929727-711A-BD77-52EC-0699EFC28800}"/>
              </a:ext>
            </a:extLst>
          </p:cNvPr>
          <p:cNvSpPr txBox="1"/>
          <p:nvPr/>
        </p:nvSpPr>
        <p:spPr>
          <a:xfrm>
            <a:off x="712916" y="3967343"/>
            <a:ext cx="6114422" cy="1884618"/>
          </a:xfrm>
          <a:prstGeom prst="rect">
            <a:avLst/>
          </a:prstGeom>
          <a:noFill/>
        </p:spPr>
        <p:txBody>
          <a:bodyPr wrap="square">
            <a:spAutoFit/>
          </a:bodyPr>
          <a:lstStyle/>
          <a:p>
            <a:pPr algn="just">
              <a:lnSpc>
                <a:spcPct val="150000"/>
              </a:lnSpc>
            </a:pPr>
            <a:r>
              <a:rPr lang="zh-CN" altLang="en-US" sz="2000" dirty="0">
                <a:latin typeface="+mn-ea"/>
              </a:rPr>
              <a:t>结构类型：</a:t>
            </a:r>
            <a:endParaRPr lang="en-US" altLang="zh-CN" sz="2000" dirty="0">
              <a:latin typeface="+mn-ea"/>
            </a:endParaRPr>
          </a:p>
          <a:p>
            <a:pPr marL="0" indent="0" algn="just">
              <a:lnSpc>
                <a:spcPct val="150000"/>
              </a:lnSpc>
              <a:buFont typeface="Arial" panose="020B0604020202020204" pitchFamily="34" charset="0"/>
              <a:buNone/>
            </a:pPr>
            <a:r>
              <a:rPr lang="zh-CN" altLang="en-US" sz="2000" dirty="0">
                <a:latin typeface="+mn-ea"/>
              </a:rPr>
              <a:t>   ① 步进电机直驱式</a:t>
            </a:r>
            <a:endParaRPr lang="en-US" altLang="zh-CN" sz="2000" dirty="0">
              <a:latin typeface="+mn-ea"/>
            </a:endParaRPr>
          </a:p>
          <a:p>
            <a:pPr marL="0" indent="0" algn="just">
              <a:lnSpc>
                <a:spcPct val="150000"/>
              </a:lnSpc>
              <a:buFont typeface="Arial" panose="020B0604020202020204" pitchFamily="34" charset="0"/>
              <a:buNone/>
            </a:pPr>
            <a:r>
              <a:rPr lang="zh-CN" altLang="en-US" sz="2000" dirty="0">
                <a:latin typeface="+mn-ea"/>
              </a:rPr>
              <a:t>   ② 力矩马达和球阀组成</a:t>
            </a:r>
            <a:r>
              <a:rPr lang="zh-CN" altLang="en-US" sz="2000" b="1" dirty="0">
                <a:solidFill>
                  <a:srgbClr val="0000FF"/>
                </a:solidFill>
                <a:latin typeface="+mn-ea"/>
              </a:rPr>
              <a:t>高速开关数字阀 </a:t>
            </a:r>
            <a:endParaRPr lang="en-US" altLang="zh-CN" sz="2000" b="1" dirty="0">
              <a:solidFill>
                <a:srgbClr val="0000FF"/>
              </a:solidFill>
              <a:latin typeface="+mn-ea"/>
            </a:endParaRPr>
          </a:p>
          <a:p>
            <a:pPr marL="0" indent="0" algn="just">
              <a:lnSpc>
                <a:spcPct val="150000"/>
              </a:lnSpc>
              <a:buFont typeface="Arial" panose="020B0604020202020204" pitchFamily="34" charset="0"/>
              <a:buNone/>
            </a:pPr>
            <a:r>
              <a:rPr lang="zh-CN" altLang="en-US" sz="2000" dirty="0">
                <a:latin typeface="+mn-ea"/>
              </a:rPr>
              <a:t>   ③ 锥阀型高速开关阀</a:t>
            </a:r>
            <a:endParaRPr lang="en-US" altLang="zh-CN" sz="2000" dirty="0">
              <a:latin typeface="+mn-ea"/>
            </a:endParaRPr>
          </a:p>
        </p:txBody>
      </p:sp>
      <p:sp>
        <p:nvSpPr>
          <p:cNvPr id="2" name="矩形 1">
            <a:extLst>
              <a:ext uri="{FF2B5EF4-FFF2-40B4-BE49-F238E27FC236}">
                <a16:creationId xmlns:a16="http://schemas.microsoft.com/office/drawing/2014/main" id="{F64243A6-095D-1E18-A679-A21E9C119B9B}"/>
              </a:ext>
            </a:extLst>
          </p:cNvPr>
          <p:cNvSpPr/>
          <p:nvPr/>
        </p:nvSpPr>
        <p:spPr>
          <a:xfrm>
            <a:off x="429656" y="866144"/>
            <a:ext cx="8680807" cy="662554"/>
          </a:xfrm>
          <a:prstGeom prst="rect">
            <a:avLst/>
          </a:prstGeom>
          <a:noFill/>
        </p:spPr>
        <p:txBody>
          <a:bodyPr wrap="square" rtlCol="0">
            <a:spAutoFit/>
          </a:bodyPr>
          <a:lstStyle/>
          <a:p>
            <a:pPr marL="457200" indent="-457200" algn="just">
              <a:lnSpc>
                <a:spcPct val="150000"/>
              </a:lnSpc>
              <a:spcBef>
                <a:spcPts val="1000"/>
              </a:spcBef>
              <a:buFont typeface="Wingdings" panose="05000000000000000000" pitchFamily="2" charset="2"/>
              <a:buChar char="p"/>
            </a:pPr>
            <a:r>
              <a:rPr lang="zh-CN" altLang="en-US" sz="2800" b="1" dirty="0">
                <a:solidFill>
                  <a:srgbClr val="003F88"/>
                </a:solidFill>
                <a:latin typeface="微软雅黑" panose="020B0503020204020204" pitchFamily="34" charset="-122"/>
                <a:ea typeface="微软雅黑" panose="020B0503020204020204" pitchFamily="34" charset="-122"/>
              </a:rPr>
              <a:t>电液数字阀概述</a:t>
            </a:r>
            <a:endParaRPr lang="en-US" altLang="zh-CN" sz="2800" b="1" dirty="0">
              <a:solidFill>
                <a:srgbClr val="003F88"/>
              </a:solidFill>
              <a:latin typeface="微软雅黑" panose="020B0503020204020204" pitchFamily="34" charset="-122"/>
              <a:ea typeface="微软雅黑" panose="020B0503020204020204" pitchFamily="34" charset="-122"/>
            </a:endParaRPr>
          </a:p>
        </p:txBody>
      </p:sp>
      <p:cxnSp>
        <p:nvCxnSpPr>
          <p:cNvPr id="4" name="直接连接符 3">
            <a:extLst>
              <a:ext uri="{FF2B5EF4-FFF2-40B4-BE49-F238E27FC236}">
                <a16:creationId xmlns:a16="http://schemas.microsoft.com/office/drawing/2014/main" id="{7E4C661D-F516-4A74-A05C-D0E849E7C279}"/>
              </a:ext>
            </a:extLst>
          </p:cNvPr>
          <p:cNvCxnSpPr/>
          <p:nvPr/>
        </p:nvCxnSpPr>
        <p:spPr>
          <a:xfrm>
            <a:off x="5497551" y="5151863"/>
            <a:ext cx="1126273" cy="278781"/>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直接连接符 6">
            <a:extLst>
              <a:ext uri="{FF2B5EF4-FFF2-40B4-BE49-F238E27FC236}">
                <a16:creationId xmlns:a16="http://schemas.microsoft.com/office/drawing/2014/main" id="{6C82CBFE-693B-47B2-AEBB-424E02809A2B}"/>
              </a:ext>
            </a:extLst>
          </p:cNvPr>
          <p:cNvCxnSpPr/>
          <p:nvPr/>
        </p:nvCxnSpPr>
        <p:spPr>
          <a:xfrm flipV="1">
            <a:off x="4527395" y="5430644"/>
            <a:ext cx="2129883" cy="289932"/>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92110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797A16-BF9F-CF46-3E61-E52158077A6A}"/>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9F528101-C776-2FCD-02D0-945B67014DF5}"/>
              </a:ext>
            </a:extLst>
          </p:cNvPr>
          <p:cNvPicPr>
            <a:picLocks noChangeAspect="1"/>
          </p:cNvPicPr>
          <p:nvPr/>
        </p:nvPicPr>
        <p:blipFill>
          <a:blip r:embed="rId3"/>
          <a:srcRect t="6109"/>
          <a:stretch/>
        </p:blipFill>
        <p:spPr>
          <a:xfrm>
            <a:off x="1607467" y="3263381"/>
            <a:ext cx="7165815" cy="2708422"/>
          </a:xfrm>
          <a:prstGeom prst="rect">
            <a:avLst/>
          </a:prstGeom>
        </p:spPr>
      </p:pic>
      <p:cxnSp>
        <p:nvCxnSpPr>
          <p:cNvPr id="5" name="直接连接符 4">
            <a:extLst>
              <a:ext uri="{FF2B5EF4-FFF2-40B4-BE49-F238E27FC236}">
                <a16:creationId xmlns:a16="http://schemas.microsoft.com/office/drawing/2014/main" id="{2E3A7A74-7C48-07B2-BF21-1A51B22B3AD8}"/>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CD11CEA2-5A8B-FEDB-9897-678ABACEF5B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7C9B6466-0273-9E67-7196-6A9FBF16E37A}"/>
              </a:ext>
            </a:extLst>
          </p:cNvPr>
          <p:cNvSpPr/>
          <p:nvPr/>
        </p:nvSpPr>
        <p:spPr>
          <a:xfrm>
            <a:off x="0" y="174524"/>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Content Placeholder 2">
            <a:extLst>
              <a:ext uri="{FF2B5EF4-FFF2-40B4-BE49-F238E27FC236}">
                <a16:creationId xmlns:a16="http://schemas.microsoft.com/office/drawing/2014/main" id="{FB42BA21-67F6-F807-6F5E-A3A5692219CB}"/>
              </a:ext>
            </a:extLst>
          </p:cNvPr>
          <p:cNvSpPr txBox="1">
            <a:spLocks/>
          </p:cNvSpPr>
          <p:nvPr/>
        </p:nvSpPr>
        <p:spPr>
          <a:xfrm>
            <a:off x="1344544" y="1471899"/>
            <a:ext cx="9739767" cy="2048694"/>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50000"/>
              </a:lnSpc>
              <a:buNone/>
            </a:pPr>
            <a:r>
              <a:rPr lang="en-US" altLang="zh-CN" sz="2400" b="1" dirty="0">
                <a:latin typeface="微软雅黑" panose="020B0503020204020204" pitchFamily="34" charset="-122"/>
                <a:ea typeface="微软雅黑" panose="020B0503020204020204" pitchFamily="34" charset="-122"/>
              </a:rPr>
              <a:t>A</a:t>
            </a:r>
            <a:r>
              <a:rPr lang="zh-CN" altLang="en-US" sz="2400" b="1" dirty="0">
                <a:latin typeface="微软雅黑" panose="020B0503020204020204" pitchFamily="34" charset="-122"/>
                <a:ea typeface="微软雅黑" panose="020B0503020204020204" pitchFamily="34" charset="-122"/>
              </a:rPr>
              <a:t>、步进电机直接驱动的数字流量阀（脉数调制</a:t>
            </a:r>
            <a:r>
              <a:rPr lang="en-US" altLang="zh-CN" sz="2400" b="1" dirty="0">
                <a:latin typeface="微软雅黑" panose="020B0503020204020204" pitchFamily="34" charset="-122"/>
                <a:ea typeface="微软雅黑" panose="020B0503020204020204" pitchFamily="34" charset="-122"/>
              </a:rPr>
              <a:t>-</a:t>
            </a:r>
            <a:r>
              <a:rPr lang="zh-CN" altLang="en-US" sz="2400" b="1" dirty="0">
                <a:latin typeface="微软雅黑" panose="020B0503020204020204" pitchFamily="34" charset="-122"/>
                <a:ea typeface="微软雅黑" panose="020B0503020204020204" pitchFamily="34" charset="-122"/>
              </a:rPr>
              <a:t>增量法）</a:t>
            </a:r>
            <a:endParaRPr lang="en-US" altLang="zh-CN" sz="2400" b="1" dirty="0">
              <a:latin typeface="微软雅黑" panose="020B0503020204020204" pitchFamily="34" charset="-122"/>
              <a:ea typeface="微软雅黑" panose="020B0503020204020204" pitchFamily="34" charset="-122"/>
            </a:endParaRPr>
          </a:p>
          <a:p>
            <a:pPr algn="just">
              <a:lnSpc>
                <a:spcPct val="150000"/>
              </a:lnSpc>
              <a:buFont typeface="Wingdings" panose="05000000000000000000" pitchFamily="2" charset="2"/>
              <a:buChar char="ü"/>
            </a:pPr>
            <a:r>
              <a:rPr lang="zh-CN" altLang="en-US" sz="2000" dirty="0">
                <a:latin typeface="微软雅黑" panose="020B0503020204020204" pitchFamily="34" charset="-122"/>
                <a:ea typeface="微软雅黑" panose="020B0503020204020204" pitchFamily="34" charset="-122"/>
              </a:rPr>
              <a:t>步进电动机转动，通过滚珠丝杠带动阀芯</a:t>
            </a:r>
            <a:endParaRPr lang="en-US" altLang="zh-CN" sz="2000" dirty="0">
              <a:latin typeface="微软雅黑" panose="020B0503020204020204" pitchFamily="34" charset="-122"/>
              <a:ea typeface="微软雅黑" panose="020B0503020204020204" pitchFamily="34" charset="-122"/>
            </a:endParaRPr>
          </a:p>
          <a:p>
            <a:pPr algn="just">
              <a:lnSpc>
                <a:spcPct val="150000"/>
              </a:lnSpc>
              <a:buFont typeface="Wingdings" panose="05000000000000000000" pitchFamily="2" charset="2"/>
              <a:buChar char="ü"/>
            </a:pPr>
            <a:r>
              <a:rPr lang="zh-CN" altLang="en-US" sz="2000" dirty="0">
                <a:solidFill>
                  <a:srgbClr val="FF0000"/>
                </a:solidFill>
                <a:latin typeface="微软雅黑" panose="020B0503020204020204" pitchFamily="34" charset="-122"/>
                <a:ea typeface="微软雅黑" panose="020B0503020204020204" pitchFamily="34" charset="-122"/>
              </a:rPr>
              <a:t>开环控制</a:t>
            </a:r>
            <a:r>
              <a:rPr lang="zh-CN" altLang="en-US" sz="2000" dirty="0">
                <a:latin typeface="微软雅黑" panose="020B0503020204020204" pitchFamily="34" charset="-122"/>
                <a:ea typeface="微软雅黑" panose="020B0503020204020204" pitchFamily="34" charset="-122"/>
              </a:rPr>
              <a:t>，带</a:t>
            </a:r>
            <a:r>
              <a:rPr lang="zh-CN" altLang="en-US" sz="2000" dirty="0">
                <a:solidFill>
                  <a:srgbClr val="FF0000"/>
                </a:solidFill>
                <a:latin typeface="微软雅黑" panose="020B0503020204020204" pitchFamily="34" charset="-122"/>
                <a:ea typeface="微软雅黑" panose="020B0503020204020204" pitchFamily="34" charset="-122"/>
              </a:rPr>
              <a:t>零位位移传感器</a:t>
            </a:r>
            <a:endParaRPr lang="en-US" altLang="zh-CN" sz="2000" dirty="0">
              <a:solidFill>
                <a:srgbClr val="FF0000"/>
              </a:solidFill>
              <a:latin typeface="微软雅黑" panose="020B0503020204020204" pitchFamily="34" charset="-122"/>
              <a:ea typeface="微软雅黑" panose="020B0503020204020204" pitchFamily="34" charset="-122"/>
            </a:endParaRPr>
          </a:p>
        </p:txBody>
      </p:sp>
      <p:sp>
        <p:nvSpPr>
          <p:cNvPr id="12" name="Content Placeholder 2">
            <a:extLst>
              <a:ext uri="{FF2B5EF4-FFF2-40B4-BE49-F238E27FC236}">
                <a16:creationId xmlns:a16="http://schemas.microsoft.com/office/drawing/2014/main" id="{57D2B4EF-0B90-ADB0-7154-E63E89B8053F}"/>
              </a:ext>
            </a:extLst>
          </p:cNvPr>
          <p:cNvSpPr txBox="1">
            <a:spLocks/>
          </p:cNvSpPr>
          <p:nvPr/>
        </p:nvSpPr>
        <p:spPr bwMode="auto">
          <a:xfrm>
            <a:off x="1972334" y="4407627"/>
            <a:ext cx="7564356" cy="56339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ea typeface="+mn-ea"/>
              </a:defRPr>
            </a:lvl2pPr>
            <a:lvl3pPr marL="1143000" indent="-228600" algn="l" rtl="0" eaLnBrk="0" fontAlgn="base" hangingPunct="0">
              <a:spcBef>
                <a:spcPct val="20000"/>
              </a:spcBef>
              <a:spcAft>
                <a:spcPct val="0"/>
              </a:spcAft>
              <a:buChar char="•"/>
              <a:defRPr sz="2400">
                <a:solidFill>
                  <a:schemeClr val="tx1"/>
                </a:solidFill>
                <a:latin typeface="+mn-lt"/>
                <a:ea typeface="+mn-ea"/>
              </a:defRPr>
            </a:lvl3pPr>
            <a:lvl4pPr marL="1600200" indent="-228600" algn="l" rtl="0" eaLnBrk="0" fontAlgn="base" hangingPunct="0">
              <a:spcBef>
                <a:spcPct val="20000"/>
              </a:spcBef>
              <a:spcAft>
                <a:spcPct val="0"/>
              </a:spcAft>
              <a:buChar char="–"/>
              <a:defRPr sz="20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sz="2000">
                <a:solidFill>
                  <a:schemeClr val="tx1"/>
                </a:solidFill>
                <a:latin typeface="+mn-lt"/>
                <a:ea typeface="+mn-ea"/>
              </a:defRPr>
            </a:lvl6pPr>
            <a:lvl7pPr marL="2971800" indent="-228600" algn="l" rtl="0" fontAlgn="base">
              <a:spcBef>
                <a:spcPct val="20000"/>
              </a:spcBef>
              <a:spcAft>
                <a:spcPct val="0"/>
              </a:spcAft>
              <a:buChar char="»"/>
              <a:defRPr sz="2000">
                <a:solidFill>
                  <a:schemeClr val="tx1"/>
                </a:solidFill>
                <a:latin typeface="+mn-lt"/>
                <a:ea typeface="+mn-ea"/>
              </a:defRPr>
            </a:lvl7pPr>
            <a:lvl8pPr marL="3429000" indent="-228600" algn="l" rtl="0" fontAlgn="base">
              <a:spcBef>
                <a:spcPct val="20000"/>
              </a:spcBef>
              <a:spcAft>
                <a:spcPct val="0"/>
              </a:spcAft>
              <a:buChar char="»"/>
              <a:defRPr sz="2000">
                <a:solidFill>
                  <a:schemeClr val="tx1"/>
                </a:solidFill>
                <a:latin typeface="+mn-lt"/>
                <a:ea typeface="+mn-ea"/>
              </a:defRPr>
            </a:lvl8pPr>
            <a:lvl9pPr marL="3886200" indent="-228600" algn="l" rtl="0" fontAlgn="base">
              <a:spcBef>
                <a:spcPct val="20000"/>
              </a:spcBef>
              <a:spcAft>
                <a:spcPct val="0"/>
              </a:spcAft>
              <a:buChar char="»"/>
              <a:defRPr sz="2000">
                <a:solidFill>
                  <a:schemeClr val="tx1"/>
                </a:solidFill>
                <a:latin typeface="+mn-lt"/>
                <a:ea typeface="+mn-ea"/>
              </a:defRPr>
            </a:lvl9pPr>
          </a:lstStyle>
          <a:p>
            <a:pPr marL="0" indent="0" algn="just">
              <a:buNone/>
            </a:pPr>
            <a:endParaRPr lang="en-US" altLang="zh-CN" sz="2400" kern="0" dirty="0">
              <a:solidFill>
                <a:schemeClr val="accent2"/>
              </a:solidFill>
              <a:latin typeface="微软雅黑" panose="020B0503020204020204" pitchFamily="34" charset="-122"/>
              <a:ea typeface="微软雅黑" panose="020B0503020204020204" pitchFamily="34" charset="-122"/>
            </a:endParaRPr>
          </a:p>
        </p:txBody>
      </p:sp>
      <p:sp>
        <p:nvSpPr>
          <p:cNvPr id="14" name="Content Placeholder 2">
            <a:extLst>
              <a:ext uri="{FF2B5EF4-FFF2-40B4-BE49-F238E27FC236}">
                <a16:creationId xmlns:a16="http://schemas.microsoft.com/office/drawing/2014/main" id="{84850EAF-7558-D093-82DD-3218BFC99C34}"/>
              </a:ext>
            </a:extLst>
          </p:cNvPr>
          <p:cNvSpPr txBox="1">
            <a:spLocks/>
          </p:cNvSpPr>
          <p:nvPr/>
        </p:nvSpPr>
        <p:spPr bwMode="auto">
          <a:xfrm>
            <a:off x="3517716" y="5588600"/>
            <a:ext cx="4861867" cy="43204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ea typeface="+mn-ea"/>
              </a:defRPr>
            </a:lvl2pPr>
            <a:lvl3pPr marL="1143000" indent="-228600" algn="l" rtl="0" eaLnBrk="0" fontAlgn="base" hangingPunct="0">
              <a:spcBef>
                <a:spcPct val="20000"/>
              </a:spcBef>
              <a:spcAft>
                <a:spcPct val="0"/>
              </a:spcAft>
              <a:buChar char="•"/>
              <a:defRPr sz="2400">
                <a:solidFill>
                  <a:schemeClr val="tx1"/>
                </a:solidFill>
                <a:latin typeface="+mn-lt"/>
                <a:ea typeface="+mn-ea"/>
              </a:defRPr>
            </a:lvl3pPr>
            <a:lvl4pPr marL="1600200" indent="-228600" algn="l" rtl="0" eaLnBrk="0" fontAlgn="base" hangingPunct="0">
              <a:spcBef>
                <a:spcPct val="20000"/>
              </a:spcBef>
              <a:spcAft>
                <a:spcPct val="0"/>
              </a:spcAft>
              <a:buChar char="–"/>
              <a:defRPr sz="20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sz="2000">
                <a:solidFill>
                  <a:schemeClr val="tx1"/>
                </a:solidFill>
                <a:latin typeface="+mn-lt"/>
                <a:ea typeface="+mn-ea"/>
              </a:defRPr>
            </a:lvl6pPr>
            <a:lvl7pPr marL="2971800" indent="-228600" algn="l" rtl="0" fontAlgn="base">
              <a:spcBef>
                <a:spcPct val="20000"/>
              </a:spcBef>
              <a:spcAft>
                <a:spcPct val="0"/>
              </a:spcAft>
              <a:buChar char="»"/>
              <a:defRPr sz="2000">
                <a:solidFill>
                  <a:schemeClr val="tx1"/>
                </a:solidFill>
                <a:latin typeface="+mn-lt"/>
                <a:ea typeface="+mn-ea"/>
              </a:defRPr>
            </a:lvl7pPr>
            <a:lvl8pPr marL="3429000" indent="-228600" algn="l" rtl="0" fontAlgn="base">
              <a:spcBef>
                <a:spcPct val="20000"/>
              </a:spcBef>
              <a:spcAft>
                <a:spcPct val="0"/>
              </a:spcAft>
              <a:buChar char="»"/>
              <a:defRPr sz="2000">
                <a:solidFill>
                  <a:schemeClr val="tx1"/>
                </a:solidFill>
                <a:latin typeface="+mn-lt"/>
                <a:ea typeface="+mn-ea"/>
              </a:defRPr>
            </a:lvl8pPr>
            <a:lvl9pPr marL="3886200" indent="-228600" algn="l" rtl="0" fontAlgn="base">
              <a:spcBef>
                <a:spcPct val="20000"/>
              </a:spcBef>
              <a:spcAft>
                <a:spcPct val="0"/>
              </a:spcAft>
              <a:buChar char="»"/>
              <a:defRPr sz="2000">
                <a:solidFill>
                  <a:schemeClr val="tx1"/>
                </a:solidFill>
                <a:latin typeface="+mn-lt"/>
                <a:ea typeface="+mn-ea"/>
              </a:defRPr>
            </a:lvl9pPr>
          </a:lstStyle>
          <a:p>
            <a:pPr marL="0" indent="0" algn="ctr">
              <a:buNone/>
            </a:pPr>
            <a:r>
              <a:rPr lang="zh-CN" altLang="en-US" sz="2000" kern="0" dirty="0">
                <a:latin typeface="微软雅黑" panose="020B0503020204020204" pitchFamily="34" charset="-122"/>
                <a:ea typeface="微软雅黑" panose="020B0503020204020204" pitchFamily="34" charset="-122"/>
              </a:rPr>
              <a:t>步进电机直接驱动的数字流量阀</a:t>
            </a:r>
            <a:endParaRPr lang="en-US" altLang="zh-CN" sz="2000" kern="0" dirty="0">
              <a:latin typeface="微软雅黑" panose="020B0503020204020204" pitchFamily="34" charset="-122"/>
              <a:ea typeface="微软雅黑" panose="020B0503020204020204" pitchFamily="34" charset="-122"/>
            </a:endParaRPr>
          </a:p>
        </p:txBody>
      </p:sp>
      <p:sp>
        <p:nvSpPr>
          <p:cNvPr id="16" name="Content Placeholder 2">
            <a:extLst>
              <a:ext uri="{FF2B5EF4-FFF2-40B4-BE49-F238E27FC236}">
                <a16:creationId xmlns:a16="http://schemas.microsoft.com/office/drawing/2014/main" id="{8D48FA67-5120-79A3-38EC-976CD64EC1E7}"/>
              </a:ext>
            </a:extLst>
          </p:cNvPr>
          <p:cNvSpPr txBox="1">
            <a:spLocks/>
          </p:cNvSpPr>
          <p:nvPr/>
        </p:nvSpPr>
        <p:spPr bwMode="auto">
          <a:xfrm>
            <a:off x="3413713" y="6015428"/>
            <a:ext cx="4883516" cy="680807"/>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ea typeface="+mn-ea"/>
              </a:defRPr>
            </a:lvl2pPr>
            <a:lvl3pPr marL="1143000" indent="-228600" algn="l" rtl="0" eaLnBrk="0" fontAlgn="base" hangingPunct="0">
              <a:spcBef>
                <a:spcPct val="20000"/>
              </a:spcBef>
              <a:spcAft>
                <a:spcPct val="0"/>
              </a:spcAft>
              <a:buChar char="•"/>
              <a:defRPr sz="2400">
                <a:solidFill>
                  <a:schemeClr val="tx1"/>
                </a:solidFill>
                <a:latin typeface="+mn-lt"/>
                <a:ea typeface="+mn-ea"/>
              </a:defRPr>
            </a:lvl3pPr>
            <a:lvl4pPr marL="1600200" indent="-228600" algn="l" rtl="0" eaLnBrk="0" fontAlgn="base" hangingPunct="0">
              <a:spcBef>
                <a:spcPct val="20000"/>
              </a:spcBef>
              <a:spcAft>
                <a:spcPct val="0"/>
              </a:spcAft>
              <a:buChar char="–"/>
              <a:defRPr sz="20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sz="2000">
                <a:solidFill>
                  <a:schemeClr val="tx1"/>
                </a:solidFill>
                <a:latin typeface="+mn-lt"/>
                <a:ea typeface="+mn-ea"/>
              </a:defRPr>
            </a:lvl6pPr>
            <a:lvl7pPr marL="2971800" indent="-228600" algn="l" rtl="0" fontAlgn="base">
              <a:spcBef>
                <a:spcPct val="20000"/>
              </a:spcBef>
              <a:spcAft>
                <a:spcPct val="0"/>
              </a:spcAft>
              <a:buChar char="»"/>
              <a:defRPr sz="2000">
                <a:solidFill>
                  <a:schemeClr val="tx1"/>
                </a:solidFill>
                <a:latin typeface="+mn-lt"/>
                <a:ea typeface="+mn-ea"/>
              </a:defRPr>
            </a:lvl7pPr>
            <a:lvl8pPr marL="3429000" indent="-228600" algn="l" rtl="0" fontAlgn="base">
              <a:spcBef>
                <a:spcPct val="20000"/>
              </a:spcBef>
              <a:spcAft>
                <a:spcPct val="0"/>
              </a:spcAft>
              <a:buChar char="»"/>
              <a:defRPr sz="2000">
                <a:solidFill>
                  <a:schemeClr val="tx1"/>
                </a:solidFill>
                <a:latin typeface="+mn-lt"/>
                <a:ea typeface="+mn-ea"/>
              </a:defRPr>
            </a:lvl8pPr>
            <a:lvl9pPr marL="3886200" indent="-228600" algn="l" rtl="0" fontAlgn="base">
              <a:spcBef>
                <a:spcPct val="20000"/>
              </a:spcBef>
              <a:spcAft>
                <a:spcPct val="0"/>
              </a:spcAft>
              <a:buChar char="»"/>
              <a:defRPr sz="2000">
                <a:solidFill>
                  <a:schemeClr val="tx1"/>
                </a:solidFill>
                <a:latin typeface="+mn-lt"/>
                <a:ea typeface="+mn-ea"/>
              </a:defRPr>
            </a:lvl9pPr>
          </a:lstStyle>
          <a:p>
            <a:pPr marL="0" indent="0" algn="ctr">
              <a:buNone/>
            </a:pPr>
            <a:r>
              <a:rPr lang="en-US" altLang="zh-CN" sz="1800" kern="0" dirty="0">
                <a:latin typeface="微软雅黑" panose="020B0503020204020204" pitchFamily="34" charset="-122"/>
                <a:ea typeface="微软雅黑" panose="020B0503020204020204" pitchFamily="34" charset="-122"/>
              </a:rPr>
              <a:t>1-</a:t>
            </a:r>
            <a:r>
              <a:rPr lang="zh-CN" altLang="en-US" sz="1800" kern="0" dirty="0">
                <a:latin typeface="微软雅黑" panose="020B0503020204020204" pitchFamily="34" charset="-122"/>
                <a:ea typeface="微软雅黑" panose="020B0503020204020204" pitchFamily="34" charset="-122"/>
              </a:rPr>
              <a:t>阀套 </a:t>
            </a:r>
            <a:r>
              <a:rPr lang="en-US" altLang="zh-CN" sz="1800" kern="0" dirty="0">
                <a:latin typeface="微软雅黑" panose="020B0503020204020204" pitchFamily="34" charset="-122"/>
                <a:ea typeface="微软雅黑" panose="020B0503020204020204" pitchFamily="34" charset="-122"/>
              </a:rPr>
              <a:t>2-</a:t>
            </a:r>
            <a:r>
              <a:rPr lang="zh-CN" altLang="en-US" sz="1800" kern="0" dirty="0">
                <a:latin typeface="微软雅黑" panose="020B0503020204020204" pitchFamily="34" charset="-122"/>
                <a:ea typeface="微软雅黑" panose="020B0503020204020204" pitchFamily="34" charset="-122"/>
              </a:rPr>
              <a:t>连接杆 </a:t>
            </a:r>
            <a:r>
              <a:rPr lang="en-US" altLang="zh-CN" sz="1800" kern="0" dirty="0">
                <a:latin typeface="微软雅黑" panose="020B0503020204020204" pitchFamily="34" charset="-122"/>
                <a:ea typeface="微软雅黑" panose="020B0503020204020204" pitchFamily="34" charset="-122"/>
              </a:rPr>
              <a:t>3-</a:t>
            </a:r>
            <a:r>
              <a:rPr lang="zh-CN" altLang="en-US" sz="1800" kern="0" dirty="0">
                <a:latin typeface="微软雅黑" panose="020B0503020204020204" pitchFamily="34" charset="-122"/>
                <a:ea typeface="微软雅黑" panose="020B0503020204020204" pitchFamily="34" charset="-122"/>
              </a:rPr>
              <a:t>零位位移传感器 </a:t>
            </a:r>
            <a:endParaRPr lang="en-US" altLang="zh-CN" sz="1800" kern="0" dirty="0">
              <a:latin typeface="微软雅黑" panose="020B0503020204020204" pitchFamily="34" charset="-122"/>
              <a:ea typeface="微软雅黑" panose="020B0503020204020204" pitchFamily="34" charset="-122"/>
            </a:endParaRPr>
          </a:p>
          <a:p>
            <a:pPr marL="0" indent="0" algn="ctr">
              <a:buNone/>
            </a:pPr>
            <a:r>
              <a:rPr lang="en-US" altLang="zh-CN" sz="1800" kern="0" dirty="0">
                <a:latin typeface="微软雅黑" panose="020B0503020204020204" pitchFamily="34" charset="-122"/>
                <a:ea typeface="微软雅黑" panose="020B0503020204020204" pitchFamily="34" charset="-122"/>
              </a:rPr>
              <a:t>4-</a:t>
            </a:r>
            <a:r>
              <a:rPr lang="zh-CN" altLang="en-US" sz="1800" kern="0" dirty="0">
                <a:latin typeface="微软雅黑" panose="020B0503020204020204" pitchFamily="34" charset="-122"/>
                <a:ea typeface="微软雅黑" panose="020B0503020204020204" pitchFamily="34" charset="-122"/>
              </a:rPr>
              <a:t>步进电动机 </a:t>
            </a:r>
            <a:r>
              <a:rPr lang="en-US" altLang="zh-CN" sz="1800" kern="0" dirty="0">
                <a:latin typeface="微软雅黑" panose="020B0503020204020204" pitchFamily="34" charset="-122"/>
                <a:ea typeface="微软雅黑" panose="020B0503020204020204" pitchFamily="34" charset="-122"/>
              </a:rPr>
              <a:t>5-</a:t>
            </a:r>
            <a:r>
              <a:rPr lang="zh-CN" altLang="en-US" sz="1800" kern="0" dirty="0">
                <a:latin typeface="微软雅黑" panose="020B0503020204020204" pitchFamily="34" charset="-122"/>
                <a:ea typeface="微软雅黑" panose="020B0503020204020204" pitchFamily="34" charset="-122"/>
              </a:rPr>
              <a:t>滚珠丝杠 </a:t>
            </a:r>
            <a:r>
              <a:rPr lang="en-US" altLang="zh-CN" sz="1800" kern="0" dirty="0">
                <a:latin typeface="微软雅黑" panose="020B0503020204020204" pitchFamily="34" charset="-122"/>
                <a:ea typeface="微软雅黑" panose="020B0503020204020204" pitchFamily="34" charset="-122"/>
              </a:rPr>
              <a:t>6-</a:t>
            </a:r>
            <a:r>
              <a:rPr lang="zh-CN" altLang="en-US" sz="1800" kern="0" dirty="0">
                <a:latin typeface="微软雅黑" panose="020B0503020204020204" pitchFamily="34" charset="-122"/>
                <a:ea typeface="微软雅黑" panose="020B0503020204020204" pitchFamily="34" charset="-122"/>
              </a:rPr>
              <a:t>节流阀阀芯</a:t>
            </a:r>
            <a:endParaRPr lang="en-US" altLang="zh-CN" sz="1800" kern="0" dirty="0">
              <a:latin typeface="微软雅黑" panose="020B0503020204020204" pitchFamily="34" charset="-122"/>
              <a:ea typeface="微软雅黑" panose="020B0503020204020204" pitchFamily="34" charset="-122"/>
            </a:endParaRPr>
          </a:p>
        </p:txBody>
      </p:sp>
      <p:pic>
        <p:nvPicPr>
          <p:cNvPr id="18" name="图片 17">
            <a:extLst>
              <a:ext uri="{FF2B5EF4-FFF2-40B4-BE49-F238E27FC236}">
                <a16:creationId xmlns:a16="http://schemas.microsoft.com/office/drawing/2014/main" id="{9ABD46A3-393C-D6CF-266F-813AD3DE4D7A}"/>
              </a:ext>
            </a:extLst>
          </p:cNvPr>
          <p:cNvPicPr>
            <a:picLocks noChangeAspect="1"/>
          </p:cNvPicPr>
          <p:nvPr/>
        </p:nvPicPr>
        <p:blipFill rotWithShape="1">
          <a:blip r:embed="rId5">
            <a:extLst>
              <a:ext uri="{28A0092B-C50C-407E-A947-70E740481C1C}">
                <a14:useLocalDpi xmlns:a14="http://schemas.microsoft.com/office/drawing/2010/main" val="0"/>
              </a:ext>
            </a:extLst>
          </a:blip>
          <a:srcRect l="22449" t="15206" r="22675" b="21604"/>
          <a:stretch/>
        </p:blipFill>
        <p:spPr>
          <a:xfrm>
            <a:off x="8773282" y="3091478"/>
            <a:ext cx="2647770" cy="2286710"/>
          </a:xfrm>
          <a:prstGeom prst="rect">
            <a:avLst/>
          </a:prstGeom>
        </p:spPr>
      </p:pic>
      <p:sp>
        <p:nvSpPr>
          <p:cNvPr id="2" name="矩形 1">
            <a:extLst>
              <a:ext uri="{FF2B5EF4-FFF2-40B4-BE49-F238E27FC236}">
                <a16:creationId xmlns:a16="http://schemas.microsoft.com/office/drawing/2014/main" id="{9DC9FF7D-FF8B-B256-9537-626AC62EF7BC}"/>
              </a:ext>
            </a:extLst>
          </p:cNvPr>
          <p:cNvSpPr/>
          <p:nvPr/>
        </p:nvSpPr>
        <p:spPr>
          <a:xfrm>
            <a:off x="429656" y="866144"/>
            <a:ext cx="8680807" cy="662554"/>
          </a:xfrm>
          <a:prstGeom prst="rect">
            <a:avLst/>
          </a:prstGeom>
          <a:noFill/>
        </p:spPr>
        <p:txBody>
          <a:bodyPr wrap="square" rtlCol="0">
            <a:spAutoFit/>
          </a:bodyPr>
          <a:lstStyle/>
          <a:p>
            <a:pPr marL="457200" indent="-457200" algn="just">
              <a:lnSpc>
                <a:spcPct val="150000"/>
              </a:lnSpc>
              <a:spcBef>
                <a:spcPts val="1000"/>
              </a:spcBef>
              <a:buFont typeface="Wingdings" panose="05000000000000000000" pitchFamily="2" charset="2"/>
              <a:buChar char="p"/>
            </a:pPr>
            <a:r>
              <a:rPr lang="zh-CN" altLang="en-US" sz="2800" b="1" dirty="0">
                <a:solidFill>
                  <a:srgbClr val="003F88"/>
                </a:solidFill>
                <a:latin typeface="微软雅黑" panose="020B0503020204020204" pitchFamily="34" charset="-122"/>
                <a:ea typeface="微软雅黑" panose="020B0503020204020204" pitchFamily="34" charset="-122"/>
              </a:rPr>
              <a:t>数字阀的结构</a:t>
            </a:r>
            <a:endParaRPr lang="en-US" altLang="zh-CN" sz="2800" b="1" dirty="0">
              <a:solidFill>
                <a:srgbClr val="003F88"/>
              </a:solidFill>
              <a:latin typeface="微软雅黑" panose="020B0503020204020204" pitchFamily="34" charset="-122"/>
              <a:ea typeface="微软雅黑" panose="020B0503020204020204" pitchFamily="34" charset="-122"/>
            </a:endParaRPr>
          </a:p>
        </p:txBody>
      </p:sp>
      <p:sp>
        <p:nvSpPr>
          <p:cNvPr id="13" name="文本框 12">
            <a:extLst>
              <a:ext uri="{FF2B5EF4-FFF2-40B4-BE49-F238E27FC236}">
                <a16:creationId xmlns:a16="http://schemas.microsoft.com/office/drawing/2014/main" id="{B1AF1D90-E726-403B-BDBF-8936EEFE78B5}"/>
              </a:ext>
            </a:extLst>
          </p:cNvPr>
          <p:cNvSpPr txBox="1"/>
          <p:nvPr/>
        </p:nvSpPr>
        <p:spPr>
          <a:xfrm>
            <a:off x="429656" y="135415"/>
            <a:ext cx="4319626"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cs typeface="Times New Roman" panose="02020603050405020304" pitchFamily="18" charset="0"/>
              </a:rPr>
              <a:t>10.7</a:t>
            </a:r>
            <a:r>
              <a:rPr lang="en-US" altLang="zh-CN" sz="3600" b="1" dirty="0">
                <a:solidFill>
                  <a:srgbClr val="003F88"/>
                </a:solidFill>
                <a:latin typeface="+mn-ea"/>
              </a:rPr>
              <a:t> </a:t>
            </a:r>
            <a:r>
              <a:rPr lang="zh-CN" altLang="en-US" sz="3600" b="1" dirty="0">
                <a:solidFill>
                  <a:srgbClr val="003F88"/>
                </a:solidFill>
                <a:latin typeface="+mn-ea"/>
              </a:rPr>
              <a:t>电液数字阀</a:t>
            </a:r>
          </a:p>
        </p:txBody>
      </p:sp>
    </p:spTree>
    <p:extLst>
      <p:ext uri="{BB962C8B-B14F-4D97-AF65-F5344CB8AC3E}">
        <p14:creationId xmlns:p14="http://schemas.microsoft.com/office/powerpoint/2010/main" val="6423486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A0BB98-35A7-C303-F8EA-C249CCF4C99A}"/>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781A9558-5AD3-1920-AE42-BAD47C9D7505}"/>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5885F30A-96B5-5478-2025-882D8CA8902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73F6D36C-F58E-8C59-1634-C2F96E397C8B}"/>
              </a:ext>
            </a:extLst>
          </p:cNvPr>
          <p:cNvSpPr/>
          <p:nvPr/>
        </p:nvSpPr>
        <p:spPr>
          <a:xfrm>
            <a:off x="0" y="174524"/>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Content Placeholder 2">
            <a:extLst>
              <a:ext uri="{FF2B5EF4-FFF2-40B4-BE49-F238E27FC236}">
                <a16:creationId xmlns:a16="http://schemas.microsoft.com/office/drawing/2014/main" id="{E2903486-60E9-09FD-625E-15991B787E6F}"/>
              </a:ext>
            </a:extLst>
          </p:cNvPr>
          <p:cNvSpPr txBox="1">
            <a:spLocks/>
          </p:cNvSpPr>
          <p:nvPr/>
        </p:nvSpPr>
        <p:spPr>
          <a:xfrm>
            <a:off x="912187" y="1589304"/>
            <a:ext cx="2506150" cy="52322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50000"/>
              </a:lnSpc>
              <a:buNone/>
            </a:pPr>
            <a:r>
              <a:rPr lang="zh-CN" altLang="en-US" sz="2400" b="1" kern="0" dirty="0">
                <a:latin typeface="+mn-ea"/>
              </a:rPr>
              <a:t>增量式数字阀</a:t>
            </a:r>
            <a:endParaRPr lang="en-US" altLang="zh-CN" sz="2400" b="1" kern="0" dirty="0">
              <a:latin typeface="+mn-ea"/>
            </a:endParaRPr>
          </a:p>
        </p:txBody>
      </p:sp>
      <p:sp>
        <p:nvSpPr>
          <p:cNvPr id="38" name="Content Placeholder 2">
            <a:extLst>
              <a:ext uri="{FF2B5EF4-FFF2-40B4-BE49-F238E27FC236}">
                <a16:creationId xmlns:a16="http://schemas.microsoft.com/office/drawing/2014/main" id="{241BA5D3-54C5-4550-9B6B-7751465DE66A}"/>
              </a:ext>
            </a:extLst>
          </p:cNvPr>
          <p:cNvSpPr txBox="1">
            <a:spLocks/>
          </p:cNvSpPr>
          <p:nvPr/>
        </p:nvSpPr>
        <p:spPr bwMode="auto">
          <a:xfrm>
            <a:off x="3737247" y="5665960"/>
            <a:ext cx="3504256" cy="432048"/>
          </a:xfrm>
          <a:prstGeom prst="rect">
            <a:avLst/>
          </a:prstGeom>
          <a:noFill/>
          <a:ln w="9525">
            <a:solidFill>
              <a:schemeClr val="bg1"/>
            </a:solid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ea typeface="+mn-ea"/>
              </a:defRPr>
            </a:lvl2pPr>
            <a:lvl3pPr marL="1143000" indent="-228600" algn="l" rtl="0" eaLnBrk="0" fontAlgn="base" hangingPunct="0">
              <a:spcBef>
                <a:spcPct val="20000"/>
              </a:spcBef>
              <a:spcAft>
                <a:spcPct val="0"/>
              </a:spcAft>
              <a:buChar char="•"/>
              <a:defRPr sz="2400">
                <a:solidFill>
                  <a:schemeClr val="tx1"/>
                </a:solidFill>
                <a:latin typeface="+mn-lt"/>
                <a:ea typeface="+mn-ea"/>
              </a:defRPr>
            </a:lvl3pPr>
            <a:lvl4pPr marL="1600200" indent="-228600" algn="l" rtl="0" eaLnBrk="0" fontAlgn="base" hangingPunct="0">
              <a:spcBef>
                <a:spcPct val="20000"/>
              </a:spcBef>
              <a:spcAft>
                <a:spcPct val="0"/>
              </a:spcAft>
              <a:buChar char="–"/>
              <a:defRPr sz="20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sz="2000">
                <a:solidFill>
                  <a:schemeClr val="tx1"/>
                </a:solidFill>
                <a:latin typeface="+mn-lt"/>
                <a:ea typeface="+mn-ea"/>
              </a:defRPr>
            </a:lvl6pPr>
            <a:lvl7pPr marL="2971800" indent="-228600" algn="l" rtl="0" fontAlgn="base">
              <a:spcBef>
                <a:spcPct val="20000"/>
              </a:spcBef>
              <a:spcAft>
                <a:spcPct val="0"/>
              </a:spcAft>
              <a:buChar char="»"/>
              <a:defRPr sz="2000">
                <a:solidFill>
                  <a:schemeClr val="tx1"/>
                </a:solidFill>
                <a:latin typeface="+mn-lt"/>
                <a:ea typeface="+mn-ea"/>
              </a:defRPr>
            </a:lvl7pPr>
            <a:lvl8pPr marL="3429000" indent="-228600" algn="l" rtl="0" fontAlgn="base">
              <a:spcBef>
                <a:spcPct val="20000"/>
              </a:spcBef>
              <a:spcAft>
                <a:spcPct val="0"/>
              </a:spcAft>
              <a:buChar char="»"/>
              <a:defRPr sz="2000">
                <a:solidFill>
                  <a:schemeClr val="tx1"/>
                </a:solidFill>
                <a:latin typeface="+mn-lt"/>
                <a:ea typeface="+mn-ea"/>
              </a:defRPr>
            </a:lvl8pPr>
            <a:lvl9pPr marL="3886200" indent="-228600" algn="l" rtl="0" fontAlgn="base">
              <a:spcBef>
                <a:spcPct val="20000"/>
              </a:spcBef>
              <a:spcAft>
                <a:spcPct val="0"/>
              </a:spcAft>
              <a:buChar char="»"/>
              <a:defRPr sz="2000">
                <a:solidFill>
                  <a:schemeClr val="tx1"/>
                </a:solidFill>
                <a:latin typeface="+mn-lt"/>
                <a:ea typeface="+mn-ea"/>
              </a:defRPr>
            </a:lvl9pPr>
          </a:lstStyle>
          <a:p>
            <a:pPr marL="0" indent="0">
              <a:buNone/>
            </a:pPr>
            <a:r>
              <a:rPr lang="zh-CN" altLang="en-US" sz="1800" kern="0" dirty="0">
                <a:latin typeface="+mn-ea"/>
              </a:rPr>
              <a:t>图 增量式数字阀控制电液系统</a:t>
            </a:r>
            <a:endParaRPr lang="en-US" altLang="zh-CN" sz="1800" kern="0" dirty="0">
              <a:latin typeface="+mn-ea"/>
            </a:endParaRPr>
          </a:p>
        </p:txBody>
      </p:sp>
      <p:sp>
        <p:nvSpPr>
          <p:cNvPr id="39" name="矩形 38">
            <a:extLst>
              <a:ext uri="{FF2B5EF4-FFF2-40B4-BE49-F238E27FC236}">
                <a16:creationId xmlns:a16="http://schemas.microsoft.com/office/drawing/2014/main" id="{91FD0C76-C2A7-6B8C-FAA7-9D6205F0A49E}"/>
              </a:ext>
            </a:extLst>
          </p:cNvPr>
          <p:cNvSpPr/>
          <p:nvPr/>
        </p:nvSpPr>
        <p:spPr>
          <a:xfrm>
            <a:off x="1481748" y="3142417"/>
            <a:ext cx="1008112" cy="632128"/>
          </a:xfrm>
          <a:prstGeom prst="rect">
            <a:avLst/>
          </a:prstGeom>
          <a:ln>
            <a:solidFill>
              <a:srgbClr val="003F88"/>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zh-CN" altLang="en-US" dirty="0">
                <a:latin typeface="+mn-ea"/>
              </a:rPr>
              <a:t>计算机</a:t>
            </a:r>
          </a:p>
        </p:txBody>
      </p:sp>
      <p:sp>
        <p:nvSpPr>
          <p:cNvPr id="40" name="矩形 39">
            <a:extLst>
              <a:ext uri="{FF2B5EF4-FFF2-40B4-BE49-F238E27FC236}">
                <a16:creationId xmlns:a16="http://schemas.microsoft.com/office/drawing/2014/main" id="{D045331F-5A7E-F5CC-6719-DEBCE7B49B88}"/>
              </a:ext>
            </a:extLst>
          </p:cNvPr>
          <p:cNvSpPr/>
          <p:nvPr/>
        </p:nvSpPr>
        <p:spPr>
          <a:xfrm>
            <a:off x="2782078" y="3139260"/>
            <a:ext cx="792088" cy="638442"/>
          </a:xfrm>
          <a:prstGeom prst="rect">
            <a:avLst/>
          </a:prstGeom>
          <a:ln>
            <a:solidFill>
              <a:srgbClr val="003F88"/>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zh-CN" altLang="en-US" dirty="0">
                <a:latin typeface="+mn-ea"/>
              </a:rPr>
              <a:t>驱动</a:t>
            </a:r>
            <a:endParaRPr lang="en-US" altLang="zh-CN" dirty="0">
              <a:latin typeface="+mn-ea"/>
            </a:endParaRPr>
          </a:p>
          <a:p>
            <a:pPr algn="ctr"/>
            <a:r>
              <a:rPr lang="zh-CN" altLang="en-US" dirty="0">
                <a:latin typeface="+mn-ea"/>
              </a:rPr>
              <a:t>电源</a:t>
            </a:r>
          </a:p>
        </p:txBody>
      </p:sp>
      <p:sp>
        <p:nvSpPr>
          <p:cNvPr id="41" name="矩形 40">
            <a:extLst>
              <a:ext uri="{FF2B5EF4-FFF2-40B4-BE49-F238E27FC236}">
                <a16:creationId xmlns:a16="http://schemas.microsoft.com/office/drawing/2014/main" id="{59B0E4FE-0CC0-3C82-F104-B9C468E4D913}"/>
              </a:ext>
            </a:extLst>
          </p:cNvPr>
          <p:cNvSpPr/>
          <p:nvPr/>
        </p:nvSpPr>
        <p:spPr>
          <a:xfrm>
            <a:off x="4108890" y="3142417"/>
            <a:ext cx="900100" cy="632128"/>
          </a:xfrm>
          <a:prstGeom prst="rect">
            <a:avLst/>
          </a:prstGeom>
          <a:ln>
            <a:solidFill>
              <a:srgbClr val="003F88"/>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zh-CN" altLang="en-US" dirty="0">
                <a:latin typeface="+mn-ea"/>
              </a:rPr>
              <a:t>步进</a:t>
            </a:r>
            <a:endParaRPr lang="en-US" altLang="zh-CN" dirty="0">
              <a:latin typeface="+mn-ea"/>
            </a:endParaRPr>
          </a:p>
          <a:p>
            <a:pPr algn="ctr"/>
            <a:r>
              <a:rPr lang="zh-CN" altLang="en-US" dirty="0">
                <a:latin typeface="+mn-ea"/>
              </a:rPr>
              <a:t>电动机</a:t>
            </a:r>
          </a:p>
        </p:txBody>
      </p:sp>
      <p:sp>
        <p:nvSpPr>
          <p:cNvPr id="42" name="矩形 41">
            <a:extLst>
              <a:ext uri="{FF2B5EF4-FFF2-40B4-BE49-F238E27FC236}">
                <a16:creationId xmlns:a16="http://schemas.microsoft.com/office/drawing/2014/main" id="{085D6854-89C3-E093-B0A6-03433F8C22CA}"/>
              </a:ext>
            </a:extLst>
          </p:cNvPr>
          <p:cNvSpPr/>
          <p:nvPr/>
        </p:nvSpPr>
        <p:spPr>
          <a:xfrm>
            <a:off x="5454794" y="3142417"/>
            <a:ext cx="925660" cy="632128"/>
          </a:xfrm>
          <a:prstGeom prst="rect">
            <a:avLst/>
          </a:prstGeom>
          <a:ln>
            <a:solidFill>
              <a:srgbClr val="003F88"/>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zh-CN" altLang="en-US" dirty="0">
                <a:latin typeface="+mn-ea"/>
              </a:rPr>
              <a:t>机械式</a:t>
            </a:r>
            <a:endParaRPr lang="en-US" altLang="zh-CN" dirty="0">
              <a:latin typeface="+mn-ea"/>
            </a:endParaRPr>
          </a:p>
          <a:p>
            <a:pPr algn="ctr"/>
            <a:r>
              <a:rPr lang="zh-CN" altLang="en-US" dirty="0">
                <a:latin typeface="+mn-ea"/>
              </a:rPr>
              <a:t>转换器</a:t>
            </a:r>
          </a:p>
        </p:txBody>
      </p:sp>
      <p:sp>
        <p:nvSpPr>
          <p:cNvPr id="43" name="矩形 42">
            <a:extLst>
              <a:ext uri="{FF2B5EF4-FFF2-40B4-BE49-F238E27FC236}">
                <a16:creationId xmlns:a16="http://schemas.microsoft.com/office/drawing/2014/main" id="{D19E2467-D076-F0B5-1F3C-6F24513F443D}"/>
              </a:ext>
            </a:extLst>
          </p:cNvPr>
          <p:cNvSpPr/>
          <p:nvPr/>
        </p:nvSpPr>
        <p:spPr>
          <a:xfrm>
            <a:off x="6740494" y="3142417"/>
            <a:ext cx="951286" cy="632128"/>
          </a:xfrm>
          <a:prstGeom prst="rect">
            <a:avLst/>
          </a:prstGeom>
          <a:ln>
            <a:solidFill>
              <a:srgbClr val="003F88"/>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zh-CN" altLang="en-US" dirty="0">
                <a:latin typeface="+mn-ea"/>
              </a:rPr>
              <a:t>液压阀</a:t>
            </a:r>
          </a:p>
        </p:txBody>
      </p:sp>
      <p:sp>
        <p:nvSpPr>
          <p:cNvPr id="44" name="矩形 43">
            <a:extLst>
              <a:ext uri="{FF2B5EF4-FFF2-40B4-BE49-F238E27FC236}">
                <a16:creationId xmlns:a16="http://schemas.microsoft.com/office/drawing/2014/main" id="{229C86EB-BFE2-05CC-BD5F-C099E3AF7F11}"/>
              </a:ext>
            </a:extLst>
          </p:cNvPr>
          <p:cNvSpPr/>
          <p:nvPr/>
        </p:nvSpPr>
        <p:spPr>
          <a:xfrm>
            <a:off x="8158348" y="3142417"/>
            <a:ext cx="1364892" cy="632128"/>
          </a:xfrm>
          <a:prstGeom prst="rect">
            <a:avLst/>
          </a:prstGeom>
          <a:ln>
            <a:solidFill>
              <a:srgbClr val="003F88"/>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zh-CN" altLang="en-US" dirty="0">
                <a:latin typeface="+mn-ea"/>
              </a:rPr>
              <a:t>液压执行</a:t>
            </a:r>
            <a:endParaRPr lang="en-US" altLang="zh-CN" dirty="0">
              <a:latin typeface="+mn-ea"/>
            </a:endParaRPr>
          </a:p>
          <a:p>
            <a:pPr algn="ctr"/>
            <a:r>
              <a:rPr lang="zh-CN" altLang="en-US" dirty="0">
                <a:latin typeface="+mn-ea"/>
              </a:rPr>
              <a:t>机构及负载</a:t>
            </a:r>
          </a:p>
        </p:txBody>
      </p:sp>
      <p:sp>
        <p:nvSpPr>
          <p:cNvPr id="45" name="矩形 44">
            <a:extLst>
              <a:ext uri="{FF2B5EF4-FFF2-40B4-BE49-F238E27FC236}">
                <a16:creationId xmlns:a16="http://schemas.microsoft.com/office/drawing/2014/main" id="{115376CA-9632-6CA3-FC7B-A5824CB835C2}"/>
              </a:ext>
            </a:extLst>
          </p:cNvPr>
          <p:cNvSpPr/>
          <p:nvPr/>
        </p:nvSpPr>
        <p:spPr>
          <a:xfrm>
            <a:off x="4850872" y="4519476"/>
            <a:ext cx="951286" cy="632128"/>
          </a:xfrm>
          <a:prstGeom prst="rect">
            <a:avLst/>
          </a:prstGeom>
          <a:ln>
            <a:solidFill>
              <a:srgbClr val="003F88"/>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zh-CN" altLang="en-US" dirty="0">
                <a:latin typeface="+mn-ea"/>
              </a:rPr>
              <a:t>传感器</a:t>
            </a:r>
          </a:p>
        </p:txBody>
      </p:sp>
      <p:cxnSp>
        <p:nvCxnSpPr>
          <p:cNvPr id="46" name="直接箭头连接符 45">
            <a:extLst>
              <a:ext uri="{FF2B5EF4-FFF2-40B4-BE49-F238E27FC236}">
                <a16:creationId xmlns:a16="http://schemas.microsoft.com/office/drawing/2014/main" id="{33D42CC2-0CFD-4A05-ADA0-0E5395A3AFE4}"/>
              </a:ext>
            </a:extLst>
          </p:cNvPr>
          <p:cNvCxnSpPr/>
          <p:nvPr/>
        </p:nvCxnSpPr>
        <p:spPr>
          <a:xfrm>
            <a:off x="2489860" y="3458481"/>
            <a:ext cx="292218" cy="0"/>
          </a:xfrm>
          <a:prstGeom prst="straightConnector1">
            <a:avLst/>
          </a:prstGeom>
          <a:ln>
            <a:solidFill>
              <a:srgbClr val="003F88"/>
            </a:solidFill>
            <a:tailEnd type="triangle"/>
          </a:ln>
        </p:spPr>
        <p:style>
          <a:lnRef idx="1">
            <a:schemeClr val="accent6"/>
          </a:lnRef>
          <a:fillRef idx="0">
            <a:schemeClr val="accent6"/>
          </a:fillRef>
          <a:effectRef idx="0">
            <a:schemeClr val="accent6"/>
          </a:effectRef>
          <a:fontRef idx="minor">
            <a:schemeClr val="tx1"/>
          </a:fontRef>
        </p:style>
      </p:cxnSp>
      <p:cxnSp>
        <p:nvCxnSpPr>
          <p:cNvPr id="47" name="直接箭头连接符 46">
            <a:extLst>
              <a:ext uri="{FF2B5EF4-FFF2-40B4-BE49-F238E27FC236}">
                <a16:creationId xmlns:a16="http://schemas.microsoft.com/office/drawing/2014/main" id="{0575530E-9936-A28F-6377-A22ED886D560}"/>
              </a:ext>
            </a:extLst>
          </p:cNvPr>
          <p:cNvCxnSpPr>
            <a:endCxn id="41" idx="1"/>
          </p:cNvCxnSpPr>
          <p:nvPr/>
        </p:nvCxnSpPr>
        <p:spPr>
          <a:xfrm>
            <a:off x="3608747" y="3458481"/>
            <a:ext cx="500143" cy="0"/>
          </a:xfrm>
          <a:prstGeom prst="straightConnector1">
            <a:avLst/>
          </a:prstGeom>
          <a:ln>
            <a:solidFill>
              <a:srgbClr val="003F88"/>
            </a:solidFill>
            <a:tailEnd type="triangle"/>
          </a:ln>
        </p:spPr>
        <p:style>
          <a:lnRef idx="1">
            <a:schemeClr val="accent6"/>
          </a:lnRef>
          <a:fillRef idx="0">
            <a:schemeClr val="accent6"/>
          </a:fillRef>
          <a:effectRef idx="0">
            <a:schemeClr val="accent6"/>
          </a:effectRef>
          <a:fontRef idx="minor">
            <a:schemeClr val="tx1"/>
          </a:fontRef>
        </p:style>
      </p:cxnSp>
      <p:cxnSp>
        <p:nvCxnSpPr>
          <p:cNvPr id="48" name="直接箭头连接符 47">
            <a:extLst>
              <a:ext uri="{FF2B5EF4-FFF2-40B4-BE49-F238E27FC236}">
                <a16:creationId xmlns:a16="http://schemas.microsoft.com/office/drawing/2014/main" id="{49864A40-4A5E-5DC1-0DF8-16CCCBD35B0E}"/>
              </a:ext>
            </a:extLst>
          </p:cNvPr>
          <p:cNvCxnSpPr>
            <a:stCxn id="41" idx="3"/>
          </p:cNvCxnSpPr>
          <p:nvPr/>
        </p:nvCxnSpPr>
        <p:spPr>
          <a:xfrm>
            <a:off x="5008990" y="3458481"/>
            <a:ext cx="480385" cy="0"/>
          </a:xfrm>
          <a:prstGeom prst="straightConnector1">
            <a:avLst/>
          </a:prstGeom>
          <a:ln>
            <a:solidFill>
              <a:srgbClr val="003F88"/>
            </a:solidFill>
            <a:tailEnd type="triangle"/>
          </a:ln>
        </p:spPr>
        <p:style>
          <a:lnRef idx="1">
            <a:schemeClr val="accent6"/>
          </a:lnRef>
          <a:fillRef idx="0">
            <a:schemeClr val="accent6"/>
          </a:fillRef>
          <a:effectRef idx="0">
            <a:schemeClr val="accent6"/>
          </a:effectRef>
          <a:fontRef idx="minor">
            <a:schemeClr val="tx1"/>
          </a:fontRef>
        </p:style>
      </p:cxnSp>
      <p:cxnSp>
        <p:nvCxnSpPr>
          <p:cNvPr id="49" name="直接箭头连接符 48">
            <a:extLst>
              <a:ext uri="{FF2B5EF4-FFF2-40B4-BE49-F238E27FC236}">
                <a16:creationId xmlns:a16="http://schemas.microsoft.com/office/drawing/2014/main" id="{3E11DEE0-0357-30E3-F9DB-18A6520A4B76}"/>
              </a:ext>
            </a:extLst>
          </p:cNvPr>
          <p:cNvCxnSpPr/>
          <p:nvPr/>
        </p:nvCxnSpPr>
        <p:spPr>
          <a:xfrm>
            <a:off x="6380454" y="3458481"/>
            <a:ext cx="360040" cy="0"/>
          </a:xfrm>
          <a:prstGeom prst="straightConnector1">
            <a:avLst/>
          </a:prstGeom>
          <a:ln>
            <a:solidFill>
              <a:srgbClr val="003F88"/>
            </a:solidFill>
            <a:tailEnd type="triangle"/>
          </a:ln>
        </p:spPr>
        <p:style>
          <a:lnRef idx="1">
            <a:schemeClr val="accent6"/>
          </a:lnRef>
          <a:fillRef idx="0">
            <a:schemeClr val="accent6"/>
          </a:fillRef>
          <a:effectRef idx="0">
            <a:schemeClr val="accent6"/>
          </a:effectRef>
          <a:fontRef idx="minor">
            <a:schemeClr val="tx1"/>
          </a:fontRef>
        </p:style>
      </p:cxnSp>
      <p:cxnSp>
        <p:nvCxnSpPr>
          <p:cNvPr id="50" name="直接箭头连接符 49">
            <a:extLst>
              <a:ext uri="{FF2B5EF4-FFF2-40B4-BE49-F238E27FC236}">
                <a16:creationId xmlns:a16="http://schemas.microsoft.com/office/drawing/2014/main" id="{53CEFF71-64DC-15A8-DD5B-AADEB7648B08}"/>
              </a:ext>
            </a:extLst>
          </p:cNvPr>
          <p:cNvCxnSpPr>
            <a:stCxn id="43" idx="3"/>
            <a:endCxn id="44" idx="1"/>
          </p:cNvCxnSpPr>
          <p:nvPr/>
        </p:nvCxnSpPr>
        <p:spPr>
          <a:xfrm>
            <a:off x="7691780" y="3458481"/>
            <a:ext cx="466568" cy="0"/>
          </a:xfrm>
          <a:prstGeom prst="straightConnector1">
            <a:avLst/>
          </a:prstGeom>
          <a:ln>
            <a:solidFill>
              <a:srgbClr val="003F88"/>
            </a:solidFill>
            <a:tailEnd type="triangle"/>
          </a:ln>
        </p:spPr>
        <p:style>
          <a:lnRef idx="1">
            <a:schemeClr val="accent6"/>
          </a:lnRef>
          <a:fillRef idx="0">
            <a:schemeClr val="accent6"/>
          </a:fillRef>
          <a:effectRef idx="0">
            <a:schemeClr val="accent6"/>
          </a:effectRef>
          <a:fontRef idx="minor">
            <a:schemeClr val="tx1"/>
          </a:fontRef>
        </p:style>
      </p:cxnSp>
      <p:cxnSp>
        <p:nvCxnSpPr>
          <p:cNvPr id="51" name="直接箭头连接符 50">
            <a:extLst>
              <a:ext uri="{FF2B5EF4-FFF2-40B4-BE49-F238E27FC236}">
                <a16:creationId xmlns:a16="http://schemas.microsoft.com/office/drawing/2014/main" id="{B366E25E-42C5-19B6-A805-6D89868554EC}"/>
              </a:ext>
            </a:extLst>
          </p:cNvPr>
          <p:cNvCxnSpPr>
            <a:stCxn id="44" idx="3"/>
          </p:cNvCxnSpPr>
          <p:nvPr/>
        </p:nvCxnSpPr>
        <p:spPr>
          <a:xfrm>
            <a:off x="9523240" y="3458481"/>
            <a:ext cx="587806" cy="0"/>
          </a:xfrm>
          <a:prstGeom prst="straightConnector1">
            <a:avLst/>
          </a:prstGeom>
          <a:ln>
            <a:solidFill>
              <a:srgbClr val="003F88"/>
            </a:solidFill>
            <a:tailEnd type="triangle"/>
          </a:ln>
        </p:spPr>
        <p:style>
          <a:lnRef idx="1">
            <a:schemeClr val="accent6"/>
          </a:lnRef>
          <a:fillRef idx="0">
            <a:schemeClr val="accent6"/>
          </a:fillRef>
          <a:effectRef idx="0">
            <a:schemeClr val="accent6"/>
          </a:effectRef>
          <a:fontRef idx="minor">
            <a:schemeClr val="tx1"/>
          </a:fontRef>
        </p:style>
      </p:cxnSp>
      <p:sp>
        <p:nvSpPr>
          <p:cNvPr id="52" name="文本框 51">
            <a:extLst>
              <a:ext uri="{FF2B5EF4-FFF2-40B4-BE49-F238E27FC236}">
                <a16:creationId xmlns:a16="http://schemas.microsoft.com/office/drawing/2014/main" id="{69E99DF7-C9AD-BDD6-8E9D-218C04195160}"/>
              </a:ext>
            </a:extLst>
          </p:cNvPr>
          <p:cNvSpPr txBox="1"/>
          <p:nvPr/>
        </p:nvSpPr>
        <p:spPr>
          <a:xfrm>
            <a:off x="9524644" y="2701743"/>
            <a:ext cx="456950" cy="738664"/>
          </a:xfrm>
          <a:prstGeom prst="rect">
            <a:avLst/>
          </a:prstGeom>
          <a:noFill/>
        </p:spPr>
        <p:txBody>
          <a:bodyPr wrap="square" rtlCol="0">
            <a:spAutoFit/>
          </a:bodyPr>
          <a:lstStyle/>
          <a:p>
            <a:r>
              <a:rPr lang="zh-CN" altLang="en-US" sz="1400" dirty="0">
                <a:latin typeface="+mn-ea"/>
              </a:rPr>
              <a:t>被控量</a:t>
            </a:r>
          </a:p>
        </p:txBody>
      </p:sp>
      <p:cxnSp>
        <p:nvCxnSpPr>
          <p:cNvPr id="53" name="肘形连接符 29">
            <a:extLst>
              <a:ext uri="{FF2B5EF4-FFF2-40B4-BE49-F238E27FC236}">
                <a16:creationId xmlns:a16="http://schemas.microsoft.com/office/drawing/2014/main" id="{A85A4081-662F-11E6-2052-C792A6948AF7}"/>
              </a:ext>
            </a:extLst>
          </p:cNvPr>
          <p:cNvCxnSpPr>
            <a:stCxn id="52" idx="2"/>
            <a:endCxn id="45" idx="3"/>
          </p:cNvCxnSpPr>
          <p:nvPr/>
        </p:nvCxnSpPr>
        <p:spPr>
          <a:xfrm rot="5400000">
            <a:off x="7080073" y="2162493"/>
            <a:ext cx="1395133" cy="3950961"/>
          </a:xfrm>
          <a:prstGeom prst="bentConnector2">
            <a:avLst/>
          </a:prstGeom>
          <a:ln>
            <a:solidFill>
              <a:srgbClr val="003F88"/>
            </a:solidFill>
            <a:tailEnd type="triangle"/>
          </a:ln>
        </p:spPr>
        <p:style>
          <a:lnRef idx="1">
            <a:schemeClr val="accent6"/>
          </a:lnRef>
          <a:fillRef idx="0">
            <a:schemeClr val="accent6"/>
          </a:fillRef>
          <a:effectRef idx="0">
            <a:schemeClr val="accent6"/>
          </a:effectRef>
          <a:fontRef idx="minor">
            <a:schemeClr val="tx1"/>
          </a:fontRef>
        </p:style>
      </p:cxnSp>
      <p:cxnSp>
        <p:nvCxnSpPr>
          <p:cNvPr id="54" name="肘形连接符 33">
            <a:extLst>
              <a:ext uri="{FF2B5EF4-FFF2-40B4-BE49-F238E27FC236}">
                <a16:creationId xmlns:a16="http://schemas.microsoft.com/office/drawing/2014/main" id="{D380ED87-F3BE-44BF-558F-0CB07E41A998}"/>
              </a:ext>
            </a:extLst>
          </p:cNvPr>
          <p:cNvCxnSpPr>
            <a:stCxn id="45" idx="1"/>
            <a:endCxn id="39" idx="2"/>
          </p:cNvCxnSpPr>
          <p:nvPr/>
        </p:nvCxnSpPr>
        <p:spPr>
          <a:xfrm rot="10800000">
            <a:off x="1985804" y="3774546"/>
            <a:ext cx="2865068" cy="1060995"/>
          </a:xfrm>
          <a:prstGeom prst="bentConnector2">
            <a:avLst/>
          </a:prstGeom>
          <a:ln>
            <a:solidFill>
              <a:srgbClr val="003F88"/>
            </a:solidFill>
            <a:tailEnd type="triangle"/>
          </a:ln>
        </p:spPr>
        <p:style>
          <a:lnRef idx="1">
            <a:schemeClr val="accent6"/>
          </a:lnRef>
          <a:fillRef idx="0">
            <a:schemeClr val="accent6"/>
          </a:fillRef>
          <a:effectRef idx="0">
            <a:schemeClr val="accent6"/>
          </a:effectRef>
          <a:fontRef idx="minor">
            <a:schemeClr val="tx1"/>
          </a:fontRef>
        </p:style>
      </p:cxnSp>
      <p:sp>
        <p:nvSpPr>
          <p:cNvPr id="55" name="文本框 54">
            <a:extLst>
              <a:ext uri="{FF2B5EF4-FFF2-40B4-BE49-F238E27FC236}">
                <a16:creationId xmlns:a16="http://schemas.microsoft.com/office/drawing/2014/main" id="{0126A3DC-C93F-00CD-BA05-7C183913EE3D}"/>
              </a:ext>
            </a:extLst>
          </p:cNvPr>
          <p:cNvSpPr txBox="1"/>
          <p:nvPr/>
        </p:nvSpPr>
        <p:spPr>
          <a:xfrm>
            <a:off x="3547897" y="2900428"/>
            <a:ext cx="580685" cy="523220"/>
          </a:xfrm>
          <a:prstGeom prst="rect">
            <a:avLst/>
          </a:prstGeom>
          <a:noFill/>
          <a:ln>
            <a:solidFill>
              <a:schemeClr val="bg1"/>
            </a:solidFill>
          </a:ln>
        </p:spPr>
        <p:txBody>
          <a:bodyPr wrap="square" rtlCol="0">
            <a:spAutoFit/>
          </a:bodyPr>
          <a:lstStyle/>
          <a:p>
            <a:r>
              <a:rPr lang="zh-CN" altLang="en-US" sz="1400" dirty="0">
                <a:latin typeface="+mn-ea"/>
              </a:rPr>
              <a:t>脉冲序列</a:t>
            </a:r>
          </a:p>
        </p:txBody>
      </p:sp>
      <mc:AlternateContent xmlns:mc="http://schemas.openxmlformats.org/markup-compatibility/2006" xmlns:a14="http://schemas.microsoft.com/office/drawing/2010/main">
        <mc:Choice Requires="a14">
          <p:sp>
            <p:nvSpPr>
              <p:cNvPr id="56" name="文本框 55">
                <a:extLst>
                  <a:ext uri="{FF2B5EF4-FFF2-40B4-BE49-F238E27FC236}">
                    <a16:creationId xmlns:a16="http://schemas.microsoft.com/office/drawing/2014/main" id="{FB9F298F-ADAC-F15E-957D-AE1C0ABA60F5}"/>
                  </a:ext>
                </a:extLst>
              </p:cNvPr>
              <p:cNvSpPr txBox="1"/>
              <p:nvPr/>
            </p:nvSpPr>
            <p:spPr>
              <a:xfrm>
                <a:off x="6313652" y="3054316"/>
                <a:ext cx="493644" cy="369332"/>
              </a:xfrm>
              <a:prstGeom prst="rect">
                <a:avLst/>
              </a:prstGeom>
              <a:noFill/>
              <a:ln>
                <a:solidFill>
                  <a:schemeClr val="bg1"/>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zh-CN" altLang="en-US" i="1" smtClean="0">
                          <a:latin typeface="Cambria Math" panose="02040503050406030204" pitchFamily="18" charset="0"/>
                        </a:rPr>
                        <m:t>∆</m:t>
                      </m:r>
                      <m:r>
                        <a:rPr lang="en-US" altLang="zh-CN" b="0" i="1" smtClean="0">
                          <a:latin typeface="Cambria Math" panose="02040503050406030204" pitchFamily="18" charset="0"/>
                        </a:rPr>
                        <m:t>𝑥</m:t>
                      </m:r>
                    </m:oMath>
                  </m:oMathPara>
                </a14:m>
                <a:endParaRPr lang="zh-CN" altLang="en-US" dirty="0">
                  <a:latin typeface="+mn-ea"/>
                </a:endParaRPr>
              </a:p>
            </p:txBody>
          </p:sp>
        </mc:Choice>
        <mc:Fallback xmlns="">
          <p:sp>
            <p:nvSpPr>
              <p:cNvPr id="56" name="文本框 55">
                <a:extLst>
                  <a:ext uri="{FF2B5EF4-FFF2-40B4-BE49-F238E27FC236}">
                    <a16:creationId xmlns:a16="http://schemas.microsoft.com/office/drawing/2014/main" id="{FB9F298F-ADAC-F15E-957D-AE1C0ABA60F5}"/>
                  </a:ext>
                </a:extLst>
              </p:cNvPr>
              <p:cNvSpPr txBox="1">
                <a:spLocks noRot="1" noChangeAspect="1" noMove="1" noResize="1" noEditPoints="1" noAdjustHandles="1" noChangeArrowheads="1" noChangeShapeType="1" noTextEdit="1"/>
              </p:cNvSpPr>
              <p:nvPr/>
            </p:nvSpPr>
            <p:spPr>
              <a:xfrm>
                <a:off x="6313652" y="3054316"/>
                <a:ext cx="493644" cy="369332"/>
              </a:xfrm>
              <a:prstGeom prst="rect">
                <a:avLst/>
              </a:prstGeom>
              <a:blipFill>
                <a:blip r:embed="rId4"/>
                <a:stretch>
                  <a:fillRect/>
                </a:stretch>
              </a:blipFill>
              <a:ln>
                <a:solidFill>
                  <a:schemeClr val="bg1"/>
                </a:solidFill>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7" name="文本框 56">
                <a:extLst>
                  <a:ext uri="{FF2B5EF4-FFF2-40B4-BE49-F238E27FC236}">
                    <a16:creationId xmlns:a16="http://schemas.microsoft.com/office/drawing/2014/main" id="{418C6999-60CA-7B37-406B-C674B71B3F4E}"/>
                  </a:ext>
                </a:extLst>
              </p:cNvPr>
              <p:cNvSpPr txBox="1"/>
              <p:nvPr/>
            </p:nvSpPr>
            <p:spPr>
              <a:xfrm>
                <a:off x="4977451" y="3030499"/>
                <a:ext cx="493644" cy="369332"/>
              </a:xfrm>
              <a:prstGeom prst="rect">
                <a:avLst/>
              </a:prstGeom>
              <a:noFill/>
              <a:ln>
                <a:solidFill>
                  <a:schemeClr val="bg1"/>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zh-CN" altLang="en-US" i="1" smtClean="0">
                          <a:latin typeface="Cambria Math" panose="02040503050406030204" pitchFamily="18" charset="0"/>
                        </a:rPr>
                        <m:t>∆</m:t>
                      </m:r>
                      <m:r>
                        <a:rPr lang="zh-CN" altLang="en-US" i="1" smtClean="0">
                          <a:latin typeface="Cambria Math" panose="02040503050406030204" pitchFamily="18" charset="0"/>
                        </a:rPr>
                        <m:t>𝜃</m:t>
                      </m:r>
                    </m:oMath>
                  </m:oMathPara>
                </a14:m>
                <a:endParaRPr lang="zh-CN" altLang="en-US" dirty="0">
                  <a:latin typeface="+mn-ea"/>
                </a:endParaRPr>
              </a:p>
            </p:txBody>
          </p:sp>
        </mc:Choice>
        <mc:Fallback xmlns="">
          <p:sp>
            <p:nvSpPr>
              <p:cNvPr id="57" name="文本框 56">
                <a:extLst>
                  <a:ext uri="{FF2B5EF4-FFF2-40B4-BE49-F238E27FC236}">
                    <a16:creationId xmlns:a16="http://schemas.microsoft.com/office/drawing/2014/main" id="{418C6999-60CA-7B37-406B-C674B71B3F4E}"/>
                  </a:ext>
                </a:extLst>
              </p:cNvPr>
              <p:cNvSpPr txBox="1">
                <a:spLocks noRot="1" noChangeAspect="1" noMove="1" noResize="1" noEditPoints="1" noAdjustHandles="1" noChangeArrowheads="1" noChangeShapeType="1" noTextEdit="1"/>
              </p:cNvSpPr>
              <p:nvPr/>
            </p:nvSpPr>
            <p:spPr>
              <a:xfrm>
                <a:off x="4977451" y="3030499"/>
                <a:ext cx="493644" cy="369332"/>
              </a:xfrm>
              <a:prstGeom prst="rect">
                <a:avLst/>
              </a:prstGeom>
              <a:blipFill>
                <a:blip r:embed="rId5"/>
                <a:stretch>
                  <a:fillRect/>
                </a:stretch>
              </a:blipFill>
              <a:ln>
                <a:solidFill>
                  <a:schemeClr val="bg1"/>
                </a:solidFill>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8" name="文本框 57">
                <a:extLst>
                  <a:ext uri="{FF2B5EF4-FFF2-40B4-BE49-F238E27FC236}">
                    <a16:creationId xmlns:a16="http://schemas.microsoft.com/office/drawing/2014/main" id="{A581FAE7-E04B-C123-E78F-D3402828795F}"/>
                  </a:ext>
                </a:extLst>
              </p:cNvPr>
              <p:cNvSpPr txBox="1"/>
              <p:nvPr/>
            </p:nvSpPr>
            <p:spPr>
              <a:xfrm>
                <a:off x="7613146" y="3036615"/>
                <a:ext cx="493644" cy="369332"/>
              </a:xfrm>
              <a:prstGeom prst="rect">
                <a:avLst/>
              </a:prstGeom>
              <a:noFill/>
              <a:ln>
                <a:solidFill>
                  <a:schemeClr val="bg1"/>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zh-CN" altLang="en-US" i="1" smtClean="0">
                          <a:latin typeface="Cambria Math" panose="02040503050406030204" pitchFamily="18" charset="0"/>
                        </a:rPr>
                        <m:t>∆</m:t>
                      </m:r>
                      <m:r>
                        <a:rPr lang="en-US" altLang="zh-CN" b="0" i="1" smtClean="0">
                          <a:latin typeface="Cambria Math" panose="02040503050406030204" pitchFamily="18" charset="0"/>
                        </a:rPr>
                        <m:t>𝑞</m:t>
                      </m:r>
                    </m:oMath>
                  </m:oMathPara>
                </a14:m>
                <a:endParaRPr lang="zh-CN" altLang="en-US" dirty="0">
                  <a:latin typeface="+mn-ea"/>
                </a:endParaRPr>
              </a:p>
            </p:txBody>
          </p:sp>
        </mc:Choice>
        <mc:Fallback xmlns="">
          <p:sp>
            <p:nvSpPr>
              <p:cNvPr id="58" name="文本框 57">
                <a:extLst>
                  <a:ext uri="{FF2B5EF4-FFF2-40B4-BE49-F238E27FC236}">
                    <a16:creationId xmlns:a16="http://schemas.microsoft.com/office/drawing/2014/main" id="{A581FAE7-E04B-C123-E78F-D3402828795F}"/>
                  </a:ext>
                </a:extLst>
              </p:cNvPr>
              <p:cNvSpPr txBox="1">
                <a:spLocks noRot="1" noChangeAspect="1" noMove="1" noResize="1" noEditPoints="1" noAdjustHandles="1" noChangeArrowheads="1" noChangeShapeType="1" noTextEdit="1"/>
              </p:cNvSpPr>
              <p:nvPr/>
            </p:nvSpPr>
            <p:spPr>
              <a:xfrm>
                <a:off x="7613146" y="3036615"/>
                <a:ext cx="493644" cy="369332"/>
              </a:xfrm>
              <a:prstGeom prst="rect">
                <a:avLst/>
              </a:prstGeom>
              <a:blipFill>
                <a:blip r:embed="rId6"/>
                <a:stretch>
                  <a:fillRect b="-6349"/>
                </a:stretch>
              </a:blipFill>
              <a:ln>
                <a:solidFill>
                  <a:schemeClr val="bg1"/>
                </a:solidFill>
              </a:ln>
            </p:spPr>
            <p:txBody>
              <a:bodyPr/>
              <a:lstStyle/>
              <a:p>
                <a:r>
                  <a:rPr lang="zh-CN" altLang="en-US">
                    <a:noFill/>
                  </a:rPr>
                  <a:t> </a:t>
                </a:r>
              </a:p>
            </p:txBody>
          </p:sp>
        </mc:Fallback>
      </mc:AlternateContent>
      <p:sp>
        <p:nvSpPr>
          <p:cNvPr id="59" name="圆角矩形 43">
            <a:extLst>
              <a:ext uri="{FF2B5EF4-FFF2-40B4-BE49-F238E27FC236}">
                <a16:creationId xmlns:a16="http://schemas.microsoft.com/office/drawing/2014/main" id="{618AA60E-3720-3E08-8CC6-8AA189011355}"/>
              </a:ext>
            </a:extLst>
          </p:cNvPr>
          <p:cNvSpPr/>
          <p:nvPr/>
        </p:nvSpPr>
        <p:spPr>
          <a:xfrm>
            <a:off x="4023495" y="2701742"/>
            <a:ext cx="4081891" cy="1429449"/>
          </a:xfrm>
          <a:prstGeom prst="roundRect">
            <a:avLst>
              <a:gd name="adj" fmla="val 8516"/>
            </a:avLst>
          </a:prstGeom>
          <a:noFill/>
          <a:ln>
            <a:prstDash val="lgDashDotDot"/>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a:latin typeface="+mn-ea"/>
            </a:endParaRPr>
          </a:p>
        </p:txBody>
      </p:sp>
      <p:sp>
        <p:nvSpPr>
          <p:cNvPr id="2" name="Content Placeholder 2">
            <a:extLst>
              <a:ext uri="{FF2B5EF4-FFF2-40B4-BE49-F238E27FC236}">
                <a16:creationId xmlns:a16="http://schemas.microsoft.com/office/drawing/2014/main" id="{7D74149B-3EF8-5720-A194-4ED693BE8BC7}"/>
              </a:ext>
            </a:extLst>
          </p:cNvPr>
          <p:cNvSpPr txBox="1">
            <a:spLocks/>
          </p:cNvSpPr>
          <p:nvPr/>
        </p:nvSpPr>
        <p:spPr>
          <a:xfrm>
            <a:off x="5055790" y="2225436"/>
            <a:ext cx="2506150" cy="52322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25000"/>
              </a:lnSpc>
              <a:buNone/>
            </a:pPr>
            <a:r>
              <a:rPr lang="zh-CN" altLang="en-US" sz="2400" b="1" dirty="0">
                <a:solidFill>
                  <a:srgbClr val="003F88"/>
                </a:solidFill>
                <a:latin typeface="+mn-ea"/>
              </a:rPr>
              <a:t>增量式数字阀</a:t>
            </a:r>
            <a:endParaRPr lang="en-US" altLang="zh-CN" sz="2400" b="1" dirty="0">
              <a:solidFill>
                <a:srgbClr val="003F88"/>
              </a:solidFill>
              <a:latin typeface="+mn-ea"/>
            </a:endParaRPr>
          </a:p>
        </p:txBody>
      </p:sp>
      <p:sp>
        <p:nvSpPr>
          <p:cNvPr id="3" name="矩形 2">
            <a:extLst>
              <a:ext uri="{FF2B5EF4-FFF2-40B4-BE49-F238E27FC236}">
                <a16:creationId xmlns:a16="http://schemas.microsoft.com/office/drawing/2014/main" id="{7BA985EA-9030-4FC4-4956-5ECBB51AB548}"/>
              </a:ext>
            </a:extLst>
          </p:cNvPr>
          <p:cNvSpPr/>
          <p:nvPr/>
        </p:nvSpPr>
        <p:spPr>
          <a:xfrm>
            <a:off x="429656" y="949611"/>
            <a:ext cx="8680807" cy="662554"/>
          </a:xfrm>
          <a:prstGeom prst="rect">
            <a:avLst/>
          </a:prstGeom>
          <a:noFill/>
        </p:spPr>
        <p:txBody>
          <a:bodyPr wrap="square" rtlCol="0">
            <a:spAutoFit/>
          </a:bodyPr>
          <a:lstStyle/>
          <a:p>
            <a:pPr marL="457200" indent="-457200" algn="just">
              <a:lnSpc>
                <a:spcPct val="150000"/>
              </a:lnSpc>
              <a:spcBef>
                <a:spcPts val="1000"/>
              </a:spcBef>
              <a:buFont typeface="Wingdings" panose="05000000000000000000" pitchFamily="2" charset="2"/>
              <a:buChar char="p"/>
            </a:pPr>
            <a:r>
              <a:rPr lang="zh-CN" altLang="en-US" sz="2800" b="1" dirty="0">
                <a:solidFill>
                  <a:srgbClr val="003F88"/>
                </a:solidFill>
                <a:latin typeface="微软雅黑" panose="020B0503020204020204" pitchFamily="34" charset="-122"/>
                <a:ea typeface="微软雅黑" panose="020B0503020204020204" pitchFamily="34" charset="-122"/>
              </a:rPr>
              <a:t>数字阀的使用</a:t>
            </a:r>
            <a:endParaRPr lang="en-US" altLang="zh-CN" sz="2800" b="1" dirty="0">
              <a:solidFill>
                <a:srgbClr val="003F88"/>
              </a:solidFill>
              <a:latin typeface="微软雅黑" panose="020B0503020204020204" pitchFamily="34" charset="-122"/>
              <a:ea typeface="微软雅黑" panose="020B0503020204020204" pitchFamily="34" charset="-122"/>
            </a:endParaRPr>
          </a:p>
        </p:txBody>
      </p:sp>
      <p:sp>
        <p:nvSpPr>
          <p:cNvPr id="31" name="文本框 30">
            <a:extLst>
              <a:ext uri="{FF2B5EF4-FFF2-40B4-BE49-F238E27FC236}">
                <a16:creationId xmlns:a16="http://schemas.microsoft.com/office/drawing/2014/main" id="{5F6B9A1D-4FB8-43D3-9D37-0AFD4BFDD40B}"/>
              </a:ext>
            </a:extLst>
          </p:cNvPr>
          <p:cNvSpPr txBox="1"/>
          <p:nvPr/>
        </p:nvSpPr>
        <p:spPr>
          <a:xfrm>
            <a:off x="429656" y="135415"/>
            <a:ext cx="4319626"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cs typeface="Times New Roman" panose="02020603050405020304" pitchFamily="18" charset="0"/>
              </a:rPr>
              <a:t>10.7</a:t>
            </a:r>
            <a:r>
              <a:rPr lang="en-US" altLang="zh-CN" sz="3600" b="1" dirty="0">
                <a:solidFill>
                  <a:srgbClr val="003F88"/>
                </a:solidFill>
                <a:latin typeface="+mn-ea"/>
              </a:rPr>
              <a:t> </a:t>
            </a:r>
            <a:r>
              <a:rPr lang="zh-CN" altLang="en-US" sz="3600" b="1" dirty="0">
                <a:solidFill>
                  <a:srgbClr val="003F88"/>
                </a:solidFill>
                <a:latin typeface="+mn-ea"/>
              </a:rPr>
              <a:t>电液数字阀</a:t>
            </a:r>
          </a:p>
        </p:txBody>
      </p:sp>
    </p:spTree>
    <p:extLst>
      <p:ext uri="{BB962C8B-B14F-4D97-AF65-F5344CB8AC3E}">
        <p14:creationId xmlns:p14="http://schemas.microsoft.com/office/powerpoint/2010/main" val="24403785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9FA80-8A26-917A-B3EF-3E8AF4DE3B88}"/>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A59968D7-8109-0713-7025-3CFD4E09FE13}"/>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008FF9F7-EE09-C5F2-6D1F-F5D27B4DD5B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9D3CDE1A-7FB2-B1B5-96D0-934CD4111324}"/>
              </a:ext>
            </a:extLst>
          </p:cNvPr>
          <p:cNvSpPr/>
          <p:nvPr/>
        </p:nvSpPr>
        <p:spPr>
          <a:xfrm>
            <a:off x="0" y="174524"/>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Content Placeholder 2">
            <a:extLst>
              <a:ext uri="{FF2B5EF4-FFF2-40B4-BE49-F238E27FC236}">
                <a16:creationId xmlns:a16="http://schemas.microsoft.com/office/drawing/2014/main" id="{DB8AD7D7-D380-5BC2-CEB6-FD83F19AA9C0}"/>
              </a:ext>
            </a:extLst>
          </p:cNvPr>
          <p:cNvSpPr txBox="1">
            <a:spLocks/>
          </p:cNvSpPr>
          <p:nvPr/>
        </p:nvSpPr>
        <p:spPr>
          <a:xfrm>
            <a:off x="1334810" y="1444797"/>
            <a:ext cx="8394615" cy="778569"/>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50000"/>
              </a:lnSpc>
              <a:buNone/>
            </a:pPr>
            <a:r>
              <a:rPr lang="en-US" altLang="zh-CN" sz="2400" b="1" dirty="0">
                <a:latin typeface="微软雅黑" panose="020B0503020204020204" pitchFamily="34" charset="-122"/>
                <a:ea typeface="微软雅黑" panose="020B0503020204020204" pitchFamily="34" charset="-122"/>
              </a:rPr>
              <a:t>B</a:t>
            </a:r>
            <a:r>
              <a:rPr lang="zh-CN" altLang="en-US" sz="2400" b="1" dirty="0">
                <a:latin typeface="微软雅黑" panose="020B0503020204020204" pitchFamily="34" charset="-122"/>
                <a:ea typeface="微软雅黑" panose="020B0503020204020204" pitchFamily="34" charset="-122"/>
              </a:rPr>
              <a:t>、力矩马达和球阀组成的高速开关型数字阀</a:t>
            </a:r>
            <a:endParaRPr lang="en-US" altLang="zh-CN" sz="2400" b="1" dirty="0">
              <a:latin typeface="微软雅黑" panose="020B0503020204020204" pitchFamily="34" charset="-122"/>
              <a:ea typeface="微软雅黑" panose="020B0503020204020204" pitchFamily="34" charset="-122"/>
            </a:endParaRPr>
          </a:p>
        </p:txBody>
      </p:sp>
      <p:sp>
        <p:nvSpPr>
          <p:cNvPr id="10" name="Content Placeholder 2">
            <a:extLst>
              <a:ext uri="{FF2B5EF4-FFF2-40B4-BE49-F238E27FC236}">
                <a16:creationId xmlns:a16="http://schemas.microsoft.com/office/drawing/2014/main" id="{6B43781D-5272-DAC9-38C2-D2FBB324A8D0}"/>
              </a:ext>
            </a:extLst>
          </p:cNvPr>
          <p:cNvSpPr txBox="1">
            <a:spLocks/>
          </p:cNvSpPr>
          <p:nvPr/>
        </p:nvSpPr>
        <p:spPr bwMode="auto">
          <a:xfrm>
            <a:off x="1655559" y="6039336"/>
            <a:ext cx="3876559" cy="43204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ea typeface="+mn-ea"/>
              </a:defRPr>
            </a:lvl2pPr>
            <a:lvl3pPr marL="1143000" indent="-228600" algn="l" rtl="0" eaLnBrk="0" fontAlgn="base" hangingPunct="0">
              <a:spcBef>
                <a:spcPct val="20000"/>
              </a:spcBef>
              <a:spcAft>
                <a:spcPct val="0"/>
              </a:spcAft>
              <a:buChar char="•"/>
              <a:defRPr sz="2400">
                <a:solidFill>
                  <a:schemeClr val="tx1"/>
                </a:solidFill>
                <a:latin typeface="+mn-lt"/>
                <a:ea typeface="+mn-ea"/>
              </a:defRPr>
            </a:lvl3pPr>
            <a:lvl4pPr marL="1600200" indent="-228600" algn="l" rtl="0" eaLnBrk="0" fontAlgn="base" hangingPunct="0">
              <a:spcBef>
                <a:spcPct val="20000"/>
              </a:spcBef>
              <a:spcAft>
                <a:spcPct val="0"/>
              </a:spcAft>
              <a:buChar char="–"/>
              <a:defRPr sz="20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sz="2000">
                <a:solidFill>
                  <a:schemeClr val="tx1"/>
                </a:solidFill>
                <a:latin typeface="+mn-lt"/>
                <a:ea typeface="+mn-ea"/>
              </a:defRPr>
            </a:lvl6pPr>
            <a:lvl7pPr marL="2971800" indent="-228600" algn="l" rtl="0" fontAlgn="base">
              <a:spcBef>
                <a:spcPct val="20000"/>
              </a:spcBef>
              <a:spcAft>
                <a:spcPct val="0"/>
              </a:spcAft>
              <a:buChar char="»"/>
              <a:defRPr sz="2000">
                <a:solidFill>
                  <a:schemeClr val="tx1"/>
                </a:solidFill>
                <a:latin typeface="+mn-lt"/>
                <a:ea typeface="+mn-ea"/>
              </a:defRPr>
            </a:lvl7pPr>
            <a:lvl8pPr marL="3429000" indent="-228600" algn="l" rtl="0" fontAlgn="base">
              <a:spcBef>
                <a:spcPct val="20000"/>
              </a:spcBef>
              <a:spcAft>
                <a:spcPct val="0"/>
              </a:spcAft>
              <a:buChar char="»"/>
              <a:defRPr sz="2000">
                <a:solidFill>
                  <a:schemeClr val="tx1"/>
                </a:solidFill>
                <a:latin typeface="+mn-lt"/>
                <a:ea typeface="+mn-ea"/>
              </a:defRPr>
            </a:lvl8pPr>
            <a:lvl9pPr marL="3886200" indent="-228600" algn="l" rtl="0" fontAlgn="base">
              <a:spcBef>
                <a:spcPct val="20000"/>
              </a:spcBef>
              <a:spcAft>
                <a:spcPct val="0"/>
              </a:spcAft>
              <a:buChar char="»"/>
              <a:defRPr sz="2000">
                <a:solidFill>
                  <a:schemeClr val="tx1"/>
                </a:solidFill>
                <a:latin typeface="+mn-lt"/>
                <a:ea typeface="+mn-ea"/>
              </a:defRPr>
            </a:lvl9pPr>
          </a:lstStyle>
          <a:p>
            <a:pPr marL="0" indent="0">
              <a:buNone/>
            </a:pPr>
            <a:r>
              <a:rPr lang="zh-CN" altLang="en-US" sz="2000" kern="0" dirty="0">
                <a:latin typeface="微软雅黑" panose="020B0503020204020204" pitchFamily="34" charset="-122"/>
                <a:ea typeface="微软雅黑" panose="020B0503020204020204" pitchFamily="34" charset="-122"/>
              </a:rPr>
              <a:t>球阀型二位三通高速开关阀</a:t>
            </a:r>
            <a:endParaRPr lang="en-US" altLang="zh-CN" sz="2000" kern="0" dirty="0">
              <a:latin typeface="微软雅黑" panose="020B0503020204020204" pitchFamily="34" charset="-122"/>
              <a:ea typeface="微软雅黑" panose="020B0503020204020204" pitchFamily="34" charset="-122"/>
            </a:endParaRPr>
          </a:p>
        </p:txBody>
      </p:sp>
      <p:sp>
        <p:nvSpPr>
          <p:cNvPr id="12" name="矩形 11">
            <a:extLst>
              <a:ext uri="{FF2B5EF4-FFF2-40B4-BE49-F238E27FC236}">
                <a16:creationId xmlns:a16="http://schemas.microsoft.com/office/drawing/2014/main" id="{75CC424F-0E85-20C5-C39F-BC2F7E4A45C4}"/>
              </a:ext>
            </a:extLst>
          </p:cNvPr>
          <p:cNvSpPr/>
          <p:nvPr/>
        </p:nvSpPr>
        <p:spPr>
          <a:xfrm>
            <a:off x="5843651" y="3193545"/>
            <a:ext cx="5422226" cy="1484509"/>
          </a:xfrm>
          <a:prstGeom prst="rect">
            <a:avLst/>
          </a:prstGeom>
        </p:spPr>
        <p:txBody>
          <a:bodyPr wrap="square">
            <a:spAutoFit/>
          </a:bodyPr>
          <a:lstStyle/>
          <a:p>
            <a:pPr marL="342900" indent="-342900" algn="just" eaLnBrk="0" hangingPunct="0">
              <a:lnSpc>
                <a:spcPct val="150000"/>
              </a:lnSpc>
              <a:spcBef>
                <a:spcPct val="20000"/>
              </a:spcBef>
              <a:buFont typeface="Wingdings" panose="05000000000000000000" pitchFamily="2" charset="2"/>
              <a:buChar char="ü"/>
            </a:pPr>
            <a:r>
              <a:rPr lang="zh-CN" altLang="en-US" sz="2000" dirty="0">
                <a:latin typeface="微软雅黑" panose="020B0503020204020204" pitchFamily="34" charset="-122"/>
                <a:ea typeface="微软雅黑" panose="020B0503020204020204" pitchFamily="34" charset="-122"/>
              </a:rPr>
              <a:t>线圈通电时，衔铁针偏转使先导级球阀开启</a:t>
            </a:r>
            <a:endParaRPr lang="en-US" altLang="zh-CN" sz="2000" dirty="0">
              <a:latin typeface="微软雅黑" panose="020B0503020204020204" pitchFamily="34" charset="-122"/>
              <a:ea typeface="微软雅黑" panose="020B0503020204020204" pitchFamily="34" charset="-122"/>
            </a:endParaRPr>
          </a:p>
          <a:p>
            <a:pPr marL="342900" indent="-342900" algn="just" eaLnBrk="0" hangingPunct="0">
              <a:lnSpc>
                <a:spcPct val="150000"/>
              </a:lnSpc>
              <a:spcBef>
                <a:spcPct val="20000"/>
              </a:spcBef>
              <a:buFont typeface="Wingdings" panose="05000000000000000000" pitchFamily="2" charset="2"/>
              <a:buChar char="ü"/>
            </a:pPr>
            <a:r>
              <a:rPr lang="zh-CN" altLang="en-US" sz="2000" dirty="0">
                <a:latin typeface="微软雅黑" panose="020B0503020204020204" pitchFamily="34" charset="-122"/>
                <a:ea typeface="微软雅黑" panose="020B0503020204020204" pitchFamily="34" charset="-122"/>
              </a:rPr>
              <a:t>流量小，</a:t>
            </a:r>
            <a:r>
              <a:rPr lang="en-US" altLang="zh-CN" sz="2000" dirty="0">
                <a:latin typeface="微软雅黑" panose="020B0503020204020204" pitchFamily="34" charset="-122"/>
                <a:ea typeface="微软雅黑" panose="020B0503020204020204" pitchFamily="34" charset="-122"/>
              </a:rPr>
              <a:t>1.2L/min</a:t>
            </a:r>
            <a:r>
              <a:rPr lang="zh-CN" altLang="en-US" sz="2000" dirty="0">
                <a:latin typeface="微软雅黑" panose="020B0503020204020204" pitchFamily="34" charset="-122"/>
                <a:ea typeface="微软雅黑" panose="020B0503020204020204" pitchFamily="34" charset="-122"/>
              </a:rPr>
              <a:t>，工作压力可达</a:t>
            </a:r>
            <a:r>
              <a:rPr lang="en-US" altLang="zh-CN" sz="2000" dirty="0">
                <a:latin typeface="微软雅黑" panose="020B0503020204020204" pitchFamily="34" charset="-122"/>
                <a:ea typeface="微软雅黑" panose="020B0503020204020204" pitchFamily="34" charset="-122"/>
              </a:rPr>
              <a:t>20MPa</a:t>
            </a:r>
            <a:r>
              <a:rPr lang="zh-CN" altLang="en-US" sz="2000" dirty="0">
                <a:latin typeface="微软雅黑" panose="020B0503020204020204" pitchFamily="34" charset="-122"/>
                <a:ea typeface="微软雅黑" panose="020B0503020204020204" pitchFamily="34" charset="-122"/>
              </a:rPr>
              <a:t>，最短切换时间</a:t>
            </a:r>
            <a:r>
              <a:rPr lang="en-US" altLang="zh-CN" sz="2000" dirty="0">
                <a:latin typeface="微软雅黑" panose="020B0503020204020204" pitchFamily="34" charset="-122"/>
                <a:ea typeface="微软雅黑" panose="020B0503020204020204" pitchFamily="34" charset="-122"/>
              </a:rPr>
              <a:t>0.8ms</a:t>
            </a:r>
            <a:endParaRPr lang="zh-CN" altLang="en-US" sz="2000" dirty="0">
              <a:latin typeface="微软雅黑" panose="020B0503020204020204" pitchFamily="34" charset="-122"/>
              <a:ea typeface="微软雅黑" panose="020B0503020204020204" pitchFamily="34" charset="-122"/>
            </a:endParaRPr>
          </a:p>
        </p:txBody>
      </p:sp>
      <p:pic>
        <p:nvPicPr>
          <p:cNvPr id="2" name="图片 1">
            <a:extLst>
              <a:ext uri="{FF2B5EF4-FFF2-40B4-BE49-F238E27FC236}">
                <a16:creationId xmlns:a16="http://schemas.microsoft.com/office/drawing/2014/main" id="{03CA45C3-C0DF-5768-1FD4-598D582EB3A0}"/>
              </a:ext>
            </a:extLst>
          </p:cNvPr>
          <p:cNvPicPr>
            <a:picLocks noChangeAspect="1"/>
          </p:cNvPicPr>
          <p:nvPr/>
        </p:nvPicPr>
        <p:blipFill rotWithShape="1">
          <a:blip r:embed="rId3"/>
          <a:srcRect l="709" t="2511" r="50229" b="11365"/>
          <a:stretch/>
        </p:blipFill>
        <p:spPr>
          <a:xfrm>
            <a:off x="1381663" y="2026033"/>
            <a:ext cx="3691813" cy="4042164"/>
          </a:xfrm>
          <a:prstGeom prst="rect">
            <a:avLst/>
          </a:prstGeom>
        </p:spPr>
      </p:pic>
      <p:sp>
        <p:nvSpPr>
          <p:cNvPr id="3" name="矩形 2">
            <a:extLst>
              <a:ext uri="{FF2B5EF4-FFF2-40B4-BE49-F238E27FC236}">
                <a16:creationId xmlns:a16="http://schemas.microsoft.com/office/drawing/2014/main" id="{0801F8BF-16B0-AA54-7A32-C4276FB8CF59}"/>
              </a:ext>
            </a:extLst>
          </p:cNvPr>
          <p:cNvSpPr/>
          <p:nvPr/>
        </p:nvSpPr>
        <p:spPr>
          <a:xfrm>
            <a:off x="429656" y="866144"/>
            <a:ext cx="8680807" cy="662554"/>
          </a:xfrm>
          <a:prstGeom prst="rect">
            <a:avLst/>
          </a:prstGeom>
          <a:noFill/>
        </p:spPr>
        <p:txBody>
          <a:bodyPr wrap="square" rtlCol="0">
            <a:spAutoFit/>
          </a:bodyPr>
          <a:lstStyle/>
          <a:p>
            <a:pPr marL="457200" indent="-457200" algn="just">
              <a:lnSpc>
                <a:spcPct val="150000"/>
              </a:lnSpc>
              <a:spcBef>
                <a:spcPts val="1000"/>
              </a:spcBef>
              <a:buFont typeface="Wingdings" panose="05000000000000000000" pitchFamily="2" charset="2"/>
              <a:buChar char="p"/>
            </a:pPr>
            <a:r>
              <a:rPr lang="zh-CN" altLang="en-US" sz="2800" b="1" dirty="0">
                <a:solidFill>
                  <a:srgbClr val="003F88"/>
                </a:solidFill>
                <a:latin typeface="微软雅黑" panose="020B0503020204020204" pitchFamily="34" charset="-122"/>
                <a:ea typeface="微软雅黑" panose="020B0503020204020204" pitchFamily="34" charset="-122"/>
              </a:rPr>
              <a:t>数字阀的结构</a:t>
            </a:r>
            <a:endParaRPr lang="en-US" altLang="zh-CN" sz="2800" b="1" dirty="0">
              <a:solidFill>
                <a:srgbClr val="003F88"/>
              </a:solidFill>
              <a:latin typeface="微软雅黑" panose="020B0503020204020204" pitchFamily="34" charset="-122"/>
              <a:ea typeface="微软雅黑" panose="020B0503020204020204" pitchFamily="34" charset="-122"/>
            </a:endParaRPr>
          </a:p>
        </p:txBody>
      </p:sp>
      <p:sp>
        <p:nvSpPr>
          <p:cNvPr id="11" name="文本框 10">
            <a:extLst>
              <a:ext uri="{FF2B5EF4-FFF2-40B4-BE49-F238E27FC236}">
                <a16:creationId xmlns:a16="http://schemas.microsoft.com/office/drawing/2014/main" id="{7EEEC6D9-D0D8-4133-9096-D172DD9D9137}"/>
              </a:ext>
            </a:extLst>
          </p:cNvPr>
          <p:cNvSpPr txBox="1"/>
          <p:nvPr/>
        </p:nvSpPr>
        <p:spPr>
          <a:xfrm>
            <a:off x="429656" y="135415"/>
            <a:ext cx="4319626"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cs typeface="Times New Roman" panose="02020603050405020304" pitchFamily="18" charset="0"/>
              </a:rPr>
              <a:t>10.7</a:t>
            </a:r>
            <a:r>
              <a:rPr lang="en-US" altLang="zh-CN" sz="3600" b="1" dirty="0">
                <a:solidFill>
                  <a:srgbClr val="003F88"/>
                </a:solidFill>
                <a:latin typeface="+mn-ea"/>
              </a:rPr>
              <a:t> </a:t>
            </a:r>
            <a:r>
              <a:rPr lang="zh-CN" altLang="en-US" sz="3600" b="1" dirty="0">
                <a:solidFill>
                  <a:srgbClr val="003F88"/>
                </a:solidFill>
                <a:latin typeface="+mn-ea"/>
              </a:rPr>
              <a:t>电液数字阀</a:t>
            </a:r>
          </a:p>
        </p:txBody>
      </p:sp>
    </p:spTree>
    <p:extLst>
      <p:ext uri="{BB962C8B-B14F-4D97-AF65-F5344CB8AC3E}">
        <p14:creationId xmlns:p14="http://schemas.microsoft.com/office/powerpoint/2010/main" val="31883678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linds(horizontal)">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94918-9B71-EB17-E0B0-E3C896F22000}"/>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41C27B0A-7585-D40E-374B-7032CA0765D6}"/>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48529361-F4FB-48FF-4B20-1128766974B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2AADC7FF-BF4F-2091-1D0D-84882EE8B3DC}"/>
              </a:ext>
            </a:extLst>
          </p:cNvPr>
          <p:cNvSpPr/>
          <p:nvPr/>
        </p:nvSpPr>
        <p:spPr>
          <a:xfrm>
            <a:off x="0" y="174524"/>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Content Placeholder 2">
            <a:extLst>
              <a:ext uri="{FF2B5EF4-FFF2-40B4-BE49-F238E27FC236}">
                <a16:creationId xmlns:a16="http://schemas.microsoft.com/office/drawing/2014/main" id="{C5A3AE28-C021-9DA6-2FDB-0B70D4B8ED7A}"/>
              </a:ext>
            </a:extLst>
          </p:cNvPr>
          <p:cNvSpPr txBox="1">
            <a:spLocks/>
          </p:cNvSpPr>
          <p:nvPr/>
        </p:nvSpPr>
        <p:spPr bwMode="auto">
          <a:xfrm>
            <a:off x="1145508" y="1388185"/>
            <a:ext cx="8424935" cy="630038"/>
          </a:xfrm>
          <a:prstGeom prst="rect">
            <a:avLst/>
          </a:prstGeom>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ea typeface="+mn-ea"/>
              </a:defRPr>
            </a:lvl2pPr>
            <a:lvl3pPr marL="1143000" indent="-228600" algn="l" rtl="0" eaLnBrk="0" fontAlgn="base" hangingPunct="0">
              <a:spcBef>
                <a:spcPct val="20000"/>
              </a:spcBef>
              <a:spcAft>
                <a:spcPct val="0"/>
              </a:spcAft>
              <a:buChar char="•"/>
              <a:defRPr sz="2400">
                <a:solidFill>
                  <a:schemeClr val="tx1"/>
                </a:solidFill>
                <a:latin typeface="+mn-lt"/>
                <a:ea typeface="+mn-ea"/>
              </a:defRPr>
            </a:lvl3pPr>
            <a:lvl4pPr marL="1600200" indent="-228600" algn="l" rtl="0" eaLnBrk="0" fontAlgn="base" hangingPunct="0">
              <a:spcBef>
                <a:spcPct val="20000"/>
              </a:spcBef>
              <a:spcAft>
                <a:spcPct val="0"/>
              </a:spcAft>
              <a:buChar char="–"/>
              <a:defRPr sz="20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sz="2000">
                <a:solidFill>
                  <a:schemeClr val="tx1"/>
                </a:solidFill>
                <a:latin typeface="+mn-lt"/>
                <a:ea typeface="+mn-ea"/>
              </a:defRPr>
            </a:lvl6pPr>
            <a:lvl7pPr marL="2971800" indent="-228600" algn="l" rtl="0" fontAlgn="base">
              <a:spcBef>
                <a:spcPct val="20000"/>
              </a:spcBef>
              <a:spcAft>
                <a:spcPct val="0"/>
              </a:spcAft>
              <a:buChar char="»"/>
              <a:defRPr sz="2000">
                <a:solidFill>
                  <a:schemeClr val="tx1"/>
                </a:solidFill>
                <a:latin typeface="+mn-lt"/>
                <a:ea typeface="+mn-ea"/>
              </a:defRPr>
            </a:lvl7pPr>
            <a:lvl8pPr marL="3429000" indent="-228600" algn="l" rtl="0" fontAlgn="base">
              <a:spcBef>
                <a:spcPct val="20000"/>
              </a:spcBef>
              <a:spcAft>
                <a:spcPct val="0"/>
              </a:spcAft>
              <a:buChar char="»"/>
              <a:defRPr sz="2000">
                <a:solidFill>
                  <a:schemeClr val="tx1"/>
                </a:solidFill>
                <a:latin typeface="+mn-lt"/>
                <a:ea typeface="+mn-ea"/>
              </a:defRPr>
            </a:lvl8pPr>
            <a:lvl9pPr marL="3886200" indent="-228600" algn="l" rtl="0" fontAlgn="base">
              <a:spcBef>
                <a:spcPct val="20000"/>
              </a:spcBef>
              <a:spcAft>
                <a:spcPct val="0"/>
              </a:spcAft>
              <a:buChar char="»"/>
              <a:defRPr sz="2000">
                <a:solidFill>
                  <a:schemeClr val="tx1"/>
                </a:solidFill>
                <a:latin typeface="+mn-lt"/>
                <a:ea typeface="+mn-ea"/>
              </a:defRPr>
            </a:lvl9pPr>
          </a:lstStyle>
          <a:p>
            <a:pPr marL="0" indent="0" algn="just">
              <a:lnSpc>
                <a:spcPct val="150000"/>
              </a:lnSpc>
              <a:buNone/>
            </a:pPr>
            <a:r>
              <a:rPr lang="en-US" altLang="zh-CN" sz="2400" b="1" dirty="0">
                <a:latin typeface="微软雅黑" panose="020B0503020204020204" pitchFamily="34" charset="-122"/>
                <a:ea typeface="微软雅黑" panose="020B0503020204020204" pitchFamily="34" charset="-122"/>
              </a:rPr>
              <a:t>C</a:t>
            </a:r>
            <a:r>
              <a:rPr lang="zh-CN" altLang="en-US" sz="2400" b="1" dirty="0">
                <a:latin typeface="微软雅黑" panose="020B0503020204020204" pitchFamily="34" charset="-122"/>
                <a:ea typeface="微软雅黑" panose="020B0503020204020204" pitchFamily="34" charset="-122"/>
              </a:rPr>
              <a:t>、锥阀型高速开关电磁阀</a:t>
            </a:r>
            <a:endParaRPr lang="en-US" altLang="zh-CN" sz="2400" b="1" dirty="0">
              <a:latin typeface="微软雅黑" panose="020B0503020204020204" pitchFamily="34" charset="-122"/>
              <a:ea typeface="微软雅黑" panose="020B0503020204020204" pitchFamily="34" charset="-122"/>
            </a:endParaRPr>
          </a:p>
        </p:txBody>
      </p:sp>
      <p:sp>
        <p:nvSpPr>
          <p:cNvPr id="3" name="Content Placeholder 2">
            <a:extLst>
              <a:ext uri="{FF2B5EF4-FFF2-40B4-BE49-F238E27FC236}">
                <a16:creationId xmlns:a16="http://schemas.microsoft.com/office/drawing/2014/main" id="{434EAC51-05FE-B297-E81B-6CDFA24DA330}"/>
              </a:ext>
            </a:extLst>
          </p:cNvPr>
          <p:cNvSpPr txBox="1">
            <a:spLocks/>
          </p:cNvSpPr>
          <p:nvPr/>
        </p:nvSpPr>
        <p:spPr bwMode="auto">
          <a:xfrm>
            <a:off x="961023" y="5930497"/>
            <a:ext cx="6025740" cy="43204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ea typeface="+mn-ea"/>
              </a:defRPr>
            </a:lvl2pPr>
            <a:lvl3pPr marL="1143000" indent="-228600" algn="l" rtl="0" eaLnBrk="0" fontAlgn="base" hangingPunct="0">
              <a:spcBef>
                <a:spcPct val="20000"/>
              </a:spcBef>
              <a:spcAft>
                <a:spcPct val="0"/>
              </a:spcAft>
              <a:buChar char="•"/>
              <a:defRPr sz="2400">
                <a:solidFill>
                  <a:schemeClr val="tx1"/>
                </a:solidFill>
                <a:latin typeface="+mn-lt"/>
                <a:ea typeface="+mn-ea"/>
              </a:defRPr>
            </a:lvl3pPr>
            <a:lvl4pPr marL="1600200" indent="-228600" algn="l" rtl="0" eaLnBrk="0" fontAlgn="base" hangingPunct="0">
              <a:spcBef>
                <a:spcPct val="20000"/>
              </a:spcBef>
              <a:spcAft>
                <a:spcPct val="0"/>
              </a:spcAft>
              <a:buChar char="–"/>
              <a:defRPr sz="20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sz="2000">
                <a:solidFill>
                  <a:schemeClr val="tx1"/>
                </a:solidFill>
                <a:latin typeface="+mn-lt"/>
                <a:ea typeface="+mn-ea"/>
              </a:defRPr>
            </a:lvl6pPr>
            <a:lvl7pPr marL="2971800" indent="-228600" algn="l" rtl="0" fontAlgn="base">
              <a:spcBef>
                <a:spcPct val="20000"/>
              </a:spcBef>
              <a:spcAft>
                <a:spcPct val="0"/>
              </a:spcAft>
              <a:buChar char="»"/>
              <a:defRPr sz="2000">
                <a:solidFill>
                  <a:schemeClr val="tx1"/>
                </a:solidFill>
                <a:latin typeface="+mn-lt"/>
                <a:ea typeface="+mn-ea"/>
              </a:defRPr>
            </a:lvl7pPr>
            <a:lvl8pPr marL="3429000" indent="-228600" algn="l" rtl="0" fontAlgn="base">
              <a:spcBef>
                <a:spcPct val="20000"/>
              </a:spcBef>
              <a:spcAft>
                <a:spcPct val="0"/>
              </a:spcAft>
              <a:buChar char="»"/>
              <a:defRPr sz="2000">
                <a:solidFill>
                  <a:schemeClr val="tx1"/>
                </a:solidFill>
                <a:latin typeface="+mn-lt"/>
                <a:ea typeface="+mn-ea"/>
              </a:defRPr>
            </a:lvl8pPr>
            <a:lvl9pPr marL="3886200" indent="-228600" algn="l" rtl="0" fontAlgn="base">
              <a:spcBef>
                <a:spcPct val="20000"/>
              </a:spcBef>
              <a:spcAft>
                <a:spcPct val="0"/>
              </a:spcAft>
              <a:buChar char="»"/>
              <a:defRPr sz="2000">
                <a:solidFill>
                  <a:schemeClr val="tx1"/>
                </a:solidFill>
                <a:latin typeface="+mn-lt"/>
                <a:ea typeface="+mn-ea"/>
              </a:defRPr>
            </a:lvl9pPr>
          </a:lstStyle>
          <a:p>
            <a:pPr marL="0" indent="0">
              <a:buNone/>
            </a:pPr>
            <a:r>
              <a:rPr lang="zh-CN" altLang="en-US" sz="2000" kern="0" dirty="0">
                <a:latin typeface="微软雅黑" panose="020B0503020204020204" pitchFamily="34" charset="-122"/>
                <a:ea typeface="微软雅黑" panose="020B0503020204020204" pitchFamily="34" charset="-122"/>
              </a:rPr>
              <a:t>锥阀型高速开关电磁阀（二位二通，常闭）</a:t>
            </a:r>
            <a:endParaRPr lang="en-US" altLang="zh-CN" sz="2000" kern="0" dirty="0">
              <a:latin typeface="微软雅黑" panose="020B0503020204020204" pitchFamily="34" charset="-122"/>
              <a:ea typeface="微软雅黑" panose="020B0503020204020204" pitchFamily="34" charset="-122"/>
            </a:endParaRPr>
          </a:p>
        </p:txBody>
      </p:sp>
      <p:sp>
        <p:nvSpPr>
          <p:cNvPr id="4" name="Content Placeholder 2">
            <a:extLst>
              <a:ext uri="{FF2B5EF4-FFF2-40B4-BE49-F238E27FC236}">
                <a16:creationId xmlns:a16="http://schemas.microsoft.com/office/drawing/2014/main" id="{27E1E013-26E7-33F5-3E37-2A6FCC62F195}"/>
              </a:ext>
            </a:extLst>
          </p:cNvPr>
          <p:cNvSpPr txBox="1">
            <a:spLocks/>
          </p:cNvSpPr>
          <p:nvPr/>
        </p:nvSpPr>
        <p:spPr bwMode="auto">
          <a:xfrm>
            <a:off x="1273843" y="6362545"/>
            <a:ext cx="4680520" cy="36004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ea typeface="+mn-ea"/>
              </a:defRPr>
            </a:lvl2pPr>
            <a:lvl3pPr marL="1143000" indent="-228600" algn="l" rtl="0" eaLnBrk="0" fontAlgn="base" hangingPunct="0">
              <a:spcBef>
                <a:spcPct val="20000"/>
              </a:spcBef>
              <a:spcAft>
                <a:spcPct val="0"/>
              </a:spcAft>
              <a:buChar char="•"/>
              <a:defRPr sz="2400">
                <a:solidFill>
                  <a:schemeClr val="tx1"/>
                </a:solidFill>
                <a:latin typeface="+mn-lt"/>
                <a:ea typeface="+mn-ea"/>
              </a:defRPr>
            </a:lvl3pPr>
            <a:lvl4pPr marL="1600200" indent="-228600" algn="l" rtl="0" eaLnBrk="0" fontAlgn="base" hangingPunct="0">
              <a:spcBef>
                <a:spcPct val="20000"/>
              </a:spcBef>
              <a:spcAft>
                <a:spcPct val="0"/>
              </a:spcAft>
              <a:buChar char="–"/>
              <a:defRPr sz="20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sz="2000">
                <a:solidFill>
                  <a:schemeClr val="tx1"/>
                </a:solidFill>
                <a:latin typeface="+mn-lt"/>
                <a:ea typeface="+mn-ea"/>
              </a:defRPr>
            </a:lvl6pPr>
            <a:lvl7pPr marL="2971800" indent="-228600" algn="l" rtl="0" fontAlgn="base">
              <a:spcBef>
                <a:spcPct val="20000"/>
              </a:spcBef>
              <a:spcAft>
                <a:spcPct val="0"/>
              </a:spcAft>
              <a:buChar char="»"/>
              <a:defRPr sz="2000">
                <a:solidFill>
                  <a:schemeClr val="tx1"/>
                </a:solidFill>
                <a:latin typeface="+mn-lt"/>
                <a:ea typeface="+mn-ea"/>
              </a:defRPr>
            </a:lvl7pPr>
            <a:lvl8pPr marL="3429000" indent="-228600" algn="l" rtl="0" fontAlgn="base">
              <a:spcBef>
                <a:spcPct val="20000"/>
              </a:spcBef>
              <a:spcAft>
                <a:spcPct val="0"/>
              </a:spcAft>
              <a:buChar char="»"/>
              <a:defRPr sz="2000">
                <a:solidFill>
                  <a:schemeClr val="tx1"/>
                </a:solidFill>
                <a:latin typeface="+mn-lt"/>
                <a:ea typeface="+mn-ea"/>
              </a:defRPr>
            </a:lvl8pPr>
            <a:lvl9pPr marL="3886200" indent="-228600" algn="l" rtl="0" fontAlgn="base">
              <a:spcBef>
                <a:spcPct val="20000"/>
              </a:spcBef>
              <a:spcAft>
                <a:spcPct val="0"/>
              </a:spcAft>
              <a:buChar char="»"/>
              <a:defRPr sz="2000">
                <a:solidFill>
                  <a:schemeClr val="tx1"/>
                </a:solidFill>
                <a:latin typeface="+mn-lt"/>
                <a:ea typeface="+mn-ea"/>
              </a:defRPr>
            </a:lvl9pPr>
          </a:lstStyle>
          <a:p>
            <a:pPr marL="0" indent="0" algn="ctr">
              <a:buNone/>
            </a:pPr>
            <a:r>
              <a:rPr lang="en-US" altLang="zh-CN" sz="1800" kern="0" dirty="0">
                <a:latin typeface="微软雅黑" panose="020B0503020204020204" pitchFamily="34" charset="-122"/>
                <a:ea typeface="微软雅黑" panose="020B0503020204020204" pitchFamily="34" charset="-122"/>
              </a:rPr>
              <a:t>1-</a:t>
            </a:r>
            <a:r>
              <a:rPr lang="zh-CN" altLang="en-US" sz="1800" kern="0" dirty="0">
                <a:latin typeface="微软雅黑" panose="020B0503020204020204" pitchFamily="34" charset="-122"/>
                <a:ea typeface="微软雅黑" panose="020B0503020204020204" pitchFamily="34" charset="-122"/>
              </a:rPr>
              <a:t>阀芯 </a:t>
            </a:r>
            <a:r>
              <a:rPr lang="en-US" altLang="zh-CN" sz="1800" kern="0" dirty="0">
                <a:latin typeface="微软雅黑" panose="020B0503020204020204" pitchFamily="34" charset="-122"/>
                <a:ea typeface="微软雅黑" panose="020B0503020204020204" pitchFamily="34" charset="-122"/>
              </a:rPr>
              <a:t>2-</a:t>
            </a:r>
            <a:r>
              <a:rPr lang="zh-CN" altLang="en-US" sz="1800" kern="0" dirty="0">
                <a:latin typeface="微软雅黑" panose="020B0503020204020204" pitchFamily="34" charset="-122"/>
                <a:ea typeface="微软雅黑" panose="020B0503020204020204" pitchFamily="34" charset="-122"/>
              </a:rPr>
              <a:t>铁心 </a:t>
            </a:r>
            <a:r>
              <a:rPr lang="en-US" altLang="zh-CN" sz="1800" kern="0" dirty="0">
                <a:latin typeface="微软雅黑" panose="020B0503020204020204" pitchFamily="34" charset="-122"/>
                <a:ea typeface="微软雅黑" panose="020B0503020204020204" pitchFamily="34" charset="-122"/>
              </a:rPr>
              <a:t>3-</a:t>
            </a:r>
            <a:r>
              <a:rPr lang="zh-CN" altLang="en-US" sz="1800" kern="0" dirty="0">
                <a:latin typeface="微软雅黑" panose="020B0503020204020204" pitchFamily="34" charset="-122"/>
                <a:ea typeface="微软雅黑" panose="020B0503020204020204" pitchFamily="34" charset="-122"/>
              </a:rPr>
              <a:t>固定元件</a:t>
            </a:r>
            <a:r>
              <a:rPr lang="en-US" altLang="zh-CN" sz="1800" kern="0" dirty="0">
                <a:latin typeface="微软雅黑" panose="020B0503020204020204" pitchFamily="34" charset="-122"/>
                <a:ea typeface="微软雅黑" panose="020B0503020204020204" pitchFamily="34" charset="-122"/>
              </a:rPr>
              <a:t>4-</a:t>
            </a:r>
            <a:r>
              <a:rPr lang="zh-CN" altLang="en-US" sz="1800" kern="0" dirty="0">
                <a:latin typeface="微软雅黑" panose="020B0503020204020204" pitchFamily="34" charset="-122"/>
                <a:ea typeface="微软雅黑" panose="020B0503020204020204" pitchFamily="34" charset="-122"/>
              </a:rPr>
              <a:t>线圈 </a:t>
            </a:r>
            <a:r>
              <a:rPr lang="en-US" altLang="zh-CN" sz="1800" kern="0" dirty="0">
                <a:latin typeface="微软雅黑" panose="020B0503020204020204" pitchFamily="34" charset="-122"/>
                <a:ea typeface="微软雅黑" panose="020B0503020204020204" pitchFamily="34" charset="-122"/>
              </a:rPr>
              <a:t>5-</a:t>
            </a:r>
            <a:r>
              <a:rPr lang="zh-CN" altLang="en-US" sz="1800" kern="0" dirty="0">
                <a:latin typeface="微软雅黑" panose="020B0503020204020204" pitchFamily="34" charset="-122"/>
                <a:ea typeface="微软雅黑" panose="020B0503020204020204" pitchFamily="34" charset="-122"/>
              </a:rPr>
              <a:t>弹簧</a:t>
            </a:r>
            <a:endParaRPr lang="en-US" altLang="zh-CN" sz="1800" kern="0" dirty="0">
              <a:latin typeface="微软雅黑" panose="020B0503020204020204" pitchFamily="34" charset="-122"/>
              <a:ea typeface="微软雅黑" panose="020B0503020204020204" pitchFamily="34" charset="-122"/>
            </a:endParaRPr>
          </a:p>
        </p:txBody>
      </p:sp>
      <p:sp>
        <p:nvSpPr>
          <p:cNvPr id="7" name="矩形 6">
            <a:extLst>
              <a:ext uri="{FF2B5EF4-FFF2-40B4-BE49-F238E27FC236}">
                <a16:creationId xmlns:a16="http://schemas.microsoft.com/office/drawing/2014/main" id="{DB3E1D7A-ECAD-666F-9EF5-47064025A4D7}"/>
              </a:ext>
            </a:extLst>
          </p:cNvPr>
          <p:cNvSpPr/>
          <p:nvPr/>
        </p:nvSpPr>
        <p:spPr>
          <a:xfrm>
            <a:off x="5602320" y="2832450"/>
            <a:ext cx="5502968" cy="1484509"/>
          </a:xfrm>
          <a:prstGeom prst="rect">
            <a:avLst/>
          </a:prstGeom>
        </p:spPr>
        <p:txBody>
          <a:bodyPr wrap="square">
            <a:spAutoFit/>
          </a:bodyPr>
          <a:lstStyle/>
          <a:p>
            <a:pPr marL="342900" indent="-342900" algn="just" eaLnBrk="0" hangingPunct="0">
              <a:lnSpc>
                <a:spcPct val="150000"/>
              </a:lnSpc>
              <a:spcBef>
                <a:spcPct val="20000"/>
              </a:spcBef>
              <a:buFont typeface="Wingdings" panose="05000000000000000000" pitchFamily="2" charset="2"/>
              <a:buChar char="ü"/>
            </a:pPr>
            <a:r>
              <a:rPr lang="zh-CN" altLang="en-US" sz="2000" dirty="0">
                <a:latin typeface="微软雅黑" panose="020B0503020204020204" pitchFamily="34" charset="-122"/>
                <a:ea typeface="微软雅黑" panose="020B0503020204020204" pitchFamily="34" charset="-122"/>
              </a:rPr>
              <a:t>线圈通电时，铁心被吸引带动阀芯，使阀开启</a:t>
            </a:r>
            <a:r>
              <a:rPr lang="en-US" altLang="zh-CN" sz="2000" dirty="0">
                <a:latin typeface="微软雅黑" panose="020B0503020204020204" pitchFamily="34" charset="-122"/>
                <a:ea typeface="微软雅黑" panose="020B0503020204020204" pitchFamily="34" charset="-122"/>
              </a:rPr>
              <a:t>,</a:t>
            </a:r>
            <a:r>
              <a:rPr lang="zh-CN" altLang="en-US" sz="2000" dirty="0">
                <a:latin typeface="微软雅黑" panose="020B0503020204020204" pitchFamily="34" charset="-122"/>
                <a:ea typeface="微软雅黑" panose="020B0503020204020204" pitchFamily="34" charset="-122"/>
              </a:rPr>
              <a:t>油液由</a:t>
            </a:r>
            <a:r>
              <a:rPr lang="en-US" altLang="zh-CN" sz="2000" dirty="0">
                <a:latin typeface="微软雅黑" panose="020B0503020204020204" pitchFamily="34" charset="-122"/>
                <a:ea typeface="微软雅黑" panose="020B0503020204020204" pitchFamily="34" charset="-122"/>
              </a:rPr>
              <a:t>P</a:t>
            </a:r>
            <a:r>
              <a:rPr lang="zh-CN" altLang="en-US" sz="2000" dirty="0">
                <a:latin typeface="微软雅黑" panose="020B0503020204020204" pitchFamily="34" charset="-122"/>
                <a:ea typeface="微软雅黑" panose="020B0503020204020204" pitchFamily="34" charset="-122"/>
              </a:rPr>
              <a:t>口流入</a:t>
            </a:r>
            <a:r>
              <a:rPr lang="en-US" altLang="zh-CN" sz="2000" dirty="0">
                <a:latin typeface="微软雅黑" panose="020B0503020204020204" pitchFamily="34" charset="-122"/>
                <a:ea typeface="微软雅黑" panose="020B0503020204020204" pitchFamily="34" charset="-122"/>
              </a:rPr>
              <a:t>T</a:t>
            </a:r>
            <a:r>
              <a:rPr lang="zh-CN" altLang="en-US" sz="2000" dirty="0">
                <a:latin typeface="微软雅黑" panose="020B0503020204020204" pitchFamily="34" charset="-122"/>
                <a:ea typeface="微软雅黑" panose="020B0503020204020204" pitchFamily="34" charset="-122"/>
              </a:rPr>
              <a:t>口</a:t>
            </a:r>
            <a:endParaRPr lang="en-US" altLang="zh-CN" sz="2000" dirty="0">
              <a:latin typeface="微软雅黑" panose="020B0503020204020204" pitchFamily="34" charset="-122"/>
              <a:ea typeface="微软雅黑" panose="020B0503020204020204" pitchFamily="34" charset="-122"/>
            </a:endParaRPr>
          </a:p>
          <a:p>
            <a:pPr marL="342900" indent="-342900" algn="just" eaLnBrk="0" hangingPunct="0">
              <a:lnSpc>
                <a:spcPct val="150000"/>
              </a:lnSpc>
              <a:spcBef>
                <a:spcPct val="20000"/>
              </a:spcBef>
              <a:buFont typeface="Wingdings" panose="05000000000000000000" pitchFamily="2" charset="2"/>
              <a:buChar char="ü"/>
            </a:pPr>
            <a:r>
              <a:rPr lang="zh-CN" altLang="en-US" sz="2000" dirty="0">
                <a:latin typeface="微软雅黑" panose="020B0503020204020204" pitchFamily="34" charset="-122"/>
                <a:ea typeface="微软雅黑" panose="020B0503020204020204" pitchFamily="34" charset="-122"/>
              </a:rPr>
              <a:t>动作时间</a:t>
            </a:r>
            <a:r>
              <a:rPr lang="en-US" altLang="zh-CN" sz="2000" dirty="0">
                <a:latin typeface="微软雅黑" panose="020B0503020204020204" pitchFamily="34" charset="-122"/>
                <a:ea typeface="微软雅黑" panose="020B0503020204020204" pitchFamily="34" charset="-122"/>
              </a:rPr>
              <a:t>3ms</a:t>
            </a:r>
            <a:r>
              <a:rPr lang="zh-CN" altLang="en-US" sz="2000" dirty="0">
                <a:latin typeface="微软雅黑" panose="020B0503020204020204" pitchFamily="34" charset="-122"/>
                <a:ea typeface="微软雅黑" panose="020B0503020204020204" pitchFamily="34" charset="-122"/>
              </a:rPr>
              <a:t>，额定流量</a:t>
            </a:r>
            <a:r>
              <a:rPr lang="en-US" altLang="zh-CN" sz="2000" dirty="0">
                <a:latin typeface="微软雅黑" panose="020B0503020204020204" pitchFamily="34" charset="-122"/>
                <a:ea typeface="微软雅黑" panose="020B0503020204020204" pitchFamily="34" charset="-122"/>
              </a:rPr>
              <a:t>12L/min</a:t>
            </a:r>
            <a:endParaRPr lang="zh-CN" altLang="en-US" sz="2000" dirty="0">
              <a:latin typeface="微软雅黑" panose="020B0503020204020204" pitchFamily="34" charset="-122"/>
              <a:ea typeface="微软雅黑" panose="020B0503020204020204" pitchFamily="34" charset="-122"/>
            </a:endParaRPr>
          </a:p>
        </p:txBody>
      </p:sp>
      <p:pic>
        <p:nvPicPr>
          <p:cNvPr id="10" name="图片 9">
            <a:extLst>
              <a:ext uri="{FF2B5EF4-FFF2-40B4-BE49-F238E27FC236}">
                <a16:creationId xmlns:a16="http://schemas.microsoft.com/office/drawing/2014/main" id="{C4A0E4C7-7B13-21DC-75E5-66F498403B11}"/>
              </a:ext>
            </a:extLst>
          </p:cNvPr>
          <p:cNvPicPr>
            <a:picLocks noChangeAspect="1"/>
          </p:cNvPicPr>
          <p:nvPr/>
        </p:nvPicPr>
        <p:blipFill rotWithShape="1">
          <a:blip r:embed="rId3"/>
          <a:srcRect l="51440" t="1844" r="1268" b="10169"/>
          <a:stretch/>
        </p:blipFill>
        <p:spPr>
          <a:xfrm>
            <a:off x="1546559" y="2018231"/>
            <a:ext cx="3371153" cy="3912258"/>
          </a:xfrm>
          <a:prstGeom prst="rect">
            <a:avLst/>
          </a:prstGeom>
        </p:spPr>
      </p:pic>
      <p:sp>
        <p:nvSpPr>
          <p:cNvPr id="6" name="矩形 5">
            <a:extLst>
              <a:ext uri="{FF2B5EF4-FFF2-40B4-BE49-F238E27FC236}">
                <a16:creationId xmlns:a16="http://schemas.microsoft.com/office/drawing/2014/main" id="{08500200-63D5-5512-7CD0-30F00B79B379}"/>
              </a:ext>
            </a:extLst>
          </p:cNvPr>
          <p:cNvSpPr/>
          <p:nvPr/>
        </p:nvSpPr>
        <p:spPr>
          <a:xfrm>
            <a:off x="408878" y="820418"/>
            <a:ext cx="8680807" cy="662554"/>
          </a:xfrm>
          <a:prstGeom prst="rect">
            <a:avLst/>
          </a:prstGeom>
          <a:noFill/>
        </p:spPr>
        <p:txBody>
          <a:bodyPr wrap="square" rtlCol="0">
            <a:spAutoFit/>
          </a:bodyPr>
          <a:lstStyle/>
          <a:p>
            <a:pPr marL="457200" indent="-457200" algn="just">
              <a:lnSpc>
                <a:spcPct val="150000"/>
              </a:lnSpc>
              <a:spcBef>
                <a:spcPts val="1000"/>
              </a:spcBef>
              <a:buFont typeface="Wingdings" panose="05000000000000000000" pitchFamily="2" charset="2"/>
              <a:buChar char="p"/>
            </a:pPr>
            <a:r>
              <a:rPr lang="zh-CN" altLang="en-US" sz="2800" b="1" dirty="0">
                <a:solidFill>
                  <a:srgbClr val="003F88"/>
                </a:solidFill>
                <a:latin typeface="微软雅黑" panose="020B0503020204020204" pitchFamily="34" charset="-122"/>
                <a:ea typeface="微软雅黑" panose="020B0503020204020204" pitchFamily="34" charset="-122"/>
              </a:rPr>
              <a:t>数字阀的结构</a:t>
            </a:r>
            <a:endParaRPr lang="en-US" altLang="zh-CN" sz="2800" b="1" dirty="0">
              <a:solidFill>
                <a:srgbClr val="003F88"/>
              </a:solidFill>
              <a:latin typeface="微软雅黑" panose="020B0503020204020204" pitchFamily="34" charset="-122"/>
              <a:ea typeface="微软雅黑" panose="020B0503020204020204" pitchFamily="34" charset="-122"/>
            </a:endParaRPr>
          </a:p>
        </p:txBody>
      </p:sp>
      <p:sp>
        <p:nvSpPr>
          <p:cNvPr id="12" name="文本框 11">
            <a:extLst>
              <a:ext uri="{FF2B5EF4-FFF2-40B4-BE49-F238E27FC236}">
                <a16:creationId xmlns:a16="http://schemas.microsoft.com/office/drawing/2014/main" id="{6E9A1B0B-F26E-4D26-B1C7-8E34AE5C6B56}"/>
              </a:ext>
            </a:extLst>
          </p:cNvPr>
          <p:cNvSpPr txBox="1"/>
          <p:nvPr/>
        </p:nvSpPr>
        <p:spPr>
          <a:xfrm>
            <a:off x="429656" y="135415"/>
            <a:ext cx="4319626"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cs typeface="Times New Roman" panose="02020603050405020304" pitchFamily="18" charset="0"/>
              </a:rPr>
              <a:t>10.7</a:t>
            </a:r>
            <a:r>
              <a:rPr lang="en-US" altLang="zh-CN" sz="3600" b="1" dirty="0">
                <a:solidFill>
                  <a:srgbClr val="003F88"/>
                </a:solidFill>
                <a:latin typeface="+mn-ea"/>
              </a:rPr>
              <a:t> </a:t>
            </a:r>
            <a:r>
              <a:rPr lang="zh-CN" altLang="en-US" sz="3600" b="1" dirty="0">
                <a:solidFill>
                  <a:srgbClr val="003F88"/>
                </a:solidFill>
                <a:latin typeface="+mn-ea"/>
              </a:rPr>
              <a:t>电液数字阀</a:t>
            </a:r>
          </a:p>
        </p:txBody>
      </p:sp>
    </p:spTree>
    <p:extLst>
      <p:ext uri="{BB962C8B-B14F-4D97-AF65-F5344CB8AC3E}">
        <p14:creationId xmlns:p14="http://schemas.microsoft.com/office/powerpoint/2010/main" val="5391948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blinds(horizontal)">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D88DB5-EDCF-E186-0902-11FB60EA70D6}"/>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FFDDD872-583E-E564-F454-BF397A818747}"/>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46C064FF-CE74-283A-308E-3D371249B8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FB072A92-C65D-2786-82DD-D9C372572606}"/>
              </a:ext>
            </a:extLst>
          </p:cNvPr>
          <p:cNvSpPr/>
          <p:nvPr/>
        </p:nvSpPr>
        <p:spPr>
          <a:xfrm>
            <a:off x="0" y="174524"/>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Content Placeholder 2">
            <a:extLst>
              <a:ext uri="{FF2B5EF4-FFF2-40B4-BE49-F238E27FC236}">
                <a16:creationId xmlns:a16="http://schemas.microsoft.com/office/drawing/2014/main" id="{96D27C71-408B-16D3-8096-7B7CBD17BB83}"/>
              </a:ext>
            </a:extLst>
          </p:cNvPr>
          <p:cNvSpPr txBox="1">
            <a:spLocks/>
          </p:cNvSpPr>
          <p:nvPr/>
        </p:nvSpPr>
        <p:spPr>
          <a:xfrm>
            <a:off x="995440" y="1475125"/>
            <a:ext cx="3051439" cy="527571"/>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50000"/>
              </a:lnSpc>
              <a:buNone/>
            </a:pPr>
            <a:r>
              <a:rPr lang="zh-CN" altLang="en-US" sz="2400" b="1" kern="0" dirty="0">
                <a:latin typeface="+mn-ea"/>
              </a:rPr>
              <a:t>脉宽调制式数字阀</a:t>
            </a:r>
            <a:endParaRPr lang="en-US" altLang="zh-CN" sz="2400" b="1" kern="0" dirty="0">
              <a:latin typeface="+mn-ea"/>
            </a:endParaRPr>
          </a:p>
        </p:txBody>
      </p:sp>
      <p:sp>
        <p:nvSpPr>
          <p:cNvPr id="37" name="Content Placeholder 2">
            <a:extLst>
              <a:ext uri="{FF2B5EF4-FFF2-40B4-BE49-F238E27FC236}">
                <a16:creationId xmlns:a16="http://schemas.microsoft.com/office/drawing/2014/main" id="{C190CFD6-56B9-97AE-82C2-F4F62523C6FD}"/>
              </a:ext>
            </a:extLst>
          </p:cNvPr>
          <p:cNvSpPr txBox="1">
            <a:spLocks/>
          </p:cNvSpPr>
          <p:nvPr/>
        </p:nvSpPr>
        <p:spPr bwMode="auto">
          <a:xfrm>
            <a:off x="3634570" y="6243479"/>
            <a:ext cx="5090686" cy="43204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ea typeface="+mn-ea"/>
              </a:defRPr>
            </a:lvl2pPr>
            <a:lvl3pPr marL="1143000" indent="-228600" algn="l" rtl="0" eaLnBrk="0" fontAlgn="base" hangingPunct="0">
              <a:spcBef>
                <a:spcPct val="20000"/>
              </a:spcBef>
              <a:spcAft>
                <a:spcPct val="0"/>
              </a:spcAft>
              <a:buChar char="•"/>
              <a:defRPr sz="2400">
                <a:solidFill>
                  <a:schemeClr val="tx1"/>
                </a:solidFill>
                <a:latin typeface="+mn-lt"/>
                <a:ea typeface="+mn-ea"/>
              </a:defRPr>
            </a:lvl3pPr>
            <a:lvl4pPr marL="1600200" indent="-228600" algn="l" rtl="0" eaLnBrk="0" fontAlgn="base" hangingPunct="0">
              <a:spcBef>
                <a:spcPct val="20000"/>
              </a:spcBef>
              <a:spcAft>
                <a:spcPct val="0"/>
              </a:spcAft>
              <a:buChar char="–"/>
              <a:defRPr sz="20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sz="2000">
                <a:solidFill>
                  <a:schemeClr val="tx1"/>
                </a:solidFill>
                <a:latin typeface="+mn-lt"/>
                <a:ea typeface="+mn-ea"/>
              </a:defRPr>
            </a:lvl6pPr>
            <a:lvl7pPr marL="2971800" indent="-228600" algn="l" rtl="0" fontAlgn="base">
              <a:spcBef>
                <a:spcPct val="20000"/>
              </a:spcBef>
              <a:spcAft>
                <a:spcPct val="0"/>
              </a:spcAft>
              <a:buChar char="»"/>
              <a:defRPr sz="2000">
                <a:solidFill>
                  <a:schemeClr val="tx1"/>
                </a:solidFill>
                <a:latin typeface="+mn-lt"/>
                <a:ea typeface="+mn-ea"/>
              </a:defRPr>
            </a:lvl7pPr>
            <a:lvl8pPr marL="3429000" indent="-228600" algn="l" rtl="0" fontAlgn="base">
              <a:spcBef>
                <a:spcPct val="20000"/>
              </a:spcBef>
              <a:spcAft>
                <a:spcPct val="0"/>
              </a:spcAft>
              <a:buChar char="»"/>
              <a:defRPr sz="2000">
                <a:solidFill>
                  <a:schemeClr val="tx1"/>
                </a:solidFill>
                <a:latin typeface="+mn-lt"/>
                <a:ea typeface="+mn-ea"/>
              </a:defRPr>
            </a:lvl8pPr>
            <a:lvl9pPr marL="3886200" indent="-228600" algn="l" rtl="0" fontAlgn="base">
              <a:spcBef>
                <a:spcPct val="20000"/>
              </a:spcBef>
              <a:spcAft>
                <a:spcPct val="0"/>
              </a:spcAft>
              <a:buChar char="»"/>
              <a:defRPr sz="2000">
                <a:solidFill>
                  <a:schemeClr val="tx1"/>
                </a:solidFill>
                <a:latin typeface="+mn-lt"/>
                <a:ea typeface="+mn-ea"/>
              </a:defRPr>
            </a:lvl9pPr>
          </a:lstStyle>
          <a:p>
            <a:pPr marL="0" indent="0">
              <a:buNone/>
            </a:pPr>
            <a:r>
              <a:rPr lang="zh-CN" altLang="en-US" sz="1800" kern="0" dirty="0">
                <a:latin typeface="+mn-ea"/>
              </a:rPr>
              <a:t>图 脉宽调制（</a:t>
            </a:r>
            <a:r>
              <a:rPr lang="en-US" altLang="zh-CN" sz="1800" kern="0" dirty="0">
                <a:latin typeface="+mn-ea"/>
              </a:rPr>
              <a:t>PWM</a:t>
            </a:r>
            <a:r>
              <a:rPr lang="zh-CN" altLang="en-US" sz="1800" kern="0" dirty="0">
                <a:latin typeface="+mn-ea"/>
              </a:rPr>
              <a:t>）式数字阀控制电液系统</a:t>
            </a:r>
            <a:endParaRPr lang="en-US" altLang="zh-CN" sz="1800" kern="0" dirty="0">
              <a:latin typeface="+mn-ea"/>
            </a:endParaRPr>
          </a:p>
        </p:txBody>
      </p:sp>
      <p:sp>
        <p:nvSpPr>
          <p:cNvPr id="38" name="矩形 37">
            <a:extLst>
              <a:ext uri="{FF2B5EF4-FFF2-40B4-BE49-F238E27FC236}">
                <a16:creationId xmlns:a16="http://schemas.microsoft.com/office/drawing/2014/main" id="{DE749AF3-0A51-B63D-7755-EF1271392F7A}"/>
              </a:ext>
            </a:extLst>
          </p:cNvPr>
          <p:cNvSpPr/>
          <p:nvPr/>
        </p:nvSpPr>
        <p:spPr>
          <a:xfrm>
            <a:off x="1490947" y="3413705"/>
            <a:ext cx="1368152" cy="632128"/>
          </a:xfrm>
          <a:prstGeom prst="rect">
            <a:avLst/>
          </a:prstGeom>
          <a:ln>
            <a:solidFill>
              <a:srgbClr val="003F88"/>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zh-CN" altLang="en-US" dirty="0">
                <a:latin typeface="+mn-ea"/>
              </a:rPr>
              <a:t>计算机系统</a:t>
            </a:r>
          </a:p>
        </p:txBody>
      </p:sp>
      <p:sp>
        <p:nvSpPr>
          <p:cNvPr id="39" name="矩形 38">
            <a:extLst>
              <a:ext uri="{FF2B5EF4-FFF2-40B4-BE49-F238E27FC236}">
                <a16:creationId xmlns:a16="http://schemas.microsoft.com/office/drawing/2014/main" id="{649D3A5C-B3B9-E1D5-02A2-37381A4B0E3C}"/>
              </a:ext>
            </a:extLst>
          </p:cNvPr>
          <p:cNvSpPr/>
          <p:nvPr/>
        </p:nvSpPr>
        <p:spPr>
          <a:xfrm>
            <a:off x="7524633" y="2878579"/>
            <a:ext cx="1957223" cy="632128"/>
          </a:xfrm>
          <a:prstGeom prst="rect">
            <a:avLst/>
          </a:prstGeom>
          <a:ln>
            <a:solidFill>
              <a:srgbClr val="003F88"/>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zh-CN" altLang="en-US" dirty="0">
                <a:latin typeface="+mn-ea"/>
              </a:rPr>
              <a:t>高速开关数字阀及执行元件</a:t>
            </a:r>
          </a:p>
        </p:txBody>
      </p:sp>
      <p:sp>
        <p:nvSpPr>
          <p:cNvPr id="40" name="矩形 39">
            <a:extLst>
              <a:ext uri="{FF2B5EF4-FFF2-40B4-BE49-F238E27FC236}">
                <a16:creationId xmlns:a16="http://schemas.microsoft.com/office/drawing/2014/main" id="{2952E42B-CEAF-D3AD-D110-219F0E4DAF72}"/>
              </a:ext>
            </a:extLst>
          </p:cNvPr>
          <p:cNvSpPr/>
          <p:nvPr/>
        </p:nvSpPr>
        <p:spPr>
          <a:xfrm>
            <a:off x="4491627" y="5409520"/>
            <a:ext cx="1908549" cy="656236"/>
          </a:xfrm>
          <a:prstGeom prst="rect">
            <a:avLst/>
          </a:prstGeom>
          <a:ln>
            <a:solidFill>
              <a:srgbClr val="003F88"/>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zh-CN" altLang="en-US" dirty="0">
                <a:latin typeface="+mn-ea"/>
              </a:rPr>
              <a:t>检测及反馈元件</a:t>
            </a:r>
          </a:p>
        </p:txBody>
      </p:sp>
      <p:sp>
        <p:nvSpPr>
          <p:cNvPr id="41" name="文本框 40">
            <a:extLst>
              <a:ext uri="{FF2B5EF4-FFF2-40B4-BE49-F238E27FC236}">
                <a16:creationId xmlns:a16="http://schemas.microsoft.com/office/drawing/2014/main" id="{1A446A77-1040-306D-D376-D42DCCD790C5}"/>
              </a:ext>
            </a:extLst>
          </p:cNvPr>
          <p:cNvSpPr txBox="1"/>
          <p:nvPr/>
        </p:nvSpPr>
        <p:spPr>
          <a:xfrm>
            <a:off x="9547284" y="2344222"/>
            <a:ext cx="456950" cy="830997"/>
          </a:xfrm>
          <a:prstGeom prst="rect">
            <a:avLst/>
          </a:prstGeom>
          <a:noFill/>
          <a:ln>
            <a:solidFill>
              <a:srgbClr val="003F88"/>
            </a:solidFill>
          </a:ln>
        </p:spPr>
        <p:txBody>
          <a:bodyPr wrap="square" rtlCol="0">
            <a:spAutoFit/>
          </a:bodyPr>
          <a:lstStyle/>
          <a:p>
            <a:r>
              <a:rPr lang="zh-CN" altLang="en-US" sz="1600" dirty="0">
                <a:latin typeface="+mn-ea"/>
              </a:rPr>
              <a:t>被控量</a:t>
            </a:r>
          </a:p>
        </p:txBody>
      </p:sp>
      <p:cxnSp>
        <p:nvCxnSpPr>
          <p:cNvPr id="42" name="肘形连接符 29">
            <a:extLst>
              <a:ext uri="{FF2B5EF4-FFF2-40B4-BE49-F238E27FC236}">
                <a16:creationId xmlns:a16="http://schemas.microsoft.com/office/drawing/2014/main" id="{1D1938CF-6404-2401-60D1-7BB949B8D624}"/>
              </a:ext>
            </a:extLst>
          </p:cNvPr>
          <p:cNvCxnSpPr>
            <a:stCxn id="41" idx="2"/>
            <a:endCxn id="40" idx="3"/>
          </p:cNvCxnSpPr>
          <p:nvPr/>
        </p:nvCxnSpPr>
        <p:spPr>
          <a:xfrm rot="5400000">
            <a:off x="6806759" y="2768637"/>
            <a:ext cx="2562419" cy="3375583"/>
          </a:xfrm>
          <a:prstGeom prst="bentConnector2">
            <a:avLst/>
          </a:prstGeom>
          <a:ln>
            <a:solidFill>
              <a:srgbClr val="003F88"/>
            </a:solidFill>
            <a:tailEnd type="triangle"/>
          </a:ln>
        </p:spPr>
        <p:style>
          <a:lnRef idx="1">
            <a:schemeClr val="accent6"/>
          </a:lnRef>
          <a:fillRef idx="0">
            <a:schemeClr val="accent6"/>
          </a:fillRef>
          <a:effectRef idx="0">
            <a:schemeClr val="accent6"/>
          </a:effectRef>
          <a:fontRef idx="minor">
            <a:schemeClr val="tx1"/>
          </a:fontRef>
        </p:style>
      </p:cxnSp>
      <p:cxnSp>
        <p:nvCxnSpPr>
          <p:cNvPr id="43" name="肘形连接符 33">
            <a:extLst>
              <a:ext uri="{FF2B5EF4-FFF2-40B4-BE49-F238E27FC236}">
                <a16:creationId xmlns:a16="http://schemas.microsoft.com/office/drawing/2014/main" id="{07E697DF-8A83-C490-3075-3F86292E5320}"/>
              </a:ext>
            </a:extLst>
          </p:cNvPr>
          <p:cNvCxnSpPr>
            <a:stCxn id="40" idx="1"/>
            <a:endCxn id="38" idx="2"/>
          </p:cNvCxnSpPr>
          <p:nvPr/>
        </p:nvCxnSpPr>
        <p:spPr>
          <a:xfrm rot="10800000">
            <a:off x="2175023" y="4045834"/>
            <a:ext cx="2316604" cy="1691805"/>
          </a:xfrm>
          <a:prstGeom prst="bentConnector2">
            <a:avLst/>
          </a:prstGeom>
          <a:ln>
            <a:solidFill>
              <a:srgbClr val="003F88"/>
            </a:solidFill>
            <a:tailEnd type="triangle"/>
          </a:ln>
        </p:spPr>
        <p:style>
          <a:lnRef idx="1">
            <a:schemeClr val="accent6"/>
          </a:lnRef>
          <a:fillRef idx="0">
            <a:schemeClr val="accent6"/>
          </a:fillRef>
          <a:effectRef idx="0">
            <a:schemeClr val="accent6"/>
          </a:effectRef>
          <a:fontRef idx="minor">
            <a:schemeClr val="tx1"/>
          </a:fontRef>
        </p:style>
      </p:cxnSp>
      <p:sp>
        <p:nvSpPr>
          <p:cNvPr id="44" name="矩形 43">
            <a:extLst>
              <a:ext uri="{FF2B5EF4-FFF2-40B4-BE49-F238E27FC236}">
                <a16:creationId xmlns:a16="http://schemas.microsoft.com/office/drawing/2014/main" id="{C2869455-73D1-A6EA-7699-5CDA4D18AB89}"/>
              </a:ext>
            </a:extLst>
          </p:cNvPr>
          <p:cNvSpPr/>
          <p:nvPr/>
        </p:nvSpPr>
        <p:spPr>
          <a:xfrm>
            <a:off x="1475961" y="2170399"/>
            <a:ext cx="1368152" cy="632128"/>
          </a:xfrm>
          <a:prstGeom prst="rect">
            <a:avLst/>
          </a:prstGeom>
          <a:ln>
            <a:solidFill>
              <a:srgbClr val="003F88"/>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zh-CN" altLang="en-US" dirty="0">
                <a:latin typeface="+mn-ea"/>
              </a:rPr>
              <a:t>模拟信号源</a:t>
            </a:r>
          </a:p>
        </p:txBody>
      </p:sp>
      <p:sp>
        <p:nvSpPr>
          <p:cNvPr id="45" name="矩形 44">
            <a:extLst>
              <a:ext uri="{FF2B5EF4-FFF2-40B4-BE49-F238E27FC236}">
                <a16:creationId xmlns:a16="http://schemas.microsoft.com/office/drawing/2014/main" id="{EA9AAD00-7B2C-261D-2365-D583D9FDF147}"/>
              </a:ext>
            </a:extLst>
          </p:cNvPr>
          <p:cNvSpPr/>
          <p:nvPr/>
        </p:nvSpPr>
        <p:spPr>
          <a:xfrm>
            <a:off x="3829228" y="2878579"/>
            <a:ext cx="1368152" cy="632128"/>
          </a:xfrm>
          <a:prstGeom prst="rect">
            <a:avLst/>
          </a:prstGeom>
          <a:ln>
            <a:solidFill>
              <a:srgbClr val="003F88"/>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zh-CN" altLang="en-US" dirty="0">
                <a:latin typeface="+mn-ea"/>
              </a:rPr>
              <a:t>脉宽调制器</a:t>
            </a:r>
          </a:p>
        </p:txBody>
      </p:sp>
      <p:sp>
        <p:nvSpPr>
          <p:cNvPr id="46" name="矩形 45">
            <a:extLst>
              <a:ext uri="{FF2B5EF4-FFF2-40B4-BE49-F238E27FC236}">
                <a16:creationId xmlns:a16="http://schemas.microsoft.com/office/drawing/2014/main" id="{280F6EDF-04F8-F36F-5C8E-C127582F9A80}"/>
              </a:ext>
            </a:extLst>
          </p:cNvPr>
          <p:cNvSpPr/>
          <p:nvPr/>
        </p:nvSpPr>
        <p:spPr>
          <a:xfrm>
            <a:off x="5676930" y="2878579"/>
            <a:ext cx="1368152" cy="632128"/>
          </a:xfrm>
          <a:prstGeom prst="rect">
            <a:avLst/>
          </a:prstGeom>
          <a:ln>
            <a:solidFill>
              <a:srgbClr val="003F88"/>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zh-CN" altLang="en-US" dirty="0">
                <a:latin typeface="+mn-ea"/>
              </a:rPr>
              <a:t>功率放大器</a:t>
            </a:r>
          </a:p>
        </p:txBody>
      </p:sp>
      <p:cxnSp>
        <p:nvCxnSpPr>
          <p:cNvPr id="47" name="直接箭头连接符 46">
            <a:extLst>
              <a:ext uri="{FF2B5EF4-FFF2-40B4-BE49-F238E27FC236}">
                <a16:creationId xmlns:a16="http://schemas.microsoft.com/office/drawing/2014/main" id="{05F9CF0C-D204-2ABD-C983-9F11C9A63114}"/>
              </a:ext>
            </a:extLst>
          </p:cNvPr>
          <p:cNvCxnSpPr/>
          <p:nvPr/>
        </p:nvCxnSpPr>
        <p:spPr>
          <a:xfrm>
            <a:off x="5197380" y="3194643"/>
            <a:ext cx="479550" cy="0"/>
          </a:xfrm>
          <a:prstGeom prst="straightConnector1">
            <a:avLst/>
          </a:prstGeom>
          <a:ln>
            <a:solidFill>
              <a:srgbClr val="003F88"/>
            </a:solidFill>
            <a:tailEnd type="triangle"/>
          </a:ln>
        </p:spPr>
        <p:style>
          <a:lnRef idx="1">
            <a:schemeClr val="accent6"/>
          </a:lnRef>
          <a:fillRef idx="0">
            <a:schemeClr val="accent6"/>
          </a:fillRef>
          <a:effectRef idx="0">
            <a:schemeClr val="accent6"/>
          </a:effectRef>
          <a:fontRef idx="minor">
            <a:schemeClr val="tx1"/>
          </a:fontRef>
        </p:style>
      </p:cxnSp>
      <p:cxnSp>
        <p:nvCxnSpPr>
          <p:cNvPr id="48" name="直接箭头连接符 47">
            <a:extLst>
              <a:ext uri="{FF2B5EF4-FFF2-40B4-BE49-F238E27FC236}">
                <a16:creationId xmlns:a16="http://schemas.microsoft.com/office/drawing/2014/main" id="{E34AC514-4B30-1D3C-5E1E-5E7AC3DEA7EE}"/>
              </a:ext>
            </a:extLst>
          </p:cNvPr>
          <p:cNvCxnSpPr/>
          <p:nvPr/>
        </p:nvCxnSpPr>
        <p:spPr>
          <a:xfrm>
            <a:off x="7045082" y="3194643"/>
            <a:ext cx="479551" cy="0"/>
          </a:xfrm>
          <a:prstGeom prst="straightConnector1">
            <a:avLst/>
          </a:prstGeom>
          <a:ln>
            <a:solidFill>
              <a:srgbClr val="003F88"/>
            </a:solidFill>
            <a:tailEnd type="triangle"/>
          </a:ln>
        </p:spPr>
        <p:style>
          <a:lnRef idx="1">
            <a:schemeClr val="accent6"/>
          </a:lnRef>
          <a:fillRef idx="0">
            <a:schemeClr val="accent6"/>
          </a:fillRef>
          <a:effectRef idx="0">
            <a:schemeClr val="accent6"/>
          </a:effectRef>
          <a:fontRef idx="minor">
            <a:schemeClr val="tx1"/>
          </a:fontRef>
        </p:style>
      </p:cxnSp>
      <p:cxnSp>
        <p:nvCxnSpPr>
          <p:cNvPr id="49" name="直接连接符 48">
            <a:extLst>
              <a:ext uri="{FF2B5EF4-FFF2-40B4-BE49-F238E27FC236}">
                <a16:creationId xmlns:a16="http://schemas.microsoft.com/office/drawing/2014/main" id="{42677779-ABF6-8B6C-9945-EB1F2257714D}"/>
              </a:ext>
            </a:extLst>
          </p:cNvPr>
          <p:cNvCxnSpPr/>
          <p:nvPr/>
        </p:nvCxnSpPr>
        <p:spPr>
          <a:xfrm>
            <a:off x="3230619" y="2980472"/>
            <a:ext cx="209294" cy="210231"/>
          </a:xfrm>
          <a:prstGeom prst="line">
            <a:avLst/>
          </a:prstGeom>
          <a:ln>
            <a:solidFill>
              <a:srgbClr val="003F88"/>
            </a:solidFill>
          </a:ln>
        </p:spPr>
        <p:style>
          <a:lnRef idx="1">
            <a:schemeClr val="accent6"/>
          </a:lnRef>
          <a:fillRef idx="0">
            <a:schemeClr val="accent6"/>
          </a:fillRef>
          <a:effectRef idx="0">
            <a:schemeClr val="accent6"/>
          </a:effectRef>
          <a:fontRef idx="minor">
            <a:schemeClr val="tx1"/>
          </a:fontRef>
        </p:style>
      </p:cxnSp>
      <p:cxnSp>
        <p:nvCxnSpPr>
          <p:cNvPr id="50" name="直接箭头连接符 49">
            <a:extLst>
              <a:ext uri="{FF2B5EF4-FFF2-40B4-BE49-F238E27FC236}">
                <a16:creationId xmlns:a16="http://schemas.microsoft.com/office/drawing/2014/main" id="{7B28F4C6-2ACA-DD7B-87F8-BB0D7D6C8A82}"/>
              </a:ext>
            </a:extLst>
          </p:cNvPr>
          <p:cNvCxnSpPr>
            <a:endCxn id="45" idx="1"/>
          </p:cNvCxnSpPr>
          <p:nvPr/>
        </p:nvCxnSpPr>
        <p:spPr>
          <a:xfrm>
            <a:off x="3439913" y="3190703"/>
            <a:ext cx="389315" cy="3940"/>
          </a:xfrm>
          <a:prstGeom prst="straightConnector1">
            <a:avLst/>
          </a:prstGeom>
          <a:ln>
            <a:solidFill>
              <a:srgbClr val="003F88"/>
            </a:solidFill>
            <a:tailEnd type="triangle"/>
          </a:ln>
        </p:spPr>
        <p:style>
          <a:lnRef idx="1">
            <a:schemeClr val="accent6"/>
          </a:lnRef>
          <a:fillRef idx="0">
            <a:schemeClr val="accent6"/>
          </a:fillRef>
          <a:effectRef idx="0">
            <a:schemeClr val="accent6"/>
          </a:effectRef>
          <a:fontRef idx="minor">
            <a:schemeClr val="tx1"/>
          </a:fontRef>
        </p:style>
      </p:cxnSp>
      <p:cxnSp>
        <p:nvCxnSpPr>
          <p:cNvPr id="51" name="肘形连接符 54">
            <a:extLst>
              <a:ext uri="{FF2B5EF4-FFF2-40B4-BE49-F238E27FC236}">
                <a16:creationId xmlns:a16="http://schemas.microsoft.com/office/drawing/2014/main" id="{D9294F27-34EC-CFEA-7532-9E86484367F5}"/>
              </a:ext>
            </a:extLst>
          </p:cNvPr>
          <p:cNvCxnSpPr/>
          <p:nvPr/>
        </p:nvCxnSpPr>
        <p:spPr>
          <a:xfrm flipV="1">
            <a:off x="3490024" y="3190703"/>
            <a:ext cx="1947131" cy="741902"/>
          </a:xfrm>
          <a:prstGeom prst="bentConnector3">
            <a:avLst>
              <a:gd name="adj1" fmla="val 101705"/>
            </a:avLst>
          </a:prstGeom>
          <a:ln>
            <a:solidFill>
              <a:srgbClr val="003F88"/>
            </a:solidFill>
            <a:tailEnd type="triangle"/>
          </a:ln>
        </p:spPr>
        <p:style>
          <a:lnRef idx="1">
            <a:schemeClr val="accent6"/>
          </a:lnRef>
          <a:fillRef idx="0">
            <a:schemeClr val="accent6"/>
          </a:fillRef>
          <a:effectRef idx="0">
            <a:schemeClr val="accent6"/>
          </a:effectRef>
          <a:fontRef idx="minor">
            <a:schemeClr val="tx1"/>
          </a:fontRef>
        </p:style>
      </p:cxnSp>
      <p:cxnSp>
        <p:nvCxnSpPr>
          <p:cNvPr id="52" name="直接连接符 51">
            <a:extLst>
              <a:ext uri="{FF2B5EF4-FFF2-40B4-BE49-F238E27FC236}">
                <a16:creationId xmlns:a16="http://schemas.microsoft.com/office/drawing/2014/main" id="{FC338D5F-3DAB-472A-050C-2EB7E3F6E42C}"/>
              </a:ext>
            </a:extLst>
          </p:cNvPr>
          <p:cNvCxnSpPr/>
          <p:nvPr/>
        </p:nvCxnSpPr>
        <p:spPr>
          <a:xfrm flipH="1" flipV="1">
            <a:off x="3295366" y="3673155"/>
            <a:ext cx="194658" cy="244606"/>
          </a:xfrm>
          <a:prstGeom prst="line">
            <a:avLst/>
          </a:prstGeom>
          <a:ln>
            <a:solidFill>
              <a:srgbClr val="003F88"/>
            </a:solidFill>
          </a:ln>
        </p:spPr>
        <p:style>
          <a:lnRef idx="1">
            <a:schemeClr val="accent6"/>
          </a:lnRef>
          <a:fillRef idx="0">
            <a:schemeClr val="accent6"/>
          </a:fillRef>
          <a:effectRef idx="0">
            <a:schemeClr val="accent6"/>
          </a:effectRef>
          <a:fontRef idx="minor">
            <a:schemeClr val="tx1"/>
          </a:fontRef>
        </p:style>
      </p:cxnSp>
      <p:cxnSp>
        <p:nvCxnSpPr>
          <p:cNvPr id="53" name="直接连接符 52">
            <a:extLst>
              <a:ext uri="{FF2B5EF4-FFF2-40B4-BE49-F238E27FC236}">
                <a16:creationId xmlns:a16="http://schemas.microsoft.com/office/drawing/2014/main" id="{93077168-3563-B5C4-CC27-B012E905252D}"/>
              </a:ext>
            </a:extLst>
          </p:cNvPr>
          <p:cNvCxnSpPr>
            <a:stCxn id="38" idx="3"/>
          </p:cNvCxnSpPr>
          <p:nvPr/>
        </p:nvCxnSpPr>
        <p:spPr>
          <a:xfrm>
            <a:off x="2859099" y="3729769"/>
            <a:ext cx="332154" cy="0"/>
          </a:xfrm>
          <a:prstGeom prst="line">
            <a:avLst/>
          </a:prstGeom>
          <a:ln>
            <a:solidFill>
              <a:srgbClr val="003F88"/>
            </a:solidFill>
          </a:ln>
        </p:spPr>
        <p:style>
          <a:lnRef idx="1">
            <a:schemeClr val="accent6"/>
          </a:lnRef>
          <a:fillRef idx="0">
            <a:schemeClr val="accent6"/>
          </a:fillRef>
          <a:effectRef idx="0">
            <a:schemeClr val="accent6"/>
          </a:effectRef>
          <a:fontRef idx="minor">
            <a:schemeClr val="tx1"/>
          </a:fontRef>
        </p:style>
      </p:cxnSp>
      <p:cxnSp>
        <p:nvCxnSpPr>
          <p:cNvPr id="54" name="直接连接符 53">
            <a:extLst>
              <a:ext uri="{FF2B5EF4-FFF2-40B4-BE49-F238E27FC236}">
                <a16:creationId xmlns:a16="http://schemas.microsoft.com/office/drawing/2014/main" id="{C18392AA-CB4A-F22E-8DEC-83C0DE09D88E}"/>
              </a:ext>
            </a:extLst>
          </p:cNvPr>
          <p:cNvCxnSpPr>
            <a:stCxn id="44" idx="3"/>
          </p:cNvCxnSpPr>
          <p:nvPr/>
        </p:nvCxnSpPr>
        <p:spPr>
          <a:xfrm>
            <a:off x="2844113" y="2486463"/>
            <a:ext cx="595800" cy="0"/>
          </a:xfrm>
          <a:prstGeom prst="line">
            <a:avLst/>
          </a:prstGeom>
          <a:ln>
            <a:solidFill>
              <a:srgbClr val="003F88"/>
            </a:solidFill>
          </a:ln>
        </p:spPr>
        <p:style>
          <a:lnRef idx="1">
            <a:schemeClr val="accent6"/>
          </a:lnRef>
          <a:fillRef idx="0">
            <a:schemeClr val="accent6"/>
          </a:fillRef>
          <a:effectRef idx="0">
            <a:schemeClr val="accent6"/>
          </a:effectRef>
          <a:fontRef idx="minor">
            <a:schemeClr val="tx1"/>
          </a:fontRef>
        </p:style>
      </p:cxnSp>
      <p:cxnSp>
        <p:nvCxnSpPr>
          <p:cNvPr id="55" name="直接连接符 54">
            <a:extLst>
              <a:ext uri="{FF2B5EF4-FFF2-40B4-BE49-F238E27FC236}">
                <a16:creationId xmlns:a16="http://schemas.microsoft.com/office/drawing/2014/main" id="{13D0CDA2-2394-58CB-A1E1-F24D1265DCFE}"/>
              </a:ext>
            </a:extLst>
          </p:cNvPr>
          <p:cNvCxnSpPr/>
          <p:nvPr/>
        </p:nvCxnSpPr>
        <p:spPr>
          <a:xfrm>
            <a:off x="3439913" y="2486463"/>
            <a:ext cx="0" cy="316064"/>
          </a:xfrm>
          <a:prstGeom prst="line">
            <a:avLst/>
          </a:prstGeom>
          <a:ln>
            <a:solidFill>
              <a:srgbClr val="003F88"/>
            </a:solidFill>
          </a:ln>
        </p:spPr>
        <p:style>
          <a:lnRef idx="1">
            <a:schemeClr val="accent6"/>
          </a:lnRef>
          <a:fillRef idx="0">
            <a:schemeClr val="accent6"/>
          </a:fillRef>
          <a:effectRef idx="0">
            <a:schemeClr val="accent6"/>
          </a:effectRef>
          <a:fontRef idx="minor">
            <a:schemeClr val="tx1"/>
          </a:fontRef>
        </p:style>
      </p:cxnSp>
      <p:cxnSp>
        <p:nvCxnSpPr>
          <p:cNvPr id="56" name="直接连接符 55">
            <a:extLst>
              <a:ext uri="{FF2B5EF4-FFF2-40B4-BE49-F238E27FC236}">
                <a16:creationId xmlns:a16="http://schemas.microsoft.com/office/drawing/2014/main" id="{9B65FF71-CFFA-D226-F811-43AC04F98AFC}"/>
              </a:ext>
            </a:extLst>
          </p:cNvPr>
          <p:cNvCxnSpPr/>
          <p:nvPr/>
        </p:nvCxnSpPr>
        <p:spPr>
          <a:xfrm>
            <a:off x="3335266" y="3190703"/>
            <a:ext cx="0" cy="370951"/>
          </a:xfrm>
          <a:prstGeom prst="line">
            <a:avLst/>
          </a:prstGeom>
          <a:ln>
            <a:solidFill>
              <a:srgbClr val="003F88"/>
            </a:solidFill>
            <a:prstDash val="lgDash"/>
          </a:ln>
        </p:spPr>
        <p:style>
          <a:lnRef idx="1">
            <a:schemeClr val="accent6"/>
          </a:lnRef>
          <a:fillRef idx="0">
            <a:schemeClr val="accent6"/>
          </a:fillRef>
          <a:effectRef idx="0">
            <a:schemeClr val="accent6"/>
          </a:effectRef>
          <a:fontRef idx="minor">
            <a:schemeClr val="tx1"/>
          </a:fontRef>
        </p:style>
      </p:cxnSp>
      <p:sp>
        <p:nvSpPr>
          <p:cNvPr id="57" name="文本框 56">
            <a:extLst>
              <a:ext uri="{FF2B5EF4-FFF2-40B4-BE49-F238E27FC236}">
                <a16:creationId xmlns:a16="http://schemas.microsoft.com/office/drawing/2014/main" id="{1E77F102-9750-80BB-F51A-3DAB94093198}"/>
              </a:ext>
            </a:extLst>
          </p:cNvPr>
          <p:cNvSpPr txBox="1"/>
          <p:nvPr/>
        </p:nvSpPr>
        <p:spPr>
          <a:xfrm>
            <a:off x="3142013" y="4045833"/>
            <a:ext cx="1809732" cy="369332"/>
          </a:xfrm>
          <a:prstGeom prst="rect">
            <a:avLst/>
          </a:prstGeom>
          <a:noFill/>
          <a:ln>
            <a:solidFill>
              <a:srgbClr val="003F88"/>
            </a:solidFill>
          </a:ln>
        </p:spPr>
        <p:txBody>
          <a:bodyPr wrap="square" rtlCol="0">
            <a:spAutoFit/>
          </a:bodyPr>
          <a:lstStyle/>
          <a:p>
            <a:r>
              <a:rPr lang="zh-CN" altLang="en-US" dirty="0">
                <a:latin typeface="+mn-ea"/>
              </a:rPr>
              <a:t>脉宽调制信号</a:t>
            </a:r>
          </a:p>
        </p:txBody>
      </p:sp>
      <p:pic>
        <p:nvPicPr>
          <p:cNvPr id="58" name="图片 57">
            <a:extLst>
              <a:ext uri="{FF2B5EF4-FFF2-40B4-BE49-F238E27FC236}">
                <a16:creationId xmlns:a16="http://schemas.microsoft.com/office/drawing/2014/main" id="{C0F0DDEF-9276-063F-EE40-6CFCE085A110}"/>
              </a:ext>
            </a:extLst>
          </p:cNvPr>
          <p:cNvPicPr>
            <a:picLocks noChangeAspect="1"/>
          </p:cNvPicPr>
          <p:nvPr/>
        </p:nvPicPr>
        <p:blipFill>
          <a:blip r:embed="rId4">
            <a:extLst>
              <a:ext uri="{BEBA8EAE-BF5A-486C-A8C5-ECC9F3942E4B}">
                <a14:imgProps xmlns:a14="http://schemas.microsoft.com/office/drawing/2010/main">
                  <a14:imgLayer r:embed="rId5">
                    <a14:imgEffect>
                      <a14:brightnessContrast contrast="-20000"/>
                    </a14:imgEffect>
                  </a14:imgLayer>
                </a14:imgProps>
              </a:ext>
            </a:extLst>
          </a:blip>
          <a:stretch>
            <a:fillRect/>
          </a:stretch>
        </p:blipFill>
        <p:spPr>
          <a:xfrm>
            <a:off x="5591912" y="3663357"/>
            <a:ext cx="1508701" cy="1527269"/>
          </a:xfrm>
          <a:prstGeom prst="rect">
            <a:avLst/>
          </a:prstGeom>
          <a:ln>
            <a:solidFill>
              <a:schemeClr val="bg1"/>
            </a:solidFill>
          </a:ln>
        </p:spPr>
      </p:pic>
      <p:sp>
        <p:nvSpPr>
          <p:cNvPr id="59" name="燕尾形箭头 85">
            <a:extLst>
              <a:ext uri="{FF2B5EF4-FFF2-40B4-BE49-F238E27FC236}">
                <a16:creationId xmlns:a16="http://schemas.microsoft.com/office/drawing/2014/main" id="{2826D18E-25C7-71C2-CA12-36BBFA37FC71}"/>
              </a:ext>
            </a:extLst>
          </p:cNvPr>
          <p:cNvSpPr/>
          <p:nvPr/>
        </p:nvSpPr>
        <p:spPr>
          <a:xfrm rot="10800000">
            <a:off x="4747938" y="4143175"/>
            <a:ext cx="740088" cy="203108"/>
          </a:xfrm>
          <a:prstGeom prst="notchedRightArrow">
            <a:avLst/>
          </a:prstGeom>
          <a:noFill/>
          <a:ln w="6350">
            <a:solidFill>
              <a:srgbClr val="003F88"/>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mn-ea"/>
            </a:endParaRPr>
          </a:p>
        </p:txBody>
      </p:sp>
      <p:sp>
        <p:nvSpPr>
          <p:cNvPr id="60" name="Content Placeholder 2">
            <a:extLst>
              <a:ext uri="{FF2B5EF4-FFF2-40B4-BE49-F238E27FC236}">
                <a16:creationId xmlns:a16="http://schemas.microsoft.com/office/drawing/2014/main" id="{709413D7-916D-7156-268E-BC96A489D94D}"/>
              </a:ext>
            </a:extLst>
          </p:cNvPr>
          <p:cNvSpPr txBox="1">
            <a:spLocks/>
          </p:cNvSpPr>
          <p:nvPr/>
        </p:nvSpPr>
        <p:spPr bwMode="auto">
          <a:xfrm>
            <a:off x="7045082" y="4330717"/>
            <a:ext cx="1495988" cy="503709"/>
          </a:xfrm>
          <a:prstGeom prst="rect">
            <a:avLst/>
          </a:prstGeom>
          <a:noFill/>
          <a:ln w="9525">
            <a:solidFill>
              <a:srgbClr val="003F88"/>
            </a:solid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ea typeface="+mn-ea"/>
              </a:defRPr>
            </a:lvl2pPr>
            <a:lvl3pPr marL="1143000" indent="-228600" algn="l" rtl="0" eaLnBrk="0" fontAlgn="base" hangingPunct="0">
              <a:spcBef>
                <a:spcPct val="20000"/>
              </a:spcBef>
              <a:spcAft>
                <a:spcPct val="0"/>
              </a:spcAft>
              <a:buChar char="•"/>
              <a:defRPr sz="2400">
                <a:solidFill>
                  <a:schemeClr val="tx1"/>
                </a:solidFill>
                <a:latin typeface="+mn-lt"/>
                <a:ea typeface="+mn-ea"/>
              </a:defRPr>
            </a:lvl3pPr>
            <a:lvl4pPr marL="1600200" indent="-228600" algn="l" rtl="0" eaLnBrk="0" fontAlgn="base" hangingPunct="0">
              <a:spcBef>
                <a:spcPct val="20000"/>
              </a:spcBef>
              <a:spcAft>
                <a:spcPct val="0"/>
              </a:spcAft>
              <a:buChar char="–"/>
              <a:defRPr sz="20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sz="2000">
                <a:solidFill>
                  <a:schemeClr val="tx1"/>
                </a:solidFill>
                <a:latin typeface="+mn-lt"/>
                <a:ea typeface="+mn-ea"/>
              </a:defRPr>
            </a:lvl6pPr>
            <a:lvl7pPr marL="2971800" indent="-228600" algn="l" rtl="0" fontAlgn="base">
              <a:spcBef>
                <a:spcPct val="20000"/>
              </a:spcBef>
              <a:spcAft>
                <a:spcPct val="0"/>
              </a:spcAft>
              <a:buChar char="»"/>
              <a:defRPr sz="2000">
                <a:solidFill>
                  <a:schemeClr val="tx1"/>
                </a:solidFill>
                <a:latin typeface="+mn-lt"/>
                <a:ea typeface="+mn-ea"/>
              </a:defRPr>
            </a:lvl7pPr>
            <a:lvl8pPr marL="3429000" indent="-228600" algn="l" rtl="0" fontAlgn="base">
              <a:spcBef>
                <a:spcPct val="20000"/>
              </a:spcBef>
              <a:spcAft>
                <a:spcPct val="0"/>
              </a:spcAft>
              <a:buChar char="»"/>
              <a:defRPr sz="2000">
                <a:solidFill>
                  <a:schemeClr val="tx1"/>
                </a:solidFill>
                <a:latin typeface="+mn-lt"/>
                <a:ea typeface="+mn-ea"/>
              </a:defRPr>
            </a:lvl8pPr>
            <a:lvl9pPr marL="3886200" indent="-228600" algn="l" rtl="0" fontAlgn="base">
              <a:spcBef>
                <a:spcPct val="20000"/>
              </a:spcBef>
              <a:spcAft>
                <a:spcPct val="0"/>
              </a:spcAft>
              <a:buChar char="»"/>
              <a:defRPr sz="2000">
                <a:solidFill>
                  <a:schemeClr val="tx1"/>
                </a:solidFill>
                <a:latin typeface="+mn-lt"/>
                <a:ea typeface="+mn-ea"/>
              </a:defRPr>
            </a:lvl9pPr>
          </a:lstStyle>
          <a:p>
            <a:pPr marL="0" indent="0">
              <a:buNone/>
            </a:pPr>
            <a:r>
              <a:rPr lang="en-US" altLang="zh-CN" sz="1200" kern="0" dirty="0">
                <a:solidFill>
                  <a:srgbClr val="003F88"/>
                </a:solidFill>
                <a:latin typeface="+mn-ea"/>
              </a:rPr>
              <a:t>a)</a:t>
            </a:r>
            <a:r>
              <a:rPr lang="zh-CN" altLang="en-US" sz="1200" kern="0" dirty="0">
                <a:solidFill>
                  <a:srgbClr val="003F88"/>
                </a:solidFill>
                <a:latin typeface="+mn-ea"/>
              </a:rPr>
              <a:t>连续信号 </a:t>
            </a:r>
            <a:endParaRPr lang="en-US" altLang="zh-CN" sz="1200" kern="0" dirty="0">
              <a:solidFill>
                <a:srgbClr val="003F88"/>
              </a:solidFill>
              <a:latin typeface="+mn-ea"/>
            </a:endParaRPr>
          </a:p>
          <a:p>
            <a:pPr marL="0" indent="0">
              <a:buNone/>
            </a:pPr>
            <a:r>
              <a:rPr lang="en-US" altLang="zh-CN" sz="1200" kern="0" dirty="0">
                <a:solidFill>
                  <a:srgbClr val="003F88"/>
                </a:solidFill>
                <a:latin typeface="+mn-ea"/>
              </a:rPr>
              <a:t>b)</a:t>
            </a:r>
            <a:r>
              <a:rPr lang="zh-CN" altLang="en-US" sz="1200" kern="0" dirty="0">
                <a:solidFill>
                  <a:srgbClr val="003F88"/>
                </a:solidFill>
                <a:latin typeface="+mn-ea"/>
              </a:rPr>
              <a:t>脉宽调制信号</a:t>
            </a:r>
            <a:endParaRPr lang="en-US" altLang="zh-CN" sz="1200" kern="0" dirty="0">
              <a:solidFill>
                <a:srgbClr val="003F88"/>
              </a:solidFill>
              <a:latin typeface="+mn-ea"/>
            </a:endParaRPr>
          </a:p>
        </p:txBody>
      </p:sp>
      <p:sp>
        <p:nvSpPr>
          <p:cNvPr id="62" name="矩形 61">
            <a:extLst>
              <a:ext uri="{FF2B5EF4-FFF2-40B4-BE49-F238E27FC236}">
                <a16:creationId xmlns:a16="http://schemas.microsoft.com/office/drawing/2014/main" id="{954BDDA5-321B-413F-AC2B-B659B6FA9167}"/>
              </a:ext>
            </a:extLst>
          </p:cNvPr>
          <p:cNvSpPr/>
          <p:nvPr/>
        </p:nvSpPr>
        <p:spPr>
          <a:xfrm>
            <a:off x="5585573" y="3673155"/>
            <a:ext cx="2803156" cy="1468742"/>
          </a:xfrm>
          <a:prstGeom prst="rect">
            <a:avLst/>
          </a:prstGeom>
          <a:noFill/>
          <a:ln w="9525">
            <a:solidFill>
              <a:srgbClr val="003F88"/>
            </a:solidFill>
            <a:prstDash val="dash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mn-ea"/>
            </a:endParaRPr>
          </a:p>
        </p:txBody>
      </p:sp>
      <p:sp>
        <p:nvSpPr>
          <p:cNvPr id="63" name="文本框 62">
            <a:extLst>
              <a:ext uri="{FF2B5EF4-FFF2-40B4-BE49-F238E27FC236}">
                <a16:creationId xmlns:a16="http://schemas.microsoft.com/office/drawing/2014/main" id="{4A5F2896-93EF-96FD-F216-F438DC7618F8}"/>
              </a:ext>
            </a:extLst>
          </p:cNvPr>
          <p:cNvSpPr txBox="1"/>
          <p:nvPr/>
        </p:nvSpPr>
        <p:spPr>
          <a:xfrm>
            <a:off x="7023745" y="3891270"/>
            <a:ext cx="1364984" cy="276999"/>
          </a:xfrm>
          <a:prstGeom prst="rect">
            <a:avLst/>
          </a:prstGeom>
          <a:noFill/>
          <a:ln>
            <a:solidFill>
              <a:srgbClr val="003F88"/>
            </a:solidFill>
          </a:ln>
        </p:spPr>
        <p:txBody>
          <a:bodyPr wrap="square" rtlCol="0">
            <a:spAutoFit/>
          </a:bodyPr>
          <a:lstStyle/>
          <a:p>
            <a:r>
              <a:rPr lang="zh-CN" altLang="en-US" sz="1200" b="1" dirty="0">
                <a:ln w="0"/>
                <a:solidFill>
                  <a:srgbClr val="003F88"/>
                </a:solidFill>
                <a:latin typeface="+mn-ea"/>
              </a:rPr>
              <a:t>信号的脉宽调制</a:t>
            </a:r>
          </a:p>
        </p:txBody>
      </p:sp>
      <p:sp>
        <p:nvSpPr>
          <p:cNvPr id="2" name="矩形 1">
            <a:extLst>
              <a:ext uri="{FF2B5EF4-FFF2-40B4-BE49-F238E27FC236}">
                <a16:creationId xmlns:a16="http://schemas.microsoft.com/office/drawing/2014/main" id="{0F322DD9-E172-89F1-0AE3-9EAC401A4B64}"/>
              </a:ext>
            </a:extLst>
          </p:cNvPr>
          <p:cNvSpPr/>
          <p:nvPr/>
        </p:nvSpPr>
        <p:spPr>
          <a:xfrm>
            <a:off x="407533" y="900933"/>
            <a:ext cx="8680807" cy="662554"/>
          </a:xfrm>
          <a:prstGeom prst="rect">
            <a:avLst/>
          </a:prstGeom>
          <a:noFill/>
        </p:spPr>
        <p:txBody>
          <a:bodyPr wrap="square" rtlCol="0">
            <a:spAutoFit/>
          </a:bodyPr>
          <a:lstStyle/>
          <a:p>
            <a:pPr marL="457200" indent="-457200" algn="just">
              <a:lnSpc>
                <a:spcPct val="150000"/>
              </a:lnSpc>
              <a:spcBef>
                <a:spcPts val="1000"/>
              </a:spcBef>
              <a:buFont typeface="Wingdings" panose="05000000000000000000" pitchFamily="2" charset="2"/>
              <a:buChar char="p"/>
            </a:pPr>
            <a:r>
              <a:rPr lang="zh-CN" altLang="en-US" sz="2800" b="1" dirty="0">
                <a:solidFill>
                  <a:srgbClr val="003F88"/>
                </a:solidFill>
                <a:latin typeface="微软雅黑" panose="020B0503020204020204" pitchFamily="34" charset="-122"/>
                <a:ea typeface="微软雅黑" panose="020B0503020204020204" pitchFamily="34" charset="-122"/>
              </a:rPr>
              <a:t>数字阀的使用</a:t>
            </a:r>
            <a:endParaRPr lang="en-US" altLang="zh-CN" sz="2800" b="1" dirty="0">
              <a:solidFill>
                <a:srgbClr val="003F88"/>
              </a:solidFill>
              <a:latin typeface="微软雅黑" panose="020B0503020204020204" pitchFamily="34" charset="-122"/>
              <a:ea typeface="微软雅黑" panose="020B0503020204020204" pitchFamily="34" charset="-122"/>
            </a:endParaRPr>
          </a:p>
        </p:txBody>
      </p:sp>
      <p:sp>
        <p:nvSpPr>
          <p:cNvPr id="34" name="文本框 33">
            <a:extLst>
              <a:ext uri="{FF2B5EF4-FFF2-40B4-BE49-F238E27FC236}">
                <a16:creationId xmlns:a16="http://schemas.microsoft.com/office/drawing/2014/main" id="{F885748C-E1C3-4918-83F2-4450308794BE}"/>
              </a:ext>
            </a:extLst>
          </p:cNvPr>
          <p:cNvSpPr txBox="1"/>
          <p:nvPr/>
        </p:nvSpPr>
        <p:spPr>
          <a:xfrm>
            <a:off x="429656" y="135415"/>
            <a:ext cx="4319626"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cs typeface="Times New Roman" panose="02020603050405020304" pitchFamily="18" charset="0"/>
              </a:rPr>
              <a:t>10.7</a:t>
            </a:r>
            <a:r>
              <a:rPr lang="en-US" altLang="zh-CN" sz="3600" b="1" dirty="0">
                <a:solidFill>
                  <a:srgbClr val="003F88"/>
                </a:solidFill>
                <a:latin typeface="+mn-ea"/>
              </a:rPr>
              <a:t> </a:t>
            </a:r>
            <a:r>
              <a:rPr lang="zh-CN" altLang="en-US" sz="3600" b="1" dirty="0">
                <a:solidFill>
                  <a:srgbClr val="003F88"/>
                </a:solidFill>
                <a:latin typeface="+mn-ea"/>
              </a:rPr>
              <a:t>电液数字阀</a:t>
            </a:r>
          </a:p>
        </p:txBody>
      </p:sp>
    </p:spTree>
    <p:extLst>
      <p:ext uri="{BB962C8B-B14F-4D97-AF65-F5344CB8AC3E}">
        <p14:creationId xmlns:p14="http://schemas.microsoft.com/office/powerpoint/2010/main" val="2437233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D88DB5-EDCF-E186-0902-11FB60EA70D6}"/>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FFDDD872-583E-E564-F454-BF397A818747}"/>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46C064FF-CE74-283A-308E-3D371249B8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FB072A92-C65D-2786-82DD-D9C372572606}"/>
              </a:ext>
            </a:extLst>
          </p:cNvPr>
          <p:cNvSpPr/>
          <p:nvPr/>
        </p:nvSpPr>
        <p:spPr>
          <a:xfrm>
            <a:off x="0" y="174524"/>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Content Placeholder 2">
            <a:extLst>
              <a:ext uri="{FF2B5EF4-FFF2-40B4-BE49-F238E27FC236}">
                <a16:creationId xmlns:a16="http://schemas.microsoft.com/office/drawing/2014/main" id="{96D27C71-408B-16D3-8096-7B7CBD17BB83}"/>
              </a:ext>
            </a:extLst>
          </p:cNvPr>
          <p:cNvSpPr txBox="1">
            <a:spLocks/>
          </p:cNvSpPr>
          <p:nvPr/>
        </p:nvSpPr>
        <p:spPr>
          <a:xfrm>
            <a:off x="995440" y="1475125"/>
            <a:ext cx="3051439" cy="527571"/>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50000"/>
              </a:lnSpc>
              <a:buNone/>
            </a:pPr>
            <a:r>
              <a:rPr lang="zh-CN" altLang="en-US" sz="2400" b="1" kern="0" dirty="0">
                <a:latin typeface="+mn-ea"/>
              </a:rPr>
              <a:t>脉宽调制式数字阀</a:t>
            </a:r>
            <a:endParaRPr lang="en-US" altLang="zh-CN" sz="2400" b="1" kern="0" dirty="0">
              <a:latin typeface="+mn-ea"/>
            </a:endParaRPr>
          </a:p>
        </p:txBody>
      </p:sp>
      <p:sp>
        <p:nvSpPr>
          <p:cNvPr id="2" name="矩形 1">
            <a:extLst>
              <a:ext uri="{FF2B5EF4-FFF2-40B4-BE49-F238E27FC236}">
                <a16:creationId xmlns:a16="http://schemas.microsoft.com/office/drawing/2014/main" id="{0F322DD9-E172-89F1-0AE3-9EAC401A4B64}"/>
              </a:ext>
            </a:extLst>
          </p:cNvPr>
          <p:cNvSpPr/>
          <p:nvPr/>
        </p:nvSpPr>
        <p:spPr>
          <a:xfrm>
            <a:off x="407533" y="900933"/>
            <a:ext cx="8680807" cy="662554"/>
          </a:xfrm>
          <a:prstGeom prst="rect">
            <a:avLst/>
          </a:prstGeom>
          <a:noFill/>
        </p:spPr>
        <p:txBody>
          <a:bodyPr wrap="square" rtlCol="0">
            <a:spAutoFit/>
          </a:bodyPr>
          <a:lstStyle/>
          <a:p>
            <a:pPr marL="457200" indent="-457200" algn="just">
              <a:lnSpc>
                <a:spcPct val="150000"/>
              </a:lnSpc>
              <a:spcBef>
                <a:spcPts val="1000"/>
              </a:spcBef>
              <a:buFont typeface="Wingdings" panose="05000000000000000000" pitchFamily="2" charset="2"/>
              <a:buChar char="p"/>
            </a:pPr>
            <a:r>
              <a:rPr lang="zh-CN" altLang="en-US" sz="2800" b="1" dirty="0">
                <a:solidFill>
                  <a:srgbClr val="003F88"/>
                </a:solidFill>
                <a:latin typeface="微软雅黑" panose="020B0503020204020204" pitchFamily="34" charset="-122"/>
                <a:ea typeface="微软雅黑" panose="020B0503020204020204" pitchFamily="34" charset="-122"/>
              </a:rPr>
              <a:t>数字阀的使用</a:t>
            </a:r>
            <a:endParaRPr lang="en-US" altLang="zh-CN" sz="2800" b="1" dirty="0">
              <a:solidFill>
                <a:srgbClr val="003F88"/>
              </a:solidFill>
              <a:latin typeface="微软雅黑" panose="020B0503020204020204" pitchFamily="34" charset="-122"/>
              <a:ea typeface="微软雅黑" panose="020B0503020204020204" pitchFamily="34" charset="-122"/>
            </a:endParaRPr>
          </a:p>
        </p:txBody>
      </p:sp>
      <p:pic>
        <p:nvPicPr>
          <p:cNvPr id="34" name="图片 33">
            <a:extLst>
              <a:ext uri="{FF2B5EF4-FFF2-40B4-BE49-F238E27FC236}">
                <a16:creationId xmlns:a16="http://schemas.microsoft.com/office/drawing/2014/main" id="{B2AEBD08-C2B0-405F-AA65-D8F185999DC8}"/>
              </a:ext>
            </a:extLst>
          </p:cNvPr>
          <p:cNvPicPr>
            <a:picLocks noChangeAspect="1"/>
          </p:cNvPicPr>
          <p:nvPr/>
        </p:nvPicPr>
        <p:blipFill rotWithShape="1">
          <a:blip r:embed="rId4">
            <a:extLst>
              <a:ext uri="{BEBA8EAE-BF5A-486C-A8C5-ECC9F3942E4B}">
                <a14:imgProps xmlns:a14="http://schemas.microsoft.com/office/drawing/2010/main">
                  <a14:imgLayer r:embed="rId5">
                    <a14:imgEffect>
                      <a14:brightnessContrast contrast="-20000"/>
                    </a14:imgEffect>
                  </a14:imgLayer>
                </a14:imgProps>
              </a:ext>
            </a:extLst>
          </a:blip>
          <a:srcRect t="4671" b="5444"/>
          <a:stretch/>
        </p:blipFill>
        <p:spPr>
          <a:xfrm rot="21434427">
            <a:off x="4041972" y="1359383"/>
            <a:ext cx="5401349" cy="4914750"/>
          </a:xfrm>
          <a:prstGeom prst="rect">
            <a:avLst/>
          </a:prstGeom>
          <a:ln>
            <a:solidFill>
              <a:schemeClr val="bg1"/>
            </a:solidFill>
          </a:ln>
        </p:spPr>
      </p:pic>
      <p:sp>
        <p:nvSpPr>
          <p:cNvPr id="10" name="文本框 9">
            <a:extLst>
              <a:ext uri="{FF2B5EF4-FFF2-40B4-BE49-F238E27FC236}">
                <a16:creationId xmlns:a16="http://schemas.microsoft.com/office/drawing/2014/main" id="{8C13B596-6392-4F66-BD59-85DAE6C7A0D8}"/>
              </a:ext>
            </a:extLst>
          </p:cNvPr>
          <p:cNvSpPr txBox="1"/>
          <p:nvPr/>
        </p:nvSpPr>
        <p:spPr>
          <a:xfrm>
            <a:off x="429656" y="135415"/>
            <a:ext cx="4319626"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cs typeface="Times New Roman" panose="02020603050405020304" pitchFamily="18" charset="0"/>
              </a:rPr>
              <a:t>10.7</a:t>
            </a:r>
            <a:r>
              <a:rPr lang="en-US" altLang="zh-CN" sz="3600" b="1" dirty="0">
                <a:solidFill>
                  <a:srgbClr val="003F88"/>
                </a:solidFill>
                <a:latin typeface="+mn-ea"/>
              </a:rPr>
              <a:t> </a:t>
            </a:r>
            <a:r>
              <a:rPr lang="zh-CN" altLang="en-US" sz="3600" b="1" dirty="0">
                <a:solidFill>
                  <a:srgbClr val="003F88"/>
                </a:solidFill>
                <a:latin typeface="+mn-ea"/>
              </a:rPr>
              <a:t>电液数字阀</a:t>
            </a:r>
          </a:p>
        </p:txBody>
      </p:sp>
    </p:spTree>
    <p:extLst>
      <p:ext uri="{BB962C8B-B14F-4D97-AF65-F5344CB8AC3E}">
        <p14:creationId xmlns:p14="http://schemas.microsoft.com/office/powerpoint/2010/main" val="26323032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D88DB5-EDCF-E186-0902-11FB60EA70D6}"/>
            </a:ext>
          </a:extLst>
        </p:cNvPr>
        <p:cNvGrpSpPr/>
        <p:nvPr/>
      </p:nvGrpSpPr>
      <p:grpSpPr>
        <a:xfrm>
          <a:off x="0" y="0"/>
          <a:ext cx="0" cy="0"/>
          <a:chOff x="0" y="0"/>
          <a:chExt cx="0" cy="0"/>
        </a:xfrm>
      </p:grpSpPr>
      <p:pic>
        <p:nvPicPr>
          <p:cNvPr id="8" name="图片 7">
            <a:extLst>
              <a:ext uri="{FF2B5EF4-FFF2-40B4-BE49-F238E27FC236}">
                <a16:creationId xmlns:a16="http://schemas.microsoft.com/office/drawing/2014/main" id="{46C064FF-CE74-283A-308E-3D371249B8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9" name="文本框 8">
            <a:extLst>
              <a:ext uri="{FF2B5EF4-FFF2-40B4-BE49-F238E27FC236}">
                <a16:creationId xmlns:a16="http://schemas.microsoft.com/office/drawing/2014/main" id="{FD0246F4-DC3B-BC50-706B-881A5BE78661}"/>
              </a:ext>
            </a:extLst>
          </p:cNvPr>
          <p:cNvSpPr txBox="1"/>
          <p:nvPr/>
        </p:nvSpPr>
        <p:spPr>
          <a:xfrm>
            <a:off x="429656" y="135415"/>
            <a:ext cx="4319626"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cs typeface="Times New Roman" panose="02020603050405020304" pitchFamily="18" charset="0"/>
              </a:rPr>
              <a:t>10.8</a:t>
            </a:r>
            <a:r>
              <a:rPr lang="en-US" altLang="zh-CN" sz="3600" b="1" dirty="0">
                <a:solidFill>
                  <a:srgbClr val="003F88"/>
                </a:solidFill>
                <a:latin typeface="+mn-ea"/>
              </a:rPr>
              <a:t> </a:t>
            </a:r>
            <a:r>
              <a:rPr lang="en-US" altLang="zh-CN" sz="3600" dirty="0">
                <a:solidFill>
                  <a:srgbClr val="336600"/>
                </a:solidFill>
                <a:latin typeface="华文新魏" pitchFamily="2" charset="-122"/>
                <a:ea typeface="华文新魏" pitchFamily="2" charset="-122"/>
              </a:rPr>
              <a:t> </a:t>
            </a:r>
            <a:r>
              <a:rPr lang="zh-CN" altLang="en-US" sz="3600" b="1" dirty="0">
                <a:solidFill>
                  <a:srgbClr val="003F88"/>
                </a:solidFill>
                <a:latin typeface="+mn-ea"/>
              </a:rPr>
              <a:t>联接方式</a:t>
            </a:r>
          </a:p>
        </p:txBody>
      </p:sp>
      <p:sp>
        <p:nvSpPr>
          <p:cNvPr id="25" name="矩形 24">
            <a:extLst>
              <a:ext uri="{FF2B5EF4-FFF2-40B4-BE49-F238E27FC236}">
                <a16:creationId xmlns:a16="http://schemas.microsoft.com/office/drawing/2014/main" id="{FB072A92-C65D-2786-82DD-D9C372572606}"/>
              </a:ext>
            </a:extLst>
          </p:cNvPr>
          <p:cNvSpPr/>
          <p:nvPr/>
        </p:nvSpPr>
        <p:spPr>
          <a:xfrm>
            <a:off x="0" y="174524"/>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Text Box 9">
            <a:extLst>
              <a:ext uri="{FF2B5EF4-FFF2-40B4-BE49-F238E27FC236}">
                <a16:creationId xmlns:a16="http://schemas.microsoft.com/office/drawing/2014/main" id="{A97F2382-8E09-42B0-ADAA-982944B99C9A}"/>
              </a:ext>
            </a:extLst>
          </p:cNvPr>
          <p:cNvSpPr txBox="1">
            <a:spLocks noChangeArrowheads="1"/>
          </p:cNvSpPr>
          <p:nvPr/>
        </p:nvSpPr>
        <p:spPr bwMode="auto">
          <a:xfrm>
            <a:off x="609719" y="1188434"/>
            <a:ext cx="8569325" cy="50044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20000"/>
              </a:spcBef>
              <a:buChar char="•"/>
              <a:defRPr sz="3200">
                <a:solidFill>
                  <a:schemeClr val="tx1"/>
                </a:solidFill>
                <a:latin typeface="Arial" panose="020B0604020202020204" pitchFamily="34" charset="0"/>
                <a:cs typeface="Arial" panose="020B0604020202020204" pitchFamily="34" charset="0"/>
              </a:defRPr>
            </a:lvl1pPr>
            <a:lvl2pPr marL="1085850" indent="-342900" eaLnBrk="0" hangingPunct="0">
              <a:spcBef>
                <a:spcPct val="20000"/>
              </a:spcBef>
              <a:buChar char="–"/>
              <a:defRPr sz="2800">
                <a:solidFill>
                  <a:schemeClr val="tx1"/>
                </a:solidFill>
                <a:latin typeface="Arial" panose="020B0604020202020204" pitchFamily="34" charset="0"/>
                <a:cs typeface="Arial" panose="020B0604020202020204" pitchFamily="34" charset="0"/>
              </a:defRPr>
            </a:lvl2pPr>
            <a:lvl3pPr marL="1143000" indent="-228600" eaLnBrk="0" hangingPunct="0">
              <a:spcBef>
                <a:spcPct val="20000"/>
              </a:spcBef>
              <a:buChar char="•"/>
              <a:defRPr sz="2400">
                <a:solidFill>
                  <a:schemeClr val="tx1"/>
                </a:solidFill>
                <a:latin typeface="Arial" panose="020B0604020202020204" pitchFamily="34" charset="0"/>
                <a:cs typeface="Arial" panose="020B0604020202020204" pitchFamily="34" charset="0"/>
              </a:defRPr>
            </a:lvl3pPr>
            <a:lvl4pPr marL="1600200" indent="-228600" eaLnBrk="0" hangingPunct="0">
              <a:spcBef>
                <a:spcPct val="20000"/>
              </a:spcBef>
              <a:buChar char="–"/>
              <a:defRPr sz="2000">
                <a:solidFill>
                  <a:schemeClr val="tx1"/>
                </a:solidFill>
                <a:latin typeface="Arial" panose="020B0604020202020204" pitchFamily="34" charset="0"/>
                <a:cs typeface="Arial" panose="020B0604020202020204" pitchFamily="34" charset="0"/>
              </a:defRPr>
            </a:lvl4pPr>
            <a:lvl5pPr marL="2057400" indent="-228600" eaLnBrk="0" hangingPunct="0">
              <a:spcBef>
                <a:spcPct val="20000"/>
              </a:spcBef>
              <a:buChar char="»"/>
              <a:defRPr sz="20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9pPr>
          </a:lstStyle>
          <a:p>
            <a:pPr eaLnBrk="1" hangingPunct="1">
              <a:spcBef>
                <a:spcPct val="30000"/>
              </a:spcBef>
              <a:buFont typeface="Wingdings" panose="05000000000000000000" pitchFamily="2" charset="2"/>
              <a:buChar char="q"/>
            </a:pPr>
            <a:r>
              <a:rPr lang="zh-CN" altLang="en-US" sz="2800" b="1" dirty="0">
                <a:solidFill>
                  <a:srgbClr val="C00000"/>
                </a:solidFill>
                <a:effectLst>
                  <a:outerShdw blurRad="38100" dist="38100" dir="2700000" algn="tl">
                    <a:srgbClr val="000000">
                      <a:alpha val="43137"/>
                    </a:srgbClr>
                  </a:outerShdw>
                </a:effectLst>
                <a:latin typeface="微软雅黑" panose="020B0503020204020204" pitchFamily="34" charset="-122"/>
                <a:ea typeface="微软雅黑" panose="020B0503020204020204" pitchFamily="34" charset="-122"/>
              </a:rPr>
              <a:t> 液压阀的联接方式</a:t>
            </a:r>
            <a:endParaRPr lang="en-US" altLang="zh-CN" sz="2800" b="1" dirty="0">
              <a:solidFill>
                <a:srgbClr val="C00000"/>
              </a:solidFill>
              <a:effectLst>
                <a:outerShdw blurRad="38100" dist="38100" dir="2700000" algn="tl">
                  <a:srgbClr val="000000">
                    <a:alpha val="43137"/>
                  </a:srgbClr>
                </a:outerShdw>
              </a:effectLst>
              <a:latin typeface="微软雅黑" panose="020B0503020204020204" pitchFamily="34" charset="-122"/>
              <a:ea typeface="微软雅黑" panose="020B0503020204020204" pitchFamily="34" charset="-122"/>
            </a:endParaRPr>
          </a:p>
          <a:p>
            <a:pPr eaLnBrk="1" hangingPunct="1">
              <a:spcBef>
                <a:spcPct val="30000"/>
              </a:spcBef>
              <a:buFont typeface="Wingdings" panose="05000000000000000000" pitchFamily="2" charset="2"/>
              <a:buChar char="q"/>
            </a:pPr>
            <a:endParaRPr lang="en-US" altLang="zh-CN" sz="2800" b="1" dirty="0">
              <a:latin typeface="微软雅黑" panose="020B0503020204020204" pitchFamily="34" charset="-122"/>
              <a:ea typeface="微软雅黑" panose="020B0503020204020204" pitchFamily="34" charset="-122"/>
            </a:endParaRPr>
          </a:p>
          <a:p>
            <a:pPr lvl="1" eaLnBrk="1" hangingPunct="1">
              <a:spcBef>
                <a:spcPct val="30000"/>
              </a:spcBef>
              <a:buFont typeface="Wingdings" panose="05000000000000000000" pitchFamily="2" charset="2"/>
              <a:buChar char="Ø"/>
            </a:pP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管式</a:t>
            </a:r>
            <a:r>
              <a:rPr lang="en-US" altLang="zh-CN" b="1" dirty="0">
                <a:latin typeface="微软雅黑" panose="020B0503020204020204" pitchFamily="34" charset="-122"/>
                <a:ea typeface="微软雅黑" panose="020B0503020204020204" pitchFamily="34" charset="-122"/>
              </a:rPr>
              <a:t>【</a:t>
            </a:r>
            <a:r>
              <a:rPr lang="zh-CN" altLang="en-US" b="1" u="sng" dirty="0">
                <a:solidFill>
                  <a:srgbClr val="009900"/>
                </a:solidFill>
                <a:effectLst>
                  <a:outerShdw blurRad="38100" dist="38100" dir="2700000" algn="tl">
                    <a:srgbClr val="000000">
                      <a:alpha val="43137"/>
                    </a:srgbClr>
                  </a:outerShdw>
                </a:effectLst>
                <a:latin typeface="微软雅黑" panose="020B0503020204020204" pitchFamily="34" charset="-122"/>
                <a:ea typeface="微软雅黑" panose="020B0503020204020204" pitchFamily="34" charset="-122"/>
              </a:rPr>
              <a:t>应用很少</a:t>
            </a:r>
            <a:r>
              <a:rPr lang="en-US" altLang="zh-CN" b="1" dirty="0">
                <a:latin typeface="微软雅黑" panose="020B0503020204020204" pitchFamily="34" charset="-122"/>
                <a:ea typeface="微软雅黑" panose="020B0503020204020204" pitchFamily="34" charset="-122"/>
              </a:rPr>
              <a:t>】</a:t>
            </a:r>
          </a:p>
          <a:p>
            <a:pPr lvl="1" eaLnBrk="1" hangingPunct="1">
              <a:spcBef>
                <a:spcPct val="30000"/>
              </a:spcBef>
              <a:buFont typeface="Wingdings" panose="05000000000000000000" pitchFamily="2" charset="2"/>
              <a:buChar char="Ø"/>
            </a:pP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板式 </a:t>
            </a:r>
            <a:r>
              <a:rPr lang="en-US" altLang="zh-CN" b="1" dirty="0">
                <a:latin typeface="微软雅黑" panose="020B0503020204020204" pitchFamily="34" charset="-122"/>
                <a:ea typeface="微软雅黑" panose="020B0503020204020204" pitchFamily="34" charset="-122"/>
              </a:rPr>
              <a:t>【</a:t>
            </a:r>
            <a:r>
              <a:rPr lang="zh-CN" altLang="en-US" b="1" u="sng" dirty="0">
                <a:solidFill>
                  <a:srgbClr val="C00000"/>
                </a:solidFill>
                <a:effectLst>
                  <a:outerShdw blurRad="38100" dist="38100" dir="2700000" algn="tl">
                    <a:srgbClr val="000000">
                      <a:alpha val="43137"/>
                    </a:srgbClr>
                  </a:outerShdw>
                </a:effectLst>
                <a:latin typeface="微软雅黑" panose="020B0503020204020204" pitchFamily="34" charset="-122"/>
                <a:ea typeface="微软雅黑" panose="020B0503020204020204" pitchFamily="34" charset="-122"/>
              </a:rPr>
              <a:t>主流应用</a:t>
            </a:r>
            <a:r>
              <a:rPr lang="en-US" altLang="zh-CN" b="1" dirty="0">
                <a:latin typeface="微软雅黑" panose="020B0503020204020204" pitchFamily="34" charset="-122"/>
                <a:ea typeface="微软雅黑" panose="020B0503020204020204" pitchFamily="34" charset="-122"/>
              </a:rPr>
              <a:t>】</a:t>
            </a:r>
          </a:p>
          <a:p>
            <a:pPr lvl="1" eaLnBrk="1" hangingPunct="1">
              <a:spcBef>
                <a:spcPct val="30000"/>
              </a:spcBef>
              <a:buFont typeface="Wingdings" panose="05000000000000000000" pitchFamily="2" charset="2"/>
              <a:buChar char="Ø"/>
            </a:pPr>
            <a:r>
              <a:rPr lang="en-US" altLang="zh-CN" b="1" dirty="0">
                <a:latin typeface="微软雅黑" panose="020B0503020204020204" pitchFamily="34" charset="-122"/>
                <a:ea typeface="微软雅黑" panose="020B0503020204020204" pitchFamily="34" charset="-122"/>
              </a:rPr>
              <a:t> </a:t>
            </a:r>
            <a:r>
              <a:rPr lang="zh-CN" altLang="en-US" b="1" dirty="0">
                <a:solidFill>
                  <a:srgbClr val="0000FF"/>
                </a:solidFill>
                <a:latin typeface="微软雅黑" panose="020B0503020204020204" pitchFamily="34" charset="-122"/>
                <a:ea typeface="微软雅黑" panose="020B0503020204020204" pitchFamily="34" charset="-122"/>
              </a:rPr>
              <a:t>叠加式</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a:t>
            </a:r>
            <a:r>
              <a:rPr lang="zh-CN" altLang="en-US" b="1" u="sng" dirty="0">
                <a:solidFill>
                  <a:srgbClr val="009900"/>
                </a:solidFill>
                <a:effectLst>
                  <a:outerShdw blurRad="38100" dist="38100" dir="2700000" algn="tl">
                    <a:srgbClr val="000000">
                      <a:alpha val="43137"/>
                    </a:srgbClr>
                  </a:outerShdw>
                </a:effectLst>
                <a:latin typeface="微软雅黑" panose="020B0503020204020204" pitchFamily="34" charset="-122"/>
                <a:ea typeface="微软雅黑" panose="020B0503020204020204" pitchFamily="34" charset="-122"/>
              </a:rPr>
              <a:t>应用很少</a:t>
            </a:r>
            <a:r>
              <a:rPr lang="en-US" altLang="zh-CN" b="1" dirty="0">
                <a:latin typeface="微软雅黑" panose="020B0503020204020204" pitchFamily="34" charset="-122"/>
                <a:ea typeface="微软雅黑" panose="020B0503020204020204" pitchFamily="34" charset="-122"/>
              </a:rPr>
              <a:t>】</a:t>
            </a:r>
          </a:p>
          <a:p>
            <a:pPr lvl="1" eaLnBrk="1" hangingPunct="1">
              <a:spcBef>
                <a:spcPct val="30000"/>
              </a:spcBef>
              <a:buFont typeface="Wingdings" panose="05000000000000000000" pitchFamily="2" charset="2"/>
              <a:buChar char="Ø"/>
            </a:pPr>
            <a:r>
              <a:rPr lang="en-US" altLang="zh-CN" b="1" dirty="0">
                <a:solidFill>
                  <a:srgbClr val="0000FF"/>
                </a:solidFill>
                <a:latin typeface="微软雅黑" panose="020B0503020204020204" pitchFamily="34" charset="-122"/>
                <a:ea typeface="微软雅黑" panose="020B0503020204020204" pitchFamily="34" charset="-122"/>
              </a:rPr>
              <a:t> </a:t>
            </a:r>
            <a:r>
              <a:rPr lang="zh-CN" altLang="en-US" b="1" dirty="0">
                <a:solidFill>
                  <a:srgbClr val="0000FF"/>
                </a:solidFill>
                <a:latin typeface="微软雅黑" panose="020B0503020204020204" pitchFamily="34" charset="-122"/>
                <a:ea typeface="微软雅黑" panose="020B0503020204020204" pitchFamily="34" charset="-122"/>
              </a:rPr>
              <a:t>盖板插装式 </a:t>
            </a:r>
            <a:r>
              <a:rPr lang="en-US" altLang="zh-CN" b="1" dirty="0">
                <a:latin typeface="微软雅黑" panose="020B0503020204020204" pitchFamily="34" charset="-122"/>
                <a:ea typeface="微软雅黑" panose="020B0503020204020204" pitchFamily="34" charset="-122"/>
              </a:rPr>
              <a:t>【</a:t>
            </a:r>
            <a:r>
              <a:rPr lang="zh-CN" altLang="en-US" b="1" u="sng" dirty="0">
                <a:solidFill>
                  <a:srgbClr val="009900"/>
                </a:solidFill>
                <a:effectLst>
                  <a:outerShdw blurRad="38100" dist="38100" dir="2700000" algn="tl">
                    <a:srgbClr val="000000">
                      <a:alpha val="43137"/>
                    </a:srgbClr>
                  </a:outerShdw>
                </a:effectLst>
                <a:latin typeface="微软雅黑" panose="020B0503020204020204" pitchFamily="34" charset="-122"/>
                <a:ea typeface="微软雅黑" panose="020B0503020204020204" pitchFamily="34" charset="-122"/>
              </a:rPr>
              <a:t>大流量场合应用</a:t>
            </a:r>
            <a:r>
              <a:rPr lang="en-US" altLang="zh-CN" b="1" dirty="0">
                <a:latin typeface="微软雅黑" panose="020B0503020204020204" pitchFamily="34" charset="-122"/>
                <a:ea typeface="微软雅黑" panose="020B0503020204020204" pitchFamily="34" charset="-122"/>
              </a:rPr>
              <a:t>】</a:t>
            </a:r>
          </a:p>
          <a:p>
            <a:pPr lvl="1" eaLnBrk="1" hangingPunct="1">
              <a:spcBef>
                <a:spcPct val="30000"/>
              </a:spcBef>
              <a:buFont typeface="Wingdings" panose="05000000000000000000" pitchFamily="2" charset="2"/>
              <a:buChar char="Ø"/>
            </a:pPr>
            <a:r>
              <a:rPr lang="en-US" altLang="zh-CN" b="1" dirty="0">
                <a:latin typeface="微软雅黑" panose="020B0503020204020204" pitchFamily="34" charset="-122"/>
                <a:ea typeface="微软雅黑" panose="020B0503020204020204" pitchFamily="34" charset="-122"/>
              </a:rPr>
              <a:t> </a:t>
            </a:r>
            <a:r>
              <a:rPr lang="zh-CN" altLang="en-US" b="1" dirty="0">
                <a:solidFill>
                  <a:srgbClr val="0000FF"/>
                </a:solidFill>
                <a:latin typeface="微软雅黑" panose="020B0503020204020204" pitchFamily="34" charset="-122"/>
                <a:ea typeface="微软雅黑" panose="020B0503020204020204" pitchFamily="34" charset="-122"/>
              </a:rPr>
              <a:t>螺纹插装式 </a:t>
            </a:r>
            <a:r>
              <a:rPr lang="en-US" altLang="zh-CN" b="1" dirty="0">
                <a:latin typeface="微软雅黑" panose="020B0503020204020204" pitchFamily="34" charset="-122"/>
                <a:ea typeface="微软雅黑" panose="020B0503020204020204" pitchFamily="34" charset="-122"/>
              </a:rPr>
              <a:t>【</a:t>
            </a:r>
            <a:r>
              <a:rPr lang="zh-CN" altLang="en-US" b="1" u="sng" dirty="0">
                <a:solidFill>
                  <a:srgbClr val="C00000"/>
                </a:solidFill>
                <a:effectLst>
                  <a:outerShdw blurRad="38100" dist="38100" dir="2700000" algn="tl">
                    <a:srgbClr val="000000">
                      <a:alpha val="43137"/>
                    </a:srgbClr>
                  </a:outerShdw>
                </a:effectLst>
                <a:latin typeface="微软雅黑" panose="020B0503020204020204" pitchFamily="34" charset="-122"/>
                <a:ea typeface="微软雅黑" panose="020B0503020204020204" pitchFamily="34" charset="-122"/>
              </a:rPr>
              <a:t>主流应用</a:t>
            </a:r>
            <a:r>
              <a:rPr lang="en-US" altLang="zh-CN" b="1" dirty="0">
                <a:latin typeface="微软雅黑" panose="020B0503020204020204" pitchFamily="34" charset="-122"/>
                <a:ea typeface="微软雅黑" panose="020B0503020204020204" pitchFamily="34" charset="-122"/>
              </a:rPr>
              <a:t>】</a:t>
            </a:r>
          </a:p>
          <a:p>
            <a:pPr lvl="1" eaLnBrk="1" hangingPunct="1">
              <a:spcBef>
                <a:spcPct val="30000"/>
              </a:spcBef>
              <a:buFont typeface="Wingdings" panose="05000000000000000000" pitchFamily="2" charset="2"/>
              <a:buChar char="Ø"/>
            </a:pP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片式（多路阀）</a:t>
            </a:r>
            <a:r>
              <a:rPr lang="en-US" altLang="zh-CN" b="1" dirty="0">
                <a:latin typeface="微软雅黑" panose="020B0503020204020204" pitchFamily="34" charset="-122"/>
                <a:ea typeface="微软雅黑" panose="020B0503020204020204" pitchFamily="34" charset="-122"/>
              </a:rPr>
              <a:t>【</a:t>
            </a:r>
            <a:r>
              <a:rPr lang="zh-CN" altLang="en-US" b="1" u="sng" dirty="0">
                <a:solidFill>
                  <a:srgbClr val="C00000"/>
                </a:solidFill>
                <a:effectLst>
                  <a:outerShdw blurRad="38100" dist="38100" dir="2700000" algn="tl">
                    <a:srgbClr val="000000">
                      <a:alpha val="43137"/>
                    </a:srgbClr>
                  </a:outerShdw>
                </a:effectLst>
                <a:latin typeface="微软雅黑" panose="020B0503020204020204" pitchFamily="34" charset="-122"/>
                <a:ea typeface="微软雅黑" panose="020B0503020204020204" pitchFamily="34" charset="-122"/>
              </a:rPr>
              <a:t>主流应用</a:t>
            </a:r>
            <a:r>
              <a:rPr lang="en-US" altLang="zh-CN" b="1" dirty="0">
                <a:latin typeface="微软雅黑" panose="020B0503020204020204" pitchFamily="34" charset="-122"/>
                <a:ea typeface="微软雅黑" panose="020B0503020204020204" pitchFamily="34" charset="-122"/>
              </a:rPr>
              <a:t>】</a:t>
            </a:r>
          </a:p>
          <a:p>
            <a:pPr lvl="1" eaLnBrk="1" hangingPunct="1">
              <a:spcBef>
                <a:spcPct val="30000"/>
              </a:spcBef>
              <a:buFont typeface="Wingdings" panose="05000000000000000000" pitchFamily="2" charset="2"/>
              <a:buChar char="Ø"/>
            </a:pP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整体式（多路阀）</a:t>
            </a:r>
            <a:r>
              <a:rPr lang="en-US" altLang="zh-CN" b="1" dirty="0">
                <a:latin typeface="微软雅黑" panose="020B0503020204020204" pitchFamily="34" charset="-122"/>
                <a:ea typeface="微软雅黑" panose="020B0503020204020204" pitchFamily="34" charset="-122"/>
              </a:rPr>
              <a:t>【</a:t>
            </a:r>
            <a:r>
              <a:rPr lang="zh-CN" altLang="en-US" b="1" u="sng" dirty="0">
                <a:solidFill>
                  <a:srgbClr val="009900"/>
                </a:solidFill>
                <a:effectLst>
                  <a:outerShdw blurRad="38100" dist="38100" dir="2700000" algn="tl">
                    <a:srgbClr val="000000">
                      <a:alpha val="43137"/>
                    </a:srgbClr>
                  </a:outerShdw>
                </a:effectLst>
                <a:latin typeface="微软雅黑" panose="020B0503020204020204" pitchFamily="34" charset="-122"/>
                <a:ea typeface="微软雅黑" panose="020B0503020204020204" pitchFamily="34" charset="-122"/>
              </a:rPr>
              <a:t>紧凑场合应用</a:t>
            </a:r>
            <a:r>
              <a:rPr lang="en-US" altLang="zh-CN" b="1" dirty="0">
                <a:latin typeface="微软雅黑" panose="020B0503020204020204" pitchFamily="34" charset="-122"/>
                <a:ea typeface="微软雅黑" panose="020B0503020204020204" pitchFamily="34" charset="-122"/>
              </a:rPr>
              <a:t>】</a:t>
            </a:r>
            <a:endParaRPr lang="zh-CN" altLang="de-DE" b="1" dirty="0">
              <a:latin typeface="微软雅黑" panose="020B0503020204020204" pitchFamily="34" charset="-122"/>
              <a:ea typeface="微软雅黑" panose="020B0503020204020204" pitchFamily="34" charset="-122"/>
            </a:endParaRPr>
          </a:p>
        </p:txBody>
      </p:sp>
      <p:cxnSp>
        <p:nvCxnSpPr>
          <p:cNvPr id="14" name="直接连接符 13">
            <a:extLst>
              <a:ext uri="{FF2B5EF4-FFF2-40B4-BE49-F238E27FC236}">
                <a16:creationId xmlns:a16="http://schemas.microsoft.com/office/drawing/2014/main" id="{89B74B11-DAA3-4E4D-A6BC-FDE1AB5BCA7A}"/>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809811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D88DB5-EDCF-E186-0902-11FB60EA70D6}"/>
            </a:ext>
          </a:extLst>
        </p:cNvPr>
        <p:cNvGrpSpPr/>
        <p:nvPr/>
      </p:nvGrpSpPr>
      <p:grpSpPr>
        <a:xfrm>
          <a:off x="0" y="0"/>
          <a:ext cx="0" cy="0"/>
          <a:chOff x="0" y="0"/>
          <a:chExt cx="0" cy="0"/>
        </a:xfrm>
      </p:grpSpPr>
      <p:pic>
        <p:nvPicPr>
          <p:cNvPr id="8" name="图片 7">
            <a:extLst>
              <a:ext uri="{FF2B5EF4-FFF2-40B4-BE49-F238E27FC236}">
                <a16:creationId xmlns:a16="http://schemas.microsoft.com/office/drawing/2014/main" id="{46C064FF-CE74-283A-308E-3D371249B8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FB072A92-C65D-2786-82DD-D9C372572606}"/>
              </a:ext>
            </a:extLst>
          </p:cNvPr>
          <p:cNvSpPr/>
          <p:nvPr/>
        </p:nvSpPr>
        <p:spPr>
          <a:xfrm>
            <a:off x="0" y="174524"/>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Text Box 9">
            <a:extLst>
              <a:ext uri="{FF2B5EF4-FFF2-40B4-BE49-F238E27FC236}">
                <a16:creationId xmlns:a16="http://schemas.microsoft.com/office/drawing/2014/main" id="{A97F2382-8E09-42B0-ADAA-982944B99C9A}"/>
              </a:ext>
            </a:extLst>
          </p:cNvPr>
          <p:cNvSpPr txBox="1">
            <a:spLocks noChangeArrowheads="1"/>
          </p:cNvSpPr>
          <p:nvPr/>
        </p:nvSpPr>
        <p:spPr bwMode="auto">
          <a:xfrm>
            <a:off x="550246" y="1270209"/>
            <a:ext cx="8569325" cy="50044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20000"/>
              </a:spcBef>
              <a:buChar char="•"/>
              <a:defRPr sz="3200">
                <a:solidFill>
                  <a:schemeClr val="tx1"/>
                </a:solidFill>
                <a:latin typeface="Arial" panose="020B0604020202020204" pitchFamily="34" charset="0"/>
                <a:cs typeface="Arial" panose="020B0604020202020204" pitchFamily="34" charset="0"/>
              </a:defRPr>
            </a:lvl1pPr>
            <a:lvl2pPr marL="1085850" indent="-342900" eaLnBrk="0" hangingPunct="0">
              <a:spcBef>
                <a:spcPct val="20000"/>
              </a:spcBef>
              <a:buChar char="–"/>
              <a:defRPr sz="2800">
                <a:solidFill>
                  <a:schemeClr val="tx1"/>
                </a:solidFill>
                <a:latin typeface="Arial" panose="020B0604020202020204" pitchFamily="34" charset="0"/>
                <a:cs typeface="Arial" panose="020B0604020202020204" pitchFamily="34" charset="0"/>
              </a:defRPr>
            </a:lvl2pPr>
            <a:lvl3pPr marL="1143000" indent="-228600" eaLnBrk="0" hangingPunct="0">
              <a:spcBef>
                <a:spcPct val="20000"/>
              </a:spcBef>
              <a:buChar char="•"/>
              <a:defRPr sz="2400">
                <a:solidFill>
                  <a:schemeClr val="tx1"/>
                </a:solidFill>
                <a:latin typeface="Arial" panose="020B0604020202020204" pitchFamily="34" charset="0"/>
                <a:cs typeface="Arial" panose="020B0604020202020204" pitchFamily="34" charset="0"/>
              </a:defRPr>
            </a:lvl3pPr>
            <a:lvl4pPr marL="1600200" indent="-228600" eaLnBrk="0" hangingPunct="0">
              <a:spcBef>
                <a:spcPct val="20000"/>
              </a:spcBef>
              <a:buChar char="–"/>
              <a:defRPr sz="2000">
                <a:solidFill>
                  <a:schemeClr val="tx1"/>
                </a:solidFill>
                <a:latin typeface="Arial" panose="020B0604020202020204" pitchFamily="34" charset="0"/>
                <a:cs typeface="Arial" panose="020B0604020202020204" pitchFamily="34" charset="0"/>
              </a:defRPr>
            </a:lvl4pPr>
            <a:lvl5pPr marL="2057400" indent="-228600" eaLnBrk="0" hangingPunct="0">
              <a:spcBef>
                <a:spcPct val="20000"/>
              </a:spcBef>
              <a:buChar char="»"/>
              <a:defRPr sz="20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9pPr>
          </a:lstStyle>
          <a:p>
            <a:pPr eaLnBrk="1" hangingPunct="1">
              <a:spcBef>
                <a:spcPct val="30000"/>
              </a:spcBef>
              <a:buFont typeface="Wingdings" panose="05000000000000000000" pitchFamily="2" charset="2"/>
              <a:buChar char="q"/>
            </a:pPr>
            <a:r>
              <a:rPr lang="zh-CN" altLang="en-US" sz="2800" b="1" dirty="0">
                <a:solidFill>
                  <a:srgbClr val="C00000"/>
                </a:solidFill>
                <a:effectLst>
                  <a:outerShdw blurRad="38100" dist="38100" dir="2700000" algn="tl">
                    <a:srgbClr val="000000">
                      <a:alpha val="43137"/>
                    </a:srgbClr>
                  </a:outerShdw>
                </a:effectLst>
                <a:latin typeface="微软雅黑" panose="020B0503020204020204" pitchFamily="34" charset="-122"/>
                <a:ea typeface="微软雅黑" panose="020B0503020204020204" pitchFamily="34" charset="-122"/>
              </a:rPr>
              <a:t> 液压阀的联接方式</a:t>
            </a:r>
            <a:endParaRPr lang="en-US" altLang="zh-CN" sz="2800" b="1" dirty="0">
              <a:solidFill>
                <a:srgbClr val="C00000"/>
              </a:solidFill>
              <a:effectLst>
                <a:outerShdw blurRad="38100" dist="38100" dir="2700000" algn="tl">
                  <a:srgbClr val="000000">
                    <a:alpha val="43137"/>
                  </a:srgbClr>
                </a:outerShdw>
              </a:effectLst>
              <a:latin typeface="微软雅黑" panose="020B0503020204020204" pitchFamily="34" charset="-122"/>
              <a:ea typeface="微软雅黑" panose="020B0503020204020204" pitchFamily="34" charset="-122"/>
            </a:endParaRPr>
          </a:p>
          <a:p>
            <a:pPr eaLnBrk="1" hangingPunct="1">
              <a:spcBef>
                <a:spcPct val="30000"/>
              </a:spcBef>
              <a:buFont typeface="Wingdings" panose="05000000000000000000" pitchFamily="2" charset="2"/>
              <a:buChar char="q"/>
            </a:pPr>
            <a:endParaRPr lang="en-US" altLang="zh-CN" sz="2800" b="1" dirty="0">
              <a:latin typeface="微软雅黑" panose="020B0503020204020204" pitchFamily="34" charset="-122"/>
              <a:ea typeface="微软雅黑" panose="020B0503020204020204" pitchFamily="34" charset="-122"/>
            </a:endParaRPr>
          </a:p>
          <a:p>
            <a:pPr lvl="1" eaLnBrk="1" hangingPunct="1">
              <a:spcBef>
                <a:spcPct val="30000"/>
              </a:spcBef>
              <a:buFont typeface="Wingdings" panose="05000000000000000000" pitchFamily="2" charset="2"/>
              <a:buChar char="Ø"/>
            </a:pP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管式</a:t>
            </a:r>
            <a:r>
              <a:rPr lang="en-US" altLang="zh-CN" b="1" dirty="0">
                <a:latin typeface="微软雅黑" panose="020B0503020204020204" pitchFamily="34" charset="-122"/>
                <a:ea typeface="微软雅黑" panose="020B0503020204020204" pitchFamily="34" charset="-122"/>
              </a:rPr>
              <a:t>【</a:t>
            </a:r>
            <a:r>
              <a:rPr lang="zh-CN" altLang="en-US" b="1" u="sng" dirty="0">
                <a:solidFill>
                  <a:srgbClr val="009900"/>
                </a:solidFill>
                <a:effectLst>
                  <a:outerShdw blurRad="38100" dist="38100" dir="2700000" algn="tl">
                    <a:srgbClr val="000000">
                      <a:alpha val="43137"/>
                    </a:srgbClr>
                  </a:outerShdw>
                </a:effectLst>
                <a:latin typeface="微软雅黑" panose="020B0503020204020204" pitchFamily="34" charset="-122"/>
                <a:ea typeface="微软雅黑" panose="020B0503020204020204" pitchFamily="34" charset="-122"/>
              </a:rPr>
              <a:t>应用很少</a:t>
            </a:r>
            <a:r>
              <a:rPr lang="en-US" altLang="zh-CN" b="1" dirty="0">
                <a:latin typeface="微软雅黑" panose="020B0503020204020204" pitchFamily="34" charset="-122"/>
                <a:ea typeface="微软雅黑" panose="020B0503020204020204" pitchFamily="34" charset="-122"/>
              </a:rPr>
              <a:t>】</a:t>
            </a:r>
          </a:p>
          <a:p>
            <a:pPr lvl="1" eaLnBrk="1" hangingPunct="1">
              <a:spcBef>
                <a:spcPct val="30000"/>
              </a:spcBef>
              <a:buFont typeface="Wingdings" panose="05000000000000000000" pitchFamily="2" charset="2"/>
              <a:buChar char="Ø"/>
            </a:pP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板式 </a:t>
            </a:r>
            <a:r>
              <a:rPr lang="en-US" altLang="zh-CN" b="1" dirty="0">
                <a:latin typeface="微软雅黑" panose="020B0503020204020204" pitchFamily="34" charset="-122"/>
                <a:ea typeface="微软雅黑" panose="020B0503020204020204" pitchFamily="34" charset="-122"/>
              </a:rPr>
              <a:t>【</a:t>
            </a:r>
            <a:r>
              <a:rPr lang="zh-CN" altLang="en-US" b="1" u="sng" dirty="0">
                <a:solidFill>
                  <a:srgbClr val="C00000"/>
                </a:solidFill>
                <a:effectLst>
                  <a:outerShdw blurRad="38100" dist="38100" dir="2700000" algn="tl">
                    <a:srgbClr val="000000">
                      <a:alpha val="43137"/>
                    </a:srgbClr>
                  </a:outerShdw>
                </a:effectLst>
                <a:latin typeface="微软雅黑" panose="020B0503020204020204" pitchFamily="34" charset="-122"/>
                <a:ea typeface="微软雅黑" panose="020B0503020204020204" pitchFamily="34" charset="-122"/>
              </a:rPr>
              <a:t>主流应用</a:t>
            </a:r>
            <a:r>
              <a:rPr lang="en-US" altLang="zh-CN" b="1" dirty="0">
                <a:latin typeface="微软雅黑" panose="020B0503020204020204" pitchFamily="34" charset="-122"/>
                <a:ea typeface="微软雅黑" panose="020B0503020204020204" pitchFamily="34" charset="-122"/>
              </a:rPr>
              <a:t>】</a:t>
            </a:r>
          </a:p>
          <a:p>
            <a:pPr lvl="1" eaLnBrk="1" hangingPunct="1">
              <a:spcBef>
                <a:spcPct val="30000"/>
              </a:spcBef>
              <a:buFont typeface="Wingdings" panose="05000000000000000000" pitchFamily="2" charset="2"/>
              <a:buChar char="Ø"/>
            </a:pPr>
            <a:r>
              <a:rPr lang="en-US" altLang="zh-CN" b="1" dirty="0">
                <a:latin typeface="微软雅黑" panose="020B0503020204020204" pitchFamily="34" charset="-122"/>
                <a:ea typeface="微软雅黑" panose="020B0503020204020204" pitchFamily="34" charset="-122"/>
              </a:rPr>
              <a:t> </a:t>
            </a:r>
            <a:r>
              <a:rPr lang="zh-CN" altLang="en-US" b="1" dirty="0">
                <a:solidFill>
                  <a:srgbClr val="0000FF"/>
                </a:solidFill>
                <a:latin typeface="微软雅黑" panose="020B0503020204020204" pitchFamily="34" charset="-122"/>
                <a:ea typeface="微软雅黑" panose="020B0503020204020204" pitchFamily="34" charset="-122"/>
              </a:rPr>
              <a:t>叠加式</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a:t>
            </a:r>
            <a:r>
              <a:rPr lang="zh-CN" altLang="en-US" b="1" u="sng" dirty="0">
                <a:solidFill>
                  <a:srgbClr val="009900"/>
                </a:solidFill>
                <a:effectLst>
                  <a:outerShdw blurRad="38100" dist="38100" dir="2700000" algn="tl">
                    <a:srgbClr val="000000">
                      <a:alpha val="43137"/>
                    </a:srgbClr>
                  </a:outerShdw>
                </a:effectLst>
                <a:latin typeface="微软雅黑" panose="020B0503020204020204" pitchFamily="34" charset="-122"/>
                <a:ea typeface="微软雅黑" panose="020B0503020204020204" pitchFamily="34" charset="-122"/>
              </a:rPr>
              <a:t>应用很少</a:t>
            </a:r>
            <a:r>
              <a:rPr lang="en-US" altLang="zh-CN" b="1" dirty="0">
                <a:latin typeface="微软雅黑" panose="020B0503020204020204" pitchFamily="34" charset="-122"/>
                <a:ea typeface="微软雅黑" panose="020B0503020204020204" pitchFamily="34" charset="-122"/>
              </a:rPr>
              <a:t>】</a:t>
            </a:r>
          </a:p>
          <a:p>
            <a:pPr lvl="1" eaLnBrk="1" hangingPunct="1">
              <a:spcBef>
                <a:spcPct val="30000"/>
              </a:spcBef>
              <a:buFont typeface="Wingdings" panose="05000000000000000000" pitchFamily="2" charset="2"/>
              <a:buChar char="Ø"/>
            </a:pPr>
            <a:r>
              <a:rPr lang="en-US" altLang="zh-CN" b="1" dirty="0">
                <a:solidFill>
                  <a:srgbClr val="0000FF"/>
                </a:solidFill>
                <a:latin typeface="微软雅黑" panose="020B0503020204020204" pitchFamily="34" charset="-122"/>
                <a:ea typeface="微软雅黑" panose="020B0503020204020204" pitchFamily="34" charset="-122"/>
              </a:rPr>
              <a:t> </a:t>
            </a:r>
            <a:r>
              <a:rPr lang="zh-CN" altLang="en-US" b="1" dirty="0">
                <a:solidFill>
                  <a:srgbClr val="0000FF"/>
                </a:solidFill>
                <a:latin typeface="微软雅黑" panose="020B0503020204020204" pitchFamily="34" charset="-122"/>
                <a:ea typeface="微软雅黑" panose="020B0503020204020204" pitchFamily="34" charset="-122"/>
              </a:rPr>
              <a:t>盖板插装式 </a:t>
            </a:r>
            <a:r>
              <a:rPr lang="en-US" altLang="zh-CN" b="1" dirty="0">
                <a:latin typeface="微软雅黑" panose="020B0503020204020204" pitchFamily="34" charset="-122"/>
                <a:ea typeface="微软雅黑" panose="020B0503020204020204" pitchFamily="34" charset="-122"/>
              </a:rPr>
              <a:t>【</a:t>
            </a:r>
            <a:r>
              <a:rPr lang="zh-CN" altLang="en-US" b="1" u="sng" dirty="0">
                <a:solidFill>
                  <a:srgbClr val="009900"/>
                </a:solidFill>
                <a:effectLst>
                  <a:outerShdw blurRad="38100" dist="38100" dir="2700000" algn="tl">
                    <a:srgbClr val="000000">
                      <a:alpha val="43137"/>
                    </a:srgbClr>
                  </a:outerShdw>
                </a:effectLst>
                <a:latin typeface="微软雅黑" panose="020B0503020204020204" pitchFamily="34" charset="-122"/>
                <a:ea typeface="微软雅黑" panose="020B0503020204020204" pitchFamily="34" charset="-122"/>
              </a:rPr>
              <a:t>大流量场合应用</a:t>
            </a:r>
            <a:r>
              <a:rPr lang="en-US" altLang="zh-CN" b="1" dirty="0">
                <a:latin typeface="微软雅黑" panose="020B0503020204020204" pitchFamily="34" charset="-122"/>
                <a:ea typeface="微软雅黑" panose="020B0503020204020204" pitchFamily="34" charset="-122"/>
              </a:rPr>
              <a:t>】</a:t>
            </a:r>
          </a:p>
          <a:p>
            <a:pPr lvl="1" eaLnBrk="1" hangingPunct="1">
              <a:spcBef>
                <a:spcPct val="30000"/>
              </a:spcBef>
              <a:buFont typeface="Wingdings" panose="05000000000000000000" pitchFamily="2" charset="2"/>
              <a:buChar char="Ø"/>
            </a:pPr>
            <a:r>
              <a:rPr lang="en-US" altLang="zh-CN" b="1" dirty="0">
                <a:latin typeface="微软雅黑" panose="020B0503020204020204" pitchFamily="34" charset="-122"/>
                <a:ea typeface="微软雅黑" panose="020B0503020204020204" pitchFamily="34" charset="-122"/>
              </a:rPr>
              <a:t> </a:t>
            </a:r>
            <a:r>
              <a:rPr lang="zh-CN" altLang="en-US" b="1" dirty="0">
                <a:solidFill>
                  <a:srgbClr val="0000FF"/>
                </a:solidFill>
                <a:latin typeface="微软雅黑" panose="020B0503020204020204" pitchFamily="34" charset="-122"/>
                <a:ea typeface="微软雅黑" panose="020B0503020204020204" pitchFamily="34" charset="-122"/>
              </a:rPr>
              <a:t>螺纹插装式 </a:t>
            </a:r>
            <a:r>
              <a:rPr lang="en-US" altLang="zh-CN" b="1" dirty="0">
                <a:latin typeface="微软雅黑" panose="020B0503020204020204" pitchFamily="34" charset="-122"/>
                <a:ea typeface="微软雅黑" panose="020B0503020204020204" pitchFamily="34" charset="-122"/>
              </a:rPr>
              <a:t>【</a:t>
            </a:r>
            <a:r>
              <a:rPr lang="zh-CN" altLang="en-US" b="1" u="sng" dirty="0">
                <a:solidFill>
                  <a:srgbClr val="C00000"/>
                </a:solidFill>
                <a:effectLst>
                  <a:outerShdw blurRad="38100" dist="38100" dir="2700000" algn="tl">
                    <a:srgbClr val="000000">
                      <a:alpha val="43137"/>
                    </a:srgbClr>
                  </a:outerShdw>
                </a:effectLst>
                <a:latin typeface="微软雅黑" panose="020B0503020204020204" pitchFamily="34" charset="-122"/>
                <a:ea typeface="微软雅黑" panose="020B0503020204020204" pitchFamily="34" charset="-122"/>
              </a:rPr>
              <a:t>主流应用</a:t>
            </a:r>
            <a:r>
              <a:rPr lang="en-US" altLang="zh-CN" b="1" dirty="0">
                <a:latin typeface="微软雅黑" panose="020B0503020204020204" pitchFamily="34" charset="-122"/>
                <a:ea typeface="微软雅黑" panose="020B0503020204020204" pitchFamily="34" charset="-122"/>
              </a:rPr>
              <a:t>】</a:t>
            </a:r>
          </a:p>
          <a:p>
            <a:pPr lvl="1" eaLnBrk="1" hangingPunct="1">
              <a:spcBef>
                <a:spcPct val="30000"/>
              </a:spcBef>
              <a:buFont typeface="Wingdings" panose="05000000000000000000" pitchFamily="2" charset="2"/>
              <a:buChar char="Ø"/>
            </a:pP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片式（多路阀）</a:t>
            </a:r>
            <a:r>
              <a:rPr lang="en-US" altLang="zh-CN" b="1" dirty="0">
                <a:latin typeface="微软雅黑" panose="020B0503020204020204" pitchFamily="34" charset="-122"/>
                <a:ea typeface="微软雅黑" panose="020B0503020204020204" pitchFamily="34" charset="-122"/>
              </a:rPr>
              <a:t>【</a:t>
            </a:r>
            <a:r>
              <a:rPr lang="zh-CN" altLang="en-US" b="1" u="sng" dirty="0">
                <a:solidFill>
                  <a:srgbClr val="C00000"/>
                </a:solidFill>
                <a:effectLst>
                  <a:outerShdw blurRad="38100" dist="38100" dir="2700000" algn="tl">
                    <a:srgbClr val="000000">
                      <a:alpha val="43137"/>
                    </a:srgbClr>
                  </a:outerShdw>
                </a:effectLst>
                <a:latin typeface="微软雅黑" panose="020B0503020204020204" pitchFamily="34" charset="-122"/>
                <a:ea typeface="微软雅黑" panose="020B0503020204020204" pitchFamily="34" charset="-122"/>
              </a:rPr>
              <a:t>主流应用</a:t>
            </a:r>
            <a:r>
              <a:rPr lang="en-US" altLang="zh-CN" b="1" dirty="0">
                <a:latin typeface="微软雅黑" panose="020B0503020204020204" pitchFamily="34" charset="-122"/>
                <a:ea typeface="微软雅黑" panose="020B0503020204020204" pitchFamily="34" charset="-122"/>
              </a:rPr>
              <a:t>】</a:t>
            </a:r>
          </a:p>
          <a:p>
            <a:pPr lvl="1" eaLnBrk="1" hangingPunct="1">
              <a:spcBef>
                <a:spcPct val="30000"/>
              </a:spcBef>
              <a:buFont typeface="Wingdings" panose="05000000000000000000" pitchFamily="2" charset="2"/>
              <a:buChar char="Ø"/>
            </a:pP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整体式（多路阀）</a:t>
            </a:r>
            <a:r>
              <a:rPr lang="en-US" altLang="zh-CN" b="1" dirty="0">
                <a:latin typeface="微软雅黑" panose="020B0503020204020204" pitchFamily="34" charset="-122"/>
                <a:ea typeface="微软雅黑" panose="020B0503020204020204" pitchFamily="34" charset="-122"/>
              </a:rPr>
              <a:t>【</a:t>
            </a:r>
            <a:r>
              <a:rPr lang="zh-CN" altLang="en-US" b="1" u="sng" dirty="0">
                <a:solidFill>
                  <a:srgbClr val="009900"/>
                </a:solidFill>
                <a:effectLst>
                  <a:outerShdw blurRad="38100" dist="38100" dir="2700000" algn="tl">
                    <a:srgbClr val="000000">
                      <a:alpha val="43137"/>
                    </a:srgbClr>
                  </a:outerShdw>
                </a:effectLst>
                <a:latin typeface="微软雅黑" panose="020B0503020204020204" pitchFamily="34" charset="-122"/>
                <a:ea typeface="微软雅黑" panose="020B0503020204020204" pitchFamily="34" charset="-122"/>
              </a:rPr>
              <a:t>紧凑场合应用</a:t>
            </a:r>
            <a:r>
              <a:rPr lang="en-US" altLang="zh-CN" b="1" dirty="0">
                <a:latin typeface="微软雅黑" panose="020B0503020204020204" pitchFamily="34" charset="-122"/>
                <a:ea typeface="微软雅黑" panose="020B0503020204020204" pitchFamily="34" charset="-122"/>
              </a:rPr>
              <a:t>】</a:t>
            </a:r>
            <a:endParaRPr lang="zh-CN" altLang="de-DE" b="1" dirty="0">
              <a:latin typeface="微软雅黑" panose="020B0503020204020204" pitchFamily="34" charset="-122"/>
              <a:ea typeface="微软雅黑" panose="020B0503020204020204" pitchFamily="34" charset="-122"/>
            </a:endParaRPr>
          </a:p>
        </p:txBody>
      </p:sp>
      <p:cxnSp>
        <p:nvCxnSpPr>
          <p:cNvPr id="14" name="直接连接符 13">
            <a:extLst>
              <a:ext uri="{FF2B5EF4-FFF2-40B4-BE49-F238E27FC236}">
                <a16:creationId xmlns:a16="http://schemas.microsoft.com/office/drawing/2014/main" id="{89B74B11-DAA3-4E4D-A6BC-FDE1AB5BCA7A}"/>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7" name="Picture 7" descr="356old">
            <a:extLst>
              <a:ext uri="{FF2B5EF4-FFF2-40B4-BE49-F238E27FC236}">
                <a16:creationId xmlns:a16="http://schemas.microsoft.com/office/drawing/2014/main" id="{103AF5A3-C7E6-42D1-89B7-3910A869CBE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3456" r="7629"/>
          <a:stretch/>
        </p:blipFill>
        <p:spPr bwMode="auto">
          <a:xfrm>
            <a:off x="7588955" y="1158530"/>
            <a:ext cx="4460488" cy="5100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a:extLst>
              <a:ext uri="{FF2B5EF4-FFF2-40B4-BE49-F238E27FC236}">
                <a16:creationId xmlns:a16="http://schemas.microsoft.com/office/drawing/2014/main" id="{9C2C512A-2666-47E2-B693-CA73CD819BB1}"/>
              </a:ext>
            </a:extLst>
          </p:cNvPr>
          <p:cNvSpPr txBox="1"/>
          <p:nvPr/>
        </p:nvSpPr>
        <p:spPr>
          <a:xfrm>
            <a:off x="429656" y="135415"/>
            <a:ext cx="4319626"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cs typeface="Times New Roman" panose="02020603050405020304" pitchFamily="18" charset="0"/>
              </a:rPr>
              <a:t>10.8</a:t>
            </a:r>
            <a:r>
              <a:rPr lang="en-US" altLang="zh-CN" sz="3600" b="1" dirty="0">
                <a:solidFill>
                  <a:srgbClr val="003F88"/>
                </a:solidFill>
                <a:latin typeface="+mn-ea"/>
              </a:rPr>
              <a:t> </a:t>
            </a:r>
            <a:r>
              <a:rPr lang="en-US" altLang="zh-CN" sz="3600" dirty="0">
                <a:solidFill>
                  <a:srgbClr val="336600"/>
                </a:solidFill>
                <a:latin typeface="华文新魏" pitchFamily="2" charset="-122"/>
                <a:ea typeface="华文新魏" pitchFamily="2" charset="-122"/>
              </a:rPr>
              <a:t> </a:t>
            </a:r>
            <a:r>
              <a:rPr lang="zh-CN" altLang="en-US" sz="3600" b="1" dirty="0">
                <a:solidFill>
                  <a:srgbClr val="003F88"/>
                </a:solidFill>
                <a:latin typeface="+mn-ea"/>
              </a:rPr>
              <a:t>联接方式</a:t>
            </a:r>
          </a:p>
        </p:txBody>
      </p:sp>
    </p:spTree>
    <p:extLst>
      <p:ext uri="{BB962C8B-B14F-4D97-AF65-F5344CB8AC3E}">
        <p14:creationId xmlns:p14="http://schemas.microsoft.com/office/powerpoint/2010/main" val="21735721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D88DB5-EDCF-E186-0902-11FB60EA70D6}"/>
            </a:ext>
          </a:extLst>
        </p:cNvPr>
        <p:cNvGrpSpPr/>
        <p:nvPr/>
      </p:nvGrpSpPr>
      <p:grpSpPr>
        <a:xfrm>
          <a:off x="0" y="0"/>
          <a:ext cx="0" cy="0"/>
          <a:chOff x="0" y="0"/>
          <a:chExt cx="0" cy="0"/>
        </a:xfrm>
      </p:grpSpPr>
      <p:pic>
        <p:nvPicPr>
          <p:cNvPr id="8" name="图片 7">
            <a:extLst>
              <a:ext uri="{FF2B5EF4-FFF2-40B4-BE49-F238E27FC236}">
                <a16:creationId xmlns:a16="http://schemas.microsoft.com/office/drawing/2014/main" id="{46C064FF-CE74-283A-308E-3D371249B8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FB072A92-C65D-2786-82DD-D9C372572606}"/>
              </a:ext>
            </a:extLst>
          </p:cNvPr>
          <p:cNvSpPr/>
          <p:nvPr/>
        </p:nvSpPr>
        <p:spPr>
          <a:xfrm>
            <a:off x="0" y="174524"/>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Text Box 9">
            <a:extLst>
              <a:ext uri="{FF2B5EF4-FFF2-40B4-BE49-F238E27FC236}">
                <a16:creationId xmlns:a16="http://schemas.microsoft.com/office/drawing/2014/main" id="{A97F2382-8E09-42B0-ADAA-982944B99C9A}"/>
              </a:ext>
            </a:extLst>
          </p:cNvPr>
          <p:cNvSpPr txBox="1">
            <a:spLocks noChangeArrowheads="1"/>
          </p:cNvSpPr>
          <p:nvPr/>
        </p:nvSpPr>
        <p:spPr bwMode="auto">
          <a:xfrm>
            <a:off x="550246" y="1270209"/>
            <a:ext cx="8569325" cy="50044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20000"/>
              </a:spcBef>
              <a:buChar char="•"/>
              <a:defRPr sz="3200">
                <a:solidFill>
                  <a:schemeClr val="tx1"/>
                </a:solidFill>
                <a:latin typeface="Arial" panose="020B0604020202020204" pitchFamily="34" charset="0"/>
                <a:cs typeface="Arial" panose="020B0604020202020204" pitchFamily="34" charset="0"/>
              </a:defRPr>
            </a:lvl1pPr>
            <a:lvl2pPr marL="1085850" indent="-342900" eaLnBrk="0" hangingPunct="0">
              <a:spcBef>
                <a:spcPct val="20000"/>
              </a:spcBef>
              <a:buChar char="–"/>
              <a:defRPr sz="2800">
                <a:solidFill>
                  <a:schemeClr val="tx1"/>
                </a:solidFill>
                <a:latin typeface="Arial" panose="020B0604020202020204" pitchFamily="34" charset="0"/>
                <a:cs typeface="Arial" panose="020B0604020202020204" pitchFamily="34" charset="0"/>
              </a:defRPr>
            </a:lvl2pPr>
            <a:lvl3pPr marL="1143000" indent="-228600" eaLnBrk="0" hangingPunct="0">
              <a:spcBef>
                <a:spcPct val="20000"/>
              </a:spcBef>
              <a:buChar char="•"/>
              <a:defRPr sz="2400">
                <a:solidFill>
                  <a:schemeClr val="tx1"/>
                </a:solidFill>
                <a:latin typeface="Arial" panose="020B0604020202020204" pitchFamily="34" charset="0"/>
                <a:cs typeface="Arial" panose="020B0604020202020204" pitchFamily="34" charset="0"/>
              </a:defRPr>
            </a:lvl3pPr>
            <a:lvl4pPr marL="1600200" indent="-228600" eaLnBrk="0" hangingPunct="0">
              <a:spcBef>
                <a:spcPct val="20000"/>
              </a:spcBef>
              <a:buChar char="–"/>
              <a:defRPr sz="2000">
                <a:solidFill>
                  <a:schemeClr val="tx1"/>
                </a:solidFill>
                <a:latin typeface="Arial" panose="020B0604020202020204" pitchFamily="34" charset="0"/>
                <a:cs typeface="Arial" panose="020B0604020202020204" pitchFamily="34" charset="0"/>
              </a:defRPr>
            </a:lvl4pPr>
            <a:lvl5pPr marL="2057400" indent="-228600" eaLnBrk="0" hangingPunct="0">
              <a:spcBef>
                <a:spcPct val="20000"/>
              </a:spcBef>
              <a:buChar char="»"/>
              <a:defRPr sz="20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cs typeface="Arial" panose="020B0604020202020204" pitchFamily="34" charset="0"/>
              </a:defRPr>
            </a:lvl9pPr>
          </a:lstStyle>
          <a:p>
            <a:pPr eaLnBrk="1" hangingPunct="1">
              <a:spcBef>
                <a:spcPct val="30000"/>
              </a:spcBef>
              <a:buFont typeface="Wingdings" panose="05000000000000000000" pitchFamily="2" charset="2"/>
              <a:buChar char="q"/>
            </a:pPr>
            <a:r>
              <a:rPr lang="zh-CN" altLang="en-US" sz="2800" b="1" dirty="0">
                <a:solidFill>
                  <a:srgbClr val="C00000"/>
                </a:solidFill>
                <a:effectLst>
                  <a:outerShdw blurRad="38100" dist="38100" dir="2700000" algn="tl">
                    <a:srgbClr val="000000">
                      <a:alpha val="43137"/>
                    </a:srgbClr>
                  </a:outerShdw>
                </a:effectLst>
                <a:latin typeface="微软雅黑" panose="020B0503020204020204" pitchFamily="34" charset="-122"/>
                <a:ea typeface="微软雅黑" panose="020B0503020204020204" pitchFamily="34" charset="-122"/>
              </a:rPr>
              <a:t> 液压阀的联接方式</a:t>
            </a:r>
            <a:endParaRPr lang="en-US" altLang="zh-CN" sz="2800" b="1" dirty="0">
              <a:solidFill>
                <a:srgbClr val="C00000"/>
              </a:solidFill>
              <a:effectLst>
                <a:outerShdw blurRad="38100" dist="38100" dir="2700000" algn="tl">
                  <a:srgbClr val="000000">
                    <a:alpha val="43137"/>
                  </a:srgbClr>
                </a:outerShdw>
              </a:effectLst>
              <a:latin typeface="微软雅黑" panose="020B0503020204020204" pitchFamily="34" charset="-122"/>
              <a:ea typeface="微软雅黑" panose="020B0503020204020204" pitchFamily="34" charset="-122"/>
            </a:endParaRPr>
          </a:p>
          <a:p>
            <a:pPr eaLnBrk="1" hangingPunct="1">
              <a:spcBef>
                <a:spcPct val="30000"/>
              </a:spcBef>
              <a:buFont typeface="Wingdings" panose="05000000000000000000" pitchFamily="2" charset="2"/>
              <a:buChar char="q"/>
            </a:pPr>
            <a:endParaRPr lang="en-US" altLang="zh-CN" sz="2800" b="1" dirty="0">
              <a:latin typeface="微软雅黑" panose="020B0503020204020204" pitchFamily="34" charset="-122"/>
              <a:ea typeface="微软雅黑" panose="020B0503020204020204" pitchFamily="34" charset="-122"/>
            </a:endParaRPr>
          </a:p>
          <a:p>
            <a:pPr lvl="1" eaLnBrk="1" hangingPunct="1">
              <a:spcBef>
                <a:spcPct val="30000"/>
              </a:spcBef>
              <a:buFont typeface="Wingdings" panose="05000000000000000000" pitchFamily="2" charset="2"/>
              <a:buChar char="Ø"/>
            </a:pP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管式</a:t>
            </a:r>
            <a:r>
              <a:rPr lang="en-US" altLang="zh-CN" b="1" dirty="0">
                <a:latin typeface="微软雅黑" panose="020B0503020204020204" pitchFamily="34" charset="-122"/>
                <a:ea typeface="微软雅黑" panose="020B0503020204020204" pitchFamily="34" charset="-122"/>
              </a:rPr>
              <a:t>【</a:t>
            </a:r>
            <a:r>
              <a:rPr lang="zh-CN" altLang="en-US" b="1" u="sng" dirty="0">
                <a:solidFill>
                  <a:srgbClr val="009900"/>
                </a:solidFill>
                <a:effectLst>
                  <a:outerShdw blurRad="38100" dist="38100" dir="2700000" algn="tl">
                    <a:srgbClr val="000000">
                      <a:alpha val="43137"/>
                    </a:srgbClr>
                  </a:outerShdw>
                </a:effectLst>
                <a:latin typeface="微软雅黑" panose="020B0503020204020204" pitchFamily="34" charset="-122"/>
                <a:ea typeface="微软雅黑" panose="020B0503020204020204" pitchFamily="34" charset="-122"/>
              </a:rPr>
              <a:t>应用很少</a:t>
            </a:r>
            <a:r>
              <a:rPr lang="en-US" altLang="zh-CN" b="1" dirty="0">
                <a:latin typeface="微软雅黑" panose="020B0503020204020204" pitchFamily="34" charset="-122"/>
                <a:ea typeface="微软雅黑" panose="020B0503020204020204" pitchFamily="34" charset="-122"/>
              </a:rPr>
              <a:t>】</a:t>
            </a:r>
          </a:p>
          <a:p>
            <a:pPr lvl="1" eaLnBrk="1" hangingPunct="1">
              <a:spcBef>
                <a:spcPct val="30000"/>
              </a:spcBef>
              <a:buFont typeface="Wingdings" panose="05000000000000000000" pitchFamily="2" charset="2"/>
              <a:buChar char="Ø"/>
            </a:pP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板式 </a:t>
            </a:r>
            <a:r>
              <a:rPr lang="en-US" altLang="zh-CN" b="1" dirty="0">
                <a:latin typeface="微软雅黑" panose="020B0503020204020204" pitchFamily="34" charset="-122"/>
                <a:ea typeface="微软雅黑" panose="020B0503020204020204" pitchFamily="34" charset="-122"/>
              </a:rPr>
              <a:t>【</a:t>
            </a:r>
            <a:r>
              <a:rPr lang="zh-CN" altLang="en-US" b="1" u="sng" dirty="0">
                <a:solidFill>
                  <a:srgbClr val="C00000"/>
                </a:solidFill>
                <a:effectLst>
                  <a:outerShdw blurRad="38100" dist="38100" dir="2700000" algn="tl">
                    <a:srgbClr val="000000">
                      <a:alpha val="43137"/>
                    </a:srgbClr>
                  </a:outerShdw>
                </a:effectLst>
                <a:latin typeface="微软雅黑" panose="020B0503020204020204" pitchFamily="34" charset="-122"/>
                <a:ea typeface="微软雅黑" panose="020B0503020204020204" pitchFamily="34" charset="-122"/>
              </a:rPr>
              <a:t>主流应用</a:t>
            </a:r>
            <a:r>
              <a:rPr lang="en-US" altLang="zh-CN" b="1" dirty="0">
                <a:latin typeface="微软雅黑" panose="020B0503020204020204" pitchFamily="34" charset="-122"/>
                <a:ea typeface="微软雅黑" panose="020B0503020204020204" pitchFamily="34" charset="-122"/>
              </a:rPr>
              <a:t>】</a:t>
            </a:r>
          </a:p>
          <a:p>
            <a:pPr lvl="1" eaLnBrk="1" hangingPunct="1">
              <a:spcBef>
                <a:spcPct val="30000"/>
              </a:spcBef>
              <a:buFont typeface="Wingdings" panose="05000000000000000000" pitchFamily="2" charset="2"/>
              <a:buChar char="Ø"/>
            </a:pPr>
            <a:r>
              <a:rPr lang="en-US" altLang="zh-CN" b="1" dirty="0">
                <a:latin typeface="微软雅黑" panose="020B0503020204020204" pitchFamily="34" charset="-122"/>
                <a:ea typeface="微软雅黑" panose="020B0503020204020204" pitchFamily="34" charset="-122"/>
              </a:rPr>
              <a:t> </a:t>
            </a:r>
            <a:r>
              <a:rPr lang="zh-CN" altLang="en-US" b="1" dirty="0">
                <a:solidFill>
                  <a:srgbClr val="0000FF"/>
                </a:solidFill>
                <a:latin typeface="微软雅黑" panose="020B0503020204020204" pitchFamily="34" charset="-122"/>
                <a:ea typeface="微软雅黑" panose="020B0503020204020204" pitchFamily="34" charset="-122"/>
              </a:rPr>
              <a:t>叠加式</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a:t>
            </a:r>
            <a:r>
              <a:rPr lang="zh-CN" altLang="en-US" b="1" u="sng" dirty="0">
                <a:solidFill>
                  <a:srgbClr val="009900"/>
                </a:solidFill>
                <a:effectLst>
                  <a:outerShdw blurRad="38100" dist="38100" dir="2700000" algn="tl">
                    <a:srgbClr val="000000">
                      <a:alpha val="43137"/>
                    </a:srgbClr>
                  </a:outerShdw>
                </a:effectLst>
                <a:latin typeface="微软雅黑" panose="020B0503020204020204" pitchFamily="34" charset="-122"/>
                <a:ea typeface="微软雅黑" panose="020B0503020204020204" pitchFamily="34" charset="-122"/>
              </a:rPr>
              <a:t>应用很少</a:t>
            </a:r>
            <a:r>
              <a:rPr lang="en-US" altLang="zh-CN" b="1" dirty="0">
                <a:latin typeface="微软雅黑" panose="020B0503020204020204" pitchFamily="34" charset="-122"/>
                <a:ea typeface="微软雅黑" panose="020B0503020204020204" pitchFamily="34" charset="-122"/>
              </a:rPr>
              <a:t>】</a:t>
            </a:r>
          </a:p>
          <a:p>
            <a:pPr lvl="1" eaLnBrk="1" hangingPunct="1">
              <a:spcBef>
                <a:spcPct val="30000"/>
              </a:spcBef>
              <a:buFont typeface="Wingdings" panose="05000000000000000000" pitchFamily="2" charset="2"/>
              <a:buChar char="Ø"/>
            </a:pPr>
            <a:r>
              <a:rPr lang="en-US" altLang="zh-CN" b="1" dirty="0">
                <a:solidFill>
                  <a:srgbClr val="0000FF"/>
                </a:solidFill>
                <a:latin typeface="微软雅黑" panose="020B0503020204020204" pitchFamily="34" charset="-122"/>
                <a:ea typeface="微软雅黑" panose="020B0503020204020204" pitchFamily="34" charset="-122"/>
              </a:rPr>
              <a:t> </a:t>
            </a:r>
            <a:r>
              <a:rPr lang="zh-CN" altLang="en-US" b="1" dirty="0">
                <a:solidFill>
                  <a:srgbClr val="0000FF"/>
                </a:solidFill>
                <a:latin typeface="微软雅黑" panose="020B0503020204020204" pitchFamily="34" charset="-122"/>
                <a:ea typeface="微软雅黑" panose="020B0503020204020204" pitchFamily="34" charset="-122"/>
              </a:rPr>
              <a:t>盖板插装式 </a:t>
            </a:r>
            <a:r>
              <a:rPr lang="en-US" altLang="zh-CN" b="1" dirty="0">
                <a:latin typeface="微软雅黑" panose="020B0503020204020204" pitchFamily="34" charset="-122"/>
                <a:ea typeface="微软雅黑" panose="020B0503020204020204" pitchFamily="34" charset="-122"/>
              </a:rPr>
              <a:t>【</a:t>
            </a:r>
            <a:r>
              <a:rPr lang="zh-CN" altLang="en-US" b="1" u="sng" dirty="0">
                <a:solidFill>
                  <a:srgbClr val="009900"/>
                </a:solidFill>
                <a:effectLst>
                  <a:outerShdw blurRad="38100" dist="38100" dir="2700000" algn="tl">
                    <a:srgbClr val="000000">
                      <a:alpha val="43137"/>
                    </a:srgbClr>
                  </a:outerShdw>
                </a:effectLst>
                <a:latin typeface="微软雅黑" panose="020B0503020204020204" pitchFamily="34" charset="-122"/>
                <a:ea typeface="微软雅黑" panose="020B0503020204020204" pitchFamily="34" charset="-122"/>
              </a:rPr>
              <a:t>大流量场合应用</a:t>
            </a:r>
            <a:r>
              <a:rPr lang="en-US" altLang="zh-CN" b="1" dirty="0">
                <a:latin typeface="微软雅黑" panose="020B0503020204020204" pitchFamily="34" charset="-122"/>
                <a:ea typeface="微软雅黑" panose="020B0503020204020204" pitchFamily="34" charset="-122"/>
              </a:rPr>
              <a:t>】</a:t>
            </a:r>
          </a:p>
          <a:p>
            <a:pPr lvl="1" eaLnBrk="1" hangingPunct="1">
              <a:spcBef>
                <a:spcPct val="30000"/>
              </a:spcBef>
              <a:buFont typeface="Wingdings" panose="05000000000000000000" pitchFamily="2" charset="2"/>
              <a:buChar char="Ø"/>
            </a:pPr>
            <a:r>
              <a:rPr lang="en-US" altLang="zh-CN" b="1" dirty="0">
                <a:latin typeface="微软雅黑" panose="020B0503020204020204" pitchFamily="34" charset="-122"/>
                <a:ea typeface="微软雅黑" panose="020B0503020204020204" pitchFamily="34" charset="-122"/>
              </a:rPr>
              <a:t> </a:t>
            </a:r>
            <a:r>
              <a:rPr lang="zh-CN" altLang="en-US" b="1" dirty="0">
                <a:solidFill>
                  <a:srgbClr val="0000FF"/>
                </a:solidFill>
                <a:latin typeface="微软雅黑" panose="020B0503020204020204" pitchFamily="34" charset="-122"/>
                <a:ea typeface="微软雅黑" panose="020B0503020204020204" pitchFamily="34" charset="-122"/>
              </a:rPr>
              <a:t>螺纹插装式 </a:t>
            </a:r>
            <a:r>
              <a:rPr lang="en-US" altLang="zh-CN" b="1" dirty="0">
                <a:latin typeface="微软雅黑" panose="020B0503020204020204" pitchFamily="34" charset="-122"/>
                <a:ea typeface="微软雅黑" panose="020B0503020204020204" pitchFamily="34" charset="-122"/>
              </a:rPr>
              <a:t>【</a:t>
            </a:r>
            <a:r>
              <a:rPr lang="zh-CN" altLang="en-US" b="1" u="sng" dirty="0">
                <a:solidFill>
                  <a:srgbClr val="C00000"/>
                </a:solidFill>
                <a:effectLst>
                  <a:outerShdw blurRad="38100" dist="38100" dir="2700000" algn="tl">
                    <a:srgbClr val="000000">
                      <a:alpha val="43137"/>
                    </a:srgbClr>
                  </a:outerShdw>
                </a:effectLst>
                <a:latin typeface="微软雅黑" panose="020B0503020204020204" pitchFamily="34" charset="-122"/>
                <a:ea typeface="微软雅黑" panose="020B0503020204020204" pitchFamily="34" charset="-122"/>
              </a:rPr>
              <a:t>主流应用</a:t>
            </a:r>
            <a:r>
              <a:rPr lang="en-US" altLang="zh-CN" b="1" dirty="0">
                <a:latin typeface="微软雅黑" panose="020B0503020204020204" pitchFamily="34" charset="-122"/>
                <a:ea typeface="微软雅黑" panose="020B0503020204020204" pitchFamily="34" charset="-122"/>
              </a:rPr>
              <a:t>】</a:t>
            </a:r>
          </a:p>
          <a:p>
            <a:pPr lvl="1" eaLnBrk="1" hangingPunct="1">
              <a:spcBef>
                <a:spcPct val="30000"/>
              </a:spcBef>
              <a:buFont typeface="Wingdings" panose="05000000000000000000" pitchFamily="2" charset="2"/>
              <a:buChar char="Ø"/>
            </a:pP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片式（多路阀）</a:t>
            </a:r>
            <a:r>
              <a:rPr lang="en-US" altLang="zh-CN" b="1" dirty="0">
                <a:latin typeface="微软雅黑" panose="020B0503020204020204" pitchFamily="34" charset="-122"/>
                <a:ea typeface="微软雅黑" panose="020B0503020204020204" pitchFamily="34" charset="-122"/>
              </a:rPr>
              <a:t>【</a:t>
            </a:r>
            <a:r>
              <a:rPr lang="zh-CN" altLang="en-US" b="1" u="sng" dirty="0">
                <a:solidFill>
                  <a:srgbClr val="C00000"/>
                </a:solidFill>
                <a:effectLst>
                  <a:outerShdw blurRad="38100" dist="38100" dir="2700000" algn="tl">
                    <a:srgbClr val="000000">
                      <a:alpha val="43137"/>
                    </a:srgbClr>
                  </a:outerShdw>
                </a:effectLst>
                <a:latin typeface="微软雅黑" panose="020B0503020204020204" pitchFamily="34" charset="-122"/>
                <a:ea typeface="微软雅黑" panose="020B0503020204020204" pitchFamily="34" charset="-122"/>
              </a:rPr>
              <a:t>主流应用</a:t>
            </a:r>
            <a:r>
              <a:rPr lang="en-US" altLang="zh-CN" b="1" dirty="0">
                <a:latin typeface="微软雅黑" panose="020B0503020204020204" pitchFamily="34" charset="-122"/>
                <a:ea typeface="微软雅黑" panose="020B0503020204020204" pitchFamily="34" charset="-122"/>
              </a:rPr>
              <a:t>】</a:t>
            </a:r>
          </a:p>
          <a:p>
            <a:pPr lvl="1" eaLnBrk="1" hangingPunct="1">
              <a:spcBef>
                <a:spcPct val="30000"/>
              </a:spcBef>
              <a:buFont typeface="Wingdings" panose="05000000000000000000" pitchFamily="2" charset="2"/>
              <a:buChar char="Ø"/>
            </a:pPr>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整体式（多路阀）</a:t>
            </a:r>
            <a:r>
              <a:rPr lang="en-US" altLang="zh-CN" b="1" dirty="0">
                <a:latin typeface="微软雅黑" panose="020B0503020204020204" pitchFamily="34" charset="-122"/>
                <a:ea typeface="微软雅黑" panose="020B0503020204020204" pitchFamily="34" charset="-122"/>
              </a:rPr>
              <a:t>【</a:t>
            </a:r>
            <a:r>
              <a:rPr lang="zh-CN" altLang="en-US" b="1" u="sng" dirty="0">
                <a:solidFill>
                  <a:srgbClr val="009900"/>
                </a:solidFill>
                <a:effectLst>
                  <a:outerShdw blurRad="38100" dist="38100" dir="2700000" algn="tl">
                    <a:srgbClr val="000000">
                      <a:alpha val="43137"/>
                    </a:srgbClr>
                  </a:outerShdw>
                </a:effectLst>
                <a:latin typeface="微软雅黑" panose="020B0503020204020204" pitchFamily="34" charset="-122"/>
                <a:ea typeface="微软雅黑" panose="020B0503020204020204" pitchFamily="34" charset="-122"/>
              </a:rPr>
              <a:t>紧凑场合应用</a:t>
            </a:r>
            <a:r>
              <a:rPr lang="en-US" altLang="zh-CN" b="1" dirty="0">
                <a:latin typeface="微软雅黑" panose="020B0503020204020204" pitchFamily="34" charset="-122"/>
                <a:ea typeface="微软雅黑" panose="020B0503020204020204" pitchFamily="34" charset="-122"/>
              </a:rPr>
              <a:t>】</a:t>
            </a:r>
            <a:endParaRPr lang="zh-CN" altLang="de-DE" b="1" dirty="0">
              <a:latin typeface="微软雅黑" panose="020B0503020204020204" pitchFamily="34" charset="-122"/>
              <a:ea typeface="微软雅黑" panose="020B0503020204020204" pitchFamily="34" charset="-122"/>
            </a:endParaRPr>
          </a:p>
        </p:txBody>
      </p:sp>
      <p:cxnSp>
        <p:nvCxnSpPr>
          <p:cNvPr id="14" name="直接连接符 13">
            <a:extLst>
              <a:ext uri="{FF2B5EF4-FFF2-40B4-BE49-F238E27FC236}">
                <a16:creationId xmlns:a16="http://schemas.microsoft.com/office/drawing/2014/main" id="{89B74B11-DAA3-4E4D-A6BC-FDE1AB5BCA7A}"/>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1026" name="Picture 2" descr="上海柔肯液压阀块 5-18">
            <a:extLst>
              <a:ext uri="{FF2B5EF4-FFF2-40B4-BE49-F238E27FC236}">
                <a16:creationId xmlns:a16="http://schemas.microsoft.com/office/drawing/2014/main" id="{EB403EC0-2067-4E2F-AD58-C2CDFE557B48}"/>
              </a:ext>
            </a:extLst>
          </p:cNvPr>
          <p:cNvPicPr>
            <a:picLocks noChangeAspect="1" noChangeArrowheads="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6894745" y="1553917"/>
            <a:ext cx="5037060" cy="4886616"/>
          </a:xfrm>
          <a:prstGeom prst="rect">
            <a:avLst/>
          </a:prstGeom>
          <a:noFill/>
          <a:extLst>
            <a:ext uri="{909E8E84-426E-40DD-AFC4-6F175D3DCCD1}">
              <a14:hiddenFill xmlns:a14="http://schemas.microsoft.com/office/drawing/2010/main">
                <a:solidFill>
                  <a:srgbClr val="FFFFFF"/>
                </a:solidFill>
              </a14:hiddenFill>
            </a:ext>
          </a:extLst>
        </p:spPr>
      </p:pic>
      <p:sp>
        <p:nvSpPr>
          <p:cNvPr id="10" name="文本框 9">
            <a:extLst>
              <a:ext uri="{FF2B5EF4-FFF2-40B4-BE49-F238E27FC236}">
                <a16:creationId xmlns:a16="http://schemas.microsoft.com/office/drawing/2014/main" id="{1F0CDA01-BAD7-4421-AB94-0811289124B8}"/>
              </a:ext>
            </a:extLst>
          </p:cNvPr>
          <p:cNvSpPr txBox="1"/>
          <p:nvPr/>
        </p:nvSpPr>
        <p:spPr>
          <a:xfrm>
            <a:off x="429656" y="135415"/>
            <a:ext cx="4319626"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cs typeface="Times New Roman" panose="02020603050405020304" pitchFamily="18" charset="0"/>
              </a:rPr>
              <a:t>10.8</a:t>
            </a:r>
            <a:r>
              <a:rPr lang="en-US" altLang="zh-CN" sz="3600" b="1" dirty="0">
                <a:solidFill>
                  <a:srgbClr val="003F88"/>
                </a:solidFill>
                <a:latin typeface="+mn-ea"/>
              </a:rPr>
              <a:t> </a:t>
            </a:r>
            <a:r>
              <a:rPr lang="en-US" altLang="zh-CN" sz="3600" dirty="0">
                <a:solidFill>
                  <a:srgbClr val="336600"/>
                </a:solidFill>
                <a:latin typeface="华文新魏" pitchFamily="2" charset="-122"/>
                <a:ea typeface="华文新魏" pitchFamily="2" charset="-122"/>
              </a:rPr>
              <a:t> </a:t>
            </a:r>
            <a:r>
              <a:rPr lang="zh-CN" altLang="en-US" sz="3600" b="1" dirty="0">
                <a:solidFill>
                  <a:srgbClr val="003F88"/>
                </a:solidFill>
                <a:latin typeface="+mn-ea"/>
              </a:rPr>
              <a:t>联接方式</a:t>
            </a:r>
          </a:p>
        </p:txBody>
      </p:sp>
    </p:spTree>
    <p:extLst>
      <p:ext uri="{BB962C8B-B14F-4D97-AF65-F5344CB8AC3E}">
        <p14:creationId xmlns:p14="http://schemas.microsoft.com/office/powerpoint/2010/main" val="10928323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D88DB5-EDCF-E186-0902-11FB60EA70D6}"/>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FFDDD872-583E-E564-F454-BF397A818747}"/>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46C064FF-CE74-283A-308E-3D371249B8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FB072A92-C65D-2786-82DD-D9C372572606}"/>
              </a:ext>
            </a:extLst>
          </p:cNvPr>
          <p:cNvSpPr/>
          <p:nvPr/>
        </p:nvSpPr>
        <p:spPr>
          <a:xfrm>
            <a:off x="0" y="174524"/>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Text Box 7">
            <a:extLst>
              <a:ext uri="{FF2B5EF4-FFF2-40B4-BE49-F238E27FC236}">
                <a16:creationId xmlns:a16="http://schemas.microsoft.com/office/drawing/2014/main" id="{BEE70183-20AD-4B34-ADC3-6BBABF1BC94D}"/>
              </a:ext>
            </a:extLst>
          </p:cNvPr>
          <p:cNvSpPr txBox="1">
            <a:spLocks noChangeArrowheads="1"/>
          </p:cNvSpPr>
          <p:nvPr/>
        </p:nvSpPr>
        <p:spPr bwMode="auto">
          <a:xfrm>
            <a:off x="319314" y="1085153"/>
            <a:ext cx="5425958" cy="51868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rgbClr val="0BD0D9"/>
              </a:buClr>
              <a:buSzPct val="95000"/>
              <a:buFont typeface="Wingdings 2" panose="05020102010507070707" pitchFamily="18" charset="2"/>
              <a:buChar char=""/>
              <a:defRPr sz="2600">
                <a:solidFill>
                  <a:schemeClr val="tx1"/>
                </a:solidFill>
                <a:latin typeface="Constantia" panose="02030602050306030303" pitchFamily="18" charset="0"/>
                <a:ea typeface="宋体" panose="02010600030101010101" pitchFamily="2" charset="-122"/>
              </a:defRPr>
            </a:lvl1pPr>
            <a:lvl2pPr marL="742950" indent="-285750">
              <a:spcBef>
                <a:spcPct val="20000"/>
              </a:spcBef>
              <a:buClr>
                <a:schemeClr val="accent1"/>
              </a:buClr>
              <a:buSzPct val="85000"/>
              <a:buFont typeface="Wingdings 2" panose="05020102010507070707" pitchFamily="18" charset="2"/>
              <a:buChar char=""/>
              <a:defRPr sz="2400">
                <a:solidFill>
                  <a:schemeClr val="tx1"/>
                </a:solidFill>
                <a:latin typeface="Constantia" panose="02030602050306030303" pitchFamily="18" charset="0"/>
                <a:ea typeface="宋体" panose="02010600030101010101" pitchFamily="2" charset="-122"/>
              </a:defRPr>
            </a:lvl2pPr>
            <a:lvl3pPr marL="1143000" indent="-228600">
              <a:spcBef>
                <a:spcPct val="20000"/>
              </a:spcBef>
              <a:buClr>
                <a:schemeClr val="accent2"/>
              </a:buClr>
              <a:buSzPct val="70000"/>
              <a:buFont typeface="Wingdings 2" panose="05020102010507070707" pitchFamily="18" charset="2"/>
              <a:buChar char=""/>
              <a:defRPr sz="2100">
                <a:solidFill>
                  <a:schemeClr val="tx1"/>
                </a:solidFill>
                <a:latin typeface="Constantia" panose="02030602050306030303" pitchFamily="18" charset="0"/>
                <a:ea typeface="宋体" panose="02010600030101010101" pitchFamily="2" charset="-122"/>
              </a:defRPr>
            </a:lvl3pPr>
            <a:lvl4pPr marL="1600200" indent="-228600">
              <a:spcBef>
                <a:spcPct val="20000"/>
              </a:spcBef>
              <a:buClr>
                <a:srgbClr val="0BD0D9"/>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4pPr>
            <a:lvl5pPr marL="2057400" indent="-228600">
              <a:spcBef>
                <a:spcPct val="20000"/>
              </a:spcBef>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5pPr>
            <a:lvl6pPr marL="2514600" indent="-228600" eaLnBrk="0" fontAlgn="base" hangingPunct="0">
              <a:spcBef>
                <a:spcPct val="20000"/>
              </a:spcBef>
              <a:spcAft>
                <a:spcPct val="0"/>
              </a:spcAft>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6pPr>
            <a:lvl7pPr marL="2971800" indent="-228600" eaLnBrk="0" fontAlgn="base" hangingPunct="0">
              <a:spcBef>
                <a:spcPct val="20000"/>
              </a:spcBef>
              <a:spcAft>
                <a:spcPct val="0"/>
              </a:spcAft>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7pPr>
            <a:lvl8pPr marL="3429000" indent="-228600" eaLnBrk="0" fontAlgn="base" hangingPunct="0">
              <a:spcBef>
                <a:spcPct val="20000"/>
              </a:spcBef>
              <a:spcAft>
                <a:spcPct val="0"/>
              </a:spcAft>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8pPr>
            <a:lvl9pPr marL="3886200" indent="-228600" eaLnBrk="0" fontAlgn="base" hangingPunct="0">
              <a:spcBef>
                <a:spcPct val="20000"/>
              </a:spcBef>
              <a:spcAft>
                <a:spcPct val="0"/>
              </a:spcAft>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9pPr>
          </a:lstStyle>
          <a:p>
            <a:pPr eaLnBrk="1" hangingPunct="1">
              <a:lnSpc>
                <a:spcPct val="150000"/>
              </a:lnSpc>
              <a:spcBef>
                <a:spcPct val="0"/>
              </a:spcBef>
              <a:buClrTx/>
              <a:buSzTx/>
              <a:buFontTx/>
              <a:buNone/>
            </a:pPr>
            <a:r>
              <a:rPr lang="en-US" altLang="zh-CN" sz="2800" dirty="0">
                <a:latin typeface="微软雅黑" panose="020B0503020204020204" pitchFamily="34" charset="-122"/>
                <a:ea typeface="微软雅黑" panose="020B0503020204020204" pitchFamily="34" charset="-122"/>
              </a:rPr>
              <a:t>       </a:t>
            </a:r>
            <a:r>
              <a:rPr lang="zh-CN" altLang="en-US" sz="2800" dirty="0">
                <a:latin typeface="微软雅黑" panose="020B0503020204020204" pitchFamily="34" charset="-122"/>
                <a:ea typeface="微软雅黑" panose="020B0503020204020204" pitchFamily="34" charset="-122"/>
              </a:rPr>
              <a:t>叠加阀以</a:t>
            </a:r>
            <a:r>
              <a:rPr lang="zh-CN" altLang="en-US" sz="2800" b="1" dirty="0">
                <a:solidFill>
                  <a:srgbClr val="C00000"/>
                </a:solidFill>
                <a:latin typeface="微软雅黑" panose="020B0503020204020204" pitchFamily="34" charset="-122"/>
                <a:ea typeface="微软雅黑" panose="020B0503020204020204" pitchFamily="34" charset="-122"/>
              </a:rPr>
              <a:t>板式阀</a:t>
            </a:r>
            <a:r>
              <a:rPr lang="zh-CN" altLang="en-US" sz="2800" dirty="0">
                <a:latin typeface="微软雅黑" panose="020B0503020204020204" pitchFamily="34" charset="-122"/>
                <a:ea typeface="微软雅黑" panose="020B0503020204020204" pitchFamily="34" charset="-122"/>
              </a:rPr>
              <a:t>为基础，每个叠加阀不仅起到单个阀的功能，而且还沟通阀与阀的流道。</a:t>
            </a:r>
            <a:r>
              <a:rPr lang="zh-CN" altLang="en-US" sz="2800" b="1" dirty="0">
                <a:solidFill>
                  <a:srgbClr val="C00000"/>
                </a:solidFill>
                <a:latin typeface="微软雅黑" panose="020B0503020204020204" pitchFamily="34" charset="-122"/>
                <a:ea typeface="微软雅黑" panose="020B0503020204020204" pitchFamily="34" charset="-122"/>
              </a:rPr>
              <a:t>换向阀安装在最上方</a:t>
            </a:r>
            <a:r>
              <a:rPr lang="zh-CN" altLang="en-US" sz="2800" dirty="0">
                <a:latin typeface="微软雅黑" panose="020B0503020204020204" pitchFamily="34" charset="-122"/>
                <a:ea typeface="微软雅黑" panose="020B0503020204020204" pitchFamily="34" charset="-122"/>
              </a:rPr>
              <a:t>，对外连接油口开在最下边的底板上，其他的阀通过</a:t>
            </a:r>
            <a:r>
              <a:rPr lang="zh-CN" altLang="en-US" sz="2800" b="1" dirty="0">
                <a:solidFill>
                  <a:srgbClr val="C00000"/>
                </a:solidFill>
                <a:latin typeface="微软雅黑" panose="020B0503020204020204" pitchFamily="34" charset="-122"/>
                <a:ea typeface="微软雅黑" panose="020B0503020204020204" pitchFamily="34" charset="-122"/>
              </a:rPr>
              <a:t>螺栓连接</a:t>
            </a:r>
            <a:r>
              <a:rPr lang="zh-CN" altLang="en-US" sz="2800" dirty="0">
                <a:latin typeface="微软雅黑" panose="020B0503020204020204" pitchFamily="34" charset="-122"/>
                <a:ea typeface="微软雅黑" panose="020B0503020204020204" pitchFamily="34" charset="-122"/>
              </a:rPr>
              <a:t>在换向阀和底板之间。左图为叠加阀装置图，右图为其系统图。</a:t>
            </a:r>
          </a:p>
        </p:txBody>
      </p:sp>
      <p:pic>
        <p:nvPicPr>
          <p:cNvPr id="11" name="Picture 3" descr="叠加阀">
            <a:extLst>
              <a:ext uri="{FF2B5EF4-FFF2-40B4-BE49-F238E27FC236}">
                <a16:creationId xmlns:a16="http://schemas.microsoft.com/office/drawing/2014/main" id="{8A32DB35-D15D-4CD4-B377-52B328D3040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2334"/>
          <a:stretch/>
        </p:blipFill>
        <p:spPr bwMode="auto">
          <a:xfrm>
            <a:off x="5583043" y="1569160"/>
            <a:ext cx="3583258" cy="4218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2" name="Picture 9" descr="x310">
            <a:extLst>
              <a:ext uri="{FF2B5EF4-FFF2-40B4-BE49-F238E27FC236}">
                <a16:creationId xmlns:a16="http://schemas.microsoft.com/office/drawing/2014/main" id="{846912C2-609D-4905-B129-88FF8707679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54349" b="4094"/>
          <a:stretch>
            <a:fillRect/>
          </a:stretch>
        </p:blipFill>
        <p:spPr bwMode="auto">
          <a:xfrm>
            <a:off x="9017619" y="1824470"/>
            <a:ext cx="3089779" cy="39635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 name="文本框 12">
            <a:extLst>
              <a:ext uri="{FF2B5EF4-FFF2-40B4-BE49-F238E27FC236}">
                <a16:creationId xmlns:a16="http://schemas.microsoft.com/office/drawing/2014/main" id="{60E6D140-963F-4883-9553-AE30C4778474}"/>
              </a:ext>
            </a:extLst>
          </p:cNvPr>
          <p:cNvSpPr txBox="1"/>
          <p:nvPr/>
        </p:nvSpPr>
        <p:spPr>
          <a:xfrm>
            <a:off x="429656" y="135415"/>
            <a:ext cx="4319626"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cs typeface="Times New Roman" panose="02020603050405020304" pitchFamily="18" charset="0"/>
              </a:rPr>
              <a:t>10.8</a:t>
            </a:r>
            <a:r>
              <a:rPr lang="en-US" altLang="zh-CN" sz="3600" b="1" dirty="0">
                <a:solidFill>
                  <a:srgbClr val="003F88"/>
                </a:solidFill>
                <a:latin typeface="+mn-ea"/>
              </a:rPr>
              <a:t> </a:t>
            </a:r>
            <a:r>
              <a:rPr lang="en-US" altLang="zh-CN" sz="3600" dirty="0">
                <a:solidFill>
                  <a:srgbClr val="336600"/>
                </a:solidFill>
                <a:latin typeface="华文新魏" pitchFamily="2" charset="-122"/>
                <a:ea typeface="华文新魏" pitchFamily="2" charset="-122"/>
              </a:rPr>
              <a:t> </a:t>
            </a:r>
            <a:r>
              <a:rPr lang="zh-CN" altLang="en-US" sz="3600" b="1" dirty="0">
                <a:solidFill>
                  <a:srgbClr val="003F88"/>
                </a:solidFill>
                <a:latin typeface="+mn-ea"/>
              </a:rPr>
              <a:t>联接方式</a:t>
            </a:r>
          </a:p>
        </p:txBody>
      </p:sp>
    </p:spTree>
    <p:extLst>
      <p:ext uri="{BB962C8B-B14F-4D97-AF65-F5344CB8AC3E}">
        <p14:creationId xmlns:p14="http://schemas.microsoft.com/office/powerpoint/2010/main" val="31046009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D88DB5-EDCF-E186-0902-11FB60EA70D6}"/>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FFDDD872-583E-E564-F454-BF397A818747}"/>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46C064FF-CE74-283A-308E-3D371249B8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FB072A92-C65D-2786-82DD-D9C372572606}"/>
              </a:ext>
            </a:extLst>
          </p:cNvPr>
          <p:cNvSpPr/>
          <p:nvPr/>
        </p:nvSpPr>
        <p:spPr>
          <a:xfrm>
            <a:off x="0" y="174524"/>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1" name="Picture 3" descr="叠加阀">
            <a:extLst>
              <a:ext uri="{FF2B5EF4-FFF2-40B4-BE49-F238E27FC236}">
                <a16:creationId xmlns:a16="http://schemas.microsoft.com/office/drawing/2014/main" id="{8A32DB35-D15D-4CD4-B377-52B328D3040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2334"/>
          <a:stretch/>
        </p:blipFill>
        <p:spPr bwMode="auto">
          <a:xfrm>
            <a:off x="5583043" y="1569160"/>
            <a:ext cx="3583258" cy="4218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2" name="Picture 9" descr="x310">
            <a:extLst>
              <a:ext uri="{FF2B5EF4-FFF2-40B4-BE49-F238E27FC236}">
                <a16:creationId xmlns:a16="http://schemas.microsoft.com/office/drawing/2014/main" id="{846912C2-609D-4905-B129-88FF8707679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54349" b="4094"/>
          <a:stretch>
            <a:fillRect/>
          </a:stretch>
        </p:blipFill>
        <p:spPr bwMode="auto">
          <a:xfrm>
            <a:off x="9017619" y="1824470"/>
            <a:ext cx="3089779" cy="39635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 name="Text Box 4">
            <a:extLst>
              <a:ext uri="{FF2B5EF4-FFF2-40B4-BE49-F238E27FC236}">
                <a16:creationId xmlns:a16="http://schemas.microsoft.com/office/drawing/2014/main" id="{4C363A9B-68A2-4329-9546-8BEC10A65624}"/>
              </a:ext>
            </a:extLst>
          </p:cNvPr>
          <p:cNvSpPr txBox="1">
            <a:spLocks noChangeArrowheads="1"/>
          </p:cNvSpPr>
          <p:nvPr/>
        </p:nvSpPr>
        <p:spPr bwMode="auto">
          <a:xfrm>
            <a:off x="396799" y="1271235"/>
            <a:ext cx="5257800" cy="5567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rgbClr val="0BD0D9"/>
              </a:buClr>
              <a:buSzPct val="95000"/>
              <a:buFont typeface="Wingdings 2" panose="05020102010507070707" pitchFamily="18" charset="2"/>
              <a:buChar char=""/>
              <a:defRPr sz="2600">
                <a:solidFill>
                  <a:schemeClr val="tx1"/>
                </a:solidFill>
                <a:latin typeface="Constantia" panose="02030602050306030303" pitchFamily="18" charset="0"/>
                <a:ea typeface="宋体" panose="02010600030101010101" pitchFamily="2" charset="-122"/>
              </a:defRPr>
            </a:lvl1pPr>
            <a:lvl2pPr marL="742950" indent="-285750">
              <a:spcBef>
                <a:spcPct val="20000"/>
              </a:spcBef>
              <a:buClr>
                <a:schemeClr val="accent1"/>
              </a:buClr>
              <a:buSzPct val="85000"/>
              <a:buFont typeface="Wingdings 2" panose="05020102010507070707" pitchFamily="18" charset="2"/>
              <a:buChar char=""/>
              <a:defRPr sz="2400">
                <a:solidFill>
                  <a:schemeClr val="tx1"/>
                </a:solidFill>
                <a:latin typeface="Constantia" panose="02030602050306030303" pitchFamily="18" charset="0"/>
                <a:ea typeface="宋体" panose="02010600030101010101" pitchFamily="2" charset="-122"/>
              </a:defRPr>
            </a:lvl2pPr>
            <a:lvl3pPr marL="1143000" indent="-228600">
              <a:spcBef>
                <a:spcPct val="20000"/>
              </a:spcBef>
              <a:buClr>
                <a:schemeClr val="accent2"/>
              </a:buClr>
              <a:buSzPct val="70000"/>
              <a:buFont typeface="Wingdings 2" panose="05020102010507070707" pitchFamily="18" charset="2"/>
              <a:buChar char=""/>
              <a:defRPr sz="2100">
                <a:solidFill>
                  <a:schemeClr val="tx1"/>
                </a:solidFill>
                <a:latin typeface="Constantia" panose="02030602050306030303" pitchFamily="18" charset="0"/>
                <a:ea typeface="宋体" panose="02010600030101010101" pitchFamily="2" charset="-122"/>
              </a:defRPr>
            </a:lvl3pPr>
            <a:lvl4pPr marL="1600200" indent="-228600">
              <a:spcBef>
                <a:spcPct val="20000"/>
              </a:spcBef>
              <a:buClr>
                <a:srgbClr val="0BD0D9"/>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4pPr>
            <a:lvl5pPr marL="2057400" indent="-228600">
              <a:spcBef>
                <a:spcPct val="20000"/>
              </a:spcBef>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5pPr>
            <a:lvl6pPr marL="2514600" indent="-228600" eaLnBrk="0" fontAlgn="base" hangingPunct="0">
              <a:spcBef>
                <a:spcPct val="20000"/>
              </a:spcBef>
              <a:spcAft>
                <a:spcPct val="0"/>
              </a:spcAft>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6pPr>
            <a:lvl7pPr marL="2971800" indent="-228600" eaLnBrk="0" fontAlgn="base" hangingPunct="0">
              <a:spcBef>
                <a:spcPct val="20000"/>
              </a:spcBef>
              <a:spcAft>
                <a:spcPct val="0"/>
              </a:spcAft>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7pPr>
            <a:lvl8pPr marL="3429000" indent="-228600" eaLnBrk="0" fontAlgn="base" hangingPunct="0">
              <a:spcBef>
                <a:spcPct val="20000"/>
              </a:spcBef>
              <a:spcAft>
                <a:spcPct val="0"/>
              </a:spcAft>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8pPr>
            <a:lvl9pPr marL="3886200" indent="-228600" eaLnBrk="0" fontAlgn="base" hangingPunct="0">
              <a:spcBef>
                <a:spcPct val="20000"/>
              </a:spcBef>
              <a:spcAft>
                <a:spcPct val="0"/>
              </a:spcAft>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9pPr>
          </a:lstStyle>
          <a:p>
            <a:pPr eaLnBrk="1" hangingPunct="1">
              <a:lnSpc>
                <a:spcPct val="150000"/>
              </a:lnSpc>
              <a:spcBef>
                <a:spcPct val="0"/>
              </a:spcBef>
              <a:buClrTx/>
              <a:buSzTx/>
              <a:buFontTx/>
              <a:buNone/>
            </a:pPr>
            <a:r>
              <a:rPr lang="zh-CN" altLang="en-US" sz="2400" dirty="0">
                <a:latin typeface="微软雅黑" panose="020B0503020204020204" pitchFamily="34" charset="-122"/>
                <a:ea typeface="微软雅黑" panose="020B0503020204020204" pitchFamily="34" charset="-122"/>
              </a:rPr>
              <a:t>叠加式压力阀、流量阀及液控单向阀等阀上都有自其底面贯通到顶面的</a:t>
            </a:r>
            <a:r>
              <a:rPr lang="en-US" altLang="zh-CN" sz="2400" dirty="0">
                <a:latin typeface="微软雅黑" panose="020B0503020204020204" pitchFamily="34" charset="-122"/>
                <a:ea typeface="微软雅黑" panose="020B0503020204020204" pitchFamily="34" charset="-122"/>
              </a:rPr>
              <a:t>P</a:t>
            </a:r>
            <a:r>
              <a:rPr lang="zh-CN" altLang="en-US" sz="2400" dirty="0">
                <a:latin typeface="微软雅黑" panose="020B0503020204020204" pitchFamily="34" charset="-122"/>
                <a:ea typeface="微软雅黑" panose="020B0503020204020204" pitchFamily="34" charset="-122"/>
              </a:rPr>
              <a:t>、</a:t>
            </a:r>
            <a:r>
              <a:rPr lang="en-US" altLang="zh-CN" sz="2400" dirty="0">
                <a:latin typeface="微软雅黑" panose="020B0503020204020204" pitchFamily="34" charset="-122"/>
                <a:ea typeface="微软雅黑" panose="020B0503020204020204" pitchFamily="34" charset="-122"/>
              </a:rPr>
              <a:t>T</a:t>
            </a:r>
            <a:r>
              <a:rPr lang="zh-CN" altLang="en-US" sz="2400" dirty="0">
                <a:latin typeface="微软雅黑" panose="020B0503020204020204" pitchFamily="34" charset="-122"/>
                <a:ea typeface="微软雅黑" panose="020B0503020204020204" pitchFamily="34" charset="-122"/>
              </a:rPr>
              <a:t>、</a:t>
            </a:r>
            <a:r>
              <a:rPr lang="en-US" altLang="zh-CN" sz="2400" dirty="0">
                <a:latin typeface="微软雅黑" panose="020B0503020204020204" pitchFamily="34" charset="-122"/>
                <a:ea typeface="微软雅黑" panose="020B0503020204020204" pitchFamily="34" charset="-122"/>
              </a:rPr>
              <a:t>A</a:t>
            </a:r>
            <a:r>
              <a:rPr lang="zh-CN" altLang="en-US" sz="2400" dirty="0">
                <a:latin typeface="微软雅黑" panose="020B0503020204020204" pitchFamily="34" charset="-122"/>
                <a:ea typeface="微软雅黑" panose="020B0503020204020204" pitchFamily="34" charset="-122"/>
              </a:rPr>
              <a:t>及</a:t>
            </a:r>
            <a:r>
              <a:rPr lang="en-US" altLang="zh-CN" sz="2400" dirty="0">
                <a:latin typeface="微软雅黑" panose="020B0503020204020204" pitchFamily="34" charset="-122"/>
                <a:ea typeface="微软雅黑" panose="020B0503020204020204" pitchFamily="34" charset="-122"/>
              </a:rPr>
              <a:t>B</a:t>
            </a:r>
            <a:r>
              <a:rPr lang="zh-CN" altLang="en-US" sz="2400" dirty="0">
                <a:latin typeface="微软雅黑" panose="020B0503020204020204" pitchFamily="34" charset="-122"/>
                <a:ea typeface="微软雅黑" panose="020B0503020204020204" pitchFamily="34" charset="-122"/>
              </a:rPr>
              <a:t>四条通道，而同一通径间这些油口间的尺寸和相对位置都是和相匹配的标准板式换向阀相一致的。</a:t>
            </a:r>
          </a:p>
          <a:p>
            <a:pPr eaLnBrk="1" hangingPunct="1">
              <a:lnSpc>
                <a:spcPct val="150000"/>
              </a:lnSpc>
              <a:spcBef>
                <a:spcPct val="0"/>
              </a:spcBef>
              <a:buClrTx/>
              <a:buSzTx/>
              <a:buFontTx/>
              <a:buNone/>
            </a:pPr>
            <a:r>
              <a:rPr lang="zh-CN" altLang="en-US" sz="2400" dirty="0">
                <a:latin typeface="微软雅黑" panose="020B0503020204020204" pitchFamily="34" charset="-122"/>
                <a:ea typeface="微软雅黑" panose="020B0503020204020204" pitchFamily="34" charset="-122"/>
              </a:rPr>
              <a:t>    由图可知，电磁换向阀必须安装在顶层，与执行元件连接的底板，则安装在最底层，而叠加阀则安装在换向阀（或顶板）与底板之间。   </a:t>
            </a:r>
            <a:endParaRPr lang="en-US" altLang="zh-CN" sz="2400" dirty="0">
              <a:latin typeface="微软雅黑" panose="020B0503020204020204" pitchFamily="34" charset="-122"/>
              <a:ea typeface="微软雅黑" panose="020B0503020204020204" pitchFamily="34" charset="-122"/>
            </a:endParaRPr>
          </a:p>
          <a:p>
            <a:pPr eaLnBrk="1" hangingPunct="1">
              <a:lnSpc>
                <a:spcPct val="150000"/>
              </a:lnSpc>
              <a:spcBef>
                <a:spcPct val="0"/>
              </a:spcBef>
              <a:buClrTx/>
              <a:buSzTx/>
              <a:buFontTx/>
              <a:buNone/>
            </a:pPr>
            <a:r>
              <a:rPr lang="zh-CN" altLang="en-US" sz="2400" b="1" dirty="0">
                <a:solidFill>
                  <a:srgbClr val="C00000"/>
                </a:solidFill>
                <a:latin typeface="微软雅黑" panose="020B0503020204020204" pitchFamily="34" charset="-122"/>
                <a:ea typeface="微软雅黑" panose="020B0503020204020204" pitchFamily="34" charset="-122"/>
              </a:rPr>
              <a:t>一个叠加阀组一般控制一个执行元件</a:t>
            </a:r>
          </a:p>
        </p:txBody>
      </p:sp>
      <p:sp>
        <p:nvSpPr>
          <p:cNvPr id="10" name="文本框 9">
            <a:extLst>
              <a:ext uri="{FF2B5EF4-FFF2-40B4-BE49-F238E27FC236}">
                <a16:creationId xmlns:a16="http://schemas.microsoft.com/office/drawing/2014/main" id="{D39B4DE1-5626-4403-AC5C-F9AD6FCF93C5}"/>
              </a:ext>
            </a:extLst>
          </p:cNvPr>
          <p:cNvSpPr txBox="1"/>
          <p:nvPr/>
        </p:nvSpPr>
        <p:spPr>
          <a:xfrm>
            <a:off x="429656" y="135415"/>
            <a:ext cx="4319626"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cs typeface="Times New Roman" panose="02020603050405020304" pitchFamily="18" charset="0"/>
              </a:rPr>
              <a:t>10.8</a:t>
            </a:r>
            <a:r>
              <a:rPr lang="en-US" altLang="zh-CN" sz="3600" b="1" dirty="0">
                <a:solidFill>
                  <a:srgbClr val="003F88"/>
                </a:solidFill>
                <a:latin typeface="+mn-ea"/>
              </a:rPr>
              <a:t> </a:t>
            </a:r>
            <a:r>
              <a:rPr lang="en-US" altLang="zh-CN" sz="3600" dirty="0">
                <a:solidFill>
                  <a:srgbClr val="336600"/>
                </a:solidFill>
                <a:latin typeface="华文新魏" pitchFamily="2" charset="-122"/>
                <a:ea typeface="华文新魏" pitchFamily="2" charset="-122"/>
              </a:rPr>
              <a:t> </a:t>
            </a:r>
            <a:r>
              <a:rPr lang="zh-CN" altLang="en-US" sz="3600" b="1" dirty="0">
                <a:solidFill>
                  <a:srgbClr val="003F88"/>
                </a:solidFill>
                <a:latin typeface="+mn-ea"/>
              </a:rPr>
              <a:t>联接方式</a:t>
            </a:r>
          </a:p>
        </p:txBody>
      </p:sp>
    </p:spTree>
    <p:extLst>
      <p:ext uri="{BB962C8B-B14F-4D97-AF65-F5344CB8AC3E}">
        <p14:creationId xmlns:p14="http://schemas.microsoft.com/office/powerpoint/2010/main" val="1676641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D88DB5-EDCF-E186-0902-11FB60EA70D6}"/>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FFDDD872-583E-E564-F454-BF397A818747}"/>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46C064FF-CE74-283A-308E-3D371249B8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FB072A92-C65D-2786-82DD-D9C372572606}"/>
              </a:ext>
            </a:extLst>
          </p:cNvPr>
          <p:cNvSpPr/>
          <p:nvPr/>
        </p:nvSpPr>
        <p:spPr>
          <a:xfrm>
            <a:off x="0" y="174524"/>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0" name="Picture 4" descr="DieJia">
            <a:extLst>
              <a:ext uri="{FF2B5EF4-FFF2-40B4-BE49-F238E27FC236}">
                <a16:creationId xmlns:a16="http://schemas.microsoft.com/office/drawing/2014/main" id="{95B07F65-46B0-4B81-82EC-3BB079C9554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0688" y="1214820"/>
            <a:ext cx="4608513" cy="50323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14" name="Picture 10" descr="090303">
            <a:extLst>
              <a:ext uri="{FF2B5EF4-FFF2-40B4-BE49-F238E27FC236}">
                <a16:creationId xmlns:a16="http://schemas.microsoft.com/office/drawing/2014/main" id="{33D7B453-76DD-4BB3-912F-BF67A3E3D1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332664" y="1311465"/>
            <a:ext cx="3811588" cy="50323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1" name="文本框 10">
            <a:extLst>
              <a:ext uri="{FF2B5EF4-FFF2-40B4-BE49-F238E27FC236}">
                <a16:creationId xmlns:a16="http://schemas.microsoft.com/office/drawing/2014/main" id="{9F362C09-D870-4825-A372-C0D803682B2E}"/>
              </a:ext>
            </a:extLst>
          </p:cNvPr>
          <p:cNvSpPr txBox="1"/>
          <p:nvPr/>
        </p:nvSpPr>
        <p:spPr>
          <a:xfrm>
            <a:off x="429656" y="135415"/>
            <a:ext cx="4319626"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cs typeface="Times New Roman" panose="02020603050405020304" pitchFamily="18" charset="0"/>
              </a:rPr>
              <a:t>10.8</a:t>
            </a:r>
            <a:r>
              <a:rPr lang="en-US" altLang="zh-CN" sz="3600" b="1" dirty="0">
                <a:solidFill>
                  <a:srgbClr val="003F88"/>
                </a:solidFill>
                <a:latin typeface="+mn-ea"/>
              </a:rPr>
              <a:t> </a:t>
            </a:r>
            <a:r>
              <a:rPr lang="en-US" altLang="zh-CN" sz="3600" dirty="0">
                <a:solidFill>
                  <a:srgbClr val="336600"/>
                </a:solidFill>
                <a:latin typeface="华文新魏" pitchFamily="2" charset="-122"/>
                <a:ea typeface="华文新魏" pitchFamily="2" charset="-122"/>
              </a:rPr>
              <a:t> </a:t>
            </a:r>
            <a:r>
              <a:rPr lang="zh-CN" altLang="en-US" sz="3600" b="1" dirty="0">
                <a:solidFill>
                  <a:srgbClr val="003F88"/>
                </a:solidFill>
                <a:latin typeface="+mn-ea"/>
              </a:rPr>
              <a:t>联接方式</a:t>
            </a:r>
          </a:p>
        </p:txBody>
      </p:sp>
    </p:spTree>
    <p:extLst>
      <p:ext uri="{BB962C8B-B14F-4D97-AF65-F5344CB8AC3E}">
        <p14:creationId xmlns:p14="http://schemas.microsoft.com/office/powerpoint/2010/main" val="39733251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D88DB5-EDCF-E186-0902-11FB60EA70D6}"/>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FFDDD872-583E-E564-F454-BF397A818747}"/>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46C064FF-CE74-283A-308E-3D371249B8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FB072A92-C65D-2786-82DD-D9C372572606}"/>
              </a:ext>
            </a:extLst>
          </p:cNvPr>
          <p:cNvSpPr/>
          <p:nvPr/>
        </p:nvSpPr>
        <p:spPr>
          <a:xfrm>
            <a:off x="0" y="174524"/>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Rectangle 7">
            <a:extLst>
              <a:ext uri="{FF2B5EF4-FFF2-40B4-BE49-F238E27FC236}">
                <a16:creationId xmlns:a16="http://schemas.microsoft.com/office/drawing/2014/main" id="{554E9B82-23A4-4F25-8D26-F3563C1AC3EE}"/>
              </a:ext>
            </a:extLst>
          </p:cNvPr>
          <p:cNvSpPr>
            <a:spLocks noChangeArrowheads="1"/>
          </p:cNvSpPr>
          <p:nvPr/>
        </p:nvSpPr>
        <p:spPr bwMode="auto">
          <a:xfrm>
            <a:off x="319314" y="1177480"/>
            <a:ext cx="11713029" cy="38942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lvl1pPr>
              <a:spcBef>
                <a:spcPct val="20000"/>
              </a:spcBef>
              <a:buClr>
                <a:srgbClr val="0BD0D9"/>
              </a:buClr>
              <a:buSzPct val="95000"/>
              <a:buFont typeface="Wingdings 2" panose="05020102010507070707" pitchFamily="18" charset="2"/>
              <a:buChar char=""/>
              <a:defRPr sz="2600">
                <a:solidFill>
                  <a:schemeClr val="tx1"/>
                </a:solidFill>
                <a:latin typeface="Constantia" panose="02030602050306030303" pitchFamily="18" charset="0"/>
                <a:ea typeface="宋体" panose="02010600030101010101" pitchFamily="2" charset="-122"/>
              </a:defRPr>
            </a:lvl1pPr>
            <a:lvl2pPr marL="742950" indent="-285750">
              <a:spcBef>
                <a:spcPct val="20000"/>
              </a:spcBef>
              <a:buClr>
                <a:schemeClr val="accent1"/>
              </a:buClr>
              <a:buSzPct val="85000"/>
              <a:buFont typeface="Wingdings 2" panose="05020102010507070707" pitchFamily="18" charset="2"/>
              <a:buChar char=""/>
              <a:defRPr sz="2400">
                <a:solidFill>
                  <a:schemeClr val="tx1"/>
                </a:solidFill>
                <a:latin typeface="Constantia" panose="02030602050306030303" pitchFamily="18" charset="0"/>
                <a:ea typeface="宋体" panose="02010600030101010101" pitchFamily="2" charset="-122"/>
              </a:defRPr>
            </a:lvl2pPr>
            <a:lvl3pPr marL="1143000" indent="-228600">
              <a:spcBef>
                <a:spcPct val="20000"/>
              </a:spcBef>
              <a:buClr>
                <a:schemeClr val="accent2"/>
              </a:buClr>
              <a:buSzPct val="70000"/>
              <a:buFont typeface="Wingdings 2" panose="05020102010507070707" pitchFamily="18" charset="2"/>
              <a:buChar char=""/>
              <a:defRPr sz="2100">
                <a:solidFill>
                  <a:schemeClr val="tx1"/>
                </a:solidFill>
                <a:latin typeface="Constantia" panose="02030602050306030303" pitchFamily="18" charset="0"/>
                <a:ea typeface="宋体" panose="02010600030101010101" pitchFamily="2" charset="-122"/>
              </a:defRPr>
            </a:lvl3pPr>
            <a:lvl4pPr marL="1600200" indent="-228600">
              <a:spcBef>
                <a:spcPct val="20000"/>
              </a:spcBef>
              <a:buClr>
                <a:srgbClr val="0BD0D9"/>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4pPr>
            <a:lvl5pPr marL="2057400" indent="-228600">
              <a:spcBef>
                <a:spcPct val="20000"/>
              </a:spcBef>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5pPr>
            <a:lvl6pPr marL="2514600" indent="-228600" eaLnBrk="0" fontAlgn="base" hangingPunct="0">
              <a:spcBef>
                <a:spcPct val="20000"/>
              </a:spcBef>
              <a:spcAft>
                <a:spcPct val="0"/>
              </a:spcAft>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6pPr>
            <a:lvl7pPr marL="2971800" indent="-228600" eaLnBrk="0" fontAlgn="base" hangingPunct="0">
              <a:spcBef>
                <a:spcPct val="20000"/>
              </a:spcBef>
              <a:spcAft>
                <a:spcPct val="0"/>
              </a:spcAft>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7pPr>
            <a:lvl8pPr marL="3429000" indent="-228600" eaLnBrk="0" fontAlgn="base" hangingPunct="0">
              <a:spcBef>
                <a:spcPct val="20000"/>
              </a:spcBef>
              <a:spcAft>
                <a:spcPct val="0"/>
              </a:spcAft>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8pPr>
            <a:lvl9pPr marL="3886200" indent="-228600" eaLnBrk="0" fontAlgn="base" hangingPunct="0">
              <a:spcBef>
                <a:spcPct val="20000"/>
              </a:spcBef>
              <a:spcAft>
                <a:spcPct val="0"/>
              </a:spcAft>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9pPr>
          </a:lstStyle>
          <a:p>
            <a:pPr eaLnBrk="1" latinLnBrk="1" hangingPunct="1">
              <a:lnSpc>
                <a:spcPct val="150000"/>
              </a:lnSpc>
              <a:spcBef>
                <a:spcPct val="0"/>
              </a:spcBef>
              <a:buClrTx/>
              <a:buSzTx/>
              <a:buFontTx/>
              <a:buNone/>
            </a:pPr>
            <a:r>
              <a:rPr lang="en-US" altLang="zh-CN" sz="2800" dirty="0">
                <a:latin typeface="微软雅黑" panose="020B0503020204020204" pitchFamily="34" charset="-122"/>
                <a:ea typeface="微软雅黑" panose="020B0503020204020204" pitchFamily="34" charset="-122"/>
              </a:rPr>
              <a:t>1) </a:t>
            </a:r>
            <a:r>
              <a:rPr lang="zh-CN" altLang="en-US" sz="2800" b="1" dirty="0">
                <a:solidFill>
                  <a:srgbClr val="C00000"/>
                </a:solidFill>
                <a:latin typeface="微软雅黑" panose="020B0503020204020204" pitchFamily="34" charset="-122"/>
                <a:ea typeface="微软雅黑" panose="020B0503020204020204" pitchFamily="34" charset="-122"/>
              </a:rPr>
              <a:t>标准化、通用化、集成化程度高</a:t>
            </a:r>
            <a:r>
              <a:rPr lang="zh-CN" altLang="en-US" sz="2800" dirty="0">
                <a:latin typeface="微软雅黑" panose="020B0503020204020204" pitchFamily="34" charset="-122"/>
                <a:ea typeface="微软雅黑" panose="020B0503020204020204" pitchFamily="34" charset="-122"/>
              </a:rPr>
              <a:t>，设计、加工、装配周期短。</a:t>
            </a:r>
          </a:p>
          <a:p>
            <a:pPr eaLnBrk="1" latinLnBrk="1" hangingPunct="1">
              <a:lnSpc>
                <a:spcPct val="150000"/>
              </a:lnSpc>
              <a:spcBef>
                <a:spcPct val="0"/>
              </a:spcBef>
              <a:buClrTx/>
              <a:buSzTx/>
              <a:buFontTx/>
              <a:buNone/>
            </a:pPr>
            <a:r>
              <a:rPr lang="en-US" altLang="zh-CN" sz="2800" dirty="0">
                <a:latin typeface="微软雅黑" panose="020B0503020204020204" pitchFamily="34" charset="-122"/>
                <a:ea typeface="微软雅黑" panose="020B0503020204020204" pitchFamily="34" charset="-122"/>
              </a:rPr>
              <a:t>2) </a:t>
            </a:r>
            <a:r>
              <a:rPr lang="zh-CN" altLang="en-US" sz="2800" dirty="0">
                <a:latin typeface="微软雅黑" panose="020B0503020204020204" pitchFamily="34" charset="-122"/>
                <a:ea typeface="微软雅黑" panose="020B0503020204020204" pitchFamily="34" charset="-122"/>
              </a:rPr>
              <a:t>用叠加阀组成的液压系统结构紧凑，体积小，重量轻，外形整齐美观。</a:t>
            </a:r>
          </a:p>
          <a:p>
            <a:pPr eaLnBrk="1" latinLnBrk="1" hangingPunct="1">
              <a:lnSpc>
                <a:spcPct val="150000"/>
              </a:lnSpc>
              <a:spcBef>
                <a:spcPct val="0"/>
              </a:spcBef>
              <a:buClrTx/>
              <a:buSzTx/>
              <a:buFontTx/>
              <a:buNone/>
            </a:pPr>
            <a:r>
              <a:rPr lang="en-US" altLang="zh-CN" sz="2800" dirty="0">
                <a:latin typeface="微软雅黑" panose="020B0503020204020204" pitchFamily="34" charset="-122"/>
                <a:ea typeface="微软雅黑" panose="020B0503020204020204" pitchFamily="34" charset="-122"/>
              </a:rPr>
              <a:t>3) </a:t>
            </a:r>
            <a:r>
              <a:rPr lang="zh-CN" altLang="en-US" sz="2800" dirty="0">
                <a:latin typeface="微软雅黑" panose="020B0503020204020204" pitchFamily="34" charset="-122"/>
                <a:ea typeface="微软雅黑" panose="020B0503020204020204" pitchFamily="34" charset="-122"/>
              </a:rPr>
              <a:t>叠加阀可集中配置在液压站上，也可分散安装在设备上，配置形式灵活。系统变化时，元件重新组合方便、迅速。</a:t>
            </a:r>
          </a:p>
          <a:p>
            <a:pPr eaLnBrk="1" latinLnBrk="1" hangingPunct="1">
              <a:lnSpc>
                <a:spcPct val="150000"/>
              </a:lnSpc>
              <a:spcBef>
                <a:spcPct val="0"/>
              </a:spcBef>
              <a:buClrTx/>
              <a:buSzTx/>
              <a:buFontTx/>
              <a:buNone/>
            </a:pPr>
            <a:r>
              <a:rPr lang="en-US" altLang="zh-CN" sz="2800" dirty="0">
                <a:latin typeface="微软雅黑" panose="020B0503020204020204" pitchFamily="34" charset="-122"/>
                <a:ea typeface="微软雅黑" panose="020B0503020204020204" pitchFamily="34" charset="-122"/>
              </a:rPr>
              <a:t>4) </a:t>
            </a:r>
            <a:r>
              <a:rPr lang="zh-CN" altLang="en-US" sz="2800" dirty="0">
                <a:latin typeface="微软雅黑" panose="020B0503020204020204" pitchFamily="34" charset="-122"/>
                <a:ea typeface="微软雅黑" panose="020B0503020204020204" pitchFamily="34" charset="-122"/>
              </a:rPr>
              <a:t>因</a:t>
            </a:r>
            <a:r>
              <a:rPr lang="zh-CN" altLang="en-US" sz="2800" b="1" dirty="0">
                <a:solidFill>
                  <a:srgbClr val="C00000"/>
                </a:solidFill>
                <a:latin typeface="微软雅黑" panose="020B0503020204020204" pitchFamily="34" charset="-122"/>
                <a:ea typeface="微软雅黑" panose="020B0503020204020204" pitchFamily="34" charset="-122"/>
              </a:rPr>
              <a:t>不用油管连接</a:t>
            </a:r>
            <a:r>
              <a:rPr lang="zh-CN" altLang="en-US" sz="2800" dirty="0">
                <a:latin typeface="微软雅黑" panose="020B0503020204020204" pitchFamily="34" charset="-122"/>
                <a:ea typeface="微软雅黑" panose="020B0503020204020204" pitchFamily="34" charset="-122"/>
              </a:rPr>
              <a:t>，压力损失小，漏油少，振动小，噪声小，动作平稳，使用安全可靠，维修容易。</a:t>
            </a:r>
          </a:p>
        </p:txBody>
      </p:sp>
      <p:sp>
        <p:nvSpPr>
          <p:cNvPr id="14" name="Rectangle 8">
            <a:extLst>
              <a:ext uri="{FF2B5EF4-FFF2-40B4-BE49-F238E27FC236}">
                <a16:creationId xmlns:a16="http://schemas.microsoft.com/office/drawing/2014/main" id="{4BFC7436-D6A3-41B3-9C13-D8F816405106}"/>
              </a:ext>
            </a:extLst>
          </p:cNvPr>
          <p:cNvSpPr>
            <a:spLocks noChangeArrowheads="1"/>
          </p:cNvSpPr>
          <p:nvPr/>
        </p:nvSpPr>
        <p:spPr bwMode="auto">
          <a:xfrm>
            <a:off x="319313" y="5219739"/>
            <a:ext cx="11597623" cy="13088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lvl1pPr>
              <a:spcBef>
                <a:spcPct val="20000"/>
              </a:spcBef>
              <a:buClr>
                <a:srgbClr val="0BD0D9"/>
              </a:buClr>
              <a:buSzPct val="95000"/>
              <a:buFont typeface="Wingdings 2" panose="05020102010507070707" pitchFamily="18" charset="2"/>
              <a:buChar char=""/>
              <a:defRPr sz="2600">
                <a:solidFill>
                  <a:schemeClr val="tx1"/>
                </a:solidFill>
                <a:latin typeface="Constantia" panose="02030602050306030303" pitchFamily="18" charset="0"/>
                <a:ea typeface="宋体" panose="02010600030101010101" pitchFamily="2" charset="-122"/>
              </a:defRPr>
            </a:lvl1pPr>
            <a:lvl2pPr marL="742950" indent="-285750">
              <a:spcBef>
                <a:spcPct val="20000"/>
              </a:spcBef>
              <a:buClr>
                <a:schemeClr val="accent1"/>
              </a:buClr>
              <a:buSzPct val="85000"/>
              <a:buFont typeface="Wingdings 2" panose="05020102010507070707" pitchFamily="18" charset="2"/>
              <a:buChar char=""/>
              <a:defRPr sz="2400">
                <a:solidFill>
                  <a:schemeClr val="tx1"/>
                </a:solidFill>
                <a:latin typeface="Constantia" panose="02030602050306030303" pitchFamily="18" charset="0"/>
                <a:ea typeface="宋体" panose="02010600030101010101" pitchFamily="2" charset="-122"/>
              </a:defRPr>
            </a:lvl2pPr>
            <a:lvl3pPr marL="1143000" indent="-228600">
              <a:spcBef>
                <a:spcPct val="20000"/>
              </a:spcBef>
              <a:buClr>
                <a:schemeClr val="accent2"/>
              </a:buClr>
              <a:buSzPct val="70000"/>
              <a:buFont typeface="Wingdings 2" panose="05020102010507070707" pitchFamily="18" charset="2"/>
              <a:buChar char=""/>
              <a:defRPr sz="2100">
                <a:solidFill>
                  <a:schemeClr val="tx1"/>
                </a:solidFill>
                <a:latin typeface="Constantia" panose="02030602050306030303" pitchFamily="18" charset="0"/>
                <a:ea typeface="宋体" panose="02010600030101010101" pitchFamily="2" charset="-122"/>
              </a:defRPr>
            </a:lvl3pPr>
            <a:lvl4pPr marL="1600200" indent="-228600">
              <a:spcBef>
                <a:spcPct val="20000"/>
              </a:spcBef>
              <a:buClr>
                <a:srgbClr val="0BD0D9"/>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4pPr>
            <a:lvl5pPr marL="2057400" indent="-228600">
              <a:spcBef>
                <a:spcPct val="20000"/>
              </a:spcBef>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5pPr>
            <a:lvl6pPr marL="2514600" indent="-228600" eaLnBrk="0" fontAlgn="base" hangingPunct="0">
              <a:spcBef>
                <a:spcPct val="20000"/>
              </a:spcBef>
              <a:spcAft>
                <a:spcPct val="0"/>
              </a:spcAft>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6pPr>
            <a:lvl7pPr marL="2971800" indent="-228600" eaLnBrk="0" fontAlgn="base" hangingPunct="0">
              <a:spcBef>
                <a:spcPct val="20000"/>
              </a:spcBef>
              <a:spcAft>
                <a:spcPct val="0"/>
              </a:spcAft>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7pPr>
            <a:lvl8pPr marL="3429000" indent="-228600" eaLnBrk="0" fontAlgn="base" hangingPunct="0">
              <a:spcBef>
                <a:spcPct val="20000"/>
              </a:spcBef>
              <a:spcAft>
                <a:spcPct val="0"/>
              </a:spcAft>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8pPr>
            <a:lvl9pPr marL="3886200" indent="-228600" eaLnBrk="0" fontAlgn="base" hangingPunct="0">
              <a:spcBef>
                <a:spcPct val="20000"/>
              </a:spcBef>
              <a:spcAft>
                <a:spcPct val="0"/>
              </a:spcAft>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9pPr>
          </a:lstStyle>
          <a:p>
            <a:pPr eaLnBrk="1" latinLnBrk="1" hangingPunct="1">
              <a:lnSpc>
                <a:spcPct val="150000"/>
              </a:lnSpc>
              <a:spcBef>
                <a:spcPct val="0"/>
              </a:spcBef>
              <a:buClrTx/>
              <a:buSzTx/>
              <a:buFontTx/>
              <a:buNone/>
            </a:pPr>
            <a:r>
              <a:rPr lang="en-US" altLang="zh-CN" sz="2800" dirty="0">
                <a:solidFill>
                  <a:srgbClr val="CC0000"/>
                </a:solidFill>
                <a:latin typeface="微软雅黑" panose="020B0503020204020204" pitchFamily="34" charset="-122"/>
                <a:ea typeface="微软雅黑" panose="020B0503020204020204" pitchFamily="34" charset="-122"/>
              </a:rPr>
              <a:t>  </a:t>
            </a:r>
            <a:r>
              <a:rPr lang="zh-CN" altLang="en-US" sz="2800" dirty="0">
                <a:latin typeface="微软雅黑" panose="020B0503020204020204" pitchFamily="34" charset="-122"/>
                <a:ea typeface="微软雅黑" panose="020B0503020204020204" pitchFamily="34" charset="-122"/>
              </a:rPr>
              <a:t>其</a:t>
            </a:r>
            <a:r>
              <a:rPr lang="zh-CN" altLang="en-US" sz="2800" dirty="0">
                <a:solidFill>
                  <a:srgbClr val="0000FF"/>
                </a:solidFill>
                <a:latin typeface="微软雅黑" panose="020B0503020204020204" pitchFamily="34" charset="-122"/>
                <a:ea typeface="微软雅黑" panose="020B0503020204020204" pitchFamily="34" charset="-122"/>
              </a:rPr>
              <a:t>缺点</a:t>
            </a:r>
            <a:r>
              <a:rPr lang="zh-CN" altLang="en-US" sz="2800" dirty="0">
                <a:latin typeface="微软雅黑" panose="020B0503020204020204" pitchFamily="34" charset="-122"/>
                <a:ea typeface="微软雅黑" panose="020B0503020204020204" pitchFamily="34" charset="-122"/>
              </a:rPr>
              <a:t>是回路形式较少，通径较小，品种规格尚不能满足较复杂和大功率液压系统的需要。</a:t>
            </a:r>
            <a:r>
              <a:rPr lang="zh-CN" altLang="en-US" sz="2800" dirty="0">
                <a:solidFill>
                  <a:srgbClr val="CC0000"/>
                </a:solidFill>
                <a:latin typeface="微软雅黑" panose="020B0503020204020204" pitchFamily="34" charset="-122"/>
                <a:ea typeface="微软雅黑" panose="020B0503020204020204" pitchFamily="34" charset="-122"/>
              </a:rPr>
              <a:t> </a:t>
            </a:r>
          </a:p>
        </p:txBody>
      </p:sp>
      <p:sp>
        <p:nvSpPr>
          <p:cNvPr id="11" name="文本框 10">
            <a:extLst>
              <a:ext uri="{FF2B5EF4-FFF2-40B4-BE49-F238E27FC236}">
                <a16:creationId xmlns:a16="http://schemas.microsoft.com/office/drawing/2014/main" id="{AB21178B-D39D-43F6-AA8F-70A87115BC4C}"/>
              </a:ext>
            </a:extLst>
          </p:cNvPr>
          <p:cNvSpPr txBox="1"/>
          <p:nvPr/>
        </p:nvSpPr>
        <p:spPr>
          <a:xfrm>
            <a:off x="429656" y="135415"/>
            <a:ext cx="4319626"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cs typeface="Times New Roman" panose="02020603050405020304" pitchFamily="18" charset="0"/>
              </a:rPr>
              <a:t>10.8</a:t>
            </a:r>
            <a:r>
              <a:rPr lang="en-US" altLang="zh-CN" sz="3600" b="1" dirty="0">
                <a:solidFill>
                  <a:srgbClr val="003F88"/>
                </a:solidFill>
                <a:latin typeface="+mn-ea"/>
              </a:rPr>
              <a:t> </a:t>
            </a:r>
            <a:r>
              <a:rPr lang="en-US" altLang="zh-CN" sz="3600" dirty="0">
                <a:solidFill>
                  <a:srgbClr val="336600"/>
                </a:solidFill>
                <a:latin typeface="华文新魏" pitchFamily="2" charset="-122"/>
                <a:ea typeface="华文新魏" pitchFamily="2" charset="-122"/>
              </a:rPr>
              <a:t> </a:t>
            </a:r>
            <a:r>
              <a:rPr lang="zh-CN" altLang="en-US" sz="3600" b="1" dirty="0">
                <a:solidFill>
                  <a:srgbClr val="003F88"/>
                </a:solidFill>
                <a:latin typeface="+mn-ea"/>
              </a:rPr>
              <a:t>联接方式</a:t>
            </a:r>
          </a:p>
        </p:txBody>
      </p:sp>
    </p:spTree>
    <p:extLst>
      <p:ext uri="{BB962C8B-B14F-4D97-AF65-F5344CB8AC3E}">
        <p14:creationId xmlns:p14="http://schemas.microsoft.com/office/powerpoint/2010/main" val="26636885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D88DB5-EDCF-E186-0902-11FB60EA70D6}"/>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FFDDD872-583E-E564-F454-BF397A818747}"/>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46C064FF-CE74-283A-308E-3D371249B8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FB072A92-C65D-2786-82DD-D9C372572606}"/>
              </a:ext>
            </a:extLst>
          </p:cNvPr>
          <p:cNvSpPr/>
          <p:nvPr/>
        </p:nvSpPr>
        <p:spPr>
          <a:xfrm>
            <a:off x="0" y="174524"/>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Text Box 11">
            <a:extLst>
              <a:ext uri="{FF2B5EF4-FFF2-40B4-BE49-F238E27FC236}">
                <a16:creationId xmlns:a16="http://schemas.microsoft.com/office/drawing/2014/main" id="{F61CD15D-1CF4-4936-8E7B-1B26830CA1A7}"/>
              </a:ext>
            </a:extLst>
          </p:cNvPr>
          <p:cNvSpPr txBox="1">
            <a:spLocks noChangeArrowheads="1"/>
          </p:cNvSpPr>
          <p:nvPr/>
        </p:nvSpPr>
        <p:spPr bwMode="auto">
          <a:xfrm>
            <a:off x="323850" y="1125538"/>
            <a:ext cx="11451838" cy="1135054"/>
          </a:xfrm>
          <a:prstGeom prst="rect">
            <a:avLst/>
          </a:prstGeom>
          <a:solidFill>
            <a:srgbClr val="FFFFFF"/>
          </a:solidFill>
          <a:ln w="12700" cmpd="sng">
            <a:solidFill>
              <a:srgbClr val="196293"/>
            </a:solidFill>
            <a:miter lim="800000"/>
            <a:headEnd/>
            <a:tailEnd/>
          </a:ln>
        </p:spPr>
        <p:txBody>
          <a:bodyPr wrap="square" rIns="90000">
            <a:spAutoFit/>
          </a:bodyPr>
          <a:lstStyle/>
          <a:p>
            <a:pPr eaLnBrk="1" hangingPunct="1">
              <a:lnSpc>
                <a:spcPct val="150000"/>
              </a:lnSpc>
              <a:spcBef>
                <a:spcPts val="600"/>
              </a:spcBef>
              <a:buClr>
                <a:srgbClr val="FF6600"/>
              </a:buClr>
              <a:buFont typeface="Wingdings" pitchFamily="2" charset="2"/>
              <a:buNone/>
              <a:defRPr/>
            </a:pPr>
            <a:r>
              <a:rPr lang="zh-CN" altLang="en-US" sz="2400">
                <a:solidFill>
                  <a:srgbClr val="FF0000"/>
                </a:solidFill>
                <a:effectLst>
                  <a:outerShdw blurRad="38100" dist="38100" dir="2700000" algn="tl">
                    <a:srgbClr val="C0C0C0"/>
                  </a:outerShdw>
                </a:effectLst>
                <a:latin typeface="微软雅黑" panose="020B0503020204020204" pitchFamily="34" charset="-122"/>
                <a:ea typeface="微软雅黑" panose="020B0503020204020204" pitchFamily="34" charset="-122"/>
              </a:rPr>
              <a:t>插装阀</a:t>
            </a:r>
            <a:r>
              <a:rPr lang="zh-CN" altLang="en-US" sz="2400">
                <a:latin typeface="微软雅黑" panose="020B0503020204020204" pitchFamily="34" charset="-122"/>
                <a:ea typeface="微软雅黑" panose="020B0503020204020204" pitchFamily="34" charset="-122"/>
              </a:rPr>
              <a:t>在高压大流量的液压系统中应用很广。由于插装元件已标准化、模块化，将几个插装式元件组合一下便可组成</a:t>
            </a:r>
            <a:r>
              <a:rPr lang="zh-CN" altLang="en-US" sz="2400">
                <a:solidFill>
                  <a:srgbClr val="FF0000"/>
                </a:solidFill>
                <a:effectLst>
                  <a:outerShdw blurRad="38100" dist="38100" dir="2700000" algn="tl">
                    <a:srgbClr val="C0C0C0"/>
                  </a:outerShdw>
                </a:effectLst>
                <a:latin typeface="微软雅黑" panose="020B0503020204020204" pitchFamily="34" charset="-122"/>
                <a:ea typeface="微软雅黑" panose="020B0503020204020204" pitchFamily="34" charset="-122"/>
              </a:rPr>
              <a:t>复合阀</a:t>
            </a:r>
            <a:r>
              <a:rPr lang="zh-CN" altLang="en-US" sz="2400">
                <a:latin typeface="微软雅黑" panose="020B0503020204020204" pitchFamily="34" charset="-122"/>
                <a:ea typeface="微软雅黑" panose="020B0503020204020204" pitchFamily="34" charset="-122"/>
              </a:rPr>
              <a:t>。和</a:t>
            </a:r>
            <a:r>
              <a:rPr lang="zh-CN" altLang="en-US" sz="2400">
                <a:solidFill>
                  <a:srgbClr val="FF0000"/>
                </a:solidFill>
                <a:effectLst>
                  <a:outerShdw blurRad="38100" dist="38100" dir="2700000" algn="tl">
                    <a:srgbClr val="C0C0C0"/>
                  </a:outerShdw>
                </a:effectLst>
                <a:latin typeface="微软雅黑" panose="020B0503020204020204" pitchFamily="34" charset="-122"/>
                <a:ea typeface="微软雅黑" panose="020B0503020204020204" pitchFamily="34" charset="-122"/>
              </a:rPr>
              <a:t>普通液压阀</a:t>
            </a:r>
            <a:r>
              <a:rPr lang="zh-CN" altLang="en-US" sz="2400">
                <a:latin typeface="微软雅黑" panose="020B0503020204020204" pitchFamily="34" charset="-122"/>
                <a:ea typeface="微软雅黑" panose="020B0503020204020204" pitchFamily="34" charset="-122"/>
              </a:rPr>
              <a:t>相比，它有如下的优点：</a:t>
            </a:r>
            <a:r>
              <a:rPr lang="zh-CN" altLang="en-US" sz="2400">
                <a:effectLst>
                  <a:outerShdw blurRad="38100" dist="38100" dir="2700000" algn="tl">
                    <a:srgbClr val="C0C0C0"/>
                  </a:outerShdw>
                </a:effectLst>
                <a:latin typeface="微软雅黑" panose="020B0503020204020204" pitchFamily="34" charset="-122"/>
                <a:ea typeface="微软雅黑" panose="020B0503020204020204" pitchFamily="34" charset="-122"/>
              </a:rPr>
              <a:t>  </a:t>
            </a:r>
          </a:p>
        </p:txBody>
      </p:sp>
      <p:sp>
        <p:nvSpPr>
          <p:cNvPr id="12" name="Text Box 12">
            <a:extLst>
              <a:ext uri="{FF2B5EF4-FFF2-40B4-BE49-F238E27FC236}">
                <a16:creationId xmlns:a16="http://schemas.microsoft.com/office/drawing/2014/main" id="{5E76A0F0-1306-4FD3-9550-ABA03EC26BB8}"/>
              </a:ext>
            </a:extLst>
          </p:cNvPr>
          <p:cNvSpPr txBox="1">
            <a:spLocks noChangeArrowheads="1"/>
          </p:cNvSpPr>
          <p:nvPr/>
        </p:nvSpPr>
        <p:spPr bwMode="auto">
          <a:xfrm>
            <a:off x="359569" y="2590117"/>
            <a:ext cx="11380400" cy="2577116"/>
          </a:xfrm>
          <a:prstGeom prst="rect">
            <a:avLst/>
          </a:prstGeom>
          <a:solidFill>
            <a:srgbClr val="FFFFFF"/>
          </a:solidFill>
          <a:ln w="12700" cmpd="sng">
            <a:solidFill>
              <a:srgbClr val="196293"/>
            </a:solidFill>
            <a:miter lim="800000"/>
            <a:headEnd/>
            <a:tailEnd/>
          </a:ln>
        </p:spPr>
        <p:txBody>
          <a:bodyPr wrap="square" rIns="90000">
            <a:spAutoFit/>
          </a:bodyPr>
          <a:lstStyle/>
          <a:p>
            <a:pPr eaLnBrk="1" hangingPunct="1">
              <a:lnSpc>
                <a:spcPct val="150000"/>
              </a:lnSpc>
              <a:spcBef>
                <a:spcPts val="600"/>
              </a:spcBef>
              <a:buClr>
                <a:srgbClr val="FF6600"/>
              </a:buClr>
              <a:buFont typeface="Wingdings" pitchFamily="2" charset="2"/>
              <a:buNone/>
              <a:defRPr/>
            </a:pPr>
            <a:r>
              <a:rPr lang="en-US" sz="2000" dirty="0">
                <a:solidFill>
                  <a:srgbClr val="FF0000"/>
                </a:solidFill>
                <a:effectLst>
                  <a:outerShdw blurRad="38100" dist="38100" dir="2700000" algn="tl">
                    <a:srgbClr val="C0C0C0"/>
                  </a:outerShdw>
                </a:effectLst>
                <a:latin typeface="微软雅黑" panose="020B0503020204020204" pitchFamily="34" charset="-122"/>
                <a:ea typeface="微软雅黑" panose="020B0503020204020204" pitchFamily="34" charset="-122"/>
              </a:rPr>
              <a:t>1</a:t>
            </a:r>
            <a:r>
              <a:rPr lang="zh-CN" altLang="en-US" sz="2000" dirty="0">
                <a:solidFill>
                  <a:srgbClr val="FF0000"/>
                </a:solidFill>
                <a:effectLst>
                  <a:outerShdw blurRad="38100" dist="38100" dir="2700000" algn="tl">
                    <a:srgbClr val="C0C0C0"/>
                  </a:outerShdw>
                </a:effectLst>
                <a:latin typeface="微软雅黑" panose="020B0503020204020204" pitchFamily="34" charset="-122"/>
                <a:ea typeface="微软雅黑" panose="020B0503020204020204" pitchFamily="34" charset="-122"/>
              </a:rPr>
              <a:t>）</a:t>
            </a:r>
            <a:r>
              <a:rPr lang="zh-CN" altLang="en-US" sz="2000" b="1" dirty="0">
                <a:solidFill>
                  <a:srgbClr val="0000FF"/>
                </a:solidFill>
                <a:latin typeface="微软雅黑" panose="020B0503020204020204" pitchFamily="34" charset="-122"/>
                <a:ea typeface="微软雅黑" panose="020B0503020204020204" pitchFamily="34" charset="-122"/>
              </a:rPr>
              <a:t>采用锥阀结构</a:t>
            </a:r>
            <a:r>
              <a:rPr lang="zh-CN" altLang="en-US" sz="2000" dirty="0">
                <a:latin typeface="微软雅黑" panose="020B0503020204020204" pitchFamily="34" charset="-122"/>
                <a:ea typeface="微软雅黑" panose="020B0503020204020204" pitchFamily="34" charset="-122"/>
              </a:rPr>
              <a:t>，内阻小，响应快，密封好，泄漏少。</a:t>
            </a:r>
          </a:p>
          <a:p>
            <a:pPr eaLnBrk="1" hangingPunct="1">
              <a:lnSpc>
                <a:spcPct val="150000"/>
              </a:lnSpc>
              <a:spcBef>
                <a:spcPts val="600"/>
              </a:spcBef>
              <a:buClr>
                <a:srgbClr val="FF6600"/>
              </a:buClr>
              <a:buFont typeface="Wingdings" pitchFamily="2" charset="2"/>
              <a:buNone/>
              <a:defRPr/>
            </a:pPr>
            <a:r>
              <a:rPr lang="en-US" sz="2000" dirty="0">
                <a:solidFill>
                  <a:srgbClr val="FF0000"/>
                </a:solidFill>
                <a:effectLst>
                  <a:outerShdw blurRad="38100" dist="38100" dir="2700000" algn="tl">
                    <a:srgbClr val="C0C0C0"/>
                  </a:outerShdw>
                </a:effectLst>
                <a:latin typeface="微软雅黑" panose="020B0503020204020204" pitchFamily="34" charset="-122"/>
                <a:ea typeface="微软雅黑" panose="020B0503020204020204" pitchFamily="34" charset="-122"/>
              </a:rPr>
              <a:t>2</a:t>
            </a:r>
            <a:r>
              <a:rPr lang="zh-CN" altLang="en-US" sz="2000" dirty="0">
                <a:solidFill>
                  <a:srgbClr val="FF0000"/>
                </a:solidFill>
                <a:effectLst>
                  <a:outerShdw blurRad="38100" dist="38100" dir="2700000" algn="tl">
                    <a:srgbClr val="C0C0C0"/>
                  </a:outerShdw>
                </a:effectLst>
                <a:latin typeface="微软雅黑" panose="020B0503020204020204" pitchFamily="34" charset="-122"/>
                <a:ea typeface="微软雅黑" panose="020B0503020204020204" pitchFamily="34" charset="-122"/>
              </a:rPr>
              <a:t>）</a:t>
            </a:r>
            <a:r>
              <a:rPr lang="zh-CN" altLang="en-US" sz="2000" dirty="0">
                <a:latin typeface="微软雅黑" panose="020B0503020204020204" pitchFamily="34" charset="-122"/>
                <a:ea typeface="微软雅黑" panose="020B0503020204020204" pitchFamily="34" charset="-122"/>
              </a:rPr>
              <a:t>机能多，集成度高。配置不同的先导控制级，就能实现方向、压力、流量的多种控制。</a:t>
            </a:r>
          </a:p>
          <a:p>
            <a:pPr eaLnBrk="1" hangingPunct="1">
              <a:lnSpc>
                <a:spcPct val="150000"/>
              </a:lnSpc>
              <a:spcBef>
                <a:spcPts val="600"/>
              </a:spcBef>
              <a:buClr>
                <a:srgbClr val="FF6600"/>
              </a:buClr>
              <a:buFont typeface="Wingdings" pitchFamily="2" charset="2"/>
              <a:buNone/>
              <a:defRPr/>
            </a:pPr>
            <a:r>
              <a:rPr lang="en-US" sz="2000" dirty="0">
                <a:solidFill>
                  <a:srgbClr val="FF0000"/>
                </a:solidFill>
                <a:effectLst>
                  <a:outerShdw blurRad="38100" dist="38100" dir="2700000" algn="tl">
                    <a:srgbClr val="C0C0C0"/>
                  </a:outerShdw>
                </a:effectLst>
                <a:latin typeface="微软雅黑" panose="020B0503020204020204" pitchFamily="34" charset="-122"/>
                <a:ea typeface="微软雅黑" panose="020B0503020204020204" pitchFamily="34" charset="-122"/>
              </a:rPr>
              <a:t>3</a:t>
            </a:r>
            <a:r>
              <a:rPr lang="zh-CN" altLang="en-US" sz="2000" dirty="0">
                <a:solidFill>
                  <a:srgbClr val="FF0000"/>
                </a:solidFill>
                <a:effectLst>
                  <a:outerShdw blurRad="38100" dist="38100" dir="2700000" algn="tl">
                    <a:srgbClr val="C0C0C0"/>
                  </a:outerShdw>
                </a:effectLst>
                <a:latin typeface="微软雅黑" panose="020B0503020204020204" pitchFamily="34" charset="-122"/>
                <a:ea typeface="微软雅黑" panose="020B0503020204020204" pitchFamily="34" charset="-122"/>
              </a:rPr>
              <a:t>）</a:t>
            </a:r>
            <a:r>
              <a:rPr lang="zh-CN" altLang="en-US" sz="2000" dirty="0">
                <a:latin typeface="微软雅黑" panose="020B0503020204020204" pitchFamily="34" charset="-122"/>
                <a:ea typeface="微软雅黑" panose="020B0503020204020204" pitchFamily="34" charset="-122"/>
              </a:rPr>
              <a:t>通流能力大，特别适用于大流量的场合。它的最大通径可达</a:t>
            </a:r>
            <a:r>
              <a:rPr lang="en-US" sz="2000" dirty="0">
                <a:latin typeface="微软雅黑" panose="020B0503020204020204" pitchFamily="34" charset="-122"/>
                <a:ea typeface="微软雅黑" panose="020B0503020204020204" pitchFamily="34" charset="-122"/>
              </a:rPr>
              <a:t>200~250mm</a:t>
            </a:r>
            <a:r>
              <a:rPr lang="zh-CN" altLang="en-US" sz="2000" dirty="0">
                <a:latin typeface="微软雅黑" panose="020B0503020204020204" pitchFamily="34" charset="-122"/>
                <a:ea typeface="微软雅黑" panose="020B0503020204020204" pitchFamily="34" charset="-122"/>
              </a:rPr>
              <a:t>，通过的流量可达</a:t>
            </a:r>
            <a:r>
              <a:rPr lang="en-US" sz="2000" dirty="0">
                <a:latin typeface="微软雅黑" panose="020B0503020204020204" pitchFamily="34" charset="-122"/>
                <a:ea typeface="微软雅黑" panose="020B0503020204020204" pitchFamily="34" charset="-122"/>
              </a:rPr>
              <a:t>1000L/min</a:t>
            </a:r>
            <a:r>
              <a:rPr lang="zh-CN" altLang="en-US" sz="2000" dirty="0">
                <a:latin typeface="微软雅黑" panose="020B0503020204020204" pitchFamily="34" charset="-122"/>
                <a:ea typeface="微软雅黑" panose="020B0503020204020204" pitchFamily="34" charset="-122"/>
              </a:rPr>
              <a:t>。</a:t>
            </a:r>
          </a:p>
          <a:p>
            <a:pPr eaLnBrk="1" hangingPunct="1">
              <a:lnSpc>
                <a:spcPct val="150000"/>
              </a:lnSpc>
              <a:spcBef>
                <a:spcPts val="600"/>
              </a:spcBef>
              <a:buClr>
                <a:srgbClr val="FF6600"/>
              </a:buClr>
              <a:buFont typeface="Wingdings" pitchFamily="2" charset="2"/>
              <a:buNone/>
              <a:defRPr/>
            </a:pPr>
            <a:r>
              <a:rPr lang="en-US" sz="2000" dirty="0">
                <a:solidFill>
                  <a:srgbClr val="FF0000"/>
                </a:solidFill>
                <a:effectLst>
                  <a:outerShdw blurRad="38100" dist="38100" dir="2700000" algn="tl">
                    <a:srgbClr val="C0C0C0"/>
                  </a:outerShdw>
                </a:effectLst>
                <a:latin typeface="微软雅黑" panose="020B0503020204020204" pitchFamily="34" charset="-122"/>
                <a:ea typeface="微软雅黑" panose="020B0503020204020204" pitchFamily="34" charset="-122"/>
              </a:rPr>
              <a:t>4</a:t>
            </a:r>
            <a:r>
              <a:rPr lang="zh-CN" altLang="en-US" sz="2000" dirty="0">
                <a:solidFill>
                  <a:srgbClr val="FF0000"/>
                </a:solidFill>
                <a:effectLst>
                  <a:outerShdw blurRad="38100" dist="38100" dir="2700000" algn="tl">
                    <a:srgbClr val="C0C0C0"/>
                  </a:outerShdw>
                </a:effectLst>
                <a:latin typeface="微软雅黑" panose="020B0503020204020204" pitchFamily="34" charset="-122"/>
                <a:ea typeface="微软雅黑" panose="020B0503020204020204" pitchFamily="34" charset="-122"/>
              </a:rPr>
              <a:t>）</a:t>
            </a:r>
            <a:r>
              <a:rPr lang="zh-CN" altLang="en-US" sz="2000" dirty="0">
                <a:latin typeface="微软雅黑" panose="020B0503020204020204" pitchFamily="34" charset="-122"/>
                <a:ea typeface="微软雅黑" panose="020B0503020204020204" pitchFamily="34" charset="-122"/>
              </a:rPr>
              <a:t>结构简单，易于</a:t>
            </a:r>
            <a:r>
              <a:rPr lang="zh-CN" altLang="en-US" sz="2000" b="1" dirty="0">
                <a:solidFill>
                  <a:srgbClr val="0000FF"/>
                </a:solidFill>
                <a:latin typeface="微软雅黑" panose="020B0503020204020204" pitchFamily="34" charset="-122"/>
                <a:ea typeface="微软雅黑" panose="020B0503020204020204" pitchFamily="34" charset="-122"/>
              </a:rPr>
              <a:t>实现标准化、系列化</a:t>
            </a:r>
            <a:r>
              <a:rPr lang="zh-CN" altLang="en-US" sz="2000" dirty="0">
                <a:latin typeface="微软雅黑" panose="020B0503020204020204" pitchFamily="34" charset="-122"/>
                <a:ea typeface="微软雅黑" panose="020B0503020204020204" pitchFamily="34" charset="-122"/>
              </a:rPr>
              <a:t>。</a:t>
            </a:r>
          </a:p>
        </p:txBody>
      </p:sp>
      <p:sp>
        <p:nvSpPr>
          <p:cNvPr id="13" name="Text Box 13">
            <a:extLst>
              <a:ext uri="{FF2B5EF4-FFF2-40B4-BE49-F238E27FC236}">
                <a16:creationId xmlns:a16="http://schemas.microsoft.com/office/drawing/2014/main" id="{523EE083-AF14-44D5-9FA8-5610E29FE0E1}"/>
              </a:ext>
            </a:extLst>
          </p:cNvPr>
          <p:cNvSpPr txBox="1">
            <a:spLocks noChangeArrowheads="1"/>
          </p:cNvSpPr>
          <p:nvPr/>
        </p:nvSpPr>
        <p:spPr bwMode="auto">
          <a:xfrm>
            <a:off x="359569" y="5436158"/>
            <a:ext cx="11380400" cy="1135054"/>
          </a:xfrm>
          <a:prstGeom prst="rect">
            <a:avLst/>
          </a:prstGeom>
          <a:solidFill>
            <a:srgbClr val="FFFFFF"/>
          </a:solidFill>
          <a:ln w="12700" cmpd="sng">
            <a:solidFill>
              <a:srgbClr val="196293"/>
            </a:solidFill>
            <a:miter lim="800000"/>
            <a:headEnd/>
            <a:tailEnd/>
          </a:ln>
        </p:spPr>
        <p:txBody>
          <a:bodyPr wrap="square" rIns="90000">
            <a:spAutoFit/>
          </a:bodyPr>
          <a:lstStyle/>
          <a:p>
            <a:pPr eaLnBrk="1" hangingPunct="1">
              <a:lnSpc>
                <a:spcPct val="150000"/>
              </a:lnSpc>
              <a:spcBef>
                <a:spcPts val="600"/>
              </a:spcBef>
              <a:buClr>
                <a:srgbClr val="FF6600"/>
              </a:buClr>
              <a:buFont typeface="Wingdings" pitchFamily="2" charset="2"/>
              <a:buNone/>
              <a:defRPr/>
            </a:pPr>
            <a:r>
              <a:rPr lang="zh-CN" altLang="en-US" sz="2400" dirty="0">
                <a:solidFill>
                  <a:srgbClr val="FF0000"/>
                </a:solidFill>
                <a:effectLst>
                  <a:outerShdw blurRad="38100" dist="38100" dir="2700000" algn="tl">
                    <a:srgbClr val="C0C0C0"/>
                  </a:outerShdw>
                </a:effectLst>
                <a:latin typeface="微软雅黑" panose="020B0503020204020204" pitchFamily="34" charset="-122"/>
                <a:ea typeface="微软雅黑" panose="020B0503020204020204" pitchFamily="34" charset="-122"/>
              </a:rPr>
              <a:t>插装阀</a:t>
            </a:r>
            <a:r>
              <a:rPr lang="zh-CN" altLang="en-US" sz="2400" dirty="0">
                <a:latin typeface="微软雅黑" panose="020B0503020204020204" pitchFamily="34" charset="-122"/>
                <a:ea typeface="微软雅黑" panose="020B0503020204020204" pitchFamily="34" charset="-122"/>
              </a:rPr>
              <a:t>按通口数量分为</a:t>
            </a:r>
            <a:r>
              <a:rPr lang="zh-CN" altLang="en-US" sz="2400" dirty="0">
                <a:solidFill>
                  <a:srgbClr val="FF0000"/>
                </a:solidFill>
                <a:effectLst>
                  <a:outerShdw blurRad="38100" dist="38100" dir="2700000" algn="tl">
                    <a:srgbClr val="C0C0C0"/>
                  </a:outerShdw>
                </a:effectLst>
                <a:latin typeface="微软雅黑" panose="020B0503020204020204" pitchFamily="34" charset="-122"/>
                <a:ea typeface="微软雅黑" panose="020B0503020204020204" pitchFamily="34" charset="-122"/>
              </a:rPr>
              <a:t>二通</a:t>
            </a:r>
            <a:r>
              <a:rPr lang="zh-CN" altLang="en-US" sz="2400" dirty="0">
                <a:latin typeface="微软雅黑" panose="020B0503020204020204" pitchFamily="34" charset="-122"/>
                <a:ea typeface="微软雅黑" panose="020B0503020204020204" pitchFamily="34" charset="-122"/>
              </a:rPr>
              <a:t>、</a:t>
            </a:r>
            <a:r>
              <a:rPr lang="zh-CN" altLang="en-US" sz="2400" dirty="0">
                <a:solidFill>
                  <a:srgbClr val="FF0000"/>
                </a:solidFill>
                <a:effectLst>
                  <a:outerShdw blurRad="38100" dist="38100" dir="2700000" algn="tl">
                    <a:srgbClr val="C0C0C0"/>
                  </a:outerShdw>
                </a:effectLst>
                <a:latin typeface="微软雅黑" panose="020B0503020204020204" pitchFamily="34" charset="-122"/>
                <a:ea typeface="微软雅黑" panose="020B0503020204020204" pitchFamily="34" charset="-122"/>
              </a:rPr>
              <a:t>三通</a:t>
            </a:r>
            <a:r>
              <a:rPr lang="zh-CN" altLang="en-US" sz="2400" dirty="0">
                <a:latin typeface="微软雅黑" panose="020B0503020204020204" pitchFamily="34" charset="-122"/>
                <a:ea typeface="微软雅黑" panose="020B0503020204020204" pitchFamily="34" charset="-122"/>
              </a:rPr>
              <a:t>和</a:t>
            </a:r>
            <a:r>
              <a:rPr lang="zh-CN" altLang="en-US" sz="2400" dirty="0">
                <a:solidFill>
                  <a:srgbClr val="FF0000"/>
                </a:solidFill>
                <a:effectLst>
                  <a:outerShdw blurRad="38100" dist="38100" dir="2700000" algn="tl">
                    <a:srgbClr val="C0C0C0"/>
                  </a:outerShdw>
                </a:effectLst>
                <a:latin typeface="微软雅黑" panose="020B0503020204020204" pitchFamily="34" charset="-122"/>
                <a:ea typeface="微软雅黑" panose="020B0503020204020204" pitchFamily="34" charset="-122"/>
              </a:rPr>
              <a:t>四通插装阀</a:t>
            </a:r>
            <a:r>
              <a:rPr lang="zh-CN" altLang="en-US" sz="2400" dirty="0">
                <a:latin typeface="微软雅黑" panose="020B0503020204020204" pitchFamily="34" charset="-122"/>
                <a:ea typeface="微软雅黑" panose="020B0503020204020204" pitchFamily="34" charset="-122"/>
              </a:rPr>
              <a:t>；按结构分为</a:t>
            </a:r>
            <a:r>
              <a:rPr lang="zh-CN" altLang="en-US" sz="2400" dirty="0">
                <a:solidFill>
                  <a:srgbClr val="0000FF"/>
                </a:solidFill>
                <a:effectLst>
                  <a:outerShdw blurRad="38100" dist="38100" dir="2700000" algn="tl">
                    <a:srgbClr val="C0C0C0"/>
                  </a:outerShdw>
                </a:effectLst>
                <a:latin typeface="微软雅黑" panose="020B0503020204020204" pitchFamily="34" charset="-122"/>
                <a:ea typeface="微软雅黑" panose="020B0503020204020204" pitchFamily="34" charset="-122"/>
              </a:rPr>
              <a:t>盖板式插装阀</a:t>
            </a:r>
            <a:r>
              <a:rPr lang="zh-CN" altLang="en-US" sz="2400" dirty="0">
                <a:latin typeface="微软雅黑" panose="020B0503020204020204" pitchFamily="34" charset="-122"/>
                <a:ea typeface="微软雅黑" panose="020B0503020204020204" pitchFamily="34" charset="-122"/>
              </a:rPr>
              <a:t>和</a:t>
            </a:r>
            <a:r>
              <a:rPr lang="zh-CN" altLang="en-US" sz="2400" b="1" dirty="0">
                <a:solidFill>
                  <a:srgbClr val="0000FF"/>
                </a:solidFill>
                <a:effectLst>
                  <a:outerShdw blurRad="38100" dist="38100" dir="2700000" algn="tl">
                    <a:srgbClr val="C0C0C0"/>
                  </a:outerShdw>
                </a:effectLst>
                <a:latin typeface="微软雅黑" panose="020B0503020204020204" pitchFamily="34" charset="-122"/>
                <a:ea typeface="微软雅黑" panose="020B0503020204020204" pitchFamily="34" charset="-122"/>
              </a:rPr>
              <a:t>螺纹式插装阀</a:t>
            </a:r>
            <a:r>
              <a:rPr lang="zh-CN" altLang="en-US" sz="2400" dirty="0">
                <a:latin typeface="微软雅黑" panose="020B0503020204020204" pitchFamily="34" charset="-122"/>
                <a:ea typeface="微软雅黑" panose="020B0503020204020204" pitchFamily="34" charset="-122"/>
              </a:rPr>
              <a:t>。而主流产品则是</a:t>
            </a:r>
            <a:r>
              <a:rPr lang="zh-CN" altLang="en-US" sz="2400" dirty="0">
                <a:solidFill>
                  <a:srgbClr val="FF0000"/>
                </a:solidFill>
                <a:effectLst>
                  <a:outerShdw blurRad="38100" dist="38100" dir="2700000" algn="tl">
                    <a:srgbClr val="C0C0C0"/>
                  </a:outerShdw>
                </a:effectLst>
                <a:latin typeface="微软雅黑" panose="020B0503020204020204" pitchFamily="34" charset="-122"/>
                <a:ea typeface="微软雅黑" panose="020B0503020204020204" pitchFamily="34" charset="-122"/>
              </a:rPr>
              <a:t>盖板式二通插装阀</a:t>
            </a:r>
            <a:r>
              <a:rPr lang="zh-CN" altLang="en-US" sz="2400" dirty="0">
                <a:latin typeface="微软雅黑" panose="020B0503020204020204" pitchFamily="34" charset="-122"/>
                <a:ea typeface="微软雅黑" panose="020B0503020204020204" pitchFamily="34" charset="-122"/>
              </a:rPr>
              <a:t>。</a:t>
            </a:r>
          </a:p>
        </p:txBody>
      </p:sp>
      <p:sp>
        <p:nvSpPr>
          <p:cNvPr id="10" name="文本框 9">
            <a:extLst>
              <a:ext uri="{FF2B5EF4-FFF2-40B4-BE49-F238E27FC236}">
                <a16:creationId xmlns:a16="http://schemas.microsoft.com/office/drawing/2014/main" id="{7D189143-CA03-42AD-9780-773CD566B09A}"/>
              </a:ext>
            </a:extLst>
          </p:cNvPr>
          <p:cNvSpPr txBox="1"/>
          <p:nvPr/>
        </p:nvSpPr>
        <p:spPr>
          <a:xfrm>
            <a:off x="429656" y="135415"/>
            <a:ext cx="4319626"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cs typeface="Times New Roman" panose="02020603050405020304" pitchFamily="18" charset="0"/>
              </a:rPr>
              <a:t>10.8</a:t>
            </a:r>
            <a:r>
              <a:rPr lang="en-US" altLang="zh-CN" sz="3600" b="1" dirty="0">
                <a:solidFill>
                  <a:srgbClr val="003F88"/>
                </a:solidFill>
                <a:latin typeface="+mn-ea"/>
              </a:rPr>
              <a:t> </a:t>
            </a:r>
            <a:r>
              <a:rPr lang="en-US" altLang="zh-CN" sz="3600" dirty="0">
                <a:solidFill>
                  <a:srgbClr val="336600"/>
                </a:solidFill>
                <a:latin typeface="华文新魏" pitchFamily="2" charset="-122"/>
                <a:ea typeface="华文新魏" pitchFamily="2" charset="-122"/>
              </a:rPr>
              <a:t> </a:t>
            </a:r>
            <a:r>
              <a:rPr lang="zh-CN" altLang="en-US" sz="3600" b="1" dirty="0">
                <a:solidFill>
                  <a:srgbClr val="003F88"/>
                </a:solidFill>
                <a:latin typeface="+mn-ea"/>
              </a:rPr>
              <a:t>联接方式</a:t>
            </a:r>
          </a:p>
        </p:txBody>
      </p:sp>
    </p:spTree>
    <p:extLst>
      <p:ext uri="{BB962C8B-B14F-4D97-AF65-F5344CB8AC3E}">
        <p14:creationId xmlns:p14="http://schemas.microsoft.com/office/powerpoint/2010/main" val="29973472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D88DB5-EDCF-E186-0902-11FB60EA70D6}"/>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FFDDD872-583E-E564-F454-BF397A818747}"/>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46C064FF-CE74-283A-308E-3D371249B8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FB072A92-C65D-2786-82DD-D9C372572606}"/>
              </a:ext>
            </a:extLst>
          </p:cNvPr>
          <p:cNvSpPr/>
          <p:nvPr/>
        </p:nvSpPr>
        <p:spPr>
          <a:xfrm>
            <a:off x="0" y="174524"/>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Rectangle 2">
            <a:extLst>
              <a:ext uri="{FF2B5EF4-FFF2-40B4-BE49-F238E27FC236}">
                <a16:creationId xmlns:a16="http://schemas.microsoft.com/office/drawing/2014/main" id="{0B9BBC78-2C33-4642-8C51-952B57A792B9}"/>
              </a:ext>
            </a:extLst>
          </p:cNvPr>
          <p:cNvSpPr txBox="1">
            <a:spLocks/>
          </p:cNvSpPr>
          <p:nvPr/>
        </p:nvSpPr>
        <p:spPr>
          <a:xfrm>
            <a:off x="178831" y="5545680"/>
            <a:ext cx="6084340" cy="863600"/>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50000"/>
              </a:lnSpc>
              <a:buFont typeface="Wingdings" panose="05000000000000000000" pitchFamily="2" charset="2"/>
              <a:buNone/>
            </a:pPr>
            <a:r>
              <a:rPr lang="zh-CN" altLang="en-US" dirty="0">
                <a:latin typeface="微软雅黑" panose="020B0503020204020204" pitchFamily="34" charset="-122"/>
                <a:ea typeface="微软雅黑" panose="020B0503020204020204" pitchFamily="34" charset="-122"/>
              </a:rPr>
              <a:t>   用来安装插装件、控制盖板和其他控制阀用以沟通主油路</a:t>
            </a:r>
          </a:p>
        </p:txBody>
      </p:sp>
      <p:sp>
        <p:nvSpPr>
          <p:cNvPr id="14" name="Rectangle 5">
            <a:extLst>
              <a:ext uri="{FF2B5EF4-FFF2-40B4-BE49-F238E27FC236}">
                <a16:creationId xmlns:a16="http://schemas.microsoft.com/office/drawing/2014/main" id="{3A21B650-A5FD-47E1-B280-B8BB54EB5C03}"/>
              </a:ext>
            </a:extLst>
          </p:cNvPr>
          <p:cNvSpPr>
            <a:spLocks noChangeArrowheads="1"/>
          </p:cNvSpPr>
          <p:nvPr/>
        </p:nvSpPr>
        <p:spPr bwMode="auto">
          <a:xfrm>
            <a:off x="429656" y="2450055"/>
            <a:ext cx="2387339" cy="5810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447675" indent="-447675">
              <a:spcBef>
                <a:spcPct val="20000"/>
              </a:spcBef>
              <a:buClr>
                <a:srgbClr val="0BD0D9"/>
              </a:buClr>
              <a:buSzPct val="95000"/>
              <a:buFont typeface="Wingdings 2" panose="05020102010507070707" pitchFamily="18" charset="2"/>
              <a:buChar char=""/>
              <a:defRPr sz="2600">
                <a:solidFill>
                  <a:schemeClr val="tx1"/>
                </a:solidFill>
                <a:latin typeface="Constantia" panose="02030602050306030303" pitchFamily="18" charset="0"/>
                <a:ea typeface="宋体" panose="02010600030101010101" pitchFamily="2" charset="-122"/>
              </a:defRPr>
            </a:lvl1pPr>
            <a:lvl2pPr marL="742950" indent="-285750">
              <a:spcBef>
                <a:spcPct val="20000"/>
              </a:spcBef>
              <a:buClr>
                <a:schemeClr val="accent1"/>
              </a:buClr>
              <a:buSzPct val="85000"/>
              <a:buFont typeface="Wingdings 2" panose="05020102010507070707" pitchFamily="18" charset="2"/>
              <a:buChar char=""/>
              <a:defRPr sz="2400">
                <a:solidFill>
                  <a:schemeClr val="tx1"/>
                </a:solidFill>
                <a:latin typeface="Constantia" panose="02030602050306030303" pitchFamily="18" charset="0"/>
                <a:ea typeface="宋体" panose="02010600030101010101" pitchFamily="2" charset="-122"/>
              </a:defRPr>
            </a:lvl2pPr>
            <a:lvl3pPr marL="1143000" indent="-228600">
              <a:spcBef>
                <a:spcPct val="20000"/>
              </a:spcBef>
              <a:buClr>
                <a:schemeClr val="accent2"/>
              </a:buClr>
              <a:buSzPct val="70000"/>
              <a:buFont typeface="Wingdings 2" panose="05020102010507070707" pitchFamily="18" charset="2"/>
              <a:buChar char=""/>
              <a:defRPr sz="2100">
                <a:solidFill>
                  <a:schemeClr val="tx1"/>
                </a:solidFill>
                <a:latin typeface="Constantia" panose="02030602050306030303" pitchFamily="18" charset="0"/>
                <a:ea typeface="宋体" panose="02010600030101010101" pitchFamily="2" charset="-122"/>
              </a:defRPr>
            </a:lvl3pPr>
            <a:lvl4pPr marL="1600200" indent="-228600">
              <a:spcBef>
                <a:spcPct val="20000"/>
              </a:spcBef>
              <a:buClr>
                <a:srgbClr val="0BD0D9"/>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4pPr>
            <a:lvl5pPr marL="2057400" indent="-228600">
              <a:spcBef>
                <a:spcPct val="20000"/>
              </a:spcBef>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5pPr>
            <a:lvl6pPr marL="2514600" indent="-228600" eaLnBrk="0" fontAlgn="base" hangingPunct="0">
              <a:spcBef>
                <a:spcPct val="20000"/>
              </a:spcBef>
              <a:spcAft>
                <a:spcPct val="0"/>
              </a:spcAft>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6pPr>
            <a:lvl7pPr marL="2971800" indent="-228600" eaLnBrk="0" fontAlgn="base" hangingPunct="0">
              <a:spcBef>
                <a:spcPct val="20000"/>
              </a:spcBef>
              <a:spcAft>
                <a:spcPct val="0"/>
              </a:spcAft>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7pPr>
            <a:lvl8pPr marL="3429000" indent="-228600" eaLnBrk="0" fontAlgn="base" hangingPunct="0">
              <a:spcBef>
                <a:spcPct val="20000"/>
              </a:spcBef>
              <a:spcAft>
                <a:spcPct val="0"/>
              </a:spcAft>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8pPr>
            <a:lvl9pPr marL="3886200" indent="-228600" eaLnBrk="0" fontAlgn="base" hangingPunct="0">
              <a:spcBef>
                <a:spcPct val="20000"/>
              </a:spcBef>
              <a:spcAft>
                <a:spcPct val="0"/>
              </a:spcAft>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9pPr>
          </a:lstStyle>
          <a:p>
            <a:pPr eaLnBrk="1" hangingPunct="1">
              <a:lnSpc>
                <a:spcPct val="150000"/>
              </a:lnSpc>
              <a:buClr>
                <a:schemeClr val="accent1"/>
              </a:buClr>
              <a:buSzPct val="70000"/>
              <a:buFont typeface="Wingdings" panose="05000000000000000000" pitchFamily="2" charset="2"/>
              <a:buNone/>
            </a:pPr>
            <a:r>
              <a:rPr lang="zh-CN" altLang="en-US" sz="2400">
                <a:solidFill>
                  <a:srgbClr val="A50021"/>
                </a:solidFill>
                <a:latin typeface="微软雅黑" panose="020B0503020204020204" pitchFamily="34" charset="-122"/>
                <a:ea typeface="微软雅黑" panose="020B0503020204020204" pitchFamily="34" charset="-122"/>
              </a:rPr>
              <a:t>先导控制阀</a:t>
            </a:r>
          </a:p>
        </p:txBody>
      </p:sp>
      <p:sp>
        <p:nvSpPr>
          <p:cNvPr id="15" name="Rectangle 8">
            <a:extLst>
              <a:ext uri="{FF2B5EF4-FFF2-40B4-BE49-F238E27FC236}">
                <a16:creationId xmlns:a16="http://schemas.microsoft.com/office/drawing/2014/main" id="{CE51E99C-297B-49CC-A54C-03D8550D6E4B}"/>
              </a:ext>
            </a:extLst>
          </p:cNvPr>
          <p:cNvSpPr>
            <a:spLocks noChangeArrowheads="1"/>
          </p:cNvSpPr>
          <p:nvPr/>
        </p:nvSpPr>
        <p:spPr bwMode="auto">
          <a:xfrm>
            <a:off x="358219" y="5042442"/>
            <a:ext cx="1534718" cy="5810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447675" indent="-447675">
              <a:spcBef>
                <a:spcPct val="20000"/>
              </a:spcBef>
              <a:buClr>
                <a:srgbClr val="0BD0D9"/>
              </a:buClr>
              <a:buSzPct val="95000"/>
              <a:buFont typeface="Wingdings 2" panose="05020102010507070707" pitchFamily="18" charset="2"/>
              <a:buChar char=""/>
              <a:defRPr sz="2600">
                <a:solidFill>
                  <a:schemeClr val="tx1"/>
                </a:solidFill>
                <a:latin typeface="Constantia" panose="02030602050306030303" pitchFamily="18" charset="0"/>
                <a:ea typeface="宋体" panose="02010600030101010101" pitchFamily="2" charset="-122"/>
              </a:defRPr>
            </a:lvl1pPr>
            <a:lvl2pPr marL="742950" indent="-285750">
              <a:spcBef>
                <a:spcPct val="20000"/>
              </a:spcBef>
              <a:buClr>
                <a:schemeClr val="accent1"/>
              </a:buClr>
              <a:buSzPct val="85000"/>
              <a:buFont typeface="Wingdings 2" panose="05020102010507070707" pitchFamily="18" charset="2"/>
              <a:buChar char=""/>
              <a:defRPr sz="2400">
                <a:solidFill>
                  <a:schemeClr val="tx1"/>
                </a:solidFill>
                <a:latin typeface="Constantia" panose="02030602050306030303" pitchFamily="18" charset="0"/>
                <a:ea typeface="宋体" panose="02010600030101010101" pitchFamily="2" charset="-122"/>
              </a:defRPr>
            </a:lvl2pPr>
            <a:lvl3pPr marL="1143000" indent="-228600">
              <a:spcBef>
                <a:spcPct val="20000"/>
              </a:spcBef>
              <a:buClr>
                <a:schemeClr val="accent2"/>
              </a:buClr>
              <a:buSzPct val="70000"/>
              <a:buFont typeface="Wingdings 2" panose="05020102010507070707" pitchFamily="18" charset="2"/>
              <a:buChar char=""/>
              <a:defRPr sz="2100">
                <a:solidFill>
                  <a:schemeClr val="tx1"/>
                </a:solidFill>
                <a:latin typeface="Constantia" panose="02030602050306030303" pitchFamily="18" charset="0"/>
                <a:ea typeface="宋体" panose="02010600030101010101" pitchFamily="2" charset="-122"/>
              </a:defRPr>
            </a:lvl3pPr>
            <a:lvl4pPr marL="1600200" indent="-228600">
              <a:spcBef>
                <a:spcPct val="20000"/>
              </a:spcBef>
              <a:buClr>
                <a:srgbClr val="0BD0D9"/>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4pPr>
            <a:lvl5pPr marL="2057400" indent="-228600">
              <a:spcBef>
                <a:spcPct val="20000"/>
              </a:spcBef>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5pPr>
            <a:lvl6pPr marL="2514600" indent="-228600" eaLnBrk="0" fontAlgn="base" hangingPunct="0">
              <a:spcBef>
                <a:spcPct val="20000"/>
              </a:spcBef>
              <a:spcAft>
                <a:spcPct val="0"/>
              </a:spcAft>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6pPr>
            <a:lvl7pPr marL="2971800" indent="-228600" eaLnBrk="0" fontAlgn="base" hangingPunct="0">
              <a:spcBef>
                <a:spcPct val="20000"/>
              </a:spcBef>
              <a:spcAft>
                <a:spcPct val="0"/>
              </a:spcAft>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7pPr>
            <a:lvl8pPr marL="3429000" indent="-228600" eaLnBrk="0" fontAlgn="base" hangingPunct="0">
              <a:spcBef>
                <a:spcPct val="20000"/>
              </a:spcBef>
              <a:spcAft>
                <a:spcPct val="0"/>
              </a:spcAft>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8pPr>
            <a:lvl9pPr marL="3886200" indent="-228600" eaLnBrk="0" fontAlgn="base" hangingPunct="0">
              <a:spcBef>
                <a:spcPct val="20000"/>
              </a:spcBef>
              <a:spcAft>
                <a:spcPct val="0"/>
              </a:spcAft>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9pPr>
          </a:lstStyle>
          <a:p>
            <a:pPr eaLnBrk="1" hangingPunct="1">
              <a:lnSpc>
                <a:spcPct val="150000"/>
              </a:lnSpc>
              <a:buClr>
                <a:schemeClr val="accent1"/>
              </a:buClr>
              <a:buSzPct val="70000"/>
              <a:buFont typeface="Wingdings" panose="05000000000000000000" pitchFamily="2" charset="2"/>
              <a:buNone/>
            </a:pPr>
            <a:r>
              <a:rPr lang="zh-CN" altLang="en-US" sz="2400">
                <a:solidFill>
                  <a:srgbClr val="A50021"/>
                </a:solidFill>
                <a:latin typeface="微软雅黑" panose="020B0503020204020204" pitchFamily="34" charset="-122"/>
                <a:ea typeface="微软雅黑" panose="020B0503020204020204" pitchFamily="34" charset="-122"/>
              </a:rPr>
              <a:t>集成块</a:t>
            </a:r>
          </a:p>
        </p:txBody>
      </p:sp>
      <p:sp>
        <p:nvSpPr>
          <p:cNvPr id="16" name="Text Box 9">
            <a:extLst>
              <a:ext uri="{FF2B5EF4-FFF2-40B4-BE49-F238E27FC236}">
                <a16:creationId xmlns:a16="http://schemas.microsoft.com/office/drawing/2014/main" id="{D101103B-D961-42A6-B091-384BEC52197A}"/>
              </a:ext>
            </a:extLst>
          </p:cNvPr>
          <p:cNvSpPr txBox="1">
            <a:spLocks noChangeArrowheads="1"/>
          </p:cNvSpPr>
          <p:nvPr/>
        </p:nvSpPr>
        <p:spPr bwMode="auto">
          <a:xfrm>
            <a:off x="496682" y="1336117"/>
            <a:ext cx="5684141" cy="961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rgbClr val="0BD0D9"/>
              </a:buClr>
              <a:buSzPct val="95000"/>
              <a:buFont typeface="Wingdings 2" panose="05020102010507070707" pitchFamily="18" charset="2"/>
              <a:buChar char=""/>
              <a:defRPr sz="2600">
                <a:solidFill>
                  <a:schemeClr val="tx1"/>
                </a:solidFill>
                <a:latin typeface="Constantia" panose="02030602050306030303" pitchFamily="18" charset="0"/>
                <a:ea typeface="宋体" panose="02010600030101010101" pitchFamily="2" charset="-122"/>
              </a:defRPr>
            </a:lvl1pPr>
            <a:lvl2pPr marL="742950" indent="-285750">
              <a:spcBef>
                <a:spcPct val="20000"/>
              </a:spcBef>
              <a:buClr>
                <a:schemeClr val="accent1"/>
              </a:buClr>
              <a:buSzPct val="85000"/>
              <a:buFont typeface="Wingdings 2" panose="05020102010507070707" pitchFamily="18" charset="2"/>
              <a:buChar char=""/>
              <a:defRPr sz="2400">
                <a:solidFill>
                  <a:schemeClr val="tx1"/>
                </a:solidFill>
                <a:latin typeface="Constantia" panose="02030602050306030303" pitchFamily="18" charset="0"/>
                <a:ea typeface="宋体" panose="02010600030101010101" pitchFamily="2" charset="-122"/>
              </a:defRPr>
            </a:lvl2pPr>
            <a:lvl3pPr marL="1143000" indent="-228600">
              <a:spcBef>
                <a:spcPct val="20000"/>
              </a:spcBef>
              <a:buClr>
                <a:schemeClr val="accent2"/>
              </a:buClr>
              <a:buSzPct val="70000"/>
              <a:buFont typeface="Wingdings 2" panose="05020102010507070707" pitchFamily="18" charset="2"/>
              <a:buChar char=""/>
              <a:defRPr sz="2100">
                <a:solidFill>
                  <a:schemeClr val="tx1"/>
                </a:solidFill>
                <a:latin typeface="Constantia" panose="02030602050306030303" pitchFamily="18" charset="0"/>
                <a:ea typeface="宋体" panose="02010600030101010101" pitchFamily="2" charset="-122"/>
              </a:defRPr>
            </a:lvl3pPr>
            <a:lvl4pPr marL="1600200" indent="-228600">
              <a:spcBef>
                <a:spcPct val="20000"/>
              </a:spcBef>
              <a:buClr>
                <a:srgbClr val="0BD0D9"/>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4pPr>
            <a:lvl5pPr marL="2057400" indent="-228600">
              <a:spcBef>
                <a:spcPct val="20000"/>
              </a:spcBef>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5pPr>
            <a:lvl6pPr marL="2514600" indent="-228600" eaLnBrk="0" fontAlgn="base" hangingPunct="0">
              <a:spcBef>
                <a:spcPct val="20000"/>
              </a:spcBef>
              <a:spcAft>
                <a:spcPct val="0"/>
              </a:spcAft>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6pPr>
            <a:lvl7pPr marL="2971800" indent="-228600" eaLnBrk="0" fontAlgn="base" hangingPunct="0">
              <a:spcBef>
                <a:spcPct val="20000"/>
              </a:spcBef>
              <a:spcAft>
                <a:spcPct val="0"/>
              </a:spcAft>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7pPr>
            <a:lvl8pPr marL="3429000" indent="-228600" eaLnBrk="0" fontAlgn="base" hangingPunct="0">
              <a:spcBef>
                <a:spcPct val="20000"/>
              </a:spcBef>
              <a:spcAft>
                <a:spcPct val="0"/>
              </a:spcAft>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8pPr>
            <a:lvl9pPr marL="3886200" indent="-228600" eaLnBrk="0" fontAlgn="base" hangingPunct="0">
              <a:spcBef>
                <a:spcPct val="20000"/>
              </a:spcBef>
              <a:spcAft>
                <a:spcPct val="0"/>
              </a:spcAft>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9pPr>
          </a:lstStyle>
          <a:p>
            <a:pPr eaLnBrk="1" hangingPunct="1">
              <a:lnSpc>
                <a:spcPct val="150000"/>
              </a:lnSpc>
              <a:spcBef>
                <a:spcPct val="50000"/>
              </a:spcBef>
              <a:buClrTx/>
              <a:buSzTx/>
              <a:buFontTx/>
              <a:buNone/>
            </a:pPr>
            <a:r>
              <a:rPr lang="zh-CN" altLang="en-US" sz="2000" dirty="0">
                <a:solidFill>
                  <a:srgbClr val="FF0000"/>
                </a:solidFill>
                <a:latin typeface="微软雅黑" panose="020B0503020204020204" pitchFamily="34" charset="-122"/>
                <a:ea typeface="微软雅黑" panose="020B0503020204020204" pitchFamily="34" charset="-122"/>
              </a:rPr>
              <a:t>控制盖板</a:t>
            </a:r>
            <a:r>
              <a:rPr lang="zh-CN" altLang="en-US" sz="2000" dirty="0">
                <a:latin typeface="微软雅黑" panose="020B0503020204020204" pitchFamily="34" charset="-122"/>
                <a:ea typeface="微软雅黑" panose="020B0503020204020204" pitchFamily="34" charset="-122"/>
              </a:rPr>
              <a:t>内加工有各种控制油道，与</a:t>
            </a:r>
            <a:r>
              <a:rPr lang="zh-CN" altLang="en-US" sz="2000" dirty="0">
                <a:solidFill>
                  <a:srgbClr val="FF0000"/>
                </a:solidFill>
                <a:latin typeface="微软雅黑" panose="020B0503020204020204" pitchFamily="34" charset="-122"/>
                <a:ea typeface="微软雅黑" panose="020B0503020204020204" pitchFamily="34" charset="-122"/>
              </a:rPr>
              <a:t>先导控制阀</a:t>
            </a:r>
            <a:r>
              <a:rPr lang="zh-CN" altLang="en-US" sz="2000" dirty="0">
                <a:latin typeface="微软雅黑" panose="020B0503020204020204" pitchFamily="34" charset="-122"/>
                <a:ea typeface="微软雅黑" panose="020B0503020204020204" pitchFamily="34" charset="-122"/>
              </a:rPr>
              <a:t>组合后可以控制插装件的工作状态。</a:t>
            </a:r>
          </a:p>
        </p:txBody>
      </p:sp>
      <p:sp>
        <p:nvSpPr>
          <p:cNvPr id="17" name="Text Box 10">
            <a:extLst>
              <a:ext uri="{FF2B5EF4-FFF2-40B4-BE49-F238E27FC236}">
                <a16:creationId xmlns:a16="http://schemas.microsoft.com/office/drawing/2014/main" id="{39E3176C-9783-49BE-9BB6-B1AA1910666A}"/>
              </a:ext>
            </a:extLst>
          </p:cNvPr>
          <p:cNvSpPr txBox="1">
            <a:spLocks noChangeArrowheads="1"/>
          </p:cNvSpPr>
          <p:nvPr/>
        </p:nvSpPr>
        <p:spPr bwMode="auto">
          <a:xfrm>
            <a:off x="429656" y="3085254"/>
            <a:ext cx="5785290" cy="18846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rgbClr val="0BD0D9"/>
              </a:buClr>
              <a:buSzPct val="95000"/>
              <a:buFont typeface="Wingdings 2" panose="05020102010507070707" pitchFamily="18" charset="2"/>
              <a:buChar char=""/>
              <a:defRPr sz="2600">
                <a:solidFill>
                  <a:schemeClr val="tx1"/>
                </a:solidFill>
                <a:latin typeface="Constantia" panose="02030602050306030303" pitchFamily="18" charset="0"/>
                <a:ea typeface="宋体" panose="02010600030101010101" pitchFamily="2" charset="-122"/>
              </a:defRPr>
            </a:lvl1pPr>
            <a:lvl2pPr marL="742950" indent="-285750">
              <a:spcBef>
                <a:spcPct val="20000"/>
              </a:spcBef>
              <a:buClr>
                <a:schemeClr val="accent1"/>
              </a:buClr>
              <a:buSzPct val="85000"/>
              <a:buFont typeface="Wingdings 2" panose="05020102010507070707" pitchFamily="18" charset="2"/>
              <a:buChar char=""/>
              <a:defRPr sz="2400">
                <a:solidFill>
                  <a:schemeClr val="tx1"/>
                </a:solidFill>
                <a:latin typeface="Constantia" panose="02030602050306030303" pitchFamily="18" charset="0"/>
                <a:ea typeface="宋体" panose="02010600030101010101" pitchFamily="2" charset="-122"/>
              </a:defRPr>
            </a:lvl2pPr>
            <a:lvl3pPr marL="1143000" indent="-228600">
              <a:spcBef>
                <a:spcPct val="20000"/>
              </a:spcBef>
              <a:buClr>
                <a:schemeClr val="accent2"/>
              </a:buClr>
              <a:buSzPct val="70000"/>
              <a:buFont typeface="Wingdings 2" panose="05020102010507070707" pitchFamily="18" charset="2"/>
              <a:buChar char=""/>
              <a:defRPr sz="2100">
                <a:solidFill>
                  <a:schemeClr val="tx1"/>
                </a:solidFill>
                <a:latin typeface="Constantia" panose="02030602050306030303" pitchFamily="18" charset="0"/>
                <a:ea typeface="宋体" panose="02010600030101010101" pitchFamily="2" charset="-122"/>
              </a:defRPr>
            </a:lvl3pPr>
            <a:lvl4pPr marL="1600200" indent="-228600">
              <a:spcBef>
                <a:spcPct val="20000"/>
              </a:spcBef>
              <a:buClr>
                <a:srgbClr val="0BD0D9"/>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4pPr>
            <a:lvl5pPr marL="2057400" indent="-228600">
              <a:spcBef>
                <a:spcPct val="20000"/>
              </a:spcBef>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5pPr>
            <a:lvl6pPr marL="2514600" indent="-228600" eaLnBrk="0" fontAlgn="base" hangingPunct="0">
              <a:spcBef>
                <a:spcPct val="20000"/>
              </a:spcBef>
              <a:spcAft>
                <a:spcPct val="0"/>
              </a:spcAft>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6pPr>
            <a:lvl7pPr marL="2971800" indent="-228600" eaLnBrk="0" fontAlgn="base" hangingPunct="0">
              <a:spcBef>
                <a:spcPct val="20000"/>
              </a:spcBef>
              <a:spcAft>
                <a:spcPct val="0"/>
              </a:spcAft>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7pPr>
            <a:lvl8pPr marL="3429000" indent="-228600" eaLnBrk="0" fontAlgn="base" hangingPunct="0">
              <a:spcBef>
                <a:spcPct val="20000"/>
              </a:spcBef>
              <a:spcAft>
                <a:spcPct val="0"/>
              </a:spcAft>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8pPr>
            <a:lvl9pPr marL="3886200" indent="-228600" eaLnBrk="0" fontAlgn="base" hangingPunct="0">
              <a:spcBef>
                <a:spcPct val="20000"/>
              </a:spcBef>
              <a:spcAft>
                <a:spcPct val="0"/>
              </a:spcAft>
              <a:buClr>
                <a:srgbClr val="10CF9B"/>
              </a:buClr>
              <a:buSzPct val="65000"/>
              <a:buFont typeface="Wingdings 2" panose="05020102010507070707" pitchFamily="18" charset="2"/>
              <a:buChar char=""/>
              <a:defRPr sz="2000">
                <a:solidFill>
                  <a:schemeClr val="tx1"/>
                </a:solidFill>
                <a:latin typeface="Constantia" panose="02030602050306030303" pitchFamily="18" charset="0"/>
                <a:ea typeface="宋体" panose="02010600030101010101" pitchFamily="2" charset="-122"/>
              </a:defRPr>
            </a:lvl9pPr>
          </a:lstStyle>
          <a:p>
            <a:pPr eaLnBrk="1" hangingPunct="1">
              <a:lnSpc>
                <a:spcPct val="150000"/>
              </a:lnSpc>
              <a:spcBef>
                <a:spcPct val="50000"/>
              </a:spcBef>
              <a:buClrTx/>
              <a:buSzTx/>
              <a:buFontTx/>
              <a:buNone/>
            </a:pPr>
            <a:r>
              <a:rPr lang="zh-CN" altLang="en-US" sz="2000" dirty="0">
                <a:latin typeface="微软雅黑" panose="020B0503020204020204" pitchFamily="34" charset="-122"/>
                <a:ea typeface="微软雅黑" panose="020B0503020204020204" pitchFamily="34" charset="-122"/>
              </a:rPr>
              <a:t>由安装在控制盖板上对插装元件动作进行控制的小流量控制阀组成</a:t>
            </a:r>
            <a:r>
              <a:rPr lang="en-US" altLang="zh-CN" sz="2000" dirty="0">
                <a:latin typeface="微软雅黑" panose="020B0503020204020204" pitchFamily="34" charset="-122"/>
                <a:ea typeface="微软雅黑" panose="020B0503020204020204" pitchFamily="34" charset="-122"/>
              </a:rPr>
              <a:t>,</a:t>
            </a:r>
            <a:r>
              <a:rPr lang="zh-CN" altLang="en-US" sz="2000" dirty="0">
                <a:latin typeface="微软雅黑" panose="020B0503020204020204" pitchFamily="34" charset="-122"/>
                <a:ea typeface="微软雅黑" panose="020B0503020204020204" pitchFamily="34" charset="-122"/>
              </a:rPr>
              <a:t>先导控制阀采用</a:t>
            </a:r>
            <a:r>
              <a:rPr lang="zh-CN" altLang="en-US" sz="2000" dirty="0">
                <a:solidFill>
                  <a:srgbClr val="FF0000"/>
                </a:solidFill>
                <a:latin typeface="微软雅黑" panose="020B0503020204020204" pitchFamily="34" charset="-122"/>
                <a:ea typeface="微软雅黑" panose="020B0503020204020204" pitchFamily="34" charset="-122"/>
              </a:rPr>
              <a:t>小通径电磁滑阀</a:t>
            </a:r>
            <a:r>
              <a:rPr lang="zh-CN" altLang="en-US" sz="2000" dirty="0">
                <a:latin typeface="微软雅黑" panose="020B0503020204020204" pitchFamily="34" charset="-122"/>
                <a:ea typeface="微软雅黑" panose="020B0503020204020204" pitchFamily="34" charset="-122"/>
              </a:rPr>
              <a:t>或</a:t>
            </a:r>
            <a:r>
              <a:rPr lang="zh-CN" altLang="en-US" sz="2000" dirty="0">
                <a:solidFill>
                  <a:srgbClr val="FF0000"/>
                </a:solidFill>
                <a:latin typeface="微软雅黑" panose="020B0503020204020204" pitchFamily="34" charset="-122"/>
                <a:ea typeface="微软雅黑" panose="020B0503020204020204" pitchFamily="34" charset="-122"/>
              </a:rPr>
              <a:t>球阀</a:t>
            </a:r>
            <a:r>
              <a:rPr lang="zh-CN" altLang="en-US" sz="2000" dirty="0">
                <a:latin typeface="微软雅黑" panose="020B0503020204020204" pitchFamily="34" charset="-122"/>
                <a:ea typeface="微软雅黑" panose="020B0503020204020204" pitchFamily="34" charset="-122"/>
              </a:rPr>
              <a:t>，通过电信号或其他信号控制插装阀的启闭，从而实现各种控制功能。</a:t>
            </a:r>
          </a:p>
        </p:txBody>
      </p:sp>
      <p:pic>
        <p:nvPicPr>
          <p:cNvPr id="18" name="Picture 3" descr="5-80">
            <a:extLst>
              <a:ext uri="{FF2B5EF4-FFF2-40B4-BE49-F238E27FC236}">
                <a16:creationId xmlns:a16="http://schemas.microsoft.com/office/drawing/2014/main" id="{D5AA2D27-E0B7-40CF-AC0D-D90B08981DC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59083" y="1336117"/>
            <a:ext cx="4340225" cy="5113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文本框 11">
            <a:extLst>
              <a:ext uri="{FF2B5EF4-FFF2-40B4-BE49-F238E27FC236}">
                <a16:creationId xmlns:a16="http://schemas.microsoft.com/office/drawing/2014/main" id="{9574B492-41F7-44E4-8AA9-7DA0B96C01D9}"/>
              </a:ext>
            </a:extLst>
          </p:cNvPr>
          <p:cNvSpPr txBox="1"/>
          <p:nvPr/>
        </p:nvSpPr>
        <p:spPr>
          <a:xfrm>
            <a:off x="429656" y="135415"/>
            <a:ext cx="4319626"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cs typeface="Times New Roman" panose="02020603050405020304" pitchFamily="18" charset="0"/>
              </a:rPr>
              <a:t>10.8</a:t>
            </a:r>
            <a:r>
              <a:rPr lang="en-US" altLang="zh-CN" sz="3600" b="1" dirty="0">
                <a:solidFill>
                  <a:srgbClr val="003F88"/>
                </a:solidFill>
                <a:latin typeface="+mn-ea"/>
              </a:rPr>
              <a:t> </a:t>
            </a:r>
            <a:r>
              <a:rPr lang="en-US" altLang="zh-CN" sz="3600" dirty="0">
                <a:solidFill>
                  <a:srgbClr val="336600"/>
                </a:solidFill>
                <a:latin typeface="华文新魏" pitchFamily="2" charset="-122"/>
                <a:ea typeface="华文新魏" pitchFamily="2" charset="-122"/>
              </a:rPr>
              <a:t> </a:t>
            </a:r>
            <a:r>
              <a:rPr lang="zh-CN" altLang="en-US" sz="3600" b="1" dirty="0">
                <a:solidFill>
                  <a:srgbClr val="003F88"/>
                </a:solidFill>
                <a:latin typeface="+mn-ea"/>
              </a:rPr>
              <a:t>联接方式</a:t>
            </a:r>
          </a:p>
        </p:txBody>
      </p:sp>
    </p:spTree>
    <p:extLst>
      <p:ext uri="{BB962C8B-B14F-4D97-AF65-F5344CB8AC3E}">
        <p14:creationId xmlns:p14="http://schemas.microsoft.com/office/powerpoint/2010/main" val="36082788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D88DB5-EDCF-E186-0902-11FB60EA70D6}"/>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FFDDD872-583E-E564-F454-BF397A818747}"/>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46C064FF-CE74-283A-308E-3D371249B8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FB072A92-C65D-2786-82DD-D9C372572606}"/>
              </a:ext>
            </a:extLst>
          </p:cNvPr>
          <p:cNvSpPr/>
          <p:nvPr/>
        </p:nvSpPr>
        <p:spPr>
          <a:xfrm>
            <a:off x="0" y="174524"/>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3" name="Picture 2" descr="插装阀">
            <a:extLst>
              <a:ext uri="{FF2B5EF4-FFF2-40B4-BE49-F238E27FC236}">
                <a16:creationId xmlns:a16="http://schemas.microsoft.com/office/drawing/2014/main" id="{95AC4BA3-A236-494F-BA3D-C920D5865B27}"/>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25855"/>
          <a:stretch/>
        </p:blipFill>
        <p:spPr bwMode="auto">
          <a:xfrm>
            <a:off x="6522595" y="1386413"/>
            <a:ext cx="5162144" cy="4941325"/>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2">
            <a:extLst>
              <a:ext uri="{FF2B5EF4-FFF2-40B4-BE49-F238E27FC236}">
                <a16:creationId xmlns:a16="http://schemas.microsoft.com/office/drawing/2014/main" id="{430289CE-141F-4BD7-A5E2-E35E0A840AE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39036" y="1219201"/>
            <a:ext cx="1868821" cy="18436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Picture 6">
            <a:extLst>
              <a:ext uri="{FF2B5EF4-FFF2-40B4-BE49-F238E27FC236}">
                <a16:creationId xmlns:a16="http://schemas.microsoft.com/office/drawing/2014/main" id="{672E2528-EC95-4A63-93A7-E4C478B00A9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70905" y="3612392"/>
            <a:ext cx="5098502" cy="29827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2" name="Picture 14">
            <a:extLst>
              <a:ext uri="{FF2B5EF4-FFF2-40B4-BE49-F238E27FC236}">
                <a16:creationId xmlns:a16="http://schemas.microsoft.com/office/drawing/2014/main" id="{9F8FD5B4-1370-44AB-99A3-F74295AE76C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387532" y="1838610"/>
            <a:ext cx="1871662" cy="604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a:extLst>
              <a:ext uri="{FF2B5EF4-FFF2-40B4-BE49-F238E27FC236}">
                <a16:creationId xmlns:a16="http://schemas.microsoft.com/office/drawing/2014/main" id="{7A857096-9141-4DC6-9BD6-1A78E35290C1}"/>
              </a:ext>
            </a:extLst>
          </p:cNvPr>
          <p:cNvSpPr txBox="1"/>
          <p:nvPr/>
        </p:nvSpPr>
        <p:spPr>
          <a:xfrm>
            <a:off x="429656" y="135415"/>
            <a:ext cx="4319626"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cs typeface="Times New Roman" panose="02020603050405020304" pitchFamily="18" charset="0"/>
              </a:rPr>
              <a:t>10.8</a:t>
            </a:r>
            <a:r>
              <a:rPr lang="en-US" altLang="zh-CN" sz="3600" b="1" dirty="0">
                <a:solidFill>
                  <a:srgbClr val="003F88"/>
                </a:solidFill>
                <a:latin typeface="+mn-ea"/>
              </a:rPr>
              <a:t> </a:t>
            </a:r>
            <a:r>
              <a:rPr lang="en-US" altLang="zh-CN" sz="3600" dirty="0">
                <a:solidFill>
                  <a:srgbClr val="336600"/>
                </a:solidFill>
                <a:latin typeface="华文新魏" pitchFamily="2" charset="-122"/>
                <a:ea typeface="华文新魏" pitchFamily="2" charset="-122"/>
              </a:rPr>
              <a:t> </a:t>
            </a:r>
            <a:r>
              <a:rPr lang="zh-CN" altLang="en-US" sz="3600" b="1" dirty="0">
                <a:solidFill>
                  <a:srgbClr val="003F88"/>
                </a:solidFill>
                <a:latin typeface="+mn-ea"/>
              </a:rPr>
              <a:t>联接方式</a:t>
            </a:r>
          </a:p>
        </p:txBody>
      </p:sp>
    </p:spTree>
    <p:extLst>
      <p:ext uri="{BB962C8B-B14F-4D97-AF65-F5344CB8AC3E}">
        <p14:creationId xmlns:p14="http://schemas.microsoft.com/office/powerpoint/2010/main" val="11146130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D88DB5-EDCF-E186-0902-11FB60EA70D6}"/>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FFDDD872-583E-E564-F454-BF397A818747}"/>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46C064FF-CE74-283A-308E-3D371249B8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FB072A92-C65D-2786-82DD-D9C372572606}"/>
              </a:ext>
            </a:extLst>
          </p:cNvPr>
          <p:cNvSpPr/>
          <p:nvPr/>
        </p:nvSpPr>
        <p:spPr>
          <a:xfrm>
            <a:off x="0" y="174524"/>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Text Box 10">
            <a:extLst>
              <a:ext uri="{FF2B5EF4-FFF2-40B4-BE49-F238E27FC236}">
                <a16:creationId xmlns:a16="http://schemas.microsoft.com/office/drawing/2014/main" id="{F31E8F1F-2C57-47EE-803A-F7D447764AFC}"/>
              </a:ext>
            </a:extLst>
          </p:cNvPr>
          <p:cNvSpPr txBox="1">
            <a:spLocks noChangeArrowheads="1"/>
          </p:cNvSpPr>
          <p:nvPr/>
        </p:nvSpPr>
        <p:spPr bwMode="auto">
          <a:xfrm>
            <a:off x="622491" y="1650215"/>
            <a:ext cx="10947018" cy="1689052"/>
          </a:xfrm>
          <a:prstGeom prst="rect">
            <a:avLst/>
          </a:prstGeom>
          <a:solidFill>
            <a:srgbClr val="FFFFFF"/>
          </a:solidFill>
          <a:ln w="12700" cmpd="sng">
            <a:solidFill>
              <a:srgbClr val="196293"/>
            </a:solidFill>
            <a:miter lim="800000"/>
            <a:headEnd/>
            <a:tailEnd/>
          </a:ln>
        </p:spPr>
        <p:txBody>
          <a:bodyPr wrap="square" rIns="90000">
            <a:spAutoFit/>
          </a:bodyPr>
          <a:lstStyle/>
          <a:p>
            <a:pPr eaLnBrk="1" hangingPunct="1">
              <a:lnSpc>
                <a:spcPct val="150000"/>
              </a:lnSpc>
              <a:spcBef>
                <a:spcPct val="40000"/>
              </a:spcBef>
              <a:buClr>
                <a:srgbClr val="FF6600"/>
              </a:buClr>
              <a:buFont typeface="Wingdings" pitchFamily="2" charset="2"/>
              <a:buNone/>
              <a:defRPr/>
            </a:pPr>
            <a:r>
              <a:rPr lang="zh-CN" altLang="en-US" sz="2400" dirty="0">
                <a:solidFill>
                  <a:srgbClr val="FF0000"/>
                </a:solidFill>
                <a:effectLst>
                  <a:outerShdw blurRad="38100" dist="38100" dir="2700000" algn="tl">
                    <a:srgbClr val="C0C0C0"/>
                  </a:outerShdw>
                </a:effectLst>
                <a:latin typeface="微软雅黑" panose="020B0503020204020204" pitchFamily="34" charset="-122"/>
                <a:ea typeface="微软雅黑" panose="020B0503020204020204" pitchFamily="34" charset="-122"/>
              </a:rPr>
              <a:t>螺纹插装阀</a:t>
            </a:r>
            <a:r>
              <a:rPr lang="zh-CN" altLang="en-US" sz="2400" dirty="0">
                <a:latin typeface="微软雅黑" panose="020B0503020204020204" pitchFamily="34" charset="-122"/>
                <a:ea typeface="微软雅黑" panose="020B0503020204020204" pitchFamily="34" charset="-122"/>
              </a:rPr>
              <a:t>通过螺纹与阀块上的标准插孔相连接。</a:t>
            </a:r>
            <a:r>
              <a:rPr lang="zh-CN" altLang="en-US" sz="2400" b="1" dirty="0">
                <a:solidFill>
                  <a:srgbClr val="0000FF"/>
                </a:solidFill>
                <a:latin typeface="微软雅黑" panose="020B0503020204020204" pitchFamily="34" charset="-122"/>
                <a:ea typeface="微软雅黑" panose="020B0503020204020204" pitchFamily="34" charset="-122"/>
              </a:rPr>
              <a:t>在阀块上钻孔将各种功能的螺纹插装阀连接成阀系统</a:t>
            </a:r>
            <a:r>
              <a:rPr lang="zh-CN" altLang="en-US" sz="2400" dirty="0">
                <a:latin typeface="微软雅黑" panose="020B0503020204020204" pitchFamily="34" charset="-122"/>
                <a:ea typeface="微软雅黑" panose="020B0503020204020204" pitchFamily="34" charset="-122"/>
              </a:rPr>
              <a:t>。螺纹插装阀已发展为具有压力、流量和方向控制阀以及手动、电磁、比例、数字等多种控制方式以及各种尺寸系列的阀类。</a:t>
            </a:r>
          </a:p>
        </p:txBody>
      </p:sp>
      <p:sp>
        <p:nvSpPr>
          <p:cNvPr id="17" name="Text Box 13">
            <a:extLst>
              <a:ext uri="{FF2B5EF4-FFF2-40B4-BE49-F238E27FC236}">
                <a16:creationId xmlns:a16="http://schemas.microsoft.com/office/drawing/2014/main" id="{1512481F-BBD7-4DB1-87EF-811B65ECD410}"/>
              </a:ext>
            </a:extLst>
          </p:cNvPr>
          <p:cNvSpPr txBox="1">
            <a:spLocks noChangeArrowheads="1"/>
          </p:cNvSpPr>
          <p:nvPr/>
        </p:nvSpPr>
        <p:spPr bwMode="auto">
          <a:xfrm>
            <a:off x="622491" y="3820108"/>
            <a:ext cx="10947018" cy="2243050"/>
          </a:xfrm>
          <a:prstGeom prst="rect">
            <a:avLst/>
          </a:prstGeom>
          <a:solidFill>
            <a:srgbClr val="FFFFFF"/>
          </a:solidFill>
          <a:ln w="12700" cmpd="sng">
            <a:solidFill>
              <a:srgbClr val="196293"/>
            </a:solidFill>
            <a:miter lim="800000"/>
            <a:headEnd/>
            <a:tailEnd/>
          </a:ln>
        </p:spPr>
        <p:txBody>
          <a:bodyPr wrap="square" rIns="90000">
            <a:spAutoFit/>
          </a:bodyPr>
          <a:lstStyle/>
          <a:p>
            <a:pPr eaLnBrk="1" hangingPunct="1">
              <a:lnSpc>
                <a:spcPct val="150000"/>
              </a:lnSpc>
              <a:defRPr/>
            </a:pPr>
            <a:r>
              <a:rPr lang="zh-CN" altLang="en-US" sz="2400" dirty="0">
                <a:solidFill>
                  <a:srgbClr val="FF0000"/>
                </a:solidFill>
                <a:effectLst>
                  <a:outerShdw blurRad="38100" dist="38100" dir="2700000" algn="tl">
                    <a:srgbClr val="C0C0C0"/>
                  </a:outerShdw>
                </a:effectLst>
                <a:latin typeface="微软雅黑" panose="020B0503020204020204" pitchFamily="34" charset="-122"/>
                <a:ea typeface="微软雅黑" panose="020B0503020204020204" pitchFamily="34" charset="-122"/>
              </a:rPr>
              <a:t>螺纹插装阀</a:t>
            </a:r>
            <a:r>
              <a:rPr lang="zh-CN" altLang="en-US" sz="2400" dirty="0">
                <a:latin typeface="微软雅黑" panose="020B0503020204020204" pitchFamily="34" charset="-122"/>
                <a:ea typeface="微软雅黑" panose="020B0503020204020204" pitchFamily="34" charset="-122"/>
              </a:rPr>
              <a:t>有</a:t>
            </a:r>
            <a:r>
              <a:rPr lang="zh-CN" altLang="en-US" sz="2400" dirty="0">
                <a:solidFill>
                  <a:srgbClr val="FF6600"/>
                </a:solidFill>
                <a:effectLst>
                  <a:outerShdw blurRad="38100" dist="38100" dir="2700000" algn="tl">
                    <a:srgbClr val="C0C0C0"/>
                  </a:outerShdw>
                </a:effectLst>
                <a:latin typeface="微软雅黑" panose="020B0503020204020204" pitchFamily="34" charset="-122"/>
                <a:ea typeface="微软雅黑" panose="020B0503020204020204" pitchFamily="34" charset="-122"/>
              </a:rPr>
              <a:t>二、三、四通</a:t>
            </a:r>
            <a:r>
              <a:rPr lang="zh-CN" altLang="en-US" sz="2400" dirty="0">
                <a:latin typeface="微软雅黑" panose="020B0503020204020204" pitchFamily="34" charset="-122"/>
                <a:ea typeface="微软雅黑" panose="020B0503020204020204" pitchFamily="34" charset="-122"/>
              </a:rPr>
              <a:t>多种通口形式，而且不必另用螺钉固定，因而有结构紧凑、装卸方便、布置灵活等优点。螺纹插装阀的尺寸、</a:t>
            </a:r>
            <a:r>
              <a:rPr lang="zh-CN" altLang="en-US" sz="2400" b="1" dirty="0">
                <a:solidFill>
                  <a:srgbClr val="0000FF"/>
                </a:solidFill>
                <a:latin typeface="微软雅黑" panose="020B0503020204020204" pitchFamily="34" charset="-122"/>
                <a:ea typeface="微软雅黑" panose="020B0503020204020204" pitchFamily="34" charset="-122"/>
              </a:rPr>
              <a:t>流量规格一般比二通插装阀要小</a:t>
            </a:r>
            <a:r>
              <a:rPr lang="zh-CN" altLang="en-US" sz="2400" dirty="0">
                <a:latin typeface="微软雅黑" panose="020B0503020204020204" pitchFamily="34" charset="-122"/>
                <a:ea typeface="微软雅黑" panose="020B0503020204020204" pitchFamily="34" charset="-122"/>
              </a:rPr>
              <a:t>。螺纹插装阀在小型工程机械、农业机械、起重运输机械等领域有广泛应用，且有较好的发展前景。</a:t>
            </a:r>
          </a:p>
        </p:txBody>
      </p:sp>
      <p:sp>
        <p:nvSpPr>
          <p:cNvPr id="10" name="文本框 9">
            <a:extLst>
              <a:ext uri="{FF2B5EF4-FFF2-40B4-BE49-F238E27FC236}">
                <a16:creationId xmlns:a16="http://schemas.microsoft.com/office/drawing/2014/main" id="{8D01D7FA-5241-4972-B242-9CCAA6B10655}"/>
              </a:ext>
            </a:extLst>
          </p:cNvPr>
          <p:cNvSpPr txBox="1"/>
          <p:nvPr/>
        </p:nvSpPr>
        <p:spPr>
          <a:xfrm>
            <a:off x="429656" y="135415"/>
            <a:ext cx="4319626"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cs typeface="Times New Roman" panose="02020603050405020304" pitchFamily="18" charset="0"/>
              </a:rPr>
              <a:t>10.8</a:t>
            </a:r>
            <a:r>
              <a:rPr lang="en-US" altLang="zh-CN" sz="3600" b="1" dirty="0">
                <a:solidFill>
                  <a:srgbClr val="003F88"/>
                </a:solidFill>
                <a:latin typeface="+mn-ea"/>
              </a:rPr>
              <a:t> </a:t>
            </a:r>
            <a:r>
              <a:rPr lang="en-US" altLang="zh-CN" sz="3600" dirty="0">
                <a:solidFill>
                  <a:srgbClr val="336600"/>
                </a:solidFill>
                <a:latin typeface="华文新魏" pitchFamily="2" charset="-122"/>
                <a:ea typeface="华文新魏" pitchFamily="2" charset="-122"/>
              </a:rPr>
              <a:t> </a:t>
            </a:r>
            <a:r>
              <a:rPr lang="zh-CN" altLang="en-US" sz="3600" b="1" dirty="0">
                <a:solidFill>
                  <a:srgbClr val="003F88"/>
                </a:solidFill>
                <a:latin typeface="+mn-ea"/>
              </a:rPr>
              <a:t>联接方式</a:t>
            </a:r>
          </a:p>
        </p:txBody>
      </p:sp>
    </p:spTree>
    <p:extLst>
      <p:ext uri="{BB962C8B-B14F-4D97-AF65-F5344CB8AC3E}">
        <p14:creationId xmlns:p14="http://schemas.microsoft.com/office/powerpoint/2010/main" val="278463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D88DB5-EDCF-E186-0902-11FB60EA70D6}"/>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FFDDD872-583E-E564-F454-BF397A818747}"/>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46C064FF-CE74-283A-308E-3D371249B8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FB072A92-C65D-2786-82DD-D9C372572606}"/>
              </a:ext>
            </a:extLst>
          </p:cNvPr>
          <p:cNvSpPr/>
          <p:nvPr/>
        </p:nvSpPr>
        <p:spPr>
          <a:xfrm>
            <a:off x="0" y="174524"/>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0" name="Picture 2" descr="See the source image">
            <a:extLst>
              <a:ext uri="{FF2B5EF4-FFF2-40B4-BE49-F238E27FC236}">
                <a16:creationId xmlns:a16="http://schemas.microsoft.com/office/drawing/2014/main" id="{1203E326-0786-46E9-BC23-E451C3FBC802}"/>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71056" y="1524387"/>
            <a:ext cx="5892800" cy="3142827"/>
          </a:xfrm>
          <a:prstGeom prst="rect">
            <a:avLst/>
          </a:prstGeom>
          <a:noFill/>
          <a:extLst>
            <a:ext uri="{909E8E84-426E-40DD-AFC4-6F175D3DCCD1}">
              <a14:hiddenFill xmlns:a14="http://schemas.microsoft.com/office/drawing/2010/main">
                <a:solidFill>
                  <a:srgbClr val="FFFFFF"/>
                </a:solidFill>
              </a14:hiddenFill>
            </a:ext>
          </a:extLst>
        </p:spPr>
      </p:pic>
      <p:sp>
        <p:nvSpPr>
          <p:cNvPr id="11" name="矩形 10">
            <a:extLst>
              <a:ext uri="{FF2B5EF4-FFF2-40B4-BE49-F238E27FC236}">
                <a16:creationId xmlns:a16="http://schemas.microsoft.com/office/drawing/2014/main" id="{9D510FA6-3F2E-4FC0-8367-1DAD13D6630E}"/>
              </a:ext>
            </a:extLst>
          </p:cNvPr>
          <p:cNvSpPr/>
          <p:nvPr/>
        </p:nvSpPr>
        <p:spPr>
          <a:xfrm>
            <a:off x="6746007" y="1695761"/>
            <a:ext cx="5024582" cy="2616101"/>
          </a:xfrm>
          <a:prstGeom prst="rect">
            <a:avLst/>
          </a:prstGeom>
        </p:spPr>
        <p:txBody>
          <a:bodyPr wrap="square">
            <a:spAutoFit/>
          </a:bodyPr>
          <a:lstStyle/>
          <a:p>
            <a:pPr>
              <a:spcBef>
                <a:spcPts val="600"/>
              </a:spcBef>
              <a:spcAft>
                <a:spcPts val="600"/>
              </a:spcAft>
            </a:pPr>
            <a:r>
              <a:rPr lang="zh-CN" altLang="en-US" sz="2400" b="1" dirty="0">
                <a:solidFill>
                  <a:srgbClr val="C00000"/>
                </a:solidFill>
                <a:latin typeface="微软雅黑" panose="020B0503020204020204" pitchFamily="34" charset="-122"/>
                <a:ea typeface="微软雅黑" panose="020B0503020204020204" pitchFamily="34" charset="-122"/>
              </a:rPr>
              <a:t>螺纹插装阀优点</a:t>
            </a:r>
            <a:r>
              <a:rPr lang="zh-CN" altLang="en-US" sz="2000" dirty="0"/>
              <a:t>：</a:t>
            </a:r>
            <a:endParaRPr lang="en-US" altLang="zh-CN" sz="2000" dirty="0"/>
          </a:p>
          <a:p>
            <a:pPr marL="342900" indent="-342900">
              <a:spcBef>
                <a:spcPts val="600"/>
              </a:spcBef>
              <a:spcAft>
                <a:spcPts val="600"/>
              </a:spcAft>
              <a:buFont typeface="Arial" panose="020B0604020202020204" pitchFamily="34" charset="0"/>
              <a:buChar char="•"/>
            </a:pPr>
            <a:r>
              <a:rPr lang="zh-CN" altLang="en-US" sz="2000" dirty="0"/>
              <a:t>锥阀结构代替滑阀结构，实现零泄漏</a:t>
            </a:r>
            <a:endParaRPr lang="en-US" altLang="zh-CN" sz="2000" dirty="0"/>
          </a:p>
          <a:p>
            <a:pPr marL="342900" indent="-342900">
              <a:spcBef>
                <a:spcPts val="600"/>
              </a:spcBef>
              <a:spcAft>
                <a:spcPts val="600"/>
              </a:spcAft>
              <a:buFont typeface="Arial" panose="020B0604020202020204" pitchFamily="34" charset="0"/>
              <a:buChar char="•"/>
            </a:pPr>
            <a:r>
              <a:rPr lang="zh-CN" altLang="en-US" sz="2000" dirty="0"/>
              <a:t>不使用铸造件，全部数控加工，</a:t>
            </a:r>
            <a:r>
              <a:rPr lang="zh-CN" altLang="en-US" sz="2000" b="1" dirty="0">
                <a:solidFill>
                  <a:srgbClr val="0000FF"/>
                </a:solidFill>
              </a:rPr>
              <a:t>便于大批量制造</a:t>
            </a:r>
            <a:r>
              <a:rPr lang="zh-CN" altLang="en-US" sz="2000" dirty="0"/>
              <a:t>、成本低、可靠性高</a:t>
            </a:r>
            <a:endParaRPr lang="en-US" altLang="zh-CN" sz="2000" dirty="0"/>
          </a:p>
          <a:p>
            <a:pPr marL="342900" indent="-342900">
              <a:spcBef>
                <a:spcPts val="600"/>
              </a:spcBef>
              <a:spcAft>
                <a:spcPts val="600"/>
              </a:spcAft>
              <a:buFont typeface="Arial" panose="020B0604020202020204" pitchFamily="34" charset="0"/>
              <a:buChar char="•"/>
            </a:pPr>
            <a:r>
              <a:rPr lang="zh-CN" altLang="en-US" sz="2000" dirty="0"/>
              <a:t>结构紧凑，集成体积小，功率密度高</a:t>
            </a:r>
            <a:endParaRPr lang="en-US" altLang="zh-CN" sz="2000" dirty="0"/>
          </a:p>
          <a:p>
            <a:pPr marL="342900" indent="-342900">
              <a:spcBef>
                <a:spcPts val="600"/>
              </a:spcBef>
              <a:spcAft>
                <a:spcPts val="600"/>
              </a:spcAft>
              <a:buFont typeface="Arial" panose="020B0604020202020204" pitchFamily="34" charset="0"/>
              <a:buChar char="•"/>
            </a:pPr>
            <a:r>
              <a:rPr lang="zh-CN" altLang="en-US" sz="2000" dirty="0"/>
              <a:t>螺纹安装，互换性强、拆装方便</a:t>
            </a:r>
            <a:endParaRPr lang="en-US" altLang="zh-CN" sz="2000" dirty="0"/>
          </a:p>
        </p:txBody>
      </p:sp>
      <p:sp>
        <p:nvSpPr>
          <p:cNvPr id="12" name="下箭头 2">
            <a:extLst>
              <a:ext uri="{FF2B5EF4-FFF2-40B4-BE49-F238E27FC236}">
                <a16:creationId xmlns:a16="http://schemas.microsoft.com/office/drawing/2014/main" id="{B9D7FA66-EF3A-4505-BACD-80464363059A}"/>
              </a:ext>
            </a:extLst>
          </p:cNvPr>
          <p:cNvSpPr/>
          <p:nvPr/>
        </p:nvSpPr>
        <p:spPr>
          <a:xfrm>
            <a:off x="2971999" y="4697533"/>
            <a:ext cx="1108363" cy="52362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矩形 13">
            <a:extLst>
              <a:ext uri="{FF2B5EF4-FFF2-40B4-BE49-F238E27FC236}">
                <a16:creationId xmlns:a16="http://schemas.microsoft.com/office/drawing/2014/main" id="{5C7BD311-9508-4D49-A623-145F12DB4061}"/>
              </a:ext>
            </a:extLst>
          </p:cNvPr>
          <p:cNvSpPr/>
          <p:nvPr/>
        </p:nvSpPr>
        <p:spPr>
          <a:xfrm>
            <a:off x="6806333" y="4569086"/>
            <a:ext cx="5024582" cy="1846659"/>
          </a:xfrm>
          <a:prstGeom prst="rect">
            <a:avLst/>
          </a:prstGeom>
        </p:spPr>
        <p:txBody>
          <a:bodyPr wrap="square">
            <a:spAutoFit/>
          </a:bodyPr>
          <a:lstStyle/>
          <a:p>
            <a:pPr>
              <a:spcBef>
                <a:spcPts val="600"/>
              </a:spcBef>
              <a:spcAft>
                <a:spcPts val="600"/>
              </a:spcAft>
            </a:pPr>
            <a:r>
              <a:rPr lang="zh-CN" altLang="en-US" sz="2400" b="1" dirty="0">
                <a:solidFill>
                  <a:srgbClr val="C00000"/>
                </a:solidFill>
                <a:latin typeface="微软雅黑" panose="020B0503020204020204" pitchFamily="34" charset="-122"/>
                <a:ea typeface="微软雅黑" panose="020B0503020204020204" pitchFamily="34" charset="-122"/>
              </a:rPr>
              <a:t>市场情况</a:t>
            </a:r>
            <a:r>
              <a:rPr lang="zh-CN" altLang="en-US" sz="2000" dirty="0"/>
              <a:t>：</a:t>
            </a:r>
            <a:endParaRPr lang="en-US" altLang="zh-CN" sz="2000" dirty="0"/>
          </a:p>
          <a:p>
            <a:pPr marL="342900" indent="-342900">
              <a:spcBef>
                <a:spcPts val="600"/>
              </a:spcBef>
              <a:spcAft>
                <a:spcPts val="600"/>
              </a:spcAft>
              <a:buFont typeface="Arial" panose="020B0604020202020204" pitchFamily="34" charset="0"/>
              <a:buChar char="•"/>
            </a:pPr>
            <a:r>
              <a:rPr lang="zh-CN" altLang="en-US" sz="2000" dirty="0"/>
              <a:t>美国海德福斯、</a:t>
            </a:r>
            <a:r>
              <a:rPr lang="en-US" altLang="zh-CN" sz="2000" dirty="0"/>
              <a:t>Sun</a:t>
            </a:r>
            <a:r>
              <a:rPr lang="zh-CN" altLang="en-US" sz="2000" dirty="0"/>
              <a:t>、</a:t>
            </a:r>
            <a:r>
              <a:rPr lang="en-US" altLang="zh-CN" sz="2000" dirty="0"/>
              <a:t>Parker</a:t>
            </a:r>
            <a:r>
              <a:rPr lang="zh-CN" altLang="en-US" sz="2000" dirty="0"/>
              <a:t>、</a:t>
            </a:r>
            <a:r>
              <a:rPr lang="en-US" altLang="zh-CN" sz="2000" dirty="0"/>
              <a:t>Eaton</a:t>
            </a:r>
          </a:p>
          <a:p>
            <a:pPr marL="342900" indent="-342900">
              <a:spcBef>
                <a:spcPts val="600"/>
              </a:spcBef>
              <a:spcAft>
                <a:spcPts val="600"/>
              </a:spcAft>
              <a:buFont typeface="Arial" panose="020B0604020202020204" pitchFamily="34" charset="0"/>
              <a:buChar char="•"/>
            </a:pPr>
            <a:r>
              <a:rPr lang="zh-CN" altLang="en-US" sz="2000" dirty="0"/>
              <a:t>在螺纹插装阀细分领域国内无规模企业</a:t>
            </a:r>
            <a:endParaRPr lang="en-US" altLang="zh-CN" sz="2000" dirty="0"/>
          </a:p>
          <a:p>
            <a:pPr marL="342900" indent="-342900">
              <a:spcBef>
                <a:spcPts val="600"/>
              </a:spcBef>
              <a:spcAft>
                <a:spcPts val="600"/>
              </a:spcAft>
              <a:buFont typeface="Arial" panose="020B0604020202020204" pitchFamily="34" charset="0"/>
              <a:buChar char="•"/>
            </a:pPr>
            <a:r>
              <a:rPr lang="zh-CN" altLang="en-US" sz="2000" dirty="0"/>
              <a:t>我国</a:t>
            </a:r>
            <a:r>
              <a:rPr lang="en-US" altLang="zh-CN" sz="2000" dirty="0"/>
              <a:t>90%</a:t>
            </a:r>
            <a:r>
              <a:rPr lang="zh-CN" altLang="en-US" sz="2000" dirty="0"/>
              <a:t>以上高端螺纹插装阀依赖进口</a:t>
            </a:r>
            <a:endParaRPr lang="en-US" altLang="zh-CN" sz="2000" dirty="0"/>
          </a:p>
        </p:txBody>
      </p:sp>
      <p:sp>
        <p:nvSpPr>
          <p:cNvPr id="15" name="矩形 14">
            <a:extLst>
              <a:ext uri="{FF2B5EF4-FFF2-40B4-BE49-F238E27FC236}">
                <a16:creationId xmlns:a16="http://schemas.microsoft.com/office/drawing/2014/main" id="{325C9EF8-CD34-4E5E-9DEA-23094A35BD38}"/>
              </a:ext>
            </a:extLst>
          </p:cNvPr>
          <p:cNvSpPr/>
          <p:nvPr/>
        </p:nvSpPr>
        <p:spPr>
          <a:xfrm>
            <a:off x="971636" y="5404474"/>
            <a:ext cx="5109091" cy="461665"/>
          </a:xfrm>
          <a:prstGeom prst="rect">
            <a:avLst/>
          </a:prstGeom>
        </p:spPr>
        <p:txBody>
          <a:bodyPr wrap="none">
            <a:spAutoFit/>
          </a:bodyPr>
          <a:lstStyle/>
          <a:p>
            <a:r>
              <a:rPr lang="zh-CN" altLang="zh-CN" sz="2400" b="1" kern="100" dirty="0">
                <a:solidFill>
                  <a:srgbClr val="000000"/>
                </a:solidFill>
                <a:latin typeface="Times New Roman" panose="02020603050405020304" pitchFamily="18" charset="0"/>
                <a:ea typeface="仿宋_GB2312"/>
                <a:cs typeface="Times New Roman" panose="02020603050405020304" pitchFamily="18" charset="0"/>
              </a:rPr>
              <a:t>工程机械、</a:t>
            </a:r>
            <a:r>
              <a:rPr lang="zh-CN" altLang="en-US" sz="2400" b="1" kern="100" dirty="0">
                <a:solidFill>
                  <a:srgbClr val="000000"/>
                </a:solidFill>
                <a:latin typeface="Times New Roman" panose="02020603050405020304" pitchFamily="18" charset="0"/>
                <a:ea typeface="仿宋_GB2312"/>
                <a:cs typeface="Times New Roman" panose="02020603050405020304" pitchFamily="18" charset="0"/>
              </a:rPr>
              <a:t>农业机械</a:t>
            </a:r>
            <a:r>
              <a:rPr lang="zh-CN" altLang="zh-CN" sz="2400" b="1" kern="100" dirty="0">
                <a:solidFill>
                  <a:srgbClr val="000000"/>
                </a:solidFill>
                <a:latin typeface="Times New Roman" panose="02020603050405020304" pitchFamily="18" charset="0"/>
                <a:ea typeface="仿宋_GB2312"/>
                <a:cs typeface="Times New Roman" panose="02020603050405020304" pitchFamily="18" charset="0"/>
              </a:rPr>
              <a:t>、冶金矿山设备</a:t>
            </a:r>
            <a:endParaRPr lang="zh-CN" altLang="en-US" sz="2400" b="1" dirty="0"/>
          </a:p>
        </p:txBody>
      </p:sp>
      <p:sp>
        <p:nvSpPr>
          <p:cNvPr id="13" name="文本框 12">
            <a:extLst>
              <a:ext uri="{FF2B5EF4-FFF2-40B4-BE49-F238E27FC236}">
                <a16:creationId xmlns:a16="http://schemas.microsoft.com/office/drawing/2014/main" id="{138996C0-31F2-41F1-B26E-2C18981CF409}"/>
              </a:ext>
            </a:extLst>
          </p:cNvPr>
          <p:cNvSpPr txBox="1"/>
          <p:nvPr/>
        </p:nvSpPr>
        <p:spPr>
          <a:xfrm>
            <a:off x="429656" y="135415"/>
            <a:ext cx="4319626"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cs typeface="Times New Roman" panose="02020603050405020304" pitchFamily="18" charset="0"/>
              </a:rPr>
              <a:t>10.8</a:t>
            </a:r>
            <a:r>
              <a:rPr lang="en-US" altLang="zh-CN" sz="3600" b="1" dirty="0">
                <a:solidFill>
                  <a:srgbClr val="003F88"/>
                </a:solidFill>
                <a:latin typeface="+mn-ea"/>
              </a:rPr>
              <a:t> </a:t>
            </a:r>
            <a:r>
              <a:rPr lang="en-US" altLang="zh-CN" sz="3600" dirty="0">
                <a:solidFill>
                  <a:srgbClr val="336600"/>
                </a:solidFill>
                <a:latin typeface="华文新魏" pitchFamily="2" charset="-122"/>
                <a:ea typeface="华文新魏" pitchFamily="2" charset="-122"/>
              </a:rPr>
              <a:t> </a:t>
            </a:r>
            <a:r>
              <a:rPr lang="zh-CN" altLang="en-US" sz="3600" b="1" dirty="0">
                <a:solidFill>
                  <a:srgbClr val="003F88"/>
                </a:solidFill>
                <a:latin typeface="+mn-ea"/>
              </a:rPr>
              <a:t>联接方式</a:t>
            </a:r>
          </a:p>
        </p:txBody>
      </p:sp>
    </p:spTree>
    <p:extLst>
      <p:ext uri="{BB962C8B-B14F-4D97-AF65-F5344CB8AC3E}">
        <p14:creationId xmlns:p14="http://schemas.microsoft.com/office/powerpoint/2010/main" val="42517013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D88DB5-EDCF-E186-0902-11FB60EA70D6}"/>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FFDDD872-583E-E564-F454-BF397A818747}"/>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46C064FF-CE74-283A-308E-3D371249B8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FB072A92-C65D-2786-82DD-D9C372572606}"/>
              </a:ext>
            </a:extLst>
          </p:cNvPr>
          <p:cNvSpPr/>
          <p:nvPr/>
        </p:nvSpPr>
        <p:spPr>
          <a:xfrm>
            <a:off x="0" y="174524"/>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4338" name="Picture 2" descr="设计理念">
            <a:extLst>
              <a:ext uri="{FF2B5EF4-FFF2-40B4-BE49-F238E27FC236}">
                <a16:creationId xmlns:a16="http://schemas.microsoft.com/office/drawing/2014/main" id="{9AE709AA-FA00-41B8-BA2A-FA94535725F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5997" y="1257997"/>
            <a:ext cx="5600003" cy="5600003"/>
          </a:xfrm>
          <a:prstGeom prst="rect">
            <a:avLst/>
          </a:prstGeom>
          <a:noFill/>
          <a:extLst>
            <a:ext uri="{909E8E84-426E-40DD-AFC4-6F175D3DCCD1}">
              <a14:hiddenFill xmlns:a14="http://schemas.microsoft.com/office/drawing/2010/main">
                <a:solidFill>
                  <a:srgbClr val="FFFFFF"/>
                </a:solidFill>
              </a14:hiddenFill>
            </a:ext>
          </a:extLst>
        </p:spPr>
      </p:pic>
      <p:pic>
        <p:nvPicPr>
          <p:cNvPr id="14340" name="Picture 4" descr="3D模型设计">
            <a:extLst>
              <a:ext uri="{FF2B5EF4-FFF2-40B4-BE49-F238E27FC236}">
                <a16:creationId xmlns:a16="http://schemas.microsoft.com/office/drawing/2014/main" id="{10B532F1-A671-4F26-95A6-B445EE074DD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001556" y="3909257"/>
            <a:ext cx="3525877" cy="2647838"/>
          </a:xfrm>
          <a:prstGeom prst="rect">
            <a:avLst/>
          </a:prstGeom>
          <a:noFill/>
          <a:extLst>
            <a:ext uri="{909E8E84-426E-40DD-AFC4-6F175D3DCCD1}">
              <a14:hiddenFill xmlns:a14="http://schemas.microsoft.com/office/drawing/2010/main">
                <a:solidFill>
                  <a:srgbClr val="FFFFFF"/>
                </a:solidFill>
              </a14:hiddenFill>
            </a:ext>
          </a:extLst>
        </p:spPr>
      </p:pic>
      <p:pic>
        <p:nvPicPr>
          <p:cNvPr id="13" name="图片 12">
            <a:extLst>
              <a:ext uri="{FF2B5EF4-FFF2-40B4-BE49-F238E27FC236}">
                <a16:creationId xmlns:a16="http://schemas.microsoft.com/office/drawing/2014/main" id="{4D728B11-E538-4326-993D-7FA86DD638D8}"/>
              </a:ext>
            </a:extLst>
          </p:cNvPr>
          <p:cNvPicPr>
            <a:picLocks noChangeAspect="1"/>
          </p:cNvPicPr>
          <p:nvPr/>
        </p:nvPicPr>
        <p:blipFill rotWithShape="1">
          <a:blip r:embed="rId6"/>
          <a:srcRect l="6304" r="4159"/>
          <a:stretch/>
        </p:blipFill>
        <p:spPr>
          <a:xfrm>
            <a:off x="7001556" y="1111799"/>
            <a:ext cx="3287303" cy="2666350"/>
          </a:xfrm>
          <a:prstGeom prst="rect">
            <a:avLst/>
          </a:prstGeom>
        </p:spPr>
      </p:pic>
      <p:sp>
        <p:nvSpPr>
          <p:cNvPr id="10" name="文本框 9">
            <a:extLst>
              <a:ext uri="{FF2B5EF4-FFF2-40B4-BE49-F238E27FC236}">
                <a16:creationId xmlns:a16="http://schemas.microsoft.com/office/drawing/2014/main" id="{652D4B3F-ACD1-496F-B0E8-167725E2BE9C}"/>
              </a:ext>
            </a:extLst>
          </p:cNvPr>
          <p:cNvSpPr txBox="1"/>
          <p:nvPr/>
        </p:nvSpPr>
        <p:spPr>
          <a:xfrm>
            <a:off x="429656" y="135415"/>
            <a:ext cx="4319626"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cs typeface="Times New Roman" panose="02020603050405020304" pitchFamily="18" charset="0"/>
              </a:rPr>
              <a:t>10.8</a:t>
            </a:r>
            <a:r>
              <a:rPr lang="en-US" altLang="zh-CN" sz="3600" b="1" dirty="0">
                <a:solidFill>
                  <a:srgbClr val="003F88"/>
                </a:solidFill>
                <a:latin typeface="+mn-ea"/>
              </a:rPr>
              <a:t> </a:t>
            </a:r>
            <a:r>
              <a:rPr lang="en-US" altLang="zh-CN" sz="3600" dirty="0">
                <a:solidFill>
                  <a:srgbClr val="336600"/>
                </a:solidFill>
                <a:latin typeface="华文新魏" pitchFamily="2" charset="-122"/>
                <a:ea typeface="华文新魏" pitchFamily="2" charset="-122"/>
              </a:rPr>
              <a:t> </a:t>
            </a:r>
            <a:r>
              <a:rPr lang="zh-CN" altLang="en-US" sz="3600" b="1" dirty="0">
                <a:solidFill>
                  <a:srgbClr val="003F88"/>
                </a:solidFill>
                <a:latin typeface="+mn-ea"/>
              </a:rPr>
              <a:t>联接方式</a:t>
            </a:r>
          </a:p>
        </p:txBody>
      </p:sp>
    </p:spTree>
    <p:extLst>
      <p:ext uri="{BB962C8B-B14F-4D97-AF65-F5344CB8AC3E}">
        <p14:creationId xmlns:p14="http://schemas.microsoft.com/office/powerpoint/2010/main" val="27197616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D88DB5-EDCF-E186-0902-11FB60EA70D6}"/>
            </a:ext>
          </a:extLst>
        </p:cNvPr>
        <p:cNvGrpSpPr/>
        <p:nvPr/>
      </p:nvGrpSpPr>
      <p:grpSpPr>
        <a:xfrm>
          <a:off x="0" y="0"/>
          <a:ext cx="0" cy="0"/>
          <a:chOff x="0" y="0"/>
          <a:chExt cx="0" cy="0"/>
        </a:xfrm>
      </p:grpSpPr>
      <p:cxnSp>
        <p:nvCxnSpPr>
          <p:cNvPr id="5" name="直接连接符 4">
            <a:extLst>
              <a:ext uri="{FF2B5EF4-FFF2-40B4-BE49-F238E27FC236}">
                <a16:creationId xmlns:a16="http://schemas.microsoft.com/office/drawing/2014/main" id="{FFDDD872-583E-E564-F454-BF397A818747}"/>
              </a:ext>
            </a:extLst>
          </p:cNvPr>
          <p:cNvCxnSpPr>
            <a:cxnSpLocks/>
          </p:cNvCxnSpPr>
          <p:nvPr/>
        </p:nvCxnSpPr>
        <p:spPr>
          <a:xfrm>
            <a:off x="0" y="854315"/>
            <a:ext cx="12192000"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pic>
        <p:nvPicPr>
          <p:cNvPr id="8" name="图片 7">
            <a:extLst>
              <a:ext uri="{FF2B5EF4-FFF2-40B4-BE49-F238E27FC236}">
                <a16:creationId xmlns:a16="http://schemas.microsoft.com/office/drawing/2014/main" id="{46C064FF-CE74-283A-308E-3D371249B8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4234" y="174524"/>
            <a:ext cx="2045209" cy="568113"/>
          </a:xfrm>
          <a:prstGeom prst="rect">
            <a:avLst/>
          </a:prstGeom>
        </p:spPr>
      </p:pic>
      <p:sp>
        <p:nvSpPr>
          <p:cNvPr id="25" name="矩形 24">
            <a:extLst>
              <a:ext uri="{FF2B5EF4-FFF2-40B4-BE49-F238E27FC236}">
                <a16:creationId xmlns:a16="http://schemas.microsoft.com/office/drawing/2014/main" id="{FB072A92-C65D-2786-82DD-D9C372572606}"/>
              </a:ext>
            </a:extLst>
          </p:cNvPr>
          <p:cNvSpPr/>
          <p:nvPr/>
        </p:nvSpPr>
        <p:spPr>
          <a:xfrm>
            <a:off x="0" y="174524"/>
            <a:ext cx="319314" cy="56810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3" name="图片 12">
            <a:extLst>
              <a:ext uri="{FF2B5EF4-FFF2-40B4-BE49-F238E27FC236}">
                <a16:creationId xmlns:a16="http://schemas.microsoft.com/office/drawing/2014/main" id="{54972BB8-2EF5-4E49-8EF0-7A7C29EFC2A8}"/>
              </a:ext>
            </a:extLst>
          </p:cNvPr>
          <p:cNvPicPr>
            <a:picLocks noChangeAspect="1"/>
          </p:cNvPicPr>
          <p:nvPr/>
        </p:nvPicPr>
        <p:blipFill rotWithShape="1">
          <a:blip r:embed="rId4"/>
          <a:srcRect l="6304" r="4159"/>
          <a:stretch/>
        </p:blipFill>
        <p:spPr>
          <a:xfrm>
            <a:off x="692563" y="3420566"/>
            <a:ext cx="4056719" cy="3290428"/>
          </a:xfrm>
          <a:prstGeom prst="rect">
            <a:avLst/>
          </a:prstGeom>
        </p:spPr>
      </p:pic>
      <p:pic>
        <p:nvPicPr>
          <p:cNvPr id="16" name="图片 15">
            <a:extLst>
              <a:ext uri="{FF2B5EF4-FFF2-40B4-BE49-F238E27FC236}">
                <a16:creationId xmlns:a16="http://schemas.microsoft.com/office/drawing/2014/main" id="{9B6F7D4D-5275-42BE-B4EC-048B8E2858A4}"/>
              </a:ext>
            </a:extLst>
          </p:cNvPr>
          <p:cNvPicPr>
            <a:picLocks noChangeAspect="1"/>
          </p:cNvPicPr>
          <p:nvPr/>
        </p:nvPicPr>
        <p:blipFill>
          <a:blip r:embed="rId5">
            <a:clrChange>
              <a:clrFrom>
                <a:srgbClr val="FFFFFF"/>
              </a:clrFrom>
              <a:clrTo>
                <a:srgbClr val="FFFFFF">
                  <a:alpha val="0"/>
                </a:srgbClr>
              </a:clrTo>
            </a:clrChange>
          </a:blip>
          <a:stretch>
            <a:fillRect/>
          </a:stretch>
        </p:blipFill>
        <p:spPr>
          <a:xfrm rot="19504458">
            <a:off x="6304553" y="2512405"/>
            <a:ext cx="4966861" cy="3051594"/>
          </a:xfrm>
          <a:prstGeom prst="rect">
            <a:avLst/>
          </a:prstGeom>
        </p:spPr>
      </p:pic>
      <p:sp>
        <p:nvSpPr>
          <p:cNvPr id="10" name="文本框 9">
            <a:extLst>
              <a:ext uri="{FF2B5EF4-FFF2-40B4-BE49-F238E27FC236}">
                <a16:creationId xmlns:a16="http://schemas.microsoft.com/office/drawing/2014/main" id="{5788A678-181A-42CE-A515-2F54A3B4EEC3}"/>
              </a:ext>
            </a:extLst>
          </p:cNvPr>
          <p:cNvSpPr txBox="1"/>
          <p:nvPr/>
        </p:nvSpPr>
        <p:spPr>
          <a:xfrm>
            <a:off x="429656" y="135415"/>
            <a:ext cx="4319626" cy="646331"/>
          </a:xfrm>
          <a:prstGeom prst="rect">
            <a:avLst/>
          </a:prstGeom>
          <a:noFill/>
        </p:spPr>
        <p:txBody>
          <a:bodyPr wrap="square" rtlCol="0">
            <a:spAutoFit/>
          </a:bodyPr>
          <a:lstStyle/>
          <a:p>
            <a:r>
              <a:rPr lang="en-US" altLang="zh-CN" sz="3600" b="1" dirty="0">
                <a:solidFill>
                  <a:srgbClr val="003F88"/>
                </a:solidFill>
                <a:latin typeface="Times New Roman" panose="02020603050405020304" pitchFamily="18" charset="0"/>
                <a:cs typeface="Times New Roman" panose="02020603050405020304" pitchFamily="18" charset="0"/>
              </a:rPr>
              <a:t>10.8</a:t>
            </a:r>
            <a:r>
              <a:rPr lang="en-US" altLang="zh-CN" sz="3600" b="1" dirty="0">
                <a:solidFill>
                  <a:srgbClr val="003F88"/>
                </a:solidFill>
                <a:latin typeface="+mn-ea"/>
              </a:rPr>
              <a:t> </a:t>
            </a:r>
            <a:r>
              <a:rPr lang="en-US" altLang="zh-CN" sz="3600" dirty="0">
                <a:solidFill>
                  <a:srgbClr val="336600"/>
                </a:solidFill>
                <a:latin typeface="华文新魏" pitchFamily="2" charset="-122"/>
                <a:ea typeface="华文新魏" pitchFamily="2" charset="-122"/>
              </a:rPr>
              <a:t> </a:t>
            </a:r>
            <a:r>
              <a:rPr lang="zh-CN" altLang="en-US" sz="3600" b="1" dirty="0">
                <a:solidFill>
                  <a:srgbClr val="003F88"/>
                </a:solidFill>
                <a:latin typeface="+mn-ea"/>
              </a:rPr>
              <a:t>联接方式</a:t>
            </a:r>
          </a:p>
        </p:txBody>
      </p:sp>
    </p:spTree>
    <p:extLst>
      <p:ext uri="{BB962C8B-B14F-4D97-AF65-F5344CB8AC3E}">
        <p14:creationId xmlns:p14="http://schemas.microsoft.com/office/powerpoint/2010/main" val="7369650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微arial">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1423</TotalTime>
  <Words>5002</Words>
  <Application>Microsoft Office PowerPoint</Application>
  <PresentationFormat>宽屏</PresentationFormat>
  <Paragraphs>633</Paragraphs>
  <Slides>55</Slides>
  <Notes>39</Notes>
  <HiddenSlides>0</HiddenSlides>
  <MMClips>0</MMClips>
  <ScaleCrop>false</ScaleCrop>
  <HeadingPairs>
    <vt:vector size="8" baseType="variant">
      <vt:variant>
        <vt:lpstr>已用的字体</vt:lpstr>
      </vt:variant>
      <vt:variant>
        <vt:i4>9</vt:i4>
      </vt:variant>
      <vt:variant>
        <vt:lpstr>主题</vt:lpstr>
      </vt:variant>
      <vt:variant>
        <vt:i4>1</vt:i4>
      </vt:variant>
      <vt:variant>
        <vt:lpstr>嵌入 OLE 服务器</vt:lpstr>
      </vt:variant>
      <vt:variant>
        <vt:i4>1</vt:i4>
      </vt:variant>
      <vt:variant>
        <vt:lpstr>幻灯片标题</vt:lpstr>
      </vt:variant>
      <vt:variant>
        <vt:i4>55</vt:i4>
      </vt:variant>
    </vt:vector>
  </HeadingPairs>
  <TitlesOfParts>
    <vt:vector size="66" baseType="lpstr">
      <vt:lpstr>Helvetica Neue</vt:lpstr>
      <vt:lpstr>等线</vt:lpstr>
      <vt:lpstr>黑体</vt:lpstr>
      <vt:lpstr>华文新魏</vt:lpstr>
      <vt:lpstr>微软雅黑</vt:lpstr>
      <vt:lpstr>Arial</vt:lpstr>
      <vt:lpstr>Cambria Math</vt:lpstr>
      <vt:lpstr>Times New Roman</vt:lpstr>
      <vt:lpstr>Wingdings</vt:lpstr>
      <vt:lpstr>Office 主题​​</vt:lpstr>
      <vt:lpstr>Equation</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s</dc:creator>
  <cp:lastModifiedBy>bin lou</cp:lastModifiedBy>
  <cp:revision>105</cp:revision>
  <dcterms:created xsi:type="dcterms:W3CDTF">2024-06-04T23:12:24Z</dcterms:created>
  <dcterms:modified xsi:type="dcterms:W3CDTF">2025-12-17T02:08:18Z</dcterms:modified>
</cp:coreProperties>
</file>