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348" r:id="rId2"/>
    <p:sldId id="349" r:id="rId3"/>
    <p:sldId id="350" r:id="rId4"/>
    <p:sldId id="351" r:id="rId5"/>
    <p:sldId id="580" r:id="rId6"/>
    <p:sldId id="581" r:id="rId7"/>
    <p:sldId id="352" r:id="rId8"/>
    <p:sldId id="353" r:id="rId9"/>
    <p:sldId id="354" r:id="rId10"/>
    <p:sldId id="355" r:id="rId11"/>
    <p:sldId id="356" r:id="rId12"/>
    <p:sldId id="357" r:id="rId13"/>
    <p:sldId id="359" r:id="rId14"/>
    <p:sldId id="360" r:id="rId15"/>
    <p:sldId id="361" r:id="rId16"/>
    <p:sldId id="362" r:id="rId17"/>
    <p:sldId id="363" r:id="rId18"/>
    <p:sldId id="364" r:id="rId19"/>
    <p:sldId id="365" r:id="rId20"/>
    <p:sldId id="582" r:id="rId21"/>
    <p:sldId id="368" r:id="rId22"/>
    <p:sldId id="369" r:id="rId23"/>
    <p:sldId id="370" r:id="rId24"/>
    <p:sldId id="583" r:id="rId25"/>
    <p:sldId id="584" r:id="rId26"/>
    <p:sldId id="585" r:id="rId27"/>
    <p:sldId id="371" r:id="rId28"/>
    <p:sldId id="586" r:id="rId29"/>
    <p:sldId id="587" r:id="rId30"/>
    <p:sldId id="372" r:id="rId31"/>
    <p:sldId id="373" r:id="rId32"/>
    <p:sldId id="374" r:id="rId33"/>
    <p:sldId id="375" r:id="rId34"/>
    <p:sldId id="376" r:id="rId35"/>
    <p:sldId id="377" r:id="rId36"/>
    <p:sldId id="378" r:id="rId37"/>
    <p:sldId id="379" r:id="rId38"/>
    <p:sldId id="380" r:id="rId39"/>
    <p:sldId id="381" r:id="rId40"/>
    <p:sldId id="383" r:id="rId41"/>
    <p:sldId id="384" r:id="rId42"/>
    <p:sldId id="386" r:id="rId43"/>
    <p:sldId id="588" r:id="rId44"/>
    <p:sldId id="347" r:id="rId45"/>
    <p:sldId id="358" r:id="rId46"/>
    <p:sldId id="387" r:id="rId47"/>
    <p:sldId id="388" r:id="rId48"/>
    <p:sldId id="389" r:id="rId49"/>
    <p:sldId id="390" r:id="rId50"/>
    <p:sldId id="391" r:id="rId51"/>
    <p:sldId id="298" r:id="rId52"/>
    <p:sldId id="559" r:id="rId53"/>
    <p:sldId id="566" r:id="rId54"/>
    <p:sldId id="567" r:id="rId55"/>
    <p:sldId id="301" r:id="rId56"/>
    <p:sldId id="575" r:id="rId57"/>
    <p:sldId id="576" r:id="rId58"/>
    <p:sldId id="568" r:id="rId59"/>
    <p:sldId id="569" r:id="rId60"/>
    <p:sldId id="570" r:id="rId61"/>
    <p:sldId id="571" r:id="rId62"/>
    <p:sldId id="572" r:id="rId63"/>
    <p:sldId id="573" r:id="rId64"/>
    <p:sldId id="574" r:id="rId65"/>
    <p:sldId id="577" r:id="rId66"/>
    <p:sldId id="578" r:id="rId67"/>
    <p:sldId id="579" r:id="rId6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499590-DDBA-C1B1-A44F-DC175C1EFCAF}" name="汪涛" initials="汪涛" userId="汪涛" providerId="None"/>
  <p188:author id="{5E01BCDE-CE39-0B18-6A1B-D7D970BF0C8B}" name="lou bin" initials="lb" userId="3bdb8542f6fe6ae6"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韩枫 张" initials="韩张" lastIdx="2" clrIdx="0">
    <p:extLst>
      <p:ext uri="{19B8F6BF-5375-455C-9EA6-DF929625EA0E}">
        <p15:presenceInfo xmlns:p15="http://schemas.microsoft.com/office/powerpoint/2012/main" userId="a5e380d92f4267c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F88"/>
    <a:srgbClr val="8994BD"/>
    <a:srgbClr val="96A2D0"/>
    <a:srgbClr val="93BFF5"/>
    <a:srgbClr val="E6E6E6"/>
    <a:srgbClr val="3A68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8" autoAdjust="0"/>
    <p:restoredTop sz="94660"/>
  </p:normalViewPr>
  <p:slideViewPr>
    <p:cSldViewPr snapToGrid="0">
      <p:cViewPr varScale="1">
        <p:scale>
          <a:sx n="96" d="100"/>
          <a:sy n="96"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8/10/relationships/authors" Target="authors.xml"/><Relationship Id="rId7" Type="http://schemas.openxmlformats.org/officeDocument/2006/relationships/slide" Target="slides/slide6.xml"/><Relationship Id="rId7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B87531D-A379-4178-A5E4-79A9698B2C5E}" type="doc">
      <dgm:prSet loTypeId="urn:microsoft.com/office/officeart/2005/8/layout/hierarchy2#1" loCatId="hierarchy" qsTypeId="urn:microsoft.com/office/officeart/2005/8/quickstyle/simple4#1" qsCatId="simple" csTypeId="urn:microsoft.com/office/officeart/2005/8/colors/accent0_1#1" csCatId="mainScheme" phldr="1"/>
      <dgm:spPr/>
      <dgm:t>
        <a:bodyPr/>
        <a:lstStyle/>
        <a:p>
          <a:endParaRPr lang="zh-CN" altLang="en-US"/>
        </a:p>
      </dgm:t>
    </dgm:pt>
    <dgm:pt modelId="{98879BAF-5D92-4723-A222-A1487F924D85}">
      <dgm:prSet phldrT="[文本]" custT="1"/>
      <dgm:spPr/>
      <dgm:t>
        <a:bodyPr/>
        <a:lstStyle/>
        <a:p>
          <a:r>
            <a:rPr lang="zh-CN" altLang="en-US" sz="1800" b="0" dirty="0">
              <a:latin typeface="+mj-ea"/>
              <a:ea typeface="+mj-ea"/>
            </a:rPr>
            <a:t>压力控制阀</a:t>
          </a:r>
        </a:p>
      </dgm:t>
    </dgm:pt>
    <dgm:pt modelId="{D6EA2D19-0FF9-4F68-B5A0-10CE5F2E7729}" type="parTrans" cxnId="{9947B44C-E4BE-4130-9010-0F304CA10FB7}">
      <dgm:prSet/>
      <dgm:spPr/>
      <dgm:t>
        <a:bodyPr/>
        <a:lstStyle/>
        <a:p>
          <a:endParaRPr lang="zh-CN" altLang="en-US" sz="1800" b="0">
            <a:solidFill>
              <a:schemeClr val="tx1"/>
            </a:solidFill>
            <a:latin typeface="+mj-ea"/>
            <a:ea typeface="+mj-ea"/>
          </a:endParaRPr>
        </a:p>
      </dgm:t>
    </dgm:pt>
    <dgm:pt modelId="{5B7C3CFF-1EEC-41F6-829D-906D0B0F6457}" type="sibTrans" cxnId="{9947B44C-E4BE-4130-9010-0F304CA10FB7}">
      <dgm:prSet/>
      <dgm:spPr/>
      <dgm:t>
        <a:bodyPr/>
        <a:lstStyle/>
        <a:p>
          <a:endParaRPr lang="zh-CN" altLang="en-US" sz="1800" b="0">
            <a:solidFill>
              <a:schemeClr val="tx1"/>
            </a:solidFill>
            <a:latin typeface="+mj-ea"/>
            <a:ea typeface="+mj-ea"/>
          </a:endParaRPr>
        </a:p>
      </dgm:t>
    </dgm:pt>
    <dgm:pt modelId="{D8B04F2C-AACE-4767-8B1A-EE7391963F6B}">
      <dgm:prSet phldrT="[文本]" custT="1"/>
      <dgm:spPr/>
      <dgm:t>
        <a:bodyPr/>
        <a:lstStyle/>
        <a:p>
          <a:r>
            <a:rPr lang="zh-CN" altLang="en-US" sz="1800" b="0" dirty="0">
              <a:latin typeface="+mj-ea"/>
              <a:ea typeface="+mj-ea"/>
            </a:rPr>
            <a:t>按工作原理分</a:t>
          </a:r>
        </a:p>
      </dgm:t>
    </dgm:pt>
    <dgm:pt modelId="{C17CDE0A-CA96-4F56-994B-E36A1463BB16}" type="parTrans" cxnId="{BDA04333-2519-4C95-B615-D5FF5CE7BB5E}">
      <dgm:prSet custT="1"/>
      <dgm:spPr/>
      <dgm:t>
        <a:bodyPr/>
        <a:lstStyle/>
        <a:p>
          <a:endParaRPr lang="zh-CN" altLang="en-US" sz="1800" b="0">
            <a:solidFill>
              <a:schemeClr val="tx1"/>
            </a:solidFill>
            <a:latin typeface="+mj-ea"/>
            <a:ea typeface="+mj-ea"/>
          </a:endParaRPr>
        </a:p>
      </dgm:t>
    </dgm:pt>
    <dgm:pt modelId="{B60BD2C0-1637-42C0-BDC3-6DCA278C5780}" type="sibTrans" cxnId="{BDA04333-2519-4C95-B615-D5FF5CE7BB5E}">
      <dgm:prSet/>
      <dgm:spPr/>
      <dgm:t>
        <a:bodyPr/>
        <a:lstStyle/>
        <a:p>
          <a:endParaRPr lang="zh-CN" altLang="en-US" sz="1800" b="0">
            <a:solidFill>
              <a:schemeClr val="tx1"/>
            </a:solidFill>
            <a:latin typeface="+mj-ea"/>
            <a:ea typeface="+mj-ea"/>
          </a:endParaRPr>
        </a:p>
      </dgm:t>
    </dgm:pt>
    <dgm:pt modelId="{CC6E99DC-D057-41D0-861B-4353F8554977}">
      <dgm:prSet phldrT="[文本]" custT="1"/>
      <dgm:spPr/>
      <dgm:t>
        <a:bodyPr/>
        <a:lstStyle/>
        <a:p>
          <a:r>
            <a:rPr lang="zh-CN" altLang="en-US" sz="1800" b="0" dirty="0">
              <a:latin typeface="+mj-ea"/>
              <a:ea typeface="+mj-ea"/>
            </a:rPr>
            <a:t>先导式</a:t>
          </a:r>
        </a:p>
      </dgm:t>
    </dgm:pt>
    <dgm:pt modelId="{6B44853C-8EAA-423A-8E1B-A2D0C452237B}" type="parTrans" cxnId="{FBDCF467-C53A-4E9B-8544-82A11CDE1757}">
      <dgm:prSet custT="1"/>
      <dgm:spPr/>
      <dgm:t>
        <a:bodyPr/>
        <a:lstStyle/>
        <a:p>
          <a:endParaRPr lang="zh-CN" altLang="en-US" sz="1800" b="0">
            <a:solidFill>
              <a:schemeClr val="tx1"/>
            </a:solidFill>
            <a:latin typeface="+mj-ea"/>
            <a:ea typeface="+mj-ea"/>
          </a:endParaRPr>
        </a:p>
      </dgm:t>
    </dgm:pt>
    <dgm:pt modelId="{E788AF70-7FF5-468F-9519-8E0935C13F31}" type="sibTrans" cxnId="{FBDCF467-C53A-4E9B-8544-82A11CDE1757}">
      <dgm:prSet/>
      <dgm:spPr/>
      <dgm:t>
        <a:bodyPr/>
        <a:lstStyle/>
        <a:p>
          <a:endParaRPr lang="zh-CN" altLang="en-US" sz="1800" b="0">
            <a:solidFill>
              <a:schemeClr val="tx1"/>
            </a:solidFill>
            <a:latin typeface="+mj-ea"/>
            <a:ea typeface="+mj-ea"/>
          </a:endParaRPr>
        </a:p>
      </dgm:t>
    </dgm:pt>
    <dgm:pt modelId="{5207BE07-A96A-4608-8254-75708F2855E7}">
      <dgm:prSet phldrT="[文本]" custT="1"/>
      <dgm:spPr/>
      <dgm:t>
        <a:bodyPr/>
        <a:lstStyle/>
        <a:p>
          <a:r>
            <a:rPr lang="zh-CN" altLang="en-US" sz="1800" b="0" dirty="0">
              <a:latin typeface="+mj-ea"/>
              <a:ea typeface="+mj-ea"/>
            </a:rPr>
            <a:t>按阀芯结构分</a:t>
          </a:r>
        </a:p>
      </dgm:t>
    </dgm:pt>
    <dgm:pt modelId="{C784BA81-A95A-4B66-B28A-304F5E1F745A}" type="parTrans" cxnId="{B1E347D6-2975-4324-B9BC-64CDC499F203}">
      <dgm:prSet custT="1"/>
      <dgm:spPr/>
      <dgm:t>
        <a:bodyPr/>
        <a:lstStyle/>
        <a:p>
          <a:endParaRPr lang="zh-CN" altLang="en-US" sz="1800" b="0">
            <a:solidFill>
              <a:schemeClr val="tx1"/>
            </a:solidFill>
            <a:latin typeface="+mj-ea"/>
            <a:ea typeface="+mj-ea"/>
          </a:endParaRPr>
        </a:p>
      </dgm:t>
    </dgm:pt>
    <dgm:pt modelId="{40F52175-F5A3-47E8-961F-F3797E616098}" type="sibTrans" cxnId="{B1E347D6-2975-4324-B9BC-64CDC499F203}">
      <dgm:prSet/>
      <dgm:spPr/>
      <dgm:t>
        <a:bodyPr/>
        <a:lstStyle/>
        <a:p>
          <a:endParaRPr lang="zh-CN" altLang="en-US" sz="1800" b="0">
            <a:solidFill>
              <a:schemeClr val="tx1"/>
            </a:solidFill>
            <a:latin typeface="+mj-ea"/>
            <a:ea typeface="+mj-ea"/>
          </a:endParaRPr>
        </a:p>
      </dgm:t>
    </dgm:pt>
    <dgm:pt modelId="{B1080E73-D3B7-443A-8BD3-8FD202FFEAB4}">
      <dgm:prSet phldrT="[文本]" custT="1"/>
      <dgm:spPr/>
      <dgm:t>
        <a:bodyPr/>
        <a:lstStyle/>
        <a:p>
          <a:r>
            <a:rPr lang="zh-CN" altLang="en-US" sz="1800" b="0">
              <a:latin typeface="+mj-ea"/>
              <a:ea typeface="+mj-ea"/>
            </a:rPr>
            <a:t>滑阀</a:t>
          </a:r>
          <a:endParaRPr lang="zh-CN" altLang="en-US" sz="1800" b="0" dirty="0">
            <a:latin typeface="+mj-ea"/>
            <a:ea typeface="+mj-ea"/>
          </a:endParaRPr>
        </a:p>
      </dgm:t>
    </dgm:pt>
    <dgm:pt modelId="{C905BEC6-D248-449C-A304-F5A2DFAFC7E9}" type="parTrans" cxnId="{BA06084B-1759-4EDB-97E7-4979663DD114}">
      <dgm:prSet custT="1"/>
      <dgm:spPr/>
      <dgm:t>
        <a:bodyPr/>
        <a:lstStyle/>
        <a:p>
          <a:endParaRPr lang="zh-CN" altLang="en-US" sz="1800" b="0">
            <a:solidFill>
              <a:schemeClr val="tx1"/>
            </a:solidFill>
            <a:latin typeface="+mj-ea"/>
            <a:ea typeface="+mj-ea"/>
          </a:endParaRPr>
        </a:p>
      </dgm:t>
    </dgm:pt>
    <dgm:pt modelId="{5E5B1958-9342-47B2-8F66-FFC8AE06B80B}" type="sibTrans" cxnId="{BA06084B-1759-4EDB-97E7-4979663DD114}">
      <dgm:prSet/>
      <dgm:spPr/>
      <dgm:t>
        <a:bodyPr/>
        <a:lstStyle/>
        <a:p>
          <a:endParaRPr lang="zh-CN" altLang="en-US" sz="1800" b="0">
            <a:solidFill>
              <a:schemeClr val="tx1"/>
            </a:solidFill>
            <a:latin typeface="+mj-ea"/>
            <a:ea typeface="+mj-ea"/>
          </a:endParaRPr>
        </a:p>
      </dgm:t>
    </dgm:pt>
    <dgm:pt modelId="{655F7306-3161-4D9A-8D9B-BEA0282593C4}">
      <dgm:prSet custT="1"/>
      <dgm:spPr/>
      <dgm:t>
        <a:bodyPr/>
        <a:lstStyle/>
        <a:p>
          <a:r>
            <a:rPr lang="zh-CN" altLang="en-US" sz="1800" b="0" dirty="0">
              <a:latin typeface="+mj-ea"/>
              <a:ea typeface="+mj-ea"/>
            </a:rPr>
            <a:t>直动式</a:t>
          </a:r>
        </a:p>
      </dgm:t>
    </dgm:pt>
    <dgm:pt modelId="{24940D8A-5BE3-4AAD-B059-BC2700B40730}" type="parTrans" cxnId="{E6E295E9-C18D-4AE9-BD8D-5F5B48DB9163}">
      <dgm:prSet custT="1"/>
      <dgm:spPr/>
      <dgm:t>
        <a:bodyPr/>
        <a:lstStyle/>
        <a:p>
          <a:endParaRPr lang="zh-CN" altLang="en-US" sz="1800" b="0">
            <a:solidFill>
              <a:schemeClr val="tx1"/>
            </a:solidFill>
            <a:latin typeface="+mj-ea"/>
            <a:ea typeface="+mj-ea"/>
          </a:endParaRPr>
        </a:p>
      </dgm:t>
    </dgm:pt>
    <dgm:pt modelId="{D1DCD7E3-8D6B-444E-922F-38C20384963F}" type="sibTrans" cxnId="{E6E295E9-C18D-4AE9-BD8D-5F5B48DB9163}">
      <dgm:prSet/>
      <dgm:spPr/>
      <dgm:t>
        <a:bodyPr/>
        <a:lstStyle/>
        <a:p>
          <a:endParaRPr lang="zh-CN" altLang="en-US" sz="1800" b="0">
            <a:solidFill>
              <a:schemeClr val="tx1"/>
            </a:solidFill>
            <a:latin typeface="+mj-ea"/>
            <a:ea typeface="+mj-ea"/>
          </a:endParaRPr>
        </a:p>
      </dgm:t>
    </dgm:pt>
    <dgm:pt modelId="{8E74C573-022D-41B6-AC8A-4DB64C7DC62C}">
      <dgm:prSet custT="1"/>
      <dgm:spPr/>
      <dgm:t>
        <a:bodyPr/>
        <a:lstStyle/>
        <a:p>
          <a:r>
            <a:rPr lang="zh-CN" altLang="en-US" sz="1800" b="0" dirty="0">
              <a:latin typeface="+mj-ea"/>
              <a:ea typeface="+mj-ea"/>
            </a:rPr>
            <a:t>球阀</a:t>
          </a:r>
        </a:p>
      </dgm:t>
    </dgm:pt>
    <dgm:pt modelId="{222F1596-4825-4305-8B28-1427AF2BB459}" type="parTrans" cxnId="{84F88755-DF6B-40A4-800B-8E89B44308AA}">
      <dgm:prSet custT="1"/>
      <dgm:spPr/>
      <dgm:t>
        <a:bodyPr/>
        <a:lstStyle/>
        <a:p>
          <a:endParaRPr lang="zh-CN" altLang="en-US" sz="1800" b="0">
            <a:solidFill>
              <a:schemeClr val="tx1"/>
            </a:solidFill>
            <a:latin typeface="+mj-ea"/>
            <a:ea typeface="+mj-ea"/>
          </a:endParaRPr>
        </a:p>
      </dgm:t>
    </dgm:pt>
    <dgm:pt modelId="{A636DCA9-6D9A-49E0-BB9C-BBBD1F2AA46D}" type="sibTrans" cxnId="{84F88755-DF6B-40A4-800B-8E89B44308AA}">
      <dgm:prSet/>
      <dgm:spPr/>
      <dgm:t>
        <a:bodyPr/>
        <a:lstStyle/>
        <a:p>
          <a:endParaRPr lang="zh-CN" altLang="en-US" sz="1800" b="0">
            <a:solidFill>
              <a:schemeClr val="tx1"/>
            </a:solidFill>
            <a:latin typeface="+mj-ea"/>
            <a:ea typeface="+mj-ea"/>
          </a:endParaRPr>
        </a:p>
      </dgm:t>
    </dgm:pt>
    <dgm:pt modelId="{E6109641-78C2-424C-93AE-3B499270AE9E}">
      <dgm:prSet custT="1"/>
      <dgm:spPr/>
      <dgm:t>
        <a:bodyPr/>
        <a:lstStyle/>
        <a:p>
          <a:r>
            <a:rPr lang="zh-CN" altLang="en-US" sz="1800" b="0">
              <a:latin typeface="+mj-ea"/>
              <a:ea typeface="+mj-ea"/>
            </a:rPr>
            <a:t>锥阀</a:t>
          </a:r>
          <a:endParaRPr lang="zh-CN" altLang="en-US" sz="1800" b="0" dirty="0">
            <a:latin typeface="+mj-ea"/>
            <a:ea typeface="+mj-ea"/>
          </a:endParaRPr>
        </a:p>
      </dgm:t>
    </dgm:pt>
    <dgm:pt modelId="{E0AE994F-14E0-4783-8CDE-A06B38A1F63E}" type="parTrans" cxnId="{4C9C9FA4-BED3-48FD-848A-2C4190734BC1}">
      <dgm:prSet custT="1"/>
      <dgm:spPr/>
      <dgm:t>
        <a:bodyPr/>
        <a:lstStyle/>
        <a:p>
          <a:endParaRPr lang="zh-CN" altLang="en-US" sz="1800" b="0">
            <a:solidFill>
              <a:schemeClr val="tx1"/>
            </a:solidFill>
            <a:latin typeface="+mj-ea"/>
            <a:ea typeface="+mj-ea"/>
          </a:endParaRPr>
        </a:p>
      </dgm:t>
    </dgm:pt>
    <dgm:pt modelId="{DEE5848E-67EE-4E1E-ADFC-52A4DFCCB6B1}" type="sibTrans" cxnId="{4C9C9FA4-BED3-48FD-848A-2C4190734BC1}">
      <dgm:prSet/>
      <dgm:spPr/>
      <dgm:t>
        <a:bodyPr/>
        <a:lstStyle/>
        <a:p>
          <a:endParaRPr lang="zh-CN" altLang="en-US" sz="1800" b="0">
            <a:solidFill>
              <a:schemeClr val="tx1"/>
            </a:solidFill>
            <a:latin typeface="+mj-ea"/>
            <a:ea typeface="+mj-ea"/>
          </a:endParaRPr>
        </a:p>
      </dgm:t>
    </dgm:pt>
    <dgm:pt modelId="{6F951B6B-943D-4B91-B82B-35AFECD5582F}">
      <dgm:prSet custT="1"/>
      <dgm:spPr/>
      <dgm:t>
        <a:bodyPr/>
        <a:lstStyle/>
        <a:p>
          <a:r>
            <a:rPr lang="zh-CN" altLang="en-US" sz="1800" b="1" dirty="0">
              <a:solidFill>
                <a:srgbClr val="0070C0"/>
              </a:solidFill>
              <a:latin typeface="+mj-ea"/>
              <a:ea typeface="+mj-ea"/>
            </a:rPr>
            <a:t>按功用分</a:t>
          </a:r>
        </a:p>
      </dgm:t>
    </dgm:pt>
    <dgm:pt modelId="{2999EAE6-94CA-4B30-BC60-FE419AE4A83B}" type="parTrans" cxnId="{3E217C67-3172-4504-86D7-30B69B08FA3E}">
      <dgm:prSet/>
      <dgm:spPr/>
      <dgm:t>
        <a:bodyPr/>
        <a:lstStyle/>
        <a:p>
          <a:endParaRPr lang="zh-CN" altLang="en-US" b="0">
            <a:latin typeface="+mj-ea"/>
            <a:ea typeface="+mj-ea"/>
          </a:endParaRPr>
        </a:p>
      </dgm:t>
    </dgm:pt>
    <dgm:pt modelId="{ACDACF5B-F81C-4366-9F10-E1478FF763DF}" type="sibTrans" cxnId="{3E217C67-3172-4504-86D7-30B69B08FA3E}">
      <dgm:prSet/>
      <dgm:spPr/>
      <dgm:t>
        <a:bodyPr/>
        <a:lstStyle/>
        <a:p>
          <a:endParaRPr lang="zh-CN" altLang="en-US" b="0">
            <a:latin typeface="+mj-ea"/>
            <a:ea typeface="+mj-ea"/>
          </a:endParaRPr>
        </a:p>
      </dgm:t>
    </dgm:pt>
    <dgm:pt modelId="{B3ED3C66-584E-4FEB-B195-51C4C8A11FDA}">
      <dgm:prSet custT="1"/>
      <dgm:spPr/>
      <dgm:t>
        <a:bodyPr/>
        <a:lstStyle/>
        <a:p>
          <a:r>
            <a:rPr lang="zh-CN" altLang="en-US" sz="1800" b="0">
              <a:latin typeface="+mj-ea"/>
              <a:ea typeface="+mj-ea"/>
            </a:rPr>
            <a:t>溢流阀</a:t>
          </a:r>
          <a:endParaRPr lang="zh-CN" altLang="en-US" sz="1800" b="0" dirty="0">
            <a:latin typeface="+mj-ea"/>
            <a:ea typeface="+mj-ea"/>
          </a:endParaRPr>
        </a:p>
      </dgm:t>
    </dgm:pt>
    <dgm:pt modelId="{98751DB5-A0B9-471D-96AD-A38F778B39B0}" type="parTrans" cxnId="{B98D23D5-22C8-40C9-AF3D-1DD94F817673}">
      <dgm:prSet/>
      <dgm:spPr/>
      <dgm:t>
        <a:bodyPr/>
        <a:lstStyle/>
        <a:p>
          <a:endParaRPr lang="zh-CN" altLang="en-US" b="0">
            <a:latin typeface="+mj-ea"/>
            <a:ea typeface="+mj-ea"/>
          </a:endParaRPr>
        </a:p>
      </dgm:t>
    </dgm:pt>
    <dgm:pt modelId="{3E91A90B-89A8-49AF-B228-3AE1DDDA6368}" type="sibTrans" cxnId="{B98D23D5-22C8-40C9-AF3D-1DD94F817673}">
      <dgm:prSet/>
      <dgm:spPr/>
      <dgm:t>
        <a:bodyPr/>
        <a:lstStyle/>
        <a:p>
          <a:endParaRPr lang="zh-CN" altLang="en-US" b="0">
            <a:latin typeface="+mj-ea"/>
            <a:ea typeface="+mj-ea"/>
          </a:endParaRPr>
        </a:p>
      </dgm:t>
    </dgm:pt>
    <dgm:pt modelId="{B213A742-AA25-4B3C-864A-CB5DF4F7A0CF}">
      <dgm:prSet custT="1"/>
      <dgm:spPr/>
      <dgm:t>
        <a:bodyPr/>
        <a:lstStyle/>
        <a:p>
          <a:r>
            <a:rPr lang="zh-CN" altLang="en-US" sz="1800" b="0">
              <a:latin typeface="+mj-ea"/>
              <a:ea typeface="+mj-ea"/>
            </a:rPr>
            <a:t>减压阀</a:t>
          </a:r>
          <a:endParaRPr lang="zh-CN" altLang="en-US" sz="1800" b="0" dirty="0">
            <a:latin typeface="+mj-ea"/>
            <a:ea typeface="+mj-ea"/>
          </a:endParaRPr>
        </a:p>
      </dgm:t>
    </dgm:pt>
    <dgm:pt modelId="{F752497C-7BE6-40ED-9043-1764877B4CA6}" type="parTrans" cxnId="{F3B5953C-C957-41FF-955A-129D2BB23193}">
      <dgm:prSet/>
      <dgm:spPr/>
      <dgm:t>
        <a:bodyPr/>
        <a:lstStyle/>
        <a:p>
          <a:endParaRPr lang="zh-CN" altLang="en-US" b="0">
            <a:latin typeface="+mj-ea"/>
            <a:ea typeface="+mj-ea"/>
          </a:endParaRPr>
        </a:p>
      </dgm:t>
    </dgm:pt>
    <dgm:pt modelId="{A9B1CD73-2402-47B6-BCE4-935CF84B8F99}" type="sibTrans" cxnId="{F3B5953C-C957-41FF-955A-129D2BB23193}">
      <dgm:prSet/>
      <dgm:spPr/>
      <dgm:t>
        <a:bodyPr/>
        <a:lstStyle/>
        <a:p>
          <a:endParaRPr lang="zh-CN" altLang="en-US" b="0">
            <a:latin typeface="+mj-ea"/>
            <a:ea typeface="+mj-ea"/>
          </a:endParaRPr>
        </a:p>
      </dgm:t>
    </dgm:pt>
    <dgm:pt modelId="{3595A334-AE09-4BD1-B81B-59B28B14AEE9}">
      <dgm:prSet custT="1"/>
      <dgm:spPr/>
      <dgm:t>
        <a:bodyPr/>
        <a:lstStyle/>
        <a:p>
          <a:r>
            <a:rPr lang="zh-CN" altLang="en-US" sz="1800" b="0">
              <a:latin typeface="+mj-ea"/>
              <a:ea typeface="+mj-ea"/>
            </a:rPr>
            <a:t>顺序阀</a:t>
          </a:r>
          <a:endParaRPr lang="zh-CN" altLang="en-US" sz="1800" b="0" dirty="0">
            <a:latin typeface="+mj-ea"/>
            <a:ea typeface="+mj-ea"/>
          </a:endParaRPr>
        </a:p>
      </dgm:t>
    </dgm:pt>
    <dgm:pt modelId="{5137CC58-08CD-472C-BFCC-D7C5C6194987}" type="parTrans" cxnId="{6262707E-9C4E-48E9-BFD3-7A8C414B19CF}">
      <dgm:prSet/>
      <dgm:spPr/>
      <dgm:t>
        <a:bodyPr/>
        <a:lstStyle/>
        <a:p>
          <a:endParaRPr lang="zh-CN" altLang="en-US" b="0">
            <a:latin typeface="+mj-ea"/>
            <a:ea typeface="+mj-ea"/>
          </a:endParaRPr>
        </a:p>
      </dgm:t>
    </dgm:pt>
    <dgm:pt modelId="{72E12605-32D8-472A-A498-782A106D08A9}" type="sibTrans" cxnId="{6262707E-9C4E-48E9-BFD3-7A8C414B19CF}">
      <dgm:prSet/>
      <dgm:spPr/>
      <dgm:t>
        <a:bodyPr/>
        <a:lstStyle/>
        <a:p>
          <a:endParaRPr lang="zh-CN" altLang="en-US" b="0">
            <a:latin typeface="+mj-ea"/>
            <a:ea typeface="+mj-ea"/>
          </a:endParaRPr>
        </a:p>
      </dgm:t>
    </dgm:pt>
    <dgm:pt modelId="{6325BF54-7648-492D-A0A7-5057652FA590}">
      <dgm:prSet custT="1"/>
      <dgm:spPr/>
      <dgm:t>
        <a:bodyPr/>
        <a:lstStyle/>
        <a:p>
          <a:r>
            <a:rPr lang="zh-CN" altLang="en-US" sz="1800" b="0" dirty="0">
              <a:latin typeface="+mj-ea"/>
              <a:ea typeface="+mj-ea"/>
            </a:rPr>
            <a:t>平衡阀</a:t>
          </a:r>
        </a:p>
      </dgm:t>
    </dgm:pt>
    <dgm:pt modelId="{C266F371-51B3-49BF-9268-BF92DCB1AF39}" type="parTrans" cxnId="{8F402C55-6145-478D-B793-7402BC77B675}">
      <dgm:prSet/>
      <dgm:spPr/>
      <dgm:t>
        <a:bodyPr/>
        <a:lstStyle/>
        <a:p>
          <a:endParaRPr lang="zh-CN" altLang="en-US" b="0">
            <a:latin typeface="+mj-ea"/>
            <a:ea typeface="+mj-ea"/>
          </a:endParaRPr>
        </a:p>
      </dgm:t>
    </dgm:pt>
    <dgm:pt modelId="{B067A103-F743-44A6-B5A2-0F6471586D60}" type="sibTrans" cxnId="{8F402C55-6145-478D-B793-7402BC77B675}">
      <dgm:prSet/>
      <dgm:spPr/>
      <dgm:t>
        <a:bodyPr/>
        <a:lstStyle/>
        <a:p>
          <a:endParaRPr lang="zh-CN" altLang="en-US" b="0">
            <a:latin typeface="+mj-ea"/>
            <a:ea typeface="+mj-ea"/>
          </a:endParaRPr>
        </a:p>
      </dgm:t>
    </dgm:pt>
    <dgm:pt modelId="{C6FE409F-6F8C-4DD5-A4B9-D9588C9FC4A5}">
      <dgm:prSet custT="1"/>
      <dgm:spPr/>
      <dgm:t>
        <a:bodyPr/>
        <a:lstStyle/>
        <a:p>
          <a:r>
            <a:rPr lang="zh-CN" altLang="en-US" sz="1800" b="0" dirty="0">
              <a:latin typeface="+mj-ea"/>
              <a:ea typeface="+mj-ea"/>
            </a:rPr>
            <a:t>压力继电器</a:t>
          </a:r>
        </a:p>
      </dgm:t>
    </dgm:pt>
    <dgm:pt modelId="{9BD4E0BD-0E43-4DC5-A49A-F4ABB825F2EF}" type="parTrans" cxnId="{9AA5C9DC-5EE8-4C35-B278-53607B75D83E}">
      <dgm:prSet/>
      <dgm:spPr/>
      <dgm:t>
        <a:bodyPr/>
        <a:lstStyle/>
        <a:p>
          <a:endParaRPr lang="zh-CN" altLang="en-US" b="0">
            <a:latin typeface="+mj-ea"/>
            <a:ea typeface="+mj-ea"/>
          </a:endParaRPr>
        </a:p>
      </dgm:t>
    </dgm:pt>
    <dgm:pt modelId="{21E98E14-DBA7-4F01-8214-5E4D43EF350D}" type="sibTrans" cxnId="{9AA5C9DC-5EE8-4C35-B278-53607B75D83E}">
      <dgm:prSet/>
      <dgm:spPr/>
      <dgm:t>
        <a:bodyPr/>
        <a:lstStyle/>
        <a:p>
          <a:endParaRPr lang="zh-CN" altLang="en-US" b="0">
            <a:latin typeface="+mj-ea"/>
            <a:ea typeface="+mj-ea"/>
          </a:endParaRPr>
        </a:p>
      </dgm:t>
    </dgm:pt>
    <dgm:pt modelId="{92EA90CD-D011-4074-BCD2-BB3DF32DB199}">
      <dgm:prSet custT="1"/>
      <dgm:spPr/>
      <dgm:t>
        <a:bodyPr/>
        <a:lstStyle/>
        <a:p>
          <a:r>
            <a:rPr lang="en-US" altLang="zh-CN" sz="1800" b="0" dirty="0">
              <a:latin typeface="+mj-ea"/>
              <a:ea typeface="+mj-ea"/>
            </a:rPr>
            <a:t>……</a:t>
          </a:r>
          <a:endParaRPr lang="zh-CN" altLang="en-US" sz="1800" b="0" dirty="0">
            <a:latin typeface="+mj-ea"/>
            <a:ea typeface="+mj-ea"/>
          </a:endParaRPr>
        </a:p>
      </dgm:t>
    </dgm:pt>
    <dgm:pt modelId="{7E77BD09-0A46-43F9-9481-F7846313690B}" type="parTrans" cxnId="{6B586729-83A3-4D29-96DB-A9DB8D2273E3}">
      <dgm:prSet/>
      <dgm:spPr/>
      <dgm:t>
        <a:bodyPr/>
        <a:lstStyle/>
        <a:p>
          <a:endParaRPr lang="zh-CN" altLang="en-US" b="0">
            <a:latin typeface="+mj-ea"/>
            <a:ea typeface="+mj-ea"/>
          </a:endParaRPr>
        </a:p>
      </dgm:t>
    </dgm:pt>
    <dgm:pt modelId="{C1FBDFEA-3B9F-448A-B88A-BBF1A94AD8E1}" type="sibTrans" cxnId="{6B586729-83A3-4D29-96DB-A9DB8D2273E3}">
      <dgm:prSet/>
      <dgm:spPr/>
      <dgm:t>
        <a:bodyPr/>
        <a:lstStyle/>
        <a:p>
          <a:endParaRPr lang="zh-CN" altLang="en-US" b="0">
            <a:latin typeface="+mj-ea"/>
            <a:ea typeface="+mj-ea"/>
          </a:endParaRPr>
        </a:p>
      </dgm:t>
    </dgm:pt>
    <dgm:pt modelId="{650D6793-4923-4096-9B8E-318464E938E2}" type="pres">
      <dgm:prSet presAssocID="{4B87531D-A379-4178-A5E4-79A9698B2C5E}" presName="diagram" presStyleCnt="0">
        <dgm:presLayoutVars>
          <dgm:chPref val="1"/>
          <dgm:dir/>
          <dgm:animOne val="branch"/>
          <dgm:animLvl val="lvl"/>
          <dgm:resizeHandles val="exact"/>
        </dgm:presLayoutVars>
      </dgm:prSet>
      <dgm:spPr/>
    </dgm:pt>
    <dgm:pt modelId="{B60DBBDD-00B2-4DC3-8737-55DE0D0A6F59}" type="pres">
      <dgm:prSet presAssocID="{98879BAF-5D92-4723-A222-A1487F924D85}" presName="root1" presStyleCnt="0"/>
      <dgm:spPr/>
    </dgm:pt>
    <dgm:pt modelId="{08DEAB5B-EDBF-4B03-A585-47DFA65B010D}" type="pres">
      <dgm:prSet presAssocID="{98879BAF-5D92-4723-A222-A1487F924D85}" presName="LevelOneTextNode" presStyleLbl="node0" presStyleIdx="0" presStyleCnt="1" custScaleX="242752" custScaleY="133514" custLinFactX="-111803" custLinFactY="3679" custLinFactNeighborX="-200000" custLinFactNeighborY="100000">
        <dgm:presLayoutVars>
          <dgm:chPref val="3"/>
        </dgm:presLayoutVars>
      </dgm:prSet>
      <dgm:spPr/>
    </dgm:pt>
    <dgm:pt modelId="{CFEF32D2-5326-45FA-A943-02D1A02EC3F5}" type="pres">
      <dgm:prSet presAssocID="{98879BAF-5D92-4723-A222-A1487F924D85}" presName="level2hierChild" presStyleCnt="0"/>
      <dgm:spPr/>
    </dgm:pt>
    <dgm:pt modelId="{37253C52-7A36-444E-B38B-CABD911C632B}" type="pres">
      <dgm:prSet presAssocID="{C17CDE0A-CA96-4F56-994B-E36A1463BB16}" presName="conn2-1" presStyleLbl="parChTrans1D2" presStyleIdx="0" presStyleCnt="3"/>
      <dgm:spPr/>
    </dgm:pt>
    <dgm:pt modelId="{2B997003-B29B-4638-8197-B5F939872ACA}" type="pres">
      <dgm:prSet presAssocID="{C17CDE0A-CA96-4F56-994B-E36A1463BB16}" presName="connTx" presStyleLbl="parChTrans1D2" presStyleIdx="0" presStyleCnt="3"/>
      <dgm:spPr/>
    </dgm:pt>
    <dgm:pt modelId="{060A8A36-5DBC-42F7-AFEC-BCD48D7B3D79}" type="pres">
      <dgm:prSet presAssocID="{D8B04F2C-AACE-4767-8B1A-EE7391963F6B}" presName="root2" presStyleCnt="0"/>
      <dgm:spPr/>
    </dgm:pt>
    <dgm:pt modelId="{C54816D1-18C4-4589-8FCE-38CB9B4850D6}" type="pres">
      <dgm:prSet presAssocID="{D8B04F2C-AACE-4767-8B1A-EE7391963F6B}" presName="LevelTwoTextNode" presStyleLbl="node2" presStyleIdx="0" presStyleCnt="3" custScaleX="316606" custScaleY="133514" custLinFactY="74772" custLinFactNeighborX="-94420" custLinFactNeighborY="100000">
        <dgm:presLayoutVars>
          <dgm:chPref val="3"/>
        </dgm:presLayoutVars>
      </dgm:prSet>
      <dgm:spPr/>
    </dgm:pt>
    <dgm:pt modelId="{22067D11-11BC-43A8-BA5F-FD1FCD5F4444}" type="pres">
      <dgm:prSet presAssocID="{D8B04F2C-AACE-4767-8B1A-EE7391963F6B}" presName="level3hierChild" presStyleCnt="0"/>
      <dgm:spPr/>
    </dgm:pt>
    <dgm:pt modelId="{3C18B8DB-3B4A-4EBE-8E7C-B8966967AD6C}" type="pres">
      <dgm:prSet presAssocID="{24940D8A-5BE3-4AAD-B059-BC2700B40730}" presName="conn2-1" presStyleLbl="parChTrans1D3" presStyleIdx="0" presStyleCnt="11"/>
      <dgm:spPr/>
    </dgm:pt>
    <dgm:pt modelId="{AD810534-CE06-4B19-A9B3-9C534587D23E}" type="pres">
      <dgm:prSet presAssocID="{24940D8A-5BE3-4AAD-B059-BC2700B40730}" presName="connTx" presStyleLbl="parChTrans1D3" presStyleIdx="0" presStyleCnt="11"/>
      <dgm:spPr/>
    </dgm:pt>
    <dgm:pt modelId="{A9112ED7-9611-4F62-8BC5-50C73C5FCFAF}" type="pres">
      <dgm:prSet presAssocID="{655F7306-3161-4D9A-8D9B-BEA0282593C4}" presName="root2" presStyleCnt="0"/>
      <dgm:spPr/>
    </dgm:pt>
    <dgm:pt modelId="{70C99A13-1FF9-4007-9A4B-CF73DD10613A}" type="pres">
      <dgm:prSet presAssocID="{655F7306-3161-4D9A-8D9B-BEA0282593C4}" presName="LevelTwoTextNode" presStyleLbl="node3" presStyleIdx="0" presStyleCnt="11" custScaleX="182771" custScaleY="134032" custLinFactX="76787" custLinFactNeighborX="100000" custLinFactNeighborY="-13000">
        <dgm:presLayoutVars>
          <dgm:chPref val="3"/>
        </dgm:presLayoutVars>
      </dgm:prSet>
      <dgm:spPr/>
    </dgm:pt>
    <dgm:pt modelId="{6D0993D2-2823-43D9-A015-2EBC5F942EAC}" type="pres">
      <dgm:prSet presAssocID="{655F7306-3161-4D9A-8D9B-BEA0282593C4}" presName="level3hierChild" presStyleCnt="0"/>
      <dgm:spPr/>
    </dgm:pt>
    <dgm:pt modelId="{CAF8BD22-6BCA-4C07-9721-1A99DA4FF8BE}" type="pres">
      <dgm:prSet presAssocID="{6B44853C-8EAA-423A-8E1B-A2D0C452237B}" presName="conn2-1" presStyleLbl="parChTrans1D3" presStyleIdx="1" presStyleCnt="11"/>
      <dgm:spPr/>
    </dgm:pt>
    <dgm:pt modelId="{7693AF76-200F-442F-8370-19CBB170CEF1}" type="pres">
      <dgm:prSet presAssocID="{6B44853C-8EAA-423A-8E1B-A2D0C452237B}" presName="connTx" presStyleLbl="parChTrans1D3" presStyleIdx="1" presStyleCnt="11"/>
      <dgm:spPr/>
    </dgm:pt>
    <dgm:pt modelId="{F7EA2055-C1E4-4CF4-8D35-B31D5E10C62A}" type="pres">
      <dgm:prSet presAssocID="{CC6E99DC-D057-41D0-861B-4353F8554977}" presName="root2" presStyleCnt="0"/>
      <dgm:spPr/>
    </dgm:pt>
    <dgm:pt modelId="{038D48AC-1227-4101-A44F-D21F92176F31}" type="pres">
      <dgm:prSet presAssocID="{CC6E99DC-D057-41D0-861B-4353F8554977}" presName="LevelTwoTextNode" presStyleLbl="node3" presStyleIdx="1" presStyleCnt="11" custScaleX="182064" custScaleY="133514" custLinFactX="76950" custLinFactNeighborX="100000" custLinFactNeighborY="34559">
        <dgm:presLayoutVars>
          <dgm:chPref val="3"/>
        </dgm:presLayoutVars>
      </dgm:prSet>
      <dgm:spPr/>
    </dgm:pt>
    <dgm:pt modelId="{2D8F72ED-633D-48F0-9323-9A445B0AD21B}" type="pres">
      <dgm:prSet presAssocID="{CC6E99DC-D057-41D0-861B-4353F8554977}" presName="level3hierChild" presStyleCnt="0"/>
      <dgm:spPr/>
    </dgm:pt>
    <dgm:pt modelId="{C9C1955C-D67A-404F-AC84-47FA411A4059}" type="pres">
      <dgm:prSet presAssocID="{C784BA81-A95A-4B66-B28A-304F5E1F745A}" presName="conn2-1" presStyleLbl="parChTrans1D2" presStyleIdx="1" presStyleCnt="3"/>
      <dgm:spPr/>
    </dgm:pt>
    <dgm:pt modelId="{B81853E9-943D-42C4-88DD-6D01FC6BC21D}" type="pres">
      <dgm:prSet presAssocID="{C784BA81-A95A-4B66-B28A-304F5E1F745A}" presName="connTx" presStyleLbl="parChTrans1D2" presStyleIdx="1" presStyleCnt="3"/>
      <dgm:spPr/>
    </dgm:pt>
    <dgm:pt modelId="{B85A2A96-AB1A-4E4E-8306-D98B32DE713A}" type="pres">
      <dgm:prSet presAssocID="{5207BE07-A96A-4608-8254-75708F2855E7}" presName="root2" presStyleCnt="0"/>
      <dgm:spPr/>
    </dgm:pt>
    <dgm:pt modelId="{FA35DDD5-1C8A-4A8E-BE78-282D450EAEFE}" type="pres">
      <dgm:prSet presAssocID="{5207BE07-A96A-4608-8254-75708F2855E7}" presName="LevelTwoTextNode" presStyleLbl="node2" presStyleIdx="1" presStyleCnt="3" custScaleX="316606" custScaleY="133514" custLinFactY="142939" custLinFactNeighborX="-79102" custLinFactNeighborY="200000">
        <dgm:presLayoutVars>
          <dgm:chPref val="3"/>
        </dgm:presLayoutVars>
      </dgm:prSet>
      <dgm:spPr/>
    </dgm:pt>
    <dgm:pt modelId="{731D3890-0132-47E4-B85E-F8BEA8269871}" type="pres">
      <dgm:prSet presAssocID="{5207BE07-A96A-4608-8254-75708F2855E7}" presName="level3hierChild" presStyleCnt="0"/>
      <dgm:spPr/>
    </dgm:pt>
    <dgm:pt modelId="{CE5233D7-17DB-46D1-8748-303AB44CE3D5}" type="pres">
      <dgm:prSet presAssocID="{C905BEC6-D248-449C-A304-F5A2DFAFC7E9}" presName="conn2-1" presStyleLbl="parChTrans1D3" presStyleIdx="2" presStyleCnt="11"/>
      <dgm:spPr/>
    </dgm:pt>
    <dgm:pt modelId="{B20228A4-8088-4F90-972D-15131E899195}" type="pres">
      <dgm:prSet presAssocID="{C905BEC6-D248-449C-A304-F5A2DFAFC7E9}" presName="connTx" presStyleLbl="parChTrans1D3" presStyleIdx="2" presStyleCnt="11"/>
      <dgm:spPr/>
    </dgm:pt>
    <dgm:pt modelId="{3B69B295-5AE3-4758-8728-A583C2056D11}" type="pres">
      <dgm:prSet presAssocID="{B1080E73-D3B7-443A-8BD3-8FD202FFEAB4}" presName="root2" presStyleCnt="0"/>
      <dgm:spPr/>
    </dgm:pt>
    <dgm:pt modelId="{3B9ACBF8-03BF-40FA-A27C-428D3106D074}" type="pres">
      <dgm:prSet presAssocID="{B1080E73-D3B7-443A-8BD3-8FD202FFEAB4}" presName="LevelTwoTextNode" presStyleLbl="node3" presStyleIdx="2" presStyleCnt="11" custScaleX="152903" custScaleY="134555" custLinFactX="79564" custLinFactNeighborX="100000" custLinFactNeighborY="40110">
        <dgm:presLayoutVars>
          <dgm:chPref val="3"/>
        </dgm:presLayoutVars>
      </dgm:prSet>
      <dgm:spPr/>
    </dgm:pt>
    <dgm:pt modelId="{2C6FA780-EA03-48FE-BEF9-4AD5462C9648}" type="pres">
      <dgm:prSet presAssocID="{B1080E73-D3B7-443A-8BD3-8FD202FFEAB4}" presName="level3hierChild" presStyleCnt="0"/>
      <dgm:spPr/>
    </dgm:pt>
    <dgm:pt modelId="{5EE4625E-656A-4939-AC30-C6776B4ACBB7}" type="pres">
      <dgm:prSet presAssocID="{222F1596-4825-4305-8B28-1427AF2BB459}" presName="conn2-1" presStyleLbl="parChTrans1D3" presStyleIdx="3" presStyleCnt="11"/>
      <dgm:spPr/>
    </dgm:pt>
    <dgm:pt modelId="{916AEBA4-949E-499B-B5B5-83582DA44E96}" type="pres">
      <dgm:prSet presAssocID="{222F1596-4825-4305-8B28-1427AF2BB459}" presName="connTx" presStyleLbl="parChTrans1D3" presStyleIdx="3" presStyleCnt="11"/>
      <dgm:spPr/>
    </dgm:pt>
    <dgm:pt modelId="{F3AED6C3-0A44-4B6E-9D36-28A50213B252}" type="pres">
      <dgm:prSet presAssocID="{8E74C573-022D-41B6-AC8A-4DB64C7DC62C}" presName="root2" presStyleCnt="0"/>
      <dgm:spPr/>
    </dgm:pt>
    <dgm:pt modelId="{4DA807FD-8D5E-4C5E-B092-24E2BEE50A9C}" type="pres">
      <dgm:prSet presAssocID="{8E74C573-022D-41B6-AC8A-4DB64C7DC62C}" presName="LevelTwoTextNode" presStyleLbl="node3" presStyleIdx="3" presStyleCnt="11" custScaleX="154408" custScaleY="135879" custLinFactX="76786" custLinFactNeighborX="100000" custLinFactNeighborY="34265">
        <dgm:presLayoutVars>
          <dgm:chPref val="3"/>
        </dgm:presLayoutVars>
      </dgm:prSet>
      <dgm:spPr/>
    </dgm:pt>
    <dgm:pt modelId="{4AB4CD83-A48F-4615-883A-A0ADFD3F03F5}" type="pres">
      <dgm:prSet presAssocID="{8E74C573-022D-41B6-AC8A-4DB64C7DC62C}" presName="level3hierChild" presStyleCnt="0"/>
      <dgm:spPr/>
    </dgm:pt>
    <dgm:pt modelId="{FA5DDEAE-A600-401A-80E4-01589841DF39}" type="pres">
      <dgm:prSet presAssocID="{E0AE994F-14E0-4783-8CDE-A06B38A1F63E}" presName="conn2-1" presStyleLbl="parChTrans1D3" presStyleIdx="4" presStyleCnt="11"/>
      <dgm:spPr/>
    </dgm:pt>
    <dgm:pt modelId="{82DB422C-34FC-4358-B1A3-C32F689B95F0}" type="pres">
      <dgm:prSet presAssocID="{E0AE994F-14E0-4783-8CDE-A06B38A1F63E}" presName="connTx" presStyleLbl="parChTrans1D3" presStyleIdx="4" presStyleCnt="11"/>
      <dgm:spPr/>
    </dgm:pt>
    <dgm:pt modelId="{1F0D2FD3-B30A-46FE-B161-0068F036E4E7}" type="pres">
      <dgm:prSet presAssocID="{E6109641-78C2-424C-93AE-3B499270AE9E}" presName="root2" presStyleCnt="0"/>
      <dgm:spPr/>
    </dgm:pt>
    <dgm:pt modelId="{8145A9C1-2FA0-4160-9811-C5F003A36B87}" type="pres">
      <dgm:prSet presAssocID="{E6109641-78C2-424C-93AE-3B499270AE9E}" presName="LevelTwoTextNode" presStyleLbl="node3" presStyleIdx="4" presStyleCnt="11" custScaleX="155943" custScaleY="137230" custLinFactX="74288" custLinFactNeighborX="100000" custLinFactNeighborY="37220">
        <dgm:presLayoutVars>
          <dgm:chPref val="3"/>
        </dgm:presLayoutVars>
      </dgm:prSet>
      <dgm:spPr/>
    </dgm:pt>
    <dgm:pt modelId="{AE6E56AF-ABB3-42DC-ACE6-A96D3F250238}" type="pres">
      <dgm:prSet presAssocID="{E6109641-78C2-424C-93AE-3B499270AE9E}" presName="level3hierChild" presStyleCnt="0"/>
      <dgm:spPr/>
    </dgm:pt>
    <dgm:pt modelId="{E4FA6B7D-2F10-4FD6-8185-F4E3E702786D}" type="pres">
      <dgm:prSet presAssocID="{2999EAE6-94CA-4B30-BC60-FE419AE4A83B}" presName="conn2-1" presStyleLbl="parChTrans1D2" presStyleIdx="2" presStyleCnt="3"/>
      <dgm:spPr/>
    </dgm:pt>
    <dgm:pt modelId="{9CDB6E2F-D66C-4093-A56F-D3A2D953373D}" type="pres">
      <dgm:prSet presAssocID="{2999EAE6-94CA-4B30-BC60-FE419AE4A83B}" presName="connTx" presStyleLbl="parChTrans1D2" presStyleIdx="2" presStyleCnt="3"/>
      <dgm:spPr/>
    </dgm:pt>
    <dgm:pt modelId="{CBF72739-E6EE-4553-BAC7-CB4C7C1654CB}" type="pres">
      <dgm:prSet presAssocID="{6F951B6B-943D-4B91-B82B-35AFECD5582F}" presName="root2" presStyleCnt="0"/>
      <dgm:spPr/>
    </dgm:pt>
    <dgm:pt modelId="{D5C6A70B-F794-41CC-BE1C-6C2A97CD8725}" type="pres">
      <dgm:prSet presAssocID="{6F951B6B-943D-4B91-B82B-35AFECD5582F}" presName="LevelTwoTextNode" presStyleLbl="node2" presStyleIdx="2" presStyleCnt="3" custScaleX="316606" custScaleY="139307" custLinFactY="74954" custLinFactNeighborX="-79102" custLinFactNeighborY="100000">
        <dgm:presLayoutVars>
          <dgm:chPref val="3"/>
        </dgm:presLayoutVars>
      </dgm:prSet>
      <dgm:spPr/>
    </dgm:pt>
    <dgm:pt modelId="{1AB7BED1-5F93-419E-A1FC-24EDE8B0B9C8}" type="pres">
      <dgm:prSet presAssocID="{6F951B6B-943D-4B91-B82B-35AFECD5582F}" presName="level3hierChild" presStyleCnt="0"/>
      <dgm:spPr/>
    </dgm:pt>
    <dgm:pt modelId="{B818F36F-32A2-4042-89F2-17340DCBBDF5}" type="pres">
      <dgm:prSet presAssocID="{98751DB5-A0B9-471D-96AD-A38F778B39B0}" presName="conn2-1" presStyleLbl="parChTrans1D3" presStyleIdx="5" presStyleCnt="11"/>
      <dgm:spPr/>
    </dgm:pt>
    <dgm:pt modelId="{0BD6655F-4984-433D-8DAF-853D26BDF353}" type="pres">
      <dgm:prSet presAssocID="{98751DB5-A0B9-471D-96AD-A38F778B39B0}" presName="connTx" presStyleLbl="parChTrans1D3" presStyleIdx="5" presStyleCnt="11"/>
      <dgm:spPr/>
    </dgm:pt>
    <dgm:pt modelId="{0B017EB1-442B-43BC-B2D9-F6B78BD29D37}" type="pres">
      <dgm:prSet presAssocID="{B3ED3C66-584E-4FEB-B195-51C4C8A11FDA}" presName="root2" presStyleCnt="0"/>
      <dgm:spPr/>
    </dgm:pt>
    <dgm:pt modelId="{88468053-3A9C-42E0-9349-185CB559C4EC}" type="pres">
      <dgm:prSet presAssocID="{B3ED3C66-584E-4FEB-B195-51C4C8A11FDA}" presName="LevelTwoTextNode" presStyleLbl="node3" presStyleIdx="5" presStyleCnt="11" custScaleX="186945" custScaleY="137093" custLinFactX="100000" custLinFactNeighborX="176476" custLinFactNeighborY="23927">
        <dgm:presLayoutVars>
          <dgm:chPref val="3"/>
        </dgm:presLayoutVars>
      </dgm:prSet>
      <dgm:spPr/>
    </dgm:pt>
    <dgm:pt modelId="{A09D651A-5E8B-405D-A7BE-31369A5A200C}" type="pres">
      <dgm:prSet presAssocID="{B3ED3C66-584E-4FEB-B195-51C4C8A11FDA}" presName="level3hierChild" presStyleCnt="0"/>
      <dgm:spPr/>
    </dgm:pt>
    <dgm:pt modelId="{38FD7BA5-7C45-48C4-B677-CD00F0C7AF8A}" type="pres">
      <dgm:prSet presAssocID="{F752497C-7BE6-40ED-9043-1764877B4CA6}" presName="conn2-1" presStyleLbl="parChTrans1D3" presStyleIdx="6" presStyleCnt="11"/>
      <dgm:spPr/>
    </dgm:pt>
    <dgm:pt modelId="{090300A8-7B62-4BC1-B360-054B655066BC}" type="pres">
      <dgm:prSet presAssocID="{F752497C-7BE6-40ED-9043-1764877B4CA6}" presName="connTx" presStyleLbl="parChTrans1D3" presStyleIdx="6" presStyleCnt="11"/>
      <dgm:spPr/>
    </dgm:pt>
    <dgm:pt modelId="{2985C228-49D1-4916-8639-6B4A45E69913}" type="pres">
      <dgm:prSet presAssocID="{B213A742-AA25-4B3C-864A-CB5DF4F7A0CF}" presName="root2" presStyleCnt="0"/>
      <dgm:spPr/>
    </dgm:pt>
    <dgm:pt modelId="{2DC8E7BD-8A98-4729-A5E1-E9A09D8F432B}" type="pres">
      <dgm:prSet presAssocID="{B213A742-AA25-4B3C-864A-CB5DF4F7A0CF}" presName="LevelTwoTextNode" presStyleLbl="node3" presStyleIdx="6" presStyleCnt="11" custScaleX="186206" custScaleY="136551" custLinFactX="100000" custLinFactNeighborX="175147" custLinFactNeighborY="18609">
        <dgm:presLayoutVars>
          <dgm:chPref val="3"/>
        </dgm:presLayoutVars>
      </dgm:prSet>
      <dgm:spPr/>
    </dgm:pt>
    <dgm:pt modelId="{5C4FF394-A910-4546-9E47-428AF438A7CA}" type="pres">
      <dgm:prSet presAssocID="{B213A742-AA25-4B3C-864A-CB5DF4F7A0CF}" presName="level3hierChild" presStyleCnt="0"/>
      <dgm:spPr/>
    </dgm:pt>
    <dgm:pt modelId="{35785F32-1A55-4EA6-80EF-620A98A9F848}" type="pres">
      <dgm:prSet presAssocID="{5137CC58-08CD-472C-BFCC-D7C5C6194987}" presName="conn2-1" presStyleLbl="parChTrans1D3" presStyleIdx="7" presStyleCnt="11"/>
      <dgm:spPr/>
    </dgm:pt>
    <dgm:pt modelId="{7E3308EF-ECC4-4EF6-B6F0-850BBCF51C7F}" type="pres">
      <dgm:prSet presAssocID="{5137CC58-08CD-472C-BFCC-D7C5C6194987}" presName="connTx" presStyleLbl="parChTrans1D3" presStyleIdx="7" presStyleCnt="11"/>
      <dgm:spPr/>
    </dgm:pt>
    <dgm:pt modelId="{1ABE8B36-20A8-41B7-A87F-627C334A0281}" type="pres">
      <dgm:prSet presAssocID="{3595A334-AE09-4BD1-B81B-59B28B14AEE9}" presName="root2" presStyleCnt="0"/>
      <dgm:spPr/>
    </dgm:pt>
    <dgm:pt modelId="{F0FE37FA-1E28-4523-BA18-6A80061E53CA}" type="pres">
      <dgm:prSet presAssocID="{3595A334-AE09-4BD1-B81B-59B28B14AEE9}" presName="LevelTwoTextNode" presStyleLbl="node3" presStyleIdx="7" presStyleCnt="11" custScaleX="187504" custScaleY="137503" custLinFactX="100000" custLinFactNeighborX="173818" custLinFactNeighborY="-2659">
        <dgm:presLayoutVars>
          <dgm:chPref val="3"/>
        </dgm:presLayoutVars>
      </dgm:prSet>
      <dgm:spPr/>
    </dgm:pt>
    <dgm:pt modelId="{656D2951-F659-4962-A794-C396B99CEE98}" type="pres">
      <dgm:prSet presAssocID="{3595A334-AE09-4BD1-B81B-59B28B14AEE9}" presName="level3hierChild" presStyleCnt="0"/>
      <dgm:spPr/>
    </dgm:pt>
    <dgm:pt modelId="{67EACA34-D24E-46FE-92DF-D724D5128A6A}" type="pres">
      <dgm:prSet presAssocID="{C266F371-51B3-49BF-9268-BF92DCB1AF39}" presName="conn2-1" presStyleLbl="parChTrans1D3" presStyleIdx="8" presStyleCnt="11"/>
      <dgm:spPr/>
    </dgm:pt>
    <dgm:pt modelId="{7606E48A-4849-4C11-83DF-1ABB4EBF6C9D}" type="pres">
      <dgm:prSet presAssocID="{C266F371-51B3-49BF-9268-BF92DCB1AF39}" presName="connTx" presStyleLbl="parChTrans1D3" presStyleIdx="8" presStyleCnt="11"/>
      <dgm:spPr/>
    </dgm:pt>
    <dgm:pt modelId="{4B87F869-6C04-4332-9F19-D2AD50929604}" type="pres">
      <dgm:prSet presAssocID="{6325BF54-7648-492D-A0A7-5057652FA590}" presName="root2" presStyleCnt="0"/>
      <dgm:spPr/>
    </dgm:pt>
    <dgm:pt modelId="{8DE78968-4183-4A99-87E1-33895853F7FE}" type="pres">
      <dgm:prSet presAssocID="{6325BF54-7648-492D-A0A7-5057652FA590}" presName="LevelTwoTextNode" presStyleLbl="node3" presStyleIdx="8" presStyleCnt="11" custScaleX="188631" custScaleY="138330" custLinFactX="100000" custLinFactNeighborX="172489" custLinFactNeighborY="-26585">
        <dgm:presLayoutVars>
          <dgm:chPref val="3"/>
        </dgm:presLayoutVars>
      </dgm:prSet>
      <dgm:spPr/>
    </dgm:pt>
    <dgm:pt modelId="{660377CA-652F-4736-A2F4-C7CAA5EDC12A}" type="pres">
      <dgm:prSet presAssocID="{6325BF54-7648-492D-A0A7-5057652FA590}" presName="level3hierChild" presStyleCnt="0"/>
      <dgm:spPr/>
    </dgm:pt>
    <dgm:pt modelId="{1484D8BB-D76A-4651-B478-B074B634C873}" type="pres">
      <dgm:prSet presAssocID="{9BD4E0BD-0E43-4DC5-A49A-F4ABB825F2EF}" presName="conn2-1" presStyleLbl="parChTrans1D3" presStyleIdx="9" presStyleCnt="11"/>
      <dgm:spPr/>
    </dgm:pt>
    <dgm:pt modelId="{D8AB6AB7-8679-46A3-9A5D-C4D8C617714E}" type="pres">
      <dgm:prSet presAssocID="{9BD4E0BD-0E43-4DC5-A49A-F4ABB825F2EF}" presName="connTx" presStyleLbl="parChTrans1D3" presStyleIdx="9" presStyleCnt="11"/>
      <dgm:spPr/>
    </dgm:pt>
    <dgm:pt modelId="{62E9F95F-A9E7-4CA0-8CE7-F9BC0018AE65}" type="pres">
      <dgm:prSet presAssocID="{C6FE409F-6F8C-4DD5-A4B9-D9588C9FC4A5}" presName="root2" presStyleCnt="0"/>
      <dgm:spPr/>
    </dgm:pt>
    <dgm:pt modelId="{878F3033-FC90-4FFD-B380-C3754B3E4CFF}" type="pres">
      <dgm:prSet presAssocID="{C6FE409F-6F8C-4DD5-A4B9-D9588C9FC4A5}" presName="LevelTwoTextNode" presStyleLbl="node3" presStyleIdx="9" presStyleCnt="11" custScaleX="251508" custScaleY="138886" custLinFactX="100000" custLinFactNeighborX="179765" custLinFactNeighborY="-43532">
        <dgm:presLayoutVars>
          <dgm:chPref val="3"/>
        </dgm:presLayoutVars>
      </dgm:prSet>
      <dgm:spPr/>
    </dgm:pt>
    <dgm:pt modelId="{626F7DEE-08CE-437C-BBD3-1EE7CEAA490A}" type="pres">
      <dgm:prSet presAssocID="{C6FE409F-6F8C-4DD5-A4B9-D9588C9FC4A5}" presName="level3hierChild" presStyleCnt="0"/>
      <dgm:spPr/>
    </dgm:pt>
    <dgm:pt modelId="{0EE6737B-9129-4CBF-ACA1-4DB71ADC3F63}" type="pres">
      <dgm:prSet presAssocID="{7E77BD09-0A46-43F9-9481-F7846313690B}" presName="conn2-1" presStyleLbl="parChTrans1D3" presStyleIdx="10" presStyleCnt="11"/>
      <dgm:spPr/>
    </dgm:pt>
    <dgm:pt modelId="{B1437A83-1051-481C-8E26-35F1BF9D1641}" type="pres">
      <dgm:prSet presAssocID="{7E77BD09-0A46-43F9-9481-F7846313690B}" presName="connTx" presStyleLbl="parChTrans1D3" presStyleIdx="10" presStyleCnt="11"/>
      <dgm:spPr/>
    </dgm:pt>
    <dgm:pt modelId="{AD57D338-FDC9-4A3E-BFB4-2C0979F81CA2}" type="pres">
      <dgm:prSet presAssocID="{92EA90CD-D011-4074-BCD2-BB3DF32DB199}" presName="root2" presStyleCnt="0"/>
      <dgm:spPr/>
    </dgm:pt>
    <dgm:pt modelId="{D349DAF1-DD8F-4805-BD5A-97FE61FC0DF4}" type="pres">
      <dgm:prSet presAssocID="{92EA90CD-D011-4074-BCD2-BB3DF32DB199}" presName="LevelTwoTextNode" presStyleLbl="node3" presStyleIdx="10" presStyleCnt="11" custScaleX="126643" custScaleY="139307" custLinFactX="100000" custLinFactNeighborX="184453" custLinFactNeighborY="-58532">
        <dgm:presLayoutVars>
          <dgm:chPref val="3"/>
        </dgm:presLayoutVars>
      </dgm:prSet>
      <dgm:spPr/>
    </dgm:pt>
    <dgm:pt modelId="{9C66D3DC-1C3F-41E0-9A1C-FA61412937D0}" type="pres">
      <dgm:prSet presAssocID="{92EA90CD-D011-4074-BCD2-BB3DF32DB199}" presName="level3hierChild" presStyleCnt="0"/>
      <dgm:spPr/>
    </dgm:pt>
  </dgm:ptLst>
  <dgm:cxnLst>
    <dgm:cxn modelId="{17338E02-1BA8-4CC3-B737-D5E15DE436D2}" type="presOf" srcId="{C266F371-51B3-49BF-9268-BF92DCB1AF39}" destId="{7606E48A-4849-4C11-83DF-1ABB4EBF6C9D}" srcOrd="1" destOrd="0" presId="urn:microsoft.com/office/officeart/2005/8/layout/hierarchy2#1"/>
    <dgm:cxn modelId="{CA7F5307-388E-4CAD-8770-46CB586F115A}" type="presOf" srcId="{B3ED3C66-584E-4FEB-B195-51C4C8A11FDA}" destId="{88468053-3A9C-42E0-9349-185CB559C4EC}" srcOrd="0" destOrd="0" presId="urn:microsoft.com/office/officeart/2005/8/layout/hierarchy2#1"/>
    <dgm:cxn modelId="{FF9C9009-417F-4728-A6B3-7A31BDA1BD4D}" type="presOf" srcId="{222F1596-4825-4305-8B28-1427AF2BB459}" destId="{5EE4625E-656A-4939-AC30-C6776B4ACBB7}" srcOrd="0" destOrd="0" presId="urn:microsoft.com/office/officeart/2005/8/layout/hierarchy2#1"/>
    <dgm:cxn modelId="{AC026411-554C-4565-B6FD-BBF91812215F}" type="presOf" srcId="{4B87531D-A379-4178-A5E4-79A9698B2C5E}" destId="{650D6793-4923-4096-9B8E-318464E938E2}" srcOrd="0" destOrd="0" presId="urn:microsoft.com/office/officeart/2005/8/layout/hierarchy2#1"/>
    <dgm:cxn modelId="{8749891E-4CA8-47A6-8920-BC49BED14E13}" type="presOf" srcId="{6B44853C-8EAA-423A-8E1B-A2D0C452237B}" destId="{CAF8BD22-6BCA-4C07-9721-1A99DA4FF8BE}" srcOrd="0" destOrd="0" presId="urn:microsoft.com/office/officeart/2005/8/layout/hierarchy2#1"/>
    <dgm:cxn modelId="{7BCA4922-2ADF-4D3E-A702-73474400ED8D}" type="presOf" srcId="{3595A334-AE09-4BD1-B81B-59B28B14AEE9}" destId="{F0FE37FA-1E28-4523-BA18-6A80061E53CA}" srcOrd="0" destOrd="0" presId="urn:microsoft.com/office/officeart/2005/8/layout/hierarchy2#1"/>
    <dgm:cxn modelId="{82FCD822-73BD-49EA-BCD3-FD1AE488581F}" type="presOf" srcId="{5137CC58-08CD-472C-BFCC-D7C5C6194987}" destId="{7E3308EF-ECC4-4EF6-B6F0-850BBCF51C7F}" srcOrd="1" destOrd="0" presId="urn:microsoft.com/office/officeart/2005/8/layout/hierarchy2#1"/>
    <dgm:cxn modelId="{291AA923-BEDB-4287-A82F-23F7DE9B6AD2}" type="presOf" srcId="{E0AE994F-14E0-4783-8CDE-A06B38A1F63E}" destId="{FA5DDEAE-A600-401A-80E4-01589841DF39}" srcOrd="0" destOrd="0" presId="urn:microsoft.com/office/officeart/2005/8/layout/hierarchy2#1"/>
    <dgm:cxn modelId="{D5493128-429E-464D-BEBD-9E3B5D2F1D37}" type="presOf" srcId="{8E74C573-022D-41B6-AC8A-4DB64C7DC62C}" destId="{4DA807FD-8D5E-4C5E-B092-24E2BEE50A9C}" srcOrd="0" destOrd="0" presId="urn:microsoft.com/office/officeart/2005/8/layout/hierarchy2#1"/>
    <dgm:cxn modelId="{6B586729-83A3-4D29-96DB-A9DB8D2273E3}" srcId="{6F951B6B-943D-4B91-B82B-35AFECD5582F}" destId="{92EA90CD-D011-4074-BCD2-BB3DF32DB199}" srcOrd="5" destOrd="0" parTransId="{7E77BD09-0A46-43F9-9481-F7846313690B}" sibTransId="{C1FBDFEA-3B9F-448A-B88A-BBF1A94AD8E1}"/>
    <dgm:cxn modelId="{DF4EA629-38A5-4AE0-9F25-37F55CC2B7DD}" type="presOf" srcId="{7E77BD09-0A46-43F9-9481-F7846313690B}" destId="{0EE6737B-9129-4CBF-ACA1-4DB71ADC3F63}" srcOrd="0" destOrd="0" presId="urn:microsoft.com/office/officeart/2005/8/layout/hierarchy2#1"/>
    <dgm:cxn modelId="{A7386A2A-ECA7-4777-87B6-42A945FB9849}" type="presOf" srcId="{24940D8A-5BE3-4AAD-B059-BC2700B40730}" destId="{3C18B8DB-3B4A-4EBE-8E7C-B8966967AD6C}" srcOrd="0" destOrd="0" presId="urn:microsoft.com/office/officeart/2005/8/layout/hierarchy2#1"/>
    <dgm:cxn modelId="{290FA92C-A8DA-4A82-B746-62A0280F5434}" type="presOf" srcId="{6325BF54-7648-492D-A0A7-5057652FA590}" destId="{8DE78968-4183-4A99-87E1-33895853F7FE}" srcOrd="0" destOrd="0" presId="urn:microsoft.com/office/officeart/2005/8/layout/hierarchy2#1"/>
    <dgm:cxn modelId="{4573F62C-67A2-40C1-A0AE-86620343846A}" type="presOf" srcId="{C784BA81-A95A-4B66-B28A-304F5E1F745A}" destId="{B81853E9-943D-42C4-88DD-6D01FC6BC21D}" srcOrd="1" destOrd="0" presId="urn:microsoft.com/office/officeart/2005/8/layout/hierarchy2#1"/>
    <dgm:cxn modelId="{B3507331-EEA5-4707-83A8-4CE0EB779C5C}" type="presOf" srcId="{C17CDE0A-CA96-4F56-994B-E36A1463BB16}" destId="{37253C52-7A36-444E-B38B-CABD911C632B}" srcOrd="0" destOrd="0" presId="urn:microsoft.com/office/officeart/2005/8/layout/hierarchy2#1"/>
    <dgm:cxn modelId="{BDA04333-2519-4C95-B615-D5FF5CE7BB5E}" srcId="{98879BAF-5D92-4723-A222-A1487F924D85}" destId="{D8B04F2C-AACE-4767-8B1A-EE7391963F6B}" srcOrd="0" destOrd="0" parTransId="{C17CDE0A-CA96-4F56-994B-E36A1463BB16}" sibTransId="{B60BD2C0-1637-42C0-BDC3-6DCA278C5780}"/>
    <dgm:cxn modelId="{DA6CEF34-A8E2-4317-B75B-CB55323D8E6A}" type="presOf" srcId="{E6109641-78C2-424C-93AE-3B499270AE9E}" destId="{8145A9C1-2FA0-4160-9811-C5F003A36B87}" srcOrd="0" destOrd="0" presId="urn:microsoft.com/office/officeart/2005/8/layout/hierarchy2#1"/>
    <dgm:cxn modelId="{AFAC9335-8455-4665-BF47-2DA7EA669854}" type="presOf" srcId="{24940D8A-5BE3-4AAD-B059-BC2700B40730}" destId="{AD810534-CE06-4B19-A9B3-9C534587D23E}" srcOrd="1" destOrd="0" presId="urn:microsoft.com/office/officeart/2005/8/layout/hierarchy2#1"/>
    <dgm:cxn modelId="{B2DBF336-9153-480B-BC82-421838BB261C}" type="presOf" srcId="{98879BAF-5D92-4723-A222-A1487F924D85}" destId="{08DEAB5B-EDBF-4B03-A585-47DFA65B010D}" srcOrd="0" destOrd="0" presId="urn:microsoft.com/office/officeart/2005/8/layout/hierarchy2#1"/>
    <dgm:cxn modelId="{D6D2AA38-DA9F-48C6-A540-745C9491883F}" type="presOf" srcId="{F752497C-7BE6-40ED-9043-1764877B4CA6}" destId="{38FD7BA5-7C45-48C4-B677-CD00F0C7AF8A}" srcOrd="0" destOrd="0" presId="urn:microsoft.com/office/officeart/2005/8/layout/hierarchy2#1"/>
    <dgm:cxn modelId="{0993463A-CDFC-4BBF-AB8D-DC33E1972F50}" type="presOf" srcId="{B1080E73-D3B7-443A-8BD3-8FD202FFEAB4}" destId="{3B9ACBF8-03BF-40FA-A27C-428D3106D074}" srcOrd="0" destOrd="0" presId="urn:microsoft.com/office/officeart/2005/8/layout/hierarchy2#1"/>
    <dgm:cxn modelId="{F3B5953C-C957-41FF-955A-129D2BB23193}" srcId="{6F951B6B-943D-4B91-B82B-35AFECD5582F}" destId="{B213A742-AA25-4B3C-864A-CB5DF4F7A0CF}" srcOrd="1" destOrd="0" parTransId="{F752497C-7BE6-40ED-9043-1764877B4CA6}" sibTransId="{A9B1CD73-2402-47B6-BCE4-935CF84B8F99}"/>
    <dgm:cxn modelId="{38A4F85B-C51A-4A0B-B396-B7761AA8CC4E}" type="presOf" srcId="{92EA90CD-D011-4074-BCD2-BB3DF32DB199}" destId="{D349DAF1-DD8F-4805-BD5A-97FE61FC0DF4}" srcOrd="0" destOrd="0" presId="urn:microsoft.com/office/officeart/2005/8/layout/hierarchy2#1"/>
    <dgm:cxn modelId="{3B23AA5E-EE68-4014-BE8D-0C8DFEA3F4D8}" type="presOf" srcId="{C784BA81-A95A-4B66-B28A-304F5E1F745A}" destId="{C9C1955C-D67A-404F-AC84-47FA411A4059}" srcOrd="0" destOrd="0" presId="urn:microsoft.com/office/officeart/2005/8/layout/hierarchy2#1"/>
    <dgm:cxn modelId="{3E217C67-3172-4504-86D7-30B69B08FA3E}" srcId="{98879BAF-5D92-4723-A222-A1487F924D85}" destId="{6F951B6B-943D-4B91-B82B-35AFECD5582F}" srcOrd="2" destOrd="0" parTransId="{2999EAE6-94CA-4B30-BC60-FE419AE4A83B}" sibTransId="{ACDACF5B-F81C-4366-9F10-E1478FF763DF}"/>
    <dgm:cxn modelId="{FBDCF467-C53A-4E9B-8544-82A11CDE1757}" srcId="{D8B04F2C-AACE-4767-8B1A-EE7391963F6B}" destId="{CC6E99DC-D057-41D0-861B-4353F8554977}" srcOrd="1" destOrd="0" parTransId="{6B44853C-8EAA-423A-8E1B-A2D0C452237B}" sibTransId="{E788AF70-7FF5-468F-9519-8E0935C13F31}"/>
    <dgm:cxn modelId="{BA06084B-1759-4EDB-97E7-4979663DD114}" srcId="{5207BE07-A96A-4608-8254-75708F2855E7}" destId="{B1080E73-D3B7-443A-8BD3-8FD202FFEAB4}" srcOrd="0" destOrd="0" parTransId="{C905BEC6-D248-449C-A304-F5A2DFAFC7E9}" sibTransId="{5E5B1958-9342-47B2-8F66-FFC8AE06B80B}"/>
    <dgm:cxn modelId="{9947B44C-E4BE-4130-9010-0F304CA10FB7}" srcId="{4B87531D-A379-4178-A5E4-79A9698B2C5E}" destId="{98879BAF-5D92-4723-A222-A1487F924D85}" srcOrd="0" destOrd="0" parTransId="{D6EA2D19-0FF9-4F68-B5A0-10CE5F2E7729}" sibTransId="{5B7C3CFF-1EEC-41F6-829D-906D0B0F6457}"/>
    <dgm:cxn modelId="{01255A52-1743-4A6F-A12D-8ADB26294FF0}" type="presOf" srcId="{E0AE994F-14E0-4783-8CDE-A06B38A1F63E}" destId="{82DB422C-34FC-4358-B1A3-C32F689B95F0}" srcOrd="1" destOrd="0" presId="urn:microsoft.com/office/officeart/2005/8/layout/hierarchy2#1"/>
    <dgm:cxn modelId="{8F402C55-6145-478D-B793-7402BC77B675}" srcId="{6F951B6B-943D-4B91-B82B-35AFECD5582F}" destId="{6325BF54-7648-492D-A0A7-5057652FA590}" srcOrd="3" destOrd="0" parTransId="{C266F371-51B3-49BF-9268-BF92DCB1AF39}" sibTransId="{B067A103-F743-44A6-B5A2-0F6471586D60}"/>
    <dgm:cxn modelId="{84F88755-DF6B-40A4-800B-8E89B44308AA}" srcId="{5207BE07-A96A-4608-8254-75708F2855E7}" destId="{8E74C573-022D-41B6-AC8A-4DB64C7DC62C}" srcOrd="1" destOrd="0" parTransId="{222F1596-4825-4305-8B28-1427AF2BB459}" sibTransId="{A636DCA9-6D9A-49E0-BB9C-BBBD1F2AA46D}"/>
    <dgm:cxn modelId="{8ECCE657-7989-4271-84B2-11A37E99B56B}" type="presOf" srcId="{B213A742-AA25-4B3C-864A-CB5DF4F7A0CF}" destId="{2DC8E7BD-8A98-4729-A5E1-E9A09D8F432B}" srcOrd="0" destOrd="0" presId="urn:microsoft.com/office/officeart/2005/8/layout/hierarchy2#1"/>
    <dgm:cxn modelId="{3A961B59-80E4-4746-83CD-B1D05E82AA95}" type="presOf" srcId="{9BD4E0BD-0E43-4DC5-A49A-F4ABB825F2EF}" destId="{1484D8BB-D76A-4651-B478-B074B634C873}" srcOrd="0" destOrd="0" presId="urn:microsoft.com/office/officeart/2005/8/layout/hierarchy2#1"/>
    <dgm:cxn modelId="{6262707E-9C4E-48E9-BFD3-7A8C414B19CF}" srcId="{6F951B6B-943D-4B91-B82B-35AFECD5582F}" destId="{3595A334-AE09-4BD1-B81B-59B28B14AEE9}" srcOrd="2" destOrd="0" parTransId="{5137CC58-08CD-472C-BFCC-D7C5C6194987}" sibTransId="{72E12605-32D8-472A-A498-782A106D08A9}"/>
    <dgm:cxn modelId="{CEBE1C8B-A6F7-46DF-931C-06EEE2CF3FF0}" type="presOf" srcId="{9BD4E0BD-0E43-4DC5-A49A-F4ABB825F2EF}" destId="{D8AB6AB7-8679-46A3-9A5D-C4D8C617714E}" srcOrd="1" destOrd="0" presId="urn:microsoft.com/office/officeart/2005/8/layout/hierarchy2#1"/>
    <dgm:cxn modelId="{8D72EF96-2B32-4821-9BDC-62BA8B0F3EC6}" type="presOf" srcId="{5207BE07-A96A-4608-8254-75708F2855E7}" destId="{FA35DDD5-1C8A-4A8E-BE78-282D450EAEFE}" srcOrd="0" destOrd="0" presId="urn:microsoft.com/office/officeart/2005/8/layout/hierarchy2#1"/>
    <dgm:cxn modelId="{BF8D889A-2CCE-4113-ABAC-ABE9609DD013}" type="presOf" srcId="{6B44853C-8EAA-423A-8E1B-A2D0C452237B}" destId="{7693AF76-200F-442F-8370-19CBB170CEF1}" srcOrd="1" destOrd="0" presId="urn:microsoft.com/office/officeart/2005/8/layout/hierarchy2#1"/>
    <dgm:cxn modelId="{6417409B-7746-4F1D-BCEB-278833D1212F}" type="presOf" srcId="{C6FE409F-6F8C-4DD5-A4B9-D9588C9FC4A5}" destId="{878F3033-FC90-4FFD-B380-C3754B3E4CFF}" srcOrd="0" destOrd="0" presId="urn:microsoft.com/office/officeart/2005/8/layout/hierarchy2#1"/>
    <dgm:cxn modelId="{DAF8719E-AF7B-4556-8B40-D9E1096EC941}" type="presOf" srcId="{C905BEC6-D248-449C-A304-F5A2DFAFC7E9}" destId="{CE5233D7-17DB-46D1-8748-303AB44CE3D5}" srcOrd="0" destOrd="0" presId="urn:microsoft.com/office/officeart/2005/8/layout/hierarchy2#1"/>
    <dgm:cxn modelId="{4C9C9FA4-BED3-48FD-848A-2C4190734BC1}" srcId="{5207BE07-A96A-4608-8254-75708F2855E7}" destId="{E6109641-78C2-424C-93AE-3B499270AE9E}" srcOrd="2" destOrd="0" parTransId="{E0AE994F-14E0-4783-8CDE-A06B38A1F63E}" sibTransId="{DEE5848E-67EE-4E1E-ADFC-52A4DFCCB6B1}"/>
    <dgm:cxn modelId="{408FB3AA-3627-4A76-8411-7F5E47868E4A}" type="presOf" srcId="{CC6E99DC-D057-41D0-861B-4353F8554977}" destId="{038D48AC-1227-4101-A44F-D21F92176F31}" srcOrd="0" destOrd="0" presId="urn:microsoft.com/office/officeart/2005/8/layout/hierarchy2#1"/>
    <dgm:cxn modelId="{B248E2B4-FF96-4B37-8924-D65766DC86A4}" type="presOf" srcId="{6F951B6B-943D-4B91-B82B-35AFECD5582F}" destId="{D5C6A70B-F794-41CC-BE1C-6C2A97CD8725}" srcOrd="0" destOrd="0" presId="urn:microsoft.com/office/officeart/2005/8/layout/hierarchy2#1"/>
    <dgm:cxn modelId="{B9D5CDBD-DC41-40E1-8CF2-5C2028DE040F}" type="presOf" srcId="{D8B04F2C-AACE-4767-8B1A-EE7391963F6B}" destId="{C54816D1-18C4-4589-8FCE-38CB9B4850D6}" srcOrd="0" destOrd="0" presId="urn:microsoft.com/office/officeart/2005/8/layout/hierarchy2#1"/>
    <dgm:cxn modelId="{FAB00CCB-BBDD-4D0F-A22F-3F99055B480C}" type="presOf" srcId="{C17CDE0A-CA96-4F56-994B-E36A1463BB16}" destId="{2B997003-B29B-4638-8197-B5F939872ACA}" srcOrd="1" destOrd="0" presId="urn:microsoft.com/office/officeart/2005/8/layout/hierarchy2#1"/>
    <dgm:cxn modelId="{AAB3F2CD-D997-4E85-AE29-AF4F0FD47ECE}" type="presOf" srcId="{98751DB5-A0B9-471D-96AD-A38F778B39B0}" destId="{B818F36F-32A2-4042-89F2-17340DCBBDF5}" srcOrd="0" destOrd="0" presId="urn:microsoft.com/office/officeart/2005/8/layout/hierarchy2#1"/>
    <dgm:cxn modelId="{48AEE5CF-424C-464F-B4D0-8E5843994D00}" type="presOf" srcId="{7E77BD09-0A46-43F9-9481-F7846313690B}" destId="{B1437A83-1051-481C-8E26-35F1BF9D1641}" srcOrd="1" destOrd="0" presId="urn:microsoft.com/office/officeart/2005/8/layout/hierarchy2#1"/>
    <dgm:cxn modelId="{EF2F78D0-DBD0-4269-9EE3-A9040F7E4A5E}" type="presOf" srcId="{222F1596-4825-4305-8B28-1427AF2BB459}" destId="{916AEBA4-949E-499B-B5B5-83582DA44E96}" srcOrd="1" destOrd="0" presId="urn:microsoft.com/office/officeart/2005/8/layout/hierarchy2#1"/>
    <dgm:cxn modelId="{BBFAE6D0-7846-4D17-B550-DBD34A6773C8}" type="presOf" srcId="{C905BEC6-D248-449C-A304-F5A2DFAFC7E9}" destId="{B20228A4-8088-4F90-972D-15131E899195}" srcOrd="1" destOrd="0" presId="urn:microsoft.com/office/officeart/2005/8/layout/hierarchy2#1"/>
    <dgm:cxn modelId="{888C89D2-E3ED-455C-BB4B-446F3692DFE3}" type="presOf" srcId="{5137CC58-08CD-472C-BFCC-D7C5C6194987}" destId="{35785F32-1A55-4EA6-80EF-620A98A9F848}" srcOrd="0" destOrd="0" presId="urn:microsoft.com/office/officeart/2005/8/layout/hierarchy2#1"/>
    <dgm:cxn modelId="{269218D4-E8A8-47DA-BF60-0DA664C0E34B}" type="presOf" srcId="{C266F371-51B3-49BF-9268-BF92DCB1AF39}" destId="{67EACA34-D24E-46FE-92DF-D724D5128A6A}" srcOrd="0" destOrd="0" presId="urn:microsoft.com/office/officeart/2005/8/layout/hierarchy2#1"/>
    <dgm:cxn modelId="{B98D23D5-22C8-40C9-AF3D-1DD94F817673}" srcId="{6F951B6B-943D-4B91-B82B-35AFECD5582F}" destId="{B3ED3C66-584E-4FEB-B195-51C4C8A11FDA}" srcOrd="0" destOrd="0" parTransId="{98751DB5-A0B9-471D-96AD-A38F778B39B0}" sibTransId="{3E91A90B-89A8-49AF-B228-3AE1DDDA6368}"/>
    <dgm:cxn modelId="{B1E347D6-2975-4324-B9BC-64CDC499F203}" srcId="{98879BAF-5D92-4723-A222-A1487F924D85}" destId="{5207BE07-A96A-4608-8254-75708F2855E7}" srcOrd="1" destOrd="0" parTransId="{C784BA81-A95A-4B66-B28A-304F5E1F745A}" sibTransId="{40F52175-F5A3-47E8-961F-F3797E616098}"/>
    <dgm:cxn modelId="{9AA5C9DC-5EE8-4C35-B278-53607B75D83E}" srcId="{6F951B6B-943D-4B91-B82B-35AFECD5582F}" destId="{C6FE409F-6F8C-4DD5-A4B9-D9588C9FC4A5}" srcOrd="4" destOrd="0" parTransId="{9BD4E0BD-0E43-4DC5-A49A-F4ABB825F2EF}" sibTransId="{21E98E14-DBA7-4F01-8214-5E4D43EF350D}"/>
    <dgm:cxn modelId="{1A4954E1-B6C3-4A48-93C0-017AE979B6F4}" type="presOf" srcId="{2999EAE6-94CA-4B30-BC60-FE419AE4A83B}" destId="{9CDB6E2F-D66C-4093-A56F-D3A2D953373D}" srcOrd="1" destOrd="0" presId="urn:microsoft.com/office/officeart/2005/8/layout/hierarchy2#1"/>
    <dgm:cxn modelId="{BE1C85E3-3087-4CAA-ABCB-9971FF5C688F}" type="presOf" srcId="{98751DB5-A0B9-471D-96AD-A38F778B39B0}" destId="{0BD6655F-4984-433D-8DAF-853D26BDF353}" srcOrd="1" destOrd="0" presId="urn:microsoft.com/office/officeart/2005/8/layout/hierarchy2#1"/>
    <dgm:cxn modelId="{E6E295E9-C18D-4AE9-BD8D-5F5B48DB9163}" srcId="{D8B04F2C-AACE-4767-8B1A-EE7391963F6B}" destId="{655F7306-3161-4D9A-8D9B-BEA0282593C4}" srcOrd="0" destOrd="0" parTransId="{24940D8A-5BE3-4AAD-B059-BC2700B40730}" sibTransId="{D1DCD7E3-8D6B-444E-922F-38C20384963F}"/>
    <dgm:cxn modelId="{C4B273EB-AB23-4502-BA94-BBFCAD85CC9C}" type="presOf" srcId="{F752497C-7BE6-40ED-9043-1764877B4CA6}" destId="{090300A8-7B62-4BC1-B360-054B655066BC}" srcOrd="1" destOrd="0" presId="urn:microsoft.com/office/officeart/2005/8/layout/hierarchy2#1"/>
    <dgm:cxn modelId="{81532EED-AEA4-447B-A301-908E03AAA5E2}" type="presOf" srcId="{2999EAE6-94CA-4B30-BC60-FE419AE4A83B}" destId="{E4FA6B7D-2F10-4FD6-8185-F4E3E702786D}" srcOrd="0" destOrd="0" presId="urn:microsoft.com/office/officeart/2005/8/layout/hierarchy2#1"/>
    <dgm:cxn modelId="{629C3FFC-C876-4DA7-B76F-1CBBED885ABC}" type="presOf" srcId="{655F7306-3161-4D9A-8D9B-BEA0282593C4}" destId="{70C99A13-1FF9-4007-9A4B-CF73DD10613A}" srcOrd="0" destOrd="0" presId="urn:microsoft.com/office/officeart/2005/8/layout/hierarchy2#1"/>
    <dgm:cxn modelId="{3E2AC633-6F37-4E96-9CF8-12227866D10B}" type="presParOf" srcId="{650D6793-4923-4096-9B8E-318464E938E2}" destId="{B60DBBDD-00B2-4DC3-8737-55DE0D0A6F59}" srcOrd="0" destOrd="0" presId="urn:microsoft.com/office/officeart/2005/8/layout/hierarchy2#1"/>
    <dgm:cxn modelId="{C07069C2-E9DE-47D1-B642-07E927C6207A}" type="presParOf" srcId="{B60DBBDD-00B2-4DC3-8737-55DE0D0A6F59}" destId="{08DEAB5B-EDBF-4B03-A585-47DFA65B010D}" srcOrd="0" destOrd="0" presId="urn:microsoft.com/office/officeart/2005/8/layout/hierarchy2#1"/>
    <dgm:cxn modelId="{8ACC3FC4-8F34-4A36-95CB-6EA51206A978}" type="presParOf" srcId="{B60DBBDD-00B2-4DC3-8737-55DE0D0A6F59}" destId="{CFEF32D2-5326-45FA-A943-02D1A02EC3F5}" srcOrd="1" destOrd="0" presId="urn:microsoft.com/office/officeart/2005/8/layout/hierarchy2#1"/>
    <dgm:cxn modelId="{D2EA5B34-98C0-4143-8BB9-97A9978FC324}" type="presParOf" srcId="{CFEF32D2-5326-45FA-A943-02D1A02EC3F5}" destId="{37253C52-7A36-444E-B38B-CABD911C632B}" srcOrd="0" destOrd="0" presId="urn:microsoft.com/office/officeart/2005/8/layout/hierarchy2#1"/>
    <dgm:cxn modelId="{A30BFB42-246F-49C1-9433-1BF843322A89}" type="presParOf" srcId="{37253C52-7A36-444E-B38B-CABD911C632B}" destId="{2B997003-B29B-4638-8197-B5F939872ACA}" srcOrd="0" destOrd="0" presId="urn:microsoft.com/office/officeart/2005/8/layout/hierarchy2#1"/>
    <dgm:cxn modelId="{E9E5075D-B752-4740-8C30-AF42B0BC0C70}" type="presParOf" srcId="{CFEF32D2-5326-45FA-A943-02D1A02EC3F5}" destId="{060A8A36-5DBC-42F7-AFEC-BCD48D7B3D79}" srcOrd="1" destOrd="0" presId="urn:microsoft.com/office/officeart/2005/8/layout/hierarchy2#1"/>
    <dgm:cxn modelId="{117C7CE5-701E-4DC2-9248-2EBBB6ADE8B7}" type="presParOf" srcId="{060A8A36-5DBC-42F7-AFEC-BCD48D7B3D79}" destId="{C54816D1-18C4-4589-8FCE-38CB9B4850D6}" srcOrd="0" destOrd="0" presId="urn:microsoft.com/office/officeart/2005/8/layout/hierarchy2#1"/>
    <dgm:cxn modelId="{DA42424A-B4FE-4DA7-BF66-31DE67725788}" type="presParOf" srcId="{060A8A36-5DBC-42F7-AFEC-BCD48D7B3D79}" destId="{22067D11-11BC-43A8-BA5F-FD1FCD5F4444}" srcOrd="1" destOrd="0" presId="urn:microsoft.com/office/officeart/2005/8/layout/hierarchy2#1"/>
    <dgm:cxn modelId="{5D8B03E2-E07E-45AA-A4DB-CC7AE8632103}" type="presParOf" srcId="{22067D11-11BC-43A8-BA5F-FD1FCD5F4444}" destId="{3C18B8DB-3B4A-4EBE-8E7C-B8966967AD6C}" srcOrd="0" destOrd="0" presId="urn:microsoft.com/office/officeart/2005/8/layout/hierarchy2#1"/>
    <dgm:cxn modelId="{BD6987CA-DE87-4EFD-9E6E-8605FFE2B021}" type="presParOf" srcId="{3C18B8DB-3B4A-4EBE-8E7C-B8966967AD6C}" destId="{AD810534-CE06-4B19-A9B3-9C534587D23E}" srcOrd="0" destOrd="0" presId="urn:microsoft.com/office/officeart/2005/8/layout/hierarchy2#1"/>
    <dgm:cxn modelId="{4FF9D199-8318-4AF4-8EA7-B431FF2D5A72}" type="presParOf" srcId="{22067D11-11BC-43A8-BA5F-FD1FCD5F4444}" destId="{A9112ED7-9611-4F62-8BC5-50C73C5FCFAF}" srcOrd="1" destOrd="0" presId="urn:microsoft.com/office/officeart/2005/8/layout/hierarchy2#1"/>
    <dgm:cxn modelId="{E738CDC0-4C9B-4450-BFF3-F40F6EFE9485}" type="presParOf" srcId="{A9112ED7-9611-4F62-8BC5-50C73C5FCFAF}" destId="{70C99A13-1FF9-4007-9A4B-CF73DD10613A}" srcOrd="0" destOrd="0" presId="urn:microsoft.com/office/officeart/2005/8/layout/hierarchy2#1"/>
    <dgm:cxn modelId="{79591BEF-4886-4F01-8649-B81639345381}" type="presParOf" srcId="{A9112ED7-9611-4F62-8BC5-50C73C5FCFAF}" destId="{6D0993D2-2823-43D9-A015-2EBC5F942EAC}" srcOrd="1" destOrd="0" presId="urn:microsoft.com/office/officeart/2005/8/layout/hierarchy2#1"/>
    <dgm:cxn modelId="{ED23AB38-EA29-497B-8631-B1F6E17A2199}" type="presParOf" srcId="{22067D11-11BC-43A8-BA5F-FD1FCD5F4444}" destId="{CAF8BD22-6BCA-4C07-9721-1A99DA4FF8BE}" srcOrd="2" destOrd="0" presId="urn:microsoft.com/office/officeart/2005/8/layout/hierarchy2#1"/>
    <dgm:cxn modelId="{34231926-235B-4AC2-B411-5C3823EEF8A1}" type="presParOf" srcId="{CAF8BD22-6BCA-4C07-9721-1A99DA4FF8BE}" destId="{7693AF76-200F-442F-8370-19CBB170CEF1}" srcOrd="0" destOrd="0" presId="urn:microsoft.com/office/officeart/2005/8/layout/hierarchy2#1"/>
    <dgm:cxn modelId="{91449DCE-5738-4C79-B61B-284E6E6289BC}" type="presParOf" srcId="{22067D11-11BC-43A8-BA5F-FD1FCD5F4444}" destId="{F7EA2055-C1E4-4CF4-8D35-B31D5E10C62A}" srcOrd="3" destOrd="0" presId="urn:microsoft.com/office/officeart/2005/8/layout/hierarchy2#1"/>
    <dgm:cxn modelId="{2F349912-E7A9-4B3E-9C0E-98A4013B4A96}" type="presParOf" srcId="{F7EA2055-C1E4-4CF4-8D35-B31D5E10C62A}" destId="{038D48AC-1227-4101-A44F-D21F92176F31}" srcOrd="0" destOrd="0" presId="urn:microsoft.com/office/officeart/2005/8/layout/hierarchy2#1"/>
    <dgm:cxn modelId="{662A4B18-2173-45BA-9E70-07638C4D3CF1}" type="presParOf" srcId="{F7EA2055-C1E4-4CF4-8D35-B31D5E10C62A}" destId="{2D8F72ED-633D-48F0-9323-9A445B0AD21B}" srcOrd="1" destOrd="0" presId="urn:microsoft.com/office/officeart/2005/8/layout/hierarchy2#1"/>
    <dgm:cxn modelId="{AAF1C0E8-E430-4527-9DE6-A85A4D498D28}" type="presParOf" srcId="{CFEF32D2-5326-45FA-A943-02D1A02EC3F5}" destId="{C9C1955C-D67A-404F-AC84-47FA411A4059}" srcOrd="2" destOrd="0" presId="urn:microsoft.com/office/officeart/2005/8/layout/hierarchy2#1"/>
    <dgm:cxn modelId="{E82AA3A5-D13A-47C8-8A71-C0872A9BB59F}" type="presParOf" srcId="{C9C1955C-D67A-404F-AC84-47FA411A4059}" destId="{B81853E9-943D-42C4-88DD-6D01FC6BC21D}" srcOrd="0" destOrd="0" presId="urn:microsoft.com/office/officeart/2005/8/layout/hierarchy2#1"/>
    <dgm:cxn modelId="{15A0106B-A747-4A43-A4F1-7568FA714FB0}" type="presParOf" srcId="{CFEF32D2-5326-45FA-A943-02D1A02EC3F5}" destId="{B85A2A96-AB1A-4E4E-8306-D98B32DE713A}" srcOrd="3" destOrd="0" presId="urn:microsoft.com/office/officeart/2005/8/layout/hierarchy2#1"/>
    <dgm:cxn modelId="{CBA396F0-0536-4002-BD8B-67622F6E546E}" type="presParOf" srcId="{B85A2A96-AB1A-4E4E-8306-D98B32DE713A}" destId="{FA35DDD5-1C8A-4A8E-BE78-282D450EAEFE}" srcOrd="0" destOrd="0" presId="urn:microsoft.com/office/officeart/2005/8/layout/hierarchy2#1"/>
    <dgm:cxn modelId="{E12A32D6-51A6-4735-AABC-1821F594F7FB}" type="presParOf" srcId="{B85A2A96-AB1A-4E4E-8306-D98B32DE713A}" destId="{731D3890-0132-47E4-B85E-F8BEA8269871}" srcOrd="1" destOrd="0" presId="urn:microsoft.com/office/officeart/2005/8/layout/hierarchy2#1"/>
    <dgm:cxn modelId="{F3EDDA82-1F88-4CFB-8261-01442E75826A}" type="presParOf" srcId="{731D3890-0132-47E4-B85E-F8BEA8269871}" destId="{CE5233D7-17DB-46D1-8748-303AB44CE3D5}" srcOrd="0" destOrd="0" presId="urn:microsoft.com/office/officeart/2005/8/layout/hierarchy2#1"/>
    <dgm:cxn modelId="{1C0FFDED-ABF9-430E-AD15-0F6BD9EBDDA5}" type="presParOf" srcId="{CE5233D7-17DB-46D1-8748-303AB44CE3D5}" destId="{B20228A4-8088-4F90-972D-15131E899195}" srcOrd="0" destOrd="0" presId="urn:microsoft.com/office/officeart/2005/8/layout/hierarchy2#1"/>
    <dgm:cxn modelId="{8E3F0412-4789-4E32-BC52-E1F735265EB4}" type="presParOf" srcId="{731D3890-0132-47E4-B85E-F8BEA8269871}" destId="{3B69B295-5AE3-4758-8728-A583C2056D11}" srcOrd="1" destOrd="0" presId="urn:microsoft.com/office/officeart/2005/8/layout/hierarchy2#1"/>
    <dgm:cxn modelId="{616BCF90-3953-4409-BC8B-FFB48324C15A}" type="presParOf" srcId="{3B69B295-5AE3-4758-8728-A583C2056D11}" destId="{3B9ACBF8-03BF-40FA-A27C-428D3106D074}" srcOrd="0" destOrd="0" presId="urn:microsoft.com/office/officeart/2005/8/layout/hierarchy2#1"/>
    <dgm:cxn modelId="{188CEDDA-179A-48A3-8150-B8D097C52BED}" type="presParOf" srcId="{3B69B295-5AE3-4758-8728-A583C2056D11}" destId="{2C6FA780-EA03-48FE-BEF9-4AD5462C9648}" srcOrd="1" destOrd="0" presId="urn:microsoft.com/office/officeart/2005/8/layout/hierarchy2#1"/>
    <dgm:cxn modelId="{98C04FD2-7689-4A6E-86F9-BF0C56F30C48}" type="presParOf" srcId="{731D3890-0132-47E4-B85E-F8BEA8269871}" destId="{5EE4625E-656A-4939-AC30-C6776B4ACBB7}" srcOrd="2" destOrd="0" presId="urn:microsoft.com/office/officeart/2005/8/layout/hierarchy2#1"/>
    <dgm:cxn modelId="{4912B755-F64A-4436-8AA9-1301C8DE69D2}" type="presParOf" srcId="{5EE4625E-656A-4939-AC30-C6776B4ACBB7}" destId="{916AEBA4-949E-499B-B5B5-83582DA44E96}" srcOrd="0" destOrd="0" presId="urn:microsoft.com/office/officeart/2005/8/layout/hierarchy2#1"/>
    <dgm:cxn modelId="{1ADB5864-ED28-43E1-90A5-E3FC5325F48A}" type="presParOf" srcId="{731D3890-0132-47E4-B85E-F8BEA8269871}" destId="{F3AED6C3-0A44-4B6E-9D36-28A50213B252}" srcOrd="3" destOrd="0" presId="urn:microsoft.com/office/officeart/2005/8/layout/hierarchy2#1"/>
    <dgm:cxn modelId="{60FB88D1-8821-436E-930E-E0A11015612C}" type="presParOf" srcId="{F3AED6C3-0A44-4B6E-9D36-28A50213B252}" destId="{4DA807FD-8D5E-4C5E-B092-24E2BEE50A9C}" srcOrd="0" destOrd="0" presId="urn:microsoft.com/office/officeart/2005/8/layout/hierarchy2#1"/>
    <dgm:cxn modelId="{245F0885-9AC4-44F0-8536-04DA02D62005}" type="presParOf" srcId="{F3AED6C3-0A44-4B6E-9D36-28A50213B252}" destId="{4AB4CD83-A48F-4615-883A-A0ADFD3F03F5}" srcOrd="1" destOrd="0" presId="urn:microsoft.com/office/officeart/2005/8/layout/hierarchy2#1"/>
    <dgm:cxn modelId="{E0EDE984-75E2-48FA-8C72-863BAD9322C5}" type="presParOf" srcId="{731D3890-0132-47E4-B85E-F8BEA8269871}" destId="{FA5DDEAE-A600-401A-80E4-01589841DF39}" srcOrd="4" destOrd="0" presId="urn:microsoft.com/office/officeart/2005/8/layout/hierarchy2#1"/>
    <dgm:cxn modelId="{99CD0D23-4CC2-4BD0-8988-882DA8FA399E}" type="presParOf" srcId="{FA5DDEAE-A600-401A-80E4-01589841DF39}" destId="{82DB422C-34FC-4358-B1A3-C32F689B95F0}" srcOrd="0" destOrd="0" presId="urn:microsoft.com/office/officeart/2005/8/layout/hierarchy2#1"/>
    <dgm:cxn modelId="{8513E097-D544-477E-9F89-B058C5906A70}" type="presParOf" srcId="{731D3890-0132-47E4-B85E-F8BEA8269871}" destId="{1F0D2FD3-B30A-46FE-B161-0068F036E4E7}" srcOrd="5" destOrd="0" presId="urn:microsoft.com/office/officeart/2005/8/layout/hierarchy2#1"/>
    <dgm:cxn modelId="{8BF94717-D6B1-4A8C-98C4-0073DA1C98DE}" type="presParOf" srcId="{1F0D2FD3-B30A-46FE-B161-0068F036E4E7}" destId="{8145A9C1-2FA0-4160-9811-C5F003A36B87}" srcOrd="0" destOrd="0" presId="urn:microsoft.com/office/officeart/2005/8/layout/hierarchy2#1"/>
    <dgm:cxn modelId="{8FD3C7DD-69C8-4B47-930C-B8455E97EC12}" type="presParOf" srcId="{1F0D2FD3-B30A-46FE-B161-0068F036E4E7}" destId="{AE6E56AF-ABB3-42DC-ACE6-A96D3F250238}" srcOrd="1" destOrd="0" presId="urn:microsoft.com/office/officeart/2005/8/layout/hierarchy2#1"/>
    <dgm:cxn modelId="{71F91E9E-CA80-4358-BCF7-C825EEA05F31}" type="presParOf" srcId="{CFEF32D2-5326-45FA-A943-02D1A02EC3F5}" destId="{E4FA6B7D-2F10-4FD6-8185-F4E3E702786D}" srcOrd="4" destOrd="0" presId="urn:microsoft.com/office/officeart/2005/8/layout/hierarchy2#1"/>
    <dgm:cxn modelId="{8B1DBAAC-353F-404C-8C76-088C7B0B2A9F}" type="presParOf" srcId="{E4FA6B7D-2F10-4FD6-8185-F4E3E702786D}" destId="{9CDB6E2F-D66C-4093-A56F-D3A2D953373D}" srcOrd="0" destOrd="0" presId="urn:microsoft.com/office/officeart/2005/8/layout/hierarchy2#1"/>
    <dgm:cxn modelId="{28321F14-E868-49E7-B478-2C75813ED315}" type="presParOf" srcId="{CFEF32D2-5326-45FA-A943-02D1A02EC3F5}" destId="{CBF72739-E6EE-4553-BAC7-CB4C7C1654CB}" srcOrd="5" destOrd="0" presId="urn:microsoft.com/office/officeart/2005/8/layout/hierarchy2#1"/>
    <dgm:cxn modelId="{20B540A5-EEF7-450B-AE5D-92BCD6A0A3F3}" type="presParOf" srcId="{CBF72739-E6EE-4553-BAC7-CB4C7C1654CB}" destId="{D5C6A70B-F794-41CC-BE1C-6C2A97CD8725}" srcOrd="0" destOrd="0" presId="urn:microsoft.com/office/officeart/2005/8/layout/hierarchy2#1"/>
    <dgm:cxn modelId="{25293B4E-8015-4DB5-8527-44C49CC660EF}" type="presParOf" srcId="{CBF72739-E6EE-4553-BAC7-CB4C7C1654CB}" destId="{1AB7BED1-5F93-419E-A1FC-24EDE8B0B9C8}" srcOrd="1" destOrd="0" presId="urn:microsoft.com/office/officeart/2005/8/layout/hierarchy2#1"/>
    <dgm:cxn modelId="{D4050105-F454-4834-B4DC-818367061D1F}" type="presParOf" srcId="{1AB7BED1-5F93-419E-A1FC-24EDE8B0B9C8}" destId="{B818F36F-32A2-4042-89F2-17340DCBBDF5}" srcOrd="0" destOrd="0" presId="urn:microsoft.com/office/officeart/2005/8/layout/hierarchy2#1"/>
    <dgm:cxn modelId="{F83246B8-1A14-427A-9043-F8B55E3BFDAE}" type="presParOf" srcId="{B818F36F-32A2-4042-89F2-17340DCBBDF5}" destId="{0BD6655F-4984-433D-8DAF-853D26BDF353}" srcOrd="0" destOrd="0" presId="urn:microsoft.com/office/officeart/2005/8/layout/hierarchy2#1"/>
    <dgm:cxn modelId="{D1D064DF-BBAD-416A-9AAE-B1BDF6C71ACA}" type="presParOf" srcId="{1AB7BED1-5F93-419E-A1FC-24EDE8B0B9C8}" destId="{0B017EB1-442B-43BC-B2D9-F6B78BD29D37}" srcOrd="1" destOrd="0" presId="urn:microsoft.com/office/officeart/2005/8/layout/hierarchy2#1"/>
    <dgm:cxn modelId="{D95C81B3-E4FA-4CA6-BBE3-E6E384C58E88}" type="presParOf" srcId="{0B017EB1-442B-43BC-B2D9-F6B78BD29D37}" destId="{88468053-3A9C-42E0-9349-185CB559C4EC}" srcOrd="0" destOrd="0" presId="urn:microsoft.com/office/officeart/2005/8/layout/hierarchy2#1"/>
    <dgm:cxn modelId="{203DB962-30DC-472B-A930-F017E45EE5FD}" type="presParOf" srcId="{0B017EB1-442B-43BC-B2D9-F6B78BD29D37}" destId="{A09D651A-5E8B-405D-A7BE-31369A5A200C}" srcOrd="1" destOrd="0" presId="urn:microsoft.com/office/officeart/2005/8/layout/hierarchy2#1"/>
    <dgm:cxn modelId="{1542C850-DED8-458F-9E95-5FF0FA98F525}" type="presParOf" srcId="{1AB7BED1-5F93-419E-A1FC-24EDE8B0B9C8}" destId="{38FD7BA5-7C45-48C4-B677-CD00F0C7AF8A}" srcOrd="2" destOrd="0" presId="urn:microsoft.com/office/officeart/2005/8/layout/hierarchy2#1"/>
    <dgm:cxn modelId="{D65A1A1E-FDEE-4C30-A787-81D7BFE55AF5}" type="presParOf" srcId="{38FD7BA5-7C45-48C4-B677-CD00F0C7AF8A}" destId="{090300A8-7B62-4BC1-B360-054B655066BC}" srcOrd="0" destOrd="0" presId="urn:microsoft.com/office/officeart/2005/8/layout/hierarchy2#1"/>
    <dgm:cxn modelId="{299CDCC2-BA95-427E-99F1-769C3BB1B671}" type="presParOf" srcId="{1AB7BED1-5F93-419E-A1FC-24EDE8B0B9C8}" destId="{2985C228-49D1-4916-8639-6B4A45E69913}" srcOrd="3" destOrd="0" presId="urn:microsoft.com/office/officeart/2005/8/layout/hierarchy2#1"/>
    <dgm:cxn modelId="{9EA111AA-2A24-483E-8B76-4B66012C7965}" type="presParOf" srcId="{2985C228-49D1-4916-8639-6B4A45E69913}" destId="{2DC8E7BD-8A98-4729-A5E1-E9A09D8F432B}" srcOrd="0" destOrd="0" presId="urn:microsoft.com/office/officeart/2005/8/layout/hierarchy2#1"/>
    <dgm:cxn modelId="{3D2C5620-7E56-42D1-B24B-573A72DB271F}" type="presParOf" srcId="{2985C228-49D1-4916-8639-6B4A45E69913}" destId="{5C4FF394-A910-4546-9E47-428AF438A7CA}" srcOrd="1" destOrd="0" presId="urn:microsoft.com/office/officeart/2005/8/layout/hierarchy2#1"/>
    <dgm:cxn modelId="{432DCFCD-829A-40B1-909A-A0CB88FF3A7D}" type="presParOf" srcId="{1AB7BED1-5F93-419E-A1FC-24EDE8B0B9C8}" destId="{35785F32-1A55-4EA6-80EF-620A98A9F848}" srcOrd="4" destOrd="0" presId="urn:microsoft.com/office/officeart/2005/8/layout/hierarchy2#1"/>
    <dgm:cxn modelId="{BC11EFF2-7BCB-44DF-86B4-66096A78E843}" type="presParOf" srcId="{35785F32-1A55-4EA6-80EF-620A98A9F848}" destId="{7E3308EF-ECC4-4EF6-B6F0-850BBCF51C7F}" srcOrd="0" destOrd="0" presId="urn:microsoft.com/office/officeart/2005/8/layout/hierarchy2#1"/>
    <dgm:cxn modelId="{47416498-2B6C-4E8A-97ED-45340ACBE7D6}" type="presParOf" srcId="{1AB7BED1-5F93-419E-A1FC-24EDE8B0B9C8}" destId="{1ABE8B36-20A8-41B7-A87F-627C334A0281}" srcOrd="5" destOrd="0" presId="urn:microsoft.com/office/officeart/2005/8/layout/hierarchy2#1"/>
    <dgm:cxn modelId="{EB75FA62-0B3F-4A00-A29B-4A520921A3C8}" type="presParOf" srcId="{1ABE8B36-20A8-41B7-A87F-627C334A0281}" destId="{F0FE37FA-1E28-4523-BA18-6A80061E53CA}" srcOrd="0" destOrd="0" presId="urn:microsoft.com/office/officeart/2005/8/layout/hierarchy2#1"/>
    <dgm:cxn modelId="{AE27CC75-543B-40F0-84B0-BE9A16664BD1}" type="presParOf" srcId="{1ABE8B36-20A8-41B7-A87F-627C334A0281}" destId="{656D2951-F659-4962-A794-C396B99CEE98}" srcOrd="1" destOrd="0" presId="urn:microsoft.com/office/officeart/2005/8/layout/hierarchy2#1"/>
    <dgm:cxn modelId="{CE6D2AC2-1827-49E4-AC1E-9FBE35757916}" type="presParOf" srcId="{1AB7BED1-5F93-419E-A1FC-24EDE8B0B9C8}" destId="{67EACA34-D24E-46FE-92DF-D724D5128A6A}" srcOrd="6" destOrd="0" presId="urn:microsoft.com/office/officeart/2005/8/layout/hierarchy2#1"/>
    <dgm:cxn modelId="{C0AE2D70-C8B9-49DB-81A1-C5774E7DE652}" type="presParOf" srcId="{67EACA34-D24E-46FE-92DF-D724D5128A6A}" destId="{7606E48A-4849-4C11-83DF-1ABB4EBF6C9D}" srcOrd="0" destOrd="0" presId="urn:microsoft.com/office/officeart/2005/8/layout/hierarchy2#1"/>
    <dgm:cxn modelId="{46C0535C-8408-46DA-BD0B-A3837E7F8AE5}" type="presParOf" srcId="{1AB7BED1-5F93-419E-A1FC-24EDE8B0B9C8}" destId="{4B87F869-6C04-4332-9F19-D2AD50929604}" srcOrd="7" destOrd="0" presId="urn:microsoft.com/office/officeart/2005/8/layout/hierarchy2#1"/>
    <dgm:cxn modelId="{632DD277-6BF4-4E35-9112-6639811875E4}" type="presParOf" srcId="{4B87F869-6C04-4332-9F19-D2AD50929604}" destId="{8DE78968-4183-4A99-87E1-33895853F7FE}" srcOrd="0" destOrd="0" presId="urn:microsoft.com/office/officeart/2005/8/layout/hierarchy2#1"/>
    <dgm:cxn modelId="{02D71510-3C85-4108-8120-EDEF3EFFB384}" type="presParOf" srcId="{4B87F869-6C04-4332-9F19-D2AD50929604}" destId="{660377CA-652F-4736-A2F4-C7CAA5EDC12A}" srcOrd="1" destOrd="0" presId="urn:microsoft.com/office/officeart/2005/8/layout/hierarchy2#1"/>
    <dgm:cxn modelId="{D326F643-AB98-41A0-A21A-56D2AA7D00DC}" type="presParOf" srcId="{1AB7BED1-5F93-419E-A1FC-24EDE8B0B9C8}" destId="{1484D8BB-D76A-4651-B478-B074B634C873}" srcOrd="8" destOrd="0" presId="urn:microsoft.com/office/officeart/2005/8/layout/hierarchy2#1"/>
    <dgm:cxn modelId="{D8957F4A-1B33-413C-94E9-001C8B355F94}" type="presParOf" srcId="{1484D8BB-D76A-4651-B478-B074B634C873}" destId="{D8AB6AB7-8679-46A3-9A5D-C4D8C617714E}" srcOrd="0" destOrd="0" presId="urn:microsoft.com/office/officeart/2005/8/layout/hierarchy2#1"/>
    <dgm:cxn modelId="{6D078CF6-9E26-4BE4-95B2-877C9E179138}" type="presParOf" srcId="{1AB7BED1-5F93-419E-A1FC-24EDE8B0B9C8}" destId="{62E9F95F-A9E7-4CA0-8CE7-F9BC0018AE65}" srcOrd="9" destOrd="0" presId="urn:microsoft.com/office/officeart/2005/8/layout/hierarchy2#1"/>
    <dgm:cxn modelId="{CF6B5EC7-C317-47D5-884B-10D2C5E0CDD3}" type="presParOf" srcId="{62E9F95F-A9E7-4CA0-8CE7-F9BC0018AE65}" destId="{878F3033-FC90-4FFD-B380-C3754B3E4CFF}" srcOrd="0" destOrd="0" presId="urn:microsoft.com/office/officeart/2005/8/layout/hierarchy2#1"/>
    <dgm:cxn modelId="{88FF7E9B-C556-4388-A20E-8B785013B771}" type="presParOf" srcId="{62E9F95F-A9E7-4CA0-8CE7-F9BC0018AE65}" destId="{626F7DEE-08CE-437C-BBD3-1EE7CEAA490A}" srcOrd="1" destOrd="0" presId="urn:microsoft.com/office/officeart/2005/8/layout/hierarchy2#1"/>
    <dgm:cxn modelId="{33B199B3-26B8-4D8F-B55D-792F56AA5B80}" type="presParOf" srcId="{1AB7BED1-5F93-419E-A1FC-24EDE8B0B9C8}" destId="{0EE6737B-9129-4CBF-ACA1-4DB71ADC3F63}" srcOrd="10" destOrd="0" presId="urn:microsoft.com/office/officeart/2005/8/layout/hierarchy2#1"/>
    <dgm:cxn modelId="{48E517CF-AA41-4EB1-8F24-0DD78F60AD79}" type="presParOf" srcId="{0EE6737B-9129-4CBF-ACA1-4DB71ADC3F63}" destId="{B1437A83-1051-481C-8E26-35F1BF9D1641}" srcOrd="0" destOrd="0" presId="urn:microsoft.com/office/officeart/2005/8/layout/hierarchy2#1"/>
    <dgm:cxn modelId="{12B99A66-FDF4-468E-B95F-A1BC655192D6}" type="presParOf" srcId="{1AB7BED1-5F93-419E-A1FC-24EDE8B0B9C8}" destId="{AD57D338-FDC9-4A3E-BFB4-2C0979F81CA2}" srcOrd="11" destOrd="0" presId="urn:microsoft.com/office/officeart/2005/8/layout/hierarchy2#1"/>
    <dgm:cxn modelId="{8DB9786D-075A-4508-9D0F-AC2EC8D695A5}" type="presParOf" srcId="{AD57D338-FDC9-4A3E-BFB4-2C0979F81CA2}" destId="{D349DAF1-DD8F-4805-BD5A-97FE61FC0DF4}" srcOrd="0" destOrd="0" presId="urn:microsoft.com/office/officeart/2005/8/layout/hierarchy2#1"/>
    <dgm:cxn modelId="{A8F2A108-59A2-4816-9A78-9F6AF4018F97}" type="presParOf" srcId="{AD57D338-FDC9-4A3E-BFB4-2C0979F81CA2}" destId="{9C66D3DC-1C3F-41E0-9A1C-FA61412937D0}" srcOrd="1" destOrd="0" presId="urn:microsoft.com/office/officeart/2005/8/layout/hierarchy2#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DEAB5B-EDBF-4B03-A585-47DFA65B010D}">
      <dsp:nvSpPr>
        <dsp:cNvPr id="0" name=""/>
        <dsp:cNvSpPr/>
      </dsp:nvSpPr>
      <dsp:spPr>
        <a:xfrm>
          <a:off x="0" y="2020517"/>
          <a:ext cx="1380116" cy="379533"/>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压力控制阀</a:t>
          </a:r>
        </a:p>
      </dsp:txBody>
      <dsp:txXfrm>
        <a:off x="11116" y="2031633"/>
        <a:ext cx="1357884" cy="357301"/>
      </dsp:txXfrm>
    </dsp:sp>
    <dsp:sp modelId="{37253C52-7A36-444E-B38B-CABD911C632B}">
      <dsp:nvSpPr>
        <dsp:cNvPr id="0" name=""/>
        <dsp:cNvSpPr/>
      </dsp:nvSpPr>
      <dsp:spPr>
        <a:xfrm rot="18980906">
          <a:off x="1117990" y="1550338"/>
          <a:ext cx="1896377" cy="10876"/>
        </a:xfrm>
        <a:custGeom>
          <a:avLst/>
          <a:gdLst/>
          <a:ahLst/>
          <a:cxnLst/>
          <a:rect l="0" t="0" r="0" b="0"/>
          <a:pathLst>
            <a:path>
              <a:moveTo>
                <a:pt x="0" y="5438"/>
              </a:moveTo>
              <a:lnTo>
                <a:pt x="1896377" y="5438"/>
              </a:lnTo>
            </a:path>
          </a:pathLst>
        </a:custGeom>
        <a:noFill/>
        <a:ln w="6350" cap="flat" cmpd="sng" algn="ctr">
          <a:solidFill>
            <a:schemeClr val="dk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2018769" y="1508367"/>
        <a:ext cx="94818" cy="94818"/>
      </dsp:txXfrm>
    </dsp:sp>
    <dsp:sp modelId="{C54816D1-18C4-4589-8FCE-38CB9B4850D6}">
      <dsp:nvSpPr>
        <dsp:cNvPr id="0" name=""/>
        <dsp:cNvSpPr/>
      </dsp:nvSpPr>
      <dsp:spPr>
        <a:xfrm>
          <a:off x="2752241" y="711502"/>
          <a:ext cx="1799998" cy="379533"/>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按工作原理分</a:t>
          </a:r>
        </a:p>
      </dsp:txBody>
      <dsp:txXfrm>
        <a:off x="2763357" y="722618"/>
        <a:ext cx="1777766" cy="357301"/>
      </dsp:txXfrm>
    </dsp:sp>
    <dsp:sp modelId="{3C18B8DB-3B4A-4EBE-8E7C-B8966967AD6C}">
      <dsp:nvSpPr>
        <dsp:cNvPr id="0" name=""/>
        <dsp:cNvSpPr/>
      </dsp:nvSpPr>
      <dsp:spPr>
        <a:xfrm rot="20286818">
          <a:off x="4483526" y="540447"/>
          <a:ext cx="1906731" cy="10876"/>
        </a:xfrm>
        <a:custGeom>
          <a:avLst/>
          <a:gdLst/>
          <a:ahLst/>
          <a:cxnLst/>
          <a:rect l="0" t="0" r="0" b="0"/>
          <a:pathLst>
            <a:path>
              <a:moveTo>
                <a:pt x="0" y="5438"/>
              </a:moveTo>
              <a:lnTo>
                <a:pt x="1906731"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5389224" y="498217"/>
        <a:ext cx="95336" cy="95336"/>
      </dsp:txXfrm>
    </dsp:sp>
    <dsp:sp modelId="{70C99A13-1FF9-4007-9A4B-CF73DD10613A}">
      <dsp:nvSpPr>
        <dsp:cNvPr id="0" name=""/>
        <dsp:cNvSpPr/>
      </dsp:nvSpPr>
      <dsp:spPr>
        <a:xfrm>
          <a:off x="6321544" y="0"/>
          <a:ext cx="1039107" cy="381005"/>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直动式</a:t>
          </a:r>
        </a:p>
      </dsp:txBody>
      <dsp:txXfrm>
        <a:off x="6332703" y="11159"/>
        <a:ext cx="1016789" cy="358687"/>
      </dsp:txXfrm>
    </dsp:sp>
    <dsp:sp modelId="{CAF8BD22-6BCA-4C07-9721-1A99DA4FF8BE}">
      <dsp:nvSpPr>
        <dsp:cNvPr id="0" name=""/>
        <dsp:cNvSpPr/>
      </dsp:nvSpPr>
      <dsp:spPr>
        <a:xfrm rot="21238666">
          <a:off x="4547328" y="802454"/>
          <a:ext cx="1780054" cy="10876"/>
        </a:xfrm>
        <a:custGeom>
          <a:avLst/>
          <a:gdLst/>
          <a:ahLst/>
          <a:cxnLst/>
          <a:rect l="0" t="0" r="0" b="0"/>
          <a:pathLst>
            <a:path>
              <a:moveTo>
                <a:pt x="0" y="5438"/>
              </a:moveTo>
              <a:lnTo>
                <a:pt x="1780054"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5392854" y="763391"/>
        <a:ext cx="89002" cy="89002"/>
      </dsp:txXfrm>
    </dsp:sp>
    <dsp:sp modelId="{038D48AC-1227-4101-A44F-D21F92176F31}">
      <dsp:nvSpPr>
        <dsp:cNvPr id="0" name=""/>
        <dsp:cNvSpPr/>
      </dsp:nvSpPr>
      <dsp:spPr>
        <a:xfrm>
          <a:off x="6322470" y="524749"/>
          <a:ext cx="1035087" cy="379533"/>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先导式</a:t>
          </a:r>
        </a:p>
      </dsp:txBody>
      <dsp:txXfrm>
        <a:off x="6333586" y="535865"/>
        <a:ext cx="1012855" cy="357301"/>
      </dsp:txXfrm>
    </dsp:sp>
    <dsp:sp modelId="{C9C1955C-D67A-404F-AC84-47FA411A4059}">
      <dsp:nvSpPr>
        <dsp:cNvPr id="0" name=""/>
        <dsp:cNvSpPr/>
      </dsp:nvSpPr>
      <dsp:spPr>
        <a:xfrm rot="549648">
          <a:off x="1370690" y="2322503"/>
          <a:ext cx="1478064" cy="10876"/>
        </a:xfrm>
        <a:custGeom>
          <a:avLst/>
          <a:gdLst/>
          <a:ahLst/>
          <a:cxnLst/>
          <a:rect l="0" t="0" r="0" b="0"/>
          <a:pathLst>
            <a:path>
              <a:moveTo>
                <a:pt x="0" y="5438"/>
              </a:moveTo>
              <a:lnTo>
                <a:pt x="1478064" y="5438"/>
              </a:lnTo>
            </a:path>
          </a:pathLst>
        </a:custGeom>
        <a:noFill/>
        <a:ln w="6350" cap="flat" cmpd="sng" algn="ctr">
          <a:solidFill>
            <a:schemeClr val="dk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2072771" y="2290990"/>
        <a:ext cx="73903" cy="73903"/>
      </dsp:txXfrm>
    </dsp:sp>
    <dsp:sp modelId="{FA35DDD5-1C8A-4A8E-BE78-282D450EAEFE}">
      <dsp:nvSpPr>
        <dsp:cNvPr id="0" name=""/>
        <dsp:cNvSpPr/>
      </dsp:nvSpPr>
      <dsp:spPr>
        <a:xfrm>
          <a:off x="2839329" y="2255833"/>
          <a:ext cx="1799998" cy="379533"/>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按阀芯结构分</a:t>
          </a:r>
        </a:p>
      </dsp:txBody>
      <dsp:txXfrm>
        <a:off x="2850445" y="2266949"/>
        <a:ext cx="1777766" cy="357301"/>
      </dsp:txXfrm>
    </dsp:sp>
    <dsp:sp modelId="{CE5233D7-17DB-46D1-8748-303AB44CE3D5}">
      <dsp:nvSpPr>
        <dsp:cNvPr id="0" name=""/>
        <dsp:cNvSpPr/>
      </dsp:nvSpPr>
      <dsp:spPr>
        <a:xfrm rot="19364410">
          <a:off x="4421607" y="1794335"/>
          <a:ext cx="2133444" cy="10876"/>
        </a:xfrm>
        <a:custGeom>
          <a:avLst/>
          <a:gdLst/>
          <a:ahLst/>
          <a:cxnLst/>
          <a:rect l="0" t="0" r="0" b="0"/>
          <a:pathLst>
            <a:path>
              <a:moveTo>
                <a:pt x="0" y="5438"/>
              </a:moveTo>
              <a:lnTo>
                <a:pt x="2133444"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5434993" y="1746438"/>
        <a:ext cx="106672" cy="106672"/>
      </dsp:txXfrm>
    </dsp:sp>
    <dsp:sp modelId="{3B9ACBF8-03BF-40FA-A27C-428D3106D074}">
      <dsp:nvSpPr>
        <dsp:cNvPr id="0" name=""/>
        <dsp:cNvSpPr/>
      </dsp:nvSpPr>
      <dsp:spPr>
        <a:xfrm>
          <a:off x="6337332" y="962701"/>
          <a:ext cx="869298" cy="38249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a:latin typeface="+mj-ea"/>
              <a:ea typeface="+mj-ea"/>
            </a:rPr>
            <a:t>滑阀</a:t>
          </a:r>
          <a:endParaRPr lang="zh-CN" altLang="en-US" sz="1800" b="0" kern="1200" dirty="0">
            <a:latin typeface="+mj-ea"/>
            <a:ea typeface="+mj-ea"/>
          </a:endParaRPr>
        </a:p>
      </dsp:txBody>
      <dsp:txXfrm>
        <a:off x="6348535" y="973904"/>
        <a:ext cx="846892" cy="360086"/>
      </dsp:txXfrm>
    </dsp:sp>
    <dsp:sp modelId="{5EE4625E-656A-4939-AC30-C6776B4ACBB7}">
      <dsp:nvSpPr>
        <dsp:cNvPr id="0" name=""/>
        <dsp:cNvSpPr/>
      </dsp:nvSpPr>
      <dsp:spPr>
        <a:xfrm rot="19941088">
          <a:off x="4530901" y="1999535"/>
          <a:ext cx="1899062" cy="10876"/>
        </a:xfrm>
        <a:custGeom>
          <a:avLst/>
          <a:gdLst/>
          <a:ahLst/>
          <a:cxnLst/>
          <a:rect l="0" t="0" r="0" b="0"/>
          <a:pathLst>
            <a:path>
              <a:moveTo>
                <a:pt x="0" y="5438"/>
              </a:moveTo>
              <a:lnTo>
                <a:pt x="1899062"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5432956" y="1957496"/>
        <a:ext cx="94953" cy="94953"/>
      </dsp:txXfrm>
    </dsp:sp>
    <dsp:sp modelId="{4DA807FD-8D5E-4C5E-B092-24E2BEE50A9C}">
      <dsp:nvSpPr>
        <dsp:cNvPr id="0" name=""/>
        <dsp:cNvSpPr/>
      </dsp:nvSpPr>
      <dsp:spPr>
        <a:xfrm>
          <a:off x="6321538" y="1371218"/>
          <a:ext cx="877855" cy="38625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球阀</a:t>
          </a:r>
        </a:p>
      </dsp:txBody>
      <dsp:txXfrm>
        <a:off x="6332851" y="1382531"/>
        <a:ext cx="855229" cy="363630"/>
      </dsp:txXfrm>
    </dsp:sp>
    <dsp:sp modelId="{FA5DDEAE-A600-401A-80E4-01589841DF39}">
      <dsp:nvSpPr>
        <dsp:cNvPr id="0" name=""/>
        <dsp:cNvSpPr/>
      </dsp:nvSpPr>
      <dsp:spPr>
        <a:xfrm rot="20709437">
          <a:off x="4610538" y="2219143"/>
          <a:ext cx="1725586" cy="10876"/>
        </a:xfrm>
        <a:custGeom>
          <a:avLst/>
          <a:gdLst/>
          <a:ahLst/>
          <a:cxnLst/>
          <a:rect l="0" t="0" r="0" b="0"/>
          <a:pathLst>
            <a:path>
              <a:moveTo>
                <a:pt x="0" y="5438"/>
              </a:moveTo>
              <a:lnTo>
                <a:pt x="1725586"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0" kern="1200">
            <a:solidFill>
              <a:schemeClr val="tx1"/>
            </a:solidFill>
            <a:latin typeface="+mj-ea"/>
            <a:ea typeface="+mj-ea"/>
          </a:endParaRPr>
        </a:p>
      </dsp:txBody>
      <dsp:txXfrm>
        <a:off x="5430192" y="2181441"/>
        <a:ext cx="86279" cy="86279"/>
      </dsp:txXfrm>
    </dsp:sp>
    <dsp:sp modelId="{8145A9C1-2FA0-4160-9811-C5F003A36B87}">
      <dsp:nvSpPr>
        <dsp:cNvPr id="0" name=""/>
        <dsp:cNvSpPr/>
      </dsp:nvSpPr>
      <dsp:spPr>
        <a:xfrm>
          <a:off x="6307336" y="1808514"/>
          <a:ext cx="886581" cy="39009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a:latin typeface="+mj-ea"/>
              <a:ea typeface="+mj-ea"/>
            </a:rPr>
            <a:t>锥阀</a:t>
          </a:r>
          <a:endParaRPr lang="zh-CN" altLang="en-US" sz="1800" b="0" kern="1200" dirty="0">
            <a:latin typeface="+mj-ea"/>
            <a:ea typeface="+mj-ea"/>
          </a:endParaRPr>
        </a:p>
      </dsp:txBody>
      <dsp:txXfrm>
        <a:off x="6318762" y="1819940"/>
        <a:ext cx="863729" cy="367244"/>
      </dsp:txXfrm>
    </dsp:sp>
    <dsp:sp modelId="{E4FA6B7D-2F10-4FD6-8185-F4E3E702786D}">
      <dsp:nvSpPr>
        <dsp:cNvPr id="0" name=""/>
        <dsp:cNvSpPr/>
      </dsp:nvSpPr>
      <dsp:spPr>
        <a:xfrm rot="2966980">
          <a:off x="987451" y="3057586"/>
          <a:ext cx="2244542" cy="10876"/>
        </a:xfrm>
        <a:custGeom>
          <a:avLst/>
          <a:gdLst/>
          <a:ahLst/>
          <a:cxnLst/>
          <a:rect l="0" t="0" r="0" b="0"/>
          <a:pathLst>
            <a:path>
              <a:moveTo>
                <a:pt x="0" y="5438"/>
              </a:moveTo>
              <a:lnTo>
                <a:pt x="2244542" y="5438"/>
              </a:lnTo>
            </a:path>
          </a:pathLst>
        </a:custGeom>
        <a:noFill/>
        <a:ln w="6350" cap="flat" cmpd="sng" algn="ctr">
          <a:solidFill>
            <a:schemeClr val="dk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a:latin typeface="+mj-ea"/>
            <a:ea typeface="+mj-ea"/>
          </a:endParaRPr>
        </a:p>
      </dsp:txBody>
      <dsp:txXfrm>
        <a:off x="2053609" y="3006911"/>
        <a:ext cx="112227" cy="112227"/>
      </dsp:txXfrm>
    </dsp:sp>
    <dsp:sp modelId="{D5C6A70B-F794-41CC-BE1C-6C2A97CD8725}">
      <dsp:nvSpPr>
        <dsp:cNvPr id="0" name=""/>
        <dsp:cNvSpPr/>
      </dsp:nvSpPr>
      <dsp:spPr>
        <a:xfrm>
          <a:off x="2839329" y="3717766"/>
          <a:ext cx="1799998" cy="396000"/>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rgbClr val="0070C0"/>
              </a:solidFill>
              <a:latin typeface="+mj-ea"/>
              <a:ea typeface="+mj-ea"/>
            </a:rPr>
            <a:t>按功用分</a:t>
          </a:r>
        </a:p>
      </dsp:txBody>
      <dsp:txXfrm>
        <a:off x="2850927" y="3729364"/>
        <a:ext cx="1776802" cy="372804"/>
      </dsp:txXfrm>
    </dsp:sp>
    <dsp:sp modelId="{B818F36F-32A2-4042-89F2-17340DCBBDF5}">
      <dsp:nvSpPr>
        <dsp:cNvPr id="0" name=""/>
        <dsp:cNvSpPr/>
      </dsp:nvSpPr>
      <dsp:spPr>
        <a:xfrm rot="19559480">
          <a:off x="4407299" y="3151603"/>
          <a:ext cx="2713033" cy="10876"/>
        </a:xfrm>
        <a:custGeom>
          <a:avLst/>
          <a:gdLst/>
          <a:ahLst/>
          <a:cxnLst/>
          <a:rect l="0" t="0" r="0" b="0"/>
          <a:pathLst>
            <a:path>
              <a:moveTo>
                <a:pt x="0" y="5438"/>
              </a:moveTo>
              <a:lnTo>
                <a:pt x="2713033"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b="0" kern="1200">
            <a:latin typeface="+mj-ea"/>
            <a:ea typeface="+mj-ea"/>
          </a:endParaRPr>
        </a:p>
      </dsp:txBody>
      <dsp:txXfrm>
        <a:off x="5695990" y="3089215"/>
        <a:ext cx="135651" cy="135651"/>
      </dsp:txXfrm>
    </dsp:sp>
    <dsp:sp modelId="{88468053-3A9C-42E0-9349-185CB559C4EC}">
      <dsp:nvSpPr>
        <dsp:cNvPr id="0" name=""/>
        <dsp:cNvSpPr/>
      </dsp:nvSpPr>
      <dsp:spPr>
        <a:xfrm>
          <a:off x="6888305" y="2203463"/>
          <a:ext cx="1062837" cy="389707"/>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a:latin typeface="+mj-ea"/>
              <a:ea typeface="+mj-ea"/>
            </a:rPr>
            <a:t>溢流阀</a:t>
          </a:r>
          <a:endParaRPr lang="zh-CN" altLang="en-US" sz="1800" b="0" kern="1200" dirty="0">
            <a:latin typeface="+mj-ea"/>
            <a:ea typeface="+mj-ea"/>
          </a:endParaRPr>
        </a:p>
      </dsp:txBody>
      <dsp:txXfrm>
        <a:off x="6899719" y="2214877"/>
        <a:ext cx="1040009" cy="366879"/>
      </dsp:txXfrm>
    </dsp:sp>
    <dsp:sp modelId="{38FD7BA5-7C45-48C4-B677-CD00F0C7AF8A}">
      <dsp:nvSpPr>
        <dsp:cNvPr id="0" name=""/>
        <dsp:cNvSpPr/>
      </dsp:nvSpPr>
      <dsp:spPr>
        <a:xfrm rot="20030379">
          <a:off x="4511424" y="3359832"/>
          <a:ext cx="2497228" cy="10876"/>
        </a:xfrm>
        <a:custGeom>
          <a:avLst/>
          <a:gdLst/>
          <a:ahLst/>
          <a:cxnLst/>
          <a:rect l="0" t="0" r="0" b="0"/>
          <a:pathLst>
            <a:path>
              <a:moveTo>
                <a:pt x="0" y="5438"/>
              </a:moveTo>
              <a:lnTo>
                <a:pt x="2497228"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b="0" kern="1200">
            <a:latin typeface="+mj-ea"/>
            <a:ea typeface="+mj-ea"/>
          </a:endParaRPr>
        </a:p>
      </dsp:txBody>
      <dsp:txXfrm>
        <a:off x="5697608" y="3302840"/>
        <a:ext cx="124861" cy="124861"/>
      </dsp:txXfrm>
    </dsp:sp>
    <dsp:sp modelId="{2DC8E7BD-8A98-4729-A5E1-E9A09D8F432B}">
      <dsp:nvSpPr>
        <dsp:cNvPr id="0" name=""/>
        <dsp:cNvSpPr/>
      </dsp:nvSpPr>
      <dsp:spPr>
        <a:xfrm>
          <a:off x="6880749" y="2620693"/>
          <a:ext cx="1058636" cy="38816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a:latin typeface="+mj-ea"/>
              <a:ea typeface="+mj-ea"/>
            </a:rPr>
            <a:t>减压阀</a:t>
          </a:r>
          <a:endParaRPr lang="zh-CN" altLang="en-US" sz="1800" b="0" kern="1200" dirty="0">
            <a:latin typeface="+mj-ea"/>
            <a:ea typeface="+mj-ea"/>
          </a:endParaRPr>
        </a:p>
      </dsp:txBody>
      <dsp:txXfrm>
        <a:off x="6892118" y="2632062"/>
        <a:ext cx="1035898" cy="365428"/>
      </dsp:txXfrm>
    </dsp:sp>
    <dsp:sp modelId="{35785F32-1A55-4EA6-80EF-620A98A9F848}">
      <dsp:nvSpPr>
        <dsp:cNvPr id="0" name=""/>
        <dsp:cNvSpPr/>
      </dsp:nvSpPr>
      <dsp:spPr>
        <a:xfrm rot="20515184">
          <a:off x="4581312" y="3545683"/>
          <a:ext cx="2349897" cy="10876"/>
        </a:xfrm>
        <a:custGeom>
          <a:avLst/>
          <a:gdLst/>
          <a:ahLst/>
          <a:cxnLst/>
          <a:rect l="0" t="0" r="0" b="0"/>
          <a:pathLst>
            <a:path>
              <a:moveTo>
                <a:pt x="0" y="5438"/>
              </a:moveTo>
              <a:lnTo>
                <a:pt x="2349897"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a:latin typeface="+mj-ea"/>
            <a:ea typeface="+mj-ea"/>
          </a:endParaRPr>
        </a:p>
      </dsp:txBody>
      <dsp:txXfrm>
        <a:off x="5697513" y="3492374"/>
        <a:ext cx="117494" cy="117494"/>
      </dsp:txXfrm>
    </dsp:sp>
    <dsp:sp modelId="{F0FE37FA-1E28-4523-BA18-6A80061E53CA}">
      <dsp:nvSpPr>
        <dsp:cNvPr id="0" name=""/>
        <dsp:cNvSpPr/>
      </dsp:nvSpPr>
      <dsp:spPr>
        <a:xfrm>
          <a:off x="6873193" y="2991041"/>
          <a:ext cx="1066015" cy="39087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a:latin typeface="+mj-ea"/>
              <a:ea typeface="+mj-ea"/>
            </a:rPr>
            <a:t>顺序阀</a:t>
          </a:r>
          <a:endParaRPr lang="zh-CN" altLang="en-US" sz="1800" b="0" kern="1200" dirty="0">
            <a:latin typeface="+mj-ea"/>
            <a:ea typeface="+mj-ea"/>
          </a:endParaRPr>
        </a:p>
      </dsp:txBody>
      <dsp:txXfrm>
        <a:off x="6884641" y="3002489"/>
        <a:ext cx="1043119" cy="367976"/>
      </dsp:txXfrm>
    </dsp:sp>
    <dsp:sp modelId="{67EACA34-D24E-46FE-92DF-D724D5128A6A}">
      <dsp:nvSpPr>
        <dsp:cNvPr id="0" name=""/>
        <dsp:cNvSpPr/>
      </dsp:nvSpPr>
      <dsp:spPr>
        <a:xfrm rot="21044946">
          <a:off x="4624659" y="3729021"/>
          <a:ext cx="2255647" cy="10876"/>
        </a:xfrm>
        <a:custGeom>
          <a:avLst/>
          <a:gdLst/>
          <a:ahLst/>
          <a:cxnLst/>
          <a:rect l="0" t="0" r="0" b="0"/>
          <a:pathLst>
            <a:path>
              <a:moveTo>
                <a:pt x="0" y="5438"/>
              </a:moveTo>
              <a:lnTo>
                <a:pt x="2255647"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a:latin typeface="+mj-ea"/>
            <a:ea typeface="+mj-ea"/>
          </a:endParaRPr>
        </a:p>
      </dsp:txBody>
      <dsp:txXfrm>
        <a:off x="5696091" y="3678068"/>
        <a:ext cx="112782" cy="112782"/>
      </dsp:txXfrm>
    </dsp:sp>
    <dsp:sp modelId="{8DE78968-4183-4A99-87E1-33895853F7FE}">
      <dsp:nvSpPr>
        <dsp:cNvPr id="0" name=""/>
        <dsp:cNvSpPr/>
      </dsp:nvSpPr>
      <dsp:spPr>
        <a:xfrm>
          <a:off x="6865638" y="3356540"/>
          <a:ext cx="1072422" cy="393223"/>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平衡阀</a:t>
          </a:r>
        </a:p>
      </dsp:txBody>
      <dsp:txXfrm>
        <a:off x="6877155" y="3368057"/>
        <a:ext cx="1049388" cy="370189"/>
      </dsp:txXfrm>
    </dsp:sp>
    <dsp:sp modelId="{1484D8BB-D76A-4651-B478-B074B634C873}">
      <dsp:nvSpPr>
        <dsp:cNvPr id="0" name=""/>
        <dsp:cNvSpPr/>
      </dsp:nvSpPr>
      <dsp:spPr>
        <a:xfrm rot="39209">
          <a:off x="4639254" y="3923260"/>
          <a:ext cx="2267824" cy="10876"/>
        </a:xfrm>
        <a:custGeom>
          <a:avLst/>
          <a:gdLst/>
          <a:ahLst/>
          <a:cxnLst/>
          <a:rect l="0" t="0" r="0" b="0"/>
          <a:pathLst>
            <a:path>
              <a:moveTo>
                <a:pt x="0" y="5438"/>
              </a:moveTo>
              <a:lnTo>
                <a:pt x="2267824"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a:latin typeface="+mj-ea"/>
            <a:ea typeface="+mj-ea"/>
          </a:endParaRPr>
        </a:p>
      </dsp:txBody>
      <dsp:txXfrm>
        <a:off x="5716470" y="3872003"/>
        <a:ext cx="113391" cy="113391"/>
      </dsp:txXfrm>
    </dsp:sp>
    <dsp:sp modelId="{878F3033-FC90-4FFD-B380-C3754B3E4CFF}">
      <dsp:nvSpPr>
        <dsp:cNvPr id="0" name=""/>
        <dsp:cNvSpPr/>
      </dsp:nvSpPr>
      <dsp:spPr>
        <a:xfrm>
          <a:off x="6907004" y="3744229"/>
          <a:ext cx="1429897" cy="394803"/>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mj-ea"/>
              <a:ea typeface="+mj-ea"/>
            </a:rPr>
            <a:t>压力继电器</a:t>
          </a:r>
        </a:p>
      </dsp:txBody>
      <dsp:txXfrm>
        <a:off x="6918567" y="3755792"/>
        <a:ext cx="1406771" cy="371677"/>
      </dsp:txXfrm>
    </dsp:sp>
    <dsp:sp modelId="{0EE6737B-9129-4CBF-ACA1-4DB71ADC3F63}">
      <dsp:nvSpPr>
        <dsp:cNvPr id="0" name=""/>
        <dsp:cNvSpPr/>
      </dsp:nvSpPr>
      <dsp:spPr>
        <a:xfrm rot="624260">
          <a:off x="4620150" y="4120961"/>
          <a:ext cx="2332683" cy="10876"/>
        </a:xfrm>
        <a:custGeom>
          <a:avLst/>
          <a:gdLst/>
          <a:ahLst/>
          <a:cxnLst/>
          <a:rect l="0" t="0" r="0" b="0"/>
          <a:pathLst>
            <a:path>
              <a:moveTo>
                <a:pt x="0" y="5438"/>
              </a:moveTo>
              <a:lnTo>
                <a:pt x="2332683" y="5438"/>
              </a:lnTo>
            </a:path>
          </a:pathLst>
        </a:custGeom>
        <a:noFill/>
        <a:ln w="6350" cap="flat" cmpd="sng" algn="ctr">
          <a:solidFill>
            <a:schemeClr val="dk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a:latin typeface="+mj-ea"/>
            <a:ea typeface="+mj-ea"/>
          </a:endParaRPr>
        </a:p>
      </dsp:txBody>
      <dsp:txXfrm>
        <a:off x="5728175" y="4068083"/>
        <a:ext cx="116634" cy="116634"/>
      </dsp:txXfrm>
    </dsp:sp>
    <dsp:sp modelId="{D349DAF1-DD8F-4805-BD5A-97FE61FC0DF4}">
      <dsp:nvSpPr>
        <dsp:cNvPr id="0" name=""/>
        <dsp:cNvSpPr/>
      </dsp:nvSpPr>
      <dsp:spPr>
        <a:xfrm>
          <a:off x="6933657" y="4139033"/>
          <a:ext cx="720002" cy="396000"/>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0" kern="1200" dirty="0">
              <a:latin typeface="+mj-ea"/>
              <a:ea typeface="+mj-ea"/>
            </a:rPr>
            <a:t>……</a:t>
          </a:r>
          <a:endParaRPr lang="zh-CN" altLang="en-US" sz="1800" b="0" kern="1200" dirty="0">
            <a:latin typeface="+mj-ea"/>
            <a:ea typeface="+mj-ea"/>
          </a:endParaRPr>
        </a:p>
      </dsp:txBody>
      <dsp:txXfrm>
        <a:off x="6945255" y="4150631"/>
        <a:ext cx="696806" cy="3728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EBC71-470F-4178-8939-B7F43C998C3E}" type="datetimeFigureOut">
              <a:rPr lang="zh-CN" altLang="en-US" smtClean="0"/>
              <a:t>2025/12/10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F53EF-5364-44E3-BFA2-84231755F7E3}" type="slidenum">
              <a:rPr lang="zh-CN" altLang="en-US" smtClean="0"/>
              <a:t>‹#›</a:t>
            </a:fld>
            <a:endParaRPr lang="zh-CN" altLang="en-US"/>
          </a:p>
        </p:txBody>
      </p:sp>
    </p:spTree>
    <p:extLst>
      <p:ext uri="{BB962C8B-B14F-4D97-AF65-F5344CB8AC3E}">
        <p14:creationId xmlns:p14="http://schemas.microsoft.com/office/powerpoint/2010/main" val="318964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4930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液压阀的定义与分类</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2</a:t>
            </a:fld>
            <a:endParaRPr lang="zh-CN" altLang="en-US"/>
          </a:p>
        </p:txBody>
      </p:sp>
    </p:spTree>
    <p:extLst>
      <p:ext uri="{BB962C8B-B14F-4D97-AF65-F5344CB8AC3E}">
        <p14:creationId xmlns:p14="http://schemas.microsoft.com/office/powerpoint/2010/main" val="1460076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液压阀再结构和原理上的共同点</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3</a:t>
            </a:fld>
            <a:endParaRPr lang="zh-CN" altLang="en-US"/>
          </a:p>
        </p:txBody>
      </p:sp>
    </p:spTree>
    <p:extLst>
      <p:ext uri="{BB962C8B-B14F-4D97-AF65-F5344CB8AC3E}">
        <p14:creationId xmlns:p14="http://schemas.microsoft.com/office/powerpoint/2010/main" val="1033767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液压阀分类（方向，压力，流量控制阀）</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4</a:t>
            </a:fld>
            <a:endParaRPr lang="zh-CN" altLang="en-US"/>
          </a:p>
        </p:txBody>
      </p:sp>
    </p:spTree>
    <p:extLst>
      <p:ext uri="{BB962C8B-B14F-4D97-AF65-F5344CB8AC3E}">
        <p14:creationId xmlns:p14="http://schemas.microsoft.com/office/powerpoint/2010/main" val="2137132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液压阀分类（方向，压力，流量控制阀）</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a:t>
            </a:fld>
            <a:endParaRPr lang="zh-CN" altLang="en-US"/>
          </a:p>
        </p:txBody>
      </p:sp>
    </p:spTree>
    <p:extLst>
      <p:ext uri="{BB962C8B-B14F-4D97-AF65-F5344CB8AC3E}">
        <p14:creationId xmlns:p14="http://schemas.microsoft.com/office/powerpoint/2010/main" val="1953500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液压阀分类（方向，压力，流量控制阀）</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a:t>
            </a:fld>
            <a:endParaRPr lang="zh-CN" altLang="en-US"/>
          </a:p>
        </p:txBody>
      </p:sp>
    </p:spTree>
    <p:extLst>
      <p:ext uri="{BB962C8B-B14F-4D97-AF65-F5344CB8AC3E}">
        <p14:creationId xmlns:p14="http://schemas.microsoft.com/office/powerpoint/2010/main" val="859529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液压阀性能基本要求</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7</a:t>
            </a:fld>
            <a:endParaRPr lang="zh-CN" altLang="en-US"/>
          </a:p>
        </p:txBody>
      </p:sp>
    </p:spTree>
    <p:extLst>
      <p:ext uri="{BB962C8B-B14F-4D97-AF65-F5344CB8AC3E}">
        <p14:creationId xmlns:p14="http://schemas.microsoft.com/office/powerpoint/2010/main" val="58031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液压阀面临的共性问题</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8</a:t>
            </a:fld>
            <a:endParaRPr lang="zh-CN" altLang="en-US"/>
          </a:p>
        </p:txBody>
      </p:sp>
    </p:spTree>
    <p:extLst>
      <p:ext uri="{BB962C8B-B14F-4D97-AF65-F5344CB8AC3E}">
        <p14:creationId xmlns:p14="http://schemas.microsoft.com/office/powerpoint/2010/main" val="1381122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阀口形式</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9</a:t>
            </a:fld>
            <a:endParaRPr lang="zh-CN" altLang="en-US"/>
          </a:p>
        </p:txBody>
      </p:sp>
    </p:spTree>
    <p:extLst>
      <p:ext uri="{BB962C8B-B14F-4D97-AF65-F5344CB8AC3E}">
        <p14:creationId xmlns:p14="http://schemas.microsoft.com/office/powerpoint/2010/main" val="3040493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液动力定义与分类</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11</a:t>
            </a:fld>
            <a:endParaRPr lang="zh-CN" altLang="en-US"/>
          </a:p>
        </p:txBody>
      </p:sp>
    </p:spTree>
    <p:extLst>
      <p:ext uri="{BB962C8B-B14F-4D97-AF65-F5344CB8AC3E}">
        <p14:creationId xmlns:p14="http://schemas.microsoft.com/office/powerpoint/2010/main" val="2141014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稳态液动力计算</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12</a:t>
            </a:fld>
            <a:endParaRPr lang="zh-CN" altLang="en-US"/>
          </a:p>
        </p:txBody>
      </p:sp>
    </p:spTree>
    <p:extLst>
      <p:ext uri="{BB962C8B-B14F-4D97-AF65-F5344CB8AC3E}">
        <p14:creationId xmlns:p14="http://schemas.microsoft.com/office/powerpoint/2010/main" val="2716804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稳态液动力对滑阀性能的影响与降低措施</a:t>
            </a:r>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13</a:t>
            </a:fld>
            <a:endParaRPr lang="zh-CN" altLang="en-US"/>
          </a:p>
        </p:txBody>
      </p:sp>
    </p:spTree>
    <p:extLst>
      <p:ext uri="{BB962C8B-B14F-4D97-AF65-F5344CB8AC3E}">
        <p14:creationId xmlns:p14="http://schemas.microsoft.com/office/powerpoint/2010/main" val="4162551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瞬态液动力计算</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14</a:t>
            </a:fld>
            <a:endParaRPr lang="zh-CN" altLang="en-US"/>
          </a:p>
        </p:txBody>
      </p:sp>
    </p:spTree>
    <p:extLst>
      <p:ext uri="{BB962C8B-B14F-4D97-AF65-F5344CB8AC3E}">
        <p14:creationId xmlns:p14="http://schemas.microsoft.com/office/powerpoint/2010/main" val="894757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阻尼长度  的定义</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15</a:t>
            </a:fld>
            <a:endParaRPr lang="zh-CN" altLang="en-US"/>
          </a:p>
        </p:txBody>
      </p:sp>
    </p:spTree>
    <p:extLst>
      <p:ext uri="{BB962C8B-B14F-4D97-AF65-F5344CB8AC3E}">
        <p14:creationId xmlns:p14="http://schemas.microsoft.com/office/powerpoint/2010/main" val="3636177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卡紧力定义</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16</a:t>
            </a:fld>
            <a:endParaRPr lang="zh-CN" altLang="en-US"/>
          </a:p>
        </p:txBody>
      </p:sp>
    </p:spTree>
    <p:extLst>
      <p:ext uri="{BB962C8B-B14F-4D97-AF65-F5344CB8AC3E}">
        <p14:creationId xmlns:p14="http://schemas.microsoft.com/office/powerpoint/2010/main" val="3897622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000000"/>
                </a:solidFill>
                <a:latin typeface="方正书宋_GBK"/>
                <a:cs typeface="Times New Roman" panose="02020603050405020304" pitchFamily="18" charset="0"/>
              </a:rPr>
              <a:t>滑阀上产生</a:t>
            </a:r>
            <a:r>
              <a:rPr lang="zh-CN" altLang="en-US" sz="1200" b="0" dirty="0">
                <a:solidFill>
                  <a:srgbClr val="FF0000"/>
                </a:solidFill>
                <a:latin typeface="方正书宋_GBK"/>
                <a:cs typeface="Times New Roman" panose="02020603050405020304" pitchFamily="18" charset="0"/>
              </a:rPr>
              <a:t>径向不平衡力</a:t>
            </a:r>
            <a:r>
              <a:rPr lang="zh-CN" altLang="en-US" sz="1200" b="0" dirty="0">
                <a:solidFill>
                  <a:srgbClr val="000000"/>
                </a:solidFill>
                <a:latin typeface="方正书宋_GBK"/>
                <a:cs typeface="Times New Roman" panose="02020603050405020304" pitchFamily="18" charset="0"/>
              </a:rPr>
              <a:t>的</a:t>
            </a:r>
            <a:r>
              <a:rPr lang="zh-CN" altLang="en-US" sz="1200" dirty="0">
                <a:solidFill>
                  <a:srgbClr val="000000"/>
                </a:solidFill>
                <a:latin typeface="方正书宋_GBK"/>
                <a:cs typeface="Times New Roman" panose="02020603050405020304" pitchFamily="18" charset="0"/>
              </a:rPr>
              <a:t>几种情况</a:t>
            </a:r>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17</a:t>
            </a:fld>
            <a:endParaRPr lang="zh-CN" altLang="en-US"/>
          </a:p>
        </p:txBody>
      </p:sp>
    </p:spTree>
    <p:extLst>
      <p:ext uri="{BB962C8B-B14F-4D97-AF65-F5344CB8AC3E}">
        <p14:creationId xmlns:p14="http://schemas.microsoft.com/office/powerpoint/2010/main" val="1081167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减小液压卡紧力的措施和径向不平衡力计算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18</a:t>
            </a:fld>
            <a:endParaRPr lang="zh-CN" altLang="en-US"/>
          </a:p>
        </p:txBody>
      </p:sp>
    </p:spTree>
    <p:extLst>
      <p:ext uri="{BB962C8B-B14F-4D97-AF65-F5344CB8AC3E}">
        <p14:creationId xmlns:p14="http://schemas.microsoft.com/office/powerpoint/2010/main" val="1207531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阀泄露原因与降低措施</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19</a:t>
            </a:fld>
            <a:endParaRPr lang="zh-CN" altLang="en-US"/>
          </a:p>
        </p:txBody>
      </p:sp>
    </p:spTree>
    <p:extLst>
      <p:ext uri="{BB962C8B-B14F-4D97-AF65-F5344CB8AC3E}">
        <p14:creationId xmlns:p14="http://schemas.microsoft.com/office/powerpoint/2010/main" val="1279125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阀泄露原因与降低措施</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20</a:t>
            </a:fld>
            <a:endParaRPr lang="zh-CN" altLang="en-US"/>
          </a:p>
        </p:txBody>
      </p:sp>
    </p:spTree>
    <p:extLst>
      <p:ext uri="{BB962C8B-B14F-4D97-AF65-F5344CB8AC3E}">
        <p14:creationId xmlns:p14="http://schemas.microsoft.com/office/powerpoint/2010/main" val="22275746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方向控制阀的分类</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21</a:t>
            </a:fld>
            <a:endParaRPr lang="zh-CN" altLang="en-US"/>
          </a:p>
        </p:txBody>
      </p:sp>
    </p:spTree>
    <p:extLst>
      <p:ext uri="{BB962C8B-B14F-4D97-AF65-F5344CB8AC3E}">
        <p14:creationId xmlns:p14="http://schemas.microsoft.com/office/powerpoint/2010/main" val="254253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dirty="0"/>
              <a:t>普通单向阀工作原理与工作特点</a:t>
            </a:r>
            <a:endParaRPr lang="zh-CN" altLang="en-US" b="0"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22</a:t>
            </a:fld>
            <a:endParaRPr lang="zh-CN" altLang="en-US"/>
          </a:p>
        </p:txBody>
      </p:sp>
    </p:spTree>
    <p:extLst>
      <p:ext uri="{BB962C8B-B14F-4D97-AF65-F5344CB8AC3E}">
        <p14:creationId xmlns:p14="http://schemas.microsoft.com/office/powerpoint/2010/main" val="1020659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液控单向阀工作原理与工作特点</a:t>
            </a:r>
            <a:endParaRPr lang="zh-CN" altLang="en-US" b="0"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23</a:t>
            </a:fld>
            <a:endParaRPr lang="zh-CN" altLang="en-US"/>
          </a:p>
        </p:txBody>
      </p:sp>
    </p:spTree>
    <p:extLst>
      <p:ext uri="{BB962C8B-B14F-4D97-AF65-F5344CB8AC3E}">
        <p14:creationId xmlns:p14="http://schemas.microsoft.com/office/powerpoint/2010/main" val="1898794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液控单向阀工作原理与工作特点</a:t>
            </a:r>
            <a:endParaRPr lang="zh-CN" altLang="en-US" b="0"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24</a:t>
            </a:fld>
            <a:endParaRPr lang="zh-CN" altLang="en-US"/>
          </a:p>
        </p:txBody>
      </p:sp>
    </p:spTree>
    <p:extLst>
      <p:ext uri="{BB962C8B-B14F-4D97-AF65-F5344CB8AC3E}">
        <p14:creationId xmlns:p14="http://schemas.microsoft.com/office/powerpoint/2010/main" val="262880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液控单向阀工作原理与工作特点</a:t>
            </a:r>
            <a:endParaRPr lang="zh-CN" altLang="en-US" b="0"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25</a:t>
            </a:fld>
            <a:endParaRPr lang="zh-CN" altLang="en-US"/>
          </a:p>
        </p:txBody>
      </p:sp>
    </p:spTree>
    <p:extLst>
      <p:ext uri="{BB962C8B-B14F-4D97-AF65-F5344CB8AC3E}">
        <p14:creationId xmlns:p14="http://schemas.microsoft.com/office/powerpoint/2010/main" val="43909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液控单向阀工作原理与工作特点</a:t>
            </a:r>
            <a:endParaRPr lang="zh-CN" altLang="en-US" b="0"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26</a:t>
            </a:fld>
            <a:endParaRPr lang="zh-CN" altLang="en-US"/>
          </a:p>
        </p:txBody>
      </p:sp>
    </p:spTree>
    <p:extLst>
      <p:ext uri="{BB962C8B-B14F-4D97-AF65-F5344CB8AC3E}">
        <p14:creationId xmlns:p14="http://schemas.microsoft.com/office/powerpoint/2010/main" val="1061072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换向阀定义、要求、用途、结构形式</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27</a:t>
            </a:fld>
            <a:endParaRPr lang="zh-CN" altLang="en-US"/>
          </a:p>
        </p:txBody>
      </p:sp>
    </p:spTree>
    <p:extLst>
      <p:ext uri="{BB962C8B-B14F-4D97-AF65-F5344CB8AC3E}">
        <p14:creationId xmlns:p14="http://schemas.microsoft.com/office/powerpoint/2010/main" val="4033962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换向阀定义、要求、用途、结构形式</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28</a:t>
            </a:fld>
            <a:endParaRPr lang="zh-CN" altLang="en-US"/>
          </a:p>
        </p:txBody>
      </p:sp>
    </p:spTree>
    <p:extLst>
      <p:ext uri="{BB962C8B-B14F-4D97-AF65-F5344CB8AC3E}">
        <p14:creationId xmlns:p14="http://schemas.microsoft.com/office/powerpoint/2010/main" val="2307529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换向阀定义、要求、用途、结构形式</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29</a:t>
            </a:fld>
            <a:endParaRPr lang="zh-CN" altLang="en-US"/>
          </a:p>
        </p:txBody>
      </p:sp>
    </p:spTree>
    <p:extLst>
      <p:ext uri="{BB962C8B-B14F-4D97-AF65-F5344CB8AC3E}">
        <p14:creationId xmlns:p14="http://schemas.microsoft.com/office/powerpoint/2010/main" val="1663544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30</a:t>
            </a:fld>
            <a:endParaRPr lang="zh-CN" altLang="en-US"/>
          </a:p>
        </p:txBody>
      </p:sp>
    </p:spTree>
    <p:extLst>
      <p:ext uri="{BB962C8B-B14F-4D97-AF65-F5344CB8AC3E}">
        <p14:creationId xmlns:p14="http://schemas.microsoft.com/office/powerpoint/2010/main" val="10151712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电磁换向阀、电液换向阀、先导阀概念</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31</a:t>
            </a:fld>
            <a:endParaRPr lang="zh-CN" altLang="en-US"/>
          </a:p>
        </p:txBody>
      </p:sp>
    </p:spTree>
    <p:extLst>
      <p:ext uri="{BB962C8B-B14F-4D97-AF65-F5344CB8AC3E}">
        <p14:creationId xmlns:p14="http://schemas.microsoft.com/office/powerpoint/2010/main" val="863491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滑阀机能、中位机能定义</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32</a:t>
            </a:fld>
            <a:endParaRPr lang="zh-CN" altLang="en-US"/>
          </a:p>
        </p:txBody>
      </p:sp>
    </p:spTree>
    <p:extLst>
      <p:ext uri="{BB962C8B-B14F-4D97-AF65-F5344CB8AC3E}">
        <p14:creationId xmlns:p14="http://schemas.microsoft.com/office/powerpoint/2010/main" val="37260721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中位机能表</a:t>
            </a:r>
            <a:r>
              <a:rPr lang="en-US" altLang="zh-CN" dirty="0"/>
              <a:t>1</a:t>
            </a:r>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33</a:t>
            </a:fld>
            <a:endParaRPr lang="zh-CN" altLang="en-US"/>
          </a:p>
        </p:txBody>
      </p:sp>
    </p:spTree>
    <p:extLst>
      <p:ext uri="{BB962C8B-B14F-4D97-AF65-F5344CB8AC3E}">
        <p14:creationId xmlns:p14="http://schemas.microsoft.com/office/powerpoint/2010/main" val="1759822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中位机能表</a:t>
            </a:r>
            <a:r>
              <a:rPr lang="en-US" altLang="zh-CN" dirty="0"/>
              <a:t>2</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34</a:t>
            </a:fld>
            <a:endParaRPr lang="zh-CN" altLang="en-US"/>
          </a:p>
        </p:txBody>
      </p:sp>
    </p:spTree>
    <p:extLst>
      <p:ext uri="{BB962C8B-B14F-4D97-AF65-F5344CB8AC3E}">
        <p14:creationId xmlns:p14="http://schemas.microsoft.com/office/powerpoint/2010/main" val="19385173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过渡位置技能表</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36</a:t>
            </a:fld>
            <a:endParaRPr lang="zh-CN" altLang="en-US"/>
          </a:p>
        </p:txBody>
      </p:sp>
    </p:spTree>
    <p:extLst>
      <p:ext uri="{BB962C8B-B14F-4D97-AF65-F5344CB8AC3E}">
        <p14:creationId xmlns:p14="http://schemas.microsoft.com/office/powerpoint/2010/main" val="41273806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电磁球阀介绍</a:t>
            </a:r>
            <a:endParaRPr lang="en-US" altLang="zh-CN" sz="1200" b="0" dirty="0"/>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37</a:t>
            </a:fld>
            <a:endParaRPr lang="zh-CN" altLang="en-US"/>
          </a:p>
        </p:txBody>
      </p:sp>
    </p:spTree>
    <p:extLst>
      <p:ext uri="{BB962C8B-B14F-4D97-AF65-F5344CB8AC3E}">
        <p14:creationId xmlns:p14="http://schemas.microsoft.com/office/powerpoint/2010/main" val="38468864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换向阀的性能衡量标准（</a:t>
            </a:r>
            <a:r>
              <a:rPr lang="en-US" altLang="zh-CN" dirty="0"/>
              <a:t>6</a:t>
            </a:r>
            <a:r>
              <a:rPr lang="zh-CN" altLang="en-US" dirty="0"/>
              <a:t>点）</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38</a:t>
            </a:fld>
            <a:endParaRPr lang="zh-CN" altLang="en-US"/>
          </a:p>
        </p:txBody>
      </p:sp>
    </p:spTree>
    <p:extLst>
      <p:ext uri="{BB962C8B-B14F-4D97-AF65-F5344CB8AC3E}">
        <p14:creationId xmlns:p14="http://schemas.microsoft.com/office/powerpoint/2010/main" val="9118746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多路换向阀介绍</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40</a:t>
            </a:fld>
            <a:endParaRPr lang="zh-CN" altLang="en-US"/>
          </a:p>
        </p:txBody>
      </p:sp>
    </p:spTree>
    <p:extLst>
      <p:ext uri="{BB962C8B-B14F-4D97-AF65-F5344CB8AC3E}">
        <p14:creationId xmlns:p14="http://schemas.microsoft.com/office/powerpoint/2010/main" val="36617360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多路换向阀基本油路举例介绍</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41</a:t>
            </a:fld>
            <a:endParaRPr lang="zh-CN" altLang="en-US"/>
          </a:p>
        </p:txBody>
      </p:sp>
    </p:spTree>
    <p:extLst>
      <p:ext uri="{BB962C8B-B14F-4D97-AF65-F5344CB8AC3E}">
        <p14:creationId xmlns:p14="http://schemas.microsoft.com/office/powerpoint/2010/main" val="39211752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多路换向阀结构原理举例介绍</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42</a:t>
            </a:fld>
            <a:endParaRPr lang="zh-CN" altLang="en-US"/>
          </a:p>
        </p:txBody>
      </p:sp>
    </p:spTree>
    <p:extLst>
      <p:ext uri="{BB962C8B-B14F-4D97-AF65-F5344CB8AC3E}">
        <p14:creationId xmlns:p14="http://schemas.microsoft.com/office/powerpoint/2010/main" val="22494569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多路换向阀结构原理举例介绍</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43</a:t>
            </a:fld>
            <a:endParaRPr lang="zh-CN" altLang="en-US"/>
          </a:p>
        </p:txBody>
      </p:sp>
    </p:spTree>
    <p:extLst>
      <p:ext uri="{BB962C8B-B14F-4D97-AF65-F5344CB8AC3E}">
        <p14:creationId xmlns:p14="http://schemas.microsoft.com/office/powerpoint/2010/main" val="22351407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压力控制阀类型</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44</a:t>
            </a:fld>
            <a:endParaRPr lang="zh-CN" altLang="en-US"/>
          </a:p>
        </p:txBody>
      </p:sp>
    </p:spTree>
    <p:extLst>
      <p:ext uri="{BB962C8B-B14F-4D97-AF65-F5344CB8AC3E}">
        <p14:creationId xmlns:p14="http://schemas.microsoft.com/office/powerpoint/2010/main" val="28346162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溢流阀 功用与要求</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45</a:t>
            </a:fld>
            <a:endParaRPr lang="zh-CN" altLang="en-US"/>
          </a:p>
        </p:txBody>
      </p:sp>
    </p:spTree>
    <p:extLst>
      <p:ext uri="{BB962C8B-B14F-4D97-AF65-F5344CB8AC3E}">
        <p14:creationId xmlns:p14="http://schemas.microsoft.com/office/powerpoint/2010/main" val="374940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直动式溢流阀与先导式溢流阀工作原理及结构</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46</a:t>
            </a:fld>
            <a:endParaRPr lang="zh-CN" altLang="en-US"/>
          </a:p>
        </p:txBody>
      </p:sp>
    </p:spTree>
    <p:extLst>
      <p:ext uri="{BB962C8B-B14F-4D97-AF65-F5344CB8AC3E}">
        <p14:creationId xmlns:p14="http://schemas.microsoft.com/office/powerpoint/2010/main" val="161736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直动式溢流阀与先导式溢流阀工作原理及结构</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47</a:t>
            </a:fld>
            <a:endParaRPr lang="zh-CN" altLang="en-US"/>
          </a:p>
        </p:txBody>
      </p:sp>
    </p:spTree>
    <p:extLst>
      <p:ext uri="{BB962C8B-B14F-4D97-AF65-F5344CB8AC3E}">
        <p14:creationId xmlns:p14="http://schemas.microsoft.com/office/powerpoint/2010/main" val="5056475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直动式溢流阀与先导式溢流阀工作原理及结构</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48</a:t>
            </a:fld>
            <a:endParaRPr lang="zh-CN" altLang="en-US"/>
          </a:p>
        </p:txBody>
      </p:sp>
    </p:spTree>
    <p:extLst>
      <p:ext uri="{BB962C8B-B14F-4D97-AF65-F5344CB8AC3E}">
        <p14:creationId xmlns:p14="http://schemas.microsoft.com/office/powerpoint/2010/main" val="39549387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直动式溢流阀与先导式溢流阀工作原理及结构</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49</a:t>
            </a:fld>
            <a:endParaRPr lang="zh-CN" altLang="en-US"/>
          </a:p>
        </p:txBody>
      </p:sp>
    </p:spTree>
    <p:extLst>
      <p:ext uri="{BB962C8B-B14F-4D97-AF65-F5344CB8AC3E}">
        <p14:creationId xmlns:p14="http://schemas.microsoft.com/office/powerpoint/2010/main" val="31695428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j-ea"/>
                <a:ea typeface="+mj-ea"/>
              </a:rPr>
              <a:t>当将远程控制口</a:t>
            </a:r>
            <a:r>
              <a:rPr lang="en-US" altLang="zh-CN" sz="1200" dirty="0">
                <a:latin typeface="+mj-ea"/>
                <a:ea typeface="+mj-ea"/>
              </a:rPr>
              <a:t>K</a:t>
            </a:r>
            <a:r>
              <a:rPr lang="zh-CN" altLang="en-US" sz="1200" dirty="0">
                <a:latin typeface="+mj-ea"/>
                <a:ea typeface="+mj-ea"/>
              </a:rPr>
              <a:t>通过二位二通阀接通油箱时</a:t>
            </a:r>
            <a:r>
              <a:rPr lang="en-US" altLang="zh-CN" sz="1200" dirty="0">
                <a:latin typeface="+mj-ea"/>
                <a:ea typeface="+mj-ea"/>
              </a:rPr>
              <a:t>,</a:t>
            </a:r>
            <a:r>
              <a:rPr lang="zh-CN" altLang="en-US" sz="1200" dirty="0">
                <a:latin typeface="+mj-ea"/>
                <a:ea typeface="+mj-ea"/>
              </a:rPr>
              <a:t>主阀</a:t>
            </a:r>
            <a:r>
              <a:rPr lang="en-US" altLang="zh-CN" sz="1200" dirty="0">
                <a:latin typeface="+mj-ea"/>
                <a:ea typeface="+mj-ea"/>
              </a:rPr>
              <a:t>1</a:t>
            </a:r>
            <a:r>
              <a:rPr lang="zh-CN" altLang="en-US" sz="1200" dirty="0">
                <a:latin typeface="+mj-ea"/>
                <a:ea typeface="+mj-ea"/>
              </a:rPr>
              <a:t>左端的压力接近于零</a:t>
            </a:r>
            <a:r>
              <a:rPr lang="en-US" altLang="zh-CN" sz="1200" dirty="0">
                <a:latin typeface="+mj-ea"/>
                <a:ea typeface="+mj-ea"/>
              </a:rPr>
              <a:t>,</a:t>
            </a:r>
            <a:r>
              <a:rPr lang="zh-CN" altLang="en-US" sz="1200" dirty="0">
                <a:latin typeface="+mj-ea"/>
                <a:ea typeface="+mj-ea"/>
              </a:rPr>
              <a:t>主阀</a:t>
            </a:r>
            <a:r>
              <a:rPr lang="en-US" altLang="zh-CN" sz="1200" dirty="0">
                <a:latin typeface="+mj-ea"/>
                <a:ea typeface="+mj-ea"/>
              </a:rPr>
              <a:t>1</a:t>
            </a:r>
            <a:r>
              <a:rPr lang="zh-CN" altLang="en-US" sz="1200" dirty="0">
                <a:latin typeface="+mj-ea"/>
                <a:ea typeface="+mj-ea"/>
              </a:rPr>
              <a:t>在很小的压力下便可移到左端</a:t>
            </a:r>
            <a:r>
              <a:rPr lang="en-US" altLang="zh-CN" sz="1200" dirty="0">
                <a:latin typeface="+mj-ea"/>
                <a:ea typeface="+mj-ea"/>
              </a:rPr>
              <a:t>,</a:t>
            </a:r>
            <a:r>
              <a:rPr lang="zh-CN" altLang="en-US" sz="1200" dirty="0">
                <a:latin typeface="+mj-ea"/>
                <a:ea typeface="+mj-ea"/>
              </a:rPr>
              <a:t>阀口开得最大</a:t>
            </a:r>
            <a:r>
              <a:rPr lang="en-US" altLang="zh-CN" sz="1200" dirty="0">
                <a:latin typeface="+mj-ea"/>
                <a:ea typeface="+mj-ea"/>
              </a:rPr>
              <a:t>,</a:t>
            </a:r>
            <a:r>
              <a:rPr lang="zh-CN" altLang="en-US" sz="1200" dirty="0">
                <a:latin typeface="+mj-ea"/>
                <a:ea typeface="+mj-ea"/>
              </a:rPr>
              <a:t>这时系统的油液在很低的压力下通过阀口流回油箱</a:t>
            </a:r>
            <a:r>
              <a:rPr lang="en-US" altLang="zh-CN" sz="1200" dirty="0">
                <a:latin typeface="+mj-ea"/>
                <a:ea typeface="+mj-ea"/>
              </a:rPr>
              <a:t>,</a:t>
            </a:r>
            <a:r>
              <a:rPr lang="zh-CN" altLang="en-US" sz="1200" dirty="0">
                <a:latin typeface="+mj-ea"/>
                <a:ea typeface="+mj-ea"/>
              </a:rPr>
              <a:t>实现卸荷作用。如果将</a:t>
            </a:r>
            <a:r>
              <a:rPr lang="en-US" altLang="zh-CN" sz="1200" dirty="0">
                <a:latin typeface="+mj-ea"/>
                <a:ea typeface="+mj-ea"/>
              </a:rPr>
              <a:t>K</a:t>
            </a:r>
            <a:r>
              <a:rPr lang="zh-CN" altLang="en-US" sz="1200" dirty="0">
                <a:latin typeface="+mj-ea"/>
                <a:ea typeface="+mj-ea"/>
              </a:rPr>
              <a:t>口接到另一个远程调压阀上</a:t>
            </a:r>
            <a:r>
              <a:rPr lang="en-US" altLang="zh-CN" sz="1200" dirty="0">
                <a:latin typeface="+mj-ea"/>
                <a:ea typeface="+mj-ea"/>
              </a:rPr>
              <a:t>(</a:t>
            </a:r>
            <a:r>
              <a:rPr lang="zh-CN" altLang="en-US" sz="1200" dirty="0">
                <a:latin typeface="+mj-ea"/>
                <a:ea typeface="+mj-ea"/>
              </a:rPr>
              <a:t>其结构和溢流阀的先导阀一样</a:t>
            </a:r>
            <a:r>
              <a:rPr lang="en-US" altLang="zh-CN" sz="1200" dirty="0">
                <a:latin typeface="+mj-ea"/>
                <a:ea typeface="+mj-ea"/>
              </a:rPr>
              <a:t>),</a:t>
            </a:r>
            <a:r>
              <a:rPr lang="zh-CN" altLang="en-US" sz="1200" dirty="0">
                <a:latin typeface="+mj-ea"/>
                <a:ea typeface="+mj-ea"/>
              </a:rPr>
              <a:t>并使打开远程调压阀的压力小于先导阀</a:t>
            </a:r>
            <a:r>
              <a:rPr lang="en-US" altLang="zh-CN" sz="1200" dirty="0">
                <a:latin typeface="+mj-ea"/>
                <a:ea typeface="+mj-ea"/>
              </a:rPr>
              <a:t>3</a:t>
            </a:r>
            <a:r>
              <a:rPr lang="zh-CN" altLang="en-US" sz="1200" dirty="0">
                <a:latin typeface="+mj-ea"/>
                <a:ea typeface="+mj-ea"/>
              </a:rPr>
              <a:t>的压力</a:t>
            </a:r>
            <a:r>
              <a:rPr lang="en-US" altLang="zh-CN" sz="1200" dirty="0">
                <a:latin typeface="+mj-ea"/>
                <a:ea typeface="+mj-ea"/>
              </a:rPr>
              <a:t>,</a:t>
            </a:r>
            <a:r>
              <a:rPr lang="zh-CN" altLang="en-US" sz="1200" dirty="0">
                <a:latin typeface="+mj-ea"/>
                <a:ea typeface="+mj-ea"/>
              </a:rPr>
              <a:t>则主阀</a:t>
            </a:r>
            <a:r>
              <a:rPr lang="en-US" altLang="zh-CN" sz="1200" dirty="0">
                <a:latin typeface="+mj-ea"/>
                <a:ea typeface="+mj-ea"/>
              </a:rPr>
              <a:t>1</a:t>
            </a:r>
            <a:r>
              <a:rPr lang="zh-CN" altLang="en-US" sz="1200" dirty="0">
                <a:latin typeface="+mj-ea"/>
                <a:ea typeface="+mj-ea"/>
              </a:rPr>
              <a:t>左端的压力</a:t>
            </a:r>
            <a:r>
              <a:rPr lang="en-US" altLang="zh-CN" sz="1200" dirty="0">
                <a:latin typeface="+mj-ea"/>
                <a:ea typeface="+mj-ea"/>
              </a:rPr>
              <a:t>(</a:t>
            </a:r>
            <a:r>
              <a:rPr lang="zh-CN" altLang="en-US" sz="1200" dirty="0">
                <a:latin typeface="+mj-ea"/>
                <a:ea typeface="+mj-ea"/>
              </a:rPr>
              <a:t>从而溢流阀的溢流压力</a:t>
            </a:r>
            <a:r>
              <a:rPr lang="en-US" altLang="zh-CN" sz="1200" dirty="0">
                <a:latin typeface="+mj-ea"/>
                <a:ea typeface="+mj-ea"/>
              </a:rPr>
              <a:t>)</a:t>
            </a:r>
            <a:r>
              <a:rPr lang="zh-CN" altLang="en-US" sz="1200" dirty="0">
                <a:latin typeface="+mj-ea"/>
                <a:ea typeface="+mj-ea"/>
              </a:rPr>
              <a:t>就由远程调压阀来决定。使用远程调压阀后便可对系统的溢流压力实行远程调节。</a:t>
            </a: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50</a:t>
            </a:fld>
            <a:endParaRPr lang="zh-CN" altLang="en-US"/>
          </a:p>
        </p:txBody>
      </p:sp>
    </p:spTree>
    <p:extLst>
      <p:ext uri="{BB962C8B-B14F-4D97-AF65-F5344CB8AC3E}">
        <p14:creationId xmlns:p14="http://schemas.microsoft.com/office/powerpoint/2010/main" val="30069798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静态特性</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51</a:t>
            </a:fld>
            <a:endParaRPr lang="zh-CN" altLang="en-US"/>
          </a:p>
        </p:txBody>
      </p:sp>
    </p:spTree>
    <p:extLst>
      <p:ext uri="{BB962C8B-B14F-4D97-AF65-F5344CB8AC3E}">
        <p14:creationId xmlns:p14="http://schemas.microsoft.com/office/powerpoint/2010/main" val="19191316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j-ea"/>
                <a:ea typeface="+mj-ea"/>
              </a:rPr>
              <a:t>溢流阀的阀心在工作中受到摩擦力的作用</a:t>
            </a:r>
            <a:r>
              <a:rPr lang="en-US" altLang="zh-CN" sz="1200" dirty="0">
                <a:latin typeface="+mj-ea"/>
                <a:ea typeface="+mj-ea"/>
              </a:rPr>
              <a:t>,</a:t>
            </a:r>
            <a:r>
              <a:rPr lang="zh-CN" altLang="en-US" sz="1200" dirty="0">
                <a:latin typeface="+mj-ea"/>
                <a:ea typeface="+mj-ea"/>
              </a:rPr>
              <a:t>阀口开大和关小时的摩擦力方向刚好相反</a:t>
            </a:r>
            <a:r>
              <a:rPr lang="en-US" altLang="zh-CN" sz="1200" dirty="0">
                <a:latin typeface="+mj-ea"/>
                <a:ea typeface="+mj-ea"/>
              </a:rPr>
              <a:t>,</a:t>
            </a:r>
            <a:r>
              <a:rPr lang="zh-CN" altLang="en-US" sz="1200" dirty="0">
                <a:latin typeface="+mj-ea"/>
                <a:ea typeface="+mj-ea"/>
              </a:rPr>
              <a:t>因此阀在工作时不可避免地会出现粘滞现象</a:t>
            </a:r>
            <a:r>
              <a:rPr lang="en-US" altLang="zh-CN" sz="1200" dirty="0">
                <a:latin typeface="+mj-ea"/>
                <a:ea typeface="+mj-ea"/>
              </a:rPr>
              <a:t>,</a:t>
            </a:r>
            <a:r>
              <a:rPr lang="zh-CN" altLang="en-US" sz="1200" dirty="0">
                <a:latin typeface="+mj-ea"/>
                <a:ea typeface="+mj-ea"/>
              </a:rPr>
              <a:t>使阀开启时的特性和闭合时的特性产生差异。图中的实线表示其开启特性</a:t>
            </a:r>
            <a:r>
              <a:rPr lang="en-US" altLang="zh-CN" sz="1200" dirty="0">
                <a:latin typeface="+mj-ea"/>
                <a:ea typeface="+mj-ea"/>
              </a:rPr>
              <a:t>,</a:t>
            </a:r>
            <a:r>
              <a:rPr lang="zh-CN" altLang="en-US" sz="1200" dirty="0">
                <a:latin typeface="+mj-ea"/>
                <a:ea typeface="+mj-ea"/>
              </a:rPr>
              <a:t>而虚线则表示其闭合特性。在某一溢流流量时</a:t>
            </a:r>
            <a:r>
              <a:rPr lang="en-US" altLang="zh-CN" sz="1200" dirty="0">
                <a:latin typeface="+mj-ea"/>
                <a:ea typeface="+mj-ea"/>
              </a:rPr>
              <a:t>,</a:t>
            </a:r>
            <a:r>
              <a:rPr lang="zh-CN" altLang="en-US" sz="1200" dirty="0">
                <a:latin typeface="+mj-ea"/>
                <a:ea typeface="+mj-ea"/>
              </a:rPr>
              <a:t>这两条曲线纵坐标</a:t>
            </a:r>
            <a:r>
              <a:rPr lang="en-US" altLang="zh-CN" sz="1200" dirty="0">
                <a:latin typeface="+mj-ea"/>
                <a:ea typeface="+mj-ea"/>
              </a:rPr>
              <a:t>(</a:t>
            </a:r>
            <a:r>
              <a:rPr lang="zh-CN" altLang="en-US" sz="1200" dirty="0">
                <a:latin typeface="+mj-ea"/>
                <a:ea typeface="+mj-ea"/>
              </a:rPr>
              <a:t>即压力</a:t>
            </a:r>
            <a:r>
              <a:rPr lang="en-US" altLang="zh-CN" sz="1200" dirty="0">
                <a:latin typeface="+mj-ea"/>
                <a:ea typeface="+mj-ea"/>
              </a:rPr>
              <a:t>)</a:t>
            </a:r>
            <a:r>
              <a:rPr lang="zh-CN" altLang="en-US" sz="1200" dirty="0">
                <a:latin typeface="+mj-ea"/>
                <a:ea typeface="+mj-ea"/>
              </a:rPr>
              <a:t>的差值</a:t>
            </a:r>
            <a:r>
              <a:rPr lang="en-US" altLang="zh-CN" sz="1200" dirty="0">
                <a:latin typeface="+mj-ea"/>
                <a:ea typeface="+mj-ea"/>
              </a:rPr>
              <a:t>,</a:t>
            </a:r>
            <a:r>
              <a:rPr lang="zh-CN" altLang="en-US" sz="1200" dirty="0">
                <a:latin typeface="+mj-ea"/>
                <a:ea typeface="+mj-ea"/>
              </a:rPr>
              <a:t>即是不灵敏区</a:t>
            </a:r>
            <a:r>
              <a:rPr lang="en-US" altLang="zh-CN" sz="1200" dirty="0">
                <a:latin typeface="+mj-ea"/>
                <a:ea typeface="+mj-ea"/>
              </a:rPr>
              <a:t>(</a:t>
            </a:r>
            <a:r>
              <a:rPr lang="zh-CN" altLang="en-US" sz="1200" dirty="0">
                <a:latin typeface="+mj-ea"/>
                <a:ea typeface="+mj-ea"/>
              </a:rPr>
              <a:t>压力在此差值范围内变动时</a:t>
            </a:r>
            <a:r>
              <a:rPr lang="en-US" altLang="zh-CN" sz="1200" dirty="0">
                <a:latin typeface="+mj-ea"/>
                <a:ea typeface="+mj-ea"/>
              </a:rPr>
              <a:t>,</a:t>
            </a:r>
            <a:r>
              <a:rPr lang="zh-CN" altLang="en-US" sz="1200" dirty="0">
                <a:latin typeface="+mj-ea"/>
                <a:ea typeface="+mj-ea"/>
              </a:rPr>
              <a:t>阀心不起调节作用</a:t>
            </a:r>
            <a:r>
              <a:rPr lang="en-US" altLang="zh-CN" sz="1200" dirty="0">
                <a:latin typeface="+mj-ea"/>
                <a:ea typeface="+mj-ea"/>
              </a:rPr>
              <a:t>)</a:t>
            </a:r>
            <a:r>
              <a:rPr lang="zh-CN" altLang="en-US" sz="1200" dirty="0">
                <a:latin typeface="+mj-ea"/>
                <a:ea typeface="+mj-ea"/>
              </a:rPr>
              <a:t>。不灵敏区使受溢流阀控制的系统的压力波动范围增大。先导式溢流阀的不灵敏区比直动式溢流阀的小。</a:t>
            </a:r>
            <a:r>
              <a:rPr lang="zh-CN" altLang="en-US" sz="1200" dirty="0">
                <a:latin typeface="微软雅黑" panose="020B0503020204020204" pitchFamily="34" charset="-122"/>
                <a:ea typeface="微软雅黑" panose="020B0503020204020204" pitchFamily="34" charset="-122"/>
              </a:rPr>
              <a:t>关于溢流阀的启闭特性</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目前有如下规定</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先把溢流阀调到全流量时的额定压力</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在开启过程中</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当溢流量加大到额定流量的</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时</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系统的压力称为阀的开启压力。在闭合过程中</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当溢流量减小到额定流量的</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时</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系统的压力称为阀的闭合压力。为了保证溢流阀具有良好的静态特性</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一般说来</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阀的开启压力和闭合压力对额定压力之比分别不应低于</a:t>
            </a:r>
            <a:r>
              <a:rPr lang="en-US" altLang="zh-CN" sz="1200" dirty="0">
                <a:latin typeface="微软雅黑" panose="020B0503020204020204" pitchFamily="34" charset="-122"/>
                <a:ea typeface="微软雅黑" panose="020B0503020204020204" pitchFamily="34" charset="-122"/>
              </a:rPr>
              <a:t>85%</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80%</a:t>
            </a:r>
            <a:r>
              <a:rPr lang="zh-CN" altLang="en-US" sz="1200" dirty="0">
                <a:latin typeface="微软雅黑" panose="020B0503020204020204" pitchFamily="34" charset="-122"/>
                <a:ea typeface="微软雅黑"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mj-ea"/>
              <a:ea typeface="+mj-ea"/>
            </a:endParaRPr>
          </a:p>
          <a:p>
            <a:endParaRPr lang="zh-CN" altLang="en-US" dirty="0"/>
          </a:p>
        </p:txBody>
      </p:sp>
      <p:sp>
        <p:nvSpPr>
          <p:cNvPr id="4" name="灯片编号占位符 3"/>
          <p:cNvSpPr>
            <a:spLocks noGrp="1"/>
          </p:cNvSpPr>
          <p:nvPr>
            <p:ph type="sldNum" sz="quarter" idx="5"/>
          </p:nvPr>
        </p:nvSpPr>
        <p:spPr/>
        <p:txBody>
          <a:bodyPr/>
          <a:lstStyle/>
          <a:p>
            <a:fld id="{337F53EF-5364-44E3-BFA2-84231755F7E3}" type="slidenum">
              <a:rPr lang="zh-CN" altLang="en-US" smtClean="0"/>
              <a:t>52</a:t>
            </a:fld>
            <a:endParaRPr lang="zh-CN" altLang="en-US"/>
          </a:p>
        </p:txBody>
      </p:sp>
    </p:spTree>
    <p:extLst>
      <p:ext uri="{BB962C8B-B14F-4D97-AF65-F5344CB8AC3E}">
        <p14:creationId xmlns:p14="http://schemas.microsoft.com/office/powerpoint/2010/main" val="8167918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基于溢流阀特性曲线的应用</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53</a:t>
            </a:fld>
            <a:endParaRPr lang="zh-CN" altLang="en-US"/>
          </a:p>
        </p:txBody>
      </p:sp>
    </p:spTree>
    <p:extLst>
      <p:ext uri="{BB962C8B-B14F-4D97-AF65-F5344CB8AC3E}">
        <p14:creationId xmlns:p14="http://schemas.microsoft.com/office/powerpoint/2010/main" val="35317314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减压阀介绍</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54</a:t>
            </a:fld>
            <a:endParaRPr lang="zh-CN" altLang="en-US"/>
          </a:p>
        </p:txBody>
      </p:sp>
    </p:spTree>
    <p:extLst>
      <p:ext uri="{BB962C8B-B14F-4D97-AF65-F5344CB8AC3E}">
        <p14:creationId xmlns:p14="http://schemas.microsoft.com/office/powerpoint/2010/main" val="9300571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不同之处与减压阀结构</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55</a:t>
            </a:fld>
            <a:endParaRPr lang="zh-CN" altLang="en-US"/>
          </a:p>
        </p:txBody>
      </p:sp>
    </p:spTree>
    <p:extLst>
      <p:ext uri="{BB962C8B-B14F-4D97-AF65-F5344CB8AC3E}">
        <p14:creationId xmlns:p14="http://schemas.microsoft.com/office/powerpoint/2010/main" val="6706184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力平衡方程</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56</a:t>
            </a:fld>
            <a:endParaRPr lang="zh-CN" altLang="en-US"/>
          </a:p>
        </p:txBody>
      </p:sp>
    </p:spTree>
    <p:extLst>
      <p:ext uri="{BB962C8B-B14F-4D97-AF65-F5344CB8AC3E}">
        <p14:creationId xmlns:p14="http://schemas.microsoft.com/office/powerpoint/2010/main" val="18302900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减压阀特性曲线</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57</a:t>
            </a:fld>
            <a:endParaRPr lang="zh-CN" altLang="en-US"/>
          </a:p>
        </p:txBody>
      </p:sp>
    </p:spTree>
    <p:extLst>
      <p:ext uri="{BB962C8B-B14F-4D97-AF65-F5344CB8AC3E}">
        <p14:creationId xmlns:p14="http://schemas.microsoft.com/office/powerpoint/2010/main" val="21142652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减压阀应用</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58</a:t>
            </a:fld>
            <a:endParaRPr lang="zh-CN" altLang="en-US"/>
          </a:p>
        </p:txBody>
      </p:sp>
    </p:spTree>
    <p:extLst>
      <p:ext uri="{BB962C8B-B14F-4D97-AF65-F5344CB8AC3E}">
        <p14:creationId xmlns:p14="http://schemas.microsoft.com/office/powerpoint/2010/main" val="35478412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顺序阀介绍</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59</a:t>
            </a:fld>
            <a:endParaRPr lang="zh-CN" altLang="en-US"/>
          </a:p>
        </p:txBody>
      </p:sp>
    </p:spTree>
    <p:extLst>
      <p:ext uri="{BB962C8B-B14F-4D97-AF65-F5344CB8AC3E}">
        <p14:creationId xmlns:p14="http://schemas.microsoft.com/office/powerpoint/2010/main" val="24464383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压力继电器介绍</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60</a:t>
            </a:fld>
            <a:endParaRPr lang="zh-CN" altLang="en-US"/>
          </a:p>
        </p:txBody>
      </p:sp>
    </p:spTree>
    <p:extLst>
      <p:ext uri="{BB962C8B-B14F-4D97-AF65-F5344CB8AC3E}">
        <p14:creationId xmlns:p14="http://schemas.microsoft.com/office/powerpoint/2010/main" val="24347462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介绍流量控制阀</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61</a:t>
            </a:fld>
            <a:endParaRPr lang="zh-CN" altLang="en-US"/>
          </a:p>
        </p:txBody>
      </p:sp>
    </p:spTree>
    <p:extLst>
      <p:ext uri="{BB962C8B-B14F-4D97-AF65-F5344CB8AC3E}">
        <p14:creationId xmlns:p14="http://schemas.microsoft.com/office/powerpoint/2010/main" val="33627019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普通节流阀的介绍</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62</a:t>
            </a:fld>
            <a:endParaRPr lang="zh-CN" altLang="en-US"/>
          </a:p>
        </p:txBody>
      </p:sp>
    </p:spTree>
    <p:extLst>
      <p:ext uri="{BB962C8B-B14F-4D97-AF65-F5344CB8AC3E}">
        <p14:creationId xmlns:p14="http://schemas.microsoft.com/office/powerpoint/2010/main" val="4666655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工作原理图</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63</a:t>
            </a:fld>
            <a:endParaRPr lang="zh-CN" altLang="en-US"/>
          </a:p>
        </p:txBody>
      </p:sp>
    </p:spTree>
    <p:extLst>
      <p:ext uri="{BB962C8B-B14F-4D97-AF65-F5344CB8AC3E}">
        <p14:creationId xmlns:p14="http://schemas.microsoft.com/office/powerpoint/2010/main" val="28123326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介绍静态特性</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64</a:t>
            </a:fld>
            <a:endParaRPr lang="zh-CN" altLang="en-US"/>
          </a:p>
        </p:txBody>
      </p:sp>
    </p:spTree>
    <p:extLst>
      <p:ext uri="{BB962C8B-B14F-4D97-AF65-F5344CB8AC3E}">
        <p14:creationId xmlns:p14="http://schemas.microsoft.com/office/powerpoint/2010/main" val="2137610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静态特性及应用</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65</a:t>
            </a:fld>
            <a:endParaRPr lang="zh-CN" altLang="en-US"/>
          </a:p>
        </p:txBody>
      </p:sp>
    </p:spTree>
    <p:extLst>
      <p:ext uri="{BB962C8B-B14F-4D97-AF65-F5344CB8AC3E}">
        <p14:creationId xmlns:p14="http://schemas.microsoft.com/office/powerpoint/2010/main" val="12398325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旁通式调速阀介绍</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66</a:t>
            </a:fld>
            <a:endParaRPr lang="zh-CN" altLang="en-US"/>
          </a:p>
        </p:txBody>
      </p:sp>
    </p:spTree>
    <p:extLst>
      <p:ext uri="{BB962C8B-B14F-4D97-AF65-F5344CB8AC3E}">
        <p14:creationId xmlns:p14="http://schemas.microsoft.com/office/powerpoint/2010/main" val="9037939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静态特性及差别</a:t>
            </a:r>
          </a:p>
        </p:txBody>
      </p:sp>
      <p:sp>
        <p:nvSpPr>
          <p:cNvPr id="4" name="灯片编号占位符 3"/>
          <p:cNvSpPr>
            <a:spLocks noGrp="1"/>
          </p:cNvSpPr>
          <p:nvPr>
            <p:ph type="sldNum" sz="quarter" idx="5"/>
          </p:nvPr>
        </p:nvSpPr>
        <p:spPr/>
        <p:txBody>
          <a:bodyPr/>
          <a:lstStyle/>
          <a:p>
            <a:fld id="{337F53EF-5364-44E3-BFA2-84231755F7E3}" type="slidenum">
              <a:rPr lang="zh-CN" altLang="en-US" smtClean="0"/>
              <a:t>67</a:t>
            </a:fld>
            <a:endParaRPr lang="zh-CN" altLang="en-US"/>
          </a:p>
        </p:txBody>
      </p:sp>
    </p:spTree>
    <p:extLst>
      <p:ext uri="{BB962C8B-B14F-4D97-AF65-F5344CB8AC3E}">
        <p14:creationId xmlns:p14="http://schemas.microsoft.com/office/powerpoint/2010/main" val="2538843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CF4B11-F572-4DFC-9C9B-6A3CD1BCE16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234C54C-1BA6-440A-8D1B-F8BCE242FF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756EE14-5E8C-42D6-8B1C-138B21B7F80B}"/>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5" name="页脚占位符 4">
            <a:extLst>
              <a:ext uri="{FF2B5EF4-FFF2-40B4-BE49-F238E27FC236}">
                <a16:creationId xmlns:a16="http://schemas.microsoft.com/office/drawing/2014/main" id="{20189FBD-18D7-4E8C-AC37-C54A7E72E5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2B2B56-4F25-4616-A188-56D2ACCF11D7}"/>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4232478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D3867-6D2D-4593-AC3F-B8E58C8726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236C074-A1D1-4AA5-8442-2C11F3B581F9}"/>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D4E8C40-44F5-4283-BF35-89F2C43027F0}"/>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5" name="页脚占位符 4">
            <a:extLst>
              <a:ext uri="{FF2B5EF4-FFF2-40B4-BE49-F238E27FC236}">
                <a16:creationId xmlns:a16="http://schemas.microsoft.com/office/drawing/2014/main" id="{65CA79F0-95A9-4981-8FB9-04D63D57C7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BEDC06-5A03-4F54-9BA2-842910E536FB}"/>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23591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733D58-C466-44BC-972E-587AD0D45D6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E393EC4-145A-485A-A568-F282A0CC0D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9F3AAC01-5E49-476A-88CC-1D58B2399EA7}"/>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5" name="页脚占位符 4">
            <a:extLst>
              <a:ext uri="{FF2B5EF4-FFF2-40B4-BE49-F238E27FC236}">
                <a16:creationId xmlns:a16="http://schemas.microsoft.com/office/drawing/2014/main" id="{BC6AC38B-B467-4222-AA44-0AD3BDE405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70A2F9-2C51-4DAD-89D5-D291EEEBA1FC}"/>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3484923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BEE30-4BA4-4E5D-91A1-423AC1F6AA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B4895D3-5779-4E7B-96AD-64C7403E07E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0AE0855-595B-4F82-8B46-039050CA2449}"/>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BAA3D155-16F0-4A38-A2D0-09D219FE70F5}"/>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6" name="页脚占位符 5">
            <a:extLst>
              <a:ext uri="{FF2B5EF4-FFF2-40B4-BE49-F238E27FC236}">
                <a16:creationId xmlns:a16="http://schemas.microsoft.com/office/drawing/2014/main" id="{7631401B-6434-4F3F-9D1F-1E1D4889FC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CDCBEC-7E66-4D99-9199-750DC27EA063}"/>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239632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667EB-8340-4492-B3A9-A728F915AC5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9B05EE6-A0EE-49F6-8DB2-93C313DEC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C3D33B3B-D619-44C0-B8FF-6BB33C540076}"/>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533DD8DF-90AF-4AA9-A4AF-7040FF4B72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5419D37D-A566-4F60-A4C3-78BCB7CF329E}"/>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9CBCC86-6C82-4A0D-9287-32A6405E6B0A}"/>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8" name="页脚占位符 7">
            <a:extLst>
              <a:ext uri="{FF2B5EF4-FFF2-40B4-BE49-F238E27FC236}">
                <a16:creationId xmlns:a16="http://schemas.microsoft.com/office/drawing/2014/main" id="{05E0DED7-DA23-4400-97A1-04B7573C878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606BFF-B2FB-4915-9F3A-2C98A7665330}"/>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6183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BA1051-BA71-4574-BFA1-AC004EC5189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350898-1F22-4B99-BE58-E24B18BB028D}"/>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4" name="页脚占位符 3">
            <a:extLst>
              <a:ext uri="{FF2B5EF4-FFF2-40B4-BE49-F238E27FC236}">
                <a16:creationId xmlns:a16="http://schemas.microsoft.com/office/drawing/2014/main" id="{01EC05BB-0041-4C92-95D3-6E3D1B7E521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AB48AC8-E018-466A-90AF-663F9BDF9D6B}"/>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148433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85E6A85-9742-4F96-B4AF-2D30690A99D2}"/>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3" name="页脚占位符 2">
            <a:extLst>
              <a:ext uri="{FF2B5EF4-FFF2-40B4-BE49-F238E27FC236}">
                <a16:creationId xmlns:a16="http://schemas.microsoft.com/office/drawing/2014/main" id="{7C0D9671-8387-49B9-9224-F8D5E04A93B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3482766-12A4-4E9D-A598-FC84A590B269}"/>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137829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4EBE77-9C31-4448-92F6-8E2538C72AD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C5A61C7-FA85-41FA-8268-50935F00E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65910FFD-3BF9-4DCA-AE14-49BC3137B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17DE66C-12DC-44D6-966F-E3121467991C}"/>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6" name="页脚占位符 5">
            <a:extLst>
              <a:ext uri="{FF2B5EF4-FFF2-40B4-BE49-F238E27FC236}">
                <a16:creationId xmlns:a16="http://schemas.microsoft.com/office/drawing/2014/main" id="{EC991129-C6C5-40AE-B3CD-E3A8E7F5ECD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3AA085-B50D-4BD5-BC03-E1841817F767}"/>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405533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DB4150-B2F0-479E-A721-35D82BBBDEB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95BEBB3-457F-4B23-9EE3-8DF050B0A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D000099-46C8-4A17-9C36-8398FFE23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B7DE7DA-AE75-4B26-8CAD-BD9CC0EFBBD8}"/>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6" name="页脚占位符 5">
            <a:extLst>
              <a:ext uri="{FF2B5EF4-FFF2-40B4-BE49-F238E27FC236}">
                <a16:creationId xmlns:a16="http://schemas.microsoft.com/office/drawing/2014/main" id="{5CC8E070-C62B-4610-AB79-AB28FDDB66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8AD57F-16AE-4378-B779-5AB42B027BDA}"/>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321480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890AB4-B48E-4BCB-AF60-2FC3CC5B8E7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76B1054-3F3D-42E9-B458-83921265B939}"/>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2B12639-CBE1-475E-9FA8-6C236A2A547A}"/>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5" name="页脚占位符 4">
            <a:extLst>
              <a:ext uri="{FF2B5EF4-FFF2-40B4-BE49-F238E27FC236}">
                <a16:creationId xmlns:a16="http://schemas.microsoft.com/office/drawing/2014/main" id="{0ECAF0BD-D7A7-4B37-B11F-72418A7697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A0119A-4817-4B57-A6DE-540FE9B78171}"/>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231994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4BE39A-A81E-4A36-8807-AD97AC5A524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457E41-3EA0-43C4-9FEC-F1DE8D14534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BBE3E99-9292-4F50-A0F1-678BEFE4731A}"/>
              </a:ext>
            </a:extLst>
          </p:cNvPr>
          <p:cNvSpPr>
            <a:spLocks noGrp="1"/>
          </p:cNvSpPr>
          <p:nvPr>
            <p:ph type="dt" sz="half" idx="10"/>
          </p:nvPr>
        </p:nvSpPr>
        <p:spPr/>
        <p:txBody>
          <a:bodyPr/>
          <a:lstStyle/>
          <a:p>
            <a:fld id="{6FAC1865-B79A-43E4-B218-34456B6B12C9}" type="datetimeFigureOut">
              <a:rPr lang="zh-CN" altLang="en-US" smtClean="0"/>
              <a:t>2025/12/10</a:t>
            </a:fld>
            <a:endParaRPr lang="zh-CN" altLang="en-US"/>
          </a:p>
        </p:txBody>
      </p:sp>
      <p:sp>
        <p:nvSpPr>
          <p:cNvPr id="5" name="页脚占位符 4">
            <a:extLst>
              <a:ext uri="{FF2B5EF4-FFF2-40B4-BE49-F238E27FC236}">
                <a16:creationId xmlns:a16="http://schemas.microsoft.com/office/drawing/2014/main" id="{68EB7626-D656-4E24-BD17-27CDF45B84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FC70BD-F514-4D5A-9043-DD06515B207B}"/>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111631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569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710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04EFB9E-31F1-44AC-B2A0-70B3AD7E19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F674FB-ADAE-4C16-9A45-55515D425D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8525FD1-9DA9-4D47-B946-7A3EE00EA7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AC1865-B79A-43E4-B218-34456B6B12C9}" type="datetimeFigureOut">
              <a:rPr lang="zh-CN" altLang="en-US" smtClean="0"/>
              <a:t>2025/12/10</a:t>
            </a:fld>
            <a:endParaRPr lang="zh-CN" altLang="en-US"/>
          </a:p>
        </p:txBody>
      </p:sp>
      <p:sp>
        <p:nvSpPr>
          <p:cNvPr id="5" name="页脚占位符 4">
            <a:extLst>
              <a:ext uri="{FF2B5EF4-FFF2-40B4-BE49-F238E27FC236}">
                <a16:creationId xmlns:a16="http://schemas.microsoft.com/office/drawing/2014/main" id="{E47004C3-9974-4565-85A6-888D85E56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CC94A1A-F98A-49BC-BD74-896D43ADD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322730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png"/><Relationship Id="rId7" Type="http://schemas.openxmlformats.org/officeDocument/2006/relationships/image" Target="../media/image13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2.gif"/><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3.jpg"/><Relationship Id="rId4" Type="http://schemas.openxmlformats.org/officeDocument/2006/relationships/image" Target="../media/image24.gif"/></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3.jpg"/><Relationship Id="rId4" Type="http://schemas.openxmlformats.org/officeDocument/2006/relationships/image" Target="../media/image25.jp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9.gif"/><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3.jpeg"/><Relationship Id="rId4" Type="http://schemas.openxmlformats.org/officeDocument/2006/relationships/image" Target="../media/image32.jpeg"/></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jpeg"/><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49.gif"/><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2.png"/><Relationship Id="rId7"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5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4.png"/><Relationship Id="rId7"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55.png"/><Relationship Id="rId5" Type="http://schemas.openxmlformats.org/officeDocument/2006/relationships/image" Target="NUL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2.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1.png"/><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image" Target="../media/image65.jpeg"/><Relationship Id="rId5" Type="http://schemas.openxmlformats.org/officeDocument/2006/relationships/image" Target="../media/image66.png"/><Relationship Id="rId4" Type="http://schemas.openxmlformats.org/officeDocument/2006/relationships/image" Target="../media/image6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NUL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6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png"/><Relationship Id="rId7" Type="http://schemas.openxmlformats.org/officeDocument/2006/relationships/image" Target="NULL"/><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6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png"/><Relationship Id="rId7" Type="http://schemas.openxmlformats.org/officeDocument/2006/relationships/image" Target="../media/image72.png"/><Relationship Id="rId2" Type="http://schemas.openxmlformats.org/officeDocument/2006/relationships/notesSlide" Target="../notesSlides/notesSlide59.xml"/><Relationship Id="rId1" Type="http://schemas.openxmlformats.org/officeDocument/2006/relationships/slideLayout" Target="../slideLayouts/slideLayout7.xml"/><Relationship Id="rId6" Type="http://schemas.openxmlformats.org/officeDocument/2006/relationships/image" Target="../media/image71.jpeg"/><Relationship Id="rId5" Type="http://schemas.openxmlformats.org/officeDocument/2006/relationships/image" Target="NULL"/><Relationship Id="rId4" Type="http://schemas.openxmlformats.org/officeDocument/2006/relationships/image" Target="../media/image690.png"/><Relationship Id="rId9" Type="http://schemas.openxmlformats.org/officeDocument/2006/relationships/image" Target="../media/image74.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740.png"/><Relationship Id="rId5" Type="http://schemas.openxmlformats.org/officeDocument/2006/relationships/image" Target="../media/image730.png"/><Relationship Id="rId4" Type="http://schemas.openxmlformats.org/officeDocument/2006/relationships/image" Target="../media/image75.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jpeg"/><Relationship Id="rId4" Type="http://schemas.openxmlformats.org/officeDocument/2006/relationships/image" Target="../media/image76.jpe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0.png"/><Relationship Id="rId2" Type="http://schemas.openxmlformats.org/officeDocument/2006/relationships/notesSlide" Target="../notesSlides/notesSlide62.xml"/><Relationship Id="rId1" Type="http://schemas.openxmlformats.org/officeDocument/2006/relationships/slideLayout" Target="../slideLayouts/slideLayout7.xml"/><Relationship Id="rId6" Type="http://schemas.openxmlformats.org/officeDocument/2006/relationships/image" Target="../media/image79.jpeg"/><Relationship Id="rId5" Type="http://schemas.openxmlformats.org/officeDocument/2006/relationships/image" Target="NULL"/><Relationship Id="rId4" Type="http://schemas.openxmlformats.org/officeDocument/2006/relationships/image" Target="NUL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80.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NULL"/><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a:extLst>
              <a:ext uri="{FF2B5EF4-FFF2-40B4-BE49-F238E27FC236}">
                <a16:creationId xmlns:a16="http://schemas.microsoft.com/office/drawing/2014/main" id="{070CC29F-EA08-4A06-BDBF-1A95FC039860}"/>
              </a:ext>
            </a:extLst>
          </p:cNvPr>
          <p:cNvPicPr>
            <a:picLocks noChangeAspect="1"/>
          </p:cNvPicPr>
          <p:nvPr/>
        </p:nvPicPr>
        <p:blipFill>
          <a:blip r:embed="rId3">
            <a:alphaModFix amt="15000"/>
          </a:blip>
          <a:stretch>
            <a:fillRect/>
          </a:stretch>
        </p:blipFill>
        <p:spPr>
          <a:xfrm>
            <a:off x="9525" y="4543425"/>
            <a:ext cx="12182475" cy="2314575"/>
          </a:xfrm>
          <a:prstGeom prst="rect">
            <a:avLst/>
          </a:prstGeom>
        </p:spPr>
      </p:pic>
      <p:sp>
        <p:nvSpPr>
          <p:cNvPr id="13" name="文本框 12">
            <a:extLst>
              <a:ext uri="{FF2B5EF4-FFF2-40B4-BE49-F238E27FC236}">
                <a16:creationId xmlns:a16="http://schemas.microsoft.com/office/drawing/2014/main" id="{F5F8934E-6CAF-4F75-9A96-2ADBDFD7C2D8}"/>
              </a:ext>
            </a:extLst>
          </p:cNvPr>
          <p:cNvSpPr txBox="1"/>
          <p:nvPr/>
        </p:nvSpPr>
        <p:spPr>
          <a:xfrm>
            <a:off x="3753048" y="174524"/>
            <a:ext cx="4685898" cy="646331"/>
          </a:xfrm>
          <a:prstGeom prst="rect">
            <a:avLst/>
          </a:prstGeom>
        </p:spPr>
        <p:txBody>
          <a:bodyPr wrap="none">
            <a:spAutoFit/>
          </a:bodyPr>
          <a:lstStyle>
            <a:defPPr>
              <a:defRPr lang="zh-CN"/>
            </a:defPPr>
            <a:lvl1pPr algn="ctr">
              <a:defRPr sz="6000" b="1" spc="300">
                <a:solidFill>
                  <a:srgbClr val="003F88"/>
                </a:solidFill>
                <a:latin typeface="+mn-ea"/>
              </a:defRPr>
            </a:lvl1pPr>
          </a:lstStyle>
          <a:p>
            <a:r>
              <a:rPr lang="en-US" altLang="zh-CN" sz="3600" dirty="0"/>
              <a:t>《</a:t>
            </a:r>
            <a:r>
              <a:rPr lang="zh-CN" altLang="en-US" sz="3600" dirty="0"/>
              <a:t>液压传动及控制</a:t>
            </a:r>
            <a:r>
              <a:rPr lang="en-US" altLang="zh-CN" sz="3600" dirty="0"/>
              <a:t>》</a:t>
            </a:r>
            <a:endParaRPr lang="zh-CN" altLang="en-US" sz="3600" dirty="0"/>
          </a:p>
        </p:txBody>
      </p:sp>
      <p:sp>
        <p:nvSpPr>
          <p:cNvPr id="20" name="矩形 19">
            <a:extLst>
              <a:ext uri="{FF2B5EF4-FFF2-40B4-BE49-F238E27FC236}">
                <a16:creationId xmlns:a16="http://schemas.microsoft.com/office/drawing/2014/main" id="{83331D23-ACF9-4E53-8F13-F876D7C312EB}"/>
              </a:ext>
            </a:extLst>
          </p:cNvPr>
          <p:cNvSpPr/>
          <p:nvPr/>
        </p:nvSpPr>
        <p:spPr>
          <a:xfrm>
            <a:off x="3312228" y="2184569"/>
            <a:ext cx="5567550" cy="1015663"/>
          </a:xfrm>
          <a:prstGeom prst="rect">
            <a:avLst/>
          </a:prstGeom>
        </p:spPr>
        <p:txBody>
          <a:bodyPr wrap="none">
            <a:spAutoFit/>
          </a:bodyPr>
          <a:lstStyle/>
          <a:p>
            <a:pPr algn="ctr"/>
            <a:r>
              <a:rPr lang="zh-CN" altLang="en-US" sz="6000" b="1" spc="300" dirty="0">
                <a:solidFill>
                  <a:srgbClr val="003F88"/>
                </a:solidFill>
                <a:latin typeface="+mn-ea"/>
              </a:rPr>
              <a:t>第八讲  液压阀</a:t>
            </a:r>
            <a:endParaRPr lang="en-US" altLang="zh-CN" sz="6000" b="1" spc="300" dirty="0">
              <a:solidFill>
                <a:srgbClr val="003F88"/>
              </a:solidFill>
              <a:latin typeface="+mn-ea"/>
            </a:endParaRPr>
          </a:p>
        </p:txBody>
      </p:sp>
      <p:cxnSp>
        <p:nvCxnSpPr>
          <p:cNvPr id="32" name="直接连接符 31">
            <a:extLst>
              <a:ext uri="{FF2B5EF4-FFF2-40B4-BE49-F238E27FC236}">
                <a16:creationId xmlns:a16="http://schemas.microsoft.com/office/drawing/2014/main" id="{4D7BD61E-14B6-4FE2-8261-87597607A0C0}"/>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3" name="图片 32">
            <a:extLst>
              <a:ext uri="{FF2B5EF4-FFF2-40B4-BE49-F238E27FC236}">
                <a16:creationId xmlns:a16="http://schemas.microsoft.com/office/drawing/2014/main" id="{9C7D28D0-DFA2-44D6-BFC1-A9BFCE662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1412A7B0-5B34-47E6-A35D-D6B366CC392C}"/>
              </a:ext>
            </a:extLst>
          </p:cNvPr>
          <p:cNvSpPr txBox="1"/>
          <p:nvPr/>
        </p:nvSpPr>
        <p:spPr>
          <a:xfrm>
            <a:off x="3879845" y="3569953"/>
            <a:ext cx="4432303" cy="2797048"/>
          </a:xfrm>
          <a:prstGeom prst="rect">
            <a:avLst/>
          </a:prstGeom>
          <a:noFill/>
        </p:spPr>
        <p:txBody>
          <a:bodyPr wrap="square">
            <a:spAutoFit/>
          </a:bodyPr>
          <a:lstStyle/>
          <a:p>
            <a:pPr algn="ctr">
              <a:lnSpc>
                <a:spcPct val="150000"/>
              </a:lnSpc>
            </a:pPr>
            <a:r>
              <a:rPr lang="en-US" altLang="zh-CN" sz="2400" spc="300" dirty="0">
                <a:latin typeface="微软雅黑" panose="020B0503020204020204" pitchFamily="34" charset="-122"/>
                <a:ea typeface="微软雅黑" panose="020B0503020204020204" pitchFamily="34" charset="-122"/>
              </a:rPr>
              <a:t>8.1 </a:t>
            </a:r>
            <a:r>
              <a:rPr lang="zh-CN" altLang="en-US" sz="2400" spc="300" dirty="0">
                <a:latin typeface="微软雅黑" panose="020B0503020204020204" pitchFamily="34" charset="-122"/>
                <a:ea typeface="微软雅黑" panose="020B0503020204020204" pitchFamily="34" charset="-122"/>
              </a:rPr>
              <a:t>液压阀概述</a:t>
            </a:r>
            <a:endParaRPr lang="en-US" altLang="zh-CN" sz="2400" spc="300" dirty="0">
              <a:latin typeface="微软雅黑" panose="020B0503020204020204" pitchFamily="34" charset="-122"/>
              <a:ea typeface="微软雅黑" panose="020B0503020204020204" pitchFamily="34" charset="-122"/>
            </a:endParaRPr>
          </a:p>
          <a:p>
            <a:pPr algn="ctr">
              <a:lnSpc>
                <a:spcPct val="150000"/>
              </a:lnSpc>
            </a:pPr>
            <a:r>
              <a:rPr lang="en-US" altLang="zh-CN" sz="2400" spc="300" dirty="0">
                <a:latin typeface="微软雅黑" panose="020B0503020204020204" pitchFamily="34" charset="-122"/>
                <a:ea typeface="微软雅黑" panose="020B0503020204020204" pitchFamily="34" charset="-122"/>
              </a:rPr>
              <a:t>8.2 </a:t>
            </a:r>
            <a:r>
              <a:rPr lang="zh-CN" altLang="en-US" sz="2400" spc="300" dirty="0">
                <a:latin typeface="微软雅黑" panose="020B0503020204020204" pitchFamily="34" charset="-122"/>
                <a:ea typeface="微软雅黑" panose="020B0503020204020204" pitchFamily="34" charset="-122"/>
              </a:rPr>
              <a:t>方向控制阀</a:t>
            </a:r>
            <a:endParaRPr lang="en-US" altLang="zh-CN" sz="2400" spc="300" dirty="0">
              <a:latin typeface="微软雅黑" panose="020B0503020204020204" pitchFamily="34" charset="-122"/>
              <a:ea typeface="微软雅黑" panose="020B0503020204020204" pitchFamily="34" charset="-122"/>
            </a:endParaRPr>
          </a:p>
          <a:p>
            <a:pPr algn="ctr">
              <a:lnSpc>
                <a:spcPct val="150000"/>
              </a:lnSpc>
            </a:pPr>
            <a:r>
              <a:rPr lang="en-US" altLang="zh-CN" sz="2400" spc="300" dirty="0">
                <a:latin typeface="+mj-ea"/>
                <a:ea typeface="+mj-ea"/>
              </a:rPr>
              <a:t>8.3 </a:t>
            </a:r>
            <a:r>
              <a:rPr lang="zh-CN" altLang="en-US" sz="2400" spc="300" dirty="0">
                <a:latin typeface="+mj-ea"/>
                <a:ea typeface="+mj-ea"/>
              </a:rPr>
              <a:t>压力控制阀</a:t>
            </a:r>
            <a:endParaRPr lang="zh-CN" altLang="en-US" sz="2400" dirty="0">
              <a:latin typeface="+mj-ea"/>
              <a:ea typeface="+mj-ea"/>
            </a:endParaRPr>
          </a:p>
          <a:p>
            <a:pPr algn="ctr">
              <a:lnSpc>
                <a:spcPct val="150000"/>
              </a:lnSpc>
            </a:pPr>
            <a:r>
              <a:rPr lang="en-US" altLang="zh-CN" sz="2400" spc="300" dirty="0">
                <a:latin typeface="+mj-ea"/>
                <a:ea typeface="+mj-ea"/>
              </a:rPr>
              <a:t>8.4 </a:t>
            </a:r>
            <a:r>
              <a:rPr lang="zh-CN" altLang="en-US" sz="2400" spc="300" dirty="0">
                <a:latin typeface="+mj-ea"/>
                <a:ea typeface="+mj-ea"/>
              </a:rPr>
              <a:t>流量控制阀</a:t>
            </a:r>
          </a:p>
          <a:p>
            <a:pPr algn="ctr">
              <a:lnSpc>
                <a:spcPct val="150000"/>
              </a:lnSpc>
            </a:pP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621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BA1A71FC-24DE-44CC-A7B4-B871B8546747}"/>
              </a:ext>
            </a:extLst>
          </p:cNvPr>
          <p:cNvSpPr/>
          <p:nvPr/>
        </p:nvSpPr>
        <p:spPr>
          <a:xfrm>
            <a:off x="1176157" y="1748589"/>
            <a:ext cx="9839681" cy="456397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C3FC71A-E451-F443-FBCC-513D8343E1D8}"/>
              </a:ext>
            </a:extLst>
          </p:cNvPr>
          <p:cNvSpPr txBox="1"/>
          <p:nvPr/>
        </p:nvSpPr>
        <p:spPr>
          <a:xfrm>
            <a:off x="1444768" y="2544842"/>
            <a:ext cx="9302461" cy="2797048"/>
          </a:xfrm>
          <a:prstGeom prst="rect">
            <a:avLst/>
          </a:prstGeom>
          <a:noFill/>
        </p:spPr>
        <p:txBody>
          <a:bodyPr wrap="square" rtlCol="0">
            <a:spAutoFit/>
          </a:bodyPr>
          <a:lstStyle/>
          <a:p>
            <a:pPr indent="756000" algn="just">
              <a:lnSpc>
                <a:spcPct val="150000"/>
              </a:lnSpc>
            </a:pPr>
            <a:r>
              <a:rPr lang="zh-CN" altLang="en-US" sz="2400" spc="100" dirty="0">
                <a:latin typeface="微软雅黑" panose="020B0503020204020204" pitchFamily="34" charset="-122"/>
                <a:ea typeface="微软雅黑" panose="020B0503020204020204" pitchFamily="34" charset="-122"/>
              </a:rPr>
              <a:t>液压阀是用来</a:t>
            </a:r>
            <a:r>
              <a:rPr lang="zh-CN" altLang="en-US" sz="2400" b="1" spc="100" dirty="0">
                <a:latin typeface="微软雅黑" panose="020B0503020204020204" pitchFamily="34" charset="-122"/>
                <a:ea typeface="微软雅黑" panose="020B0503020204020204" pitchFamily="34" charset="-122"/>
              </a:rPr>
              <a:t>控制液压系统中油液的流动方向或调节其压力和流量</a:t>
            </a:r>
            <a:r>
              <a:rPr lang="zh-CN" altLang="en-US" sz="2400" spc="100" dirty="0">
                <a:latin typeface="微软雅黑" panose="020B0503020204020204" pitchFamily="34" charset="-122"/>
                <a:ea typeface="微软雅黑" panose="020B0503020204020204" pitchFamily="34" charset="-122"/>
              </a:rPr>
              <a:t>的</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因此它可以分为</a:t>
            </a:r>
            <a:r>
              <a:rPr lang="zh-CN" altLang="en-US" sz="2400" b="1" spc="100" dirty="0">
                <a:solidFill>
                  <a:srgbClr val="FF0000"/>
                </a:solidFill>
                <a:latin typeface="微软雅黑" panose="020B0503020204020204" pitchFamily="34" charset="-122"/>
                <a:ea typeface="微软雅黑" panose="020B0503020204020204" pitchFamily="34" charset="-122"/>
              </a:rPr>
              <a:t>方向阀</a:t>
            </a:r>
            <a:r>
              <a:rPr lang="zh-CN" altLang="en-US" sz="2400" spc="100" dirty="0">
                <a:latin typeface="微软雅黑" panose="020B0503020204020204" pitchFamily="34" charset="-122"/>
                <a:ea typeface="微软雅黑" panose="020B0503020204020204" pitchFamily="34" charset="-122"/>
              </a:rPr>
              <a:t>、</a:t>
            </a:r>
            <a:r>
              <a:rPr lang="zh-CN" altLang="en-US" sz="2400" b="1" spc="100" dirty="0">
                <a:solidFill>
                  <a:srgbClr val="FF0000"/>
                </a:solidFill>
                <a:latin typeface="微软雅黑" panose="020B0503020204020204" pitchFamily="34" charset="-122"/>
                <a:ea typeface="微软雅黑" panose="020B0503020204020204" pitchFamily="34" charset="-122"/>
              </a:rPr>
              <a:t>压力阀</a:t>
            </a:r>
            <a:r>
              <a:rPr lang="zh-CN" altLang="en-US" sz="2400" spc="100" dirty="0">
                <a:latin typeface="微软雅黑" panose="020B0503020204020204" pitchFamily="34" charset="-122"/>
                <a:ea typeface="微软雅黑" panose="020B0503020204020204" pitchFamily="34" charset="-122"/>
              </a:rPr>
              <a:t>和</a:t>
            </a:r>
            <a:r>
              <a:rPr lang="zh-CN" altLang="en-US" sz="2400" b="1" spc="100" dirty="0">
                <a:solidFill>
                  <a:srgbClr val="FF0000"/>
                </a:solidFill>
                <a:latin typeface="微软雅黑" panose="020B0503020204020204" pitchFamily="34" charset="-122"/>
                <a:ea typeface="微软雅黑" panose="020B0503020204020204" pitchFamily="34" charset="-122"/>
              </a:rPr>
              <a:t>流量阀</a:t>
            </a:r>
            <a:r>
              <a:rPr lang="zh-CN" altLang="en-US" sz="2400" spc="100" dirty="0">
                <a:latin typeface="微软雅黑" panose="020B0503020204020204" pitchFamily="34" charset="-122"/>
                <a:ea typeface="微软雅黑" panose="020B0503020204020204" pitchFamily="34" charset="-122"/>
              </a:rPr>
              <a:t>三大类。一个形状相同的阀</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可以因为作用机制的不同</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而具有不同的功能。压力阀和流量阀利用通流截面的</a:t>
            </a:r>
            <a:r>
              <a:rPr lang="zh-CN" altLang="en-US" sz="2400" b="1" spc="100" dirty="0">
                <a:solidFill>
                  <a:srgbClr val="0070C0"/>
                </a:solidFill>
                <a:latin typeface="微软雅黑" panose="020B0503020204020204" pitchFamily="34" charset="-122"/>
                <a:ea typeface="微软雅黑" panose="020B0503020204020204" pitchFamily="34" charset="-122"/>
              </a:rPr>
              <a:t>节流作用</a:t>
            </a:r>
            <a:r>
              <a:rPr lang="zh-CN" altLang="en-US" sz="2400" spc="100" dirty="0">
                <a:latin typeface="微软雅黑" panose="020B0503020204020204" pitchFamily="34" charset="-122"/>
                <a:ea typeface="微软雅黑" panose="020B0503020204020204" pitchFamily="34" charset="-122"/>
              </a:rPr>
              <a:t>控制着系统的压力和流量</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而方向阀则利用</a:t>
            </a:r>
            <a:r>
              <a:rPr lang="zh-CN" altLang="en-US" sz="2400" b="1" spc="100" dirty="0">
                <a:solidFill>
                  <a:srgbClr val="0070C0"/>
                </a:solidFill>
                <a:latin typeface="微软雅黑" panose="020B0503020204020204" pitchFamily="34" charset="-122"/>
                <a:ea typeface="微软雅黑" panose="020B0503020204020204" pitchFamily="34" charset="-122"/>
              </a:rPr>
              <a:t>流道的更换</a:t>
            </a:r>
            <a:r>
              <a:rPr lang="zh-CN" altLang="en-US" sz="2400" spc="100" dirty="0">
                <a:latin typeface="微软雅黑" panose="020B0503020204020204" pitchFamily="34" charset="-122"/>
                <a:ea typeface="微软雅黑" panose="020B0503020204020204" pitchFamily="34" charset="-122"/>
              </a:rPr>
              <a:t>控制着油液的流动方向。</a:t>
            </a:r>
          </a:p>
        </p:txBody>
      </p:sp>
      <p:cxnSp>
        <p:nvCxnSpPr>
          <p:cNvPr id="11" name="直接连接符 10">
            <a:extLst>
              <a:ext uri="{FF2B5EF4-FFF2-40B4-BE49-F238E27FC236}">
                <a16:creationId xmlns:a16="http://schemas.microsoft.com/office/drawing/2014/main" id="{D652DC63-84EE-D65B-6C73-B73F7A5D2EF2}"/>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D4D1E32-F618-74FF-EDB2-6BD572C3E9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B756E9F5-D781-8150-79C5-CDE176D5968C}"/>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4" name="矩形 13">
            <a:extLst>
              <a:ext uri="{FF2B5EF4-FFF2-40B4-BE49-F238E27FC236}">
                <a16:creationId xmlns:a16="http://schemas.microsoft.com/office/drawing/2014/main" id="{2CB1AD89-2E78-E5E2-02E4-817D61A03EF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19487C1-C029-A525-2812-524BC57F943F}"/>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8.1.1 </a:t>
            </a:r>
            <a:r>
              <a:rPr lang="zh-CN" altLang="en-US" sz="2800" b="1" dirty="0">
                <a:solidFill>
                  <a:srgbClr val="003F88"/>
                </a:solidFill>
                <a:latin typeface="微软雅黑" panose="020B0503020204020204" pitchFamily="34" charset="-122"/>
                <a:ea typeface="微软雅黑" panose="020B0503020204020204" pitchFamily="34" charset="-122"/>
              </a:rPr>
              <a:t>液压阀的作用</a:t>
            </a:r>
          </a:p>
        </p:txBody>
      </p:sp>
    </p:spTree>
    <p:extLst>
      <p:ext uri="{BB962C8B-B14F-4D97-AF65-F5344CB8AC3E}">
        <p14:creationId xmlns:p14="http://schemas.microsoft.com/office/powerpoint/2010/main" val="242505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BA1A71FC-24DE-44CC-A7B4-B871B8546747}"/>
              </a:ext>
            </a:extLst>
          </p:cNvPr>
          <p:cNvSpPr/>
          <p:nvPr/>
        </p:nvSpPr>
        <p:spPr>
          <a:xfrm>
            <a:off x="558800" y="1636426"/>
            <a:ext cx="11074400" cy="4858074"/>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C3FC71A-E451-F443-FBCC-513D8343E1D8}"/>
              </a:ext>
            </a:extLst>
          </p:cNvPr>
          <p:cNvSpPr txBox="1"/>
          <p:nvPr/>
        </p:nvSpPr>
        <p:spPr>
          <a:xfrm>
            <a:off x="643644" y="2280646"/>
            <a:ext cx="10904712" cy="3351046"/>
          </a:xfrm>
          <a:prstGeom prst="rect">
            <a:avLst/>
          </a:prstGeom>
          <a:noFill/>
        </p:spPr>
        <p:txBody>
          <a:bodyPr wrap="square" rtlCol="0">
            <a:spAutoFit/>
          </a:bodyPr>
          <a:lstStyle/>
          <a:p>
            <a:pPr indent="756000" algn="just">
              <a:lnSpc>
                <a:spcPct val="150000"/>
              </a:lnSpc>
            </a:pPr>
            <a:r>
              <a:rPr lang="zh-CN" altLang="en-US" sz="2400" spc="100" dirty="0">
                <a:latin typeface="微软雅黑" panose="020B0503020204020204" pitchFamily="34" charset="-122"/>
                <a:ea typeface="微软雅黑" panose="020B0503020204020204" pitchFamily="34" charset="-122"/>
              </a:rPr>
              <a:t>尽管液压阀存在着各种各样不同的类型</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它们之间还是保持着一些基本</a:t>
            </a:r>
            <a:r>
              <a:rPr lang="zh-CN" altLang="en-US" sz="2400" b="1" spc="100" dirty="0">
                <a:latin typeface="微软雅黑" panose="020B0503020204020204" pitchFamily="34" charset="-122"/>
                <a:ea typeface="微软雅黑" panose="020B0503020204020204" pitchFamily="34" charset="-122"/>
              </a:rPr>
              <a:t>共同点</a:t>
            </a:r>
            <a:r>
              <a:rPr lang="zh-CN" altLang="en-US" sz="2400" spc="100" dirty="0">
                <a:latin typeface="微软雅黑" panose="020B0503020204020204" pitchFamily="34" charset="-122"/>
                <a:ea typeface="微软雅黑" panose="020B0503020204020204" pitchFamily="34" charset="-122"/>
              </a:rPr>
              <a:t>的。例如</a:t>
            </a:r>
            <a:r>
              <a:rPr lang="en-US" altLang="zh-CN" sz="2400" spc="100" dirty="0">
                <a:latin typeface="微软雅黑" panose="020B0503020204020204" pitchFamily="34" charset="-122"/>
                <a:ea typeface="微软雅黑" panose="020B0503020204020204" pitchFamily="34" charset="-122"/>
              </a:rPr>
              <a:t>:</a:t>
            </a:r>
          </a:p>
          <a:p>
            <a:pPr indent="756000" algn="just">
              <a:lnSpc>
                <a:spcPct val="150000"/>
              </a:lnSpc>
            </a:pPr>
            <a:r>
              <a:rPr lang="en-US" altLang="zh-CN" sz="2400" spc="100" dirty="0">
                <a:latin typeface="微软雅黑" panose="020B0503020204020204" pitchFamily="34" charset="-122"/>
                <a:ea typeface="微软雅黑" panose="020B0503020204020204" pitchFamily="34" charset="-122"/>
              </a:rPr>
              <a:t>1)</a:t>
            </a:r>
            <a:r>
              <a:rPr lang="zh-CN" altLang="en-US" sz="2400" spc="100" dirty="0">
                <a:latin typeface="微软雅黑" panose="020B0503020204020204" pitchFamily="34" charset="-122"/>
                <a:ea typeface="微软雅黑" panose="020B0503020204020204" pitchFamily="34" charset="-122"/>
              </a:rPr>
              <a:t>在结构上</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所有的阀都由阀体、阀心</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座阀或滑阀</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和驱使阀心动作的元、部件</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如弹簧、电磁铁</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组成。</a:t>
            </a:r>
          </a:p>
          <a:p>
            <a:pPr indent="756000" algn="just">
              <a:lnSpc>
                <a:spcPct val="150000"/>
              </a:lnSpc>
            </a:pPr>
            <a:r>
              <a:rPr lang="en-US" altLang="zh-CN" sz="2400" spc="100" dirty="0">
                <a:latin typeface="微软雅黑" panose="020B0503020204020204" pitchFamily="34" charset="-122"/>
                <a:ea typeface="微软雅黑" panose="020B0503020204020204" pitchFamily="34" charset="-122"/>
              </a:rPr>
              <a:t>2)</a:t>
            </a:r>
            <a:r>
              <a:rPr lang="zh-CN" altLang="en-US" sz="2400" spc="100" dirty="0">
                <a:latin typeface="微软雅黑" panose="020B0503020204020204" pitchFamily="34" charset="-122"/>
                <a:ea typeface="微软雅黑" panose="020B0503020204020204" pitchFamily="34" charset="-122"/>
              </a:rPr>
              <a:t>在工作原理上</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所有阀的开口大小</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阀进、出口间的压差以及流过阀的流量之间的关系都符合</a:t>
            </a:r>
            <a:r>
              <a:rPr lang="zh-CN" altLang="en-US" sz="2400" b="1" spc="100" dirty="0">
                <a:solidFill>
                  <a:srgbClr val="FF0000"/>
                </a:solidFill>
                <a:latin typeface="微软雅黑" panose="020B0503020204020204" pitchFamily="34" charset="-122"/>
                <a:ea typeface="微软雅黑" panose="020B0503020204020204" pitchFamily="34" charset="-122"/>
              </a:rPr>
              <a:t>孔口流量公式</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仅是各种阀控制的参数各不相同而已。</a:t>
            </a:r>
          </a:p>
        </p:txBody>
      </p:sp>
      <p:sp>
        <p:nvSpPr>
          <p:cNvPr id="9" name="矩形 8">
            <a:extLst>
              <a:ext uri="{FF2B5EF4-FFF2-40B4-BE49-F238E27FC236}">
                <a16:creationId xmlns:a16="http://schemas.microsoft.com/office/drawing/2014/main" id="{23CF0533-8469-2B20-B3CE-A7E6B1E8ACB9}"/>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8.1.1 </a:t>
            </a:r>
            <a:r>
              <a:rPr lang="zh-CN" altLang="en-US" sz="2800" b="1" dirty="0">
                <a:solidFill>
                  <a:srgbClr val="003F88"/>
                </a:solidFill>
                <a:latin typeface="微软雅黑" panose="020B0503020204020204" pitchFamily="34" charset="-122"/>
                <a:ea typeface="微软雅黑" panose="020B0503020204020204" pitchFamily="34" charset="-122"/>
              </a:rPr>
              <a:t>液压阀的作用</a:t>
            </a:r>
          </a:p>
        </p:txBody>
      </p:sp>
      <p:cxnSp>
        <p:nvCxnSpPr>
          <p:cNvPr id="12" name="直接连接符 11">
            <a:extLst>
              <a:ext uri="{FF2B5EF4-FFF2-40B4-BE49-F238E27FC236}">
                <a16:creationId xmlns:a16="http://schemas.microsoft.com/office/drawing/2014/main" id="{DFA07E37-2496-569E-E270-E83E073AC243}"/>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05F410C1-EBAB-BA68-9D4A-AF6D3634C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4" name="文本框 13">
            <a:extLst>
              <a:ext uri="{FF2B5EF4-FFF2-40B4-BE49-F238E27FC236}">
                <a16:creationId xmlns:a16="http://schemas.microsoft.com/office/drawing/2014/main" id="{00F44421-CF29-5480-C928-17DF53E9AD39}"/>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5" name="矩形 14">
            <a:extLst>
              <a:ext uri="{FF2B5EF4-FFF2-40B4-BE49-F238E27FC236}">
                <a16:creationId xmlns:a16="http://schemas.microsoft.com/office/drawing/2014/main" id="{2A2AA540-D848-83A4-A4C9-7A1F249827F3}"/>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6303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069A36AE-87D5-E4D5-634A-4AB1CF49F58C}"/>
              </a:ext>
            </a:extLst>
          </p:cNvPr>
          <p:cNvSpPr/>
          <p:nvPr/>
        </p:nvSpPr>
        <p:spPr>
          <a:xfrm>
            <a:off x="4516312" y="2552076"/>
            <a:ext cx="3187115" cy="2218908"/>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C3FC71A-E451-F443-FBCC-513D8343E1D8}"/>
              </a:ext>
            </a:extLst>
          </p:cNvPr>
          <p:cNvSpPr txBox="1"/>
          <p:nvPr/>
        </p:nvSpPr>
        <p:spPr>
          <a:xfrm>
            <a:off x="643644" y="1809751"/>
            <a:ext cx="10904712" cy="461665"/>
          </a:xfrm>
          <a:prstGeom prst="rect">
            <a:avLst/>
          </a:prstGeom>
          <a:noFill/>
        </p:spPr>
        <p:txBody>
          <a:bodyPr wrap="square" rtlCol="0">
            <a:spAutoFit/>
          </a:bodyPr>
          <a:lstStyle/>
          <a:p>
            <a:pPr algn="just"/>
            <a:r>
              <a:rPr lang="zh-CN" altLang="en-US" sz="2400" spc="100" dirty="0">
                <a:latin typeface="微软雅黑" panose="020B0503020204020204" pitchFamily="34" charset="-122"/>
                <a:ea typeface="微软雅黑" panose="020B0503020204020204" pitchFamily="34" charset="-122"/>
              </a:rPr>
              <a:t>根据机能不同分类：</a:t>
            </a:r>
            <a:r>
              <a:rPr lang="zh-CN" altLang="en-US" sz="2400" b="1" spc="100" dirty="0">
                <a:solidFill>
                  <a:srgbClr val="FF0000"/>
                </a:solidFill>
                <a:latin typeface="微软雅黑" panose="020B0503020204020204" pitchFamily="34" charset="-122"/>
                <a:ea typeface="微软雅黑" panose="020B0503020204020204" pitchFamily="34" charset="-122"/>
              </a:rPr>
              <a:t>方向控制阀、压力控制阀、流量控制阀</a:t>
            </a:r>
            <a:r>
              <a:rPr lang="zh-CN" altLang="en-US" sz="2400" b="1" spc="100" dirty="0">
                <a:latin typeface="微软雅黑" panose="020B0503020204020204" pitchFamily="34" charset="-122"/>
                <a:ea typeface="微软雅黑" panose="020B0503020204020204" pitchFamily="34" charset="-122"/>
              </a:rPr>
              <a:t>。</a:t>
            </a:r>
          </a:p>
        </p:txBody>
      </p:sp>
      <p:sp>
        <p:nvSpPr>
          <p:cNvPr id="11" name="文本框 10">
            <a:extLst>
              <a:ext uri="{FF2B5EF4-FFF2-40B4-BE49-F238E27FC236}">
                <a16:creationId xmlns:a16="http://schemas.microsoft.com/office/drawing/2014/main" id="{F6C16234-B631-2F6D-3AE2-014FBDFA407F}"/>
              </a:ext>
            </a:extLst>
          </p:cNvPr>
          <p:cNvSpPr txBox="1"/>
          <p:nvPr/>
        </p:nvSpPr>
        <p:spPr>
          <a:xfrm>
            <a:off x="5183877" y="2601180"/>
            <a:ext cx="1899030" cy="400110"/>
          </a:xfrm>
          <a:prstGeom prst="rect">
            <a:avLst/>
          </a:prstGeom>
          <a:noFill/>
        </p:spPr>
        <p:txBody>
          <a:bodyPr wrap="square" rtlCol="0">
            <a:spAutoFit/>
          </a:bodyPr>
          <a:lstStyle/>
          <a:p>
            <a:pPr algn="ctr"/>
            <a:r>
              <a:rPr lang="zh-CN" altLang="en-US" sz="2000" b="1" spc="100" dirty="0">
                <a:latin typeface="微软雅黑" panose="020B0503020204020204" pitchFamily="34" charset="-122"/>
                <a:ea typeface="微软雅黑" panose="020B0503020204020204" pitchFamily="34" charset="-122"/>
              </a:rPr>
              <a:t>压力控制阀</a:t>
            </a:r>
          </a:p>
        </p:txBody>
      </p:sp>
      <p:sp>
        <p:nvSpPr>
          <p:cNvPr id="12" name="文本框 11">
            <a:extLst>
              <a:ext uri="{FF2B5EF4-FFF2-40B4-BE49-F238E27FC236}">
                <a16:creationId xmlns:a16="http://schemas.microsoft.com/office/drawing/2014/main" id="{C541E1AA-DD2C-9043-D2E4-98FB4A0AC3C5}"/>
              </a:ext>
            </a:extLst>
          </p:cNvPr>
          <p:cNvSpPr txBox="1"/>
          <p:nvPr/>
        </p:nvSpPr>
        <p:spPr>
          <a:xfrm>
            <a:off x="4619681" y="3154940"/>
            <a:ext cx="3051646" cy="1422954"/>
          </a:xfrm>
          <a:prstGeom prst="rect">
            <a:avLst/>
          </a:prstGeom>
          <a:noFill/>
        </p:spPr>
        <p:txBody>
          <a:bodyPr wrap="square" rtlCol="0">
            <a:spAutoFit/>
          </a:bodyPr>
          <a:lstStyle/>
          <a:p>
            <a:pPr algn="just">
              <a:lnSpc>
                <a:spcPct val="150000"/>
              </a:lnSpc>
            </a:pPr>
            <a:r>
              <a:rPr lang="zh-CN" altLang="en-US" sz="2000" spc="100" dirty="0">
                <a:latin typeface="微软雅黑" panose="020B0503020204020204" pitchFamily="34" charset="-122"/>
                <a:ea typeface="微软雅黑" panose="020B0503020204020204" pitchFamily="34" charset="-122"/>
              </a:rPr>
              <a:t>用来控制和调节液压系统液流压力。</a:t>
            </a:r>
            <a:endParaRPr lang="en-US" altLang="zh-CN" sz="2000"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如溢流阀、减压阀等</a:t>
            </a:r>
          </a:p>
        </p:txBody>
      </p:sp>
      <p:sp>
        <p:nvSpPr>
          <p:cNvPr id="14" name="矩形: 圆角 13">
            <a:extLst>
              <a:ext uri="{FF2B5EF4-FFF2-40B4-BE49-F238E27FC236}">
                <a16:creationId xmlns:a16="http://schemas.microsoft.com/office/drawing/2014/main" id="{A4D75E7F-A990-EB30-BD2C-6F7AEFA7E0E5}"/>
              </a:ext>
            </a:extLst>
          </p:cNvPr>
          <p:cNvSpPr/>
          <p:nvPr/>
        </p:nvSpPr>
        <p:spPr>
          <a:xfrm>
            <a:off x="8335710" y="2585231"/>
            <a:ext cx="3187115" cy="2218908"/>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B58ABCE-2100-9DE9-463C-BE68333E96A2}"/>
              </a:ext>
            </a:extLst>
          </p:cNvPr>
          <p:cNvSpPr txBox="1"/>
          <p:nvPr/>
        </p:nvSpPr>
        <p:spPr>
          <a:xfrm>
            <a:off x="9015387" y="2598437"/>
            <a:ext cx="1899030" cy="400110"/>
          </a:xfrm>
          <a:prstGeom prst="rect">
            <a:avLst/>
          </a:prstGeom>
          <a:noFill/>
        </p:spPr>
        <p:txBody>
          <a:bodyPr wrap="square" rtlCol="0">
            <a:spAutoFit/>
          </a:bodyPr>
          <a:lstStyle/>
          <a:p>
            <a:pPr algn="ctr"/>
            <a:r>
              <a:rPr lang="zh-CN" altLang="en-US" sz="2000" b="1" spc="100" dirty="0">
                <a:latin typeface="微软雅黑" panose="020B0503020204020204" pitchFamily="34" charset="-122"/>
                <a:ea typeface="微软雅黑" panose="020B0503020204020204" pitchFamily="34" charset="-122"/>
              </a:rPr>
              <a:t>流量控制阀</a:t>
            </a:r>
          </a:p>
        </p:txBody>
      </p:sp>
      <p:sp>
        <p:nvSpPr>
          <p:cNvPr id="16" name="文本框 15">
            <a:extLst>
              <a:ext uri="{FF2B5EF4-FFF2-40B4-BE49-F238E27FC236}">
                <a16:creationId xmlns:a16="http://schemas.microsoft.com/office/drawing/2014/main" id="{77F9E237-49CA-E512-7754-C6765CD74B9C}"/>
              </a:ext>
            </a:extLst>
          </p:cNvPr>
          <p:cNvSpPr txBox="1"/>
          <p:nvPr/>
        </p:nvSpPr>
        <p:spPr>
          <a:xfrm>
            <a:off x="8439079" y="3188095"/>
            <a:ext cx="3051646" cy="1422954"/>
          </a:xfrm>
          <a:prstGeom prst="rect">
            <a:avLst/>
          </a:prstGeom>
          <a:noFill/>
        </p:spPr>
        <p:txBody>
          <a:bodyPr wrap="square" rtlCol="0">
            <a:spAutoFit/>
          </a:bodyPr>
          <a:lstStyle/>
          <a:p>
            <a:pPr algn="just">
              <a:lnSpc>
                <a:spcPct val="150000"/>
              </a:lnSpc>
            </a:pPr>
            <a:r>
              <a:rPr lang="zh-CN" altLang="en-US" sz="2000" spc="100" dirty="0">
                <a:latin typeface="微软雅黑" panose="020B0503020204020204" pitchFamily="34" charset="-122"/>
                <a:ea typeface="微软雅黑" panose="020B0503020204020204" pitchFamily="34" charset="-122"/>
              </a:rPr>
              <a:t>用来控制和调节液压系统液流流量。</a:t>
            </a:r>
            <a:endParaRPr lang="en-US" altLang="zh-CN" sz="2000"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如节流阀、调速阀等</a:t>
            </a:r>
          </a:p>
        </p:txBody>
      </p:sp>
      <p:sp>
        <p:nvSpPr>
          <p:cNvPr id="17" name="矩形: 圆角 16">
            <a:extLst>
              <a:ext uri="{FF2B5EF4-FFF2-40B4-BE49-F238E27FC236}">
                <a16:creationId xmlns:a16="http://schemas.microsoft.com/office/drawing/2014/main" id="{1DDAF3C5-F257-8287-5DE3-24D18B12B892}"/>
              </a:ext>
            </a:extLst>
          </p:cNvPr>
          <p:cNvSpPr/>
          <p:nvPr/>
        </p:nvSpPr>
        <p:spPr>
          <a:xfrm>
            <a:off x="720437" y="2519950"/>
            <a:ext cx="3187115" cy="2218908"/>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109BD07E-3AA5-C91A-97DA-9060BB2C1301}"/>
              </a:ext>
            </a:extLst>
          </p:cNvPr>
          <p:cNvSpPr txBox="1"/>
          <p:nvPr/>
        </p:nvSpPr>
        <p:spPr>
          <a:xfrm>
            <a:off x="1375149" y="2598437"/>
            <a:ext cx="1899030" cy="400110"/>
          </a:xfrm>
          <a:prstGeom prst="rect">
            <a:avLst/>
          </a:prstGeom>
          <a:noFill/>
        </p:spPr>
        <p:txBody>
          <a:bodyPr wrap="square" rtlCol="0">
            <a:spAutoFit/>
          </a:bodyPr>
          <a:lstStyle/>
          <a:p>
            <a:pPr algn="ctr"/>
            <a:r>
              <a:rPr lang="zh-CN" altLang="en-US" sz="2000" b="1" spc="100" dirty="0">
                <a:latin typeface="微软雅黑" panose="020B0503020204020204" pitchFamily="34" charset="-122"/>
                <a:ea typeface="微软雅黑" panose="020B0503020204020204" pitchFamily="34" charset="-122"/>
              </a:rPr>
              <a:t>方向控制阀</a:t>
            </a:r>
          </a:p>
        </p:txBody>
      </p:sp>
      <p:sp>
        <p:nvSpPr>
          <p:cNvPr id="19" name="文本框 18">
            <a:extLst>
              <a:ext uri="{FF2B5EF4-FFF2-40B4-BE49-F238E27FC236}">
                <a16:creationId xmlns:a16="http://schemas.microsoft.com/office/drawing/2014/main" id="{0B341C57-F1EA-11BE-F95A-9B8223B7E66A}"/>
              </a:ext>
            </a:extLst>
          </p:cNvPr>
          <p:cNvSpPr txBox="1"/>
          <p:nvPr/>
        </p:nvSpPr>
        <p:spPr>
          <a:xfrm>
            <a:off x="823806" y="3122814"/>
            <a:ext cx="3051646" cy="1422954"/>
          </a:xfrm>
          <a:prstGeom prst="rect">
            <a:avLst/>
          </a:prstGeom>
          <a:noFill/>
        </p:spPr>
        <p:txBody>
          <a:bodyPr wrap="square" rtlCol="0">
            <a:spAutoFit/>
          </a:bodyPr>
          <a:lstStyle/>
          <a:p>
            <a:pPr algn="just">
              <a:lnSpc>
                <a:spcPct val="150000"/>
              </a:lnSpc>
            </a:pPr>
            <a:r>
              <a:rPr lang="zh-CN" altLang="en-US" sz="2000" spc="100" dirty="0">
                <a:latin typeface="微软雅黑" panose="020B0503020204020204" pitchFamily="34" charset="-122"/>
                <a:ea typeface="微软雅黑" panose="020B0503020204020204" pitchFamily="34" charset="-122"/>
              </a:rPr>
              <a:t>用来控制和改变液压系统液流方向。</a:t>
            </a:r>
            <a:endParaRPr lang="en-US" altLang="zh-CN" sz="2000"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如单向阀、换向阀等</a:t>
            </a:r>
          </a:p>
        </p:txBody>
      </p:sp>
      <p:sp>
        <p:nvSpPr>
          <p:cNvPr id="20" name="文本框 19">
            <a:extLst>
              <a:ext uri="{FF2B5EF4-FFF2-40B4-BE49-F238E27FC236}">
                <a16:creationId xmlns:a16="http://schemas.microsoft.com/office/drawing/2014/main" id="{3CCEA101-9C07-7E42-D9D5-50FD792145CA}"/>
              </a:ext>
            </a:extLst>
          </p:cNvPr>
          <p:cNvSpPr txBox="1"/>
          <p:nvPr/>
        </p:nvSpPr>
        <p:spPr>
          <a:xfrm>
            <a:off x="620059" y="4987392"/>
            <a:ext cx="10904712" cy="1422954"/>
          </a:xfrm>
          <a:prstGeom prst="rect">
            <a:avLst/>
          </a:prstGeom>
          <a:noFill/>
        </p:spPr>
        <p:txBody>
          <a:bodyPr wrap="square" rtlCol="0">
            <a:spAutoFit/>
          </a:bodyPr>
          <a:lstStyle/>
          <a:p>
            <a:pPr algn="just">
              <a:lnSpc>
                <a:spcPct val="150000"/>
              </a:lnSpc>
            </a:pPr>
            <a:r>
              <a:rPr lang="zh-CN" altLang="en-US" sz="2000" spc="100" dirty="0">
                <a:latin typeface="微软雅黑" panose="020B0503020204020204" pitchFamily="34" charset="-122"/>
                <a:ea typeface="微软雅黑" panose="020B0503020204020204" pitchFamily="34" charset="-122"/>
              </a:rPr>
              <a:t>根据结构形式分类：滑阀、锥阀、球阀。</a:t>
            </a:r>
            <a:endParaRPr lang="en-US" altLang="zh-CN" sz="2000"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按操纵方法分类：手动阀、机</a:t>
            </a:r>
            <a:r>
              <a:rPr lang="en-US" altLang="zh-CN" sz="2000" spc="100" dirty="0">
                <a:latin typeface="微软雅黑" panose="020B0503020204020204" pitchFamily="34" charset="-122"/>
                <a:ea typeface="微软雅黑" panose="020B0503020204020204" pitchFamily="34" charset="-122"/>
              </a:rPr>
              <a:t>/</a:t>
            </a:r>
            <a:r>
              <a:rPr lang="zh-CN" altLang="en-US" sz="2000" spc="100" dirty="0">
                <a:latin typeface="微软雅黑" panose="020B0503020204020204" pitchFamily="34" charset="-122"/>
                <a:ea typeface="微软雅黑" panose="020B0503020204020204" pitchFamily="34" charset="-122"/>
              </a:rPr>
              <a:t>液</a:t>
            </a:r>
            <a:r>
              <a:rPr lang="en-US" altLang="zh-CN" sz="2000" spc="100" dirty="0">
                <a:latin typeface="微软雅黑" panose="020B0503020204020204" pitchFamily="34" charset="-122"/>
                <a:ea typeface="微软雅黑" panose="020B0503020204020204" pitchFamily="34" charset="-122"/>
              </a:rPr>
              <a:t>/</a:t>
            </a:r>
            <a:r>
              <a:rPr lang="zh-CN" altLang="en-US" sz="2000" spc="100" dirty="0">
                <a:latin typeface="微软雅黑" panose="020B0503020204020204" pitchFamily="34" charset="-122"/>
                <a:ea typeface="微软雅黑" panose="020B0503020204020204" pitchFamily="34" charset="-122"/>
              </a:rPr>
              <a:t>气动阀、电动阀</a:t>
            </a:r>
            <a:endParaRPr lang="en-US" altLang="zh-CN" sz="2000" b="1"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详细分类见教材（表</a:t>
            </a:r>
            <a:r>
              <a:rPr lang="en-US" altLang="zh-CN" sz="2000" spc="100" dirty="0">
                <a:latin typeface="微软雅黑" panose="020B0503020204020204" pitchFamily="34" charset="-122"/>
                <a:ea typeface="微软雅黑" panose="020B0503020204020204" pitchFamily="34" charset="-122"/>
              </a:rPr>
              <a:t>6-1</a:t>
            </a:r>
            <a:r>
              <a:rPr lang="zh-CN" altLang="en-US" sz="2000" spc="100" dirty="0">
                <a:latin typeface="微软雅黑" panose="020B0503020204020204" pitchFamily="34" charset="-122"/>
                <a:ea typeface="微软雅黑" panose="020B0503020204020204" pitchFamily="34" charset="-122"/>
              </a:rPr>
              <a:t>）</a:t>
            </a:r>
            <a:endParaRPr lang="en-US" altLang="zh-CN" sz="2000" spc="100"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C768697F-4AA6-DC9F-14F3-BD277E74298F}"/>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8.1.2 </a:t>
            </a:r>
            <a:r>
              <a:rPr lang="zh-CN" altLang="en-US" sz="2800" b="1" dirty="0">
                <a:solidFill>
                  <a:srgbClr val="003F88"/>
                </a:solidFill>
                <a:latin typeface="微软雅黑" panose="020B0503020204020204" pitchFamily="34" charset="-122"/>
                <a:ea typeface="微软雅黑" panose="020B0503020204020204" pitchFamily="34" charset="-122"/>
              </a:rPr>
              <a:t>液压阀的分类</a:t>
            </a:r>
          </a:p>
        </p:txBody>
      </p:sp>
      <p:cxnSp>
        <p:nvCxnSpPr>
          <p:cNvPr id="21" name="直接连接符 20">
            <a:extLst>
              <a:ext uri="{FF2B5EF4-FFF2-40B4-BE49-F238E27FC236}">
                <a16:creationId xmlns:a16="http://schemas.microsoft.com/office/drawing/2014/main" id="{C325F770-E485-135B-0C69-B58C89C9BB8D}"/>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F59ED390-725E-1FD2-B3DB-FAB94F80C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23" name="文本框 22">
            <a:extLst>
              <a:ext uri="{FF2B5EF4-FFF2-40B4-BE49-F238E27FC236}">
                <a16:creationId xmlns:a16="http://schemas.microsoft.com/office/drawing/2014/main" id="{549418D1-1E73-3BDA-5CB1-21B09053738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24" name="矩形 23">
            <a:extLst>
              <a:ext uri="{FF2B5EF4-FFF2-40B4-BE49-F238E27FC236}">
                <a16:creationId xmlns:a16="http://schemas.microsoft.com/office/drawing/2014/main" id="{76FADCBA-1115-45E6-3945-5AE5C1157E5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91965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3CCEA101-9C07-7E42-D9D5-50FD792145CA}"/>
              </a:ext>
            </a:extLst>
          </p:cNvPr>
          <p:cNvSpPr txBox="1"/>
          <p:nvPr/>
        </p:nvSpPr>
        <p:spPr>
          <a:xfrm>
            <a:off x="620059" y="4987392"/>
            <a:ext cx="10904712" cy="1422954"/>
          </a:xfrm>
          <a:prstGeom prst="rect">
            <a:avLst/>
          </a:prstGeom>
          <a:noFill/>
        </p:spPr>
        <p:txBody>
          <a:bodyPr wrap="square" rtlCol="0">
            <a:spAutoFit/>
          </a:bodyPr>
          <a:lstStyle/>
          <a:p>
            <a:pPr algn="just">
              <a:lnSpc>
                <a:spcPct val="150000"/>
              </a:lnSpc>
            </a:pPr>
            <a:r>
              <a:rPr lang="zh-CN" altLang="en-US" sz="2000" spc="100" dirty="0">
                <a:latin typeface="微软雅黑" panose="020B0503020204020204" pitchFamily="34" charset="-122"/>
                <a:ea typeface="微软雅黑" panose="020B0503020204020204" pitchFamily="34" charset="-122"/>
              </a:rPr>
              <a:t>根据结构形式分类：滑阀、锥阀、球阀。</a:t>
            </a:r>
            <a:endParaRPr lang="en-US" altLang="zh-CN" sz="2000"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按操纵方法分类：手动阀、机</a:t>
            </a:r>
            <a:r>
              <a:rPr lang="en-US" altLang="zh-CN" sz="2000" spc="100" dirty="0">
                <a:latin typeface="微软雅黑" panose="020B0503020204020204" pitchFamily="34" charset="-122"/>
                <a:ea typeface="微软雅黑" panose="020B0503020204020204" pitchFamily="34" charset="-122"/>
              </a:rPr>
              <a:t>/</a:t>
            </a:r>
            <a:r>
              <a:rPr lang="zh-CN" altLang="en-US" sz="2000" spc="100" dirty="0">
                <a:latin typeface="微软雅黑" panose="020B0503020204020204" pitchFamily="34" charset="-122"/>
                <a:ea typeface="微软雅黑" panose="020B0503020204020204" pitchFamily="34" charset="-122"/>
              </a:rPr>
              <a:t>液</a:t>
            </a:r>
            <a:r>
              <a:rPr lang="en-US" altLang="zh-CN" sz="2000" spc="100" dirty="0">
                <a:latin typeface="微软雅黑" panose="020B0503020204020204" pitchFamily="34" charset="-122"/>
                <a:ea typeface="微软雅黑" panose="020B0503020204020204" pitchFamily="34" charset="-122"/>
              </a:rPr>
              <a:t>/</a:t>
            </a:r>
            <a:r>
              <a:rPr lang="zh-CN" altLang="en-US" sz="2000" spc="100" dirty="0">
                <a:latin typeface="微软雅黑" panose="020B0503020204020204" pitchFamily="34" charset="-122"/>
                <a:ea typeface="微软雅黑" panose="020B0503020204020204" pitchFamily="34" charset="-122"/>
              </a:rPr>
              <a:t>气动阀、电动阀</a:t>
            </a:r>
            <a:endParaRPr lang="en-US" altLang="zh-CN" sz="2000" b="1" spc="100" dirty="0">
              <a:latin typeface="微软雅黑" panose="020B0503020204020204" pitchFamily="34" charset="-122"/>
              <a:ea typeface="微软雅黑" panose="020B0503020204020204" pitchFamily="34" charset="-122"/>
            </a:endParaRPr>
          </a:p>
          <a:p>
            <a:pPr algn="just">
              <a:lnSpc>
                <a:spcPct val="150000"/>
              </a:lnSpc>
            </a:pPr>
            <a:r>
              <a:rPr lang="zh-CN" altLang="en-US" sz="2000" spc="100" dirty="0">
                <a:latin typeface="微软雅黑" panose="020B0503020204020204" pitchFamily="34" charset="-122"/>
                <a:ea typeface="微软雅黑" panose="020B0503020204020204" pitchFamily="34" charset="-122"/>
              </a:rPr>
              <a:t>详细分类见教材（表</a:t>
            </a:r>
            <a:r>
              <a:rPr lang="en-US" altLang="zh-CN" sz="2000" spc="100" dirty="0">
                <a:latin typeface="微软雅黑" panose="020B0503020204020204" pitchFamily="34" charset="-122"/>
                <a:ea typeface="微软雅黑" panose="020B0503020204020204" pitchFamily="34" charset="-122"/>
              </a:rPr>
              <a:t>6-1</a:t>
            </a:r>
            <a:r>
              <a:rPr lang="zh-CN" altLang="en-US" sz="2000" spc="100" dirty="0">
                <a:latin typeface="微软雅黑" panose="020B0503020204020204" pitchFamily="34" charset="-122"/>
                <a:ea typeface="微软雅黑" panose="020B0503020204020204" pitchFamily="34" charset="-122"/>
              </a:rPr>
              <a:t>）</a:t>
            </a:r>
            <a:endParaRPr lang="en-US" altLang="zh-CN" sz="2000" spc="100"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C768697F-4AA6-DC9F-14F3-BD277E74298F}"/>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8.1.2 </a:t>
            </a:r>
            <a:r>
              <a:rPr lang="zh-CN" altLang="en-US" sz="2800" b="1" dirty="0">
                <a:solidFill>
                  <a:srgbClr val="003F88"/>
                </a:solidFill>
                <a:latin typeface="微软雅黑" panose="020B0503020204020204" pitchFamily="34" charset="-122"/>
                <a:ea typeface="微软雅黑" panose="020B0503020204020204" pitchFamily="34" charset="-122"/>
              </a:rPr>
              <a:t>液压阀的分类</a:t>
            </a:r>
          </a:p>
        </p:txBody>
      </p:sp>
      <p:cxnSp>
        <p:nvCxnSpPr>
          <p:cNvPr id="21" name="直接连接符 20">
            <a:extLst>
              <a:ext uri="{FF2B5EF4-FFF2-40B4-BE49-F238E27FC236}">
                <a16:creationId xmlns:a16="http://schemas.microsoft.com/office/drawing/2014/main" id="{C325F770-E485-135B-0C69-B58C89C9BB8D}"/>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F59ED390-725E-1FD2-B3DB-FAB94F80C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23" name="文本框 22">
            <a:extLst>
              <a:ext uri="{FF2B5EF4-FFF2-40B4-BE49-F238E27FC236}">
                <a16:creationId xmlns:a16="http://schemas.microsoft.com/office/drawing/2014/main" id="{549418D1-1E73-3BDA-5CB1-21B09053738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24" name="矩形 23">
            <a:extLst>
              <a:ext uri="{FF2B5EF4-FFF2-40B4-BE49-F238E27FC236}">
                <a16:creationId xmlns:a16="http://schemas.microsoft.com/office/drawing/2014/main" id="{76FADCBA-1115-45E6-3945-5AE5C1157E5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a:extLst>
              <a:ext uri="{FF2B5EF4-FFF2-40B4-BE49-F238E27FC236}">
                <a16:creationId xmlns:a16="http://schemas.microsoft.com/office/drawing/2014/main" id="{1E85D48B-C3F9-46CE-A407-1571558BE288}"/>
              </a:ext>
            </a:extLst>
          </p:cNvPr>
          <p:cNvPicPr>
            <a:picLocks noChangeAspect="1"/>
          </p:cNvPicPr>
          <p:nvPr/>
        </p:nvPicPr>
        <p:blipFill rotWithShape="1">
          <a:blip r:embed="rId4"/>
          <a:srcRect l="4378" t="5407" r="43861"/>
          <a:stretch/>
        </p:blipFill>
        <p:spPr>
          <a:xfrm>
            <a:off x="756648" y="1624153"/>
            <a:ext cx="3446585" cy="3339232"/>
          </a:xfrm>
          <a:prstGeom prst="rect">
            <a:avLst/>
          </a:prstGeom>
        </p:spPr>
      </p:pic>
      <p:pic>
        <p:nvPicPr>
          <p:cNvPr id="1026" name="Picture 2" descr="ARK电磁阀_KLV/KMV/KVH系列手动阀">
            <a:extLst>
              <a:ext uri="{FF2B5EF4-FFF2-40B4-BE49-F238E27FC236}">
                <a16:creationId xmlns:a16="http://schemas.microsoft.com/office/drawing/2014/main" id="{AC8FFBB4-DCC9-402A-896F-1CFBA30EFC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3233" y="1942513"/>
            <a:ext cx="3944816" cy="297230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电磁阀 - 方向控制阀 - 产品展示 - 上海小石自动化科技有限公司">
            <a:extLst>
              <a:ext uri="{FF2B5EF4-FFF2-40B4-BE49-F238E27FC236}">
                <a16:creationId xmlns:a16="http://schemas.microsoft.com/office/drawing/2014/main" id="{46AA28DB-378E-4FEC-BF75-92B3212DE5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613" y="2108957"/>
            <a:ext cx="3360371" cy="263941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E8E9C0AC-CA7C-43CC-A84D-068DC7DDBC3D}"/>
              </a:ext>
            </a:extLst>
          </p:cNvPr>
          <p:cNvSpPr/>
          <p:nvPr/>
        </p:nvSpPr>
        <p:spPr>
          <a:xfrm>
            <a:off x="5945913" y="4683218"/>
            <a:ext cx="915635" cy="369332"/>
          </a:xfrm>
          <a:prstGeom prst="rect">
            <a:avLst/>
          </a:prstGeom>
        </p:spPr>
        <p:txBody>
          <a:bodyPr wrap="none">
            <a:spAutoFit/>
          </a:bodyPr>
          <a:lstStyle/>
          <a:p>
            <a:r>
              <a:rPr lang="zh-CN" altLang="en-US" spc="100" dirty="0">
                <a:latin typeface="微软雅黑" panose="020B0503020204020204" pitchFamily="34" charset="-122"/>
                <a:ea typeface="微软雅黑" panose="020B0503020204020204" pitchFamily="34" charset="-122"/>
              </a:rPr>
              <a:t>手动阀</a:t>
            </a:r>
            <a:endParaRPr lang="zh-CN" altLang="en-US" dirty="0"/>
          </a:p>
        </p:txBody>
      </p:sp>
      <p:sp>
        <p:nvSpPr>
          <p:cNvPr id="26" name="矩形 25">
            <a:extLst>
              <a:ext uri="{FF2B5EF4-FFF2-40B4-BE49-F238E27FC236}">
                <a16:creationId xmlns:a16="http://schemas.microsoft.com/office/drawing/2014/main" id="{45B96A20-191F-4991-8212-48EE987EEB47}"/>
              </a:ext>
            </a:extLst>
          </p:cNvPr>
          <p:cNvSpPr/>
          <p:nvPr/>
        </p:nvSpPr>
        <p:spPr>
          <a:xfrm>
            <a:off x="9298713" y="4581775"/>
            <a:ext cx="915635" cy="369332"/>
          </a:xfrm>
          <a:prstGeom prst="rect">
            <a:avLst/>
          </a:prstGeom>
        </p:spPr>
        <p:txBody>
          <a:bodyPr wrap="none">
            <a:spAutoFit/>
          </a:bodyPr>
          <a:lstStyle/>
          <a:p>
            <a:r>
              <a:rPr lang="zh-CN" altLang="en-US" spc="100" dirty="0">
                <a:latin typeface="微软雅黑" panose="020B0503020204020204" pitchFamily="34" charset="-122"/>
                <a:ea typeface="微软雅黑" panose="020B0503020204020204" pitchFamily="34" charset="-122"/>
              </a:rPr>
              <a:t>电磁阀</a:t>
            </a:r>
            <a:endParaRPr lang="zh-CN" altLang="en-US" dirty="0"/>
          </a:p>
        </p:txBody>
      </p:sp>
    </p:spTree>
    <p:extLst>
      <p:ext uri="{BB962C8B-B14F-4D97-AF65-F5344CB8AC3E}">
        <p14:creationId xmlns:p14="http://schemas.microsoft.com/office/powerpoint/2010/main" val="1064944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768697F-4AA6-DC9F-14F3-BD277E74298F}"/>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8.1.2 </a:t>
            </a:r>
            <a:r>
              <a:rPr lang="zh-CN" altLang="en-US" sz="2800" b="1" dirty="0">
                <a:solidFill>
                  <a:srgbClr val="003F88"/>
                </a:solidFill>
                <a:latin typeface="微软雅黑" panose="020B0503020204020204" pitchFamily="34" charset="-122"/>
                <a:ea typeface="微软雅黑" panose="020B0503020204020204" pitchFamily="34" charset="-122"/>
              </a:rPr>
              <a:t>液压阀的分类</a:t>
            </a:r>
          </a:p>
        </p:txBody>
      </p:sp>
      <p:cxnSp>
        <p:nvCxnSpPr>
          <p:cNvPr id="21" name="直接连接符 20">
            <a:extLst>
              <a:ext uri="{FF2B5EF4-FFF2-40B4-BE49-F238E27FC236}">
                <a16:creationId xmlns:a16="http://schemas.microsoft.com/office/drawing/2014/main" id="{C325F770-E485-135B-0C69-B58C89C9BB8D}"/>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F59ED390-725E-1FD2-B3DB-FAB94F80C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23" name="文本框 22">
            <a:extLst>
              <a:ext uri="{FF2B5EF4-FFF2-40B4-BE49-F238E27FC236}">
                <a16:creationId xmlns:a16="http://schemas.microsoft.com/office/drawing/2014/main" id="{549418D1-1E73-3BDA-5CB1-21B09053738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24" name="矩形 23">
            <a:extLst>
              <a:ext uri="{FF2B5EF4-FFF2-40B4-BE49-F238E27FC236}">
                <a16:creationId xmlns:a16="http://schemas.microsoft.com/office/drawing/2014/main" id="{76FADCBA-1115-45E6-3945-5AE5C1157E5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2" name="Picture 4" descr="KC-03管式节流阀_SOLIDWORKS 2015_模型图纸下载 – 懒石网">
            <a:extLst>
              <a:ext uri="{FF2B5EF4-FFF2-40B4-BE49-F238E27FC236}">
                <a16:creationId xmlns:a16="http://schemas.microsoft.com/office/drawing/2014/main" id="{8E1D225B-A220-48B7-8068-3E7E1D171F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54" t="8077" r="22973" b="4872"/>
          <a:stretch/>
        </p:blipFill>
        <p:spPr bwMode="auto">
          <a:xfrm>
            <a:off x="602201" y="1584062"/>
            <a:ext cx="2901461" cy="259855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佳一J43W-25P不锈钢法兰针型阀 仪表管路用高压针阀 - 谷瀑环保">
            <a:extLst>
              <a:ext uri="{FF2B5EF4-FFF2-40B4-BE49-F238E27FC236}">
                <a16:creationId xmlns:a16="http://schemas.microsoft.com/office/drawing/2014/main" id="{CE3514A6-6C1D-4C9D-902D-CB8A57843EC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1668" b="6310"/>
          <a:stretch/>
        </p:blipFill>
        <p:spPr bwMode="auto">
          <a:xfrm>
            <a:off x="302214" y="4329034"/>
            <a:ext cx="3429000" cy="235444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76FFAF75-7D0B-4EDE-8F74-E1A12A6D6CF9}"/>
              </a:ext>
            </a:extLst>
          </p:cNvPr>
          <p:cNvSpPr txBox="1"/>
          <p:nvPr/>
        </p:nvSpPr>
        <p:spPr>
          <a:xfrm>
            <a:off x="1578132" y="6314142"/>
            <a:ext cx="877163" cy="369332"/>
          </a:xfrm>
          <a:prstGeom prst="rect">
            <a:avLst/>
          </a:prstGeom>
          <a:noFill/>
        </p:spPr>
        <p:txBody>
          <a:bodyPr wrap="none" rtlCol="0">
            <a:spAutoFit/>
          </a:bodyPr>
          <a:lstStyle/>
          <a:p>
            <a:r>
              <a:rPr lang="zh-CN" altLang="en-US" b="1" dirty="0"/>
              <a:t>管式阀</a:t>
            </a:r>
          </a:p>
        </p:txBody>
      </p:sp>
      <p:pic>
        <p:nvPicPr>
          <p:cNvPr id="2056" name="Picture 8" descr="Rexroth叠加阀|力士乐工业液压阀">
            <a:extLst>
              <a:ext uri="{FF2B5EF4-FFF2-40B4-BE49-F238E27FC236}">
                <a16:creationId xmlns:a16="http://schemas.microsoft.com/office/drawing/2014/main" id="{3932FF3D-A0C7-4664-9D89-9EA866E07C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1203" y="3241780"/>
            <a:ext cx="4220233" cy="307236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新板式阀-宁波赛德液压件有限公司">
            <a:extLst>
              <a:ext uri="{FF2B5EF4-FFF2-40B4-BE49-F238E27FC236}">
                <a16:creationId xmlns:a16="http://schemas.microsoft.com/office/drawing/2014/main" id="{7AB0F0C6-2A44-418A-B03D-F4DE49BAB70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890" b="20702"/>
          <a:stretch/>
        </p:blipFill>
        <p:spPr bwMode="auto">
          <a:xfrm>
            <a:off x="4080564" y="1447857"/>
            <a:ext cx="4030872" cy="1721353"/>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202ADDC-F390-46A7-B789-D0049ABDE1AC}"/>
              </a:ext>
            </a:extLst>
          </p:cNvPr>
          <p:cNvSpPr txBox="1"/>
          <p:nvPr/>
        </p:nvSpPr>
        <p:spPr>
          <a:xfrm>
            <a:off x="5657418" y="6386712"/>
            <a:ext cx="877163" cy="369332"/>
          </a:xfrm>
          <a:prstGeom prst="rect">
            <a:avLst/>
          </a:prstGeom>
          <a:noFill/>
        </p:spPr>
        <p:txBody>
          <a:bodyPr wrap="none" rtlCol="0">
            <a:spAutoFit/>
          </a:bodyPr>
          <a:lstStyle/>
          <a:p>
            <a:r>
              <a:rPr lang="zh-CN" altLang="en-US" b="1" dirty="0"/>
              <a:t>板式阀</a:t>
            </a:r>
          </a:p>
        </p:txBody>
      </p:sp>
      <p:pic>
        <p:nvPicPr>
          <p:cNvPr id="2060" name="Picture 12" descr="螺纹插装阀-螺纹插装阀组-负载敏感多路阀-SV40-多路电磁阀_天津海弗液压技术有限公司">
            <a:extLst>
              <a:ext uri="{FF2B5EF4-FFF2-40B4-BE49-F238E27FC236}">
                <a16:creationId xmlns:a16="http://schemas.microsoft.com/office/drawing/2014/main" id="{43D13F75-78CA-443F-A59D-DCF8A1D528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488" y="3578469"/>
            <a:ext cx="3646298" cy="2735673"/>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插装阀工作原理,插装阀的用途,插装阀选用与应用发展_齐家网">
            <a:extLst>
              <a:ext uri="{FF2B5EF4-FFF2-40B4-BE49-F238E27FC236}">
                <a16:creationId xmlns:a16="http://schemas.microsoft.com/office/drawing/2014/main" id="{0CAF622E-177B-4887-91EF-2EE3494D00BD}"/>
              </a:ext>
            </a:extLst>
          </p:cNvPr>
          <p:cNvPicPr>
            <a:picLocks noChangeAspect="1" noChangeArrowheads="1"/>
          </p:cNvPicPr>
          <p:nvPr/>
        </p:nvPicPr>
        <p:blipFill rotWithShape="1">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r="8910" b="2167"/>
          <a:stretch/>
        </p:blipFill>
        <p:spPr bwMode="auto">
          <a:xfrm rot="18580326">
            <a:off x="8044598" y="803769"/>
            <a:ext cx="3502179" cy="3009140"/>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31F21422-F85C-425B-9110-72DB68BAEB70}"/>
              </a:ext>
            </a:extLst>
          </p:cNvPr>
          <p:cNvSpPr txBox="1"/>
          <p:nvPr/>
        </p:nvSpPr>
        <p:spPr>
          <a:xfrm>
            <a:off x="9736704" y="6386712"/>
            <a:ext cx="877163" cy="369332"/>
          </a:xfrm>
          <a:prstGeom prst="rect">
            <a:avLst/>
          </a:prstGeom>
          <a:noFill/>
        </p:spPr>
        <p:txBody>
          <a:bodyPr wrap="none" rtlCol="0">
            <a:spAutoFit/>
          </a:bodyPr>
          <a:lstStyle/>
          <a:p>
            <a:r>
              <a:rPr lang="zh-CN" altLang="en-US" b="1" dirty="0"/>
              <a:t>插装阀</a:t>
            </a:r>
          </a:p>
        </p:txBody>
      </p:sp>
    </p:spTree>
    <p:extLst>
      <p:ext uri="{BB962C8B-B14F-4D97-AF65-F5344CB8AC3E}">
        <p14:creationId xmlns:p14="http://schemas.microsoft.com/office/powerpoint/2010/main" val="3076829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069A36AE-87D5-E4D5-634A-4AB1CF49F58C}"/>
              </a:ext>
            </a:extLst>
          </p:cNvPr>
          <p:cNvSpPr/>
          <p:nvPr/>
        </p:nvSpPr>
        <p:spPr>
          <a:xfrm>
            <a:off x="1039091" y="2045371"/>
            <a:ext cx="10278613" cy="4022917"/>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CCEA101-9C07-7E42-D9D5-50FD792145CA}"/>
              </a:ext>
            </a:extLst>
          </p:cNvPr>
          <p:cNvSpPr txBox="1"/>
          <p:nvPr/>
        </p:nvSpPr>
        <p:spPr>
          <a:xfrm>
            <a:off x="1879365" y="2356488"/>
            <a:ext cx="10904712" cy="2797048"/>
          </a:xfrm>
          <a:prstGeom prst="rect">
            <a:avLst/>
          </a:prstGeom>
          <a:noFill/>
        </p:spPr>
        <p:txBody>
          <a:bodyPr wrap="square" rtlCol="0">
            <a:spAutoFit/>
          </a:bodyPr>
          <a:lstStyle/>
          <a:p>
            <a:pPr algn="just">
              <a:lnSpc>
                <a:spcPct val="150000"/>
              </a:lnSpc>
            </a:pPr>
            <a:r>
              <a:rPr lang="zh-CN" altLang="en-US" sz="2400" spc="100" dirty="0">
                <a:latin typeface="微软雅黑" panose="020B0503020204020204" pitchFamily="34" charset="-122"/>
                <a:ea typeface="微软雅黑" panose="020B0503020204020204" pitchFamily="34" charset="-122"/>
              </a:rPr>
              <a:t>液压系统中所用的液压阀</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应满足如下要求</a:t>
            </a:r>
            <a:r>
              <a:rPr lang="en-US" altLang="zh-CN" sz="2400" spc="100" dirty="0">
                <a:latin typeface="微软雅黑" panose="020B0503020204020204" pitchFamily="34" charset="-122"/>
                <a:ea typeface="微软雅黑" panose="020B0503020204020204" pitchFamily="34" charset="-122"/>
              </a:rPr>
              <a:t>:</a:t>
            </a:r>
          </a:p>
          <a:p>
            <a:pPr algn="just">
              <a:lnSpc>
                <a:spcPct val="150000"/>
              </a:lnSpc>
            </a:pPr>
            <a:r>
              <a:rPr lang="en-US" altLang="zh-CN" sz="2400" spc="100" dirty="0">
                <a:latin typeface="微软雅黑" panose="020B0503020204020204" pitchFamily="34" charset="-122"/>
                <a:ea typeface="微软雅黑" panose="020B0503020204020204" pitchFamily="34" charset="-122"/>
              </a:rPr>
              <a:t>1)</a:t>
            </a:r>
            <a:r>
              <a:rPr lang="zh-CN" altLang="en-US" sz="2400" spc="100" dirty="0">
                <a:latin typeface="微软雅黑" panose="020B0503020204020204" pitchFamily="34" charset="-122"/>
                <a:ea typeface="微软雅黑" panose="020B0503020204020204" pitchFamily="34" charset="-122"/>
              </a:rPr>
              <a:t>动作灵敏</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使用可靠</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工作时冲击和振动小。</a:t>
            </a:r>
          </a:p>
          <a:p>
            <a:pPr algn="just">
              <a:lnSpc>
                <a:spcPct val="150000"/>
              </a:lnSpc>
            </a:pPr>
            <a:r>
              <a:rPr lang="en-US" altLang="zh-CN" sz="2400" spc="100" dirty="0">
                <a:latin typeface="微软雅黑" panose="020B0503020204020204" pitchFamily="34" charset="-122"/>
                <a:ea typeface="微软雅黑" panose="020B0503020204020204" pitchFamily="34" charset="-122"/>
              </a:rPr>
              <a:t>2)</a:t>
            </a:r>
            <a:r>
              <a:rPr lang="zh-CN" altLang="en-US" sz="2400" spc="100" dirty="0">
                <a:latin typeface="微软雅黑" panose="020B0503020204020204" pitchFamily="34" charset="-122"/>
                <a:ea typeface="微软雅黑" panose="020B0503020204020204" pitchFamily="34" charset="-122"/>
              </a:rPr>
              <a:t>油液流过时压力损失小。</a:t>
            </a:r>
          </a:p>
          <a:p>
            <a:pPr algn="just">
              <a:lnSpc>
                <a:spcPct val="150000"/>
              </a:lnSpc>
            </a:pPr>
            <a:r>
              <a:rPr lang="en-US" altLang="zh-CN" sz="2400" spc="100" dirty="0">
                <a:latin typeface="微软雅黑" panose="020B0503020204020204" pitchFamily="34" charset="-122"/>
                <a:ea typeface="微软雅黑" panose="020B0503020204020204" pitchFamily="34" charset="-122"/>
              </a:rPr>
              <a:t>3)</a:t>
            </a:r>
            <a:r>
              <a:rPr lang="zh-CN" altLang="en-US" sz="2400" spc="100" dirty="0">
                <a:latin typeface="微软雅黑" panose="020B0503020204020204" pitchFamily="34" charset="-122"/>
                <a:ea typeface="微软雅黑" panose="020B0503020204020204" pitchFamily="34" charset="-122"/>
              </a:rPr>
              <a:t>密封性能好。</a:t>
            </a:r>
          </a:p>
          <a:p>
            <a:pPr algn="just">
              <a:lnSpc>
                <a:spcPct val="150000"/>
              </a:lnSpc>
            </a:pPr>
            <a:r>
              <a:rPr lang="en-US" altLang="zh-CN" sz="2400" spc="100" dirty="0">
                <a:latin typeface="微软雅黑" panose="020B0503020204020204" pitchFamily="34" charset="-122"/>
                <a:ea typeface="微软雅黑" panose="020B0503020204020204" pitchFamily="34" charset="-122"/>
              </a:rPr>
              <a:t>4)</a:t>
            </a:r>
            <a:r>
              <a:rPr lang="zh-CN" altLang="en-US" sz="2400" spc="100" dirty="0">
                <a:latin typeface="微软雅黑" panose="020B0503020204020204" pitchFamily="34" charset="-122"/>
                <a:ea typeface="微软雅黑" panose="020B0503020204020204" pitchFamily="34" charset="-122"/>
              </a:rPr>
              <a:t>结构紧凑</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安装、调整、使用、维护方便</a:t>
            </a:r>
            <a:r>
              <a:rPr lang="en-US" altLang="zh-CN" sz="2400" spc="100" dirty="0">
                <a:latin typeface="微软雅黑" panose="020B0503020204020204" pitchFamily="34" charset="-122"/>
                <a:ea typeface="微软雅黑" panose="020B0503020204020204" pitchFamily="34" charset="-122"/>
              </a:rPr>
              <a:t>,</a:t>
            </a:r>
            <a:r>
              <a:rPr lang="zh-CN" altLang="en-US" sz="2400" spc="100" dirty="0">
                <a:latin typeface="微软雅黑" panose="020B0503020204020204" pitchFamily="34" charset="-122"/>
                <a:ea typeface="微软雅黑" panose="020B0503020204020204" pitchFamily="34" charset="-122"/>
              </a:rPr>
              <a:t>通用性大。</a:t>
            </a:r>
          </a:p>
        </p:txBody>
      </p:sp>
      <p:sp>
        <p:nvSpPr>
          <p:cNvPr id="9" name="矩形 8">
            <a:extLst>
              <a:ext uri="{FF2B5EF4-FFF2-40B4-BE49-F238E27FC236}">
                <a16:creationId xmlns:a16="http://schemas.microsoft.com/office/drawing/2014/main" id="{8097EFB8-4D76-0A2E-8AC2-AFB0D1FF4CF2}"/>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8.1.3 </a:t>
            </a:r>
            <a:r>
              <a:rPr lang="zh-CN" altLang="en-US" sz="2800" b="1" dirty="0">
                <a:solidFill>
                  <a:srgbClr val="003F88"/>
                </a:solidFill>
                <a:latin typeface="微软雅黑" panose="020B0503020204020204" pitchFamily="34" charset="-122"/>
                <a:ea typeface="微软雅黑" panose="020B0503020204020204" pitchFamily="34" charset="-122"/>
              </a:rPr>
              <a:t>对液压阀的基本要求</a:t>
            </a:r>
          </a:p>
        </p:txBody>
      </p:sp>
      <p:cxnSp>
        <p:nvCxnSpPr>
          <p:cNvPr id="10" name="直接连接符 9">
            <a:extLst>
              <a:ext uri="{FF2B5EF4-FFF2-40B4-BE49-F238E27FC236}">
                <a16:creationId xmlns:a16="http://schemas.microsoft.com/office/drawing/2014/main" id="{18550F46-B6FB-E726-3641-49EA3C0F823D}"/>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CA0F1231-AE0A-F9F5-3FEE-15C7CB5E8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2" name="文本框 11">
            <a:extLst>
              <a:ext uri="{FF2B5EF4-FFF2-40B4-BE49-F238E27FC236}">
                <a16:creationId xmlns:a16="http://schemas.microsoft.com/office/drawing/2014/main" id="{AE904AA3-8074-AEA4-4B98-C188E188DC34}"/>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4" name="矩形 13">
            <a:extLst>
              <a:ext uri="{FF2B5EF4-FFF2-40B4-BE49-F238E27FC236}">
                <a16:creationId xmlns:a16="http://schemas.microsoft.com/office/drawing/2014/main" id="{885B5A7A-7868-E4AE-166C-CAB87464E70A}"/>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684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3CCEA101-9C07-7E42-D9D5-50FD792145CA}"/>
              </a:ext>
            </a:extLst>
          </p:cNvPr>
          <p:cNvSpPr txBox="1"/>
          <p:nvPr/>
        </p:nvSpPr>
        <p:spPr>
          <a:xfrm>
            <a:off x="4632036" y="1955436"/>
            <a:ext cx="2971922" cy="3409459"/>
          </a:xfrm>
          <a:prstGeom prst="rect">
            <a:avLst/>
          </a:prstGeom>
          <a:noFill/>
        </p:spPr>
        <p:txBody>
          <a:bodyPr wrap="square" rtlCol="0">
            <a:spAutoFit/>
          </a:bodyPr>
          <a:lstStyle/>
          <a:p>
            <a:pPr marL="514350" indent="-514350" algn="just">
              <a:lnSpc>
                <a:spcPct val="200000"/>
              </a:lnSpc>
              <a:buFont typeface="+mj-ea"/>
              <a:buAutoNum type="circleNumDbPlain"/>
            </a:pPr>
            <a:r>
              <a:rPr lang="zh-CN" altLang="en-US" sz="2800" spc="100" dirty="0">
                <a:latin typeface="微软雅黑" panose="020B0503020204020204" pitchFamily="34" charset="-122"/>
                <a:ea typeface="微软雅黑" panose="020B0503020204020204" pitchFamily="34" charset="-122"/>
              </a:rPr>
              <a:t>阀口形式</a:t>
            </a:r>
            <a:endParaRPr lang="en-US" altLang="zh-CN" sz="2800" spc="100" dirty="0">
              <a:latin typeface="微软雅黑" panose="020B0503020204020204" pitchFamily="34" charset="-122"/>
              <a:ea typeface="微软雅黑" panose="020B0503020204020204" pitchFamily="34" charset="-122"/>
            </a:endParaRPr>
          </a:p>
          <a:p>
            <a:pPr marL="514350" indent="-514350" algn="just">
              <a:lnSpc>
                <a:spcPct val="200000"/>
              </a:lnSpc>
              <a:buAutoNum type="circleNumDbPlain"/>
            </a:pPr>
            <a:r>
              <a:rPr lang="zh-CN" altLang="en-US" sz="2800" spc="100" dirty="0">
                <a:latin typeface="微软雅黑" panose="020B0503020204020204" pitchFamily="34" charset="-122"/>
                <a:ea typeface="微软雅黑" panose="020B0503020204020204" pitchFamily="34" charset="-122"/>
              </a:rPr>
              <a:t>液动力</a:t>
            </a:r>
            <a:endParaRPr lang="en-US" altLang="zh-CN" sz="2800" spc="100" dirty="0">
              <a:latin typeface="微软雅黑" panose="020B0503020204020204" pitchFamily="34" charset="-122"/>
              <a:ea typeface="微软雅黑" panose="020B0503020204020204" pitchFamily="34" charset="-122"/>
            </a:endParaRPr>
          </a:p>
          <a:p>
            <a:pPr marL="514350" indent="-514350" algn="just">
              <a:lnSpc>
                <a:spcPct val="200000"/>
              </a:lnSpc>
              <a:buAutoNum type="circleNumDbPlain"/>
            </a:pPr>
            <a:r>
              <a:rPr lang="zh-CN" altLang="en-US" sz="2800" spc="100" dirty="0">
                <a:latin typeface="微软雅黑" panose="020B0503020204020204" pitchFamily="34" charset="-122"/>
                <a:ea typeface="微软雅黑" panose="020B0503020204020204" pitchFamily="34" charset="-122"/>
              </a:rPr>
              <a:t>卡紧力</a:t>
            </a:r>
            <a:endParaRPr lang="en-US" altLang="zh-CN" sz="2800" spc="100" dirty="0">
              <a:latin typeface="微软雅黑" panose="020B0503020204020204" pitchFamily="34" charset="-122"/>
              <a:ea typeface="微软雅黑" panose="020B0503020204020204" pitchFamily="34" charset="-122"/>
            </a:endParaRPr>
          </a:p>
          <a:p>
            <a:pPr marL="514350" indent="-514350" algn="just">
              <a:lnSpc>
                <a:spcPct val="200000"/>
              </a:lnSpc>
              <a:buAutoNum type="circleNumDbPlain"/>
            </a:pPr>
            <a:r>
              <a:rPr lang="zh-CN" altLang="en-US" sz="2800" spc="100" dirty="0">
                <a:latin typeface="微软雅黑" panose="020B0503020204020204" pitchFamily="34" charset="-122"/>
                <a:ea typeface="微软雅黑" panose="020B0503020204020204" pitchFamily="34" charset="-122"/>
              </a:rPr>
              <a:t>阀的泄漏特性</a:t>
            </a:r>
          </a:p>
        </p:txBody>
      </p:sp>
      <p:cxnSp>
        <p:nvCxnSpPr>
          <p:cNvPr id="9" name="直接连接符 8">
            <a:extLst>
              <a:ext uri="{FF2B5EF4-FFF2-40B4-BE49-F238E27FC236}">
                <a16:creationId xmlns:a16="http://schemas.microsoft.com/office/drawing/2014/main" id="{E5289DB4-F1F7-200D-758E-0DC4D2AFCBF4}"/>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3C41F509-AF94-BC0D-677C-B612EA1B3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1" name="文本框 10">
            <a:extLst>
              <a:ext uri="{FF2B5EF4-FFF2-40B4-BE49-F238E27FC236}">
                <a16:creationId xmlns:a16="http://schemas.microsoft.com/office/drawing/2014/main" id="{602E99F1-1AE2-01BC-1B04-A9624086EA0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2" name="矩形 11">
            <a:extLst>
              <a:ext uri="{FF2B5EF4-FFF2-40B4-BE49-F238E27FC236}">
                <a16:creationId xmlns:a16="http://schemas.microsoft.com/office/drawing/2014/main" id="{07CA9AF7-48A9-BE20-056C-81EB3F3541DB}"/>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E47FE1B-3486-7BB2-E7A8-BC2C87B696B3}"/>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 </a:t>
            </a:r>
            <a:r>
              <a:rPr lang="zh-CN" altLang="en-US" sz="2800" b="1" dirty="0">
                <a:solidFill>
                  <a:srgbClr val="003F88"/>
                </a:solidFill>
                <a:latin typeface="微软雅黑" panose="020B0503020204020204" pitchFamily="34" charset="-122"/>
                <a:ea typeface="微软雅黑" panose="020B0503020204020204" pitchFamily="34" charset="-122"/>
              </a:rPr>
              <a:t>液压阀上的共性问题</a:t>
            </a:r>
          </a:p>
        </p:txBody>
      </p:sp>
    </p:spTree>
    <p:extLst>
      <p:ext uri="{BB962C8B-B14F-4D97-AF65-F5344CB8AC3E}">
        <p14:creationId xmlns:p14="http://schemas.microsoft.com/office/powerpoint/2010/main" val="156123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E7BFFE5-2B27-5833-987C-CBD652515D67}"/>
              </a:ext>
            </a:extLst>
          </p:cNvPr>
          <p:cNvSpPr txBox="1"/>
          <p:nvPr/>
        </p:nvSpPr>
        <p:spPr>
          <a:xfrm>
            <a:off x="-1037632" y="1563281"/>
            <a:ext cx="10557163" cy="400110"/>
          </a:xfrm>
          <a:prstGeom prst="rect">
            <a:avLst/>
          </a:prstGeom>
          <a:noFill/>
        </p:spPr>
        <p:txBody>
          <a:bodyPr wrap="square" rtlCol="0">
            <a:spAutoFit/>
          </a:bodyPr>
          <a:lstStyle/>
          <a:p>
            <a:pPr algn="ctr"/>
            <a:r>
              <a:rPr lang="zh-CN" altLang="en-US" sz="2000" dirty="0"/>
              <a:t>液压阀的阀口形式及其通流截面的计算公式见教材表</a:t>
            </a:r>
            <a:r>
              <a:rPr lang="en-US" altLang="zh-CN" sz="2000" dirty="0"/>
              <a:t>6-2</a:t>
            </a:r>
            <a:r>
              <a:rPr lang="zh-CN" altLang="en-US" sz="2000" dirty="0"/>
              <a:t>及附录</a:t>
            </a:r>
            <a:r>
              <a:rPr lang="en-US" altLang="zh-CN" sz="2000" dirty="0"/>
              <a:t>B</a:t>
            </a:r>
            <a:r>
              <a:rPr lang="zh-CN" altLang="en-US" sz="2000" dirty="0"/>
              <a:t>。</a:t>
            </a:r>
          </a:p>
        </p:txBody>
      </p:sp>
      <p:pic>
        <p:nvPicPr>
          <p:cNvPr id="10" name="图片 9">
            <a:extLst>
              <a:ext uri="{FF2B5EF4-FFF2-40B4-BE49-F238E27FC236}">
                <a16:creationId xmlns:a16="http://schemas.microsoft.com/office/drawing/2014/main" id="{83644EAA-0EAB-2DA9-EEA8-1D8D5BCEAF46}"/>
              </a:ext>
            </a:extLst>
          </p:cNvPr>
          <p:cNvPicPr>
            <a:picLocks noChangeAspect="1"/>
          </p:cNvPicPr>
          <p:nvPr/>
        </p:nvPicPr>
        <p:blipFill>
          <a:blip r:embed="rId3"/>
          <a:srcRect t="5407"/>
          <a:stretch/>
        </p:blipFill>
        <p:spPr>
          <a:xfrm>
            <a:off x="1823941" y="2088566"/>
            <a:ext cx="8544117" cy="4284780"/>
          </a:xfrm>
          <a:prstGeom prst="rect">
            <a:avLst/>
          </a:prstGeom>
        </p:spPr>
      </p:pic>
      <p:cxnSp>
        <p:nvCxnSpPr>
          <p:cNvPr id="9" name="直接连接符 8">
            <a:extLst>
              <a:ext uri="{FF2B5EF4-FFF2-40B4-BE49-F238E27FC236}">
                <a16:creationId xmlns:a16="http://schemas.microsoft.com/office/drawing/2014/main" id="{A03B0A79-FCDD-1396-D0FD-77E16AE9E0BA}"/>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98E9659F-8366-4C20-B779-3796C291B8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2F65FF65-5266-533C-6691-1D671C9A7559}"/>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4" name="矩形 13">
            <a:extLst>
              <a:ext uri="{FF2B5EF4-FFF2-40B4-BE49-F238E27FC236}">
                <a16:creationId xmlns:a16="http://schemas.microsoft.com/office/drawing/2014/main" id="{19079715-9BB1-881F-556F-7401841B462E}"/>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6BC201A-8825-D350-9F67-352A2CF18142}"/>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8.1.4.1 </a:t>
            </a:r>
            <a:r>
              <a:rPr lang="zh-CN" altLang="en-US" sz="2800" b="1" dirty="0">
                <a:solidFill>
                  <a:srgbClr val="003F88"/>
                </a:solidFill>
                <a:latin typeface="微软雅黑" panose="020B0503020204020204" pitchFamily="34" charset="-122"/>
                <a:ea typeface="微软雅黑" panose="020B0503020204020204" pitchFamily="34" charset="-122"/>
              </a:rPr>
              <a:t>阀口形式</a:t>
            </a:r>
          </a:p>
        </p:txBody>
      </p:sp>
    </p:spTree>
    <p:extLst>
      <p:ext uri="{BB962C8B-B14F-4D97-AF65-F5344CB8AC3E}">
        <p14:creationId xmlns:p14="http://schemas.microsoft.com/office/powerpoint/2010/main" val="2694057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3010D4B3-3DEF-6A8F-7BE1-BC6C335526DC}"/>
              </a:ext>
            </a:extLst>
          </p:cNvPr>
          <p:cNvPicPr>
            <a:picLocks noChangeAspect="1"/>
          </p:cNvPicPr>
          <p:nvPr/>
        </p:nvPicPr>
        <p:blipFill>
          <a:blip r:embed="rId2"/>
          <a:stretch>
            <a:fillRect/>
          </a:stretch>
        </p:blipFill>
        <p:spPr>
          <a:xfrm>
            <a:off x="2284733" y="1584062"/>
            <a:ext cx="7622534" cy="4962261"/>
          </a:xfrm>
          <a:prstGeom prst="rect">
            <a:avLst/>
          </a:prstGeom>
        </p:spPr>
      </p:pic>
      <p:cxnSp>
        <p:nvCxnSpPr>
          <p:cNvPr id="9" name="直接连接符 8">
            <a:extLst>
              <a:ext uri="{FF2B5EF4-FFF2-40B4-BE49-F238E27FC236}">
                <a16:creationId xmlns:a16="http://schemas.microsoft.com/office/drawing/2014/main" id="{502D0845-F670-DE63-7801-FC9EEDA5F39D}"/>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C9A72DC7-3EEA-FC9D-0567-243C2BA51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2" name="文本框 11">
            <a:extLst>
              <a:ext uri="{FF2B5EF4-FFF2-40B4-BE49-F238E27FC236}">
                <a16:creationId xmlns:a16="http://schemas.microsoft.com/office/drawing/2014/main" id="{D1B0CBC5-8E8F-34B0-B5A2-1E8411AFA7EA}"/>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3" name="矩形 12">
            <a:extLst>
              <a:ext uri="{FF2B5EF4-FFF2-40B4-BE49-F238E27FC236}">
                <a16:creationId xmlns:a16="http://schemas.microsoft.com/office/drawing/2014/main" id="{AAF35E27-2B2A-0F24-1CD5-BCE7BE5FF994}"/>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092A2B6-E34C-3330-2C09-BEAC00E8F2D4}"/>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8.1.4.1 </a:t>
            </a:r>
            <a:r>
              <a:rPr lang="zh-CN" altLang="en-US" sz="2800" b="1" dirty="0">
                <a:solidFill>
                  <a:srgbClr val="003F88"/>
                </a:solidFill>
                <a:latin typeface="微软雅黑" panose="020B0503020204020204" pitchFamily="34" charset="-122"/>
                <a:ea typeface="微软雅黑" panose="020B0503020204020204" pitchFamily="34" charset="-122"/>
              </a:rPr>
              <a:t>阀口形式</a:t>
            </a:r>
          </a:p>
        </p:txBody>
      </p:sp>
    </p:spTree>
    <p:extLst>
      <p:ext uri="{BB962C8B-B14F-4D97-AF65-F5344CB8AC3E}">
        <p14:creationId xmlns:p14="http://schemas.microsoft.com/office/powerpoint/2010/main" val="212227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E7BFFE5-2B27-5833-987C-CBD652515D67}"/>
              </a:ext>
            </a:extLst>
          </p:cNvPr>
          <p:cNvSpPr txBox="1"/>
          <p:nvPr/>
        </p:nvSpPr>
        <p:spPr>
          <a:xfrm>
            <a:off x="782782" y="1822750"/>
            <a:ext cx="10557163" cy="3904402"/>
          </a:xfrm>
          <a:prstGeom prst="rect">
            <a:avLst/>
          </a:prstGeom>
          <a:noFill/>
        </p:spPr>
        <p:txBody>
          <a:bodyPr wrap="square" rtlCol="0">
            <a:spAutoFit/>
          </a:bodyPr>
          <a:lstStyle/>
          <a:p>
            <a:pPr indent="576000" algn="just">
              <a:lnSpc>
                <a:spcPct val="150000"/>
              </a:lnSpc>
            </a:pPr>
            <a:r>
              <a:rPr lang="zh-CN" altLang="en-US" sz="2400" dirty="0">
                <a:latin typeface="+mn-ea"/>
              </a:rPr>
              <a:t>在第三章的例</a:t>
            </a:r>
            <a:r>
              <a:rPr lang="en-US" altLang="zh-CN" sz="2400" dirty="0">
                <a:latin typeface="+mn-ea"/>
              </a:rPr>
              <a:t>3-5</a:t>
            </a:r>
            <a:r>
              <a:rPr lang="zh-CN" altLang="en-US" sz="2400" dirty="0">
                <a:latin typeface="+mn-ea"/>
              </a:rPr>
              <a:t>中</a:t>
            </a:r>
            <a:r>
              <a:rPr lang="en-US" altLang="zh-CN" sz="2400" dirty="0">
                <a:latin typeface="+mn-ea"/>
              </a:rPr>
              <a:t>,</a:t>
            </a:r>
            <a:r>
              <a:rPr lang="zh-CN" altLang="en-US" sz="2400" dirty="0">
                <a:latin typeface="+mn-ea"/>
              </a:rPr>
              <a:t>曾讨论了液流作用在锥阀上的力</a:t>
            </a:r>
            <a:r>
              <a:rPr lang="en-US" altLang="zh-CN" sz="2400" dirty="0">
                <a:latin typeface="+mn-ea"/>
              </a:rPr>
              <a:t>,</a:t>
            </a:r>
            <a:r>
              <a:rPr lang="zh-CN" altLang="en-US" sz="2400" dirty="0">
                <a:latin typeface="+mn-ea"/>
              </a:rPr>
              <a:t>这里要讨论液流作用在滑阀上的力。</a:t>
            </a:r>
          </a:p>
          <a:p>
            <a:pPr indent="576000" algn="just">
              <a:lnSpc>
                <a:spcPct val="150000"/>
              </a:lnSpc>
            </a:pPr>
            <a:r>
              <a:rPr lang="zh-CN" altLang="en-US" sz="2400" dirty="0">
                <a:latin typeface="+mn-ea"/>
              </a:rPr>
              <a:t>很多液压阀采用滑阀式结构。滑阀在阀心移动、改变阀口的开口大小或启闭时控制了液流</a:t>
            </a:r>
            <a:r>
              <a:rPr lang="en-US" altLang="zh-CN" sz="2400" dirty="0">
                <a:latin typeface="+mn-ea"/>
              </a:rPr>
              <a:t>,</a:t>
            </a:r>
            <a:r>
              <a:rPr lang="zh-CN" altLang="en-US" sz="2400" dirty="0">
                <a:latin typeface="+mn-ea"/>
              </a:rPr>
              <a:t>同时也产生着液动力。液动力对液压阀的性能有着重大的影响。</a:t>
            </a:r>
          </a:p>
          <a:p>
            <a:pPr indent="576000" algn="just">
              <a:lnSpc>
                <a:spcPct val="150000"/>
              </a:lnSpc>
            </a:pPr>
            <a:r>
              <a:rPr lang="zh-CN" altLang="en-US" sz="2400" dirty="0">
                <a:latin typeface="+mn-ea"/>
              </a:rPr>
              <a:t>由第三章中液流的动量定律可知</a:t>
            </a:r>
            <a:r>
              <a:rPr lang="en-US" altLang="zh-CN" sz="2400" dirty="0">
                <a:latin typeface="+mn-ea"/>
              </a:rPr>
              <a:t>,</a:t>
            </a:r>
            <a:r>
              <a:rPr lang="zh-CN" altLang="en-US" sz="2400" dirty="0">
                <a:latin typeface="+mn-ea"/>
              </a:rPr>
              <a:t>作用在阀心上的液动力有</a:t>
            </a:r>
            <a:r>
              <a:rPr lang="zh-CN" altLang="en-US" sz="2400" b="1" dirty="0">
                <a:latin typeface="+mn-ea"/>
              </a:rPr>
              <a:t>稳态液动力</a:t>
            </a:r>
            <a:r>
              <a:rPr lang="zh-CN" altLang="en-US" sz="2400" dirty="0">
                <a:latin typeface="+mn-ea"/>
              </a:rPr>
              <a:t>和</a:t>
            </a:r>
            <a:r>
              <a:rPr lang="zh-CN" altLang="en-US" sz="2400" b="1" dirty="0">
                <a:latin typeface="+mn-ea"/>
              </a:rPr>
              <a:t>瞬态液动力</a:t>
            </a:r>
            <a:r>
              <a:rPr lang="zh-CN" altLang="en-US" sz="2400" dirty="0">
                <a:latin typeface="+mn-ea"/>
              </a:rPr>
              <a:t>两种。</a:t>
            </a:r>
          </a:p>
        </p:txBody>
      </p:sp>
      <p:cxnSp>
        <p:nvCxnSpPr>
          <p:cNvPr id="9" name="直接连接符 8">
            <a:extLst>
              <a:ext uri="{FF2B5EF4-FFF2-40B4-BE49-F238E27FC236}">
                <a16:creationId xmlns:a16="http://schemas.microsoft.com/office/drawing/2014/main" id="{6E76ADF1-4E9C-EE7A-0A7F-7F72B9492E64}"/>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F3A1A8E6-06BA-478E-609A-4C9C40833C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2" name="文本框 11">
            <a:extLst>
              <a:ext uri="{FF2B5EF4-FFF2-40B4-BE49-F238E27FC236}">
                <a16:creationId xmlns:a16="http://schemas.microsoft.com/office/drawing/2014/main" id="{21C1F154-EE92-5DDF-3CB5-F526AD19881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3" name="矩形 12">
            <a:extLst>
              <a:ext uri="{FF2B5EF4-FFF2-40B4-BE49-F238E27FC236}">
                <a16:creationId xmlns:a16="http://schemas.microsoft.com/office/drawing/2014/main" id="{C7805259-8838-2387-E49B-4B7647780812}"/>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E3891F4B-EB38-6390-A629-2F8CB974ED88}"/>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8.1.4.2 </a:t>
            </a:r>
            <a:r>
              <a:rPr lang="zh-CN" altLang="en-US" sz="2800" b="1" dirty="0">
                <a:solidFill>
                  <a:srgbClr val="003F88"/>
                </a:solidFill>
                <a:latin typeface="微软雅黑" panose="020B0503020204020204" pitchFamily="34" charset="-122"/>
                <a:ea typeface="微软雅黑" panose="020B0503020204020204" pitchFamily="34" charset="-122"/>
              </a:rPr>
              <a:t>液动力</a:t>
            </a:r>
          </a:p>
        </p:txBody>
      </p:sp>
    </p:spTree>
    <p:extLst>
      <p:ext uri="{BB962C8B-B14F-4D97-AF65-F5344CB8AC3E}">
        <p14:creationId xmlns:p14="http://schemas.microsoft.com/office/powerpoint/2010/main" val="59798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E7BFFE5-2B27-5833-987C-CBD652515D67}"/>
              </a:ext>
            </a:extLst>
          </p:cNvPr>
          <p:cNvSpPr txBox="1"/>
          <p:nvPr/>
        </p:nvSpPr>
        <p:spPr>
          <a:xfrm>
            <a:off x="552485" y="1686392"/>
            <a:ext cx="10557163" cy="461665"/>
          </a:xfrm>
          <a:prstGeom prst="rect">
            <a:avLst/>
          </a:prstGeom>
          <a:noFill/>
        </p:spPr>
        <p:txBody>
          <a:bodyPr wrap="square" rtlCol="0">
            <a:spAutoFit/>
          </a:bodyPr>
          <a:lstStyle/>
          <a:p>
            <a:pPr algn="just"/>
            <a:r>
              <a:rPr lang="en-US" altLang="zh-CN" sz="2400" b="1" dirty="0"/>
              <a:t>1. </a:t>
            </a:r>
            <a:r>
              <a:rPr lang="zh-CN" altLang="en-US" sz="2400" b="1" dirty="0"/>
              <a:t>稳态液动力</a:t>
            </a:r>
          </a:p>
        </p:txBody>
      </p:sp>
      <p:sp>
        <p:nvSpPr>
          <p:cNvPr id="10" name="文本框 9">
            <a:extLst>
              <a:ext uri="{FF2B5EF4-FFF2-40B4-BE49-F238E27FC236}">
                <a16:creationId xmlns:a16="http://schemas.microsoft.com/office/drawing/2014/main" id="{8121605E-EEC7-12AB-4FCF-0F4E2EBCB25F}"/>
              </a:ext>
            </a:extLst>
          </p:cNvPr>
          <p:cNvSpPr txBox="1"/>
          <p:nvPr/>
        </p:nvSpPr>
        <p:spPr>
          <a:xfrm>
            <a:off x="616653" y="2148057"/>
            <a:ext cx="6385725" cy="2807756"/>
          </a:xfrm>
          <a:prstGeom prst="rect">
            <a:avLst/>
          </a:prstGeom>
          <a:noFill/>
        </p:spPr>
        <p:txBody>
          <a:bodyPr wrap="square" rtlCol="0">
            <a:spAutoFit/>
          </a:bodyPr>
          <a:lstStyle/>
          <a:p>
            <a:pPr algn="just">
              <a:lnSpc>
                <a:spcPct val="150000"/>
              </a:lnSpc>
            </a:pPr>
            <a:r>
              <a:rPr lang="zh-CN" altLang="en-US" sz="2000" dirty="0">
                <a:latin typeface="Times New Roman" panose="02020603050405020304" pitchFamily="18" charset="0"/>
                <a:cs typeface="Times New Roman" panose="02020603050405020304" pitchFamily="18" charset="0"/>
              </a:rPr>
              <a:t>        稳态液动力是阀心移动完毕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开口固定之后</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液流流过阀口时因动量变化而作用在阀心上的力。图</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所示为油液流过阀口的两种情况。取阀心两凸肩间的容腔中的液体作为控制体</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对它列写动量方程</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得这两种情况下的轴向液动力都是 </a:t>
            </a:r>
            <a:r>
              <a:rPr lang="en-US" altLang="zh-CN" sz="2000" i="1" dirty="0" err="1">
                <a:latin typeface="Times New Roman" panose="02020603050405020304" pitchFamily="18" charset="0"/>
                <a:cs typeface="Times New Roman" panose="02020603050405020304" pitchFamily="18" charset="0"/>
              </a:rPr>
              <a:t>F</a:t>
            </a:r>
            <a:r>
              <a:rPr lang="en-US" altLang="zh-CN" sz="2000" baseline="-25000" dirty="0" err="1">
                <a:latin typeface="Times New Roman" panose="02020603050405020304" pitchFamily="18" charset="0"/>
                <a:cs typeface="Times New Roman" panose="02020603050405020304" pitchFamily="18" charset="0"/>
              </a:rPr>
              <a:t>bs</a:t>
            </a:r>
            <a:r>
              <a:rPr lang="en-US" altLang="zh-CN" sz="2000" dirty="0">
                <a:latin typeface="Times New Roman" panose="02020603050405020304" pitchFamily="18" charset="0"/>
                <a:cs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rPr>
              <a:t>ρqvcosϕ</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其方向都是促使阀口关闭的。</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ED3D3A6-12F0-B092-F993-23A3B7C209B4}"/>
                  </a:ext>
                </a:extLst>
              </p:cNvPr>
              <p:cNvSpPr txBox="1"/>
              <p:nvPr/>
            </p:nvSpPr>
            <p:spPr>
              <a:xfrm>
                <a:off x="616653" y="4939076"/>
                <a:ext cx="10557163" cy="465064"/>
              </a:xfrm>
              <a:prstGeom prst="rect">
                <a:avLst/>
              </a:prstGeom>
              <a:noFill/>
            </p:spPr>
            <p:txBody>
              <a:bodyPr wrap="square" rtlCol="0">
                <a:spAutoFit/>
              </a:bodyPr>
              <a:lstStyle/>
              <a:p>
                <a:pPr algn="just"/>
                <a:r>
                  <a:rPr lang="zh-CN" altLang="en-US" sz="2000" dirty="0"/>
                  <a:t>        </a:t>
                </a:r>
                <a:r>
                  <a:rPr lang="zh-CN" altLang="en-US" sz="2000" dirty="0">
                    <a:latin typeface="Times New Roman" panose="02020603050405020304" pitchFamily="18" charset="0"/>
                    <a:cs typeface="Times New Roman" panose="02020603050405020304" pitchFamily="18" charset="0"/>
                  </a:rPr>
                  <a:t>由式 </a:t>
                </a:r>
                <a:r>
                  <a:rPr lang="en-US" altLang="zh-CN" sz="2000" i="1" dirty="0">
                    <a:latin typeface="Times New Roman" panose="02020603050405020304" pitchFamily="18" charset="0"/>
                    <a:cs typeface="Times New Roman" panose="02020603050405020304" pitchFamily="18" charset="0"/>
                  </a:rPr>
                  <a:t>A</a:t>
                </a:r>
                <a:r>
                  <a:rPr lang="en-US" altLang="zh-CN" sz="2000" baseline="-25000" dirty="0">
                    <a:latin typeface="Times New Roman" panose="02020603050405020304" pitchFamily="18" charset="0"/>
                    <a:cs typeface="Times New Roman" panose="02020603050405020304" pitchFamily="18" charset="0"/>
                  </a:rPr>
                  <a:t>0</a:t>
                </a:r>
                <a:r>
                  <a:rPr lang="en-US" altLang="zh-CN" sz="2000" i="1" dirty="0">
                    <a:latin typeface="Times New Roman" panose="02020603050405020304" pitchFamily="18" charset="0"/>
                    <a:cs typeface="Times New Roman" panose="02020603050405020304" pitchFamily="18" charset="0"/>
                  </a:rPr>
                  <a:t>=w</a:t>
                </a:r>
                <a14:m>
                  <m:oMath xmlns:m="http://schemas.openxmlformats.org/officeDocument/2006/math">
                    <m:rad>
                      <m:radPr>
                        <m:degHide m:val="on"/>
                        <m:ctrlPr>
                          <a:rPr lang="en-US" altLang="zh-CN" sz="2000" i="1" smtClean="0">
                            <a:latin typeface="Cambria Math" panose="02040503050406030204" pitchFamily="18" charset="0"/>
                          </a:rPr>
                        </m:ctrlPr>
                      </m:radPr>
                      <m:deg/>
                      <m:e>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𝑟</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𝑣</m:t>
                            </m:r>
                          </m:sub>
                          <m:sup>
                            <m:r>
                              <a:rPr lang="en-US" altLang="zh-CN" sz="2000" b="0" i="1" smtClean="0">
                                <a:latin typeface="Cambria Math" panose="02040503050406030204" pitchFamily="18" charset="0"/>
                              </a:rPr>
                              <m:t>2</m:t>
                            </m:r>
                          </m:sup>
                        </m:sSubSup>
                      </m:e>
                    </m:rad>
                  </m:oMath>
                </a14:m>
                <a:r>
                  <a:rPr lang="zh-CN" altLang="en-US" sz="2000" dirty="0">
                    <a:latin typeface="Times New Roman" panose="02020603050405020304" pitchFamily="18" charset="0"/>
                    <a:cs typeface="Times New Roman" panose="02020603050405020304" pitchFamily="18" charset="0"/>
                  </a:rPr>
                  <a:t> 得到稳态液动力公式：</a:t>
                </a:r>
              </a:p>
            </p:txBody>
          </p:sp>
        </mc:Choice>
        <mc:Fallback xmlns="">
          <p:sp>
            <p:nvSpPr>
              <p:cNvPr id="11" name="文本框 10">
                <a:extLst>
                  <a:ext uri="{FF2B5EF4-FFF2-40B4-BE49-F238E27FC236}">
                    <a16:creationId xmlns:a16="http://schemas.microsoft.com/office/drawing/2014/main" id="{AED3D3A6-12F0-B092-F993-23A3B7C209B4}"/>
                  </a:ext>
                </a:extLst>
              </p:cNvPr>
              <p:cNvSpPr txBox="1">
                <a:spLocks noRot="1" noChangeAspect="1" noMove="1" noResize="1" noEditPoints="1" noAdjustHandles="1" noChangeArrowheads="1" noChangeShapeType="1" noTextEdit="1"/>
              </p:cNvSpPr>
              <p:nvPr/>
            </p:nvSpPr>
            <p:spPr>
              <a:xfrm>
                <a:off x="616653" y="4939076"/>
                <a:ext cx="10557163" cy="465064"/>
              </a:xfrm>
              <a:prstGeom prst="rect">
                <a:avLst/>
              </a:prstGeom>
              <a:blipFill>
                <a:blip r:embed="rId4"/>
                <a:stretch>
                  <a:fillRect b="-207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F22398D-5DBA-336B-272A-8FA5F7DF374C}"/>
                  </a:ext>
                </a:extLst>
              </p:cNvPr>
              <p:cNvSpPr txBox="1"/>
              <p:nvPr/>
            </p:nvSpPr>
            <p:spPr>
              <a:xfrm>
                <a:off x="-1380835" y="5432143"/>
                <a:ext cx="10557163" cy="466731"/>
              </a:xfrm>
              <a:prstGeom prst="rect">
                <a:avLst/>
              </a:prstGeom>
              <a:noFill/>
            </p:spPr>
            <p:txBody>
              <a:bodyPr wrap="square" rtlCol="0">
                <a:spAutoFit/>
              </a:bodyPr>
              <a:lstStyle/>
              <a:p>
                <a:pPr indent="266700" algn="just"/>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𝐹</m:t>
                          </m:r>
                        </m:e>
                        <m:sub>
                          <m:r>
                            <m:rPr>
                              <m:sty m:val="p"/>
                            </m:rPr>
                            <a:rPr lang="en-US" altLang="zh-CN" sz="2000" i="1">
                              <a:latin typeface="Cambria Math" panose="02040503050406030204" pitchFamily="18" charset="0"/>
                              <a:cs typeface="Times New Roman" panose="02020603050405020304" pitchFamily="18" charset="0"/>
                            </a:rPr>
                            <m:t>bs</m:t>
                          </m:r>
                        </m:sub>
                      </m:sSub>
                      <m:r>
                        <a:rPr lang="en-US" altLang="zh-CN" sz="2000" i="1">
                          <a:latin typeface="Cambria Math" panose="02040503050406030204" pitchFamily="18" charset="0"/>
                          <a:cs typeface="Times New Roman" panose="02020603050405020304" pitchFamily="18" charset="0"/>
                        </a:rPr>
                        <m:t>=2</m:t>
                      </m:r>
                      <m:sSub>
                        <m:sSubPr>
                          <m:ctrlPr>
                            <a:rPr lang="zh-CN"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𝐶</m:t>
                          </m:r>
                        </m:e>
                        <m:sub>
                          <m:r>
                            <m:rPr>
                              <m:sty m:val="p"/>
                            </m:rPr>
                            <a:rPr lang="en-US" altLang="zh-CN" sz="2000" i="1">
                              <a:latin typeface="Cambria Math" panose="02040503050406030204" pitchFamily="18" charset="0"/>
                              <a:cs typeface="Times New Roman" panose="02020603050405020304" pitchFamily="18" charset="0"/>
                            </a:rPr>
                            <m:t>d</m:t>
                          </m:r>
                        </m:sub>
                      </m:sSub>
                      <m:sSub>
                        <m:sSubPr>
                          <m:ctrlPr>
                            <a:rPr lang="zh-CN"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𝐶</m:t>
                          </m:r>
                        </m:e>
                        <m:sub>
                          <m:r>
                            <a:rPr lang="en-US" altLang="zh-CN" sz="2000" i="1">
                              <a:latin typeface="Cambria Math" panose="02040503050406030204" pitchFamily="18" charset="0"/>
                              <a:cs typeface="Times New Roman" panose="02020603050405020304" pitchFamily="18" charset="0"/>
                            </a:rPr>
                            <m:t>𝑣</m:t>
                          </m:r>
                        </m:sub>
                      </m:sSub>
                      <m:r>
                        <a:rPr lang="en-US" altLang="zh-CN" sz="2000" i="1">
                          <a:latin typeface="Cambria Math" panose="02040503050406030204" pitchFamily="18" charset="0"/>
                          <a:cs typeface="Times New Roman" panose="02020603050405020304" pitchFamily="18" charset="0"/>
                        </a:rPr>
                        <m:t>𝑤</m:t>
                      </m:r>
                      <m:rad>
                        <m:radPr>
                          <m:degHide m:val="on"/>
                          <m:ctrlPr>
                            <a:rPr lang="zh-CN" altLang="zh-CN" sz="2000" i="1">
                              <a:latin typeface="Cambria Math" panose="02040503050406030204" pitchFamily="18" charset="0"/>
                              <a:cs typeface="Times New Roman" panose="02020603050405020304" pitchFamily="18" charset="0"/>
                            </a:rPr>
                          </m:ctrlPr>
                        </m:radPr>
                        <m:deg/>
                        <m:e>
                          <m:sSubSup>
                            <m:sSubSupPr>
                              <m:ctrlPr>
                                <a:rPr lang="zh-CN" altLang="zh-CN" sz="2000" i="1">
                                  <a:latin typeface="Cambria Math" panose="02040503050406030204" pitchFamily="18" charset="0"/>
                                  <a:cs typeface="Times New Roman" panose="02020603050405020304" pitchFamily="18" charset="0"/>
                                </a:rPr>
                              </m:ctrlPr>
                            </m:sSubSupPr>
                            <m:e>
                              <m:r>
                                <a:rPr lang="en-US" altLang="zh-CN" sz="2000" i="1">
                                  <a:latin typeface="Cambria Math" panose="02040503050406030204" pitchFamily="18" charset="0"/>
                                  <a:cs typeface="Times New Roman" panose="02020603050405020304" pitchFamily="18" charset="0"/>
                                </a:rPr>
                                <m:t>𝑐</m:t>
                              </m:r>
                            </m:e>
                            <m:sub>
                              <m:r>
                                <m:rPr>
                                  <m:sty m:val="p"/>
                                </m:rPr>
                                <a:rPr lang="en-US" altLang="zh-CN" sz="2000" i="1">
                                  <a:latin typeface="Cambria Math" panose="02040503050406030204" pitchFamily="18" charset="0"/>
                                  <a:cs typeface="Times New Roman" panose="02020603050405020304" pitchFamily="18" charset="0"/>
                                </a:rPr>
                                <m:t>r</m:t>
                              </m:r>
                            </m:sub>
                            <m:sup>
                              <m:r>
                                <a:rPr lang="en-US" altLang="zh-CN" sz="2000" i="1">
                                  <a:latin typeface="Cambria Math" panose="02040503050406030204" pitchFamily="18" charset="0"/>
                                  <a:cs typeface="Times New Roman" panose="02020603050405020304" pitchFamily="18" charset="0"/>
                                </a:rPr>
                                <m:t>2</m:t>
                              </m:r>
                            </m:sup>
                          </m:sSubSup>
                          <m:r>
                            <a:rPr lang="en-US" altLang="zh-CN" sz="2000" i="1">
                              <a:latin typeface="Cambria Math" panose="02040503050406030204" pitchFamily="18" charset="0"/>
                              <a:cs typeface="Times New Roman" panose="02020603050405020304" pitchFamily="18" charset="0"/>
                            </a:rPr>
                            <m:t>+</m:t>
                          </m:r>
                          <m:sSubSup>
                            <m:sSubSupPr>
                              <m:ctrlPr>
                                <a:rPr lang="zh-CN" altLang="zh-CN" sz="2000" i="1">
                                  <a:latin typeface="Cambria Math" panose="02040503050406030204" pitchFamily="18" charset="0"/>
                                  <a:cs typeface="Times New Roman" panose="02020603050405020304" pitchFamily="18" charset="0"/>
                                </a:rPr>
                              </m:ctrlPr>
                            </m:sSubSupPr>
                            <m:e>
                              <m:r>
                                <a:rPr lang="en-US" altLang="zh-CN" sz="2000" i="1">
                                  <a:latin typeface="Cambria Math" panose="02040503050406030204" pitchFamily="18" charset="0"/>
                                  <a:cs typeface="Times New Roman" panose="02020603050405020304" pitchFamily="18" charset="0"/>
                                </a:rPr>
                                <m:t>𝑥</m:t>
                              </m:r>
                            </m:e>
                            <m:sub>
                              <m:r>
                                <m:rPr>
                                  <m:sty m:val="p"/>
                                </m:rPr>
                                <a:rPr lang="en-US" altLang="zh-CN" sz="2000" i="1">
                                  <a:latin typeface="Cambria Math" panose="02040503050406030204" pitchFamily="18" charset="0"/>
                                  <a:cs typeface="Times New Roman" panose="02020603050405020304" pitchFamily="18" charset="0"/>
                                </a:rPr>
                                <m:t>v</m:t>
                              </m:r>
                            </m:sub>
                            <m:sup>
                              <m:r>
                                <a:rPr lang="en-US" altLang="zh-CN" sz="2000" i="1">
                                  <a:latin typeface="Cambria Math" panose="02040503050406030204" pitchFamily="18" charset="0"/>
                                  <a:cs typeface="Times New Roman" panose="02020603050405020304" pitchFamily="18" charset="0"/>
                                </a:rPr>
                                <m:t>2</m:t>
                              </m:r>
                            </m:sup>
                          </m:sSubSup>
                        </m:e>
                      </m:rad>
                      <m:r>
                        <m:rPr>
                          <m:sty m:val="p"/>
                        </m:rPr>
                        <a:rPr lang="en-US" altLang="zh-CN" sz="2000" i="1">
                          <a:latin typeface="Cambria Math" panose="02040503050406030204" pitchFamily="18" charset="0"/>
                          <a:cs typeface="Times New Roman" panose="02020603050405020304" pitchFamily="18" charset="0"/>
                        </a:rPr>
                        <m:t>Δ</m:t>
                      </m:r>
                      <m:r>
                        <a:rPr lang="en-US" altLang="zh-CN" sz="2000" i="1">
                          <a:latin typeface="Cambria Math" panose="02040503050406030204" pitchFamily="18" charset="0"/>
                          <a:cs typeface="Times New Roman" panose="02020603050405020304" pitchFamily="18" charset="0"/>
                        </a:rPr>
                        <m:t>𝑝𝑐𝑜𝑠</m:t>
                      </m:r>
                      <m:r>
                        <a:rPr lang="en-US" altLang="zh-CN" sz="2000" i="1">
                          <a:latin typeface="Cambria Math" panose="02040503050406030204" pitchFamily="18" charset="0"/>
                          <a:cs typeface="Times New Roman" panose="02020603050405020304" pitchFamily="18" charset="0"/>
                        </a:rPr>
                        <m:t>𝛷</m:t>
                      </m:r>
                    </m:oMath>
                  </m:oMathPara>
                </a14:m>
                <a:endParaRPr lang="zh-CN" altLang="zh-CN" sz="2000" i="1" dirty="0">
                  <a:latin typeface="Times New Roman" panose="02020603050405020304" pitchFamily="18" charset="0"/>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5F22398D-5DBA-336B-272A-8FA5F7DF374C}"/>
                  </a:ext>
                </a:extLst>
              </p:cNvPr>
              <p:cNvSpPr txBox="1">
                <a:spLocks noRot="1" noChangeAspect="1" noMove="1" noResize="1" noEditPoints="1" noAdjustHandles="1" noChangeArrowheads="1" noChangeShapeType="1" noTextEdit="1"/>
              </p:cNvSpPr>
              <p:nvPr/>
            </p:nvSpPr>
            <p:spPr>
              <a:xfrm>
                <a:off x="-1380835" y="5432143"/>
                <a:ext cx="10557163" cy="466731"/>
              </a:xfrm>
              <a:prstGeom prst="rect">
                <a:avLst/>
              </a:prstGeom>
              <a:blipFill>
                <a:blip r:embed="rId5"/>
                <a:stretch>
                  <a:fillRect/>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CDA4DB21-12AA-B37F-9A0B-B4861069D704}"/>
              </a:ext>
            </a:extLst>
          </p:cNvPr>
          <p:cNvPicPr>
            <a:picLocks noChangeAspect="1"/>
          </p:cNvPicPr>
          <p:nvPr/>
        </p:nvPicPr>
        <p:blipFill>
          <a:blip r:embed="rId6"/>
          <a:srcRect b="12708"/>
          <a:stretch/>
        </p:blipFill>
        <p:spPr>
          <a:xfrm>
            <a:off x="7521973" y="1561217"/>
            <a:ext cx="3485666" cy="4107144"/>
          </a:xfrm>
          <a:prstGeom prst="rect">
            <a:avLst/>
          </a:prstGeom>
        </p:spPr>
      </p:pic>
      <p:sp>
        <p:nvSpPr>
          <p:cNvPr id="14" name="文本框 13">
            <a:extLst>
              <a:ext uri="{FF2B5EF4-FFF2-40B4-BE49-F238E27FC236}">
                <a16:creationId xmlns:a16="http://schemas.microsoft.com/office/drawing/2014/main" id="{36CC0B3D-5B31-39B8-88FC-14F8460ABB2A}"/>
              </a:ext>
            </a:extLst>
          </p:cNvPr>
          <p:cNvSpPr txBox="1"/>
          <p:nvPr/>
        </p:nvSpPr>
        <p:spPr>
          <a:xfrm>
            <a:off x="7449784" y="5623554"/>
            <a:ext cx="4051599" cy="874214"/>
          </a:xfrm>
          <a:prstGeom prst="rect">
            <a:avLst/>
          </a:prstGeom>
          <a:noFill/>
        </p:spPr>
        <p:txBody>
          <a:bodyPr wrap="square" rtlCol="0">
            <a:spAutoFit/>
          </a:bodyPr>
          <a:lstStyle/>
          <a:p>
            <a:pPr algn="ctr">
              <a:lnSpc>
                <a:spcPct val="150000"/>
              </a:lnSpc>
            </a:pP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瞬态液动力</a:t>
            </a:r>
            <a:endParaRPr lang="en-US" altLang="zh-CN" dirty="0">
              <a:latin typeface="Times New Roman" panose="02020603050405020304" pitchFamily="18" charset="0"/>
              <a:cs typeface="Times New Roman" panose="02020603050405020304" pitchFamily="18" charset="0"/>
            </a:endParaRPr>
          </a:p>
          <a:p>
            <a:pPr algn="ctr">
              <a:lnSpc>
                <a:spcPct val="150000"/>
              </a:lnSpc>
            </a:pP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）液流流出阀口</a:t>
            </a:r>
            <a:r>
              <a:rPr lang="en-US" altLang="zh-CN" dirty="0">
                <a:latin typeface="Times New Roman" panose="02020603050405020304" pitchFamily="18" charset="0"/>
                <a:cs typeface="Times New Roman" panose="02020603050405020304" pitchFamily="18" charset="0"/>
              </a:rPr>
              <a:t>    b</a:t>
            </a:r>
            <a:r>
              <a:rPr lang="zh-CN" altLang="en-US" dirty="0">
                <a:latin typeface="Times New Roman" panose="02020603050405020304" pitchFamily="18" charset="0"/>
                <a:cs typeface="Times New Roman" panose="02020603050405020304" pitchFamily="18" charset="0"/>
              </a:rPr>
              <a:t>）液流流入阀口</a:t>
            </a:r>
          </a:p>
        </p:txBody>
      </p:sp>
      <p:cxnSp>
        <p:nvCxnSpPr>
          <p:cNvPr id="9" name="直接连接符 8">
            <a:extLst>
              <a:ext uri="{FF2B5EF4-FFF2-40B4-BE49-F238E27FC236}">
                <a16:creationId xmlns:a16="http://schemas.microsoft.com/office/drawing/2014/main" id="{FE1A4A89-3B83-7677-B9C0-E27EAD66E574}"/>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B6FD1DF8-2390-4A32-126E-42DD1943529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7" name="文本框 16">
            <a:extLst>
              <a:ext uri="{FF2B5EF4-FFF2-40B4-BE49-F238E27FC236}">
                <a16:creationId xmlns:a16="http://schemas.microsoft.com/office/drawing/2014/main" id="{44834623-02D2-A828-3857-13B8DAEA12E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8" name="矩形 17">
            <a:extLst>
              <a:ext uri="{FF2B5EF4-FFF2-40B4-BE49-F238E27FC236}">
                <a16:creationId xmlns:a16="http://schemas.microsoft.com/office/drawing/2014/main" id="{12DDE527-E0B9-9527-FE50-A8D26ABCA74A}"/>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81B0100-D279-A360-0ED1-3338412EFCAA}"/>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8.1.4.2 </a:t>
            </a:r>
            <a:r>
              <a:rPr lang="zh-CN" altLang="en-US" sz="2800" b="1" dirty="0">
                <a:solidFill>
                  <a:srgbClr val="003F88"/>
                </a:solidFill>
                <a:latin typeface="微软雅黑" panose="020B0503020204020204" pitchFamily="34" charset="-122"/>
                <a:ea typeface="微软雅黑" panose="020B0503020204020204" pitchFamily="34" charset="-122"/>
              </a:rPr>
              <a:t>液动力</a:t>
            </a:r>
          </a:p>
        </p:txBody>
      </p:sp>
    </p:spTree>
    <p:extLst>
      <p:ext uri="{BB962C8B-B14F-4D97-AF65-F5344CB8AC3E}">
        <p14:creationId xmlns:p14="http://schemas.microsoft.com/office/powerpoint/2010/main" val="2588962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E7BFFE5-2B27-5833-987C-CBD652515D67}"/>
              </a:ext>
            </a:extLst>
          </p:cNvPr>
          <p:cNvSpPr txBox="1"/>
          <p:nvPr/>
        </p:nvSpPr>
        <p:spPr>
          <a:xfrm>
            <a:off x="552485" y="1686392"/>
            <a:ext cx="10557163" cy="461665"/>
          </a:xfrm>
          <a:prstGeom prst="rect">
            <a:avLst/>
          </a:prstGeom>
          <a:noFill/>
        </p:spPr>
        <p:txBody>
          <a:bodyPr wrap="square" rtlCol="0">
            <a:spAutoFit/>
          </a:bodyPr>
          <a:lstStyle/>
          <a:p>
            <a:pPr algn="just"/>
            <a:r>
              <a:rPr lang="en-US" altLang="zh-CN" sz="2400" b="1" dirty="0"/>
              <a:t>1. </a:t>
            </a:r>
            <a:r>
              <a:rPr lang="zh-CN" altLang="en-US" sz="2400" b="1" dirty="0"/>
              <a:t>稳态液动力</a:t>
            </a:r>
          </a:p>
        </p:txBody>
      </p:sp>
      <p:sp>
        <p:nvSpPr>
          <p:cNvPr id="10" name="文本框 9">
            <a:extLst>
              <a:ext uri="{FF2B5EF4-FFF2-40B4-BE49-F238E27FC236}">
                <a16:creationId xmlns:a16="http://schemas.microsoft.com/office/drawing/2014/main" id="{8121605E-EEC7-12AB-4FCF-0F4E2EBCB25F}"/>
              </a:ext>
            </a:extLst>
          </p:cNvPr>
          <p:cNvSpPr txBox="1"/>
          <p:nvPr/>
        </p:nvSpPr>
        <p:spPr>
          <a:xfrm>
            <a:off x="616654" y="2148057"/>
            <a:ext cx="5211964" cy="2373663"/>
          </a:xfrm>
          <a:prstGeom prst="rect">
            <a:avLst/>
          </a:prstGeom>
          <a:noFill/>
        </p:spPr>
        <p:txBody>
          <a:bodyPr wrap="square" rtlCol="0">
            <a:spAutoFit/>
          </a:bodyPr>
          <a:lstStyle/>
          <a:p>
            <a:pPr algn="just">
              <a:lnSpc>
                <a:spcPct val="150000"/>
              </a:lnSpc>
            </a:pPr>
            <a:r>
              <a:rPr lang="zh-CN" altLang="en-US" sz="2400" dirty="0">
                <a:latin typeface="Times New Roman" panose="02020603050405020304" pitchFamily="18" charset="0"/>
                <a:cs typeface="Times New Roman" panose="02020603050405020304" pitchFamily="18" charset="0"/>
              </a:rPr>
              <a:t>稳态液动力对滑阀性能的影响：</a:t>
            </a:r>
            <a:endParaRPr lang="en-US" altLang="zh-CN" sz="2400" dirty="0">
              <a:latin typeface="Times New Roman" panose="02020603050405020304" pitchFamily="18" charset="0"/>
              <a:cs typeface="Times New Roman" panose="02020603050405020304" pitchFamily="18" charset="0"/>
            </a:endParaRPr>
          </a:p>
          <a:p>
            <a:pPr algn="just">
              <a:lnSpc>
                <a:spcPct val="150000"/>
              </a:lnSpc>
            </a:pPr>
            <a:r>
              <a:rPr lang="en-US" altLang="zh-CN" sz="2000" dirty="0">
                <a:latin typeface="Times New Roman" panose="02020603050405020304" pitchFamily="18" charset="0"/>
                <a:cs typeface="Times New Roman" panose="02020603050405020304" pitchFamily="18" charset="0"/>
              </a:rPr>
              <a:t>        1</a:t>
            </a:r>
            <a:r>
              <a:rPr lang="zh-CN" altLang="en-US" sz="2000" dirty="0">
                <a:latin typeface="Times New Roman" panose="02020603050405020304" pitchFamily="18" charset="0"/>
                <a:cs typeface="Times New Roman" panose="02020603050405020304" pitchFamily="18" charset="0"/>
              </a:rPr>
              <a:t>）加大了操纵滑阀所需的力。</a:t>
            </a:r>
            <a:endParaRPr lang="en-US" altLang="zh-CN" sz="2000" dirty="0">
              <a:latin typeface="Times New Roman" panose="02020603050405020304" pitchFamily="18" charset="0"/>
              <a:cs typeface="Times New Roman" panose="02020603050405020304" pitchFamily="18" charset="0"/>
            </a:endParaRPr>
          </a:p>
          <a:p>
            <a:pPr algn="just">
              <a:lnSpc>
                <a:spcPct val="150000"/>
              </a:lnSpc>
            </a:pPr>
            <a:r>
              <a:rPr lang="en-US" altLang="zh-CN" sz="2000" dirty="0">
                <a:latin typeface="Times New Roman" panose="02020603050405020304" pitchFamily="18" charset="0"/>
                <a:cs typeface="Times New Roman" panose="02020603050405020304" pitchFamily="18" charset="0"/>
              </a:rPr>
              <a:t>        2</a:t>
            </a:r>
            <a:r>
              <a:rPr lang="zh-CN" altLang="en-US" sz="2000" dirty="0">
                <a:latin typeface="Times New Roman" panose="02020603050405020304" pitchFamily="18" charset="0"/>
                <a:cs typeface="Times New Roman" panose="02020603050405020304" pitchFamily="18" charset="0"/>
              </a:rPr>
              <a:t>）使滑阀的工作趋于稳定。</a:t>
            </a:r>
            <a:endParaRPr lang="en-US" altLang="zh-CN" sz="2000" dirty="0">
              <a:latin typeface="Times New Roman" panose="02020603050405020304" pitchFamily="18" charset="0"/>
              <a:cs typeface="Times New Roman" panose="02020603050405020304" pitchFamily="18" charset="0"/>
            </a:endParaRPr>
          </a:p>
          <a:p>
            <a:pPr algn="just">
              <a:lnSpc>
                <a:spcPct val="125000"/>
              </a:lnSpc>
            </a:pPr>
            <a:endParaRPr lang="en-US" altLang="zh-CN" sz="2000" dirty="0">
              <a:latin typeface="Times New Roman" panose="02020603050405020304" pitchFamily="18" charset="0"/>
              <a:cs typeface="Times New Roman" panose="02020603050405020304" pitchFamily="18" charset="0"/>
            </a:endParaRPr>
          </a:p>
          <a:p>
            <a:pPr algn="just">
              <a:lnSpc>
                <a:spcPct val="125000"/>
              </a:lnSpc>
            </a:pPr>
            <a:r>
              <a:rPr lang="zh-CN" altLang="en-US" sz="2400" dirty="0">
                <a:latin typeface="Times New Roman" panose="02020603050405020304" pitchFamily="18" charset="0"/>
                <a:cs typeface="Times New Roman" panose="02020603050405020304" pitchFamily="18" charset="0"/>
              </a:rPr>
              <a:t>降低稳态液动力的措施：</a:t>
            </a:r>
          </a:p>
        </p:txBody>
      </p:sp>
      <p:sp>
        <p:nvSpPr>
          <p:cNvPr id="11" name="文本框 10">
            <a:extLst>
              <a:ext uri="{FF2B5EF4-FFF2-40B4-BE49-F238E27FC236}">
                <a16:creationId xmlns:a16="http://schemas.microsoft.com/office/drawing/2014/main" id="{AED3D3A6-12F0-B092-F993-23A3B7C209B4}"/>
              </a:ext>
            </a:extLst>
          </p:cNvPr>
          <p:cNvSpPr txBox="1"/>
          <p:nvPr/>
        </p:nvSpPr>
        <p:spPr>
          <a:xfrm>
            <a:off x="616654" y="4429387"/>
            <a:ext cx="11022860" cy="1884427"/>
          </a:xfrm>
          <a:prstGeom prst="rect">
            <a:avLst/>
          </a:prstGeom>
          <a:noFill/>
        </p:spPr>
        <p:txBody>
          <a:bodyPr wrap="square" rtlCol="0">
            <a:spAutoFit/>
          </a:bodyPr>
          <a:lstStyle/>
          <a:p>
            <a:pPr algn="just">
              <a:lnSpc>
                <a:spcPct val="150000"/>
              </a:lnSpc>
            </a:pPr>
            <a:r>
              <a:rPr lang="en-US" altLang="zh-CN" sz="2000" dirty="0">
                <a:latin typeface="Times New Roman" panose="02020603050405020304" pitchFamily="18" charset="0"/>
                <a:cs typeface="Times New Roman" panose="02020603050405020304" pitchFamily="18" charset="0"/>
              </a:rPr>
              <a:t>        1</a:t>
            </a:r>
            <a:r>
              <a:rPr lang="zh-CN" altLang="en-US" sz="2000" dirty="0">
                <a:latin typeface="Times New Roman" panose="02020603050405020304" pitchFamily="18" charset="0"/>
                <a:cs typeface="Times New Roman" panose="02020603050405020304" pitchFamily="18" charset="0"/>
              </a:rPr>
              <a:t>）采用特种形状的阀腔（图</a:t>
            </a:r>
            <a:r>
              <a:rPr lang="en-US" altLang="zh-CN" sz="2000" dirty="0">
                <a:latin typeface="Times New Roman" panose="02020603050405020304" pitchFamily="18" charset="0"/>
                <a:cs typeface="Times New Roman" panose="02020603050405020304" pitchFamily="18" charset="0"/>
              </a:rPr>
              <a:t>2a</a:t>
            </a:r>
            <a:r>
              <a:rPr lang="zh-CN" altLang="en-US" sz="2000" dirty="0">
                <a:latin typeface="Times New Roman" panose="02020603050405020304" pitchFamily="18" charset="0"/>
                <a:cs typeface="Times New Roman" panose="02020603050405020304" pitchFamily="18" charset="0"/>
              </a:rPr>
              <a:t>所示）。</a:t>
            </a:r>
            <a:endParaRPr lang="en-US" altLang="zh-CN" sz="2000" dirty="0">
              <a:latin typeface="Times New Roman" panose="02020603050405020304" pitchFamily="18" charset="0"/>
              <a:cs typeface="Times New Roman" panose="02020603050405020304" pitchFamily="18" charset="0"/>
            </a:endParaRPr>
          </a:p>
          <a:p>
            <a:pPr algn="just">
              <a:lnSpc>
                <a:spcPct val="150000"/>
              </a:lnSpc>
            </a:pPr>
            <a:r>
              <a:rPr lang="en-US" altLang="zh-CN" sz="2000" dirty="0">
                <a:latin typeface="Times New Roman" panose="02020603050405020304" pitchFamily="18" charset="0"/>
                <a:cs typeface="Times New Roman" panose="02020603050405020304" pitchFamily="18" charset="0"/>
              </a:rPr>
              <a:t>        2</a:t>
            </a:r>
            <a:r>
              <a:rPr lang="zh-CN" altLang="en-US" sz="2000" dirty="0">
                <a:latin typeface="Times New Roman" panose="02020603050405020304" pitchFamily="18" charset="0"/>
                <a:cs typeface="Times New Roman" panose="02020603050405020304" pitchFamily="18" charset="0"/>
              </a:rPr>
              <a:t>）在阀套上开斜孔（图</a:t>
            </a:r>
            <a:r>
              <a:rPr lang="en-US" altLang="zh-CN" sz="2000" dirty="0">
                <a:latin typeface="Times New Roman" panose="02020603050405020304" pitchFamily="18" charset="0"/>
                <a:cs typeface="Times New Roman" panose="02020603050405020304" pitchFamily="18" charset="0"/>
              </a:rPr>
              <a:t>2b</a:t>
            </a:r>
            <a:r>
              <a:rPr lang="zh-CN" altLang="en-US" sz="2000" dirty="0">
                <a:latin typeface="Times New Roman" panose="02020603050405020304" pitchFamily="18" charset="0"/>
                <a:cs typeface="Times New Roman" panose="02020603050405020304" pitchFamily="18" charset="0"/>
              </a:rPr>
              <a:t>所示）</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使流出和流入阀腔液体的动量互相抵消</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减小轴向液动力。</a:t>
            </a:r>
            <a:endParaRPr lang="en-US" altLang="zh-CN" sz="2000" dirty="0">
              <a:latin typeface="Times New Roman" panose="02020603050405020304" pitchFamily="18" charset="0"/>
              <a:cs typeface="Times New Roman" panose="02020603050405020304" pitchFamily="18" charset="0"/>
            </a:endParaRPr>
          </a:p>
          <a:p>
            <a:pPr algn="just">
              <a:lnSpc>
                <a:spcPct val="150000"/>
              </a:lnSpc>
            </a:pPr>
            <a:r>
              <a:rPr lang="en-US" altLang="zh-CN" sz="2000" dirty="0">
                <a:latin typeface="Times New Roman" panose="02020603050405020304" pitchFamily="18" charset="0"/>
                <a:cs typeface="Times New Roman" panose="02020603050405020304" pitchFamily="18" charset="0"/>
              </a:rPr>
              <a:t>        3</a:t>
            </a:r>
            <a:r>
              <a:rPr lang="zh-CN" altLang="en-US" sz="2000" dirty="0">
                <a:latin typeface="Times New Roman" panose="02020603050405020304" pitchFamily="18" charset="0"/>
                <a:cs typeface="Times New Roman" panose="02020603050405020304" pitchFamily="18" charset="0"/>
              </a:rPr>
              <a:t>）改变阀心的颈部尺寸（图</a:t>
            </a:r>
            <a:r>
              <a:rPr lang="en-US" altLang="zh-CN" sz="2000" dirty="0">
                <a:latin typeface="Times New Roman" panose="02020603050405020304" pitchFamily="18" charset="0"/>
                <a:cs typeface="Times New Roman" panose="02020603050405020304" pitchFamily="18" charset="0"/>
              </a:rPr>
              <a:t>2c</a:t>
            </a:r>
            <a:r>
              <a:rPr lang="zh-CN" altLang="en-US" sz="2000" dirty="0">
                <a:latin typeface="Times New Roman" panose="02020603050405020304" pitchFamily="18" charset="0"/>
                <a:cs typeface="Times New Roman" panose="02020603050405020304" pitchFamily="18" charset="0"/>
              </a:rPr>
              <a:t>所示）</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使液流流过阀心时有较大的压降</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以便在阀心两端面上产生不平衡液压力</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抵消轴向液动力等。</a:t>
            </a:r>
          </a:p>
        </p:txBody>
      </p:sp>
      <p:sp>
        <p:nvSpPr>
          <p:cNvPr id="14" name="文本框 13">
            <a:extLst>
              <a:ext uri="{FF2B5EF4-FFF2-40B4-BE49-F238E27FC236}">
                <a16:creationId xmlns:a16="http://schemas.microsoft.com/office/drawing/2014/main" id="{36CC0B3D-5B31-39B8-88FC-14F8460ABB2A}"/>
              </a:ext>
            </a:extLst>
          </p:cNvPr>
          <p:cNvSpPr txBox="1"/>
          <p:nvPr/>
        </p:nvSpPr>
        <p:spPr>
          <a:xfrm>
            <a:off x="6049749" y="3451990"/>
            <a:ext cx="5525597" cy="874214"/>
          </a:xfrm>
          <a:prstGeom prst="rect">
            <a:avLst/>
          </a:prstGeom>
          <a:noFill/>
        </p:spPr>
        <p:txBody>
          <a:bodyPr wrap="square" rtlCol="0">
            <a:spAutoFit/>
          </a:bodyPr>
          <a:lstStyle/>
          <a:p>
            <a:pPr algn="ctr">
              <a:lnSpc>
                <a:spcPct val="150000"/>
              </a:lnSpc>
            </a:pP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稳态液动力的补偿方法</a:t>
            </a:r>
            <a:endParaRPr lang="en-US" altLang="zh-CN" dirty="0">
              <a:latin typeface="Times New Roman" panose="02020603050405020304" pitchFamily="18" charset="0"/>
              <a:cs typeface="Times New Roman" panose="02020603050405020304" pitchFamily="18" charset="0"/>
            </a:endParaRPr>
          </a:p>
          <a:p>
            <a:pPr algn="ctr">
              <a:lnSpc>
                <a:spcPct val="150000"/>
              </a:lnSpc>
            </a:pP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）特种形状阀腔   </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）阀套开斜孔   </a:t>
            </a: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）液流产生压降</a:t>
            </a:r>
          </a:p>
        </p:txBody>
      </p:sp>
      <p:pic>
        <p:nvPicPr>
          <p:cNvPr id="15" name="图片 14">
            <a:extLst>
              <a:ext uri="{FF2B5EF4-FFF2-40B4-BE49-F238E27FC236}">
                <a16:creationId xmlns:a16="http://schemas.microsoft.com/office/drawing/2014/main" id="{C07445A0-CE9D-256E-98C3-8EF50970D323}"/>
              </a:ext>
            </a:extLst>
          </p:cNvPr>
          <p:cNvPicPr>
            <a:picLocks noChangeAspect="1"/>
          </p:cNvPicPr>
          <p:nvPr/>
        </p:nvPicPr>
        <p:blipFill>
          <a:blip r:embed="rId3"/>
          <a:srcRect t="449" b="25717"/>
          <a:stretch/>
        </p:blipFill>
        <p:spPr>
          <a:xfrm>
            <a:off x="5969118" y="1965623"/>
            <a:ext cx="5785423" cy="1486367"/>
          </a:xfrm>
          <a:prstGeom prst="rect">
            <a:avLst/>
          </a:prstGeom>
        </p:spPr>
      </p:pic>
      <p:sp>
        <p:nvSpPr>
          <p:cNvPr id="16" name="矩形 15">
            <a:extLst>
              <a:ext uri="{FF2B5EF4-FFF2-40B4-BE49-F238E27FC236}">
                <a16:creationId xmlns:a16="http://schemas.microsoft.com/office/drawing/2014/main" id="{06CBA48D-7B95-C69E-33BF-6611FB460D1A}"/>
              </a:ext>
            </a:extLst>
          </p:cNvPr>
          <p:cNvSpPr/>
          <p:nvPr/>
        </p:nvSpPr>
        <p:spPr>
          <a:xfrm>
            <a:off x="5969117" y="2021455"/>
            <a:ext cx="5670397" cy="2373663"/>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3D1DEC7C-0549-8364-E4C0-26DFCEA59637}"/>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E91E4179-94F7-DBE9-7075-24FE54342E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7" name="文本框 16">
            <a:extLst>
              <a:ext uri="{FF2B5EF4-FFF2-40B4-BE49-F238E27FC236}">
                <a16:creationId xmlns:a16="http://schemas.microsoft.com/office/drawing/2014/main" id="{53A15177-E8B8-86EB-3785-4D994A19D77B}"/>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8" name="矩形 17">
            <a:extLst>
              <a:ext uri="{FF2B5EF4-FFF2-40B4-BE49-F238E27FC236}">
                <a16:creationId xmlns:a16="http://schemas.microsoft.com/office/drawing/2014/main" id="{1670F05D-54D1-B79E-2373-FD07AE24248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72C11D69-95CB-5461-8B9B-5DB6F29EB497}"/>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8.1.4.2 </a:t>
            </a:r>
            <a:r>
              <a:rPr lang="zh-CN" altLang="en-US" sz="2800" b="1" dirty="0">
                <a:solidFill>
                  <a:srgbClr val="003F88"/>
                </a:solidFill>
                <a:latin typeface="微软雅黑" panose="020B0503020204020204" pitchFamily="34" charset="-122"/>
                <a:ea typeface="微软雅黑" panose="020B0503020204020204" pitchFamily="34" charset="-122"/>
              </a:rPr>
              <a:t>液动力</a:t>
            </a:r>
          </a:p>
        </p:txBody>
      </p:sp>
    </p:spTree>
    <p:extLst>
      <p:ext uri="{BB962C8B-B14F-4D97-AF65-F5344CB8AC3E}">
        <p14:creationId xmlns:p14="http://schemas.microsoft.com/office/powerpoint/2010/main" val="29602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B88EFE0A-C52D-6BCA-6422-E4744930925C}"/>
              </a:ext>
            </a:extLst>
          </p:cNvPr>
          <p:cNvPicPr>
            <a:picLocks noChangeAspect="1"/>
          </p:cNvPicPr>
          <p:nvPr/>
        </p:nvPicPr>
        <p:blipFill>
          <a:blip r:embed="rId3"/>
          <a:srcRect b="21920"/>
          <a:stretch/>
        </p:blipFill>
        <p:spPr>
          <a:xfrm>
            <a:off x="6111455" y="2014302"/>
            <a:ext cx="5479346" cy="2261242"/>
          </a:xfrm>
          <a:prstGeom prst="rect">
            <a:avLst/>
          </a:prstGeom>
        </p:spPr>
      </p:pic>
      <p:sp>
        <p:nvSpPr>
          <p:cNvPr id="7" name="文本框 6">
            <a:extLst>
              <a:ext uri="{FF2B5EF4-FFF2-40B4-BE49-F238E27FC236}">
                <a16:creationId xmlns:a16="http://schemas.microsoft.com/office/drawing/2014/main" id="{DE7BFFE5-2B27-5833-987C-CBD652515D67}"/>
              </a:ext>
            </a:extLst>
          </p:cNvPr>
          <p:cNvSpPr txBox="1"/>
          <p:nvPr/>
        </p:nvSpPr>
        <p:spPr>
          <a:xfrm>
            <a:off x="632110" y="1466611"/>
            <a:ext cx="10557163" cy="461665"/>
          </a:xfrm>
          <a:prstGeom prst="rect">
            <a:avLst/>
          </a:prstGeom>
          <a:noFill/>
        </p:spPr>
        <p:txBody>
          <a:bodyPr wrap="square" rtlCol="0">
            <a:spAutoFit/>
          </a:bodyPr>
          <a:lstStyle/>
          <a:p>
            <a:pPr algn="just"/>
            <a:r>
              <a:rPr lang="en-US" altLang="zh-CN" sz="2400" b="1" dirty="0"/>
              <a:t>2. </a:t>
            </a:r>
            <a:r>
              <a:rPr lang="zh-CN" altLang="en-US" sz="2400" b="1" dirty="0"/>
              <a:t>瞬态液动力</a:t>
            </a:r>
          </a:p>
        </p:txBody>
      </p:sp>
      <p:sp>
        <p:nvSpPr>
          <p:cNvPr id="10" name="文本框 9">
            <a:extLst>
              <a:ext uri="{FF2B5EF4-FFF2-40B4-BE49-F238E27FC236}">
                <a16:creationId xmlns:a16="http://schemas.microsoft.com/office/drawing/2014/main" id="{8121605E-EEC7-12AB-4FCF-0F4E2EBCB25F}"/>
              </a:ext>
            </a:extLst>
          </p:cNvPr>
          <p:cNvSpPr txBox="1"/>
          <p:nvPr/>
        </p:nvSpPr>
        <p:spPr>
          <a:xfrm>
            <a:off x="632110" y="1784286"/>
            <a:ext cx="5385826" cy="3210944"/>
          </a:xfrm>
          <a:prstGeom prst="rect">
            <a:avLst/>
          </a:prstGeom>
          <a:noFill/>
        </p:spPr>
        <p:txBody>
          <a:bodyPr wrap="square" rtlCol="0">
            <a:spAutoFit/>
          </a:bodyPr>
          <a:lstStyle/>
          <a:p>
            <a:pPr algn="just">
              <a:lnSpc>
                <a:spcPct val="150000"/>
              </a:lnSpc>
            </a:pPr>
            <a:r>
              <a:rPr lang="zh-CN" altLang="en-US" sz="2000" dirty="0">
                <a:latin typeface="Times New Roman" panose="02020603050405020304" pitchFamily="18" charset="0"/>
                <a:cs typeface="Times New Roman" panose="02020603050405020304" pitchFamily="18" charset="0"/>
              </a:rPr>
              <a:t>        瞬态液动力是滑阀在移动过程中阀腔中液流因加速或减速而作用在阀心上的力。这个力只与阀心移动速度有关</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即与阀口开度的变化率有关</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与阀口开度本身无关。</a:t>
            </a:r>
          </a:p>
          <a:p>
            <a:pPr algn="just">
              <a:lnSpc>
                <a:spcPct val="150000"/>
              </a:lnSpc>
            </a:pPr>
            <a:r>
              <a:rPr lang="zh-CN" altLang="en-US" sz="2000" dirty="0">
                <a:latin typeface="Times New Roman" panose="02020603050405020304" pitchFamily="18" charset="0"/>
                <a:cs typeface="Times New Roman" panose="02020603050405020304" pitchFamily="18" charset="0"/>
              </a:rPr>
              <a:t>        图</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为阀心移动时出现瞬态液动力的情况。有瞬态液动力：</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36CC0B3D-5B31-39B8-88FC-14F8460ABB2A}"/>
              </a:ext>
            </a:extLst>
          </p:cNvPr>
          <p:cNvSpPr txBox="1"/>
          <p:nvPr/>
        </p:nvSpPr>
        <p:spPr>
          <a:xfrm>
            <a:off x="6157647" y="4152427"/>
            <a:ext cx="5402243" cy="923330"/>
          </a:xfrm>
          <a:prstGeom prst="rect">
            <a:avLst/>
          </a:prstGeom>
          <a:noFill/>
        </p:spPr>
        <p:txBody>
          <a:bodyPr wrap="square" rtlCol="0">
            <a:spAutoFit/>
          </a:bodyPr>
          <a:lstStyle/>
          <a:p>
            <a:pPr algn="ctr"/>
            <a:r>
              <a:rPr lang="zh-CN" altLang="en-US" dirty="0">
                <a:latin typeface="+mn-ea"/>
                <a:cs typeface="Times New Roman" panose="02020603050405020304" pitchFamily="18" charset="0"/>
              </a:rPr>
              <a:t>图 </a:t>
            </a:r>
            <a:r>
              <a:rPr lang="en-US" altLang="zh-CN" dirty="0">
                <a:latin typeface="+mn-ea"/>
                <a:cs typeface="Times New Roman" panose="02020603050405020304" pitchFamily="18" charset="0"/>
              </a:rPr>
              <a:t>3  </a:t>
            </a:r>
            <a:r>
              <a:rPr lang="zh-CN" altLang="en-US" dirty="0">
                <a:latin typeface="+mn-ea"/>
                <a:cs typeface="Times New Roman" panose="02020603050405020304" pitchFamily="18" charset="0"/>
              </a:rPr>
              <a:t>瞬态液动力</a:t>
            </a:r>
            <a:endParaRPr lang="en-US" altLang="zh-CN" dirty="0">
              <a:latin typeface="+mn-ea"/>
              <a:cs typeface="Times New Roman" panose="02020603050405020304" pitchFamily="18" charset="0"/>
            </a:endParaRPr>
          </a:p>
          <a:p>
            <a:pPr algn="ctr"/>
            <a:r>
              <a:rPr lang="en-US" altLang="zh-CN" dirty="0">
                <a:latin typeface="+mn-ea"/>
                <a:cs typeface="Times New Roman" panose="02020603050405020304" pitchFamily="18" charset="0"/>
              </a:rPr>
              <a:t>a</a:t>
            </a:r>
            <a:r>
              <a:rPr lang="zh-CN" altLang="en-US" dirty="0">
                <a:latin typeface="+mn-ea"/>
                <a:cs typeface="Times New Roman" panose="02020603050405020304" pitchFamily="18" charset="0"/>
              </a:rPr>
              <a:t>）开口加大，液流流出阀口  </a:t>
            </a:r>
            <a:endParaRPr lang="en-US" altLang="zh-CN" dirty="0">
              <a:latin typeface="+mn-ea"/>
              <a:cs typeface="Times New Roman" panose="02020603050405020304" pitchFamily="18" charset="0"/>
            </a:endParaRPr>
          </a:p>
          <a:p>
            <a:pPr algn="ctr"/>
            <a:r>
              <a:rPr lang="en-US" altLang="zh-CN" dirty="0">
                <a:latin typeface="+mn-ea"/>
                <a:cs typeface="Times New Roman" panose="02020603050405020304" pitchFamily="18" charset="0"/>
              </a:rPr>
              <a:t>b</a:t>
            </a:r>
            <a:r>
              <a:rPr lang="zh-CN" altLang="en-US" dirty="0">
                <a:latin typeface="+mn-ea"/>
                <a:cs typeface="Times New Roman" panose="02020603050405020304" pitchFamily="18" charset="0"/>
              </a:rPr>
              <a:t>）开口加大，液流流出阀口</a:t>
            </a:r>
          </a:p>
        </p:txBody>
      </p:sp>
      <p:sp>
        <p:nvSpPr>
          <p:cNvPr id="16" name="矩形 15">
            <a:extLst>
              <a:ext uri="{FF2B5EF4-FFF2-40B4-BE49-F238E27FC236}">
                <a16:creationId xmlns:a16="http://schemas.microsoft.com/office/drawing/2014/main" id="{06CBA48D-7B95-C69E-33BF-6611FB460D1A}"/>
              </a:ext>
            </a:extLst>
          </p:cNvPr>
          <p:cNvSpPr/>
          <p:nvPr/>
        </p:nvSpPr>
        <p:spPr>
          <a:xfrm>
            <a:off x="6111455" y="2014621"/>
            <a:ext cx="5479346" cy="3134028"/>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E801B9AA-8D24-BB10-BD7E-D83C4B076BC2}"/>
              </a:ext>
            </a:extLst>
          </p:cNvPr>
          <p:cNvSpPr txBox="1"/>
          <p:nvPr/>
        </p:nvSpPr>
        <p:spPr>
          <a:xfrm>
            <a:off x="632110" y="5036853"/>
            <a:ext cx="5479345" cy="961097"/>
          </a:xfrm>
          <a:prstGeom prst="rect">
            <a:avLst/>
          </a:prstGeom>
          <a:noFill/>
        </p:spPr>
        <p:txBody>
          <a:bodyPr wrap="square" rtlCol="0">
            <a:spAutoFit/>
          </a:bodyPr>
          <a:lstStyle/>
          <a:p>
            <a:pPr algn="just">
              <a:lnSpc>
                <a:spcPct val="150000"/>
              </a:lnSpc>
            </a:pPr>
            <a:r>
              <a:rPr lang="zh-CN" altLang="en-US" sz="2000" dirty="0">
                <a:latin typeface="Times New Roman" panose="02020603050405020304" pitchFamily="18" charset="0"/>
                <a:cs typeface="Times New Roman" panose="02020603050405020304" pitchFamily="18" charset="0"/>
              </a:rPr>
              <a:t>        当阀口前后的压差不变或变化不大时</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流量的变化率 </a:t>
            </a:r>
            <a:r>
              <a:rPr lang="en-US" altLang="zh-CN" sz="2000" i="1" dirty="0" err="1">
                <a:latin typeface="Times New Roman" panose="02020603050405020304" pitchFamily="18" charset="0"/>
                <a:cs typeface="Times New Roman" panose="02020603050405020304" pitchFamily="18" charset="0"/>
              </a:rPr>
              <a:t>dq</a:t>
            </a:r>
            <a:r>
              <a:rPr lang="en-US" altLang="zh-CN" sz="2000" i="1" dirty="0">
                <a:latin typeface="Times New Roman" panose="02020603050405020304" pitchFamily="18" charset="0"/>
                <a:cs typeface="Times New Roman" panose="02020603050405020304" pitchFamily="18" charset="0"/>
              </a:rPr>
              <a:t>/dt </a:t>
            </a:r>
            <a:r>
              <a:rPr lang="zh-CN" altLang="en-US" sz="2000" dirty="0">
                <a:latin typeface="Times New Roman" panose="02020603050405020304" pitchFamily="18" charset="0"/>
                <a:cs typeface="Times New Roman" panose="02020603050405020304" pitchFamily="18" charset="0"/>
              </a:rPr>
              <a:t>为：</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117E022-4434-3680-8580-1895EF195EFE}"/>
                  </a:ext>
                </a:extLst>
              </p:cNvPr>
              <p:cNvSpPr txBox="1"/>
              <p:nvPr/>
            </p:nvSpPr>
            <p:spPr>
              <a:xfrm>
                <a:off x="6632850" y="5348765"/>
                <a:ext cx="5479345" cy="1298369"/>
              </a:xfrm>
              <a:prstGeom prst="rect">
                <a:avLst/>
              </a:prstGeom>
              <a:noFill/>
            </p:spPr>
            <p:txBody>
              <a:bodyPr wrap="square" rtlCol="0">
                <a:spAutoFit/>
              </a:bodyPr>
              <a:lstStyle/>
              <a:p>
                <a:pPr algn="just"/>
                <a:r>
                  <a:rPr lang="zh-CN" altLang="en-US" sz="2000" dirty="0">
                    <a:latin typeface="Times New Roman" panose="02020603050405020304" pitchFamily="18" charset="0"/>
                    <a:cs typeface="Times New Roman" panose="02020603050405020304" pitchFamily="18" charset="0"/>
                  </a:rPr>
                  <a:t>此时瞬态液动力表达式可表示为：</a:t>
                </a:r>
                <a:endParaRPr lang="en-US" altLang="zh-CN" sz="20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zh-CN" altLang="zh-CN" sz="20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𝐹</m:t>
                          </m:r>
                        </m:e>
                        <m:sub>
                          <m:r>
                            <m:rPr>
                              <m:sty m:val="p"/>
                            </m:rPr>
                            <a:rPr lang="en-US" altLang="zh-CN" sz="2000" kern="100">
                              <a:effectLst/>
                              <a:latin typeface="Cambria Math" panose="02040503050406030204" pitchFamily="18" charset="0"/>
                              <a:ea typeface="等线" panose="02010600030101010101" pitchFamily="2" charset="-122"/>
                              <a:cs typeface="Times New Roman" panose="02020603050405020304" pitchFamily="18" charset="0"/>
                            </a:rPr>
                            <m:t>bt</m:t>
                          </m:r>
                        </m:sub>
                      </m:sSub>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𝐶</m:t>
                          </m:r>
                        </m:e>
                        <m:sub>
                          <m:r>
                            <m:rPr>
                              <m:sty m:val="p"/>
                            </m:rPr>
                            <a:rPr lang="en-US" altLang="zh-CN" sz="2000" kern="100">
                              <a:effectLst/>
                              <a:latin typeface="Cambria Math" panose="02040503050406030204" pitchFamily="18" charset="0"/>
                              <a:ea typeface="等线" panose="02010600030101010101" pitchFamily="2" charset="-122"/>
                              <a:cs typeface="Times New Roman" panose="02020603050405020304" pitchFamily="18" charset="0"/>
                            </a:rPr>
                            <m:t>d</m:t>
                          </m:r>
                        </m:sub>
                      </m:sSub>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𝑤𝑙</m:t>
                      </m:r>
                      <m:rad>
                        <m:radPr>
                          <m:degHide m:val="on"/>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𝜌</m:t>
                          </m:r>
                          <m:r>
                            <m:rPr>
                              <m:sty m:val="p"/>
                            </m:rPr>
                            <a:rPr lang="en-US" altLang="zh-CN" sz="2000" kern="100">
                              <a:effectLst/>
                              <a:latin typeface="Cambria Math" panose="02040503050406030204" pitchFamily="18" charset="0"/>
                              <a:ea typeface="等线" panose="02010600030101010101" pitchFamily="2" charset="-122"/>
                              <a:cs typeface="Times New Roman" panose="02020603050405020304" pitchFamily="18" charset="0"/>
                            </a:rPr>
                            <m:t>Δ</m:t>
                          </m:r>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𝑝</m:t>
                          </m:r>
                        </m:e>
                      </m:rad>
                      <m:f>
                        <m:f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000" kern="100">
                              <a:effectLst/>
                              <a:latin typeface="Cambria Math" panose="02040503050406030204" pitchFamily="18" charset="0"/>
                              <a:ea typeface="等线" panose="02010600030101010101" pitchFamily="2" charset="-122"/>
                              <a:cs typeface="Times New Roman" panose="02020603050405020304" pitchFamily="18" charset="0"/>
                            </a:rPr>
                            <m:t>d</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𝑥</m:t>
                              </m:r>
                            </m:e>
                            <m:sub>
                              <m:r>
                                <m:rPr>
                                  <m:sty m:val="p"/>
                                </m:rPr>
                                <a:rPr lang="en-US" altLang="zh-CN" sz="2000" kern="100">
                                  <a:effectLst/>
                                  <a:latin typeface="Cambria Math" panose="02040503050406030204" pitchFamily="18" charset="0"/>
                                  <a:ea typeface="等线" panose="02010600030101010101" pitchFamily="2" charset="-122"/>
                                  <a:cs typeface="Times New Roman" panose="02020603050405020304" pitchFamily="18" charset="0"/>
                                </a:rPr>
                                <m:t>V</m:t>
                              </m:r>
                            </m:sub>
                          </m:sSub>
                        </m:num>
                        <m:den>
                          <m:r>
                            <m:rPr>
                              <m:sty m:val="p"/>
                            </m:rPr>
                            <a:rPr lang="en-US" altLang="zh-CN" sz="2000" kern="100">
                              <a:effectLst/>
                              <a:latin typeface="Cambria Math" panose="02040503050406030204" pitchFamily="18" charset="0"/>
                              <a:ea typeface="等线" panose="02010600030101010101" pitchFamily="2" charset="-122"/>
                              <a:cs typeface="Times New Roman" panose="02020603050405020304" pitchFamily="18" charset="0"/>
                            </a:rPr>
                            <m:t>d</m:t>
                          </m:r>
                          <m:r>
                            <a:rPr lang="en-US" altLang="zh-CN" sz="2000" i="1" kern="100">
                              <a:effectLst/>
                              <a:latin typeface="Cambria Math" panose="02040503050406030204" pitchFamily="18" charset="0"/>
                              <a:ea typeface="等线" panose="02010600030101010101" pitchFamily="2" charset="-122"/>
                              <a:cs typeface="Times New Roman" panose="02020603050405020304" pitchFamily="18" charset="0"/>
                            </a:rPr>
                            <m:t>𝑡</m:t>
                          </m:r>
                        </m:den>
                      </m:f>
                    </m:oMath>
                  </m:oMathPara>
                </a14:m>
                <a:endParaRPr lang="zh-CN" alt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lgn="just">
                  <a:lnSpc>
                    <a:spcPct val="125000"/>
                  </a:lnSpc>
                </a:pPr>
                <a:endParaRPr lang="zh-CN" altLang="en-US" dirty="0">
                  <a:latin typeface="Times New Roman" panose="02020603050405020304" pitchFamily="18" charset="0"/>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1117E022-4434-3680-8580-1895EF195EFE}"/>
                  </a:ext>
                </a:extLst>
              </p:cNvPr>
              <p:cNvSpPr txBox="1">
                <a:spLocks noRot="1" noChangeAspect="1" noMove="1" noResize="1" noEditPoints="1" noAdjustHandles="1" noChangeArrowheads="1" noChangeShapeType="1" noTextEdit="1"/>
              </p:cNvSpPr>
              <p:nvPr/>
            </p:nvSpPr>
            <p:spPr>
              <a:xfrm>
                <a:off x="6632850" y="5348765"/>
                <a:ext cx="5479345" cy="1298369"/>
              </a:xfrm>
              <a:prstGeom prst="rect">
                <a:avLst/>
              </a:prstGeom>
              <a:blipFill>
                <a:blip r:embed="rId5"/>
                <a:stretch>
                  <a:fillRect l="-1112" t="-23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04086E7-4F9A-B38F-5AAE-EE5FCEFA447F}"/>
                  </a:ext>
                </a:extLst>
              </p:cNvPr>
              <p:cNvSpPr txBox="1"/>
              <p:nvPr/>
            </p:nvSpPr>
            <p:spPr>
              <a:xfrm>
                <a:off x="106408" y="4479160"/>
                <a:ext cx="6754940" cy="937693"/>
              </a:xfrm>
              <a:prstGeom prst="rect">
                <a:avLst/>
              </a:prstGeom>
              <a:noFill/>
            </p:spPr>
            <p:txBody>
              <a:bodyPr wrap="square" rtlCol="0">
                <a:spAutoFit/>
              </a:bodyPr>
              <a:lstStyle/>
              <a:p>
                <a:pPr indent="266700" algn="just"/>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𝐹</m:t>
                          </m:r>
                        </m:e>
                        <m:sub>
                          <m:r>
                            <m:rPr>
                              <m:sty m:val="p"/>
                            </m:rPr>
                            <a:rPr lang="en-US" altLang="zh-CN">
                              <a:latin typeface="Cambria Math" panose="02040503050406030204" pitchFamily="18" charset="0"/>
                            </a:rPr>
                            <m:t>bt</m:t>
                          </m:r>
                        </m:sub>
                      </m:sSub>
                      <m:r>
                        <a:rPr lang="en-US" altLang="zh-CN" i="1">
                          <a:latin typeface="Cambria Math" panose="02040503050406030204" pitchFamily="18" charset="0"/>
                        </a:rPr>
                        <m:t>=</m:t>
                      </m:r>
                      <m:r>
                        <a:rPr lang="en-US" altLang="zh-CN" b="0" i="1"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0</m:t>
                          </m:r>
                        </m:sub>
                      </m:sSub>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d</m:t>
                          </m:r>
                          <m:r>
                            <a:rPr lang="en-US" altLang="zh-CN" i="1">
                              <a:latin typeface="Cambria Math" panose="02040503050406030204" pitchFamily="18" charset="0"/>
                            </a:rPr>
                            <m:t>𝑣</m:t>
                          </m:r>
                        </m:num>
                        <m:den>
                          <m:r>
                            <m:rPr>
                              <m:sty m:val="p"/>
                            </m:rPr>
                            <a:rPr lang="en-US" altLang="zh-CN">
                              <a:latin typeface="Cambria Math" panose="02040503050406030204" pitchFamily="18" charset="0"/>
                            </a:rPr>
                            <m:t>d</m:t>
                          </m:r>
                          <m:r>
                            <a:rPr lang="en-US" altLang="zh-CN" i="1">
                              <a:latin typeface="Cambria Math" panose="02040503050406030204" pitchFamily="18" charset="0"/>
                            </a:rPr>
                            <m:t>𝑡</m:t>
                          </m:r>
                        </m:den>
                      </m:f>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𝜌</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m:rPr>
                              <m:sty m:val="p"/>
                            </m:rPr>
                            <a:rPr lang="en-US" altLang="zh-CN">
                              <a:latin typeface="Cambria Math" panose="02040503050406030204" pitchFamily="18" charset="0"/>
                            </a:rPr>
                            <m:t>s</m:t>
                          </m:r>
                        </m:sub>
                      </m:sSub>
                      <m:r>
                        <a:rPr lang="en-US" altLang="zh-CN" i="1">
                          <a:latin typeface="Cambria Math" panose="02040503050406030204" pitchFamily="18" charset="0"/>
                        </a:rPr>
                        <m:t>𝑙</m:t>
                      </m:r>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d</m:t>
                          </m:r>
                          <m:r>
                            <a:rPr lang="en-US" altLang="zh-CN" i="1">
                              <a:latin typeface="Cambria Math" panose="02040503050406030204" pitchFamily="18" charset="0"/>
                            </a:rPr>
                            <m:t>𝑣</m:t>
                          </m:r>
                        </m:num>
                        <m:den>
                          <m:r>
                            <m:rPr>
                              <m:sty m:val="p"/>
                            </m:rPr>
                            <a:rPr lang="en-US" altLang="zh-CN">
                              <a:latin typeface="Cambria Math" panose="02040503050406030204" pitchFamily="18" charset="0"/>
                            </a:rPr>
                            <m:t>d</m:t>
                          </m:r>
                          <m:r>
                            <a:rPr lang="en-US" altLang="zh-CN" i="1">
                              <a:latin typeface="Cambria Math" panose="02040503050406030204" pitchFamily="18" charset="0"/>
                            </a:rPr>
                            <m:t>𝑡</m:t>
                          </m:r>
                        </m:den>
                      </m:f>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𝜌</m:t>
                      </m:r>
                      <m:r>
                        <a:rPr lang="en-US" altLang="zh-CN" i="1">
                          <a:latin typeface="Cambria Math" panose="02040503050406030204" pitchFamily="18" charset="0"/>
                        </a:rPr>
                        <m:t>𝑙</m:t>
                      </m:r>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d</m:t>
                          </m:r>
                          <m:d>
                            <m:dPr>
                              <m:ctrlPr>
                                <a:rPr lang="en-US"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m:rPr>
                                      <m:sty m:val="p"/>
                                    </m:rPr>
                                    <a:rPr lang="en-US" altLang="zh-CN">
                                      <a:latin typeface="Cambria Math" panose="02040503050406030204" pitchFamily="18" charset="0"/>
                                    </a:rPr>
                                    <m:t>s</m:t>
                                  </m:r>
                                </m:sub>
                              </m:sSub>
                              <m:r>
                                <a:rPr lang="en-US" altLang="zh-CN" i="1">
                                  <a:latin typeface="Cambria Math" panose="02040503050406030204" pitchFamily="18" charset="0"/>
                                </a:rPr>
                                <m:t>𝑣</m:t>
                              </m:r>
                            </m:e>
                          </m:d>
                        </m:num>
                        <m:den>
                          <m:r>
                            <m:rPr>
                              <m:sty m:val="p"/>
                            </m:rPr>
                            <a:rPr lang="en-US" altLang="zh-CN">
                              <a:latin typeface="Cambria Math" panose="02040503050406030204" pitchFamily="18" charset="0"/>
                            </a:rPr>
                            <m:t>d</m:t>
                          </m:r>
                          <m:r>
                            <a:rPr lang="en-US" altLang="zh-CN" i="1">
                              <a:latin typeface="Cambria Math" panose="02040503050406030204" pitchFamily="18" charset="0"/>
                            </a:rPr>
                            <m:t>𝑡</m:t>
                          </m:r>
                        </m:den>
                      </m:f>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𝜌</m:t>
                      </m:r>
                      <m:r>
                        <a:rPr lang="en-US" altLang="zh-CN" i="1">
                          <a:latin typeface="Cambria Math" panose="02040503050406030204" pitchFamily="18" charset="0"/>
                        </a:rPr>
                        <m:t>𝑙</m:t>
                      </m:r>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d</m:t>
                          </m:r>
                          <m:r>
                            <a:rPr lang="en-US" altLang="zh-CN" i="1">
                              <a:latin typeface="Cambria Math" panose="02040503050406030204" pitchFamily="18" charset="0"/>
                            </a:rPr>
                            <m:t>𝑞</m:t>
                          </m:r>
                        </m:num>
                        <m:den>
                          <m:r>
                            <m:rPr>
                              <m:sty m:val="p"/>
                            </m:rPr>
                            <a:rPr lang="en-US" altLang="zh-CN">
                              <a:latin typeface="Cambria Math" panose="02040503050406030204" pitchFamily="18" charset="0"/>
                            </a:rPr>
                            <m:t>d</m:t>
                          </m:r>
                          <m:r>
                            <a:rPr lang="en-US" altLang="zh-CN" i="1">
                              <a:latin typeface="Cambria Math" panose="02040503050406030204" pitchFamily="18" charset="0"/>
                            </a:rPr>
                            <m:t>𝑡</m:t>
                          </m:r>
                        </m:den>
                      </m:f>
                    </m:oMath>
                  </m:oMathPara>
                </a14:m>
                <a:endParaRPr lang="zh-CN" altLang="zh-CN" dirty="0">
                  <a:latin typeface="Times New Roman" panose="02020603050405020304" pitchFamily="18" charset="0"/>
                  <a:cs typeface="Times New Roman" panose="02020603050405020304" pitchFamily="18" charset="0"/>
                </a:endParaRPr>
              </a:p>
              <a:p>
                <a:pPr indent="266700" algn="just"/>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C04086E7-4F9A-B38F-5AAE-EE5FCEFA447F}"/>
                  </a:ext>
                </a:extLst>
              </p:cNvPr>
              <p:cNvSpPr txBox="1">
                <a:spLocks noRot="1" noChangeAspect="1" noMove="1" noResize="1" noEditPoints="1" noAdjustHandles="1" noChangeArrowheads="1" noChangeShapeType="1" noTextEdit="1"/>
              </p:cNvSpPr>
              <p:nvPr/>
            </p:nvSpPr>
            <p:spPr>
              <a:xfrm>
                <a:off x="106408" y="4479160"/>
                <a:ext cx="6754940" cy="93769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75FC006-5505-488C-5797-D6A5E4D8646F}"/>
                  </a:ext>
                </a:extLst>
              </p:cNvPr>
              <p:cNvSpPr txBox="1"/>
              <p:nvPr/>
            </p:nvSpPr>
            <p:spPr>
              <a:xfrm>
                <a:off x="110390" y="5833125"/>
                <a:ext cx="6754940" cy="12184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d</m:t>
                          </m:r>
                          <m:r>
                            <a:rPr lang="en-US" altLang="zh-CN" i="1">
                              <a:latin typeface="Cambria Math" panose="02040503050406030204" pitchFamily="18" charset="0"/>
                            </a:rPr>
                            <m:t>𝑞</m:t>
                          </m:r>
                        </m:num>
                        <m:den>
                          <m:r>
                            <m:rPr>
                              <m:sty m:val="p"/>
                            </m:rPr>
                            <a:rPr lang="en-US" altLang="zh-CN">
                              <a:latin typeface="Cambria Math" panose="02040503050406030204" pitchFamily="18" charset="0"/>
                            </a:rPr>
                            <m:t>d</m:t>
                          </m:r>
                          <m:r>
                            <a:rPr lang="en-US" altLang="zh-CN" i="1">
                              <a:latin typeface="Cambria Math" panose="02040503050406030204" pitchFamily="18" charset="0"/>
                            </a:rPr>
                            <m:t>𝑡</m:t>
                          </m:r>
                        </m:den>
                      </m:f>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m:rPr>
                              <m:sty m:val="p"/>
                            </m:rPr>
                            <a:rPr lang="en-US" altLang="zh-CN">
                              <a:latin typeface="Cambria Math" panose="02040503050406030204" pitchFamily="18" charset="0"/>
                            </a:rPr>
                            <m:t>d</m:t>
                          </m:r>
                        </m:sub>
                      </m:sSub>
                      <m:r>
                        <a:rPr lang="en-US" altLang="zh-CN" i="1">
                          <a:latin typeface="Cambria Math" panose="02040503050406030204" pitchFamily="18" charset="0"/>
                        </a:rPr>
                        <m:t>𝑤</m:t>
                      </m:r>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r>
                                <a:rPr lang="en-US" altLang="zh-CN" i="1">
                                  <a:latin typeface="Cambria Math" panose="02040503050406030204" pitchFamily="18" charset="0"/>
                                </a:rPr>
                                <m:t>2</m:t>
                              </m:r>
                            </m:num>
                            <m:den>
                              <m:r>
                                <a:rPr lang="en-US" altLang="zh-CN" i="1">
                                  <a:latin typeface="Cambria Math" panose="02040503050406030204" pitchFamily="18" charset="0"/>
                                </a:rPr>
                                <m:t>𝜌</m:t>
                              </m:r>
                            </m:den>
                          </m:f>
                          <m:r>
                            <m:rPr>
                              <m:sty m:val="p"/>
                            </m:rPr>
                            <a:rPr lang="en-US" altLang="zh-CN">
                              <a:latin typeface="Cambria Math" panose="02040503050406030204" pitchFamily="18" charset="0"/>
                            </a:rPr>
                            <m:t>Δ</m:t>
                          </m:r>
                          <m:r>
                            <a:rPr lang="en-US" altLang="zh-CN" i="1">
                              <a:latin typeface="Cambria Math" panose="02040503050406030204" pitchFamily="18" charset="0"/>
                            </a:rPr>
                            <m:t>𝑝</m:t>
                          </m:r>
                        </m:e>
                      </m:rad>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d</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m:rPr>
                                  <m:sty m:val="p"/>
                                </m:rPr>
                                <a:rPr lang="en-US" altLang="zh-CN">
                                  <a:latin typeface="Cambria Math" panose="02040503050406030204" pitchFamily="18" charset="0"/>
                                </a:rPr>
                                <m:t>v</m:t>
                              </m:r>
                            </m:sub>
                          </m:sSub>
                        </m:num>
                        <m:den>
                          <m:r>
                            <m:rPr>
                              <m:sty m:val="p"/>
                            </m:rPr>
                            <a:rPr lang="en-US" altLang="zh-CN">
                              <a:latin typeface="Cambria Math" panose="02040503050406030204" pitchFamily="18" charset="0"/>
                            </a:rPr>
                            <m:t>d</m:t>
                          </m:r>
                          <m:r>
                            <a:rPr lang="en-US" altLang="zh-CN" i="1">
                              <a:latin typeface="Cambria Math" panose="02040503050406030204" pitchFamily="18" charset="0"/>
                            </a:rPr>
                            <m:t>𝑡</m:t>
                          </m:r>
                        </m:den>
                      </m:f>
                    </m:oMath>
                  </m:oMathPara>
                </a14:m>
                <a:endParaRPr lang="zh-CN" altLang="zh-CN" dirty="0">
                  <a:latin typeface="Times New Roman" panose="02020603050405020304" pitchFamily="18" charset="0"/>
                  <a:cs typeface="Times New Roman" panose="02020603050405020304" pitchFamily="18" charset="0"/>
                </a:endParaRPr>
              </a:p>
              <a:p>
                <a:pPr indent="266700" algn="just"/>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A75FC006-5505-488C-5797-D6A5E4D8646F}"/>
                  </a:ext>
                </a:extLst>
              </p:cNvPr>
              <p:cNvSpPr txBox="1">
                <a:spLocks noRot="1" noChangeAspect="1" noMove="1" noResize="1" noEditPoints="1" noAdjustHandles="1" noChangeArrowheads="1" noChangeShapeType="1" noTextEdit="1"/>
              </p:cNvSpPr>
              <p:nvPr/>
            </p:nvSpPr>
            <p:spPr>
              <a:xfrm>
                <a:off x="110390" y="5833125"/>
                <a:ext cx="6754940" cy="1218475"/>
              </a:xfrm>
              <a:prstGeom prst="rect">
                <a:avLst/>
              </a:prstGeom>
              <a:blipFill>
                <a:blip r:embed="rId7"/>
                <a:stretch>
                  <a:fillRect/>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B1716113-EC32-B777-DFB0-DFD00B044448}"/>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ACA86608-0B09-9B93-C427-7DE6BC7AF5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8" name="文本框 17">
            <a:extLst>
              <a:ext uri="{FF2B5EF4-FFF2-40B4-BE49-F238E27FC236}">
                <a16:creationId xmlns:a16="http://schemas.microsoft.com/office/drawing/2014/main" id="{91DEAF64-5D99-988B-0451-A02D9CBDF196}"/>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20" name="矩形 19">
            <a:extLst>
              <a:ext uri="{FF2B5EF4-FFF2-40B4-BE49-F238E27FC236}">
                <a16:creationId xmlns:a16="http://schemas.microsoft.com/office/drawing/2014/main" id="{3579ED83-C7E7-0784-EFDD-06A2B8F9C9E4}"/>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5544BA4-0D70-2C44-2B3F-2C5039372AE0}"/>
              </a:ext>
            </a:extLst>
          </p:cNvPr>
          <p:cNvSpPr/>
          <p:nvPr/>
        </p:nvSpPr>
        <p:spPr>
          <a:xfrm>
            <a:off x="429656" y="793879"/>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8.1.4.2 </a:t>
            </a:r>
            <a:r>
              <a:rPr lang="zh-CN" altLang="en-US" sz="2800" b="1" dirty="0">
                <a:solidFill>
                  <a:srgbClr val="003F88"/>
                </a:solidFill>
                <a:latin typeface="微软雅黑" panose="020B0503020204020204" pitchFamily="34" charset="-122"/>
                <a:ea typeface="微软雅黑" panose="020B0503020204020204" pitchFamily="34" charset="-122"/>
              </a:rPr>
              <a:t>液动力</a:t>
            </a:r>
          </a:p>
        </p:txBody>
      </p:sp>
    </p:spTree>
    <p:extLst>
      <p:ext uri="{BB962C8B-B14F-4D97-AF65-F5344CB8AC3E}">
        <p14:creationId xmlns:p14="http://schemas.microsoft.com/office/powerpoint/2010/main" val="202091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E7BFFE5-2B27-5833-987C-CBD652515D67}"/>
              </a:ext>
            </a:extLst>
          </p:cNvPr>
          <p:cNvSpPr txBox="1"/>
          <p:nvPr/>
        </p:nvSpPr>
        <p:spPr>
          <a:xfrm>
            <a:off x="656759" y="1388968"/>
            <a:ext cx="10557163" cy="461665"/>
          </a:xfrm>
          <a:prstGeom prst="rect">
            <a:avLst/>
          </a:prstGeom>
          <a:noFill/>
        </p:spPr>
        <p:txBody>
          <a:bodyPr wrap="square" rtlCol="0">
            <a:spAutoFit/>
          </a:bodyPr>
          <a:lstStyle/>
          <a:p>
            <a:pPr algn="just"/>
            <a:r>
              <a:rPr lang="en-US" altLang="zh-CN" sz="2400" b="1" dirty="0"/>
              <a:t>2. </a:t>
            </a:r>
            <a:r>
              <a:rPr lang="zh-CN" altLang="en-US" sz="2400" b="1" dirty="0"/>
              <a:t>瞬态液动力</a:t>
            </a:r>
          </a:p>
        </p:txBody>
      </p:sp>
      <p:sp>
        <p:nvSpPr>
          <p:cNvPr id="10" name="文本框 9">
            <a:extLst>
              <a:ext uri="{FF2B5EF4-FFF2-40B4-BE49-F238E27FC236}">
                <a16:creationId xmlns:a16="http://schemas.microsoft.com/office/drawing/2014/main" id="{8121605E-EEC7-12AB-4FCF-0F4E2EBCB25F}"/>
              </a:ext>
            </a:extLst>
          </p:cNvPr>
          <p:cNvSpPr txBox="1"/>
          <p:nvPr/>
        </p:nvSpPr>
        <p:spPr>
          <a:xfrm>
            <a:off x="656759" y="1757231"/>
            <a:ext cx="5367052" cy="3269421"/>
          </a:xfrm>
          <a:prstGeom prst="rect">
            <a:avLst/>
          </a:prstGeom>
          <a:noFill/>
        </p:spPr>
        <p:txBody>
          <a:bodyPr wrap="square" rtlCol="0">
            <a:spAutoFit/>
          </a:bodyPr>
          <a:lstStyle/>
          <a:p>
            <a:pPr indent="540000" algn="just">
              <a:lnSpc>
                <a:spcPct val="150000"/>
              </a:lnSpc>
            </a:pPr>
            <a:r>
              <a:rPr lang="zh-CN" altLang="en-US" sz="2000" dirty="0">
                <a:latin typeface="Times New Roman" panose="02020603050405020304" pitchFamily="18" charset="0"/>
                <a:cs typeface="Times New Roman" panose="02020603050405020304" pitchFamily="18" charset="0"/>
              </a:rPr>
              <a:t>滑阀上瞬态液动力的方向</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视油液流入还是流出阀腔而定。图</a:t>
            </a:r>
            <a:r>
              <a:rPr lang="en-US" altLang="zh-CN" sz="2000" dirty="0">
                <a:latin typeface="Times New Roman" panose="02020603050405020304" pitchFamily="18" charset="0"/>
                <a:cs typeface="Times New Roman" panose="02020603050405020304" pitchFamily="18" charset="0"/>
              </a:rPr>
              <a:t>3a</a:t>
            </a:r>
            <a:r>
              <a:rPr lang="zh-CN" altLang="en-US" sz="2000" dirty="0">
                <a:latin typeface="Times New Roman" panose="02020603050405020304" pitchFamily="18" charset="0"/>
                <a:cs typeface="Times New Roman" panose="02020603050405020304" pitchFamily="18" charset="0"/>
              </a:rPr>
              <a:t>中油液流出阀腔</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则阀口开度加大时长度为 </a:t>
            </a:r>
            <a:r>
              <a:rPr lang="en-US" altLang="zh-CN" sz="2000" i="1" dirty="0">
                <a:latin typeface="Times New Roman" panose="02020603050405020304" pitchFamily="18" charset="0"/>
                <a:cs typeface="Times New Roman" panose="02020603050405020304" pitchFamily="18" charset="0"/>
              </a:rPr>
              <a:t>l </a:t>
            </a:r>
            <a:r>
              <a:rPr lang="zh-CN" altLang="en-US" sz="2000" dirty="0">
                <a:latin typeface="Times New Roman" panose="02020603050405020304" pitchFamily="18" charset="0"/>
                <a:cs typeface="Times New Roman" panose="02020603050405020304" pitchFamily="18" charset="0"/>
              </a:rPr>
              <a:t>的那部分油液加速</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开度减小时油液减速</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两种情况下瞬态液动力作用方向都与阀心的移动方向相反</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起着阻止阀心移动的作用</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相当于一个阻尼力。这时瞬态液动力表达式中的 </a:t>
            </a:r>
            <a:r>
              <a:rPr lang="en-US" altLang="zh-CN" sz="2000" i="1" dirty="0">
                <a:latin typeface="Times New Roman" panose="02020603050405020304" pitchFamily="18" charset="0"/>
                <a:cs typeface="Times New Roman" panose="02020603050405020304" pitchFamily="18" charset="0"/>
              </a:rPr>
              <a:t>l </a:t>
            </a:r>
            <a:r>
              <a:rPr lang="zh-CN" altLang="en-US" sz="2000" dirty="0">
                <a:latin typeface="Times New Roman" panose="02020603050405020304" pitchFamily="18" charset="0"/>
                <a:cs typeface="Times New Roman" panose="02020603050405020304" pitchFamily="18" charset="0"/>
              </a:rPr>
              <a:t>取正值</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并称之为滑阀的“正阻尼长度”。</a:t>
            </a:r>
          </a:p>
        </p:txBody>
      </p:sp>
      <p:pic>
        <p:nvPicPr>
          <p:cNvPr id="12" name="图片 11">
            <a:extLst>
              <a:ext uri="{FF2B5EF4-FFF2-40B4-BE49-F238E27FC236}">
                <a16:creationId xmlns:a16="http://schemas.microsoft.com/office/drawing/2014/main" id="{C2076360-6C35-2F37-12AF-B95E250105FA}"/>
              </a:ext>
            </a:extLst>
          </p:cNvPr>
          <p:cNvPicPr>
            <a:picLocks noChangeAspect="1"/>
          </p:cNvPicPr>
          <p:nvPr/>
        </p:nvPicPr>
        <p:blipFill>
          <a:blip r:embed="rId3"/>
          <a:srcRect b="21920"/>
          <a:stretch/>
        </p:blipFill>
        <p:spPr>
          <a:xfrm>
            <a:off x="6277755" y="1370239"/>
            <a:ext cx="5479346" cy="2261242"/>
          </a:xfrm>
          <a:prstGeom prst="rect">
            <a:avLst/>
          </a:prstGeom>
        </p:spPr>
      </p:pic>
      <p:sp>
        <p:nvSpPr>
          <p:cNvPr id="13" name="文本框 12">
            <a:extLst>
              <a:ext uri="{FF2B5EF4-FFF2-40B4-BE49-F238E27FC236}">
                <a16:creationId xmlns:a16="http://schemas.microsoft.com/office/drawing/2014/main" id="{950EA74F-BFE5-A5FA-4A8A-B0C2FFE61D3F}"/>
              </a:ext>
            </a:extLst>
          </p:cNvPr>
          <p:cNvSpPr txBox="1"/>
          <p:nvPr/>
        </p:nvSpPr>
        <p:spPr>
          <a:xfrm>
            <a:off x="6323947" y="3508364"/>
            <a:ext cx="5480484" cy="923330"/>
          </a:xfrm>
          <a:prstGeom prst="rect">
            <a:avLst/>
          </a:prstGeom>
          <a:noFill/>
        </p:spPr>
        <p:txBody>
          <a:bodyPr wrap="square" rtlCol="0">
            <a:spAutoFit/>
          </a:bodyPr>
          <a:lstStyle/>
          <a:p>
            <a:pPr algn="ctr"/>
            <a:r>
              <a:rPr lang="zh-CN" altLang="en-US" dirty="0">
                <a:latin typeface="+mn-ea"/>
                <a:cs typeface="Times New Roman" panose="02020603050405020304" pitchFamily="18" charset="0"/>
              </a:rPr>
              <a:t>图 </a:t>
            </a:r>
            <a:r>
              <a:rPr lang="en-US" altLang="zh-CN" dirty="0">
                <a:latin typeface="+mn-ea"/>
                <a:cs typeface="Times New Roman" panose="02020603050405020304" pitchFamily="18" charset="0"/>
              </a:rPr>
              <a:t>3  </a:t>
            </a:r>
            <a:r>
              <a:rPr lang="zh-CN" altLang="en-US" dirty="0">
                <a:latin typeface="+mn-ea"/>
                <a:cs typeface="Times New Roman" panose="02020603050405020304" pitchFamily="18" charset="0"/>
              </a:rPr>
              <a:t>瞬态液动力</a:t>
            </a:r>
            <a:endParaRPr lang="en-US" altLang="zh-CN" dirty="0">
              <a:latin typeface="+mn-ea"/>
              <a:cs typeface="Times New Roman" panose="02020603050405020304" pitchFamily="18" charset="0"/>
            </a:endParaRPr>
          </a:p>
          <a:p>
            <a:pPr algn="ctr"/>
            <a:r>
              <a:rPr lang="en-US" altLang="zh-CN" dirty="0">
                <a:latin typeface="+mn-ea"/>
                <a:cs typeface="Times New Roman" panose="02020603050405020304" pitchFamily="18" charset="0"/>
              </a:rPr>
              <a:t>a</a:t>
            </a:r>
            <a:r>
              <a:rPr lang="zh-CN" altLang="en-US" dirty="0">
                <a:latin typeface="+mn-ea"/>
                <a:cs typeface="Times New Roman" panose="02020603050405020304" pitchFamily="18" charset="0"/>
              </a:rPr>
              <a:t>）开口加大，液流流出阀口  </a:t>
            </a:r>
            <a:endParaRPr lang="en-US" altLang="zh-CN" dirty="0">
              <a:latin typeface="+mn-ea"/>
              <a:cs typeface="Times New Roman" panose="02020603050405020304" pitchFamily="18" charset="0"/>
            </a:endParaRPr>
          </a:p>
          <a:p>
            <a:pPr algn="ctr"/>
            <a:r>
              <a:rPr lang="en-US" altLang="zh-CN" dirty="0">
                <a:latin typeface="+mn-ea"/>
                <a:cs typeface="Times New Roman" panose="02020603050405020304" pitchFamily="18" charset="0"/>
              </a:rPr>
              <a:t>b</a:t>
            </a:r>
            <a:r>
              <a:rPr lang="zh-CN" altLang="en-US" dirty="0">
                <a:latin typeface="+mn-ea"/>
                <a:cs typeface="Times New Roman" panose="02020603050405020304" pitchFamily="18" charset="0"/>
              </a:rPr>
              <a:t>）开口加大，液流流出阀口</a:t>
            </a:r>
          </a:p>
        </p:txBody>
      </p:sp>
      <p:sp>
        <p:nvSpPr>
          <p:cNvPr id="14" name="矩形 13">
            <a:extLst>
              <a:ext uri="{FF2B5EF4-FFF2-40B4-BE49-F238E27FC236}">
                <a16:creationId xmlns:a16="http://schemas.microsoft.com/office/drawing/2014/main" id="{414C609E-E35A-1CED-BBD7-868B9E9B4B93}"/>
              </a:ext>
            </a:extLst>
          </p:cNvPr>
          <p:cNvSpPr/>
          <p:nvPr/>
        </p:nvSpPr>
        <p:spPr>
          <a:xfrm>
            <a:off x="6277755" y="1388968"/>
            <a:ext cx="5479346" cy="3100389"/>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EF1F3E32-6E6B-6FEA-3684-93008307E823}"/>
              </a:ext>
            </a:extLst>
          </p:cNvPr>
          <p:cNvSpPr txBox="1"/>
          <p:nvPr/>
        </p:nvSpPr>
        <p:spPr>
          <a:xfrm>
            <a:off x="656759" y="4952856"/>
            <a:ext cx="5439241" cy="2287614"/>
          </a:xfrm>
          <a:prstGeom prst="rect">
            <a:avLst/>
          </a:prstGeom>
          <a:noFill/>
        </p:spPr>
        <p:txBody>
          <a:bodyPr wrap="square" rtlCol="0">
            <a:spAutoFit/>
          </a:bodyPr>
          <a:lstStyle/>
          <a:p>
            <a:pPr indent="540000" algn="just">
              <a:lnSpc>
                <a:spcPct val="150000"/>
              </a:lnSpc>
            </a:pPr>
            <a:r>
              <a:rPr lang="zh-CN" altLang="en-US" sz="2000" dirty="0">
                <a:latin typeface="Times New Roman" panose="02020603050405020304" pitchFamily="18" charset="0"/>
                <a:cs typeface="Times New Roman" panose="02020603050405020304" pitchFamily="18" charset="0"/>
              </a:rPr>
              <a:t>反之</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3b</a:t>
            </a:r>
            <a:r>
              <a:rPr lang="zh-CN" altLang="en-US" sz="2000" dirty="0">
                <a:latin typeface="Times New Roman" panose="02020603050405020304" pitchFamily="18" charset="0"/>
                <a:cs typeface="Times New Roman" panose="02020603050405020304" pitchFamily="18" charset="0"/>
              </a:rPr>
              <a:t>中油液流入阀腔</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瞬态液动力的作用方向与阀心移动方向相同</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相当于一个负的阻尼力，</a:t>
            </a:r>
            <a:r>
              <a:rPr lang="en-US" altLang="zh-CN" sz="2000" i="1" dirty="0">
                <a:latin typeface="Times New Roman" panose="02020603050405020304" pitchFamily="18" charset="0"/>
                <a:cs typeface="Times New Roman" panose="02020603050405020304" pitchFamily="18" charset="0"/>
              </a:rPr>
              <a:t>l </a:t>
            </a:r>
            <a:r>
              <a:rPr lang="zh-CN" altLang="en-US" sz="2000" dirty="0">
                <a:latin typeface="Times New Roman" panose="02020603050405020304" pitchFamily="18" charset="0"/>
                <a:cs typeface="Times New Roman" panose="02020603050405020304" pitchFamily="18" charset="0"/>
              </a:rPr>
              <a:t>取负值</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并称之为滑阀的“负阻尼长度”。</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4BF1F8AE-1AC0-9692-0D86-0FB8B2B313B3}"/>
              </a:ext>
            </a:extLst>
          </p:cNvPr>
          <p:cNvSpPr txBox="1"/>
          <p:nvPr/>
        </p:nvSpPr>
        <p:spPr>
          <a:xfrm>
            <a:off x="6277755" y="4489357"/>
            <a:ext cx="5439241" cy="2749279"/>
          </a:xfrm>
          <a:prstGeom prst="rect">
            <a:avLst/>
          </a:prstGeom>
          <a:noFill/>
        </p:spPr>
        <p:txBody>
          <a:bodyPr wrap="square" rtlCol="0">
            <a:spAutoFit/>
          </a:bodyPr>
          <a:lstStyle/>
          <a:p>
            <a:pPr indent="540000" algn="just">
              <a:lnSpc>
                <a:spcPct val="150000"/>
              </a:lnSpc>
            </a:pPr>
            <a:r>
              <a:rPr lang="zh-CN" altLang="en-US" sz="2000" dirty="0">
                <a:latin typeface="Times New Roman" panose="02020603050405020304" pitchFamily="18" charset="0"/>
                <a:cs typeface="Times New Roman" panose="02020603050405020304" pitchFamily="18" charset="0"/>
              </a:rPr>
              <a:t>滑阀上的“负阻尼长度”是造成滑阀工作不稳定的原因之一。</a:t>
            </a:r>
          </a:p>
          <a:p>
            <a:pPr indent="540000" algn="just">
              <a:lnSpc>
                <a:spcPct val="150000"/>
              </a:lnSpc>
            </a:pPr>
            <a:r>
              <a:rPr lang="zh-CN" altLang="en-US" sz="2000" dirty="0">
                <a:latin typeface="Times New Roman" panose="02020603050405020304" pitchFamily="18" charset="0"/>
                <a:cs typeface="Times New Roman" panose="02020603050405020304" pitchFamily="18" charset="0"/>
              </a:rPr>
              <a:t>滑阀上如有好几个阀腔串联在一起</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阀心工作的稳定与否就要看各个阀腔阻尼长度的综合作用结果而定。</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54E1A400-A0C4-9B9D-DC5E-A3DD5421460B}"/>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3F0DF245-4B18-21EB-53CC-91ED8ED5D6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8" name="文本框 17">
            <a:extLst>
              <a:ext uri="{FF2B5EF4-FFF2-40B4-BE49-F238E27FC236}">
                <a16:creationId xmlns:a16="http://schemas.microsoft.com/office/drawing/2014/main" id="{D0031C7E-F1C8-EA79-E1F1-9E3B11E24A08}"/>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9" name="矩形 18">
            <a:extLst>
              <a:ext uri="{FF2B5EF4-FFF2-40B4-BE49-F238E27FC236}">
                <a16:creationId xmlns:a16="http://schemas.microsoft.com/office/drawing/2014/main" id="{37C3E218-D4F6-12E4-D9CB-EA644B2D840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561B8020-0F1C-9F83-9606-DE7EAF583AE6}"/>
              </a:ext>
            </a:extLst>
          </p:cNvPr>
          <p:cNvSpPr/>
          <p:nvPr/>
        </p:nvSpPr>
        <p:spPr>
          <a:xfrm>
            <a:off x="429656" y="781746"/>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8.1.4.2 </a:t>
            </a:r>
            <a:r>
              <a:rPr lang="zh-CN" altLang="en-US" sz="2800" b="1" dirty="0">
                <a:solidFill>
                  <a:srgbClr val="003F88"/>
                </a:solidFill>
                <a:latin typeface="微软雅黑" panose="020B0503020204020204" pitchFamily="34" charset="-122"/>
                <a:ea typeface="微软雅黑" panose="020B0503020204020204" pitchFamily="34" charset="-122"/>
              </a:rPr>
              <a:t>液动力</a:t>
            </a:r>
          </a:p>
        </p:txBody>
      </p:sp>
    </p:spTree>
    <p:extLst>
      <p:ext uri="{BB962C8B-B14F-4D97-AF65-F5344CB8AC3E}">
        <p14:creationId xmlns:p14="http://schemas.microsoft.com/office/powerpoint/2010/main" val="90878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E7BFFE5-2B27-5833-987C-CBD652515D67}"/>
              </a:ext>
            </a:extLst>
          </p:cNvPr>
          <p:cNvSpPr txBox="1"/>
          <p:nvPr/>
        </p:nvSpPr>
        <p:spPr>
          <a:xfrm>
            <a:off x="817417" y="2140704"/>
            <a:ext cx="10557163" cy="3269100"/>
          </a:xfrm>
          <a:prstGeom prst="rect">
            <a:avLst/>
          </a:prstGeom>
          <a:noFill/>
        </p:spPr>
        <p:txBody>
          <a:bodyPr wrap="square" rtlCol="0">
            <a:spAutoFit/>
          </a:bodyPr>
          <a:lstStyle/>
          <a:p>
            <a:pPr indent="720000" algn="just">
              <a:lnSpc>
                <a:spcPct val="150000"/>
              </a:lnSpc>
            </a:pPr>
            <a:r>
              <a:rPr lang="zh-CN" altLang="en-US" sz="2000" dirty="0"/>
              <a:t>一般滑阀的阀孔和阀心之间有很小的缝隙</a:t>
            </a:r>
            <a:r>
              <a:rPr lang="en-US" altLang="zh-CN" sz="2000" dirty="0"/>
              <a:t>,</a:t>
            </a:r>
            <a:r>
              <a:rPr lang="zh-CN" altLang="en-US" sz="2000" dirty="0"/>
              <a:t>当缝隙中有油液时</a:t>
            </a:r>
            <a:r>
              <a:rPr lang="en-US" altLang="zh-CN" sz="2000" dirty="0"/>
              <a:t>,</a:t>
            </a:r>
            <a:r>
              <a:rPr lang="zh-CN" altLang="en-US" sz="2000" dirty="0"/>
              <a:t>移动阀心所需的力只须克服粘性摩擦力</a:t>
            </a:r>
            <a:r>
              <a:rPr lang="en-US" altLang="zh-CN" sz="2000" dirty="0"/>
              <a:t>,</a:t>
            </a:r>
            <a:r>
              <a:rPr lang="zh-CN" altLang="en-US" sz="2000" dirty="0"/>
              <a:t>数值应该是相当小的。可是实际情况并非如此</a:t>
            </a:r>
            <a:r>
              <a:rPr lang="en-US" altLang="zh-CN" sz="2000" dirty="0"/>
              <a:t>,</a:t>
            </a:r>
            <a:r>
              <a:rPr lang="zh-CN" altLang="en-US" sz="2000" dirty="0"/>
              <a:t>特别在中、高压系统中</a:t>
            </a:r>
            <a:r>
              <a:rPr lang="en-US" altLang="zh-CN" sz="2000" dirty="0"/>
              <a:t>,</a:t>
            </a:r>
            <a:r>
              <a:rPr lang="zh-CN" altLang="en-US" sz="2000" dirty="0"/>
              <a:t>当阀心停止运动一段时间后</a:t>
            </a:r>
            <a:r>
              <a:rPr lang="en-US" altLang="zh-CN" sz="2000" dirty="0"/>
              <a:t>(</a:t>
            </a:r>
            <a:r>
              <a:rPr lang="zh-CN" altLang="en-US" sz="2000" dirty="0"/>
              <a:t>一般约</a:t>
            </a:r>
            <a:r>
              <a:rPr lang="en-US" altLang="zh-CN" sz="2000" dirty="0"/>
              <a:t>5min</a:t>
            </a:r>
            <a:r>
              <a:rPr lang="zh-CN" altLang="en-US" sz="2000" dirty="0"/>
              <a:t>左右</a:t>
            </a:r>
            <a:r>
              <a:rPr lang="en-US" altLang="zh-CN" sz="2000" dirty="0"/>
              <a:t>),</a:t>
            </a:r>
            <a:r>
              <a:rPr lang="zh-CN" altLang="en-US" sz="2000" dirty="0"/>
              <a:t>这个阻力可以大到几百牛</a:t>
            </a:r>
            <a:r>
              <a:rPr lang="en-US" altLang="zh-CN" sz="2000" dirty="0"/>
              <a:t>,</a:t>
            </a:r>
            <a:r>
              <a:rPr lang="zh-CN" altLang="en-US" sz="2000" dirty="0"/>
              <a:t>使阀心重新移动十分费力。这就是所谓</a:t>
            </a:r>
            <a:r>
              <a:rPr lang="zh-CN" altLang="en-US" sz="2000" b="1" dirty="0">
                <a:solidFill>
                  <a:srgbClr val="FF0000"/>
                </a:solidFill>
              </a:rPr>
              <a:t>滑阀的液压卡紧现象</a:t>
            </a:r>
            <a:r>
              <a:rPr lang="zh-CN" altLang="en-US" sz="2000" dirty="0">
                <a:solidFill>
                  <a:srgbClr val="FF0000"/>
                </a:solidFill>
              </a:rPr>
              <a:t>。</a:t>
            </a:r>
          </a:p>
          <a:p>
            <a:pPr indent="720000" algn="just">
              <a:lnSpc>
                <a:spcPct val="150000"/>
              </a:lnSpc>
            </a:pPr>
            <a:r>
              <a:rPr lang="zh-CN" altLang="en-US" sz="2000" dirty="0"/>
              <a:t>引起液压卡紧的原因</a:t>
            </a:r>
            <a:r>
              <a:rPr lang="en-US" altLang="zh-CN" sz="2000" dirty="0"/>
              <a:t>,</a:t>
            </a:r>
            <a:r>
              <a:rPr lang="zh-CN" altLang="en-US" sz="2000" dirty="0"/>
              <a:t>有的是由于脏物进入缝隙而使阀心移动困难</a:t>
            </a:r>
            <a:r>
              <a:rPr lang="en-US" altLang="zh-CN" sz="2000" dirty="0"/>
              <a:t>,</a:t>
            </a:r>
            <a:r>
              <a:rPr lang="zh-CN" altLang="en-US" sz="2000" dirty="0"/>
              <a:t>有的是由于缝隙过小在油温升高时阀心膨胀而卡死。但是主要的原因来自滑阀副几何形状误差和同心度变化所引起的径向不平衡液压力</a:t>
            </a:r>
            <a:r>
              <a:rPr lang="en-US" altLang="zh-CN" sz="2000" dirty="0"/>
              <a:t>,</a:t>
            </a:r>
            <a:r>
              <a:rPr lang="zh-CN" altLang="en-US" sz="2000" dirty="0"/>
              <a:t>即</a:t>
            </a:r>
            <a:r>
              <a:rPr lang="zh-CN" altLang="en-US" sz="2000" b="1" dirty="0">
                <a:solidFill>
                  <a:srgbClr val="FF0000"/>
                </a:solidFill>
              </a:rPr>
              <a:t>液压卡紧力</a:t>
            </a:r>
            <a:r>
              <a:rPr lang="zh-CN" altLang="en-US" sz="2000" dirty="0">
                <a:solidFill>
                  <a:srgbClr val="FF0000"/>
                </a:solidFill>
              </a:rPr>
              <a:t>。</a:t>
            </a:r>
          </a:p>
        </p:txBody>
      </p:sp>
      <p:cxnSp>
        <p:nvCxnSpPr>
          <p:cNvPr id="9" name="直接连接符 8">
            <a:extLst>
              <a:ext uri="{FF2B5EF4-FFF2-40B4-BE49-F238E27FC236}">
                <a16:creationId xmlns:a16="http://schemas.microsoft.com/office/drawing/2014/main" id="{2D9B144A-01AF-A88A-8163-FFD40C22A75B}"/>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48128A63-ACA6-3933-757C-6F2FFBE07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2" name="文本框 11">
            <a:extLst>
              <a:ext uri="{FF2B5EF4-FFF2-40B4-BE49-F238E27FC236}">
                <a16:creationId xmlns:a16="http://schemas.microsoft.com/office/drawing/2014/main" id="{258C186D-5E9B-F1BB-EE30-BD03218AEDE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3" name="矩形 12">
            <a:extLst>
              <a:ext uri="{FF2B5EF4-FFF2-40B4-BE49-F238E27FC236}">
                <a16:creationId xmlns:a16="http://schemas.microsoft.com/office/drawing/2014/main" id="{D1B0253D-EDE8-0EB3-B63B-E10FF2A33FB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D9D19D74-92C1-BA08-80C6-0C9F2D98ACAE}"/>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8.1.4.3 </a:t>
            </a:r>
            <a:r>
              <a:rPr lang="zh-CN" altLang="en-US" sz="2800" b="1" dirty="0">
                <a:solidFill>
                  <a:srgbClr val="003F88"/>
                </a:solidFill>
                <a:latin typeface="微软雅黑" panose="020B0503020204020204" pitchFamily="34" charset="-122"/>
                <a:ea typeface="微软雅黑" panose="020B0503020204020204" pitchFamily="34" charset="-122"/>
              </a:rPr>
              <a:t>卡紧力</a:t>
            </a:r>
          </a:p>
        </p:txBody>
      </p:sp>
    </p:spTree>
    <p:extLst>
      <p:ext uri="{BB962C8B-B14F-4D97-AF65-F5344CB8AC3E}">
        <p14:creationId xmlns:p14="http://schemas.microsoft.com/office/powerpoint/2010/main" val="3719377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121605E-EEC7-12AB-4FCF-0F4E2EBCB25F}"/>
              </a:ext>
            </a:extLst>
          </p:cNvPr>
          <p:cNvSpPr txBox="1"/>
          <p:nvPr/>
        </p:nvSpPr>
        <p:spPr>
          <a:xfrm>
            <a:off x="526473" y="1561217"/>
            <a:ext cx="9556035" cy="441724"/>
          </a:xfrm>
          <a:prstGeom prst="rect">
            <a:avLst/>
          </a:prstGeom>
          <a:noFill/>
        </p:spPr>
        <p:txBody>
          <a:bodyPr wrap="square" rtlCol="0">
            <a:spAutoFit/>
          </a:bodyPr>
          <a:lstStyle/>
          <a:p>
            <a:pPr algn="just">
              <a:lnSpc>
                <a:spcPct val="125000"/>
              </a:lnSpc>
            </a:pPr>
            <a:r>
              <a:rPr lang="zh-CN" altLang="en-US" sz="2000" dirty="0">
                <a:solidFill>
                  <a:srgbClr val="000000"/>
                </a:solidFill>
                <a:latin typeface="方正书宋_GBK"/>
                <a:cs typeface="Times New Roman" panose="02020603050405020304" pitchFamily="18" charset="0"/>
              </a:rPr>
              <a:t>图</a:t>
            </a:r>
            <a:r>
              <a:rPr lang="en-US" altLang="zh-CN" sz="2000" dirty="0">
                <a:solidFill>
                  <a:srgbClr val="000000"/>
                </a:solidFill>
                <a:latin typeface="方正书宋_GBK"/>
                <a:cs typeface="Times New Roman" panose="02020603050405020304" pitchFamily="18" charset="0"/>
              </a:rPr>
              <a:t>4</a:t>
            </a:r>
            <a:r>
              <a:rPr lang="zh-CN" altLang="en-US" sz="2000" dirty="0">
                <a:solidFill>
                  <a:srgbClr val="000000"/>
                </a:solidFill>
                <a:latin typeface="方正书宋_GBK"/>
                <a:cs typeface="Times New Roman" panose="02020603050405020304" pitchFamily="18" charset="0"/>
              </a:rPr>
              <a:t>所示为滑阀上产生</a:t>
            </a:r>
            <a:r>
              <a:rPr lang="zh-CN" altLang="en-US" sz="2000" b="1" dirty="0">
                <a:solidFill>
                  <a:srgbClr val="FF0000"/>
                </a:solidFill>
                <a:latin typeface="方正书宋_GBK"/>
                <a:cs typeface="Times New Roman" panose="02020603050405020304" pitchFamily="18" charset="0"/>
              </a:rPr>
              <a:t>径向不平衡力</a:t>
            </a:r>
            <a:r>
              <a:rPr lang="zh-CN" altLang="en-US" sz="2000" dirty="0">
                <a:solidFill>
                  <a:srgbClr val="000000"/>
                </a:solidFill>
                <a:latin typeface="方正书宋_GBK"/>
                <a:cs typeface="Times New Roman" panose="02020603050405020304" pitchFamily="18" charset="0"/>
              </a:rPr>
              <a:t>的几种情况：</a:t>
            </a:r>
            <a:endParaRPr lang="zh-CN" altLang="en-US"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36CC0B3D-5B31-39B8-88FC-14F8460ABB2A}"/>
              </a:ext>
            </a:extLst>
          </p:cNvPr>
          <p:cNvSpPr txBox="1"/>
          <p:nvPr/>
        </p:nvSpPr>
        <p:spPr>
          <a:xfrm>
            <a:off x="1294398" y="6139102"/>
            <a:ext cx="9556034" cy="646331"/>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4  </a:t>
            </a:r>
            <a:r>
              <a:rPr lang="zh-CN" altLang="en-US" dirty="0">
                <a:latin typeface="Times New Roman" panose="02020603050405020304" pitchFamily="18" charset="0"/>
                <a:cs typeface="Times New Roman" panose="02020603050405020304" pitchFamily="18" charset="0"/>
              </a:rPr>
              <a:t>滑阀上的径向力</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）无锥度，轴线平行，有偏心  </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）有倒锥，轴线平行，有偏心  </a:t>
            </a: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）阀芯表面有突起，有偏心</a:t>
            </a:r>
            <a:endParaRPr lang="zh-CN" altLang="en-US" sz="1600"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FEAE8E08-0387-6BB6-3A53-5416293707E9}"/>
              </a:ext>
            </a:extLst>
          </p:cNvPr>
          <p:cNvPicPr>
            <a:picLocks noChangeAspect="1"/>
          </p:cNvPicPr>
          <p:nvPr/>
        </p:nvPicPr>
        <p:blipFill>
          <a:blip r:embed="rId3"/>
          <a:srcRect b="13681"/>
          <a:stretch/>
        </p:blipFill>
        <p:spPr>
          <a:xfrm>
            <a:off x="2263751" y="2002941"/>
            <a:ext cx="7617328" cy="4112853"/>
          </a:xfrm>
          <a:prstGeom prst="rect">
            <a:avLst/>
          </a:prstGeom>
        </p:spPr>
      </p:pic>
      <p:cxnSp>
        <p:nvCxnSpPr>
          <p:cNvPr id="9" name="直接连接符 8">
            <a:extLst>
              <a:ext uri="{FF2B5EF4-FFF2-40B4-BE49-F238E27FC236}">
                <a16:creationId xmlns:a16="http://schemas.microsoft.com/office/drawing/2014/main" id="{88DD01F4-6520-68A9-77C1-B1A89FAE9C09}"/>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F1B8867-7F51-9EF0-371C-9623FAD02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4CB79ABF-20C9-BC6F-C212-16F84D845ECD}"/>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5" name="矩形 14">
            <a:extLst>
              <a:ext uri="{FF2B5EF4-FFF2-40B4-BE49-F238E27FC236}">
                <a16:creationId xmlns:a16="http://schemas.microsoft.com/office/drawing/2014/main" id="{101B235F-C33C-202F-B76C-9A3AE3DF55C5}"/>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453C7D72-47D5-4DD9-765E-DF22945E1AA8}"/>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8.1.4.3 </a:t>
            </a:r>
            <a:r>
              <a:rPr lang="zh-CN" altLang="en-US" sz="2800" b="1" dirty="0">
                <a:solidFill>
                  <a:srgbClr val="003F88"/>
                </a:solidFill>
                <a:latin typeface="微软雅黑" panose="020B0503020204020204" pitchFamily="34" charset="-122"/>
                <a:ea typeface="微软雅黑" panose="020B0503020204020204" pitchFamily="34" charset="-122"/>
              </a:rPr>
              <a:t>卡紧力</a:t>
            </a:r>
          </a:p>
        </p:txBody>
      </p:sp>
    </p:spTree>
    <p:extLst>
      <p:ext uri="{BB962C8B-B14F-4D97-AF65-F5344CB8AC3E}">
        <p14:creationId xmlns:p14="http://schemas.microsoft.com/office/powerpoint/2010/main" val="429495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121605E-EEC7-12AB-4FCF-0F4E2EBCB25F}"/>
              </a:ext>
            </a:extLst>
          </p:cNvPr>
          <p:cNvSpPr txBox="1"/>
          <p:nvPr/>
        </p:nvSpPr>
        <p:spPr>
          <a:xfrm>
            <a:off x="517457" y="1566960"/>
            <a:ext cx="5385826" cy="5903989"/>
          </a:xfrm>
          <a:prstGeom prst="rect">
            <a:avLst/>
          </a:prstGeom>
          <a:noFill/>
        </p:spPr>
        <p:txBody>
          <a:bodyPr wrap="square" rtlCol="0">
            <a:spAutoFit/>
          </a:bodyPr>
          <a:lstStyle/>
          <a:p>
            <a:pPr algn="just">
              <a:lnSpc>
                <a:spcPct val="125000"/>
              </a:lnSpc>
            </a:pPr>
            <a:r>
              <a:rPr lang="zh-CN" altLang="en-US" sz="2000" dirty="0">
                <a:latin typeface="Times New Roman" panose="02020603050405020304" pitchFamily="18" charset="0"/>
                <a:cs typeface="Times New Roman" panose="02020603050405020304" pitchFamily="18" charset="0"/>
              </a:rPr>
              <a:t>        当阀心受到</a:t>
            </a:r>
            <a:r>
              <a:rPr lang="zh-CN" altLang="en-US" sz="2000" b="1" dirty="0">
                <a:solidFill>
                  <a:srgbClr val="FF0000"/>
                </a:solidFill>
                <a:latin typeface="Times New Roman" panose="02020603050405020304" pitchFamily="18" charset="0"/>
                <a:cs typeface="Times New Roman" panose="02020603050405020304" pitchFamily="18" charset="0"/>
              </a:rPr>
              <a:t>径向不平衡力</a:t>
            </a:r>
            <a:r>
              <a:rPr lang="zh-CN" altLang="en-US" sz="2000" dirty="0">
                <a:latin typeface="Times New Roman" panose="02020603050405020304" pitchFamily="18" charset="0"/>
                <a:cs typeface="Times New Roman" panose="02020603050405020304" pitchFamily="18" charset="0"/>
              </a:rPr>
              <a:t>作用而和阀孔相接触后</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缝隙中的存留液体被挤出</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阀心和阀孔间的摩擦变成半干摩擦乃至干摩擦</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因而使阀心重新移动时所需的力就大大增加了。</a:t>
            </a:r>
            <a:endParaRPr lang="en-US" altLang="zh-CN" sz="2000" dirty="0">
              <a:latin typeface="Times New Roman" panose="02020603050405020304" pitchFamily="18" charset="0"/>
              <a:cs typeface="Times New Roman" panose="02020603050405020304" pitchFamily="18" charset="0"/>
            </a:endParaRPr>
          </a:p>
          <a:p>
            <a:pPr algn="just">
              <a:lnSpc>
                <a:spcPct val="125000"/>
              </a:lnSpc>
            </a:pP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b="1" dirty="0">
                <a:solidFill>
                  <a:srgbClr val="000000"/>
                </a:solidFill>
                <a:latin typeface="方正书宋_GBK"/>
                <a:cs typeface="Times New Roman" panose="02020603050405020304" pitchFamily="18" charset="0"/>
              </a:rPr>
              <a:t>减小液压卡紧力的措施</a:t>
            </a:r>
            <a:r>
              <a:rPr lang="en-US" altLang="zh-CN" sz="2000" b="1" dirty="0">
                <a:solidFill>
                  <a:srgbClr val="000000"/>
                </a:solidFill>
                <a:latin typeface="方正书宋_GBK"/>
                <a:cs typeface="Times New Roman" panose="02020603050405020304" pitchFamily="18" charset="0"/>
              </a:rPr>
              <a:t>:</a:t>
            </a:r>
          </a:p>
          <a:p>
            <a:pPr>
              <a:lnSpc>
                <a:spcPct val="150000"/>
              </a:lnSpc>
            </a:pPr>
            <a:r>
              <a:rPr lang="en-US" altLang="zh-CN" sz="2000" dirty="0">
                <a:solidFill>
                  <a:srgbClr val="000000"/>
                </a:solidFill>
                <a:latin typeface="方正书宋_GBK"/>
                <a:cs typeface="Times New Roman" panose="02020603050405020304" pitchFamily="18" charset="0"/>
              </a:rPr>
              <a:t>1) </a:t>
            </a:r>
            <a:r>
              <a:rPr lang="zh-CN" altLang="en-US" sz="2000" dirty="0">
                <a:solidFill>
                  <a:srgbClr val="000000"/>
                </a:solidFill>
                <a:latin typeface="方正书宋_GBK"/>
                <a:cs typeface="Times New Roman" panose="02020603050405020304" pitchFamily="18" charset="0"/>
              </a:rPr>
              <a:t>提高阀的加工和装配</a:t>
            </a:r>
            <a:r>
              <a:rPr lang="zh-CN" altLang="en-US" sz="2000" b="1" dirty="0">
                <a:solidFill>
                  <a:srgbClr val="FF0000"/>
                </a:solidFill>
                <a:latin typeface="方正书宋_GBK"/>
                <a:cs typeface="Times New Roman" panose="02020603050405020304" pitchFamily="18" charset="0"/>
              </a:rPr>
              <a:t>精度</a:t>
            </a:r>
            <a:r>
              <a:rPr lang="en-US" altLang="zh-CN" sz="2000" dirty="0">
                <a:solidFill>
                  <a:srgbClr val="000000"/>
                </a:solidFill>
                <a:latin typeface="方正书宋_GBK"/>
                <a:cs typeface="Times New Roman" panose="02020603050405020304" pitchFamily="18" charset="0"/>
              </a:rPr>
              <a:t>,</a:t>
            </a:r>
            <a:r>
              <a:rPr lang="zh-CN" altLang="en-US" sz="2000" dirty="0">
                <a:solidFill>
                  <a:srgbClr val="000000"/>
                </a:solidFill>
                <a:latin typeface="方正书宋_GBK"/>
                <a:cs typeface="Times New Roman" panose="02020603050405020304" pitchFamily="18" charset="0"/>
              </a:rPr>
              <a:t>避免出现偏心。</a:t>
            </a:r>
            <a:endParaRPr lang="en-US" altLang="zh-CN" sz="2000" dirty="0">
              <a:solidFill>
                <a:srgbClr val="000000"/>
              </a:solidFill>
              <a:latin typeface="方正书宋_GBK"/>
              <a:cs typeface="Times New Roman" panose="02020603050405020304" pitchFamily="18" charset="0"/>
            </a:endParaRPr>
          </a:p>
          <a:p>
            <a:pPr>
              <a:lnSpc>
                <a:spcPct val="150000"/>
              </a:lnSpc>
            </a:pPr>
            <a:r>
              <a:rPr lang="en-US" altLang="zh-CN" sz="2000" dirty="0">
                <a:solidFill>
                  <a:srgbClr val="000000"/>
                </a:solidFill>
                <a:latin typeface="方正书宋_GBK"/>
                <a:cs typeface="Times New Roman" panose="02020603050405020304" pitchFamily="18" charset="0"/>
              </a:rPr>
              <a:t>2) </a:t>
            </a:r>
            <a:r>
              <a:rPr lang="zh-CN" altLang="en-US" sz="2000" dirty="0">
                <a:solidFill>
                  <a:srgbClr val="000000"/>
                </a:solidFill>
                <a:latin typeface="方正书宋_GBK"/>
                <a:cs typeface="Times New Roman" panose="02020603050405020304" pitchFamily="18" charset="0"/>
              </a:rPr>
              <a:t>在阀心台肩上开出平衡径向力的</a:t>
            </a:r>
            <a:r>
              <a:rPr lang="zh-CN" altLang="en-US" sz="2000" b="1" dirty="0">
                <a:solidFill>
                  <a:srgbClr val="FF0000"/>
                </a:solidFill>
                <a:latin typeface="方正书宋_GBK"/>
                <a:cs typeface="Times New Roman" panose="02020603050405020304" pitchFamily="18" charset="0"/>
              </a:rPr>
              <a:t>均压槽</a:t>
            </a:r>
            <a:endParaRPr lang="en-US" altLang="zh-CN" sz="2000" b="1" dirty="0">
              <a:solidFill>
                <a:srgbClr val="FF0000"/>
              </a:solidFill>
              <a:latin typeface="方正书宋_GBK"/>
              <a:cs typeface="Times New Roman" panose="02020603050405020304" pitchFamily="18" charset="0"/>
            </a:endParaRPr>
          </a:p>
          <a:p>
            <a:pPr>
              <a:lnSpc>
                <a:spcPct val="150000"/>
              </a:lnSpc>
            </a:pPr>
            <a:r>
              <a:rPr lang="en-US" altLang="zh-CN" sz="2000" dirty="0">
                <a:solidFill>
                  <a:srgbClr val="000000"/>
                </a:solidFill>
                <a:latin typeface="方正书宋_GBK"/>
                <a:cs typeface="Times New Roman" panose="02020603050405020304" pitchFamily="18" charset="0"/>
              </a:rPr>
              <a:t>3) </a:t>
            </a:r>
            <a:r>
              <a:rPr lang="zh-CN" altLang="en-US" sz="2000" dirty="0">
                <a:solidFill>
                  <a:srgbClr val="000000"/>
                </a:solidFill>
                <a:latin typeface="方正书宋_GBK"/>
                <a:cs typeface="Times New Roman" panose="02020603050405020304" pitchFamily="18" charset="0"/>
              </a:rPr>
              <a:t>使阀心或阀套在轴向或圆周方向上产生高频</a:t>
            </a:r>
            <a:endParaRPr lang="en-US" altLang="zh-CN" sz="2000" dirty="0">
              <a:solidFill>
                <a:srgbClr val="000000"/>
              </a:solidFill>
              <a:latin typeface="方正书宋_GBK"/>
              <a:cs typeface="Times New Roman" panose="02020603050405020304" pitchFamily="18" charset="0"/>
            </a:endParaRPr>
          </a:p>
          <a:p>
            <a:pPr>
              <a:lnSpc>
                <a:spcPct val="150000"/>
              </a:lnSpc>
            </a:pPr>
            <a:r>
              <a:rPr lang="en-US" altLang="zh-CN" sz="2000" dirty="0">
                <a:solidFill>
                  <a:srgbClr val="000000"/>
                </a:solidFill>
                <a:latin typeface="方正书宋_GBK"/>
                <a:cs typeface="Times New Roman" panose="02020603050405020304" pitchFamily="18" charset="0"/>
              </a:rPr>
              <a:t> </a:t>
            </a:r>
            <a:r>
              <a:rPr lang="zh-CN" altLang="en-US" sz="2000" dirty="0">
                <a:solidFill>
                  <a:srgbClr val="000000"/>
                </a:solidFill>
                <a:latin typeface="方正书宋_GBK"/>
                <a:cs typeface="Times New Roman" panose="02020603050405020304" pitchFamily="18" charset="0"/>
              </a:rPr>
              <a:t>  小振幅的振动（</a:t>
            </a:r>
            <a:r>
              <a:rPr lang="zh-CN" altLang="en-US" sz="2000" b="1" dirty="0">
                <a:solidFill>
                  <a:srgbClr val="FF0000"/>
                </a:solidFill>
                <a:latin typeface="方正书宋_GBK"/>
                <a:cs typeface="Times New Roman" panose="02020603050405020304" pitchFamily="18" charset="0"/>
              </a:rPr>
              <a:t>颤振信号</a:t>
            </a:r>
            <a:r>
              <a:rPr lang="zh-CN" altLang="en-US" sz="2000" dirty="0">
                <a:solidFill>
                  <a:srgbClr val="000000"/>
                </a:solidFill>
                <a:latin typeface="方正书宋_GBK"/>
                <a:cs typeface="Times New Roman" panose="02020603050405020304" pitchFamily="18" charset="0"/>
              </a:rPr>
              <a:t>）或摆动。</a:t>
            </a:r>
          </a:p>
          <a:p>
            <a:pPr>
              <a:lnSpc>
                <a:spcPct val="150000"/>
              </a:lnSpc>
            </a:pPr>
            <a:r>
              <a:rPr lang="en-US" altLang="zh-CN" sz="2000" dirty="0">
                <a:solidFill>
                  <a:srgbClr val="000000"/>
                </a:solidFill>
                <a:latin typeface="方正书宋_GBK"/>
                <a:cs typeface="Times New Roman" panose="02020603050405020304" pitchFamily="18" charset="0"/>
              </a:rPr>
              <a:t>4) </a:t>
            </a:r>
            <a:r>
              <a:rPr lang="zh-CN" altLang="en-US" sz="2000" dirty="0">
                <a:solidFill>
                  <a:srgbClr val="000000"/>
                </a:solidFill>
                <a:latin typeface="方正书宋_GBK"/>
                <a:cs typeface="Times New Roman" panose="02020603050405020304" pitchFamily="18" charset="0"/>
              </a:rPr>
              <a:t>精细过滤油液。</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a:p>
            <a:pPr algn="just">
              <a:lnSpc>
                <a:spcPct val="125000"/>
              </a:lnSpc>
            </a:pPr>
            <a:r>
              <a:rPr lang="zh-CN" altLang="en-US" sz="2000" dirty="0">
                <a:latin typeface="Times New Roman" panose="02020603050405020304" pitchFamily="18" charset="0"/>
                <a:cs typeface="Times New Roman" panose="02020603050405020304" pitchFamily="18" charset="0"/>
              </a:rPr>
              <a:t>        </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36CC0B3D-5B31-39B8-88FC-14F8460ABB2A}"/>
              </a:ext>
            </a:extLst>
          </p:cNvPr>
          <p:cNvSpPr txBox="1"/>
          <p:nvPr/>
        </p:nvSpPr>
        <p:spPr>
          <a:xfrm>
            <a:off x="6213105" y="4001708"/>
            <a:ext cx="538582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径向不平衡力计算图</a:t>
            </a:r>
            <a:endParaRPr lang="en-US" altLang="zh-CN"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06CBA48D-7B95-C69E-33BF-6611FB460D1A}"/>
              </a:ext>
            </a:extLst>
          </p:cNvPr>
          <p:cNvSpPr/>
          <p:nvPr/>
        </p:nvSpPr>
        <p:spPr>
          <a:xfrm>
            <a:off x="6096000" y="1633340"/>
            <a:ext cx="5479346" cy="2810323"/>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BA2EB2F2-076E-7AFE-48F8-8D0490299EAF}"/>
              </a:ext>
            </a:extLst>
          </p:cNvPr>
          <p:cNvPicPr>
            <a:picLocks noChangeAspect="1"/>
          </p:cNvPicPr>
          <p:nvPr/>
        </p:nvPicPr>
        <p:blipFill>
          <a:blip r:embed="rId3"/>
          <a:srcRect b="11886"/>
          <a:stretch/>
        </p:blipFill>
        <p:spPr>
          <a:xfrm>
            <a:off x="6684082" y="1753128"/>
            <a:ext cx="4595096" cy="2287182"/>
          </a:xfrm>
          <a:prstGeom prst="rect">
            <a:avLst/>
          </a:prstGeom>
        </p:spPr>
      </p:pic>
      <p:sp>
        <p:nvSpPr>
          <p:cNvPr id="24" name="矩形 23">
            <a:extLst>
              <a:ext uri="{FF2B5EF4-FFF2-40B4-BE49-F238E27FC236}">
                <a16:creationId xmlns:a16="http://schemas.microsoft.com/office/drawing/2014/main" id="{A159DBE7-5EE8-B9C3-13EF-60E9DAA63356}"/>
              </a:ext>
            </a:extLst>
          </p:cNvPr>
          <p:cNvSpPr/>
          <p:nvPr/>
        </p:nvSpPr>
        <p:spPr>
          <a:xfrm>
            <a:off x="4788568" y="5553097"/>
            <a:ext cx="641685" cy="3900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41C0D323-5245-C734-A53D-431E8E99A678}"/>
              </a:ext>
            </a:extLst>
          </p:cNvPr>
          <p:cNvSpPr txBox="1"/>
          <p:nvPr/>
        </p:nvSpPr>
        <p:spPr>
          <a:xfrm>
            <a:off x="6072415" y="4435114"/>
            <a:ext cx="5479345" cy="902619"/>
          </a:xfrm>
          <a:prstGeom prst="rect">
            <a:avLst/>
          </a:prstGeom>
          <a:noFill/>
        </p:spPr>
        <p:txBody>
          <a:bodyPr wrap="square" rtlCol="0">
            <a:spAutoFit/>
          </a:bodyPr>
          <a:lstStyle/>
          <a:p>
            <a:pPr>
              <a:lnSpc>
                <a:spcPct val="150000"/>
              </a:lnSpc>
            </a:pPr>
            <a:r>
              <a:rPr lang="zh-CN" altLang="en-US" sz="2000" dirty="0">
                <a:latin typeface="Times New Roman" panose="02020603050405020304" pitchFamily="18" charset="0"/>
                <a:cs typeface="Times New Roman" panose="02020603050405020304" pitchFamily="18" charset="0"/>
              </a:rPr>
              <a:t>由图</a:t>
            </a:r>
            <a:r>
              <a:rPr lang="en-US" altLang="zh-CN" sz="2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可以推导出</a:t>
            </a:r>
            <a:r>
              <a:rPr lang="zh-CN" altLang="en-US" sz="2000" b="1" dirty="0">
                <a:solidFill>
                  <a:srgbClr val="FF0000"/>
                </a:solidFill>
                <a:latin typeface="Times New Roman" panose="02020603050405020304" pitchFamily="18" charset="0"/>
                <a:cs typeface="Times New Roman" panose="02020603050405020304" pitchFamily="18" charset="0"/>
              </a:rPr>
              <a:t>径向不平衡力</a:t>
            </a:r>
            <a:r>
              <a:rPr lang="zh-CN" altLang="en-US" sz="2000" dirty="0">
                <a:latin typeface="Times New Roman" panose="02020603050405020304" pitchFamily="18" charset="0"/>
                <a:cs typeface="Times New Roman" panose="02020603050405020304" pitchFamily="18" charset="0"/>
              </a:rPr>
              <a:t>的估算公式如下：</a:t>
            </a:r>
            <a:endParaRPr lang="en-US" altLang="zh-CN" sz="2000" dirty="0">
              <a:solidFill>
                <a:srgbClr val="000000"/>
              </a:solidFill>
              <a:latin typeface="方正书宋_GBK"/>
              <a:cs typeface="Times New Roman" panose="02020603050405020304" pitchFamily="18" charset="0"/>
            </a:endParaRP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5DE2019-770F-4D13-DE82-A875862D2694}"/>
                  </a:ext>
                </a:extLst>
              </p:cNvPr>
              <p:cNvSpPr txBox="1"/>
              <p:nvPr/>
            </p:nvSpPr>
            <p:spPr>
              <a:xfrm>
                <a:off x="5534525" y="4932594"/>
                <a:ext cx="6754940" cy="24842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eqArr>
                        <m:eqArrPr>
                          <m:ctrlPr>
                            <a:rPr lang="zh-CN" altLang="zh-CN" i="1" smtClean="0">
                              <a:latin typeface="Cambria Math" panose="02040503050406030204" pitchFamily="18" charset="0"/>
                            </a:rPr>
                          </m:ctrlPr>
                        </m:eqArrPr>
                        <m:e>
                          <m:r>
                            <m:rPr>
                              <m:nor/>
                            </m:rPr>
                            <a:rPr lang="en-US" altLang="zh-CN" b="0" i="0" smtClean="0">
                              <a:latin typeface="Times New Roman" panose="02020603050405020304" pitchFamily="18" charset="0"/>
                              <a:cs typeface="Times New Roman" panose="02020603050405020304" pitchFamily="18" charset="0"/>
                            </a:rPr>
                            <m:t>F</m:t>
                          </m:r>
                          <m:r>
                            <a:rPr lang="en-US" altLang="zh-CN" i="1">
                              <a:latin typeface="Cambria Math" panose="02040503050406030204" pitchFamily="18" charset="0"/>
                            </a:rPr>
                            <m:t>=</m:t>
                          </m:r>
                          <m:nary>
                            <m:naryPr>
                              <m:limLoc m:val="subSup"/>
                              <m:grow m:val="on"/>
                              <m:ctrlPr>
                                <a:rPr lang="zh-CN" altLang="zh-CN" i="1">
                                  <a:latin typeface="Cambria Math" panose="02040503050406030204" pitchFamily="18" charset="0"/>
                                </a:rPr>
                              </m:ctrlPr>
                            </m:naryPr>
                            <m:sub>
                              <m:r>
                                <a:rPr lang="en-US" altLang="zh-CN" i="1">
                                  <a:latin typeface="Cambria Math" panose="02040503050406030204" pitchFamily="18" charset="0"/>
                                </a:rPr>
                                <m:t>0</m:t>
                              </m:r>
                            </m:sub>
                            <m:sup>
                              <m:r>
                                <a:rPr lang="en-US" altLang="zh-CN" i="1">
                                  <a:latin typeface="Cambria Math" panose="02040503050406030204" pitchFamily="18" charset="0"/>
                                </a:rPr>
                                <m:t>2</m:t>
                              </m:r>
                              <m:r>
                                <a:rPr lang="en-US" altLang="zh-CN" i="1">
                                  <a:latin typeface="Cambria Math" panose="02040503050406030204" pitchFamily="18" charset="0"/>
                                </a:rPr>
                                <m:t>𝜋</m:t>
                              </m:r>
                            </m:sup>
                            <m:e>
                              <m:r>
                                <a:rPr lang="en-US" altLang="zh-CN" b="0" i="1" smtClean="0">
                                  <a:latin typeface="Cambria Math" panose="02040503050406030204" pitchFamily="18" charset="0"/>
                                </a:rPr>
                                <m:t> </m:t>
                              </m:r>
                            </m:e>
                          </m:nary>
                          <m:nary>
                            <m:naryPr>
                              <m:limLoc m:val="subSup"/>
                              <m:grow m:val="on"/>
                              <m:ctrlPr>
                                <a:rPr lang="zh-CN" altLang="zh-CN" i="1">
                                  <a:latin typeface="Cambria Math" panose="02040503050406030204" pitchFamily="18" charset="0"/>
                                </a:rPr>
                              </m:ctrlPr>
                            </m:naryPr>
                            <m:sub>
                              <m:r>
                                <a:rPr lang="en-US" altLang="zh-CN" i="1">
                                  <a:latin typeface="Cambria Math" panose="02040503050406030204" pitchFamily="18" charset="0"/>
                                </a:rPr>
                                <m:t>0</m:t>
                              </m:r>
                            </m:sub>
                            <m:sup>
                              <m:r>
                                <a:rPr lang="en-US" altLang="zh-CN" i="1">
                                  <a:latin typeface="Cambria Math" panose="02040503050406030204" pitchFamily="18" charset="0"/>
                                </a:rPr>
                                <m:t>𝑙</m:t>
                              </m:r>
                            </m:sup>
                            <m:e>
                              <m:r>
                                <a:rPr lang="en-US" altLang="zh-CN" b="0" i="1" smtClean="0">
                                  <a:latin typeface="Cambria Math" panose="02040503050406030204" pitchFamily="18" charset="0"/>
                                </a:rPr>
                                <m:t> </m:t>
                              </m:r>
                            </m:e>
                          </m:nary>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1</m:t>
                                          </m:r>
                                        </m:sub>
                                      </m:sSub>
                                      <m:r>
                                        <a:rPr lang="en-US" altLang="zh-CN" i="1">
                                          <a:latin typeface="Cambria Math" panose="02040503050406030204" pitchFamily="18" charset="0"/>
                                        </a:rPr>
                                        <m:t>+</m:t>
                                      </m:r>
                                      <m:r>
                                        <m:rPr>
                                          <m:sty m:val="p"/>
                                        </m:rPr>
                                        <a:rPr lang="en-US" altLang="zh-CN">
                                          <a:latin typeface="Cambria Math" panose="02040503050406030204" pitchFamily="18" charset="0"/>
                                        </a:rPr>
                                        <m:t>Δ</m:t>
                                      </m:r>
                                      <m:r>
                                        <a:rPr lang="en-US" altLang="zh-CN" i="1">
                                          <a:latin typeface="Cambria Math" panose="02040503050406030204" pitchFamily="18" charset="0"/>
                                        </a:rPr>
                                        <m:t>𝑟</m:t>
                                      </m:r>
                                    </m:num>
                                    <m:den>
                                      <m:r>
                                        <a:rPr lang="en-US" altLang="zh-CN" i="1">
                                          <a:latin typeface="Cambria Math" panose="02040503050406030204" pitchFamily="18" charset="0"/>
                                        </a:rPr>
                                        <m:t>2</m:t>
                                      </m:r>
                                      <m:sSub>
                                        <m:sSubPr>
                                          <m:ctrlPr>
                                            <a:rPr lang="zh-CN"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1</m:t>
                                          </m:r>
                                        </m:sub>
                                      </m:sSub>
                                      <m:r>
                                        <a:rPr lang="en-US" altLang="zh-CN" i="1">
                                          <a:latin typeface="Cambria Math" panose="02040503050406030204" pitchFamily="18" charset="0"/>
                                        </a:rPr>
                                        <m:t>+</m:t>
                                      </m:r>
                                      <m:r>
                                        <m:rPr>
                                          <m:sty m:val="p"/>
                                        </m:rPr>
                                        <a:rPr lang="en-US" altLang="zh-CN">
                                          <a:latin typeface="Cambria Math" panose="02040503050406030204" pitchFamily="18" charset="0"/>
                                        </a:rPr>
                                        <m:t>Δ</m:t>
                                      </m:r>
                                      <m:r>
                                        <a:rPr lang="en-US" altLang="zh-CN" i="1">
                                          <a:latin typeface="Cambria Math" panose="02040503050406030204" pitchFamily="18" charset="0"/>
                                        </a:rPr>
                                        <m:t>𝑟</m:t>
                                      </m:r>
                                    </m:den>
                                  </m:f>
                                </m:e>
                              </m:d>
                              <m:r>
                                <m:rPr>
                                  <m:sty m:val="p"/>
                                </m:rPr>
                                <a:rPr lang="en-US" altLang="zh-CN">
                                  <a:latin typeface="Cambria Math" panose="02040503050406030204" pitchFamily="18" charset="0"/>
                                </a:rPr>
                                <m:t>Δ</m:t>
                              </m:r>
                              <m:r>
                                <a:rPr lang="en-US" altLang="zh-CN" i="1">
                                  <a:latin typeface="Cambria Math" panose="02040503050406030204" pitchFamily="18" charset="0"/>
                                </a:rPr>
                                <m:t>𝑝</m:t>
                              </m:r>
                            </m:e>
                          </m:d>
                          <m:r>
                            <m:rPr>
                              <m:sty m:val="p"/>
                            </m:rPr>
                            <a:rPr lang="en-US" altLang="zh-CN">
                              <a:latin typeface="Cambria Math" panose="02040503050406030204" pitchFamily="18" charset="0"/>
                            </a:rPr>
                            <m:t>lr</m:t>
                          </m:r>
                          <m:r>
                            <a:rPr lang="en-US" altLang="zh-CN" i="1">
                              <a:latin typeface="Cambria Math" panose="02040503050406030204" pitchFamily="18" charset="0"/>
                            </a:rPr>
                            <m:t>𝑐𝑜𝑠</m:t>
                          </m:r>
                          <m:r>
                            <a:rPr lang="en-US" altLang="zh-CN" i="1">
                              <a:latin typeface="Cambria Math" panose="02040503050406030204" pitchFamily="18" charset="0"/>
                            </a:rPr>
                            <m:t>𝜃</m:t>
                          </m:r>
                          <m:r>
                            <a:rPr lang="en-US" altLang="zh-CN" i="1">
                              <a:latin typeface="Cambria Math" panose="02040503050406030204" pitchFamily="18" charset="0"/>
                            </a:rPr>
                            <m:t>𝑑</m:t>
                          </m:r>
                          <m:r>
                            <a:rPr lang="en-US" altLang="zh-CN" i="1">
                              <a:latin typeface="Cambria Math" panose="02040503050406030204" pitchFamily="18" charset="0"/>
                            </a:rPr>
                            <m:t>𝜃</m:t>
                          </m:r>
                          <m:r>
                            <a:rPr lang="en-US" altLang="zh-CN" i="1">
                              <a:latin typeface="Cambria Math" panose="02040503050406030204" pitchFamily="18" charset="0"/>
                            </a:rPr>
                            <m:t>𝑑𝑥</m:t>
                          </m:r>
                        </m:e>
                        <m:e>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𝜋</m:t>
                              </m:r>
                              <m:r>
                                <a:rPr lang="en-US" altLang="zh-CN" i="1">
                                  <a:latin typeface="Cambria Math" panose="02040503050406030204" pitchFamily="18" charset="0"/>
                                </a:rPr>
                                <m:t>𝑙</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r>
                                <m:rPr>
                                  <m:sty m:val="p"/>
                                </m:rPr>
                                <a:rPr lang="en-US" altLang="zh-CN">
                                  <a:latin typeface="Cambria Math" panose="02040503050406030204" pitchFamily="18" charset="0"/>
                                </a:rPr>
                                <m:t>Δ</m:t>
                              </m:r>
                              <m:r>
                                <a:rPr lang="en-US" altLang="zh-CN" i="1">
                                  <a:latin typeface="Cambria Math" panose="02040503050406030204" pitchFamily="18" charset="0"/>
                                </a:rPr>
                                <m:t>𝑟</m:t>
                              </m:r>
                              <m:r>
                                <m:rPr>
                                  <m:sty m:val="p"/>
                                </m:rPr>
                                <a:rPr lang="en-US" altLang="zh-CN">
                                  <a:latin typeface="Cambria Math" panose="02040503050406030204" pitchFamily="18" charset="0"/>
                                </a:rPr>
                                <m:t>Δ</m:t>
                              </m:r>
                              <m:r>
                                <a:rPr lang="en-US" altLang="zh-CN" i="1">
                                  <a:latin typeface="Cambria Math" panose="02040503050406030204" pitchFamily="18" charset="0"/>
                                </a:rPr>
                                <m:t>𝑝</m:t>
                              </m:r>
                            </m:num>
                            <m:den>
                              <m:r>
                                <a:rPr lang="en-US" altLang="zh-CN" i="1">
                                  <a:latin typeface="Cambria Math" panose="02040503050406030204" pitchFamily="18" charset="0"/>
                                </a:rPr>
                                <m:t>4</m:t>
                              </m:r>
                              <m:r>
                                <a:rPr lang="en-US" altLang="zh-CN" i="1">
                                  <a:latin typeface="Cambria Math" panose="02040503050406030204" pitchFamily="18" charset="0"/>
                                </a:rPr>
                                <m:t>𝑒</m:t>
                              </m:r>
                            </m:den>
                          </m:f>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zh-CN" altLang="zh-CN" i="1">
                                          <a:latin typeface="Cambria Math" panose="02040503050406030204" pitchFamily="18" charset="0"/>
                                        </a:rPr>
                                      </m:ctrlPr>
                                    </m:radPr>
                                    <m:deg/>
                                    <m:e>
                                      <m:r>
                                        <a:rPr lang="en-US" altLang="zh-CN" i="1">
                                          <a:latin typeface="Cambria Math" panose="02040503050406030204" pitchFamily="18" charset="0"/>
                                        </a:rPr>
                                        <m:t>1</m:t>
                                      </m:r>
                                      <m:r>
                                        <a:rPr lang="en-US" altLang="zh-CN" b="0" i="1" smtClean="0">
                                          <a:latin typeface="Cambria Math" panose="02040503050406030204" pitchFamily="18" charset="0"/>
                                        </a:rPr>
                                        <m:t>−</m:t>
                                      </m:r>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𝑒</m:t>
                                                  </m:r>
                                                </m:num>
                                                <m:den>
                                                  <m:r>
                                                    <a:rPr lang="en-US" altLang="zh-CN" i="1">
                                                      <a:latin typeface="Cambria Math" panose="02040503050406030204" pitchFamily="18" charset="0"/>
                                                    </a:rPr>
                                                    <m:t>2</m:t>
                                                  </m:r>
                                                  <m:sSub>
                                                    <m:sSubPr>
                                                      <m:ctrlPr>
                                                        <a:rPr lang="zh-CN"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0</m:t>
                                                      </m:r>
                                                    </m:sub>
                                                  </m:sSub>
                                                  <m:r>
                                                    <a:rPr lang="en-US" altLang="zh-CN" i="1">
                                                      <a:latin typeface="Cambria Math" panose="02040503050406030204" pitchFamily="18" charset="0"/>
                                                    </a:rPr>
                                                    <m:t>+</m:t>
                                                  </m:r>
                                                  <m:r>
                                                    <m:rPr>
                                                      <m:sty m:val="p"/>
                                                    </m:rPr>
                                                    <a:rPr lang="en-US" altLang="zh-CN">
                                                      <a:latin typeface="Cambria Math" panose="02040503050406030204" pitchFamily="18" charset="0"/>
                                                    </a:rPr>
                                                    <m:t>Δ</m:t>
                                                  </m:r>
                                                  <m:r>
                                                    <a:rPr lang="en-US" altLang="zh-CN" i="1">
                                                      <a:latin typeface="Cambria Math" panose="02040503050406030204" pitchFamily="18" charset="0"/>
                                                    </a:rPr>
                                                    <m:t>𝑟</m:t>
                                                  </m:r>
                                                </m:den>
                                              </m:f>
                                            </m:e>
                                          </m:d>
                                        </m:e>
                                        <m:sup>
                                          <m:r>
                                            <a:rPr lang="en-US" altLang="zh-CN" i="1">
                                              <a:latin typeface="Cambria Math" panose="02040503050406030204" pitchFamily="18" charset="0"/>
                                            </a:rPr>
                                            <m:t>2</m:t>
                                          </m:r>
                                        </m:sup>
                                      </m:sSup>
                                    </m:e>
                                  </m:rad>
                                </m:den>
                              </m:f>
                              <m:r>
                                <a:rPr lang="en-US" altLang="zh-CN" b="0" i="1" smtClean="0">
                                  <a:latin typeface="Cambria Math" panose="02040503050406030204" pitchFamily="18" charset="0"/>
                                </a:rPr>
                                <m:t>−</m:t>
                              </m:r>
                              <m:r>
                                <a:rPr lang="en-US" altLang="zh-CN" i="1">
                                  <a:latin typeface="Cambria Math" panose="02040503050406030204" pitchFamily="18" charset="0"/>
                                </a:rPr>
                                <m:t>1</m:t>
                              </m:r>
                            </m:e>
                          </m:d>
                        </m:e>
                      </m:eqArr>
                    </m:oMath>
                  </m:oMathPara>
                </a14:m>
                <a:endParaRPr lang="zh-CN" altLang="zh-CN" dirty="0">
                  <a:latin typeface="Times New Roman" panose="02020603050405020304" pitchFamily="18" charset="0"/>
                  <a:cs typeface="Times New Roman" panose="02020603050405020304" pitchFamily="18" charset="0"/>
                </a:endParaRPr>
              </a:p>
              <a:p>
                <a:endParaRPr lang="zh-CN" altLang="zh-CN" dirty="0"/>
              </a:p>
              <a:p>
                <a:pPr indent="266700" algn="just"/>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45DE2019-770F-4D13-DE82-A875862D2694}"/>
                  </a:ext>
                </a:extLst>
              </p:cNvPr>
              <p:cNvSpPr txBox="1">
                <a:spLocks noRot="1" noChangeAspect="1" noMove="1" noResize="1" noEditPoints="1" noAdjustHandles="1" noChangeArrowheads="1" noChangeShapeType="1" noTextEdit="1"/>
              </p:cNvSpPr>
              <p:nvPr/>
            </p:nvSpPr>
            <p:spPr>
              <a:xfrm>
                <a:off x="5534525" y="4932594"/>
                <a:ext cx="6754940" cy="2484206"/>
              </a:xfrm>
              <a:prstGeom prst="rect">
                <a:avLst/>
              </a:prstGeom>
              <a:blipFill>
                <a:blip r:embed="rId5"/>
                <a:stretch>
                  <a:fillRect/>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7396750C-C703-6D83-658E-7D249C8E2021}"/>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A78344EB-B31F-43BE-437F-2BC627A941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2632F84D-9F2C-68D3-0EA3-62248E1D2D08}"/>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5" name="矩形 14">
            <a:extLst>
              <a:ext uri="{FF2B5EF4-FFF2-40B4-BE49-F238E27FC236}">
                <a16:creationId xmlns:a16="http://schemas.microsoft.com/office/drawing/2014/main" id="{6C9FEC8A-E468-6850-0583-A4AF3871A88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56F18754-3129-7ED6-A497-1790D51FFB5C}"/>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8.1.4.3 </a:t>
            </a:r>
            <a:r>
              <a:rPr lang="zh-CN" altLang="en-US" sz="2800" b="1" dirty="0">
                <a:solidFill>
                  <a:srgbClr val="003F88"/>
                </a:solidFill>
                <a:latin typeface="微软雅黑" panose="020B0503020204020204" pitchFamily="34" charset="-122"/>
                <a:ea typeface="微软雅黑" panose="020B0503020204020204" pitchFamily="34" charset="-122"/>
              </a:rPr>
              <a:t>卡紧力</a:t>
            </a:r>
          </a:p>
        </p:txBody>
      </p:sp>
    </p:spTree>
    <p:extLst>
      <p:ext uri="{BB962C8B-B14F-4D97-AF65-F5344CB8AC3E}">
        <p14:creationId xmlns:p14="http://schemas.microsoft.com/office/powerpoint/2010/main" val="248074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121605E-EEC7-12AB-4FCF-0F4E2EBCB25F}"/>
              </a:ext>
            </a:extLst>
          </p:cNvPr>
          <p:cNvSpPr txBox="1"/>
          <p:nvPr/>
        </p:nvSpPr>
        <p:spPr>
          <a:xfrm>
            <a:off x="569323" y="1557996"/>
            <a:ext cx="5751265" cy="5146537"/>
          </a:xfrm>
          <a:prstGeom prst="rect">
            <a:avLst/>
          </a:prstGeom>
          <a:noFill/>
        </p:spPr>
        <p:txBody>
          <a:bodyPr wrap="square" rtlCol="0">
            <a:spAutoFit/>
          </a:bodyPr>
          <a:lstStyle/>
          <a:p>
            <a:pPr algn="just">
              <a:lnSpc>
                <a:spcPct val="125000"/>
              </a:lnSpc>
            </a:pPr>
            <a:r>
              <a:rPr lang="zh-CN" altLang="en-US" sz="2000"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锥阀不产生</a:t>
            </a:r>
            <a:r>
              <a:rPr lang="zh-CN" altLang="en-US" sz="2000" dirty="0">
                <a:latin typeface="Times New Roman" panose="02020603050405020304" pitchFamily="18" charset="0"/>
                <a:cs typeface="Times New Roman" panose="02020603050405020304" pitchFamily="18" charset="0"/>
              </a:rPr>
              <a:t>泄漏</a:t>
            </a:r>
            <a:r>
              <a:rPr lang="en-US" altLang="zh-CN" sz="2000"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滑阀</a:t>
            </a:r>
            <a:r>
              <a:rPr lang="zh-CN" altLang="en-US" sz="2000" dirty="0">
                <a:latin typeface="Times New Roman" panose="02020603050405020304" pitchFamily="18" charset="0"/>
                <a:cs typeface="Times New Roman" panose="02020603050405020304" pitchFamily="18" charset="0"/>
              </a:rPr>
              <a:t>则由于阀心和阀孔间有一定的间隙</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在压力作用下要</a:t>
            </a:r>
            <a:r>
              <a:rPr lang="zh-CN" altLang="en-US" sz="2000" b="1" dirty="0">
                <a:latin typeface="Times New Roman" panose="02020603050405020304" pitchFamily="18" charset="0"/>
                <a:cs typeface="Times New Roman" panose="02020603050405020304" pitchFamily="18" charset="0"/>
              </a:rPr>
              <a:t>产生</a:t>
            </a:r>
            <a:r>
              <a:rPr lang="zh-CN" altLang="en-US" sz="2000" dirty="0">
                <a:latin typeface="Times New Roman" panose="02020603050405020304" pitchFamily="18" charset="0"/>
                <a:cs typeface="Times New Roman" panose="02020603050405020304" pitchFamily="18" charset="0"/>
              </a:rPr>
              <a:t>泄漏。</a:t>
            </a:r>
          </a:p>
          <a:p>
            <a:pPr algn="just">
              <a:lnSpc>
                <a:spcPct val="125000"/>
              </a:lnSpc>
            </a:pPr>
            <a:r>
              <a:rPr lang="zh-CN" altLang="en-US" sz="2000" dirty="0">
                <a:latin typeface="Times New Roman" panose="02020603050405020304" pitchFamily="18" charset="0"/>
                <a:cs typeface="Times New Roman" panose="02020603050405020304" pitchFamily="18" charset="0"/>
              </a:rPr>
              <a:t>        滑阀用于压力阀或方向阀时</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压力油通过径向缝隙泄漏量的大小</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是阀的性能指标之一。滑阀用于伺服阀时</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实际的和理论的滑阀零开口特性之间的差别</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也取决于泄漏特性。滑阀的泄漏量曲线如图</a:t>
            </a:r>
            <a:r>
              <a:rPr lang="en-US" altLang="zh-CN" sz="2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所示。</a:t>
            </a:r>
            <a:endParaRPr lang="en-US" altLang="zh-CN" sz="2000" dirty="0">
              <a:latin typeface="Times New Roman" panose="02020603050405020304" pitchFamily="18" charset="0"/>
              <a:cs typeface="Times New Roman" panose="02020603050405020304" pitchFamily="18" charset="0"/>
            </a:endParaRPr>
          </a:p>
          <a:p>
            <a:pPr indent="431800" algn="just">
              <a:lnSpc>
                <a:spcPct val="130000"/>
              </a:lnSpc>
            </a:pPr>
            <a:r>
              <a:rPr lang="zh-CN" altLang="en-US" sz="2000" dirty="0"/>
              <a:t>为了减小泄漏</a:t>
            </a:r>
            <a:r>
              <a:rPr lang="en-US" altLang="zh-CN" sz="2000" dirty="0"/>
              <a:t>,</a:t>
            </a:r>
            <a:r>
              <a:rPr lang="zh-CN" altLang="en-US" sz="2000" dirty="0"/>
              <a:t>应尽量使</a:t>
            </a:r>
            <a:r>
              <a:rPr lang="zh-CN" altLang="en-US" sz="2000" b="1" dirty="0">
                <a:solidFill>
                  <a:srgbClr val="FF0000"/>
                </a:solidFill>
              </a:rPr>
              <a:t>阀心和阀孔同心</a:t>
            </a:r>
            <a:r>
              <a:rPr lang="en-US" altLang="zh-CN" sz="2000" dirty="0"/>
              <a:t>,</a:t>
            </a:r>
            <a:r>
              <a:rPr lang="zh-CN" altLang="en-US" sz="2000" dirty="0"/>
              <a:t>另外应</a:t>
            </a:r>
            <a:r>
              <a:rPr lang="zh-CN" altLang="en-US" sz="2000" b="1" dirty="0">
                <a:solidFill>
                  <a:srgbClr val="FF0000"/>
                </a:solidFill>
              </a:rPr>
              <a:t>提高制造精度</a:t>
            </a:r>
            <a:r>
              <a:rPr lang="zh-CN" altLang="en-US" sz="2000" dirty="0"/>
              <a:t>。</a:t>
            </a:r>
          </a:p>
          <a:p>
            <a:pPr indent="431800" algn="just">
              <a:lnSpc>
                <a:spcPct val="130000"/>
              </a:lnSpc>
            </a:pPr>
            <a:r>
              <a:rPr lang="zh-CN" altLang="en-US" sz="2000" dirty="0"/>
              <a:t>滑阀在某一位置停留时</a:t>
            </a:r>
            <a:r>
              <a:rPr lang="en-US" altLang="zh-CN" sz="2000" dirty="0"/>
              <a:t>,</a:t>
            </a:r>
            <a:r>
              <a:rPr lang="zh-CN" altLang="en-US" sz="2000" dirty="0"/>
              <a:t>通过缝隙的泄漏量随时间的增加而逐渐减小</a:t>
            </a:r>
            <a:r>
              <a:rPr lang="en-US" altLang="zh-CN" sz="2000" dirty="0"/>
              <a:t>,</a:t>
            </a:r>
            <a:r>
              <a:rPr lang="zh-CN" altLang="en-US" sz="2000" dirty="0"/>
              <a:t>但有时也出现相反的现象</a:t>
            </a:r>
            <a:r>
              <a:rPr lang="en-US" altLang="zh-CN" sz="2000" dirty="0"/>
              <a:t>,</a:t>
            </a:r>
            <a:r>
              <a:rPr lang="zh-CN" altLang="en-US" sz="2000" dirty="0"/>
              <a:t>即随时间的增加而增大。泄漏量减小的原因</a:t>
            </a:r>
            <a:r>
              <a:rPr lang="en-US" altLang="zh-CN" sz="2000" dirty="0"/>
              <a:t>,</a:t>
            </a:r>
            <a:r>
              <a:rPr lang="zh-CN" altLang="en-US" sz="2000" dirty="0"/>
              <a:t>有人认为是油液中的污染物沉积所致。</a:t>
            </a:r>
            <a:endParaRPr lang="zh-CN" altLang="en-US" sz="20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94DDE677-AAAC-C09D-88AC-3A1269BD3D03}"/>
              </a:ext>
            </a:extLst>
          </p:cNvPr>
          <p:cNvPicPr>
            <a:picLocks noChangeAspect="1"/>
          </p:cNvPicPr>
          <p:nvPr/>
        </p:nvPicPr>
        <p:blipFill>
          <a:blip r:embed="rId3"/>
          <a:srcRect b="18570"/>
          <a:stretch/>
        </p:blipFill>
        <p:spPr>
          <a:xfrm>
            <a:off x="7377707" y="1871738"/>
            <a:ext cx="4215507" cy="1927493"/>
          </a:xfrm>
          <a:prstGeom prst="rect">
            <a:avLst/>
          </a:prstGeom>
        </p:spPr>
      </p:pic>
      <p:sp>
        <p:nvSpPr>
          <p:cNvPr id="7" name="文本框 6">
            <a:extLst>
              <a:ext uri="{FF2B5EF4-FFF2-40B4-BE49-F238E27FC236}">
                <a16:creationId xmlns:a16="http://schemas.microsoft.com/office/drawing/2014/main" id="{49D9FE3F-9C61-54AE-79AA-1C35BD05EF92}"/>
              </a:ext>
            </a:extLst>
          </p:cNvPr>
          <p:cNvSpPr txBox="1"/>
          <p:nvPr/>
        </p:nvSpPr>
        <p:spPr>
          <a:xfrm>
            <a:off x="6505287" y="3943197"/>
            <a:ext cx="538582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滑阀的泄漏量曲线</a:t>
            </a:r>
            <a:endParaRPr lang="en-US" altLang="zh-CN"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06CBA48D-7B95-C69E-33BF-6611FB460D1A}"/>
              </a:ext>
            </a:extLst>
          </p:cNvPr>
          <p:cNvSpPr/>
          <p:nvPr/>
        </p:nvSpPr>
        <p:spPr>
          <a:xfrm>
            <a:off x="6922580" y="1686392"/>
            <a:ext cx="4616732" cy="2818691"/>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9D0C05B-CC70-7CA9-5D3E-2E27A2DE1690}"/>
              </a:ext>
            </a:extLst>
          </p:cNvPr>
          <p:cNvSpPr txBox="1"/>
          <p:nvPr/>
        </p:nvSpPr>
        <p:spPr>
          <a:xfrm>
            <a:off x="6505287" y="4654878"/>
            <a:ext cx="5385826" cy="2441502"/>
          </a:xfrm>
          <a:prstGeom prst="rect">
            <a:avLst/>
          </a:prstGeom>
          <a:noFill/>
        </p:spPr>
        <p:txBody>
          <a:bodyPr wrap="square" rtlCol="0">
            <a:spAutoFit/>
          </a:bodyPr>
          <a:lstStyle/>
          <a:p>
            <a:pPr indent="431800" algn="just">
              <a:lnSpc>
                <a:spcPct val="130000"/>
              </a:lnSpc>
            </a:pPr>
            <a:r>
              <a:rPr lang="zh-CN" altLang="en-US" sz="2000" dirty="0"/>
              <a:t>也有人认为是油液分子粘附在缝隙表面而使通流截面减小所致。泄漏增大的原因则是由于在液压卡紧力作用下</a:t>
            </a:r>
            <a:r>
              <a:rPr lang="en-US" altLang="zh-CN" sz="2000" dirty="0"/>
              <a:t>,</a:t>
            </a:r>
            <a:r>
              <a:rPr lang="zh-CN" altLang="en-US" sz="2000" dirty="0"/>
              <a:t>阀心和阀孔处于最大偏心状态所致。为了减小缝隙处的泄漏</a:t>
            </a:r>
            <a:r>
              <a:rPr lang="en-US" altLang="zh-CN" sz="2000" dirty="0"/>
              <a:t>,</a:t>
            </a:r>
            <a:r>
              <a:rPr lang="zh-CN" altLang="en-US" sz="2000" dirty="0"/>
              <a:t>往往要在阀心上开出几条</a:t>
            </a:r>
            <a:r>
              <a:rPr lang="zh-CN" altLang="en-US" sz="2000" b="1" dirty="0">
                <a:solidFill>
                  <a:srgbClr val="FF0000"/>
                </a:solidFill>
              </a:rPr>
              <a:t>环形槽</a:t>
            </a:r>
            <a:r>
              <a:rPr lang="zh-CN" altLang="en-US" sz="2000" dirty="0"/>
              <a:t>来。</a:t>
            </a:r>
            <a:endParaRPr lang="zh-CN" altLang="en-US" sz="2000" dirty="0">
              <a:latin typeface="Times New Roman" panose="02020603050405020304" pitchFamily="18" charset="0"/>
              <a:cs typeface="Times New Roman" panose="02020603050405020304" pitchFamily="18" charset="0"/>
            </a:endParaRP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A5CD6E2C-6F82-31D7-6027-5C5524EA3099}"/>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0F1BEEEB-B3E3-7F94-9956-7EA475B85C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C87BD4CA-E361-64AA-80B8-9E19AF8A5838}"/>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7" name="矩形 16">
            <a:extLst>
              <a:ext uri="{FF2B5EF4-FFF2-40B4-BE49-F238E27FC236}">
                <a16:creationId xmlns:a16="http://schemas.microsoft.com/office/drawing/2014/main" id="{177E380D-A3D1-3A72-5A64-F5D11B902D77}"/>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C577813-0CCF-67D3-C6ED-73096F59BB8E}"/>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8.1.4.4 </a:t>
            </a:r>
            <a:r>
              <a:rPr lang="zh-CN" altLang="en-US" sz="2800" b="1" dirty="0">
                <a:solidFill>
                  <a:srgbClr val="003F88"/>
                </a:solidFill>
                <a:latin typeface="微软雅黑" panose="020B0503020204020204" pitchFamily="34" charset="-122"/>
                <a:ea typeface="微软雅黑" panose="020B0503020204020204" pitchFamily="34" charset="-122"/>
              </a:rPr>
              <a:t>阀的泄漏特性</a:t>
            </a:r>
          </a:p>
        </p:txBody>
      </p:sp>
    </p:spTree>
    <p:extLst>
      <p:ext uri="{BB962C8B-B14F-4D97-AF65-F5344CB8AC3E}">
        <p14:creationId xmlns:p14="http://schemas.microsoft.com/office/powerpoint/2010/main" val="75063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A5CD6E2C-6F82-31D7-6027-5C5524EA3099}"/>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0F1BEEEB-B3E3-7F94-9956-7EA475B85C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C87BD4CA-E361-64AA-80B8-9E19AF8A5838}"/>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8.1 </a:t>
            </a:r>
            <a:r>
              <a:rPr lang="zh-CN" altLang="en-US" sz="3600" b="1" dirty="0">
                <a:solidFill>
                  <a:srgbClr val="003F88"/>
                </a:solidFill>
                <a:latin typeface="+mn-ea"/>
              </a:rPr>
              <a:t>液压阀概述</a:t>
            </a:r>
          </a:p>
        </p:txBody>
      </p:sp>
      <p:sp>
        <p:nvSpPr>
          <p:cNvPr id="17" name="矩形 16">
            <a:extLst>
              <a:ext uri="{FF2B5EF4-FFF2-40B4-BE49-F238E27FC236}">
                <a16:creationId xmlns:a16="http://schemas.microsoft.com/office/drawing/2014/main" id="{177E380D-A3D1-3A72-5A64-F5D11B902D77}"/>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C577813-0CCF-67D3-C6ED-73096F59BB8E}"/>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8.1.4.4 </a:t>
            </a:r>
            <a:r>
              <a:rPr lang="zh-CN" altLang="en-US" sz="2800" b="1" dirty="0">
                <a:solidFill>
                  <a:srgbClr val="003F88"/>
                </a:solidFill>
                <a:latin typeface="微软雅黑" panose="020B0503020204020204" pitchFamily="34" charset="-122"/>
                <a:ea typeface="微软雅黑" panose="020B0503020204020204" pitchFamily="34" charset="-122"/>
              </a:rPr>
              <a:t>阀的泄漏特性</a:t>
            </a:r>
          </a:p>
        </p:txBody>
      </p:sp>
      <p:pic>
        <p:nvPicPr>
          <p:cNvPr id="1026" name="Picture 2" descr="https://img0.baidu.com/it/u=1657981077,3014755135&amp;fm=253&amp;fmt=auto&amp;app=138&amp;f=JPEG?w=667&amp;h=500">
            <a:extLst>
              <a:ext uri="{FF2B5EF4-FFF2-40B4-BE49-F238E27FC236}">
                <a16:creationId xmlns:a16="http://schemas.microsoft.com/office/drawing/2014/main" id="{B15BEE04-DE8B-4667-96D0-3C5009C25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951" y="1584061"/>
            <a:ext cx="6558695" cy="4916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60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B397B3A5-2F0E-339E-D04C-18DAF1EC3D47}"/>
              </a:ext>
            </a:extLst>
          </p:cNvPr>
          <p:cNvPicPr>
            <a:picLocks noChangeAspect="1"/>
          </p:cNvPicPr>
          <p:nvPr/>
        </p:nvPicPr>
        <p:blipFill>
          <a:blip r:embed="rId3"/>
          <a:stretch>
            <a:fillRect/>
          </a:stretch>
        </p:blipFill>
        <p:spPr>
          <a:xfrm>
            <a:off x="1612984" y="1782644"/>
            <a:ext cx="8629106" cy="4558773"/>
          </a:xfrm>
          <a:prstGeom prst="rect">
            <a:avLst/>
          </a:prstGeom>
        </p:spPr>
      </p:pic>
      <p:cxnSp>
        <p:nvCxnSpPr>
          <p:cNvPr id="4" name="直接连接符 3">
            <a:extLst>
              <a:ext uri="{FF2B5EF4-FFF2-40B4-BE49-F238E27FC236}">
                <a16:creationId xmlns:a16="http://schemas.microsoft.com/office/drawing/2014/main" id="{A0FFFAA9-EA4E-762D-3F50-781BC7A968DC}"/>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046A7028-EAEA-757D-79A7-3EC2AC7E5A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0" name="文本框 9">
            <a:extLst>
              <a:ext uri="{FF2B5EF4-FFF2-40B4-BE49-F238E27FC236}">
                <a16:creationId xmlns:a16="http://schemas.microsoft.com/office/drawing/2014/main" id="{0B2E2B08-5D2B-EB32-F51E-3BDEF0FBC3A5}"/>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2" name="矩形 11">
            <a:extLst>
              <a:ext uri="{FF2B5EF4-FFF2-40B4-BE49-F238E27FC236}">
                <a16:creationId xmlns:a16="http://schemas.microsoft.com/office/drawing/2014/main" id="{17130B20-A496-24FA-6AB3-A02C0BBC876E}"/>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F2FCFEB-F28E-26CF-B10B-6D0E3B9D12BE}"/>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8.2.1 </a:t>
            </a:r>
            <a:r>
              <a:rPr lang="zh-CN" altLang="en-US" sz="2800" b="1" dirty="0">
                <a:solidFill>
                  <a:srgbClr val="003F88"/>
                </a:solidFill>
                <a:latin typeface="微软雅黑" panose="020B0503020204020204" pitchFamily="34" charset="-122"/>
                <a:ea typeface="微软雅黑" panose="020B0503020204020204" pitchFamily="34" charset="-122"/>
              </a:rPr>
              <a:t>方向控制阀的分类</a:t>
            </a:r>
          </a:p>
        </p:txBody>
      </p:sp>
    </p:spTree>
    <p:extLst>
      <p:ext uri="{BB962C8B-B14F-4D97-AF65-F5344CB8AC3E}">
        <p14:creationId xmlns:p14="http://schemas.microsoft.com/office/powerpoint/2010/main" val="120213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49D9FE3F-9C61-54AE-79AA-1C35BD05EF92}"/>
              </a:ext>
            </a:extLst>
          </p:cNvPr>
          <p:cNvSpPr txBox="1"/>
          <p:nvPr/>
        </p:nvSpPr>
        <p:spPr>
          <a:xfrm>
            <a:off x="6321470" y="5858874"/>
            <a:ext cx="5309056" cy="923330"/>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7  a</a:t>
            </a:r>
            <a:r>
              <a:rPr lang="zh-CN" altLang="en-US" dirty="0">
                <a:latin typeface="Times New Roman" panose="02020603050405020304" pitchFamily="18" charset="0"/>
                <a:cs typeface="Times New Roman" panose="02020603050405020304" pitchFamily="18" charset="0"/>
              </a:rPr>
              <a:t>）单向阀示意图</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）单向阀结构图（</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、阀体，</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、阀芯，</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、弹簧）</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）单向阀图形符号</a:t>
            </a:r>
            <a:endParaRPr lang="en-US" altLang="zh-CN"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06CBA48D-7B95-C69E-33BF-6611FB460D1A}"/>
              </a:ext>
            </a:extLst>
          </p:cNvPr>
          <p:cNvSpPr/>
          <p:nvPr/>
        </p:nvSpPr>
        <p:spPr>
          <a:xfrm>
            <a:off x="6321470" y="1482812"/>
            <a:ext cx="5309056" cy="5322522"/>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9D0C05B-CC70-7CA9-5D3E-2E27A2DE1690}"/>
              </a:ext>
            </a:extLst>
          </p:cNvPr>
          <p:cNvSpPr txBox="1"/>
          <p:nvPr/>
        </p:nvSpPr>
        <p:spPr>
          <a:xfrm>
            <a:off x="393715" y="1584062"/>
            <a:ext cx="5546446" cy="5980933"/>
          </a:xfrm>
          <a:prstGeom prst="rect">
            <a:avLst/>
          </a:prstGeom>
          <a:noFill/>
        </p:spPr>
        <p:txBody>
          <a:bodyPr wrap="square" rtlCol="0">
            <a:spAutoFit/>
          </a:bodyPr>
          <a:lstStyle/>
          <a:p>
            <a:pPr algn="just">
              <a:lnSpc>
                <a:spcPct val="150000"/>
              </a:lnSpc>
            </a:pPr>
            <a:r>
              <a:rPr lang="zh-CN" altLang="en-US" sz="2000" b="1" dirty="0"/>
              <a:t>工作原理：</a:t>
            </a:r>
            <a:r>
              <a:rPr lang="zh-CN" altLang="en-US" sz="2000" dirty="0"/>
              <a:t>左端进油，压力油作用在阀芯左端，克服右端</a:t>
            </a:r>
            <a:r>
              <a:rPr lang="zh-CN" altLang="en-US" sz="2000" b="1" dirty="0">
                <a:solidFill>
                  <a:srgbClr val="FF0000"/>
                </a:solidFill>
              </a:rPr>
              <a:t>弹簧</a:t>
            </a:r>
            <a:r>
              <a:rPr lang="zh-CN" altLang="en-US" sz="2000" dirty="0"/>
              <a:t>力使阀芯右移，阀口开启，油液从右端流出；若右端进油，压力油与弹簧同向作用，将阀芯紧压在阀座孔上，阀口关闭，油液被截止不能通过。</a:t>
            </a:r>
          </a:p>
          <a:p>
            <a:pPr algn="just">
              <a:lnSpc>
                <a:spcPct val="150000"/>
              </a:lnSpc>
            </a:pPr>
            <a:r>
              <a:rPr lang="zh-CN" altLang="en-US" sz="2000" b="1" dirty="0"/>
              <a:t>特点：</a:t>
            </a:r>
            <a:r>
              <a:rPr lang="zh-CN" altLang="en-US" sz="2000" dirty="0"/>
              <a:t>只允许液流一个方向流动，反向则被截止的方向阀。</a:t>
            </a:r>
            <a:endParaRPr lang="en-US" altLang="zh-CN" sz="2000" dirty="0"/>
          </a:p>
          <a:p>
            <a:pPr algn="just">
              <a:lnSpc>
                <a:spcPct val="150000"/>
              </a:lnSpc>
            </a:pPr>
            <a:r>
              <a:rPr lang="zh-CN" altLang="en-US" sz="2000" b="1" dirty="0"/>
              <a:t>主要参数</a:t>
            </a:r>
            <a:r>
              <a:rPr lang="zh-CN" altLang="en-US" sz="2000" dirty="0"/>
              <a:t>：最小开启压力（</a:t>
            </a:r>
            <a:r>
              <a:rPr lang="zh-CN" altLang="en-US" sz="2000" b="1" dirty="0">
                <a:solidFill>
                  <a:srgbClr val="FF0000"/>
                </a:solidFill>
              </a:rPr>
              <a:t>弹簧刚度</a:t>
            </a:r>
            <a:r>
              <a:rPr lang="zh-CN" altLang="en-US" sz="2000" dirty="0"/>
              <a:t>）、压力损失、反向泄漏量</a:t>
            </a:r>
            <a:endParaRPr lang="en-US" altLang="zh-CN" sz="2000" dirty="0"/>
          </a:p>
          <a:p>
            <a:pPr algn="just">
              <a:lnSpc>
                <a:spcPct val="150000"/>
              </a:lnSpc>
            </a:pPr>
            <a:r>
              <a:rPr lang="zh-CN" altLang="en-US" sz="2000" b="1" dirty="0"/>
              <a:t>作用：</a:t>
            </a:r>
            <a:r>
              <a:rPr lang="zh-CN" altLang="en-US" sz="2000" dirty="0"/>
              <a:t>泵出油口，隔离系统压力冲击，防止油液倒流至油箱。</a:t>
            </a:r>
            <a:endParaRPr lang="en-US" altLang="zh-CN" sz="2000" b="1" dirty="0"/>
          </a:p>
          <a:p>
            <a:pPr algn="just">
              <a:lnSpc>
                <a:spcPct val="150000"/>
              </a:lnSpc>
            </a:pPr>
            <a:endParaRPr lang="zh-CN" altLang="en-US" sz="2000" dirty="0"/>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5" name="Picture 25">
            <a:extLst>
              <a:ext uri="{FF2B5EF4-FFF2-40B4-BE49-F238E27FC236}">
                <a16:creationId xmlns:a16="http://schemas.microsoft.com/office/drawing/2014/main" id="{5A652BC3-6492-09A7-BDBB-FBF664193B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938" b="46495"/>
          <a:stretch/>
        </p:blipFill>
        <p:spPr bwMode="auto">
          <a:xfrm>
            <a:off x="6512139" y="4282560"/>
            <a:ext cx="2692400" cy="12842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5">
            <a:extLst>
              <a:ext uri="{FF2B5EF4-FFF2-40B4-BE49-F238E27FC236}">
                <a16:creationId xmlns:a16="http://schemas.microsoft.com/office/drawing/2014/main" id="{B0C2E31E-5202-D452-5A4E-7C809ACF18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589" t="16249" b="52005"/>
          <a:stretch/>
        </p:blipFill>
        <p:spPr bwMode="auto">
          <a:xfrm>
            <a:off x="9204539" y="4282561"/>
            <a:ext cx="2193138" cy="1284289"/>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7">
            <a:extLst>
              <a:ext uri="{FF2B5EF4-FFF2-40B4-BE49-F238E27FC236}">
                <a16:creationId xmlns:a16="http://schemas.microsoft.com/office/drawing/2014/main" id="{8E9A9933-4E4E-83A1-DB58-1DEB6EE0EBD2}"/>
              </a:ext>
            </a:extLst>
          </p:cNvPr>
          <p:cNvSpPr txBox="1"/>
          <p:nvPr/>
        </p:nvSpPr>
        <p:spPr>
          <a:xfrm>
            <a:off x="8251509" y="3932502"/>
            <a:ext cx="1495801"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 a</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9386D0C4-39F3-8BB5-0AC6-36AD588EE14F}"/>
              </a:ext>
            </a:extLst>
          </p:cNvPr>
          <p:cNvSpPr txBox="1"/>
          <p:nvPr/>
        </p:nvSpPr>
        <p:spPr>
          <a:xfrm>
            <a:off x="7168227" y="5551097"/>
            <a:ext cx="1495801"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 b</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C6DCF386-64DC-400D-E259-B99720130100}"/>
              </a:ext>
            </a:extLst>
          </p:cNvPr>
          <p:cNvSpPr txBox="1"/>
          <p:nvPr/>
        </p:nvSpPr>
        <p:spPr>
          <a:xfrm>
            <a:off x="9585848" y="5544345"/>
            <a:ext cx="1495801"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 c</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6DFB98FB-3424-4C69-A9E6-B402AF06A3F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1918B674-2A9F-D491-5CF9-A0EB8D038D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573C8D62-D0BB-EF79-7AB6-42C2A71A280E}"/>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21" name="矩形 20">
            <a:extLst>
              <a:ext uri="{FF2B5EF4-FFF2-40B4-BE49-F238E27FC236}">
                <a16:creationId xmlns:a16="http://schemas.microsoft.com/office/drawing/2014/main" id="{90D5021F-E114-0B41-8FE8-EE5A9773BF6A}"/>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DCADD7E-877F-8B1D-6229-B5F9B86C39B9}"/>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8.2.2.1 </a:t>
            </a:r>
            <a:r>
              <a:rPr lang="zh-CN" altLang="en-US" sz="2800" b="1" dirty="0">
                <a:solidFill>
                  <a:srgbClr val="003F88"/>
                </a:solidFill>
                <a:latin typeface="微软雅黑" panose="020B0503020204020204" pitchFamily="34" charset="-122"/>
                <a:ea typeface="微软雅黑" panose="020B0503020204020204" pitchFamily="34" charset="-122"/>
              </a:rPr>
              <a:t>普通单向阀</a:t>
            </a:r>
          </a:p>
        </p:txBody>
      </p:sp>
      <p:pic>
        <p:nvPicPr>
          <p:cNvPr id="2050" name="Picture 2" descr="热水器单向阀工作原理,热水器单向阀,热水器阀手柄转向(第7页)_大山谷图库">
            <a:extLst>
              <a:ext uri="{FF2B5EF4-FFF2-40B4-BE49-F238E27FC236}">
                <a16:creationId xmlns:a16="http://schemas.microsoft.com/office/drawing/2014/main" id="{8766F901-70B7-45DD-B7E5-24AE136F65A4}"/>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049350" y="1534075"/>
            <a:ext cx="3977488" cy="2479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706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526633" y="1808368"/>
            <a:ext cx="4719661" cy="5057603"/>
          </a:xfrm>
          <a:prstGeom prst="rect">
            <a:avLst/>
          </a:prstGeom>
          <a:noFill/>
        </p:spPr>
        <p:txBody>
          <a:bodyPr wrap="square" rtlCol="0">
            <a:spAutoFit/>
          </a:bodyPr>
          <a:lstStyle/>
          <a:p>
            <a:pPr algn="just">
              <a:lnSpc>
                <a:spcPct val="150000"/>
              </a:lnSpc>
            </a:pPr>
            <a:r>
              <a:rPr lang="zh-CN" altLang="en-US" sz="2000" b="1" dirty="0"/>
              <a:t>工作原理：</a:t>
            </a:r>
            <a:r>
              <a:rPr lang="zh-CN" altLang="en-US" sz="2000" dirty="0"/>
              <a:t>当控制油口不通压力油时，油液只能从</a:t>
            </a:r>
            <a:r>
              <a:rPr lang="en-US" altLang="zh-CN" sz="2000" dirty="0"/>
              <a:t>p1→p2</a:t>
            </a:r>
            <a:r>
              <a:rPr lang="zh-CN" altLang="en-US" sz="2000" dirty="0"/>
              <a:t>；当控制油口通压力油时，正、反向的油液均可自由通过。</a:t>
            </a:r>
          </a:p>
          <a:p>
            <a:pPr algn="just">
              <a:lnSpc>
                <a:spcPct val="150000"/>
              </a:lnSpc>
            </a:pPr>
            <a:r>
              <a:rPr lang="zh-CN" altLang="en-US" sz="2000" b="1" dirty="0"/>
              <a:t>特点：</a:t>
            </a:r>
            <a:r>
              <a:rPr lang="zh-CN" altLang="en-US" sz="2000" dirty="0"/>
              <a:t>当控制油口不通压力油时，作单向阀。当控制油口通压力油时，作直通阀。</a:t>
            </a:r>
          </a:p>
          <a:p>
            <a:pPr algn="just">
              <a:lnSpc>
                <a:spcPct val="150000"/>
              </a:lnSpc>
            </a:pPr>
            <a:r>
              <a:rPr lang="zh-CN" altLang="en-US" sz="2000" dirty="0"/>
              <a:t>根据控制活塞上腔的泄油方式不同分为</a:t>
            </a:r>
            <a:r>
              <a:rPr lang="zh-CN" altLang="en-US" sz="2000" b="1" dirty="0">
                <a:solidFill>
                  <a:srgbClr val="FF0000"/>
                </a:solidFill>
              </a:rPr>
              <a:t>内泄式</a:t>
            </a:r>
            <a:r>
              <a:rPr lang="zh-CN" altLang="en-US" sz="2000" dirty="0"/>
              <a:t>和</a:t>
            </a:r>
            <a:r>
              <a:rPr lang="zh-CN" altLang="en-US" sz="2000" b="1" dirty="0">
                <a:solidFill>
                  <a:srgbClr val="FF0000"/>
                </a:solidFill>
              </a:rPr>
              <a:t>外泄式</a:t>
            </a:r>
            <a:r>
              <a:rPr lang="zh-CN" altLang="en-US" sz="2000" dirty="0"/>
              <a:t>。</a:t>
            </a:r>
          </a:p>
          <a:p>
            <a:pPr algn="just">
              <a:lnSpc>
                <a:spcPct val="150000"/>
              </a:lnSpc>
            </a:pPr>
            <a:r>
              <a:rPr lang="zh-CN" altLang="en-US" sz="2000" b="1" dirty="0"/>
              <a:t>液控单向阀的应用：</a:t>
            </a:r>
            <a:r>
              <a:rPr lang="zh-CN" altLang="en-US" sz="2000" b="1" dirty="0">
                <a:solidFill>
                  <a:srgbClr val="FF0000"/>
                </a:solidFill>
              </a:rPr>
              <a:t>用于保压回路、锁紧回路</a:t>
            </a:r>
            <a:r>
              <a:rPr lang="zh-CN" altLang="en-US" sz="2000" b="1" dirty="0"/>
              <a:t>。</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9" name="直接连接符 8">
            <a:extLst>
              <a:ext uri="{FF2B5EF4-FFF2-40B4-BE49-F238E27FC236}">
                <a16:creationId xmlns:a16="http://schemas.microsoft.com/office/drawing/2014/main" id="{A02D8567-17BB-2E31-BA62-76C8BBD270C7}"/>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B7C7FA44-A3E6-7307-843A-024C65BAB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A461455E-8529-8DA7-6FD0-1FBDEA3A5D2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6" name="矩形 15">
            <a:extLst>
              <a:ext uri="{FF2B5EF4-FFF2-40B4-BE49-F238E27FC236}">
                <a16:creationId xmlns:a16="http://schemas.microsoft.com/office/drawing/2014/main" id="{84673CD0-8421-7018-4927-9BF4D3BF882F}"/>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79CA9A7-42D0-2A65-578D-32CF3C2B643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8.2.2.2 </a:t>
            </a:r>
            <a:r>
              <a:rPr lang="zh-CN" altLang="en-US" sz="2800" b="1" dirty="0">
                <a:solidFill>
                  <a:srgbClr val="003F88"/>
                </a:solidFill>
                <a:latin typeface="微软雅黑" panose="020B0503020204020204" pitchFamily="34" charset="-122"/>
                <a:ea typeface="微软雅黑" panose="020B0503020204020204" pitchFamily="34" charset="-122"/>
              </a:rPr>
              <a:t>液控单向阀</a:t>
            </a:r>
          </a:p>
        </p:txBody>
      </p:sp>
      <p:pic>
        <p:nvPicPr>
          <p:cNvPr id="3" name="图片 2">
            <a:extLst>
              <a:ext uri="{FF2B5EF4-FFF2-40B4-BE49-F238E27FC236}">
                <a16:creationId xmlns:a16="http://schemas.microsoft.com/office/drawing/2014/main" id="{A9260A7B-0433-4F63-A369-83BCE60293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0794" y="1694993"/>
            <a:ext cx="6118031" cy="4464123"/>
          </a:xfrm>
          <a:prstGeom prst="rect">
            <a:avLst/>
          </a:prstGeom>
        </p:spPr>
      </p:pic>
    </p:spTree>
    <p:extLst>
      <p:ext uri="{BB962C8B-B14F-4D97-AF65-F5344CB8AC3E}">
        <p14:creationId xmlns:p14="http://schemas.microsoft.com/office/powerpoint/2010/main" val="1556231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526633" y="1808368"/>
            <a:ext cx="4719661" cy="5057603"/>
          </a:xfrm>
          <a:prstGeom prst="rect">
            <a:avLst/>
          </a:prstGeom>
          <a:noFill/>
        </p:spPr>
        <p:txBody>
          <a:bodyPr wrap="square" rtlCol="0">
            <a:spAutoFit/>
          </a:bodyPr>
          <a:lstStyle/>
          <a:p>
            <a:pPr algn="just">
              <a:lnSpc>
                <a:spcPct val="150000"/>
              </a:lnSpc>
            </a:pPr>
            <a:r>
              <a:rPr lang="zh-CN" altLang="en-US" sz="2000" b="1" dirty="0"/>
              <a:t>工作原理：</a:t>
            </a:r>
            <a:r>
              <a:rPr lang="zh-CN" altLang="en-US" sz="2000" dirty="0"/>
              <a:t>当控制油口不通压力油时，油液只能从</a:t>
            </a:r>
            <a:r>
              <a:rPr lang="en-US" altLang="zh-CN" sz="2000" dirty="0"/>
              <a:t>p1→p2</a:t>
            </a:r>
            <a:r>
              <a:rPr lang="zh-CN" altLang="en-US" sz="2000" dirty="0"/>
              <a:t>；当控制油口通压力油时，正、反向的油液均可自由通过。</a:t>
            </a:r>
          </a:p>
          <a:p>
            <a:pPr algn="just">
              <a:lnSpc>
                <a:spcPct val="150000"/>
              </a:lnSpc>
            </a:pPr>
            <a:r>
              <a:rPr lang="zh-CN" altLang="en-US" sz="2000" b="1" dirty="0"/>
              <a:t>特点：</a:t>
            </a:r>
            <a:r>
              <a:rPr lang="zh-CN" altLang="en-US" sz="2000" dirty="0"/>
              <a:t>当控制油口不通压力油时，作单向阀。当控制油口通压力油时，作直通阀。</a:t>
            </a:r>
          </a:p>
          <a:p>
            <a:pPr algn="just">
              <a:lnSpc>
                <a:spcPct val="150000"/>
              </a:lnSpc>
            </a:pPr>
            <a:r>
              <a:rPr lang="zh-CN" altLang="en-US" sz="2000" dirty="0"/>
              <a:t>根据控制活塞上腔的泄油方式不同分为</a:t>
            </a:r>
            <a:r>
              <a:rPr lang="zh-CN" altLang="en-US" sz="2000" b="1" dirty="0">
                <a:solidFill>
                  <a:srgbClr val="FF0000"/>
                </a:solidFill>
              </a:rPr>
              <a:t>内泄式</a:t>
            </a:r>
            <a:r>
              <a:rPr lang="zh-CN" altLang="en-US" sz="2000" dirty="0"/>
              <a:t>和</a:t>
            </a:r>
            <a:r>
              <a:rPr lang="zh-CN" altLang="en-US" sz="2000" b="1" dirty="0">
                <a:solidFill>
                  <a:srgbClr val="FF0000"/>
                </a:solidFill>
              </a:rPr>
              <a:t>外泄式</a:t>
            </a:r>
            <a:r>
              <a:rPr lang="zh-CN" altLang="en-US" sz="2000" dirty="0"/>
              <a:t>。</a:t>
            </a:r>
          </a:p>
          <a:p>
            <a:pPr algn="just">
              <a:lnSpc>
                <a:spcPct val="150000"/>
              </a:lnSpc>
            </a:pPr>
            <a:r>
              <a:rPr lang="zh-CN" altLang="en-US" sz="2000" b="1" dirty="0"/>
              <a:t>液控单向阀的应用：</a:t>
            </a:r>
            <a:r>
              <a:rPr lang="zh-CN" altLang="en-US" sz="2000" b="1" dirty="0">
                <a:solidFill>
                  <a:srgbClr val="FF0000"/>
                </a:solidFill>
              </a:rPr>
              <a:t>用于保压回路、锁紧回路</a:t>
            </a:r>
            <a:r>
              <a:rPr lang="zh-CN" altLang="en-US" sz="2000" b="1" dirty="0"/>
              <a:t>。</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9" name="直接连接符 8">
            <a:extLst>
              <a:ext uri="{FF2B5EF4-FFF2-40B4-BE49-F238E27FC236}">
                <a16:creationId xmlns:a16="http://schemas.microsoft.com/office/drawing/2014/main" id="{A02D8567-17BB-2E31-BA62-76C8BBD270C7}"/>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B7C7FA44-A3E6-7307-843A-024C65BAB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A461455E-8529-8DA7-6FD0-1FBDEA3A5D2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6" name="矩形 15">
            <a:extLst>
              <a:ext uri="{FF2B5EF4-FFF2-40B4-BE49-F238E27FC236}">
                <a16:creationId xmlns:a16="http://schemas.microsoft.com/office/drawing/2014/main" id="{84673CD0-8421-7018-4927-9BF4D3BF882F}"/>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79CA9A7-42D0-2A65-578D-32CF3C2B643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8.2.2.2 </a:t>
            </a:r>
            <a:r>
              <a:rPr lang="zh-CN" altLang="en-US" sz="2800" b="1" dirty="0">
                <a:solidFill>
                  <a:srgbClr val="003F88"/>
                </a:solidFill>
                <a:latin typeface="微软雅黑" panose="020B0503020204020204" pitchFamily="34" charset="-122"/>
                <a:ea typeface="微软雅黑" panose="020B0503020204020204" pitchFamily="34" charset="-122"/>
              </a:rPr>
              <a:t>液控单向阀</a:t>
            </a:r>
          </a:p>
        </p:txBody>
      </p:sp>
      <p:pic>
        <p:nvPicPr>
          <p:cNvPr id="3074" name="Picture 2" descr="403 Forbidden">
            <a:extLst>
              <a:ext uri="{FF2B5EF4-FFF2-40B4-BE49-F238E27FC236}">
                <a16:creationId xmlns:a16="http://schemas.microsoft.com/office/drawing/2014/main" id="{B3A22F0B-3F93-478F-B184-A28B8ACF0015}"/>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734495" y="1417408"/>
            <a:ext cx="5930872" cy="4450004"/>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64173675-401C-4B56-8650-8DE2D43BE88E}"/>
              </a:ext>
            </a:extLst>
          </p:cNvPr>
          <p:cNvPicPr>
            <a:picLocks noChangeAspect="1"/>
          </p:cNvPicPr>
          <p:nvPr/>
        </p:nvPicPr>
        <p:blipFill rotWithShape="1">
          <a:blip r:embed="rId5">
            <a:extLst>
              <a:ext uri="{28A0092B-C50C-407E-A947-70E740481C1C}">
                <a14:useLocalDpi xmlns:a14="http://schemas.microsoft.com/office/drawing/2010/main" val="0"/>
              </a:ext>
            </a:extLst>
          </a:blip>
          <a:srcRect t="84170"/>
          <a:stretch/>
        </p:blipFill>
        <p:spPr>
          <a:xfrm>
            <a:off x="5430794" y="5452425"/>
            <a:ext cx="6118031" cy="706691"/>
          </a:xfrm>
          <a:prstGeom prst="rect">
            <a:avLst/>
          </a:prstGeom>
        </p:spPr>
      </p:pic>
    </p:spTree>
    <p:extLst>
      <p:ext uri="{BB962C8B-B14F-4D97-AF65-F5344CB8AC3E}">
        <p14:creationId xmlns:p14="http://schemas.microsoft.com/office/powerpoint/2010/main" val="197176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526633" y="1808368"/>
            <a:ext cx="4719661" cy="5057603"/>
          </a:xfrm>
          <a:prstGeom prst="rect">
            <a:avLst/>
          </a:prstGeom>
          <a:noFill/>
        </p:spPr>
        <p:txBody>
          <a:bodyPr wrap="square" rtlCol="0">
            <a:spAutoFit/>
          </a:bodyPr>
          <a:lstStyle/>
          <a:p>
            <a:pPr algn="just">
              <a:lnSpc>
                <a:spcPct val="150000"/>
              </a:lnSpc>
            </a:pPr>
            <a:r>
              <a:rPr lang="zh-CN" altLang="en-US" sz="2000" b="1" dirty="0"/>
              <a:t>工作原理：</a:t>
            </a:r>
            <a:r>
              <a:rPr lang="zh-CN" altLang="en-US" sz="2000" dirty="0"/>
              <a:t>当控制油口不通压力油时，油液只能从</a:t>
            </a:r>
            <a:r>
              <a:rPr lang="en-US" altLang="zh-CN" sz="2000" dirty="0"/>
              <a:t>p1→p2</a:t>
            </a:r>
            <a:r>
              <a:rPr lang="zh-CN" altLang="en-US" sz="2000" dirty="0"/>
              <a:t>；当控制油口通压力油时，正、反向的油液均可自由通过。</a:t>
            </a:r>
          </a:p>
          <a:p>
            <a:pPr algn="just">
              <a:lnSpc>
                <a:spcPct val="150000"/>
              </a:lnSpc>
            </a:pPr>
            <a:r>
              <a:rPr lang="zh-CN" altLang="en-US" sz="2000" b="1" dirty="0"/>
              <a:t>特点：</a:t>
            </a:r>
            <a:r>
              <a:rPr lang="zh-CN" altLang="en-US" sz="2000" dirty="0"/>
              <a:t>当控制油口不通压力油时，作单向阀。当控制油口通压力油时，作直通阀。</a:t>
            </a:r>
          </a:p>
          <a:p>
            <a:pPr algn="just">
              <a:lnSpc>
                <a:spcPct val="150000"/>
              </a:lnSpc>
            </a:pPr>
            <a:r>
              <a:rPr lang="zh-CN" altLang="en-US" sz="2000" dirty="0"/>
              <a:t>根据控制活塞上腔的泄油方式不同分为</a:t>
            </a:r>
            <a:r>
              <a:rPr lang="zh-CN" altLang="en-US" sz="2000" b="1" dirty="0">
                <a:solidFill>
                  <a:srgbClr val="FF0000"/>
                </a:solidFill>
              </a:rPr>
              <a:t>内泄式</a:t>
            </a:r>
            <a:r>
              <a:rPr lang="zh-CN" altLang="en-US" sz="2000" dirty="0"/>
              <a:t>和</a:t>
            </a:r>
            <a:r>
              <a:rPr lang="zh-CN" altLang="en-US" sz="2000" b="1" dirty="0">
                <a:solidFill>
                  <a:srgbClr val="FF0000"/>
                </a:solidFill>
              </a:rPr>
              <a:t>外泄式</a:t>
            </a:r>
            <a:r>
              <a:rPr lang="zh-CN" altLang="en-US" sz="2000" dirty="0"/>
              <a:t>。</a:t>
            </a:r>
          </a:p>
          <a:p>
            <a:pPr algn="just">
              <a:lnSpc>
                <a:spcPct val="150000"/>
              </a:lnSpc>
            </a:pPr>
            <a:r>
              <a:rPr lang="zh-CN" altLang="en-US" sz="2000" b="1" dirty="0"/>
              <a:t>液控单向阀的应用：</a:t>
            </a:r>
            <a:r>
              <a:rPr lang="zh-CN" altLang="en-US" sz="2000" b="1" dirty="0">
                <a:solidFill>
                  <a:srgbClr val="FF0000"/>
                </a:solidFill>
              </a:rPr>
              <a:t>用于保压回路、锁紧回路</a:t>
            </a:r>
            <a:r>
              <a:rPr lang="zh-CN" altLang="en-US" sz="2000" b="1" dirty="0"/>
              <a:t>。</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9" name="直接连接符 8">
            <a:extLst>
              <a:ext uri="{FF2B5EF4-FFF2-40B4-BE49-F238E27FC236}">
                <a16:creationId xmlns:a16="http://schemas.microsoft.com/office/drawing/2014/main" id="{A02D8567-17BB-2E31-BA62-76C8BBD270C7}"/>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B7C7FA44-A3E6-7307-843A-024C65BAB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A461455E-8529-8DA7-6FD0-1FBDEA3A5D2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6" name="矩形 15">
            <a:extLst>
              <a:ext uri="{FF2B5EF4-FFF2-40B4-BE49-F238E27FC236}">
                <a16:creationId xmlns:a16="http://schemas.microsoft.com/office/drawing/2014/main" id="{84673CD0-8421-7018-4927-9BF4D3BF882F}"/>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79CA9A7-42D0-2A65-578D-32CF3C2B643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8.2.2.2 </a:t>
            </a:r>
            <a:r>
              <a:rPr lang="zh-CN" altLang="en-US" sz="2800" b="1" dirty="0">
                <a:solidFill>
                  <a:srgbClr val="003F88"/>
                </a:solidFill>
                <a:latin typeface="微软雅黑" panose="020B0503020204020204" pitchFamily="34" charset="-122"/>
                <a:ea typeface="微软雅黑" panose="020B0503020204020204" pitchFamily="34" charset="-122"/>
              </a:rPr>
              <a:t>液控单向阀</a:t>
            </a:r>
          </a:p>
        </p:txBody>
      </p:sp>
      <p:pic>
        <p:nvPicPr>
          <p:cNvPr id="3" name="图片 2">
            <a:extLst>
              <a:ext uri="{FF2B5EF4-FFF2-40B4-BE49-F238E27FC236}">
                <a16:creationId xmlns:a16="http://schemas.microsoft.com/office/drawing/2014/main" id="{366DAA26-8865-4C6A-B283-21F1A851D4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4383" y="1445858"/>
            <a:ext cx="2914428" cy="4856330"/>
          </a:xfrm>
          <a:prstGeom prst="rect">
            <a:avLst/>
          </a:prstGeom>
        </p:spPr>
      </p:pic>
      <p:pic>
        <p:nvPicPr>
          <p:cNvPr id="19" name="图片 18">
            <a:extLst>
              <a:ext uri="{FF2B5EF4-FFF2-40B4-BE49-F238E27FC236}">
                <a16:creationId xmlns:a16="http://schemas.microsoft.com/office/drawing/2014/main" id="{74184F2A-1BFA-4FBF-BB2B-4DF929C29DAE}"/>
              </a:ext>
            </a:extLst>
          </p:cNvPr>
          <p:cNvPicPr>
            <a:picLocks noChangeAspect="1"/>
          </p:cNvPicPr>
          <p:nvPr/>
        </p:nvPicPr>
        <p:blipFill rotWithShape="1">
          <a:blip r:embed="rId5">
            <a:extLst>
              <a:ext uri="{28A0092B-C50C-407E-A947-70E740481C1C}">
                <a14:useLocalDpi xmlns:a14="http://schemas.microsoft.com/office/drawing/2010/main" val="0"/>
              </a:ext>
            </a:extLst>
          </a:blip>
          <a:srcRect r="52363" b="19871"/>
          <a:stretch/>
        </p:blipFill>
        <p:spPr>
          <a:xfrm>
            <a:off x="5421830" y="1448554"/>
            <a:ext cx="2914428" cy="3577052"/>
          </a:xfrm>
          <a:prstGeom prst="rect">
            <a:avLst/>
          </a:prstGeom>
        </p:spPr>
      </p:pic>
      <p:pic>
        <p:nvPicPr>
          <p:cNvPr id="20" name="图片 19">
            <a:extLst>
              <a:ext uri="{FF2B5EF4-FFF2-40B4-BE49-F238E27FC236}">
                <a16:creationId xmlns:a16="http://schemas.microsoft.com/office/drawing/2014/main" id="{9B947743-8E14-4DE7-B19E-EDFF36DF479F}"/>
              </a:ext>
            </a:extLst>
          </p:cNvPr>
          <p:cNvPicPr>
            <a:picLocks noChangeAspect="1"/>
          </p:cNvPicPr>
          <p:nvPr/>
        </p:nvPicPr>
        <p:blipFill rotWithShape="1">
          <a:blip r:embed="rId5">
            <a:extLst>
              <a:ext uri="{28A0092B-C50C-407E-A947-70E740481C1C}">
                <a14:useLocalDpi xmlns:a14="http://schemas.microsoft.com/office/drawing/2010/main" val="0"/>
              </a:ext>
            </a:extLst>
          </a:blip>
          <a:srcRect l="20544" t="81841" r="22856"/>
          <a:stretch/>
        </p:blipFill>
        <p:spPr>
          <a:xfrm>
            <a:off x="5421830" y="5363934"/>
            <a:ext cx="3462784" cy="810639"/>
          </a:xfrm>
          <a:prstGeom prst="rect">
            <a:avLst/>
          </a:prstGeom>
        </p:spPr>
      </p:pic>
      <p:sp>
        <p:nvSpPr>
          <p:cNvPr id="4" name="文本框 3">
            <a:extLst>
              <a:ext uri="{FF2B5EF4-FFF2-40B4-BE49-F238E27FC236}">
                <a16:creationId xmlns:a16="http://schemas.microsoft.com/office/drawing/2014/main" id="{409779B7-9054-487B-B323-161B61E3F817}"/>
              </a:ext>
            </a:extLst>
          </p:cNvPr>
          <p:cNvSpPr txBox="1"/>
          <p:nvPr/>
        </p:nvSpPr>
        <p:spPr>
          <a:xfrm>
            <a:off x="9270510" y="1177187"/>
            <a:ext cx="2031325" cy="369332"/>
          </a:xfrm>
          <a:prstGeom prst="rect">
            <a:avLst/>
          </a:prstGeom>
          <a:noFill/>
        </p:spPr>
        <p:txBody>
          <a:bodyPr wrap="none" rtlCol="0">
            <a:spAutoFit/>
          </a:bodyPr>
          <a:lstStyle/>
          <a:p>
            <a:r>
              <a:rPr lang="zh-CN" altLang="en-US" b="1" dirty="0">
                <a:solidFill>
                  <a:srgbClr val="0070C0"/>
                </a:solidFill>
              </a:rPr>
              <a:t>反向开启压力更大</a:t>
            </a:r>
          </a:p>
        </p:txBody>
      </p:sp>
    </p:spTree>
    <p:extLst>
      <p:ext uri="{BB962C8B-B14F-4D97-AF65-F5344CB8AC3E}">
        <p14:creationId xmlns:p14="http://schemas.microsoft.com/office/powerpoint/2010/main" val="411396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526633" y="1808368"/>
            <a:ext cx="4719661" cy="5057603"/>
          </a:xfrm>
          <a:prstGeom prst="rect">
            <a:avLst/>
          </a:prstGeom>
          <a:noFill/>
        </p:spPr>
        <p:txBody>
          <a:bodyPr wrap="square" rtlCol="0">
            <a:spAutoFit/>
          </a:bodyPr>
          <a:lstStyle/>
          <a:p>
            <a:pPr algn="just">
              <a:lnSpc>
                <a:spcPct val="150000"/>
              </a:lnSpc>
            </a:pPr>
            <a:r>
              <a:rPr lang="zh-CN" altLang="en-US" sz="2000" b="1" dirty="0"/>
              <a:t>工作原理：</a:t>
            </a:r>
            <a:r>
              <a:rPr lang="zh-CN" altLang="en-US" sz="2000" dirty="0"/>
              <a:t>当控制油口不通压力油时，油液只能从</a:t>
            </a:r>
            <a:r>
              <a:rPr lang="en-US" altLang="zh-CN" sz="2000" dirty="0"/>
              <a:t>p1→p2</a:t>
            </a:r>
            <a:r>
              <a:rPr lang="zh-CN" altLang="en-US" sz="2000" dirty="0"/>
              <a:t>；当控制油口通压力油时，正、反向的油液均可自由通过。</a:t>
            </a:r>
          </a:p>
          <a:p>
            <a:pPr algn="just">
              <a:lnSpc>
                <a:spcPct val="150000"/>
              </a:lnSpc>
            </a:pPr>
            <a:r>
              <a:rPr lang="zh-CN" altLang="en-US" sz="2000" b="1" dirty="0"/>
              <a:t>特点：</a:t>
            </a:r>
            <a:r>
              <a:rPr lang="zh-CN" altLang="en-US" sz="2000" dirty="0"/>
              <a:t>当控制油口不通压力油时，作单向阀。当控制油口通压力油时，作直通阀。</a:t>
            </a:r>
          </a:p>
          <a:p>
            <a:pPr algn="just">
              <a:lnSpc>
                <a:spcPct val="150000"/>
              </a:lnSpc>
            </a:pPr>
            <a:r>
              <a:rPr lang="zh-CN" altLang="en-US" sz="2000" dirty="0"/>
              <a:t>根据控制活塞上腔的泄油方式不同分为</a:t>
            </a:r>
            <a:r>
              <a:rPr lang="zh-CN" altLang="en-US" sz="2000" b="1" dirty="0">
                <a:solidFill>
                  <a:srgbClr val="FF0000"/>
                </a:solidFill>
              </a:rPr>
              <a:t>内泄式</a:t>
            </a:r>
            <a:r>
              <a:rPr lang="zh-CN" altLang="en-US" sz="2000" dirty="0"/>
              <a:t>和</a:t>
            </a:r>
            <a:r>
              <a:rPr lang="zh-CN" altLang="en-US" sz="2000" b="1" dirty="0">
                <a:solidFill>
                  <a:srgbClr val="FF0000"/>
                </a:solidFill>
              </a:rPr>
              <a:t>外泄式</a:t>
            </a:r>
            <a:r>
              <a:rPr lang="zh-CN" altLang="en-US" sz="2000" dirty="0"/>
              <a:t>。</a:t>
            </a:r>
          </a:p>
          <a:p>
            <a:pPr algn="just">
              <a:lnSpc>
                <a:spcPct val="150000"/>
              </a:lnSpc>
            </a:pPr>
            <a:r>
              <a:rPr lang="zh-CN" altLang="en-US" sz="2000" b="1" dirty="0"/>
              <a:t>液控单向阀的应用：</a:t>
            </a:r>
            <a:r>
              <a:rPr lang="zh-CN" altLang="en-US" sz="2000" b="1" dirty="0">
                <a:solidFill>
                  <a:srgbClr val="FF0000"/>
                </a:solidFill>
              </a:rPr>
              <a:t>用于保压回路、锁紧回路</a:t>
            </a:r>
            <a:r>
              <a:rPr lang="zh-CN" altLang="en-US" sz="2000" b="1" dirty="0"/>
              <a:t>。</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9" name="直接连接符 8">
            <a:extLst>
              <a:ext uri="{FF2B5EF4-FFF2-40B4-BE49-F238E27FC236}">
                <a16:creationId xmlns:a16="http://schemas.microsoft.com/office/drawing/2014/main" id="{A02D8567-17BB-2E31-BA62-76C8BBD270C7}"/>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B7C7FA44-A3E6-7307-843A-024C65BAB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5" name="文本框 14">
            <a:extLst>
              <a:ext uri="{FF2B5EF4-FFF2-40B4-BE49-F238E27FC236}">
                <a16:creationId xmlns:a16="http://schemas.microsoft.com/office/drawing/2014/main" id="{A461455E-8529-8DA7-6FD0-1FBDEA3A5D2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6" name="矩形 15">
            <a:extLst>
              <a:ext uri="{FF2B5EF4-FFF2-40B4-BE49-F238E27FC236}">
                <a16:creationId xmlns:a16="http://schemas.microsoft.com/office/drawing/2014/main" id="{84673CD0-8421-7018-4927-9BF4D3BF882F}"/>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79CA9A7-42D0-2A65-578D-32CF3C2B643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8.2.2.2 </a:t>
            </a:r>
            <a:r>
              <a:rPr lang="zh-CN" altLang="en-US" sz="2800" b="1" dirty="0">
                <a:solidFill>
                  <a:srgbClr val="003F88"/>
                </a:solidFill>
                <a:latin typeface="微软雅黑" panose="020B0503020204020204" pitchFamily="34" charset="-122"/>
                <a:ea typeface="微软雅黑" panose="020B0503020204020204" pitchFamily="34" charset="-122"/>
              </a:rPr>
              <a:t>液控单向阀</a:t>
            </a:r>
          </a:p>
        </p:txBody>
      </p:sp>
      <p:pic>
        <p:nvPicPr>
          <p:cNvPr id="4098" name="Picture 2" descr="图片">
            <a:extLst>
              <a:ext uri="{FF2B5EF4-FFF2-40B4-BE49-F238E27FC236}">
                <a16:creationId xmlns:a16="http://schemas.microsoft.com/office/drawing/2014/main" id="{F1E25B22-1AC9-4888-9476-22702A30B7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7231" y="1033482"/>
            <a:ext cx="5261782" cy="359555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A06313D3-AA2D-4CF9-B7C4-0D5E7DF4BE28}"/>
              </a:ext>
            </a:extLst>
          </p:cNvPr>
          <p:cNvSpPr/>
          <p:nvPr/>
        </p:nvSpPr>
        <p:spPr>
          <a:xfrm>
            <a:off x="5953443" y="4804606"/>
            <a:ext cx="5180722" cy="1704954"/>
          </a:xfrm>
          <a:prstGeom prst="rect">
            <a:avLst/>
          </a:prstGeom>
        </p:spPr>
        <p:txBody>
          <a:bodyPr wrap="square">
            <a:spAutoFit/>
          </a:bodyPr>
          <a:lstStyle/>
          <a:p>
            <a:pPr algn="just">
              <a:lnSpc>
                <a:spcPct val="150000"/>
              </a:lnSpc>
              <a:spcBef>
                <a:spcPts val="1200"/>
              </a:spcBef>
            </a:pPr>
            <a:r>
              <a:rPr lang="zh-CN" altLang="en-US" b="1" dirty="0"/>
              <a:t>液控单向阀在系统中主要用途：</a:t>
            </a:r>
          </a:p>
          <a:p>
            <a:pPr algn="just">
              <a:lnSpc>
                <a:spcPct val="150000"/>
              </a:lnSpc>
            </a:pPr>
            <a:r>
              <a:rPr lang="en-US" altLang="zh-CN" dirty="0"/>
              <a:t>        1</a:t>
            </a:r>
            <a:r>
              <a:rPr lang="zh-CN" altLang="en-US" dirty="0"/>
              <a:t>）对液压缸进行锁闭。</a:t>
            </a:r>
          </a:p>
          <a:p>
            <a:pPr algn="just">
              <a:lnSpc>
                <a:spcPct val="150000"/>
              </a:lnSpc>
            </a:pPr>
            <a:r>
              <a:rPr lang="en-US" altLang="zh-CN" dirty="0"/>
              <a:t>        2</a:t>
            </a:r>
            <a:r>
              <a:rPr lang="zh-CN" altLang="en-US" dirty="0"/>
              <a:t>）作立式液压缸的支承阀。</a:t>
            </a:r>
          </a:p>
          <a:p>
            <a:pPr algn="just">
              <a:lnSpc>
                <a:spcPct val="150000"/>
              </a:lnSpc>
            </a:pPr>
            <a:r>
              <a:rPr lang="en-US" altLang="zh-CN" dirty="0"/>
              <a:t>        3</a:t>
            </a:r>
            <a:r>
              <a:rPr lang="zh-CN" altLang="en-US" dirty="0"/>
              <a:t>）某些情况下起保压作用。</a:t>
            </a:r>
          </a:p>
        </p:txBody>
      </p:sp>
      <p:sp>
        <p:nvSpPr>
          <p:cNvPr id="3" name="文本框 2">
            <a:extLst>
              <a:ext uri="{FF2B5EF4-FFF2-40B4-BE49-F238E27FC236}">
                <a16:creationId xmlns:a16="http://schemas.microsoft.com/office/drawing/2014/main" id="{B1FDDA3B-B651-4B23-BF1A-C5BBCC36EC73}"/>
              </a:ext>
            </a:extLst>
          </p:cNvPr>
          <p:cNvSpPr txBox="1"/>
          <p:nvPr/>
        </p:nvSpPr>
        <p:spPr>
          <a:xfrm>
            <a:off x="6854808" y="4449882"/>
            <a:ext cx="3518912" cy="400110"/>
          </a:xfrm>
          <a:prstGeom prst="rect">
            <a:avLst/>
          </a:prstGeom>
          <a:noFill/>
        </p:spPr>
        <p:txBody>
          <a:bodyPr wrap="none" rtlCol="0">
            <a:spAutoFit/>
          </a:bodyPr>
          <a:lstStyle/>
          <a:p>
            <a:r>
              <a:rPr lang="zh-CN" altLang="en-US" sz="2000" b="1" dirty="0">
                <a:solidFill>
                  <a:srgbClr val="0070C0"/>
                </a:solidFill>
              </a:rPr>
              <a:t>反向流动比正向流动压损更小</a:t>
            </a:r>
          </a:p>
        </p:txBody>
      </p:sp>
    </p:spTree>
    <p:extLst>
      <p:ext uri="{BB962C8B-B14F-4D97-AF65-F5344CB8AC3E}">
        <p14:creationId xmlns:p14="http://schemas.microsoft.com/office/powerpoint/2010/main" val="195617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A4D8566-33B4-07D1-56EA-60D82BFCAC65}"/>
              </a:ext>
            </a:extLst>
          </p:cNvPr>
          <p:cNvSpPr txBox="1"/>
          <p:nvPr/>
        </p:nvSpPr>
        <p:spPr>
          <a:xfrm>
            <a:off x="6095999" y="1680260"/>
            <a:ext cx="5468471" cy="2287614"/>
          </a:xfrm>
          <a:prstGeom prst="rect">
            <a:avLst/>
          </a:prstGeom>
          <a:noFill/>
        </p:spPr>
        <p:txBody>
          <a:bodyPr wrap="square" rtlCol="0">
            <a:spAutoFit/>
          </a:bodyPr>
          <a:lstStyle/>
          <a:p>
            <a:pPr algn="just">
              <a:lnSpc>
                <a:spcPct val="150000"/>
              </a:lnSpc>
            </a:pPr>
            <a:r>
              <a:rPr lang="zh-CN" altLang="en-US" sz="2000" b="1" dirty="0"/>
              <a:t>换向阀的结构形式：</a:t>
            </a:r>
          </a:p>
          <a:p>
            <a:pPr algn="just">
              <a:lnSpc>
                <a:spcPct val="150000"/>
              </a:lnSpc>
            </a:pPr>
            <a:r>
              <a:rPr lang="zh-CN" altLang="en-US" sz="2000" dirty="0"/>
              <a:t>        换向阀按阀心形状分类</a:t>
            </a:r>
            <a:r>
              <a:rPr lang="en-US" altLang="zh-CN" sz="2000" dirty="0"/>
              <a:t>,</a:t>
            </a:r>
            <a:r>
              <a:rPr lang="zh-CN" altLang="en-US" sz="2000" dirty="0"/>
              <a:t>主要有</a:t>
            </a:r>
            <a:r>
              <a:rPr lang="zh-CN" altLang="en-US" sz="2000" b="1" dirty="0">
                <a:solidFill>
                  <a:srgbClr val="FF0000"/>
                </a:solidFill>
              </a:rPr>
              <a:t>滑阀式</a:t>
            </a:r>
            <a:endParaRPr lang="en-US" altLang="zh-CN" sz="2000" b="1" dirty="0">
              <a:solidFill>
                <a:srgbClr val="FF0000"/>
              </a:solidFill>
            </a:endParaRPr>
          </a:p>
          <a:p>
            <a:pPr algn="just">
              <a:lnSpc>
                <a:spcPct val="150000"/>
              </a:lnSpc>
            </a:pPr>
            <a:r>
              <a:rPr lang="zh-CN" altLang="en-US" sz="2000" b="1" dirty="0">
                <a:solidFill>
                  <a:srgbClr val="FF0000"/>
                </a:solidFill>
              </a:rPr>
              <a:t>和转阀式</a:t>
            </a:r>
            <a:r>
              <a:rPr lang="zh-CN" altLang="en-US" sz="2000" dirty="0"/>
              <a:t>两种。滑阀式换向阀在液压系统中</a:t>
            </a:r>
            <a:endParaRPr lang="en-US" altLang="zh-CN" sz="2000" dirty="0"/>
          </a:p>
          <a:p>
            <a:pPr algn="just">
              <a:lnSpc>
                <a:spcPct val="150000"/>
              </a:lnSpc>
            </a:pPr>
            <a:r>
              <a:rPr lang="zh-CN" altLang="en-US" sz="2000" dirty="0"/>
              <a:t>远比转阀式用得广泛。</a:t>
            </a:r>
            <a:endParaRPr lang="en-US" altLang="zh-CN" sz="2000" dirty="0"/>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ADF4E637-00E5-41E7-0F8B-A32F80DFE05B}"/>
              </a:ext>
            </a:extLst>
          </p:cNvPr>
          <p:cNvPicPr>
            <a:picLocks noChangeAspect="1"/>
          </p:cNvPicPr>
          <p:nvPr/>
        </p:nvPicPr>
        <p:blipFill>
          <a:blip r:embed="rId3"/>
          <a:srcRect b="24050"/>
          <a:stretch/>
        </p:blipFill>
        <p:spPr>
          <a:xfrm>
            <a:off x="6239964" y="3756203"/>
            <a:ext cx="4840412" cy="2294631"/>
          </a:xfrm>
          <a:prstGeom prst="rect">
            <a:avLst/>
          </a:prstGeom>
        </p:spPr>
      </p:pic>
      <p:sp>
        <p:nvSpPr>
          <p:cNvPr id="12" name="文本框 11">
            <a:extLst>
              <a:ext uri="{FF2B5EF4-FFF2-40B4-BE49-F238E27FC236}">
                <a16:creationId xmlns:a16="http://schemas.microsoft.com/office/drawing/2014/main" id="{79D0C05B-CC70-7CA9-5D3E-2E27A2DE1690}"/>
              </a:ext>
            </a:extLst>
          </p:cNvPr>
          <p:cNvSpPr txBox="1"/>
          <p:nvPr/>
        </p:nvSpPr>
        <p:spPr>
          <a:xfrm>
            <a:off x="355851" y="1680260"/>
            <a:ext cx="4961691" cy="4749826"/>
          </a:xfrm>
          <a:prstGeom prst="rect">
            <a:avLst/>
          </a:prstGeom>
          <a:noFill/>
        </p:spPr>
        <p:txBody>
          <a:bodyPr wrap="square" rtlCol="0">
            <a:spAutoFit/>
          </a:bodyPr>
          <a:lstStyle/>
          <a:p>
            <a:pPr algn="just">
              <a:lnSpc>
                <a:spcPct val="150000"/>
              </a:lnSpc>
            </a:pPr>
            <a:r>
              <a:rPr lang="zh-CN" altLang="en-US" sz="2000" dirty="0"/>
              <a:t>        换向阀是利用阀心在阀体中的相对运动</a:t>
            </a:r>
            <a:r>
              <a:rPr lang="en-US" altLang="zh-CN" sz="2000" dirty="0"/>
              <a:t>,</a:t>
            </a:r>
            <a:r>
              <a:rPr lang="zh-CN" altLang="en-US" sz="2000" dirty="0"/>
              <a:t>使液流的通路</a:t>
            </a:r>
            <a:r>
              <a:rPr lang="zh-CN" altLang="en-US" sz="2000" b="1" dirty="0">
                <a:solidFill>
                  <a:srgbClr val="0070C0"/>
                </a:solidFill>
              </a:rPr>
              <a:t>接通、关断、或变换流动方向</a:t>
            </a:r>
            <a:r>
              <a:rPr lang="en-US" altLang="zh-CN" sz="2000" dirty="0"/>
              <a:t>,</a:t>
            </a:r>
            <a:r>
              <a:rPr lang="zh-CN" altLang="en-US" sz="2000" dirty="0"/>
              <a:t>从而使执行元件</a:t>
            </a:r>
            <a:r>
              <a:rPr lang="zh-CN" altLang="en-US" sz="2000" b="1" dirty="0">
                <a:solidFill>
                  <a:srgbClr val="FF0000"/>
                </a:solidFill>
              </a:rPr>
              <a:t>起动、停止或变换运动方向</a:t>
            </a:r>
            <a:r>
              <a:rPr lang="zh-CN" altLang="en-US" sz="2000" dirty="0"/>
              <a:t>。</a:t>
            </a:r>
            <a:endParaRPr lang="en-US" altLang="zh-CN" sz="2000" dirty="0"/>
          </a:p>
          <a:p>
            <a:pPr algn="just">
              <a:lnSpc>
                <a:spcPct val="150000"/>
              </a:lnSpc>
            </a:pPr>
            <a:endParaRPr lang="en-US" altLang="zh-CN" sz="2000" dirty="0"/>
          </a:p>
          <a:p>
            <a:pPr algn="just">
              <a:lnSpc>
                <a:spcPct val="150000"/>
              </a:lnSpc>
              <a:spcBef>
                <a:spcPts val="1200"/>
              </a:spcBef>
            </a:pPr>
            <a:r>
              <a:rPr lang="zh-CN" altLang="en-US" sz="2000" b="1" dirty="0"/>
              <a:t>对换向阀的主要要求：</a:t>
            </a:r>
          </a:p>
          <a:p>
            <a:pPr algn="just">
              <a:lnSpc>
                <a:spcPct val="150000"/>
              </a:lnSpc>
            </a:pPr>
            <a:r>
              <a:rPr lang="en-US" altLang="zh-CN" sz="2000" dirty="0"/>
              <a:t>        1)  </a:t>
            </a:r>
            <a:r>
              <a:rPr lang="zh-CN" altLang="en-US" sz="2000" dirty="0"/>
              <a:t>流体流经阀时的压力损失要小。</a:t>
            </a:r>
          </a:p>
          <a:p>
            <a:pPr algn="just">
              <a:lnSpc>
                <a:spcPct val="150000"/>
              </a:lnSpc>
            </a:pPr>
            <a:r>
              <a:rPr lang="en-US" altLang="zh-CN" sz="2000" dirty="0"/>
              <a:t>        2)  </a:t>
            </a:r>
            <a:r>
              <a:rPr lang="zh-CN" altLang="en-US" sz="2000" dirty="0"/>
              <a:t>互不相通的通口间的泄漏要小。</a:t>
            </a:r>
          </a:p>
          <a:p>
            <a:pPr algn="just">
              <a:lnSpc>
                <a:spcPct val="150000"/>
              </a:lnSpc>
            </a:pPr>
            <a:r>
              <a:rPr lang="en-US" altLang="zh-CN" sz="2000" dirty="0"/>
              <a:t>        3)  </a:t>
            </a:r>
            <a:r>
              <a:rPr lang="zh-CN" altLang="en-US" sz="2000" dirty="0"/>
              <a:t>换向要平稳、迅速且可靠。</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5" name="文本框 14">
            <a:extLst>
              <a:ext uri="{FF2B5EF4-FFF2-40B4-BE49-F238E27FC236}">
                <a16:creationId xmlns:a16="http://schemas.microsoft.com/office/drawing/2014/main" id="{CB03EE3F-9041-94A7-0B53-49441A381214}"/>
              </a:ext>
            </a:extLst>
          </p:cNvPr>
          <p:cNvSpPr txBox="1"/>
          <p:nvPr/>
        </p:nvSpPr>
        <p:spPr>
          <a:xfrm>
            <a:off x="6096000" y="6151919"/>
            <a:ext cx="530905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滑阀式换向阀工作原理与图形符号</a:t>
            </a:r>
            <a:endParaRPr lang="en-US" altLang="zh-CN" dirty="0">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A11D69CE-F565-27B8-5616-A2877FD94E0A}"/>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B78BDCD5-0725-0DC5-1357-0505760A5E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7" name="文本框 16">
            <a:extLst>
              <a:ext uri="{FF2B5EF4-FFF2-40B4-BE49-F238E27FC236}">
                <a16:creationId xmlns:a16="http://schemas.microsoft.com/office/drawing/2014/main" id="{63C64304-F7E0-850E-ABD8-6E1CC779538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8" name="矩形 17">
            <a:extLst>
              <a:ext uri="{FF2B5EF4-FFF2-40B4-BE49-F238E27FC236}">
                <a16:creationId xmlns:a16="http://schemas.microsoft.com/office/drawing/2014/main" id="{0B482CCF-6767-4A7B-2703-DF3FA87B64E2}"/>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7172514-B1F8-88AD-5288-75556FF83E5B}"/>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Tree>
    <p:extLst>
      <p:ext uri="{BB962C8B-B14F-4D97-AF65-F5344CB8AC3E}">
        <p14:creationId xmlns:p14="http://schemas.microsoft.com/office/powerpoint/2010/main" val="501918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9" name="直接连接符 8">
            <a:extLst>
              <a:ext uri="{FF2B5EF4-FFF2-40B4-BE49-F238E27FC236}">
                <a16:creationId xmlns:a16="http://schemas.microsoft.com/office/drawing/2014/main" id="{A11D69CE-F565-27B8-5616-A2877FD94E0A}"/>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B78BDCD5-0725-0DC5-1357-0505760A5E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7" name="文本框 16">
            <a:extLst>
              <a:ext uri="{FF2B5EF4-FFF2-40B4-BE49-F238E27FC236}">
                <a16:creationId xmlns:a16="http://schemas.microsoft.com/office/drawing/2014/main" id="{63C64304-F7E0-850E-ABD8-6E1CC779538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8" name="矩形 17">
            <a:extLst>
              <a:ext uri="{FF2B5EF4-FFF2-40B4-BE49-F238E27FC236}">
                <a16:creationId xmlns:a16="http://schemas.microsoft.com/office/drawing/2014/main" id="{0B482CCF-6767-4A7B-2703-DF3FA87B64E2}"/>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7172514-B1F8-88AD-5288-75556FF83E5B}"/>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pic>
        <p:nvPicPr>
          <p:cNvPr id="6146" name="Picture 2" descr="Dynamic Response Characteristics and Stability Analysis of Rotary ...">
            <a:extLst>
              <a:ext uri="{FF2B5EF4-FFF2-40B4-BE49-F238E27FC236}">
                <a16:creationId xmlns:a16="http://schemas.microsoft.com/office/drawing/2014/main" id="{C38BF853-4FCA-4205-8468-7235B3089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656" y="2053354"/>
            <a:ext cx="5396129" cy="395033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图片">
            <a:extLst>
              <a:ext uri="{FF2B5EF4-FFF2-40B4-BE49-F238E27FC236}">
                <a16:creationId xmlns:a16="http://schemas.microsoft.com/office/drawing/2014/main" id="{8F239A0C-5030-44AA-81B1-9BEAC051613B}"/>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917032"/>
            <a:ext cx="5603591" cy="4130346"/>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AA2142AB-0486-4BAD-A0CC-F54727B26CEA}"/>
              </a:ext>
            </a:extLst>
          </p:cNvPr>
          <p:cNvSpPr/>
          <p:nvPr/>
        </p:nvSpPr>
        <p:spPr>
          <a:xfrm>
            <a:off x="1955800" y="6224644"/>
            <a:ext cx="1181847" cy="458459"/>
          </a:xfrm>
          <a:prstGeom prst="rect">
            <a:avLst/>
          </a:prstGeom>
        </p:spPr>
        <p:txBody>
          <a:bodyPr wrap="square">
            <a:spAutoFit/>
          </a:bodyPr>
          <a:lstStyle/>
          <a:p>
            <a:pPr algn="just">
              <a:lnSpc>
                <a:spcPct val="150000"/>
              </a:lnSpc>
            </a:pPr>
            <a:r>
              <a:rPr lang="zh-CN" altLang="en-US" b="1" dirty="0">
                <a:solidFill>
                  <a:srgbClr val="FF0000"/>
                </a:solidFill>
              </a:rPr>
              <a:t>转阀式</a:t>
            </a:r>
            <a:endParaRPr lang="zh-CN" altLang="en-US" dirty="0"/>
          </a:p>
        </p:txBody>
      </p:sp>
      <p:sp>
        <p:nvSpPr>
          <p:cNvPr id="3" name="矩形 2">
            <a:extLst>
              <a:ext uri="{FF2B5EF4-FFF2-40B4-BE49-F238E27FC236}">
                <a16:creationId xmlns:a16="http://schemas.microsoft.com/office/drawing/2014/main" id="{4CE2C3C4-238F-4EAD-95E4-1997ED5EB459}"/>
              </a:ext>
            </a:extLst>
          </p:cNvPr>
          <p:cNvSpPr/>
          <p:nvPr/>
        </p:nvSpPr>
        <p:spPr>
          <a:xfrm>
            <a:off x="9127071" y="6224643"/>
            <a:ext cx="877163" cy="458459"/>
          </a:xfrm>
          <a:prstGeom prst="rect">
            <a:avLst/>
          </a:prstGeom>
        </p:spPr>
        <p:txBody>
          <a:bodyPr wrap="none">
            <a:spAutoFit/>
          </a:bodyPr>
          <a:lstStyle/>
          <a:p>
            <a:pPr algn="just">
              <a:lnSpc>
                <a:spcPct val="150000"/>
              </a:lnSpc>
            </a:pPr>
            <a:r>
              <a:rPr lang="zh-CN" altLang="en-US" b="1" dirty="0">
                <a:solidFill>
                  <a:srgbClr val="FF0000"/>
                </a:solidFill>
              </a:rPr>
              <a:t>滑阀式</a:t>
            </a:r>
            <a:endParaRPr lang="en-US" altLang="zh-CN" b="1" dirty="0">
              <a:solidFill>
                <a:srgbClr val="FF0000"/>
              </a:solidFill>
            </a:endParaRPr>
          </a:p>
        </p:txBody>
      </p:sp>
    </p:spTree>
    <p:extLst>
      <p:ext uri="{BB962C8B-B14F-4D97-AF65-F5344CB8AC3E}">
        <p14:creationId xmlns:p14="http://schemas.microsoft.com/office/powerpoint/2010/main" val="1469400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9" name="直接连接符 8">
            <a:extLst>
              <a:ext uri="{FF2B5EF4-FFF2-40B4-BE49-F238E27FC236}">
                <a16:creationId xmlns:a16="http://schemas.microsoft.com/office/drawing/2014/main" id="{A11D69CE-F565-27B8-5616-A2877FD94E0A}"/>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B78BDCD5-0725-0DC5-1357-0505760A5E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7" name="文本框 16">
            <a:extLst>
              <a:ext uri="{FF2B5EF4-FFF2-40B4-BE49-F238E27FC236}">
                <a16:creationId xmlns:a16="http://schemas.microsoft.com/office/drawing/2014/main" id="{63C64304-F7E0-850E-ABD8-6E1CC7795382}"/>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8" name="矩形 17">
            <a:extLst>
              <a:ext uri="{FF2B5EF4-FFF2-40B4-BE49-F238E27FC236}">
                <a16:creationId xmlns:a16="http://schemas.microsoft.com/office/drawing/2014/main" id="{0B482CCF-6767-4A7B-2703-DF3FA87B64E2}"/>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7172514-B1F8-88AD-5288-75556FF83E5B}"/>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pic>
        <p:nvPicPr>
          <p:cNvPr id="6" name="图片 5">
            <a:extLst>
              <a:ext uri="{FF2B5EF4-FFF2-40B4-BE49-F238E27FC236}">
                <a16:creationId xmlns:a16="http://schemas.microsoft.com/office/drawing/2014/main" id="{B37EE831-EB1F-4994-A980-4623B3653F19}"/>
              </a:ext>
            </a:extLst>
          </p:cNvPr>
          <p:cNvPicPr>
            <a:picLocks noChangeAspect="1"/>
          </p:cNvPicPr>
          <p:nvPr/>
        </p:nvPicPr>
        <p:blipFill>
          <a:blip r:embed="rId4"/>
          <a:stretch>
            <a:fillRect/>
          </a:stretch>
        </p:blipFill>
        <p:spPr>
          <a:xfrm>
            <a:off x="1218844" y="2130364"/>
            <a:ext cx="7444394" cy="4417007"/>
          </a:xfrm>
          <a:prstGeom prst="rect">
            <a:avLst/>
          </a:prstGeom>
        </p:spPr>
      </p:pic>
      <p:sp>
        <p:nvSpPr>
          <p:cNvPr id="7" name="文本框 6">
            <a:extLst>
              <a:ext uri="{FF2B5EF4-FFF2-40B4-BE49-F238E27FC236}">
                <a16:creationId xmlns:a16="http://schemas.microsoft.com/office/drawing/2014/main" id="{42CECA22-A2D6-4D4B-81A2-218A53AC5B3F}"/>
              </a:ext>
            </a:extLst>
          </p:cNvPr>
          <p:cNvSpPr txBox="1"/>
          <p:nvPr/>
        </p:nvSpPr>
        <p:spPr>
          <a:xfrm>
            <a:off x="582706" y="1584062"/>
            <a:ext cx="8186857" cy="461665"/>
          </a:xfrm>
          <a:prstGeom prst="rect">
            <a:avLst/>
          </a:prstGeom>
          <a:noFill/>
        </p:spPr>
        <p:txBody>
          <a:bodyPr wrap="none" rtlCol="0">
            <a:spAutoFit/>
          </a:bodyPr>
          <a:lstStyle/>
          <a:p>
            <a:r>
              <a:rPr lang="zh-CN" altLang="en-US" sz="2400" dirty="0"/>
              <a:t>换向阀的功能主要是由其控制的</a:t>
            </a:r>
            <a:r>
              <a:rPr lang="zh-CN" altLang="en-US" sz="2400" b="1" dirty="0">
                <a:solidFill>
                  <a:srgbClr val="FF0000"/>
                </a:solidFill>
              </a:rPr>
              <a:t>通路数</a:t>
            </a:r>
            <a:r>
              <a:rPr lang="zh-CN" altLang="en-US" sz="2400" dirty="0"/>
              <a:t>和</a:t>
            </a:r>
            <a:r>
              <a:rPr lang="zh-CN" altLang="en-US" sz="2400" b="1" dirty="0">
                <a:solidFill>
                  <a:srgbClr val="FF0000"/>
                </a:solidFill>
              </a:rPr>
              <a:t>工作位置</a:t>
            </a:r>
            <a:r>
              <a:rPr lang="zh-CN" altLang="en-US" sz="2400" dirty="0"/>
              <a:t>决定的。</a:t>
            </a:r>
          </a:p>
        </p:txBody>
      </p:sp>
      <p:sp>
        <p:nvSpPr>
          <p:cNvPr id="8" name="文本框 7">
            <a:extLst>
              <a:ext uri="{FF2B5EF4-FFF2-40B4-BE49-F238E27FC236}">
                <a16:creationId xmlns:a16="http://schemas.microsoft.com/office/drawing/2014/main" id="{7CFE2EFE-2A6C-4BAA-9FDE-CF4C7A590FD7}"/>
              </a:ext>
            </a:extLst>
          </p:cNvPr>
          <p:cNvSpPr txBox="1"/>
          <p:nvPr/>
        </p:nvSpPr>
        <p:spPr>
          <a:xfrm>
            <a:off x="8892989" y="2474259"/>
            <a:ext cx="2904564" cy="3366947"/>
          </a:xfrm>
          <a:prstGeom prst="rect">
            <a:avLst/>
          </a:prstGeom>
          <a:solidFill>
            <a:schemeClr val="bg1">
              <a:lumMod val="95000"/>
            </a:schemeClr>
          </a:solidFill>
        </p:spPr>
        <p:txBody>
          <a:bodyPr wrap="square" rtlCol="0">
            <a:spAutoFit/>
          </a:bodyPr>
          <a:lstStyle/>
          <a:p>
            <a:pPr marL="285750" indent="-285750">
              <a:lnSpc>
                <a:spcPct val="150000"/>
              </a:lnSpc>
              <a:buFont typeface="Wingdings" panose="05000000000000000000" pitchFamily="2" charset="2"/>
              <a:buChar char="Ø"/>
            </a:pPr>
            <a:r>
              <a:rPr lang="zh-CN" altLang="en-US" dirty="0"/>
              <a:t>换向阀都是有两个或者两个以上的工作位置，其中一个是</a:t>
            </a:r>
            <a:r>
              <a:rPr lang="zh-CN" altLang="en-US" b="1" dirty="0">
                <a:solidFill>
                  <a:srgbClr val="FF0000"/>
                </a:solidFill>
              </a:rPr>
              <a:t>常态位置</a:t>
            </a:r>
            <a:r>
              <a:rPr lang="zh-CN" altLang="en-US" dirty="0"/>
              <a:t>，即阀芯受外部操纵时所处的位置。</a:t>
            </a:r>
            <a:endParaRPr lang="en-US" altLang="zh-CN" dirty="0"/>
          </a:p>
          <a:p>
            <a:pPr marL="285750" indent="-285750">
              <a:lnSpc>
                <a:spcPct val="150000"/>
              </a:lnSpc>
              <a:buFont typeface="Wingdings" panose="05000000000000000000" pitchFamily="2" charset="2"/>
              <a:buChar char="Ø"/>
            </a:pPr>
            <a:endParaRPr lang="en-US" altLang="zh-CN" dirty="0"/>
          </a:p>
          <a:p>
            <a:pPr marL="285750" indent="-285750">
              <a:lnSpc>
                <a:spcPct val="150000"/>
              </a:lnSpc>
              <a:buFont typeface="Wingdings" panose="05000000000000000000" pitchFamily="2" charset="2"/>
              <a:buChar char="Ø"/>
            </a:pPr>
            <a:r>
              <a:rPr lang="zh-CN" altLang="en-US" dirty="0"/>
              <a:t>图形符号都应该连接在</a:t>
            </a:r>
            <a:r>
              <a:rPr lang="zh-CN" altLang="en-US" b="1" dirty="0">
                <a:solidFill>
                  <a:srgbClr val="0070C0"/>
                </a:solidFill>
              </a:rPr>
              <a:t>常位</a:t>
            </a:r>
            <a:r>
              <a:rPr lang="zh-CN" altLang="en-US" dirty="0"/>
              <a:t>上。</a:t>
            </a:r>
          </a:p>
        </p:txBody>
      </p:sp>
    </p:spTree>
    <p:extLst>
      <p:ext uri="{BB962C8B-B14F-4D97-AF65-F5344CB8AC3E}">
        <p14:creationId xmlns:p14="http://schemas.microsoft.com/office/powerpoint/2010/main" val="94352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a:extLst>
              <a:ext uri="{FF2B5EF4-FFF2-40B4-BE49-F238E27FC236}">
                <a16:creationId xmlns:a16="http://schemas.microsoft.com/office/drawing/2014/main" id="{B5E4A341-E3D0-F331-FD78-F27CD047A4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1837" b="10574"/>
          <a:stretch/>
        </p:blipFill>
        <p:spPr bwMode="auto">
          <a:xfrm>
            <a:off x="532979" y="4509138"/>
            <a:ext cx="3800475" cy="1331009"/>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49D9FE3F-9C61-54AE-79AA-1C35BD05EF92}"/>
              </a:ext>
            </a:extLst>
          </p:cNvPr>
          <p:cNvSpPr txBox="1"/>
          <p:nvPr/>
        </p:nvSpPr>
        <p:spPr>
          <a:xfrm>
            <a:off x="-348921" y="5840147"/>
            <a:ext cx="5605469" cy="923330"/>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10  </a:t>
            </a:r>
            <a:r>
              <a:rPr lang="zh-CN" altLang="en-US" dirty="0">
                <a:latin typeface="Times New Roman" panose="02020603050405020304" pitchFamily="18" charset="0"/>
                <a:cs typeface="Times New Roman" panose="02020603050405020304" pitchFamily="18" charset="0"/>
              </a:rPr>
              <a:t>手动换向阀</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 a</a:t>
            </a:r>
            <a:r>
              <a:rPr lang="zh-CN" altLang="en-US" dirty="0">
                <a:latin typeface="Times New Roman" panose="02020603050405020304" pitchFamily="18" charset="0"/>
                <a:cs typeface="Times New Roman" panose="02020603050405020304" pitchFamily="18" charset="0"/>
              </a:rPr>
              <a:t>）弹簧自动复位结构</a:t>
            </a:r>
            <a:r>
              <a:rPr lang="en-US" altLang="zh-CN" dirty="0">
                <a:latin typeface="Times New Roman" panose="02020603050405020304" pitchFamily="18" charset="0"/>
                <a:cs typeface="Times New Roman" panose="02020603050405020304" pitchFamily="18" charset="0"/>
              </a:rPr>
              <a:t>  </a:t>
            </a:r>
          </a:p>
          <a:p>
            <a:pPr algn="ctr"/>
            <a:r>
              <a:rPr lang="en-US" altLang="zh-CN" dirty="0">
                <a:latin typeface="Times New Roman" panose="02020603050405020304" pitchFamily="18" charset="0"/>
                <a:cs typeface="Times New Roman" panose="02020603050405020304" pitchFamily="18" charset="0"/>
              </a:rPr>
              <a:t> b</a:t>
            </a:r>
            <a:r>
              <a:rPr lang="zh-CN" altLang="en-US" dirty="0">
                <a:latin typeface="Times New Roman" panose="02020603050405020304" pitchFamily="18" charset="0"/>
                <a:cs typeface="Times New Roman" panose="02020603050405020304" pitchFamily="18" charset="0"/>
              </a:rPr>
              <a:t>）弹簧钢球定位结构和图形符号</a:t>
            </a:r>
            <a:endParaRPr lang="en-US" altLang="zh-CN"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79D0C05B-CC70-7CA9-5D3E-2E27A2DE1690}"/>
              </a:ext>
            </a:extLst>
          </p:cNvPr>
          <p:cNvSpPr txBox="1"/>
          <p:nvPr/>
        </p:nvSpPr>
        <p:spPr>
          <a:xfrm>
            <a:off x="526473" y="1392051"/>
            <a:ext cx="4719661" cy="580865"/>
          </a:xfrm>
          <a:prstGeom prst="rect">
            <a:avLst/>
          </a:prstGeom>
          <a:noFill/>
        </p:spPr>
        <p:txBody>
          <a:bodyPr wrap="square" rtlCol="0">
            <a:spAutoFit/>
          </a:bodyPr>
          <a:lstStyle/>
          <a:p>
            <a:pPr algn="just">
              <a:lnSpc>
                <a:spcPct val="150000"/>
              </a:lnSpc>
            </a:pPr>
            <a:r>
              <a:rPr lang="zh-CN" altLang="en-US" sz="2400" b="1" dirty="0"/>
              <a:t>滑阀式换向阀的操纵方式</a:t>
            </a:r>
            <a:endParaRPr lang="zh-CN" altLang="en-US" sz="24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13" name="Picture 4">
            <a:extLst>
              <a:ext uri="{FF2B5EF4-FFF2-40B4-BE49-F238E27FC236}">
                <a16:creationId xmlns:a16="http://schemas.microsoft.com/office/drawing/2014/main" id="{EE192C2F-326B-6FF3-15BE-F612861AEF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097"/>
          <a:stretch/>
        </p:blipFill>
        <p:spPr bwMode="auto">
          <a:xfrm>
            <a:off x="532979" y="2051860"/>
            <a:ext cx="3626316" cy="24813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53D062B5-3628-020A-2B04-663F712E8C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410"/>
          <a:stretch/>
        </p:blipFill>
        <p:spPr bwMode="auto">
          <a:xfrm>
            <a:off x="4716544" y="2045015"/>
            <a:ext cx="3613406" cy="3911031"/>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B0707AB5-5B10-83BD-C1FE-AB3F652123A2}"/>
              </a:ext>
            </a:extLst>
          </p:cNvPr>
          <p:cNvSpPr txBox="1"/>
          <p:nvPr/>
        </p:nvSpPr>
        <p:spPr>
          <a:xfrm>
            <a:off x="3801136" y="5986824"/>
            <a:ext cx="5605469" cy="861774"/>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11  </a:t>
            </a:r>
            <a:r>
              <a:rPr lang="zh-CN" altLang="en-US" dirty="0">
                <a:latin typeface="Times New Roman" panose="02020603050405020304" pitchFamily="18" charset="0"/>
                <a:cs typeface="Times New Roman" panose="02020603050405020304" pitchFamily="18" charset="0"/>
              </a:rPr>
              <a:t>机动换向阀</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a)  </a:t>
            </a:r>
            <a:r>
              <a:rPr lang="zh-CN" altLang="en-US" dirty="0">
                <a:latin typeface="Times New Roman" panose="02020603050405020304" pitchFamily="18" charset="0"/>
                <a:cs typeface="Times New Roman" panose="02020603050405020304" pitchFamily="18" charset="0"/>
              </a:rPr>
              <a:t>结构示意图   </a:t>
            </a:r>
            <a:r>
              <a:rPr lang="en-US" altLang="zh-CN" dirty="0">
                <a:latin typeface="Times New Roman" panose="02020603050405020304" pitchFamily="18" charset="0"/>
                <a:cs typeface="Times New Roman" panose="02020603050405020304" pitchFamily="18" charset="0"/>
              </a:rPr>
              <a:t>b)  </a:t>
            </a:r>
            <a:r>
              <a:rPr lang="zh-CN" altLang="en-US" dirty="0">
                <a:latin typeface="Times New Roman" panose="02020603050405020304" pitchFamily="18" charset="0"/>
                <a:cs typeface="Times New Roman" panose="02020603050405020304" pitchFamily="18" charset="0"/>
              </a:rPr>
              <a:t>图形符号</a:t>
            </a:r>
            <a:endParaRPr lang="en-US" altLang="zh-CN" dirty="0">
              <a:latin typeface="Times New Roman" panose="02020603050405020304" pitchFamily="18" charset="0"/>
              <a:cs typeface="Times New Roman" panose="02020603050405020304" pitchFamily="18" charset="0"/>
            </a:endParaRPr>
          </a:p>
          <a:p>
            <a:pPr algn="ctr"/>
            <a:endParaRPr lang="en-US" altLang="zh-CN" sz="1400" dirty="0">
              <a:latin typeface="Times New Roman" panose="02020603050405020304" pitchFamily="18" charset="0"/>
              <a:cs typeface="Times New Roman" panose="02020603050405020304" pitchFamily="18" charset="0"/>
            </a:endParaRPr>
          </a:p>
        </p:txBody>
      </p:sp>
      <p:pic>
        <p:nvPicPr>
          <p:cNvPr id="18" name="Picture 4">
            <a:extLst>
              <a:ext uri="{FF2B5EF4-FFF2-40B4-BE49-F238E27FC236}">
                <a16:creationId xmlns:a16="http://schemas.microsoft.com/office/drawing/2014/main" id="{8B07D1BC-A0A3-DE4B-A585-93943525E83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8753" b="18520"/>
          <a:stretch/>
        </p:blipFill>
        <p:spPr bwMode="auto">
          <a:xfrm>
            <a:off x="8652922" y="1555920"/>
            <a:ext cx="3360232" cy="214589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a:extLst>
              <a:ext uri="{FF2B5EF4-FFF2-40B4-BE49-F238E27FC236}">
                <a16:creationId xmlns:a16="http://schemas.microsoft.com/office/drawing/2014/main" id="{A64E6B0A-8D1A-3836-01B0-02D7AEEEB3D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6228" b="15366"/>
          <a:stretch/>
        </p:blipFill>
        <p:spPr bwMode="auto">
          <a:xfrm>
            <a:off x="9406605" y="3711123"/>
            <a:ext cx="1852865" cy="2228985"/>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174B4532-2582-0565-67EE-FE8CD8078D77}"/>
              </a:ext>
            </a:extLst>
          </p:cNvPr>
          <p:cNvSpPr txBox="1"/>
          <p:nvPr/>
        </p:nvSpPr>
        <p:spPr>
          <a:xfrm>
            <a:off x="7659214" y="5949415"/>
            <a:ext cx="5605469" cy="1077218"/>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12  </a:t>
            </a:r>
            <a:r>
              <a:rPr lang="zh-CN" altLang="en-US" dirty="0">
                <a:latin typeface="Times New Roman" panose="02020603050405020304" pitchFamily="18" charset="0"/>
                <a:cs typeface="Times New Roman" panose="02020603050405020304" pitchFamily="18" charset="0"/>
              </a:rPr>
              <a:t>液动换向阀</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a)  </a:t>
            </a:r>
            <a:r>
              <a:rPr lang="zh-CN" altLang="en-US" dirty="0">
                <a:latin typeface="Times New Roman" panose="02020603050405020304" pitchFamily="18" charset="0"/>
                <a:cs typeface="Times New Roman" panose="02020603050405020304" pitchFamily="18" charset="0"/>
              </a:rPr>
              <a:t>结构示意图   </a:t>
            </a:r>
            <a:r>
              <a:rPr lang="en-US" altLang="zh-CN" dirty="0">
                <a:latin typeface="Times New Roman" panose="02020603050405020304" pitchFamily="18" charset="0"/>
                <a:cs typeface="Times New Roman" panose="02020603050405020304" pitchFamily="18" charset="0"/>
              </a:rPr>
              <a:t>b)  </a:t>
            </a:r>
            <a:r>
              <a:rPr lang="zh-CN" altLang="en-US" dirty="0">
                <a:latin typeface="Times New Roman" panose="02020603050405020304" pitchFamily="18" charset="0"/>
                <a:cs typeface="Times New Roman" panose="02020603050405020304" pitchFamily="18" charset="0"/>
              </a:rPr>
              <a:t>图形符号</a:t>
            </a:r>
            <a:endParaRPr lang="en-US" altLang="zh-CN" dirty="0">
              <a:latin typeface="Times New Roman" panose="02020603050405020304" pitchFamily="18" charset="0"/>
              <a:cs typeface="Times New Roman" panose="02020603050405020304" pitchFamily="18" charset="0"/>
            </a:endParaRPr>
          </a:p>
          <a:p>
            <a:pPr algn="ctr"/>
            <a:endParaRPr lang="en-US" altLang="zh-CN" sz="1400" dirty="0">
              <a:latin typeface="Times New Roman" panose="02020603050405020304" pitchFamily="18" charset="0"/>
              <a:cs typeface="Times New Roman" panose="02020603050405020304" pitchFamily="18" charset="0"/>
            </a:endParaRPr>
          </a:p>
          <a:p>
            <a:pPr algn="ctr"/>
            <a:endParaRPr lang="en-US" altLang="zh-CN" sz="1400" dirty="0">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94FC7D50-6BC8-86B3-CCA0-F922044D3C6B}"/>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D3F732DD-DD71-90CB-ED54-2BC7E49919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22" name="文本框 21">
            <a:extLst>
              <a:ext uri="{FF2B5EF4-FFF2-40B4-BE49-F238E27FC236}">
                <a16:creationId xmlns:a16="http://schemas.microsoft.com/office/drawing/2014/main" id="{DEF53532-701B-E6B1-1B41-C91268171208}"/>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23" name="矩形 22">
            <a:extLst>
              <a:ext uri="{FF2B5EF4-FFF2-40B4-BE49-F238E27FC236}">
                <a16:creationId xmlns:a16="http://schemas.microsoft.com/office/drawing/2014/main" id="{9310B1F2-93AF-7167-F1FD-60EDC281660F}"/>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93068FF1-FC4D-F19B-8AC8-B55FBA844758}"/>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cxnSp>
        <p:nvCxnSpPr>
          <p:cNvPr id="3" name="直接连接符 2">
            <a:extLst>
              <a:ext uri="{FF2B5EF4-FFF2-40B4-BE49-F238E27FC236}">
                <a16:creationId xmlns:a16="http://schemas.microsoft.com/office/drawing/2014/main" id="{07DBAA09-6E42-F2B1-60B7-4DF67C97FE59}"/>
              </a:ext>
            </a:extLst>
          </p:cNvPr>
          <p:cNvCxnSpPr>
            <a:cxnSpLocks/>
          </p:cNvCxnSpPr>
          <p:nvPr/>
        </p:nvCxnSpPr>
        <p:spPr>
          <a:xfrm>
            <a:off x="4513277" y="2029077"/>
            <a:ext cx="0" cy="4507220"/>
          </a:xfrm>
          <a:prstGeom prst="line">
            <a:avLst/>
          </a:prstGeom>
          <a:ln w="12700">
            <a:solidFill>
              <a:srgbClr val="003F88"/>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D28E789A-44FB-A39B-BBF6-77003DA9020C}"/>
              </a:ext>
            </a:extLst>
          </p:cNvPr>
          <p:cNvCxnSpPr>
            <a:cxnSpLocks/>
          </p:cNvCxnSpPr>
          <p:nvPr/>
        </p:nvCxnSpPr>
        <p:spPr>
          <a:xfrm>
            <a:off x="8574947" y="2051860"/>
            <a:ext cx="0" cy="4501116"/>
          </a:xfrm>
          <a:prstGeom prst="line">
            <a:avLst/>
          </a:prstGeom>
          <a:ln w="12700">
            <a:solidFill>
              <a:srgbClr val="003F88"/>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4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a:extLst>
              <a:ext uri="{FF2B5EF4-FFF2-40B4-BE49-F238E27FC236}">
                <a16:creationId xmlns:a16="http://schemas.microsoft.com/office/drawing/2014/main" id="{1C78A9F8-E44E-1190-1531-545964D85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350" y="2060611"/>
            <a:ext cx="3933765" cy="2272501"/>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49D9FE3F-9C61-54AE-79AA-1C35BD05EF92}"/>
              </a:ext>
            </a:extLst>
          </p:cNvPr>
          <p:cNvSpPr txBox="1"/>
          <p:nvPr/>
        </p:nvSpPr>
        <p:spPr>
          <a:xfrm>
            <a:off x="631525" y="6443024"/>
            <a:ext cx="530905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13  </a:t>
            </a:r>
            <a:r>
              <a:rPr lang="zh-CN" altLang="en-US" dirty="0">
                <a:latin typeface="Times New Roman" panose="02020603050405020304" pitchFamily="18" charset="0"/>
                <a:cs typeface="Times New Roman" panose="02020603050405020304" pitchFamily="18" charset="0"/>
              </a:rPr>
              <a:t>电磁换向阀实物模型，结构示意及图形符号</a:t>
            </a:r>
            <a:endParaRPr lang="en-US" altLang="zh-CN"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3074" name="Picture 2">
            <a:extLst>
              <a:ext uri="{FF2B5EF4-FFF2-40B4-BE49-F238E27FC236}">
                <a16:creationId xmlns:a16="http://schemas.microsoft.com/office/drawing/2014/main" id="{10EC4F80-86F0-21A1-A507-8E6B82601ED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034"/>
          <a:stretch/>
        </p:blipFill>
        <p:spPr bwMode="auto">
          <a:xfrm>
            <a:off x="727617" y="4321818"/>
            <a:ext cx="5110877" cy="1997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4">
            <a:extLst>
              <a:ext uri="{FF2B5EF4-FFF2-40B4-BE49-F238E27FC236}">
                <a16:creationId xmlns:a16="http://schemas.microsoft.com/office/drawing/2014/main" id="{FAAFD7E2-044E-DA5D-6012-66AA496E9E85}"/>
              </a:ext>
            </a:extLst>
          </p:cNvPr>
          <p:cNvSpPr>
            <a:spLocks noChangeArrowheads="1"/>
          </p:cNvSpPr>
          <p:nvPr/>
        </p:nvSpPr>
        <p:spPr bwMode="auto">
          <a:xfrm>
            <a:off x="1655078" y="18323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6">
            <a:extLst>
              <a:ext uri="{FF2B5EF4-FFF2-40B4-BE49-F238E27FC236}">
                <a16:creationId xmlns:a16="http://schemas.microsoft.com/office/drawing/2014/main" id="{1584081F-9278-B391-C93D-0669A28F4283}"/>
              </a:ext>
            </a:extLst>
          </p:cNvPr>
          <p:cNvSpPr>
            <a:spLocks noChangeArrowheads="1"/>
          </p:cNvSpPr>
          <p:nvPr/>
        </p:nvSpPr>
        <p:spPr bwMode="auto">
          <a:xfrm>
            <a:off x="7093076" y="1771424"/>
            <a:ext cx="1646777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20" name="Picture 4">
            <a:extLst>
              <a:ext uri="{FF2B5EF4-FFF2-40B4-BE49-F238E27FC236}">
                <a16:creationId xmlns:a16="http://schemas.microsoft.com/office/drawing/2014/main" id="{6E2303F2-FCAD-9C78-B4D6-0ED66E2B134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7889"/>
          <a:stretch/>
        </p:blipFill>
        <p:spPr bwMode="auto">
          <a:xfrm>
            <a:off x="6651772" y="4194523"/>
            <a:ext cx="4597865" cy="2252556"/>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a:extLst>
              <a:ext uri="{FF2B5EF4-FFF2-40B4-BE49-F238E27FC236}">
                <a16:creationId xmlns:a16="http://schemas.microsoft.com/office/drawing/2014/main" id="{D3068263-E631-A4A3-6CA1-A87EF1B457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0266" y="2066429"/>
            <a:ext cx="3933762" cy="2255389"/>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2DFDA55D-EDEE-CE0C-DEB8-343474D0D16B}"/>
              </a:ext>
            </a:extLst>
          </p:cNvPr>
          <p:cNvSpPr txBox="1"/>
          <p:nvPr/>
        </p:nvSpPr>
        <p:spPr>
          <a:xfrm>
            <a:off x="6497933" y="6443024"/>
            <a:ext cx="530905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14  </a:t>
            </a:r>
            <a:r>
              <a:rPr lang="zh-CN" altLang="en-US" dirty="0">
                <a:latin typeface="Times New Roman" panose="02020603050405020304" pitchFamily="18" charset="0"/>
                <a:cs typeface="Times New Roman" panose="02020603050405020304" pitchFamily="18" charset="0"/>
              </a:rPr>
              <a:t>电液换向阀实物模型，结构示意及图形符号</a:t>
            </a:r>
            <a:endParaRPr lang="en-US" altLang="zh-CN"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3BFFA31C-47DC-A170-A11E-1E0AFB208A06}"/>
              </a:ext>
            </a:extLst>
          </p:cNvPr>
          <p:cNvSpPr txBox="1"/>
          <p:nvPr/>
        </p:nvSpPr>
        <p:spPr>
          <a:xfrm>
            <a:off x="470325" y="826654"/>
            <a:ext cx="11336664" cy="1422441"/>
          </a:xfrm>
          <a:prstGeom prst="rect">
            <a:avLst/>
          </a:prstGeom>
          <a:noFill/>
        </p:spPr>
        <p:txBody>
          <a:bodyPr wrap="square" rtlCol="0">
            <a:spAutoFit/>
          </a:bodyPr>
          <a:lstStyle/>
          <a:p>
            <a:pPr algn="just">
              <a:lnSpc>
                <a:spcPct val="150000"/>
              </a:lnSpc>
            </a:pPr>
            <a:r>
              <a:rPr lang="zh-CN" altLang="en-US" sz="2000" dirty="0"/>
              <a:t>        </a:t>
            </a:r>
            <a:r>
              <a:rPr lang="zh-CN" altLang="en-US" sz="2000" b="1" dirty="0">
                <a:solidFill>
                  <a:srgbClr val="0070C0"/>
                </a:solidFill>
              </a:rPr>
              <a:t>电磁换向阀</a:t>
            </a:r>
            <a:r>
              <a:rPr lang="zh-CN" altLang="en-US" sz="2000" dirty="0"/>
              <a:t>借助于</a:t>
            </a:r>
            <a:r>
              <a:rPr lang="zh-CN" altLang="en-US" sz="2000" b="1" dirty="0">
                <a:solidFill>
                  <a:srgbClr val="FF0000"/>
                </a:solidFill>
              </a:rPr>
              <a:t>电磁铁</a:t>
            </a:r>
            <a:r>
              <a:rPr lang="zh-CN" altLang="en-US" sz="2000" dirty="0"/>
              <a:t>吸力推动阀心动作来改变液流流向；</a:t>
            </a:r>
            <a:r>
              <a:rPr lang="zh-CN" altLang="en-US" sz="2000" b="1" dirty="0">
                <a:solidFill>
                  <a:srgbClr val="003F88"/>
                </a:solidFill>
              </a:rPr>
              <a:t>电液换向阀</a:t>
            </a:r>
            <a:r>
              <a:rPr lang="zh-CN" altLang="en-US" sz="2000" dirty="0"/>
              <a:t>是由电磁换向阀与液动换向阀组合而成，液动换向阀实现主油路的换向，称为</a:t>
            </a:r>
            <a:r>
              <a:rPr lang="zh-CN" altLang="en-US" sz="2000" b="1" dirty="0">
                <a:solidFill>
                  <a:srgbClr val="FF0000"/>
                </a:solidFill>
              </a:rPr>
              <a:t>主阀</a:t>
            </a:r>
            <a:r>
              <a:rPr lang="zh-CN" altLang="en-US" sz="2000" dirty="0"/>
              <a:t>；电磁换向阀改变液动阀控制油路的方向，称为</a:t>
            </a:r>
            <a:r>
              <a:rPr lang="zh-CN" altLang="en-US" sz="2000" b="1" dirty="0">
                <a:solidFill>
                  <a:srgbClr val="FF0000"/>
                </a:solidFill>
              </a:rPr>
              <a:t>先导阀</a:t>
            </a:r>
            <a:r>
              <a:rPr lang="zh-CN" altLang="en-US" sz="2000" dirty="0"/>
              <a:t>。电磁换向阀适用于高压、大流量的场合。</a:t>
            </a:r>
          </a:p>
        </p:txBody>
      </p:sp>
      <p:cxnSp>
        <p:nvCxnSpPr>
          <p:cNvPr id="9" name="直接连接符 8">
            <a:extLst>
              <a:ext uri="{FF2B5EF4-FFF2-40B4-BE49-F238E27FC236}">
                <a16:creationId xmlns:a16="http://schemas.microsoft.com/office/drawing/2014/main" id="{28B7FC1B-E3B0-D92F-0E64-514257FF9E1A}"/>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2FFD28CA-2CFF-0627-C451-1C0753628A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2" name="文本框 11">
            <a:extLst>
              <a:ext uri="{FF2B5EF4-FFF2-40B4-BE49-F238E27FC236}">
                <a16:creationId xmlns:a16="http://schemas.microsoft.com/office/drawing/2014/main" id="{49CB20B2-BF87-6D02-9698-684F73C03CAC}"/>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3" name="矩形 12">
            <a:extLst>
              <a:ext uri="{FF2B5EF4-FFF2-40B4-BE49-F238E27FC236}">
                <a16:creationId xmlns:a16="http://schemas.microsoft.com/office/drawing/2014/main" id="{F6D6C461-845D-D29F-7361-E356A75DA734}"/>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46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6" name="Rectangle 4">
            <a:extLst>
              <a:ext uri="{FF2B5EF4-FFF2-40B4-BE49-F238E27FC236}">
                <a16:creationId xmlns:a16="http://schemas.microsoft.com/office/drawing/2014/main" id="{FAAFD7E2-044E-DA5D-6012-66AA496E9E85}"/>
              </a:ext>
            </a:extLst>
          </p:cNvPr>
          <p:cNvSpPr>
            <a:spLocks noChangeArrowheads="1"/>
          </p:cNvSpPr>
          <p:nvPr/>
        </p:nvSpPr>
        <p:spPr bwMode="auto">
          <a:xfrm>
            <a:off x="1655078" y="18323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6">
            <a:extLst>
              <a:ext uri="{FF2B5EF4-FFF2-40B4-BE49-F238E27FC236}">
                <a16:creationId xmlns:a16="http://schemas.microsoft.com/office/drawing/2014/main" id="{1584081F-9278-B391-C93D-0669A28F4283}"/>
              </a:ext>
            </a:extLst>
          </p:cNvPr>
          <p:cNvSpPr>
            <a:spLocks noChangeArrowheads="1"/>
          </p:cNvSpPr>
          <p:nvPr/>
        </p:nvSpPr>
        <p:spPr bwMode="auto">
          <a:xfrm>
            <a:off x="7093076" y="1771424"/>
            <a:ext cx="1646777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2" name="文本框 21">
            <a:extLst>
              <a:ext uri="{FF2B5EF4-FFF2-40B4-BE49-F238E27FC236}">
                <a16:creationId xmlns:a16="http://schemas.microsoft.com/office/drawing/2014/main" id="{3BFFA31C-47DC-A170-A11E-1E0AFB208A06}"/>
              </a:ext>
            </a:extLst>
          </p:cNvPr>
          <p:cNvSpPr txBox="1"/>
          <p:nvPr/>
        </p:nvSpPr>
        <p:spPr>
          <a:xfrm>
            <a:off x="720437" y="1433190"/>
            <a:ext cx="11336664" cy="580415"/>
          </a:xfrm>
          <a:prstGeom prst="rect">
            <a:avLst/>
          </a:prstGeom>
          <a:noFill/>
        </p:spPr>
        <p:txBody>
          <a:bodyPr wrap="square" rtlCol="0">
            <a:spAutoFit/>
          </a:bodyPr>
          <a:lstStyle/>
          <a:p>
            <a:pPr algn="just">
              <a:lnSpc>
                <a:spcPct val="150000"/>
              </a:lnSpc>
            </a:pPr>
            <a:r>
              <a:rPr lang="zh-CN" altLang="en-US" sz="2400" b="1" dirty="0"/>
              <a:t>滑阀机能</a:t>
            </a:r>
          </a:p>
        </p:txBody>
      </p:sp>
      <p:sp>
        <p:nvSpPr>
          <p:cNvPr id="11" name="文本框 10">
            <a:extLst>
              <a:ext uri="{FF2B5EF4-FFF2-40B4-BE49-F238E27FC236}">
                <a16:creationId xmlns:a16="http://schemas.microsoft.com/office/drawing/2014/main" id="{D5B6BB5B-935F-CCBC-E2EF-9F92E792C465}"/>
              </a:ext>
            </a:extLst>
          </p:cNvPr>
          <p:cNvSpPr txBox="1"/>
          <p:nvPr/>
        </p:nvSpPr>
        <p:spPr>
          <a:xfrm>
            <a:off x="819999" y="2053354"/>
            <a:ext cx="10520354" cy="3266985"/>
          </a:xfrm>
          <a:prstGeom prst="rect">
            <a:avLst/>
          </a:prstGeom>
          <a:noFill/>
        </p:spPr>
        <p:txBody>
          <a:bodyPr wrap="square" rtlCol="0">
            <a:spAutoFit/>
          </a:bodyPr>
          <a:lstStyle/>
          <a:p>
            <a:pPr algn="just">
              <a:lnSpc>
                <a:spcPct val="150000"/>
              </a:lnSpc>
            </a:pPr>
            <a:r>
              <a:rPr lang="zh-CN" altLang="en-US" sz="2000" dirty="0"/>
              <a:t>         换向阀的滑阀机能分为</a:t>
            </a:r>
            <a:r>
              <a:rPr lang="zh-CN" altLang="en-US" sz="2000" b="1" dirty="0">
                <a:solidFill>
                  <a:srgbClr val="FF0000"/>
                </a:solidFill>
              </a:rPr>
              <a:t>工作位置机能</a:t>
            </a:r>
            <a:r>
              <a:rPr lang="zh-CN" altLang="en-US" sz="2000" b="1" dirty="0"/>
              <a:t>和</a:t>
            </a:r>
            <a:r>
              <a:rPr lang="zh-CN" altLang="en-US" sz="2000" b="1" dirty="0">
                <a:solidFill>
                  <a:srgbClr val="FF0000"/>
                </a:solidFill>
              </a:rPr>
              <a:t>过渡位置机能</a:t>
            </a:r>
            <a:r>
              <a:rPr lang="zh-CN" altLang="en-US" sz="2000" b="1" dirty="0"/>
              <a:t>。前者是指滑阀处于某个工作位置时</a:t>
            </a:r>
            <a:r>
              <a:rPr lang="en-US" altLang="zh-CN" sz="2000" b="1" dirty="0"/>
              <a:t>,</a:t>
            </a:r>
            <a:r>
              <a:rPr lang="zh-CN" altLang="en-US" sz="2000" b="1" dirty="0"/>
              <a:t>其各个通口的连通关系</a:t>
            </a:r>
            <a:r>
              <a:rPr lang="en-US" altLang="zh-CN" sz="2000" b="1" dirty="0"/>
              <a:t>;</a:t>
            </a:r>
            <a:r>
              <a:rPr lang="zh-CN" altLang="en-US" sz="2000" b="1" dirty="0"/>
              <a:t>后者则指滑阀从一个工作位置变换到另一个工作位置的过渡过程中</a:t>
            </a:r>
            <a:r>
              <a:rPr lang="en-US" altLang="zh-CN" sz="2000" b="1" dirty="0"/>
              <a:t>,</a:t>
            </a:r>
            <a:r>
              <a:rPr lang="zh-CN" altLang="en-US" sz="2000" b="1" dirty="0"/>
              <a:t>它的各个通口的瞬时连通关系</a:t>
            </a:r>
            <a:r>
              <a:rPr lang="zh-CN" altLang="en-US" sz="2000" dirty="0"/>
              <a:t>。不同的滑阀机能对应有不同的功能。滑阀机能对换向阀的换向性能和系统的工作特性有着重要的影响。</a:t>
            </a:r>
            <a:endParaRPr lang="en-US" altLang="zh-CN" sz="2000" dirty="0"/>
          </a:p>
          <a:p>
            <a:pPr algn="just">
              <a:lnSpc>
                <a:spcPct val="150000"/>
              </a:lnSpc>
            </a:pPr>
            <a:r>
              <a:rPr lang="zh-CN" altLang="en-US" sz="2000" dirty="0"/>
              <a:t>        三位的滑阀在中位时各油口的连通方式体现了换向阀的控制机能，称之为滑阀的</a:t>
            </a:r>
            <a:r>
              <a:rPr lang="zh-CN" altLang="en-US" sz="2000" b="1" dirty="0">
                <a:solidFill>
                  <a:srgbClr val="FF0000"/>
                </a:solidFill>
              </a:rPr>
              <a:t>中位机能</a:t>
            </a:r>
            <a:r>
              <a:rPr lang="zh-CN" altLang="en-US" sz="2000" dirty="0"/>
              <a:t>。</a:t>
            </a:r>
          </a:p>
          <a:p>
            <a:pPr algn="just">
              <a:lnSpc>
                <a:spcPct val="150000"/>
              </a:lnSpc>
            </a:pPr>
            <a:endParaRPr lang="zh-CN" altLang="en-US" sz="2000" dirty="0"/>
          </a:p>
        </p:txBody>
      </p:sp>
      <p:cxnSp>
        <p:nvCxnSpPr>
          <p:cNvPr id="9" name="直接连接符 8">
            <a:extLst>
              <a:ext uri="{FF2B5EF4-FFF2-40B4-BE49-F238E27FC236}">
                <a16:creationId xmlns:a16="http://schemas.microsoft.com/office/drawing/2014/main" id="{AC8023EB-4475-4F9D-EDB7-DFEF7E4B411E}"/>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54CD5A5A-8F8E-B547-0FC0-ACC0F0C67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02E1B621-FD8A-98AC-19E0-FD923ED56B43}"/>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5" name="矩形 14">
            <a:extLst>
              <a:ext uri="{FF2B5EF4-FFF2-40B4-BE49-F238E27FC236}">
                <a16:creationId xmlns:a16="http://schemas.microsoft.com/office/drawing/2014/main" id="{CE5433D5-7831-07E2-E430-0A2368A65ABA}"/>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F5D5BFA8-400E-F33A-A09F-4E34DCAE999B}"/>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Tree>
    <p:extLst>
      <p:ext uri="{BB962C8B-B14F-4D97-AF65-F5344CB8AC3E}">
        <p14:creationId xmlns:p14="http://schemas.microsoft.com/office/powerpoint/2010/main" val="2022352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6" name="Rectangle 4">
            <a:extLst>
              <a:ext uri="{FF2B5EF4-FFF2-40B4-BE49-F238E27FC236}">
                <a16:creationId xmlns:a16="http://schemas.microsoft.com/office/drawing/2014/main" id="{FAAFD7E2-044E-DA5D-6012-66AA496E9E85}"/>
              </a:ext>
            </a:extLst>
          </p:cNvPr>
          <p:cNvSpPr>
            <a:spLocks noChangeArrowheads="1"/>
          </p:cNvSpPr>
          <p:nvPr/>
        </p:nvSpPr>
        <p:spPr bwMode="auto">
          <a:xfrm>
            <a:off x="1655078" y="18323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6">
            <a:extLst>
              <a:ext uri="{FF2B5EF4-FFF2-40B4-BE49-F238E27FC236}">
                <a16:creationId xmlns:a16="http://schemas.microsoft.com/office/drawing/2014/main" id="{1584081F-9278-B391-C93D-0669A28F4283}"/>
              </a:ext>
            </a:extLst>
          </p:cNvPr>
          <p:cNvSpPr>
            <a:spLocks noChangeArrowheads="1"/>
          </p:cNvSpPr>
          <p:nvPr/>
        </p:nvSpPr>
        <p:spPr bwMode="auto">
          <a:xfrm>
            <a:off x="7093076" y="1771424"/>
            <a:ext cx="1646777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12" name="图片 11">
            <a:extLst>
              <a:ext uri="{FF2B5EF4-FFF2-40B4-BE49-F238E27FC236}">
                <a16:creationId xmlns:a16="http://schemas.microsoft.com/office/drawing/2014/main" id="{546A6198-4A18-BF12-1FDE-524A338D5583}"/>
              </a:ext>
            </a:extLst>
          </p:cNvPr>
          <p:cNvPicPr>
            <a:picLocks noChangeAspect="1"/>
          </p:cNvPicPr>
          <p:nvPr/>
        </p:nvPicPr>
        <p:blipFill>
          <a:blip r:embed="rId3"/>
          <a:srcRect t="182"/>
          <a:stretch/>
        </p:blipFill>
        <p:spPr>
          <a:xfrm>
            <a:off x="1608224" y="1641467"/>
            <a:ext cx="8928698" cy="4939520"/>
          </a:xfrm>
          <a:prstGeom prst="rect">
            <a:avLst/>
          </a:prstGeom>
        </p:spPr>
      </p:pic>
      <p:sp>
        <p:nvSpPr>
          <p:cNvPr id="13" name="文本框 12">
            <a:extLst>
              <a:ext uri="{FF2B5EF4-FFF2-40B4-BE49-F238E27FC236}">
                <a16:creationId xmlns:a16="http://schemas.microsoft.com/office/drawing/2014/main" id="{54266370-AE09-8200-590E-B08E43051AB9}"/>
              </a:ext>
            </a:extLst>
          </p:cNvPr>
          <p:cNvSpPr txBox="1"/>
          <p:nvPr/>
        </p:nvSpPr>
        <p:spPr>
          <a:xfrm>
            <a:off x="895927" y="1129219"/>
            <a:ext cx="11336664" cy="496996"/>
          </a:xfrm>
          <a:prstGeom prst="rect">
            <a:avLst/>
          </a:prstGeom>
          <a:noFill/>
        </p:spPr>
        <p:txBody>
          <a:bodyPr wrap="square" rtlCol="0">
            <a:spAutoFit/>
          </a:bodyPr>
          <a:lstStyle/>
          <a:p>
            <a:pPr algn="just">
              <a:lnSpc>
                <a:spcPct val="150000"/>
              </a:lnSpc>
            </a:pPr>
            <a:r>
              <a:rPr lang="zh-CN" altLang="en-US" sz="2000" dirty="0"/>
              <a:t>工作位置机能：三位换向阀几种常用的滑阀工作位置机能见教材表</a:t>
            </a:r>
            <a:r>
              <a:rPr lang="en-US" altLang="zh-CN" sz="2000" dirty="0"/>
              <a:t>6-5</a:t>
            </a:r>
            <a:endParaRPr lang="zh-CN" altLang="en-US" sz="2000" dirty="0"/>
          </a:p>
        </p:txBody>
      </p:sp>
      <p:cxnSp>
        <p:nvCxnSpPr>
          <p:cNvPr id="7" name="直接连接符 6">
            <a:extLst>
              <a:ext uri="{FF2B5EF4-FFF2-40B4-BE49-F238E27FC236}">
                <a16:creationId xmlns:a16="http://schemas.microsoft.com/office/drawing/2014/main" id="{2062ADC7-5497-D3F4-A8E5-FD1854BE657B}"/>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C997C627-CBC4-4375-C356-6C465B12F5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1" name="文本框 10">
            <a:extLst>
              <a:ext uri="{FF2B5EF4-FFF2-40B4-BE49-F238E27FC236}">
                <a16:creationId xmlns:a16="http://schemas.microsoft.com/office/drawing/2014/main" id="{C7F61170-E1DA-596F-057F-6BB703762AF6}"/>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5" name="矩形 14">
            <a:extLst>
              <a:ext uri="{FF2B5EF4-FFF2-40B4-BE49-F238E27FC236}">
                <a16:creationId xmlns:a16="http://schemas.microsoft.com/office/drawing/2014/main" id="{B0462D5A-77BE-02A1-D8BE-E432BE723E84}"/>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1310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6" name="Rectangle 4">
            <a:extLst>
              <a:ext uri="{FF2B5EF4-FFF2-40B4-BE49-F238E27FC236}">
                <a16:creationId xmlns:a16="http://schemas.microsoft.com/office/drawing/2014/main" id="{FAAFD7E2-044E-DA5D-6012-66AA496E9E85}"/>
              </a:ext>
            </a:extLst>
          </p:cNvPr>
          <p:cNvSpPr>
            <a:spLocks noChangeArrowheads="1"/>
          </p:cNvSpPr>
          <p:nvPr/>
        </p:nvSpPr>
        <p:spPr bwMode="auto">
          <a:xfrm>
            <a:off x="1655078" y="18323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6">
            <a:extLst>
              <a:ext uri="{FF2B5EF4-FFF2-40B4-BE49-F238E27FC236}">
                <a16:creationId xmlns:a16="http://schemas.microsoft.com/office/drawing/2014/main" id="{1584081F-9278-B391-C93D-0669A28F4283}"/>
              </a:ext>
            </a:extLst>
          </p:cNvPr>
          <p:cNvSpPr>
            <a:spLocks noChangeArrowheads="1"/>
          </p:cNvSpPr>
          <p:nvPr/>
        </p:nvSpPr>
        <p:spPr bwMode="auto">
          <a:xfrm>
            <a:off x="7093076" y="1771424"/>
            <a:ext cx="1646777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文本框 12">
            <a:extLst>
              <a:ext uri="{FF2B5EF4-FFF2-40B4-BE49-F238E27FC236}">
                <a16:creationId xmlns:a16="http://schemas.microsoft.com/office/drawing/2014/main" id="{54266370-AE09-8200-590E-B08E43051AB9}"/>
              </a:ext>
            </a:extLst>
          </p:cNvPr>
          <p:cNvSpPr txBox="1"/>
          <p:nvPr/>
        </p:nvSpPr>
        <p:spPr>
          <a:xfrm>
            <a:off x="895927" y="1129219"/>
            <a:ext cx="11336664" cy="496996"/>
          </a:xfrm>
          <a:prstGeom prst="rect">
            <a:avLst/>
          </a:prstGeom>
          <a:noFill/>
        </p:spPr>
        <p:txBody>
          <a:bodyPr wrap="square" rtlCol="0">
            <a:spAutoFit/>
          </a:bodyPr>
          <a:lstStyle/>
          <a:p>
            <a:pPr algn="just">
              <a:lnSpc>
                <a:spcPct val="150000"/>
              </a:lnSpc>
            </a:pPr>
            <a:r>
              <a:rPr lang="zh-CN" altLang="en-US" sz="2000" dirty="0"/>
              <a:t>工作位置机能：三位换向阀几种常用的滑阀工作位置机能见教材表</a:t>
            </a:r>
            <a:r>
              <a:rPr lang="en-US" altLang="zh-CN" sz="2000" dirty="0"/>
              <a:t>6-5</a:t>
            </a:r>
            <a:endParaRPr lang="zh-CN" altLang="en-US" sz="2000" dirty="0"/>
          </a:p>
        </p:txBody>
      </p:sp>
      <p:pic>
        <p:nvPicPr>
          <p:cNvPr id="4" name="图片 3">
            <a:extLst>
              <a:ext uri="{FF2B5EF4-FFF2-40B4-BE49-F238E27FC236}">
                <a16:creationId xmlns:a16="http://schemas.microsoft.com/office/drawing/2014/main" id="{356C284E-0DB8-60BA-B7FE-3CC4A28E56AB}"/>
              </a:ext>
            </a:extLst>
          </p:cNvPr>
          <p:cNvPicPr>
            <a:picLocks noChangeAspect="1"/>
          </p:cNvPicPr>
          <p:nvPr/>
        </p:nvPicPr>
        <p:blipFill>
          <a:blip r:embed="rId3"/>
          <a:stretch>
            <a:fillRect/>
          </a:stretch>
        </p:blipFill>
        <p:spPr>
          <a:xfrm>
            <a:off x="1319275" y="1917032"/>
            <a:ext cx="9553450" cy="4630200"/>
          </a:xfrm>
          <a:prstGeom prst="rect">
            <a:avLst/>
          </a:prstGeom>
        </p:spPr>
      </p:pic>
      <p:cxnSp>
        <p:nvCxnSpPr>
          <p:cNvPr id="9" name="直接连接符 8">
            <a:extLst>
              <a:ext uri="{FF2B5EF4-FFF2-40B4-BE49-F238E27FC236}">
                <a16:creationId xmlns:a16="http://schemas.microsoft.com/office/drawing/2014/main" id="{8A48DA29-6984-73B8-295B-F19C3BD6AE54}"/>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E2F69266-450B-FED6-B8A1-BB9C0C11A7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2" name="文本框 11">
            <a:extLst>
              <a:ext uri="{FF2B5EF4-FFF2-40B4-BE49-F238E27FC236}">
                <a16:creationId xmlns:a16="http://schemas.microsoft.com/office/drawing/2014/main" id="{252546C8-08E2-42E7-5E9E-A3BE7AC967BB}"/>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5" name="矩形 14">
            <a:extLst>
              <a:ext uri="{FF2B5EF4-FFF2-40B4-BE49-F238E27FC236}">
                <a16:creationId xmlns:a16="http://schemas.microsoft.com/office/drawing/2014/main" id="{A97131F6-5AEC-7402-56FB-C3172FBBE70A}"/>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01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454444" y="1564849"/>
            <a:ext cx="11304419" cy="1825949"/>
          </a:xfrm>
          <a:prstGeom prst="rect">
            <a:avLst/>
          </a:prstGeom>
          <a:noFill/>
        </p:spPr>
        <p:txBody>
          <a:bodyPr wrap="square" rtlCol="0">
            <a:spAutoFit/>
          </a:bodyPr>
          <a:lstStyle/>
          <a:p>
            <a:pPr algn="just">
              <a:lnSpc>
                <a:spcPct val="150000"/>
              </a:lnSpc>
            </a:pPr>
            <a:r>
              <a:rPr lang="zh-CN" altLang="en-US" sz="2000" dirty="0"/>
              <a:t>在分析和选择三位换向阀中位工作机能时</a:t>
            </a:r>
            <a:r>
              <a:rPr lang="en-US" altLang="zh-CN" sz="2000" dirty="0"/>
              <a:t>,</a:t>
            </a:r>
            <a:r>
              <a:rPr lang="zh-CN" altLang="en-US" sz="2000" dirty="0"/>
              <a:t>通常考虑以下因素</a:t>
            </a:r>
            <a:r>
              <a:rPr lang="en-US" altLang="zh-CN" sz="2000" dirty="0"/>
              <a:t>:</a:t>
            </a:r>
          </a:p>
          <a:p>
            <a:pPr algn="just">
              <a:lnSpc>
                <a:spcPct val="150000"/>
              </a:lnSpc>
            </a:pPr>
            <a:endParaRPr lang="en-US" altLang="zh-CN" sz="2000" dirty="0"/>
          </a:p>
          <a:p>
            <a:pPr algn="just">
              <a:lnSpc>
                <a:spcPct val="150000"/>
              </a:lnSpc>
            </a:pPr>
            <a:endParaRPr lang="zh-CN" altLang="en-US" sz="2000" dirty="0"/>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7" name="直接连接符 6">
            <a:extLst>
              <a:ext uri="{FF2B5EF4-FFF2-40B4-BE49-F238E27FC236}">
                <a16:creationId xmlns:a16="http://schemas.microsoft.com/office/drawing/2014/main" id="{2A119994-3ADF-E06A-52BC-0EA69D2FB048}"/>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3E7A0240-3933-4D19-7B5D-BAFF7C494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CE5BF20E-C4B3-FF3B-1E4C-10BA983A7E8A}"/>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5" name="矩形 14">
            <a:extLst>
              <a:ext uri="{FF2B5EF4-FFF2-40B4-BE49-F238E27FC236}">
                <a16:creationId xmlns:a16="http://schemas.microsoft.com/office/drawing/2014/main" id="{4F444DF6-D71D-7243-E269-B42442E7D223}"/>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EE36847C-5C8A-7460-9BF3-1F3A52338A49}"/>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
        <p:nvSpPr>
          <p:cNvPr id="11" name="文本框 10">
            <a:extLst>
              <a:ext uri="{FF2B5EF4-FFF2-40B4-BE49-F238E27FC236}">
                <a16:creationId xmlns:a16="http://schemas.microsoft.com/office/drawing/2014/main" id="{16FB62A7-35D3-4681-BC88-1EF11B253F82}"/>
              </a:ext>
            </a:extLst>
          </p:cNvPr>
          <p:cNvSpPr txBox="1"/>
          <p:nvPr/>
        </p:nvSpPr>
        <p:spPr>
          <a:xfrm>
            <a:off x="454444" y="2389952"/>
            <a:ext cx="7547154" cy="3673570"/>
          </a:xfrm>
          <a:prstGeom prst="rect">
            <a:avLst/>
          </a:prstGeom>
          <a:noFill/>
        </p:spPr>
        <p:txBody>
          <a:bodyPr wrap="square">
            <a:spAutoFit/>
          </a:bodyPr>
          <a:lstStyle/>
          <a:p>
            <a:pPr marL="342900" indent="-342900" algn="just">
              <a:lnSpc>
                <a:spcPct val="200000"/>
              </a:lnSpc>
              <a:buFont typeface="Wingdings" panose="05000000000000000000" pitchFamily="2" charset="2"/>
              <a:buChar char="Ø"/>
            </a:pPr>
            <a:r>
              <a:rPr lang="zh-CN" altLang="en-US" sz="2400" b="1" dirty="0"/>
              <a:t>系统保压</a:t>
            </a:r>
            <a:endParaRPr lang="en-US" altLang="zh-CN" sz="2400" b="1" dirty="0"/>
          </a:p>
          <a:p>
            <a:pPr marL="342900" indent="-342900" algn="just">
              <a:lnSpc>
                <a:spcPct val="200000"/>
              </a:lnSpc>
              <a:buFont typeface="Wingdings" panose="05000000000000000000" pitchFamily="2" charset="2"/>
              <a:buChar char="Ø"/>
            </a:pPr>
            <a:r>
              <a:rPr lang="zh-CN" altLang="en-US" sz="2400" b="1" dirty="0"/>
              <a:t>系统卸荷</a:t>
            </a:r>
            <a:endParaRPr lang="en-US" altLang="zh-CN" sz="2400" b="1" dirty="0"/>
          </a:p>
          <a:p>
            <a:pPr marL="342900" indent="-342900" algn="just">
              <a:lnSpc>
                <a:spcPct val="200000"/>
              </a:lnSpc>
              <a:buFont typeface="Wingdings" panose="05000000000000000000" pitchFamily="2" charset="2"/>
              <a:buChar char="Ø"/>
            </a:pPr>
            <a:r>
              <a:rPr lang="zh-CN" altLang="en-US" sz="2400" b="1" dirty="0"/>
              <a:t>换向平稳性和精度</a:t>
            </a:r>
            <a:endParaRPr lang="en-US" altLang="zh-CN" sz="2400" b="1" dirty="0"/>
          </a:p>
          <a:p>
            <a:pPr marL="342900" indent="-342900" algn="just">
              <a:lnSpc>
                <a:spcPct val="200000"/>
              </a:lnSpc>
              <a:buFont typeface="Wingdings" panose="05000000000000000000" pitchFamily="2" charset="2"/>
              <a:buChar char="Ø"/>
            </a:pPr>
            <a:r>
              <a:rPr lang="zh-CN" altLang="en-US" sz="2400" b="1" dirty="0"/>
              <a:t>起动平稳性</a:t>
            </a:r>
            <a:endParaRPr lang="zh-CN" altLang="en-US" sz="2400" dirty="0"/>
          </a:p>
          <a:p>
            <a:pPr marL="342900" indent="-342900" algn="just">
              <a:lnSpc>
                <a:spcPct val="200000"/>
              </a:lnSpc>
              <a:buFont typeface="Wingdings" panose="05000000000000000000" pitchFamily="2" charset="2"/>
              <a:buChar char="Ø"/>
            </a:pPr>
            <a:r>
              <a:rPr lang="zh-CN" altLang="en-US" sz="2400" b="1" dirty="0"/>
              <a:t>液压缸“浮动”和在任意位置上的停止</a:t>
            </a:r>
            <a:endParaRPr lang="zh-CN" altLang="en-US" sz="2400" dirty="0"/>
          </a:p>
        </p:txBody>
      </p:sp>
      <p:sp>
        <p:nvSpPr>
          <p:cNvPr id="2" name="矩形 1">
            <a:extLst>
              <a:ext uri="{FF2B5EF4-FFF2-40B4-BE49-F238E27FC236}">
                <a16:creationId xmlns:a16="http://schemas.microsoft.com/office/drawing/2014/main" id="{192366BB-F367-4280-83E5-C1B5587A7637}"/>
              </a:ext>
            </a:extLst>
          </p:cNvPr>
          <p:cNvSpPr/>
          <p:nvPr/>
        </p:nvSpPr>
        <p:spPr>
          <a:xfrm>
            <a:off x="6624539" y="2297179"/>
            <a:ext cx="6096000" cy="3673570"/>
          </a:xfrm>
          <a:prstGeom prst="rect">
            <a:avLst/>
          </a:prstGeom>
        </p:spPr>
        <p:txBody>
          <a:bodyPr>
            <a:spAutoFit/>
          </a:bodyPr>
          <a:lstStyle/>
          <a:p>
            <a:pPr marL="342900" indent="-342900">
              <a:lnSpc>
                <a:spcPct val="200000"/>
              </a:lnSpc>
              <a:buFont typeface="Wingdings" panose="05000000000000000000" pitchFamily="2" charset="2"/>
              <a:buChar char="Ø"/>
            </a:pPr>
            <a:r>
              <a:rPr lang="zh-CN" altLang="en-US" sz="2400" b="1" dirty="0"/>
              <a:t>滑阀机能的应用：</a:t>
            </a:r>
            <a:endParaRPr lang="en-US" altLang="zh-CN" sz="2400" b="1" dirty="0"/>
          </a:p>
          <a:p>
            <a:pPr marL="342900" indent="-342900">
              <a:lnSpc>
                <a:spcPct val="200000"/>
              </a:lnSpc>
              <a:buFont typeface="Wingdings" panose="05000000000000000000" pitchFamily="2" charset="2"/>
              <a:buChar char="ü"/>
            </a:pPr>
            <a:r>
              <a:rPr lang="zh-CN" altLang="en-US" sz="2400" b="1" dirty="0"/>
              <a:t>使泵</a:t>
            </a:r>
            <a:r>
              <a:rPr lang="zh-CN" altLang="en-US" sz="2400" b="1" dirty="0">
                <a:solidFill>
                  <a:srgbClr val="0070C0"/>
                </a:solidFill>
              </a:rPr>
              <a:t>卸载</a:t>
            </a:r>
            <a:r>
              <a:rPr lang="zh-CN" altLang="en-US" sz="2400" b="1" dirty="0"/>
              <a:t>的有</a:t>
            </a:r>
            <a:r>
              <a:rPr lang="en-US" altLang="zh-CN" sz="2400" b="1" dirty="0"/>
              <a:t>H</a:t>
            </a:r>
            <a:r>
              <a:rPr lang="zh-CN" altLang="en-US" sz="2400" b="1" dirty="0"/>
              <a:t>、</a:t>
            </a:r>
            <a:r>
              <a:rPr lang="en-US" altLang="zh-CN" sz="2400" b="1" dirty="0"/>
              <a:t>K</a:t>
            </a:r>
            <a:r>
              <a:rPr lang="zh-CN" altLang="en-US" sz="2400" b="1" dirty="0"/>
              <a:t>、</a:t>
            </a:r>
            <a:r>
              <a:rPr lang="en-US" altLang="zh-CN" sz="2400" b="1" dirty="0">
                <a:solidFill>
                  <a:srgbClr val="FF0000"/>
                </a:solidFill>
              </a:rPr>
              <a:t>M</a:t>
            </a:r>
            <a:r>
              <a:rPr lang="zh-CN" altLang="en-US" sz="2400" b="1" dirty="0">
                <a:solidFill>
                  <a:srgbClr val="FF0000"/>
                </a:solidFill>
              </a:rPr>
              <a:t>型</a:t>
            </a:r>
            <a:r>
              <a:rPr lang="zh-CN" altLang="en-US" sz="2400" b="1" dirty="0"/>
              <a:t>；</a:t>
            </a:r>
            <a:endParaRPr lang="en-US" altLang="zh-CN" sz="2400" b="1" dirty="0"/>
          </a:p>
          <a:p>
            <a:pPr marL="342900" indent="-342900">
              <a:lnSpc>
                <a:spcPct val="200000"/>
              </a:lnSpc>
              <a:buFont typeface="Wingdings" panose="05000000000000000000" pitchFamily="2" charset="2"/>
              <a:buChar char="ü"/>
            </a:pPr>
            <a:r>
              <a:rPr lang="zh-CN" altLang="en-US" sz="2400" b="1" dirty="0"/>
              <a:t>使执行元件</a:t>
            </a:r>
            <a:r>
              <a:rPr lang="zh-CN" altLang="en-US" sz="2400" b="1" dirty="0">
                <a:solidFill>
                  <a:srgbClr val="0070C0"/>
                </a:solidFill>
              </a:rPr>
              <a:t>停止</a:t>
            </a:r>
            <a:r>
              <a:rPr lang="zh-CN" altLang="en-US" sz="2400" b="1" dirty="0"/>
              <a:t>的</a:t>
            </a:r>
            <a:r>
              <a:rPr lang="zh-CN" altLang="en-US" sz="2400" b="1" dirty="0">
                <a:solidFill>
                  <a:srgbClr val="FF0000"/>
                </a:solidFill>
              </a:rPr>
              <a:t>有</a:t>
            </a:r>
            <a:r>
              <a:rPr lang="en-US" altLang="zh-CN" sz="2400" b="1" dirty="0">
                <a:solidFill>
                  <a:srgbClr val="FF0000"/>
                </a:solidFill>
              </a:rPr>
              <a:t>O</a:t>
            </a:r>
            <a:r>
              <a:rPr lang="zh-CN" altLang="en-US" sz="2400" b="1" dirty="0">
                <a:solidFill>
                  <a:srgbClr val="FF0000"/>
                </a:solidFill>
              </a:rPr>
              <a:t>、</a:t>
            </a:r>
            <a:r>
              <a:rPr lang="en-US" altLang="zh-CN" sz="2400" b="1" dirty="0">
                <a:solidFill>
                  <a:srgbClr val="FF0000"/>
                </a:solidFill>
              </a:rPr>
              <a:t>M</a:t>
            </a:r>
            <a:r>
              <a:rPr lang="zh-CN" altLang="en-US" sz="2400" b="1" dirty="0">
                <a:solidFill>
                  <a:srgbClr val="FF0000"/>
                </a:solidFill>
              </a:rPr>
              <a:t>型</a:t>
            </a:r>
            <a:r>
              <a:rPr lang="zh-CN" altLang="en-US" sz="2400" b="1" dirty="0"/>
              <a:t>；</a:t>
            </a:r>
            <a:endParaRPr lang="en-US" altLang="zh-CN" sz="2400" b="1" dirty="0"/>
          </a:p>
          <a:p>
            <a:pPr marL="342900" indent="-342900">
              <a:lnSpc>
                <a:spcPct val="200000"/>
              </a:lnSpc>
              <a:buFont typeface="Wingdings" panose="05000000000000000000" pitchFamily="2" charset="2"/>
              <a:buChar char="ü"/>
            </a:pPr>
            <a:r>
              <a:rPr lang="zh-CN" altLang="en-US" sz="2400" b="1" dirty="0"/>
              <a:t>使执行元件</a:t>
            </a:r>
            <a:r>
              <a:rPr lang="zh-CN" altLang="en-US" sz="2400" b="1" dirty="0">
                <a:solidFill>
                  <a:srgbClr val="0070C0"/>
                </a:solidFill>
              </a:rPr>
              <a:t>浮动</a:t>
            </a:r>
            <a:r>
              <a:rPr lang="zh-CN" altLang="en-US" sz="2400" b="1" dirty="0"/>
              <a:t>的有</a:t>
            </a:r>
            <a:r>
              <a:rPr lang="en-US" altLang="zh-CN" sz="2400" b="1" dirty="0"/>
              <a:t>H</a:t>
            </a:r>
            <a:r>
              <a:rPr lang="zh-CN" altLang="en-US" sz="2400" b="1" dirty="0"/>
              <a:t>、</a:t>
            </a:r>
            <a:r>
              <a:rPr lang="en-US" altLang="zh-CN" sz="2400" b="1" dirty="0"/>
              <a:t>Y</a:t>
            </a:r>
            <a:r>
              <a:rPr lang="zh-CN" altLang="en-US" sz="2400" b="1" dirty="0"/>
              <a:t>型；</a:t>
            </a:r>
            <a:endParaRPr lang="en-US" altLang="zh-CN" sz="2400" b="1" dirty="0"/>
          </a:p>
          <a:p>
            <a:pPr marL="342900" indent="-342900">
              <a:lnSpc>
                <a:spcPct val="200000"/>
              </a:lnSpc>
              <a:buFont typeface="Wingdings" panose="05000000000000000000" pitchFamily="2" charset="2"/>
              <a:buChar char="ü"/>
            </a:pPr>
            <a:r>
              <a:rPr lang="zh-CN" altLang="en-US" sz="2400" b="1" dirty="0"/>
              <a:t>使液压缸实现</a:t>
            </a:r>
            <a:r>
              <a:rPr lang="zh-CN" altLang="en-US" sz="2400" b="1" dirty="0">
                <a:solidFill>
                  <a:srgbClr val="0070C0"/>
                </a:solidFill>
              </a:rPr>
              <a:t>差动</a:t>
            </a:r>
            <a:r>
              <a:rPr lang="zh-CN" altLang="en-US" sz="2400" b="1" dirty="0"/>
              <a:t>的有</a:t>
            </a:r>
            <a:r>
              <a:rPr lang="en-US" altLang="zh-CN" sz="2400" b="1" dirty="0"/>
              <a:t>P</a:t>
            </a:r>
            <a:r>
              <a:rPr lang="zh-CN" altLang="en-US" sz="2400" b="1" dirty="0"/>
              <a:t>型。</a:t>
            </a:r>
          </a:p>
        </p:txBody>
      </p:sp>
    </p:spTree>
    <p:extLst>
      <p:ext uri="{BB962C8B-B14F-4D97-AF65-F5344CB8AC3E}">
        <p14:creationId xmlns:p14="http://schemas.microsoft.com/office/powerpoint/2010/main" val="132225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454444" y="1564849"/>
            <a:ext cx="3604209" cy="5611601"/>
          </a:xfrm>
          <a:prstGeom prst="rect">
            <a:avLst/>
          </a:prstGeom>
          <a:noFill/>
        </p:spPr>
        <p:txBody>
          <a:bodyPr wrap="square" rtlCol="0">
            <a:spAutoFit/>
          </a:bodyPr>
          <a:lstStyle/>
          <a:p>
            <a:pPr algn="just">
              <a:lnSpc>
                <a:spcPct val="150000"/>
              </a:lnSpc>
            </a:pPr>
            <a:r>
              <a:rPr lang="zh-CN" altLang="en-US" sz="2400" b="1" dirty="0"/>
              <a:t>过渡位置机能</a:t>
            </a:r>
            <a:endParaRPr lang="en-US" altLang="zh-CN" sz="2400" b="1" dirty="0"/>
          </a:p>
          <a:p>
            <a:pPr algn="just">
              <a:lnSpc>
                <a:spcPct val="150000"/>
              </a:lnSpc>
            </a:pPr>
            <a:r>
              <a:rPr lang="en-US" altLang="zh-CN" sz="2000" b="1" dirty="0"/>
              <a:t>        </a:t>
            </a:r>
            <a:r>
              <a:rPr lang="zh-CN" altLang="en-US" sz="2000" dirty="0"/>
              <a:t>在许多场合</a:t>
            </a:r>
            <a:r>
              <a:rPr lang="en-US" altLang="zh-CN" sz="2000" dirty="0"/>
              <a:t>,</a:t>
            </a:r>
            <a:r>
              <a:rPr lang="zh-CN" altLang="en-US" sz="2000" dirty="0"/>
              <a:t>换向阀的过渡位置机能也是应该考虑的。根据系统的不同使用要求和特点</a:t>
            </a:r>
            <a:r>
              <a:rPr lang="en-US" altLang="zh-CN" sz="2000" dirty="0"/>
              <a:t>,</a:t>
            </a:r>
            <a:r>
              <a:rPr lang="zh-CN" altLang="en-US" sz="2000" dirty="0"/>
              <a:t>灵活地加以选择和设计过渡位置机能</a:t>
            </a:r>
            <a:r>
              <a:rPr lang="en-US" altLang="zh-CN" sz="2000" dirty="0"/>
              <a:t>,</a:t>
            </a:r>
            <a:r>
              <a:rPr lang="zh-CN" altLang="en-US" sz="2000" dirty="0"/>
              <a:t>将会得到理想的综合效果。换向阀的过渡位置机能比中位工作机能形式更多</a:t>
            </a:r>
            <a:r>
              <a:rPr lang="en-US" altLang="zh-CN" sz="2000" dirty="0"/>
              <a:t>,</a:t>
            </a:r>
            <a:r>
              <a:rPr lang="zh-CN" altLang="en-US" sz="2000" dirty="0"/>
              <a:t>可选择余地更大</a:t>
            </a:r>
            <a:r>
              <a:rPr lang="en-US" altLang="zh-CN" sz="2000" dirty="0"/>
              <a:t>,</a:t>
            </a:r>
            <a:r>
              <a:rPr lang="zh-CN" altLang="en-US" sz="2000" dirty="0"/>
              <a:t>下面仅举几例列于教材表</a:t>
            </a:r>
            <a:r>
              <a:rPr lang="en-US" altLang="zh-CN" sz="2000" dirty="0"/>
              <a:t>6-6</a:t>
            </a:r>
            <a:r>
              <a:rPr lang="zh-CN" altLang="en-US" sz="2000" dirty="0"/>
              <a:t>。</a:t>
            </a:r>
          </a:p>
          <a:p>
            <a:pPr algn="just">
              <a:lnSpc>
                <a:spcPct val="150000"/>
              </a:lnSpc>
            </a:pPr>
            <a:endParaRPr lang="zh-CN" altLang="en-US" sz="2000" dirty="0"/>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146F653A-0AFF-2D20-3884-50690D4FC0B3}"/>
              </a:ext>
            </a:extLst>
          </p:cNvPr>
          <p:cNvPicPr>
            <a:picLocks noChangeAspect="1"/>
          </p:cNvPicPr>
          <p:nvPr/>
        </p:nvPicPr>
        <p:blipFill>
          <a:blip r:embed="rId3"/>
          <a:stretch>
            <a:fillRect/>
          </a:stretch>
        </p:blipFill>
        <p:spPr>
          <a:xfrm>
            <a:off x="4168799" y="2207844"/>
            <a:ext cx="7616021" cy="4029299"/>
          </a:xfrm>
          <a:prstGeom prst="rect">
            <a:avLst/>
          </a:prstGeom>
        </p:spPr>
      </p:pic>
      <p:cxnSp>
        <p:nvCxnSpPr>
          <p:cNvPr id="17" name="直接连接符 16">
            <a:extLst>
              <a:ext uri="{FF2B5EF4-FFF2-40B4-BE49-F238E27FC236}">
                <a16:creationId xmlns:a16="http://schemas.microsoft.com/office/drawing/2014/main" id="{8FC23CBA-B6BE-B8C6-9E31-088019618993}"/>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277D3C38-A740-C15B-EE55-D6DAAD6EAE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9" name="文本框 18">
            <a:extLst>
              <a:ext uri="{FF2B5EF4-FFF2-40B4-BE49-F238E27FC236}">
                <a16:creationId xmlns:a16="http://schemas.microsoft.com/office/drawing/2014/main" id="{3F557E44-0A40-528C-0048-2D55BBBE35D8}"/>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20" name="矩形 19">
            <a:extLst>
              <a:ext uri="{FF2B5EF4-FFF2-40B4-BE49-F238E27FC236}">
                <a16:creationId xmlns:a16="http://schemas.microsoft.com/office/drawing/2014/main" id="{BD553058-F9BD-8789-C5BE-757E1C86A8BB}"/>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50F461A-B8DD-BD81-418B-1D9CBA7C5C64}"/>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Tree>
    <p:extLst>
      <p:ext uri="{BB962C8B-B14F-4D97-AF65-F5344CB8AC3E}">
        <p14:creationId xmlns:p14="http://schemas.microsoft.com/office/powerpoint/2010/main" val="4237388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454445" y="1520422"/>
            <a:ext cx="6559972" cy="4688271"/>
          </a:xfrm>
          <a:prstGeom prst="rect">
            <a:avLst/>
          </a:prstGeom>
          <a:noFill/>
        </p:spPr>
        <p:txBody>
          <a:bodyPr wrap="square" rtlCol="0">
            <a:spAutoFit/>
          </a:bodyPr>
          <a:lstStyle/>
          <a:p>
            <a:pPr algn="just">
              <a:lnSpc>
                <a:spcPct val="150000"/>
              </a:lnSpc>
            </a:pPr>
            <a:r>
              <a:rPr lang="zh-CN" altLang="en-US" sz="2400" b="1" dirty="0"/>
              <a:t>电磁球阀</a:t>
            </a:r>
            <a:endParaRPr lang="en-US" altLang="zh-CN" sz="2400" b="1" dirty="0"/>
          </a:p>
          <a:p>
            <a:pPr algn="just">
              <a:lnSpc>
                <a:spcPct val="150000"/>
              </a:lnSpc>
            </a:pPr>
            <a:r>
              <a:rPr lang="zh-CN" altLang="en-US" sz="2000" dirty="0"/>
              <a:t>   </a:t>
            </a:r>
            <a:r>
              <a:rPr lang="zh-CN" altLang="en-US" dirty="0"/>
              <a:t>    </a:t>
            </a:r>
            <a:r>
              <a:rPr lang="zh-CN" altLang="en-US" sz="2000" dirty="0"/>
              <a:t> </a:t>
            </a:r>
            <a:r>
              <a:rPr lang="zh-CN" altLang="en-US" sz="2000" dirty="0">
                <a:solidFill>
                  <a:srgbClr val="0070C0"/>
                </a:solidFill>
              </a:rPr>
              <a:t>电磁球阀是一种以电磁铁的推力为驱动力推动钢球来实现油路通断的电磁换向阀</a:t>
            </a:r>
            <a:r>
              <a:rPr lang="zh-CN" altLang="en-US" sz="2000" dirty="0"/>
              <a:t>。图</a:t>
            </a:r>
            <a:r>
              <a:rPr lang="en-US" altLang="zh-CN" sz="2000" dirty="0"/>
              <a:t>15</a:t>
            </a:r>
            <a:r>
              <a:rPr lang="zh-CN" altLang="en-US" sz="2000" dirty="0"/>
              <a:t>所示为二位三通电磁球阀。</a:t>
            </a:r>
            <a:endParaRPr lang="en-US" altLang="zh-CN" sz="2000" dirty="0"/>
          </a:p>
          <a:p>
            <a:pPr algn="just">
              <a:lnSpc>
                <a:spcPct val="150000"/>
              </a:lnSpc>
            </a:pPr>
            <a:r>
              <a:rPr lang="zh-CN" altLang="en-US" sz="2000" dirty="0"/>
              <a:t>        这类阀</a:t>
            </a:r>
            <a:r>
              <a:rPr lang="zh-CN" altLang="en-US" sz="2000" b="1" dirty="0"/>
              <a:t>密封性能好</a:t>
            </a:r>
            <a:r>
              <a:rPr lang="en-US" altLang="zh-CN" sz="2000" dirty="0"/>
              <a:t>,</a:t>
            </a:r>
            <a:r>
              <a:rPr lang="zh-CN" altLang="en-US" sz="2000" dirty="0"/>
              <a:t>对工作介质粘度的适应范围广</a:t>
            </a:r>
            <a:r>
              <a:rPr lang="en-US" altLang="zh-CN" sz="2000" dirty="0"/>
              <a:t>,</a:t>
            </a:r>
            <a:r>
              <a:rPr lang="zh-CN" altLang="en-US" sz="2000" dirty="0"/>
              <a:t>可直接用于高水基、乳化液</a:t>
            </a:r>
            <a:r>
              <a:rPr lang="en-US" altLang="zh-CN" sz="2000" dirty="0"/>
              <a:t>,</a:t>
            </a:r>
            <a:r>
              <a:rPr lang="zh-CN" altLang="en-US" sz="2000" dirty="0"/>
              <a:t>由于</a:t>
            </a:r>
            <a:r>
              <a:rPr lang="zh-CN" altLang="en-US" sz="2000" b="1" dirty="0"/>
              <a:t>没有液压卡紧力</a:t>
            </a:r>
            <a:r>
              <a:rPr lang="en-US" altLang="zh-CN" sz="2000" dirty="0"/>
              <a:t>,</a:t>
            </a:r>
            <a:r>
              <a:rPr lang="zh-CN" altLang="en-US" sz="2000" dirty="0"/>
              <a:t>以及受液动力影响小</a:t>
            </a:r>
            <a:r>
              <a:rPr lang="en-US" altLang="zh-CN" sz="2000" dirty="0"/>
              <a:t>,</a:t>
            </a:r>
            <a:r>
              <a:rPr lang="zh-CN" altLang="en-US" sz="2000" dirty="0"/>
              <a:t>换向、复位所需的力很小</a:t>
            </a:r>
            <a:r>
              <a:rPr lang="en-US" altLang="zh-CN" sz="2000" dirty="0"/>
              <a:t>,</a:t>
            </a:r>
            <a:r>
              <a:rPr lang="zh-CN" altLang="en-US" sz="2000" dirty="0"/>
              <a:t>此外</a:t>
            </a:r>
            <a:r>
              <a:rPr lang="en-US" altLang="zh-CN" sz="2000" dirty="0"/>
              <a:t>,</a:t>
            </a:r>
            <a:r>
              <a:rPr lang="zh-CN" altLang="en-US" sz="2000" dirty="0"/>
              <a:t>它的</a:t>
            </a:r>
            <a:r>
              <a:rPr lang="zh-CN" altLang="en-US" sz="2000" b="1" dirty="0"/>
              <a:t>抗污染性也好</a:t>
            </a:r>
            <a:r>
              <a:rPr lang="zh-CN" altLang="en-US" sz="2000" dirty="0"/>
              <a:t>。</a:t>
            </a:r>
          </a:p>
          <a:p>
            <a:pPr algn="just">
              <a:lnSpc>
                <a:spcPct val="150000"/>
              </a:lnSpc>
            </a:pPr>
            <a:endParaRPr lang="zh-CN" altLang="en-US" sz="2000" dirty="0"/>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F63342C7-74CA-B61B-564A-03F9B4070895}"/>
              </a:ext>
            </a:extLst>
          </p:cNvPr>
          <p:cNvPicPr>
            <a:picLocks noChangeAspect="1"/>
          </p:cNvPicPr>
          <p:nvPr/>
        </p:nvPicPr>
        <p:blipFill>
          <a:blip r:embed="rId3"/>
          <a:srcRect b="18106"/>
          <a:stretch/>
        </p:blipFill>
        <p:spPr>
          <a:xfrm>
            <a:off x="7042055" y="1570669"/>
            <a:ext cx="4960061" cy="2785165"/>
          </a:xfrm>
          <a:prstGeom prst="rect">
            <a:avLst/>
          </a:prstGeom>
        </p:spPr>
      </p:pic>
      <p:sp>
        <p:nvSpPr>
          <p:cNvPr id="13" name="文本框 12">
            <a:extLst>
              <a:ext uri="{FF2B5EF4-FFF2-40B4-BE49-F238E27FC236}">
                <a16:creationId xmlns:a16="http://schemas.microsoft.com/office/drawing/2014/main" id="{1FB332D3-5AA7-D066-F1C1-AFA7EE3893B8}"/>
              </a:ext>
            </a:extLst>
          </p:cNvPr>
          <p:cNvSpPr txBox="1"/>
          <p:nvPr/>
        </p:nvSpPr>
        <p:spPr>
          <a:xfrm>
            <a:off x="7014417" y="4268738"/>
            <a:ext cx="5309056" cy="923330"/>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 </a:t>
            </a:r>
            <a:r>
              <a:rPr lang="en-US" altLang="zh-CN" dirty="0">
                <a:latin typeface="Times New Roman" panose="02020603050405020304" pitchFamily="18" charset="0"/>
                <a:cs typeface="Times New Roman" panose="02020603050405020304" pitchFamily="18" charset="0"/>
              </a:rPr>
              <a:t>15  </a:t>
            </a:r>
            <a:r>
              <a:rPr lang="zh-CN" altLang="en-US" dirty="0">
                <a:latin typeface="Times New Roman" panose="02020603050405020304" pitchFamily="18" charset="0"/>
                <a:cs typeface="Times New Roman" panose="02020603050405020304" pitchFamily="18" charset="0"/>
              </a:rPr>
              <a:t>二位三通电磁球阀</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支点  </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操纵杆  </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杠杆  </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左阀座</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钢球  </a:t>
            </a:r>
            <a:r>
              <a:rPr lang="en-US" altLang="zh-CN" dirty="0">
                <a:latin typeface="Times New Roman" panose="02020603050405020304" pitchFamily="18" charset="0"/>
                <a:cs typeface="Times New Roman" panose="02020603050405020304" pitchFamily="18" charset="0"/>
              </a:rPr>
              <a:t>6—</a:t>
            </a:r>
            <a:r>
              <a:rPr lang="zh-CN" altLang="en-US" dirty="0">
                <a:latin typeface="Times New Roman" panose="02020603050405020304" pitchFamily="18" charset="0"/>
                <a:cs typeface="Times New Roman" panose="02020603050405020304" pitchFamily="18" charset="0"/>
              </a:rPr>
              <a:t>右阀座  </a:t>
            </a:r>
            <a:r>
              <a:rPr lang="en-US" altLang="zh-CN" dirty="0">
                <a:latin typeface="Times New Roman" panose="02020603050405020304" pitchFamily="18" charset="0"/>
                <a:cs typeface="Times New Roman" panose="02020603050405020304" pitchFamily="18" charset="0"/>
              </a:rPr>
              <a:t>7—</a:t>
            </a:r>
            <a:r>
              <a:rPr lang="zh-CN" altLang="en-US" dirty="0">
                <a:latin typeface="Times New Roman" panose="02020603050405020304" pitchFamily="18" charset="0"/>
                <a:cs typeface="Times New Roman" panose="02020603050405020304" pitchFamily="18" charset="0"/>
              </a:rPr>
              <a:t>弹簧  </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电磁铁</a:t>
            </a:r>
            <a:endParaRPr lang="en-US" altLang="zh-CN"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F930EC51-A18E-DCBB-B1EA-C5734CDF647B}"/>
              </a:ext>
            </a:extLst>
          </p:cNvPr>
          <p:cNvSpPr txBox="1"/>
          <p:nvPr/>
        </p:nvSpPr>
        <p:spPr>
          <a:xfrm>
            <a:off x="454445" y="5265642"/>
            <a:ext cx="11380349" cy="2287614"/>
          </a:xfrm>
          <a:prstGeom prst="rect">
            <a:avLst/>
          </a:prstGeom>
          <a:noFill/>
        </p:spPr>
        <p:txBody>
          <a:bodyPr wrap="square" rtlCol="0">
            <a:spAutoFit/>
          </a:bodyPr>
          <a:lstStyle/>
          <a:p>
            <a:pPr indent="431800" algn="just">
              <a:lnSpc>
                <a:spcPct val="150000"/>
              </a:lnSpc>
            </a:pPr>
            <a:r>
              <a:rPr lang="zh-CN" altLang="en-US" sz="2000" dirty="0"/>
              <a:t> 电磁球阀在小流量系统中可直接控制主油路</a:t>
            </a:r>
            <a:r>
              <a:rPr lang="en-US" altLang="zh-CN" sz="2000" dirty="0"/>
              <a:t>,</a:t>
            </a:r>
            <a:r>
              <a:rPr lang="zh-CN" altLang="en-US" sz="2000" dirty="0"/>
              <a:t>而在大流量系统中作先导阀也很普遍。</a:t>
            </a:r>
            <a:r>
              <a:rPr lang="zh-CN" altLang="en-US" sz="2000" b="1" dirty="0">
                <a:solidFill>
                  <a:srgbClr val="0070C0"/>
                </a:solidFill>
              </a:rPr>
              <a:t>目前电磁球阀只有两位阀</a:t>
            </a:r>
            <a:r>
              <a:rPr lang="en-US" altLang="zh-CN" sz="2000" b="1" dirty="0">
                <a:solidFill>
                  <a:srgbClr val="0070C0"/>
                </a:solidFill>
              </a:rPr>
              <a:t>,</a:t>
            </a:r>
            <a:r>
              <a:rPr lang="zh-CN" altLang="en-US" sz="2000" dirty="0"/>
              <a:t>需用两个二位阀才能组成一个三位阀。这种阀的加工、装配精度要求较高</a:t>
            </a:r>
            <a:r>
              <a:rPr lang="en-US" altLang="zh-CN" sz="2000" dirty="0"/>
              <a:t>,</a:t>
            </a:r>
            <a:r>
              <a:rPr lang="zh-CN" altLang="en-US" sz="2000" dirty="0"/>
              <a:t>成本价格也相应增加。</a:t>
            </a:r>
          </a:p>
          <a:p>
            <a:pPr algn="just">
              <a:lnSpc>
                <a:spcPct val="150000"/>
              </a:lnSpc>
            </a:pPr>
            <a:endParaRPr lang="zh-CN" altLang="en-US" sz="2000" dirty="0"/>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30AB231A-6966-C0F2-8CCF-F1BC9C6E52E4}"/>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B434D37C-5684-DA6B-C4C9-C0112F2F1C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7" name="文本框 16">
            <a:extLst>
              <a:ext uri="{FF2B5EF4-FFF2-40B4-BE49-F238E27FC236}">
                <a16:creationId xmlns:a16="http://schemas.microsoft.com/office/drawing/2014/main" id="{1DA1D4F0-9B16-086D-AE9E-7A788D022A0C}"/>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8" name="矩形 17">
            <a:extLst>
              <a:ext uri="{FF2B5EF4-FFF2-40B4-BE49-F238E27FC236}">
                <a16:creationId xmlns:a16="http://schemas.microsoft.com/office/drawing/2014/main" id="{A67B6D66-448A-384C-7481-E3BC2E77ED6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14FC41E7-C273-6133-DB20-5C62AF0FE54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Tree>
    <p:extLst>
      <p:ext uri="{BB962C8B-B14F-4D97-AF65-F5344CB8AC3E}">
        <p14:creationId xmlns:p14="http://schemas.microsoft.com/office/powerpoint/2010/main" val="85388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462466" y="1439243"/>
            <a:ext cx="6868776" cy="5611601"/>
          </a:xfrm>
          <a:prstGeom prst="rect">
            <a:avLst/>
          </a:prstGeom>
          <a:noFill/>
        </p:spPr>
        <p:txBody>
          <a:bodyPr wrap="square" rtlCol="0">
            <a:spAutoFit/>
          </a:bodyPr>
          <a:lstStyle/>
          <a:p>
            <a:pPr algn="just">
              <a:lnSpc>
                <a:spcPct val="150000"/>
              </a:lnSpc>
            </a:pPr>
            <a:r>
              <a:rPr lang="zh-CN" altLang="en-US" sz="2400" b="1" dirty="0"/>
              <a:t>主要性能</a:t>
            </a:r>
          </a:p>
          <a:p>
            <a:pPr algn="just">
              <a:lnSpc>
                <a:spcPct val="150000"/>
              </a:lnSpc>
            </a:pPr>
            <a:r>
              <a:rPr lang="zh-CN" altLang="en-US" sz="2000" dirty="0"/>
              <a:t>        换向阀的主要性能</a:t>
            </a:r>
            <a:r>
              <a:rPr lang="en-US" altLang="zh-CN" sz="2000" dirty="0"/>
              <a:t>,</a:t>
            </a:r>
            <a:r>
              <a:rPr lang="zh-CN" altLang="en-US" sz="2000" dirty="0"/>
              <a:t>以电磁阀的项目为最多</a:t>
            </a:r>
            <a:r>
              <a:rPr lang="en-US" altLang="zh-CN" sz="2000" dirty="0"/>
              <a:t>,</a:t>
            </a:r>
            <a:r>
              <a:rPr lang="zh-CN" altLang="en-US" sz="2000" dirty="0"/>
              <a:t>主要包括下面几项</a:t>
            </a:r>
            <a:r>
              <a:rPr lang="en-US" altLang="zh-CN" sz="2000" dirty="0"/>
              <a:t>:</a:t>
            </a:r>
          </a:p>
          <a:p>
            <a:pPr algn="just">
              <a:lnSpc>
                <a:spcPct val="150000"/>
              </a:lnSpc>
            </a:pPr>
            <a:r>
              <a:rPr lang="en-US" altLang="zh-CN" sz="2000" dirty="0"/>
              <a:t>        (1)</a:t>
            </a:r>
            <a:r>
              <a:rPr lang="zh-CN" altLang="en-US" sz="2000" b="1" dirty="0"/>
              <a:t>工作可靠性：</a:t>
            </a:r>
            <a:r>
              <a:rPr lang="zh-CN" altLang="en-US" sz="2000" dirty="0"/>
              <a:t>工作可靠性指电磁铁通电后能否可靠地换向</a:t>
            </a:r>
            <a:r>
              <a:rPr lang="en-US" altLang="zh-CN" sz="2000" dirty="0"/>
              <a:t>,</a:t>
            </a:r>
            <a:r>
              <a:rPr lang="zh-CN" altLang="en-US" sz="2000" dirty="0"/>
              <a:t>而断电后能否可靠地复位。电磁阀也只有在一定的流量和压力范围内才能正常工作。这个工作范围的极限称为换向界限</a:t>
            </a:r>
            <a:r>
              <a:rPr lang="en-US" altLang="zh-CN" sz="2000" dirty="0"/>
              <a:t>,</a:t>
            </a:r>
            <a:r>
              <a:rPr lang="zh-CN" altLang="en-US" sz="2000" dirty="0"/>
              <a:t>如图</a:t>
            </a:r>
            <a:r>
              <a:rPr lang="en-US" altLang="zh-CN" sz="2000" dirty="0"/>
              <a:t>16</a:t>
            </a:r>
            <a:r>
              <a:rPr lang="zh-CN" altLang="en-US" sz="2000" dirty="0"/>
              <a:t>所示。</a:t>
            </a:r>
            <a:r>
              <a:rPr lang="zh-CN" altLang="en-US" sz="2000" b="1" dirty="0">
                <a:solidFill>
                  <a:srgbClr val="0070C0"/>
                </a:solidFill>
              </a:rPr>
              <a:t>（液动力</a:t>
            </a:r>
            <a:r>
              <a:rPr lang="en-US" altLang="zh-CN" sz="2000" b="1" dirty="0">
                <a:solidFill>
                  <a:srgbClr val="0070C0"/>
                </a:solidFill>
              </a:rPr>
              <a:t>+</a:t>
            </a:r>
            <a:r>
              <a:rPr lang="zh-CN" altLang="en-US" sz="2000" b="1" dirty="0">
                <a:solidFill>
                  <a:srgbClr val="0070C0"/>
                </a:solidFill>
              </a:rPr>
              <a:t>液压卡紧力）</a:t>
            </a:r>
          </a:p>
          <a:p>
            <a:pPr algn="just">
              <a:lnSpc>
                <a:spcPct val="150000"/>
              </a:lnSpc>
            </a:pPr>
            <a:r>
              <a:rPr lang="en-US" altLang="zh-CN" sz="2000" dirty="0"/>
              <a:t>        (2)</a:t>
            </a:r>
            <a:r>
              <a:rPr lang="zh-CN" altLang="en-US" sz="2000" b="1" dirty="0"/>
              <a:t>压力损失：</a:t>
            </a:r>
            <a:r>
              <a:rPr lang="zh-CN" altLang="en-US" sz="2000" dirty="0"/>
              <a:t>由于电磁阀的开口很小</a:t>
            </a:r>
            <a:r>
              <a:rPr lang="en-US" altLang="zh-CN" sz="2000" dirty="0"/>
              <a:t>,</a:t>
            </a:r>
            <a:r>
              <a:rPr lang="zh-CN" altLang="en-US" sz="2000" dirty="0"/>
              <a:t>故液流流过阀口时产生较大的压力损失。图</a:t>
            </a:r>
            <a:r>
              <a:rPr lang="en-US" altLang="zh-CN" sz="2000" dirty="0"/>
              <a:t>17</a:t>
            </a:r>
            <a:r>
              <a:rPr lang="zh-CN" altLang="en-US" sz="2000" dirty="0"/>
              <a:t>所示为电磁阀的压力损失曲线。</a:t>
            </a:r>
            <a:endParaRPr lang="en-US" altLang="zh-CN" sz="2000" dirty="0"/>
          </a:p>
          <a:p>
            <a:pPr algn="just">
              <a:lnSpc>
                <a:spcPct val="150000"/>
              </a:lnSpc>
            </a:pPr>
            <a:r>
              <a:rPr lang="en-US" altLang="zh-CN" sz="2000" dirty="0"/>
              <a:t>        (3)</a:t>
            </a:r>
            <a:r>
              <a:rPr lang="zh-CN" altLang="en-US" sz="2000" b="1" dirty="0"/>
              <a:t>内泄漏量：</a:t>
            </a:r>
            <a:r>
              <a:rPr lang="zh-CN" altLang="en-US" sz="2000" dirty="0"/>
              <a:t>在各个不同工作位置</a:t>
            </a:r>
            <a:r>
              <a:rPr lang="en-US" altLang="zh-CN" sz="2000" dirty="0"/>
              <a:t>,</a:t>
            </a:r>
            <a:r>
              <a:rPr lang="zh-CN" altLang="en-US" sz="2000" dirty="0"/>
              <a:t>在规定的工作压力下</a:t>
            </a:r>
            <a:r>
              <a:rPr lang="en-US" altLang="zh-CN" sz="2000" dirty="0"/>
              <a:t>,</a:t>
            </a:r>
            <a:r>
              <a:rPr lang="zh-CN" altLang="en-US" sz="2000" dirty="0"/>
              <a:t>从高压腔漏到低压腔的泄漏量为内泄漏量。</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5FC1B514-F159-8540-A403-7488E680014C}"/>
              </a:ext>
            </a:extLst>
          </p:cNvPr>
          <p:cNvPicPr>
            <a:picLocks noChangeAspect="1"/>
          </p:cNvPicPr>
          <p:nvPr/>
        </p:nvPicPr>
        <p:blipFill>
          <a:blip r:embed="rId3"/>
          <a:srcRect l="1043" t="2602" r="50630" b="14379"/>
          <a:stretch/>
        </p:blipFill>
        <p:spPr>
          <a:xfrm>
            <a:off x="7413593" y="1415609"/>
            <a:ext cx="4268771" cy="2408525"/>
          </a:xfrm>
          <a:prstGeom prst="rect">
            <a:avLst/>
          </a:prstGeom>
        </p:spPr>
      </p:pic>
      <p:pic>
        <p:nvPicPr>
          <p:cNvPr id="9" name="图片 8">
            <a:extLst>
              <a:ext uri="{FF2B5EF4-FFF2-40B4-BE49-F238E27FC236}">
                <a16:creationId xmlns:a16="http://schemas.microsoft.com/office/drawing/2014/main" id="{00CAC8AF-A7A5-3458-D2DE-692E7B1F73B7}"/>
              </a:ext>
            </a:extLst>
          </p:cNvPr>
          <p:cNvPicPr>
            <a:picLocks noChangeAspect="1"/>
          </p:cNvPicPr>
          <p:nvPr/>
        </p:nvPicPr>
        <p:blipFill>
          <a:blip r:embed="rId3"/>
          <a:srcRect l="53730" t="2602" r="2237" b="14379"/>
          <a:stretch/>
        </p:blipFill>
        <p:spPr>
          <a:xfrm>
            <a:off x="7940842" y="4179950"/>
            <a:ext cx="3488362" cy="2160142"/>
          </a:xfrm>
          <a:prstGeom prst="rect">
            <a:avLst/>
          </a:prstGeom>
        </p:spPr>
      </p:pic>
      <p:sp>
        <p:nvSpPr>
          <p:cNvPr id="13" name="文本框 12">
            <a:extLst>
              <a:ext uri="{FF2B5EF4-FFF2-40B4-BE49-F238E27FC236}">
                <a16:creationId xmlns:a16="http://schemas.microsoft.com/office/drawing/2014/main" id="{C00859B4-53ED-A727-D2C5-E11A1A29C828}"/>
              </a:ext>
            </a:extLst>
          </p:cNvPr>
          <p:cNvSpPr txBox="1"/>
          <p:nvPr/>
        </p:nvSpPr>
        <p:spPr>
          <a:xfrm>
            <a:off x="8246346" y="3848539"/>
            <a:ext cx="270552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cs typeface="Times New Roman" panose="02020603050405020304" pitchFamily="18" charset="0"/>
              </a:rPr>
              <a:t>16</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电磁阀的换向界限</a:t>
            </a:r>
            <a:endParaRPr lang="en-US" altLang="zh-CN"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6F0C2107-D5C0-3C24-05E5-C026F0037146}"/>
              </a:ext>
            </a:extLst>
          </p:cNvPr>
          <p:cNvSpPr txBox="1"/>
          <p:nvPr/>
        </p:nvSpPr>
        <p:spPr>
          <a:xfrm>
            <a:off x="8142141" y="6326576"/>
            <a:ext cx="2913936" cy="369332"/>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cs typeface="Times New Roman" panose="02020603050405020304" pitchFamily="18" charset="0"/>
              </a:rPr>
              <a:t>17</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电磁阀的流量损失</a:t>
            </a:r>
            <a:endParaRPr lang="en-US" altLang="zh-CN" dirty="0">
              <a:latin typeface="Times New Roman" panose="02020603050405020304" pitchFamily="18" charset="0"/>
              <a:cs typeface="Times New Roman" panose="02020603050405020304" pitchFamily="18" charset="0"/>
            </a:endParaRPr>
          </a:p>
        </p:txBody>
      </p:sp>
      <p:cxnSp>
        <p:nvCxnSpPr>
          <p:cNvPr id="16" name="直接连接符 15">
            <a:extLst>
              <a:ext uri="{FF2B5EF4-FFF2-40B4-BE49-F238E27FC236}">
                <a16:creationId xmlns:a16="http://schemas.microsoft.com/office/drawing/2014/main" id="{E2566BB6-FB4C-4EEB-F894-45A4C94812E1}"/>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5B924EDB-119F-50F4-55EC-A17D7329DD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8" name="文本框 17">
            <a:extLst>
              <a:ext uri="{FF2B5EF4-FFF2-40B4-BE49-F238E27FC236}">
                <a16:creationId xmlns:a16="http://schemas.microsoft.com/office/drawing/2014/main" id="{BC343374-64F0-7673-E000-1B613383D1B9}"/>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9" name="矩形 18">
            <a:extLst>
              <a:ext uri="{FF2B5EF4-FFF2-40B4-BE49-F238E27FC236}">
                <a16:creationId xmlns:a16="http://schemas.microsoft.com/office/drawing/2014/main" id="{F1EDCB15-EC56-0B7C-8666-81A71C1CEEFC}"/>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5A2A3952-56D2-98AF-B144-5C0B7CBA0BD6}"/>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Tree>
    <p:extLst>
      <p:ext uri="{BB962C8B-B14F-4D97-AF65-F5344CB8AC3E}">
        <p14:creationId xmlns:p14="http://schemas.microsoft.com/office/powerpoint/2010/main" val="303683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660837" y="1801910"/>
            <a:ext cx="11098025" cy="5473101"/>
          </a:xfrm>
          <a:prstGeom prst="rect">
            <a:avLst/>
          </a:prstGeom>
          <a:noFill/>
        </p:spPr>
        <p:txBody>
          <a:bodyPr wrap="square" rtlCol="0">
            <a:spAutoFit/>
          </a:bodyPr>
          <a:lstStyle/>
          <a:p>
            <a:pPr algn="just">
              <a:lnSpc>
                <a:spcPct val="150000"/>
              </a:lnSpc>
            </a:pPr>
            <a:r>
              <a:rPr lang="en-US" altLang="zh-CN" sz="2000" b="1" dirty="0"/>
              <a:t>        (4)</a:t>
            </a:r>
            <a:r>
              <a:rPr lang="zh-CN" altLang="en-US" sz="2000" b="1" dirty="0"/>
              <a:t>换向和复位时间：</a:t>
            </a:r>
            <a:r>
              <a:rPr lang="zh-CN" altLang="en-US" sz="2000" dirty="0"/>
              <a:t>换向时间指从电磁铁通电到阀心换向终止的时间</a:t>
            </a:r>
            <a:r>
              <a:rPr lang="en-US" altLang="zh-CN" sz="2000" dirty="0"/>
              <a:t>;</a:t>
            </a:r>
            <a:r>
              <a:rPr lang="zh-CN" altLang="en-US" sz="2000" dirty="0"/>
              <a:t>复位时间指从电磁铁断电到阀心回复到常态位置的时间。减小换向和复位时间可提高机构的工作效率</a:t>
            </a:r>
            <a:r>
              <a:rPr lang="en-US" altLang="zh-CN" sz="2000" dirty="0"/>
              <a:t>,</a:t>
            </a:r>
            <a:r>
              <a:rPr lang="zh-CN" altLang="en-US" sz="2000" dirty="0"/>
              <a:t>但会引起液压冲击。</a:t>
            </a:r>
          </a:p>
          <a:p>
            <a:pPr algn="just">
              <a:lnSpc>
                <a:spcPct val="150000"/>
              </a:lnSpc>
            </a:pPr>
            <a:r>
              <a:rPr lang="zh-CN" altLang="en-US" sz="2000" dirty="0"/>
              <a:t>一般说来</a:t>
            </a:r>
            <a:r>
              <a:rPr lang="en-US" altLang="zh-CN" sz="2000" dirty="0"/>
              <a:t>,</a:t>
            </a:r>
            <a:r>
              <a:rPr lang="zh-CN" altLang="en-US" sz="2000" dirty="0"/>
              <a:t>交流电磁阀的换向时间约为</a:t>
            </a:r>
            <a:r>
              <a:rPr lang="en-US" altLang="zh-CN" sz="2000" dirty="0"/>
              <a:t>0.03~0.05s,</a:t>
            </a:r>
            <a:r>
              <a:rPr lang="zh-CN" altLang="en-US" sz="2000" dirty="0"/>
              <a:t>换向冲击较大</a:t>
            </a:r>
            <a:r>
              <a:rPr lang="en-US" altLang="zh-CN" sz="2000" dirty="0"/>
              <a:t>;</a:t>
            </a:r>
            <a:r>
              <a:rPr lang="zh-CN" altLang="en-US" sz="2000" dirty="0"/>
              <a:t>而直流电磁阀的换向时间约为</a:t>
            </a:r>
            <a:r>
              <a:rPr lang="en-US" altLang="zh-CN" sz="2000" dirty="0"/>
              <a:t>0.1~0.3s,</a:t>
            </a:r>
            <a:r>
              <a:rPr lang="zh-CN" altLang="en-US" sz="2000" dirty="0"/>
              <a:t>换向冲击较小。通常复位时间比换向时间稍长。</a:t>
            </a:r>
          </a:p>
          <a:p>
            <a:pPr algn="just">
              <a:lnSpc>
                <a:spcPct val="150000"/>
              </a:lnSpc>
            </a:pPr>
            <a:r>
              <a:rPr lang="en-US" altLang="zh-CN" sz="2000" dirty="0"/>
              <a:t>        </a:t>
            </a:r>
            <a:r>
              <a:rPr lang="en-US" altLang="zh-CN" sz="2000" b="1" dirty="0"/>
              <a:t>(5)</a:t>
            </a:r>
            <a:r>
              <a:rPr lang="zh-CN" altLang="en-US" sz="2000" b="1" dirty="0"/>
              <a:t>换向频率：</a:t>
            </a:r>
            <a:r>
              <a:rPr lang="zh-CN" altLang="en-US" sz="2000" dirty="0"/>
              <a:t>换向频率是在单位时间内阀所允许的换向次数。目前</a:t>
            </a:r>
            <a:r>
              <a:rPr lang="zh-CN" altLang="en-US" sz="2000" b="1" dirty="0">
                <a:solidFill>
                  <a:srgbClr val="0070C0"/>
                </a:solidFill>
              </a:rPr>
              <a:t>交流单电磁铁的电磁阀的换向频率一般为</a:t>
            </a:r>
            <a:r>
              <a:rPr lang="en-US" altLang="zh-CN" sz="2000" b="1" dirty="0">
                <a:solidFill>
                  <a:srgbClr val="0070C0"/>
                </a:solidFill>
              </a:rPr>
              <a:t>60</a:t>
            </a:r>
            <a:r>
              <a:rPr lang="zh-CN" altLang="en-US" sz="2000" b="1" dirty="0">
                <a:solidFill>
                  <a:srgbClr val="0070C0"/>
                </a:solidFill>
              </a:rPr>
              <a:t>次</a:t>
            </a:r>
            <a:r>
              <a:rPr lang="en-US" altLang="zh-CN" sz="2000" b="1" dirty="0">
                <a:solidFill>
                  <a:srgbClr val="0070C0"/>
                </a:solidFill>
              </a:rPr>
              <a:t>/min</a:t>
            </a:r>
            <a:r>
              <a:rPr lang="zh-CN" altLang="en-US" sz="2000" b="1" dirty="0">
                <a:solidFill>
                  <a:srgbClr val="0070C0"/>
                </a:solidFill>
              </a:rPr>
              <a:t>以下。</a:t>
            </a:r>
            <a:r>
              <a:rPr lang="en-US" altLang="zh-CN" sz="2000" b="1" dirty="0">
                <a:solidFill>
                  <a:srgbClr val="FF0000"/>
                </a:solidFill>
              </a:rPr>
              <a:t>&lt;1Hz</a:t>
            </a:r>
            <a:endParaRPr lang="zh-CN" altLang="en-US" sz="2000" b="1" dirty="0">
              <a:solidFill>
                <a:srgbClr val="FF0000"/>
              </a:solidFill>
            </a:endParaRPr>
          </a:p>
          <a:p>
            <a:pPr algn="just">
              <a:lnSpc>
                <a:spcPct val="150000"/>
              </a:lnSpc>
            </a:pPr>
            <a:r>
              <a:rPr lang="en-US" altLang="zh-CN" sz="2000" b="1" dirty="0"/>
              <a:t>        (6)</a:t>
            </a:r>
            <a:r>
              <a:rPr lang="zh-CN" altLang="en-US" sz="2000" b="1" dirty="0"/>
              <a:t>使用寿命：</a:t>
            </a:r>
            <a:r>
              <a:rPr lang="zh-CN" altLang="en-US" sz="2000" dirty="0"/>
              <a:t>使用寿命指电磁阀用到它某一零件损坏</a:t>
            </a:r>
            <a:r>
              <a:rPr lang="en-US" altLang="zh-CN" sz="2000" dirty="0"/>
              <a:t>,</a:t>
            </a:r>
            <a:r>
              <a:rPr lang="zh-CN" altLang="en-US" sz="2000" dirty="0"/>
              <a:t>不能进行正常的换向或复位动作或使用到电磁阀的主要性能指标超过规定指标时经历的换向次数。</a:t>
            </a:r>
            <a:r>
              <a:rPr lang="zh-CN" altLang="en-US" sz="2000" b="1" dirty="0">
                <a:solidFill>
                  <a:srgbClr val="FF0000"/>
                </a:solidFill>
              </a:rPr>
              <a:t>电磁阀的使用寿命主要决定于电磁铁</a:t>
            </a:r>
            <a:r>
              <a:rPr lang="zh-CN" altLang="en-US" sz="2000" dirty="0"/>
              <a:t>。</a:t>
            </a:r>
            <a:r>
              <a:rPr lang="zh-CN" altLang="en-US" sz="2000" b="1" dirty="0">
                <a:solidFill>
                  <a:srgbClr val="FF0000"/>
                </a:solidFill>
              </a:rPr>
              <a:t>湿式电磁铁</a:t>
            </a:r>
            <a:r>
              <a:rPr lang="zh-CN" altLang="en-US" sz="2000" dirty="0"/>
              <a:t>的寿命比干式的长</a:t>
            </a:r>
            <a:r>
              <a:rPr lang="en-US" altLang="zh-CN" sz="2000" b="1" dirty="0">
                <a:solidFill>
                  <a:srgbClr val="FF0000"/>
                </a:solidFill>
              </a:rPr>
              <a:t>,</a:t>
            </a:r>
            <a:r>
              <a:rPr lang="zh-CN" altLang="en-US" sz="2000" b="1" dirty="0">
                <a:solidFill>
                  <a:srgbClr val="FF0000"/>
                </a:solidFill>
              </a:rPr>
              <a:t>直流电磁铁</a:t>
            </a:r>
            <a:r>
              <a:rPr lang="zh-CN" altLang="en-US" sz="2000" dirty="0"/>
              <a:t>的寿命比交流的长。</a:t>
            </a:r>
          </a:p>
          <a:p>
            <a:pPr algn="just">
              <a:lnSpc>
                <a:spcPct val="150000"/>
              </a:lnSpc>
            </a:pPr>
            <a:endParaRPr lang="zh-CN" altLang="en-US" dirty="0"/>
          </a:p>
          <a:p>
            <a:pPr algn="just">
              <a:lnSpc>
                <a:spcPct val="150000"/>
              </a:lnSpc>
            </a:pPr>
            <a:endParaRPr lang="zh-CN" altLang="en-US" sz="2000" dirty="0"/>
          </a:p>
          <a:p>
            <a:pPr algn="just">
              <a:lnSpc>
                <a:spcPct val="125000"/>
              </a:lnSpc>
            </a:pPr>
            <a:r>
              <a:rPr lang="zh-CN" altLang="en-US" sz="2000" dirty="0">
                <a:latin typeface="Times New Roman" panose="02020603050405020304" pitchFamily="18" charset="0"/>
                <a:cs typeface="Times New Roman" panose="02020603050405020304" pitchFamily="18" charset="0"/>
              </a:rPr>
              <a:t> </a:t>
            </a: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7" name="直接连接符 6">
            <a:extLst>
              <a:ext uri="{FF2B5EF4-FFF2-40B4-BE49-F238E27FC236}">
                <a16:creationId xmlns:a16="http://schemas.microsoft.com/office/drawing/2014/main" id="{308740A4-4BB9-49DF-392E-9C5974B4B82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51A9BD5B-B1AD-D952-E76C-44B93C2FC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1B8D98ED-E94C-05E6-8B34-1D50F12DDA56}"/>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5" name="矩形 14">
            <a:extLst>
              <a:ext uri="{FF2B5EF4-FFF2-40B4-BE49-F238E27FC236}">
                <a16:creationId xmlns:a16="http://schemas.microsoft.com/office/drawing/2014/main" id="{ED27F400-AB91-2614-006E-7549E8375F3C}"/>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D4E1A90F-CD6A-A4EF-3E75-3DD24814124B}"/>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8.2.3 </a:t>
            </a:r>
            <a:r>
              <a:rPr lang="zh-CN" altLang="en-US" sz="2800" b="1" dirty="0">
                <a:solidFill>
                  <a:srgbClr val="003F88"/>
                </a:solidFill>
                <a:latin typeface="微软雅黑" panose="020B0503020204020204" pitchFamily="34" charset="-122"/>
                <a:ea typeface="微软雅黑" panose="020B0503020204020204" pitchFamily="34" charset="-122"/>
              </a:rPr>
              <a:t>换向阀</a:t>
            </a:r>
          </a:p>
        </p:txBody>
      </p:sp>
    </p:spTree>
    <p:extLst>
      <p:ext uri="{BB962C8B-B14F-4D97-AF65-F5344CB8AC3E}">
        <p14:creationId xmlns:p14="http://schemas.microsoft.com/office/powerpoint/2010/main" val="1085031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816932" y="2042603"/>
            <a:ext cx="10558136" cy="3764941"/>
          </a:xfrm>
          <a:prstGeom prst="rect">
            <a:avLst/>
          </a:prstGeom>
          <a:noFill/>
        </p:spPr>
        <p:txBody>
          <a:bodyPr wrap="square" rtlCol="0">
            <a:spAutoFit/>
          </a:bodyPr>
          <a:lstStyle/>
          <a:p>
            <a:pPr algn="just">
              <a:lnSpc>
                <a:spcPct val="150000"/>
              </a:lnSpc>
            </a:pPr>
            <a:r>
              <a:rPr lang="zh-CN" altLang="en-US" sz="2000" dirty="0"/>
              <a:t>       </a:t>
            </a:r>
            <a:r>
              <a:rPr lang="zh-CN" altLang="en-US" sz="2400" dirty="0"/>
              <a:t> </a:t>
            </a:r>
            <a:r>
              <a:rPr lang="zh-CN" altLang="en-US" sz="2000" dirty="0"/>
              <a:t>多路换向阀是将两个以上的阀块组合在一起</a:t>
            </a:r>
            <a:r>
              <a:rPr lang="en-US" altLang="zh-CN" sz="2000" dirty="0"/>
              <a:t>,</a:t>
            </a:r>
            <a:r>
              <a:rPr lang="zh-CN" altLang="en-US" sz="2000" dirty="0"/>
              <a:t>用以操纵多个执行元件的运动。它可根据不同液压系统的要求</a:t>
            </a:r>
            <a:r>
              <a:rPr lang="en-US" altLang="zh-CN" sz="2000" dirty="0"/>
              <a:t>,</a:t>
            </a:r>
            <a:r>
              <a:rPr lang="zh-CN" altLang="en-US" sz="2000" dirty="0"/>
              <a:t>把安全阀、过载阀、补油阀、分流阀、制动阀、单向阀等阀组合在一起</a:t>
            </a:r>
            <a:r>
              <a:rPr lang="en-US" altLang="zh-CN" sz="2000" dirty="0"/>
              <a:t>,</a:t>
            </a:r>
            <a:r>
              <a:rPr lang="zh-CN" altLang="en-US" sz="2000" dirty="0"/>
              <a:t>所以它</a:t>
            </a:r>
            <a:r>
              <a:rPr lang="zh-CN" altLang="en-US" sz="2000" b="1" dirty="0">
                <a:solidFill>
                  <a:srgbClr val="FF0000"/>
                </a:solidFill>
              </a:rPr>
              <a:t>结构紧凑</a:t>
            </a:r>
            <a:r>
              <a:rPr lang="en-US" altLang="zh-CN" sz="2000" b="1" dirty="0">
                <a:solidFill>
                  <a:srgbClr val="FF0000"/>
                </a:solidFill>
              </a:rPr>
              <a:t>,</a:t>
            </a:r>
            <a:r>
              <a:rPr lang="zh-CN" altLang="en-US" sz="2000" b="1" dirty="0">
                <a:solidFill>
                  <a:srgbClr val="FF0000"/>
                </a:solidFill>
              </a:rPr>
              <a:t>管路简单</a:t>
            </a:r>
            <a:r>
              <a:rPr lang="en-US" altLang="zh-CN" sz="2000" b="1" dirty="0">
                <a:solidFill>
                  <a:srgbClr val="FF0000"/>
                </a:solidFill>
              </a:rPr>
              <a:t>,</a:t>
            </a:r>
            <a:r>
              <a:rPr lang="zh-CN" altLang="en-US" sz="2000" b="1" dirty="0">
                <a:solidFill>
                  <a:srgbClr val="FF0000"/>
                </a:solidFill>
              </a:rPr>
              <a:t>压力损失小</a:t>
            </a:r>
            <a:r>
              <a:rPr lang="en-US" altLang="zh-CN" sz="2000" b="1" dirty="0">
                <a:solidFill>
                  <a:srgbClr val="FF0000"/>
                </a:solidFill>
              </a:rPr>
              <a:t>,</a:t>
            </a:r>
            <a:r>
              <a:rPr lang="zh-CN" altLang="en-US" sz="2000" b="1" dirty="0">
                <a:solidFill>
                  <a:srgbClr val="FF0000"/>
                </a:solidFill>
              </a:rPr>
              <a:t>而且安装简便</a:t>
            </a:r>
            <a:r>
              <a:rPr lang="en-US" altLang="zh-CN" sz="2000" dirty="0"/>
              <a:t>,</a:t>
            </a:r>
            <a:r>
              <a:rPr lang="zh-CN" altLang="en-US" sz="2000" dirty="0"/>
              <a:t>因此广泛应用于工程机械、起重运输机械和其他要求操纵多个执行元件运动的行走机械。多路换向阀可由手动换向阀组合</a:t>
            </a:r>
            <a:r>
              <a:rPr lang="en-US" altLang="zh-CN" sz="2000" dirty="0"/>
              <a:t>,</a:t>
            </a:r>
            <a:r>
              <a:rPr lang="zh-CN" altLang="en-US" sz="2000" dirty="0"/>
              <a:t>也可由电液比例或电液数字控制方向阀等组合而成。按阀体的结构形式</a:t>
            </a:r>
            <a:r>
              <a:rPr lang="en-US" altLang="zh-CN" sz="2000" dirty="0"/>
              <a:t>,</a:t>
            </a:r>
            <a:r>
              <a:rPr lang="zh-CN" altLang="en-US" sz="2000" dirty="0"/>
              <a:t>多路阀有</a:t>
            </a:r>
            <a:r>
              <a:rPr lang="zh-CN" altLang="en-US" sz="2000" b="1" dirty="0">
                <a:solidFill>
                  <a:srgbClr val="003F88"/>
                </a:solidFill>
              </a:rPr>
              <a:t>整体式</a:t>
            </a:r>
            <a:r>
              <a:rPr lang="zh-CN" altLang="en-US" sz="2000" dirty="0"/>
              <a:t>和</a:t>
            </a:r>
            <a:r>
              <a:rPr lang="zh-CN" altLang="en-US" sz="2000" b="1" dirty="0">
                <a:solidFill>
                  <a:srgbClr val="003F88"/>
                </a:solidFill>
              </a:rPr>
              <a:t>分片式</a:t>
            </a:r>
            <a:r>
              <a:rPr lang="en-US" altLang="zh-CN" sz="2000" dirty="0"/>
              <a:t>(</a:t>
            </a:r>
            <a:r>
              <a:rPr lang="zh-CN" altLang="en-US" sz="2000" dirty="0"/>
              <a:t>组合式</a:t>
            </a:r>
            <a:r>
              <a:rPr lang="en-US" altLang="zh-CN" sz="2000" dirty="0"/>
              <a:t>)</a:t>
            </a:r>
            <a:r>
              <a:rPr lang="zh-CN" altLang="en-US" sz="2000" dirty="0"/>
              <a:t>两种</a:t>
            </a:r>
            <a:r>
              <a:rPr lang="en-US" altLang="zh-CN" sz="2000" dirty="0"/>
              <a:t>;</a:t>
            </a:r>
            <a:r>
              <a:rPr lang="zh-CN" altLang="en-US" sz="2000" dirty="0"/>
              <a:t>按油路连接方式</a:t>
            </a:r>
            <a:r>
              <a:rPr lang="en-US" altLang="zh-CN" sz="2000" dirty="0"/>
              <a:t>,</a:t>
            </a:r>
            <a:r>
              <a:rPr lang="zh-CN" altLang="en-US" sz="2000" dirty="0"/>
              <a:t>多路阀可分为</a:t>
            </a:r>
            <a:r>
              <a:rPr lang="zh-CN" altLang="en-US" sz="2000" b="1" dirty="0">
                <a:solidFill>
                  <a:srgbClr val="FF0000"/>
                </a:solidFill>
              </a:rPr>
              <a:t>并联、串联、串并联及复合油路</a:t>
            </a:r>
            <a:r>
              <a:rPr lang="en-US" altLang="zh-CN" sz="2000" dirty="0"/>
              <a:t>;</a:t>
            </a:r>
            <a:r>
              <a:rPr lang="zh-CN" altLang="en-US" sz="2000" dirty="0"/>
              <a:t>而采用多路阀时液压泵的卸荷方式</a:t>
            </a:r>
            <a:r>
              <a:rPr lang="en-US" altLang="zh-CN" sz="2000" dirty="0"/>
              <a:t>,</a:t>
            </a:r>
            <a:r>
              <a:rPr lang="zh-CN" altLang="en-US" sz="2000" dirty="0"/>
              <a:t>有中位卸荷和采用安全阀卸荷两种。</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7" name="直接连接符 6">
            <a:extLst>
              <a:ext uri="{FF2B5EF4-FFF2-40B4-BE49-F238E27FC236}">
                <a16:creationId xmlns:a16="http://schemas.microsoft.com/office/drawing/2014/main" id="{67C91DF3-85F9-3C95-911D-022DD85A9680}"/>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CBF4DDA5-FD3E-0DA6-C684-8BB3DE2BBB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CFF891C7-E53A-26CE-8FE4-8E5F6E47EA06}"/>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5" name="矩形 14">
            <a:extLst>
              <a:ext uri="{FF2B5EF4-FFF2-40B4-BE49-F238E27FC236}">
                <a16:creationId xmlns:a16="http://schemas.microsoft.com/office/drawing/2014/main" id="{91643231-CE52-4CF6-A995-FA60890D969A}"/>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B0921A6-9270-2C11-E68B-E52842E9F8A8}"/>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8.2.4 </a:t>
            </a:r>
            <a:r>
              <a:rPr lang="zh-CN" altLang="en-US" sz="2800" b="1" dirty="0">
                <a:solidFill>
                  <a:srgbClr val="003F88"/>
                </a:solidFill>
                <a:latin typeface="微软雅黑" panose="020B0503020204020204" pitchFamily="34" charset="-122"/>
                <a:ea typeface="微软雅黑" panose="020B0503020204020204" pitchFamily="34" charset="-122"/>
              </a:rPr>
              <a:t>多路换向阀</a:t>
            </a:r>
          </a:p>
        </p:txBody>
      </p:sp>
    </p:spTree>
    <p:extLst>
      <p:ext uri="{BB962C8B-B14F-4D97-AF65-F5344CB8AC3E}">
        <p14:creationId xmlns:p14="http://schemas.microsoft.com/office/powerpoint/2010/main" val="1983882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561752" y="1771425"/>
            <a:ext cx="5237225" cy="4595938"/>
          </a:xfrm>
          <a:prstGeom prst="rect">
            <a:avLst/>
          </a:prstGeom>
          <a:noFill/>
        </p:spPr>
        <p:txBody>
          <a:bodyPr wrap="square" rtlCol="0">
            <a:spAutoFit/>
          </a:bodyPr>
          <a:lstStyle/>
          <a:p>
            <a:pPr algn="just">
              <a:lnSpc>
                <a:spcPct val="150000"/>
              </a:lnSpc>
            </a:pPr>
            <a:r>
              <a:rPr lang="zh-CN" altLang="en-US" sz="2000" dirty="0"/>
              <a:t>        图</a:t>
            </a:r>
            <a:r>
              <a:rPr lang="en-US" altLang="zh-CN" sz="2000" dirty="0"/>
              <a:t>18</a:t>
            </a:r>
            <a:r>
              <a:rPr lang="zh-CN" altLang="en-US" sz="2000" dirty="0"/>
              <a:t>所示为多路换向阀的基本油路形式。</a:t>
            </a:r>
          </a:p>
          <a:p>
            <a:pPr algn="just">
              <a:lnSpc>
                <a:spcPct val="150000"/>
              </a:lnSpc>
            </a:pPr>
            <a:r>
              <a:rPr lang="zh-CN" altLang="en-US" sz="2000" dirty="0"/>
              <a:t>        图</a:t>
            </a:r>
            <a:r>
              <a:rPr lang="en-US" altLang="zh-CN" sz="2000" dirty="0"/>
              <a:t>18a</a:t>
            </a:r>
            <a:r>
              <a:rPr lang="zh-CN" altLang="en-US" sz="2000" dirty="0"/>
              <a:t>所示为</a:t>
            </a:r>
            <a:r>
              <a:rPr lang="zh-CN" altLang="en-US" sz="2000" b="1" dirty="0">
                <a:solidFill>
                  <a:srgbClr val="FF0000"/>
                </a:solidFill>
              </a:rPr>
              <a:t>并联油路</a:t>
            </a:r>
            <a:r>
              <a:rPr lang="en-US" altLang="zh-CN" sz="2000" dirty="0"/>
              <a:t>,</a:t>
            </a:r>
            <a:r>
              <a:rPr lang="zh-CN" altLang="en-US" sz="2000" dirty="0"/>
              <a:t>从进油口来的压力油直接和各联换向阀的进油腔相连</a:t>
            </a:r>
            <a:r>
              <a:rPr lang="en-US" altLang="zh-CN" sz="2000" dirty="0"/>
              <a:t>,</a:t>
            </a:r>
            <a:r>
              <a:rPr lang="zh-CN" altLang="en-US" sz="2000" dirty="0"/>
              <a:t>而各联换向阀的回油腔则直接汇集到多路换向阀的总回油口。图</a:t>
            </a:r>
            <a:r>
              <a:rPr lang="en-US" altLang="zh-CN" sz="2000" dirty="0"/>
              <a:t>18b</a:t>
            </a:r>
            <a:r>
              <a:rPr lang="zh-CN" altLang="en-US" sz="2000" dirty="0"/>
              <a:t>所示为</a:t>
            </a:r>
            <a:r>
              <a:rPr lang="zh-CN" altLang="en-US" sz="2000" b="1" dirty="0">
                <a:solidFill>
                  <a:srgbClr val="FF0000"/>
                </a:solidFill>
              </a:rPr>
              <a:t>串联油路</a:t>
            </a:r>
            <a:r>
              <a:rPr lang="en-US" altLang="zh-CN" sz="2000" dirty="0"/>
              <a:t>,</a:t>
            </a:r>
            <a:r>
              <a:rPr lang="zh-CN" altLang="en-US" sz="2000" dirty="0"/>
              <a:t>后一联换向阀的进油腔和前一联的回油腔相连。图</a:t>
            </a:r>
            <a:r>
              <a:rPr lang="en-US" altLang="zh-CN" sz="2000" dirty="0"/>
              <a:t>18c</a:t>
            </a:r>
            <a:r>
              <a:rPr lang="zh-CN" altLang="en-US" sz="2000" dirty="0"/>
              <a:t>所示为</a:t>
            </a:r>
            <a:r>
              <a:rPr lang="zh-CN" altLang="en-US" sz="2000" b="1" dirty="0">
                <a:solidFill>
                  <a:srgbClr val="FF0000"/>
                </a:solidFill>
              </a:rPr>
              <a:t>串并联油路</a:t>
            </a:r>
            <a:r>
              <a:rPr lang="en-US" altLang="zh-CN" sz="2000" dirty="0"/>
              <a:t>,</a:t>
            </a:r>
            <a:r>
              <a:rPr lang="zh-CN" altLang="en-US" sz="2000" dirty="0"/>
              <a:t>各联换向阀的进油腔都和前一联换向阀的中位油道相连</a:t>
            </a:r>
            <a:r>
              <a:rPr lang="en-US" altLang="zh-CN" sz="2000" dirty="0"/>
              <a:t>,</a:t>
            </a:r>
            <a:r>
              <a:rPr lang="zh-CN" altLang="en-US" sz="2000" dirty="0"/>
              <a:t>而各联换向阀的回油腔则直接和总回油口相连。</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B93EC11D-2A9A-33E8-16F1-44116E9801F2}"/>
              </a:ext>
            </a:extLst>
          </p:cNvPr>
          <p:cNvPicPr>
            <a:picLocks noChangeAspect="1"/>
          </p:cNvPicPr>
          <p:nvPr/>
        </p:nvPicPr>
        <p:blipFill>
          <a:blip r:embed="rId3"/>
          <a:srcRect b="13456"/>
          <a:stretch/>
        </p:blipFill>
        <p:spPr>
          <a:xfrm>
            <a:off x="5798977" y="1832395"/>
            <a:ext cx="5831271" cy="3531746"/>
          </a:xfrm>
          <a:prstGeom prst="rect">
            <a:avLst/>
          </a:prstGeom>
        </p:spPr>
      </p:pic>
      <p:sp>
        <p:nvSpPr>
          <p:cNvPr id="9" name="文本框 8">
            <a:extLst>
              <a:ext uri="{FF2B5EF4-FFF2-40B4-BE49-F238E27FC236}">
                <a16:creationId xmlns:a16="http://schemas.microsoft.com/office/drawing/2014/main" id="{4870B156-0487-A396-717D-BCC74B809284}"/>
              </a:ext>
            </a:extLst>
          </p:cNvPr>
          <p:cNvSpPr txBox="1"/>
          <p:nvPr/>
        </p:nvSpPr>
        <p:spPr>
          <a:xfrm>
            <a:off x="6344777" y="5547591"/>
            <a:ext cx="5309056" cy="646331"/>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cs typeface="Times New Roman" panose="02020603050405020304" pitchFamily="18" charset="0"/>
              </a:rPr>
              <a:t>18</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多路阀的基本油路形式</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a) </a:t>
            </a:r>
            <a:r>
              <a:rPr lang="zh-CN" altLang="en-US" dirty="0">
                <a:latin typeface="Times New Roman" panose="02020603050405020304" pitchFamily="18" charset="0"/>
                <a:cs typeface="Times New Roman" panose="02020603050405020304" pitchFamily="18" charset="0"/>
              </a:rPr>
              <a:t>并联油路</a:t>
            </a:r>
            <a:r>
              <a:rPr lang="en-US" altLang="zh-CN" dirty="0">
                <a:latin typeface="Times New Roman" panose="02020603050405020304" pitchFamily="18" charset="0"/>
                <a:cs typeface="Times New Roman" panose="02020603050405020304" pitchFamily="18" charset="0"/>
              </a:rPr>
              <a:t>   b) </a:t>
            </a:r>
            <a:r>
              <a:rPr lang="zh-CN" altLang="en-US" dirty="0">
                <a:latin typeface="Times New Roman" panose="02020603050405020304" pitchFamily="18" charset="0"/>
                <a:cs typeface="Times New Roman" panose="02020603050405020304" pitchFamily="18" charset="0"/>
              </a:rPr>
              <a:t>串联油路</a:t>
            </a:r>
            <a:r>
              <a:rPr lang="en-US" altLang="zh-CN" dirty="0">
                <a:latin typeface="Times New Roman" panose="02020603050405020304" pitchFamily="18" charset="0"/>
                <a:cs typeface="Times New Roman" panose="02020603050405020304" pitchFamily="18" charset="0"/>
              </a:rPr>
              <a:t>   c) </a:t>
            </a:r>
            <a:r>
              <a:rPr lang="zh-CN" altLang="en-US" dirty="0">
                <a:latin typeface="Times New Roman" panose="02020603050405020304" pitchFamily="18" charset="0"/>
                <a:cs typeface="Times New Roman" panose="02020603050405020304" pitchFamily="18" charset="0"/>
              </a:rPr>
              <a:t>串并联油路</a:t>
            </a:r>
            <a:endParaRPr lang="en-US" altLang="zh-CN" dirty="0">
              <a:latin typeface="Times New Roman" panose="02020603050405020304" pitchFamily="18" charset="0"/>
              <a:cs typeface="Times New Roman" panose="02020603050405020304" pitchFamily="18" charset="0"/>
            </a:endParaRPr>
          </a:p>
        </p:txBody>
      </p:sp>
      <p:cxnSp>
        <p:nvCxnSpPr>
          <p:cNvPr id="13" name="直接连接符 12">
            <a:extLst>
              <a:ext uri="{FF2B5EF4-FFF2-40B4-BE49-F238E27FC236}">
                <a16:creationId xmlns:a16="http://schemas.microsoft.com/office/drawing/2014/main" id="{3C660794-38AA-E203-2C5A-97682B2C0641}"/>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06CD94BF-8BDE-EC6F-A5C2-55DBF12743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6" name="文本框 15">
            <a:extLst>
              <a:ext uri="{FF2B5EF4-FFF2-40B4-BE49-F238E27FC236}">
                <a16:creationId xmlns:a16="http://schemas.microsoft.com/office/drawing/2014/main" id="{D2FFBB5B-9214-D295-2C65-089360983A49}"/>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7" name="矩形 16">
            <a:extLst>
              <a:ext uri="{FF2B5EF4-FFF2-40B4-BE49-F238E27FC236}">
                <a16:creationId xmlns:a16="http://schemas.microsoft.com/office/drawing/2014/main" id="{9B1244A2-D1A9-E749-D474-FEFC4255E33E}"/>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B01DFA6-F6BE-C41A-673C-2CD05E7903F7}"/>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8.2.4 </a:t>
            </a:r>
            <a:r>
              <a:rPr lang="zh-CN" altLang="en-US" sz="2800" b="1" dirty="0">
                <a:solidFill>
                  <a:srgbClr val="003F88"/>
                </a:solidFill>
                <a:latin typeface="微软雅黑" panose="020B0503020204020204" pitchFamily="34" charset="-122"/>
                <a:ea typeface="微软雅黑" panose="020B0503020204020204" pitchFamily="34" charset="-122"/>
              </a:rPr>
              <a:t>多路换向阀</a:t>
            </a:r>
          </a:p>
        </p:txBody>
      </p:sp>
    </p:spTree>
    <p:extLst>
      <p:ext uri="{BB962C8B-B14F-4D97-AF65-F5344CB8AC3E}">
        <p14:creationId xmlns:p14="http://schemas.microsoft.com/office/powerpoint/2010/main" val="462654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9D0C05B-CC70-7CA9-5D3E-2E27A2DE1690}"/>
              </a:ext>
            </a:extLst>
          </p:cNvPr>
          <p:cNvSpPr txBox="1"/>
          <p:nvPr/>
        </p:nvSpPr>
        <p:spPr>
          <a:xfrm>
            <a:off x="632206" y="1600838"/>
            <a:ext cx="5177074" cy="5149936"/>
          </a:xfrm>
          <a:prstGeom prst="rect">
            <a:avLst/>
          </a:prstGeom>
          <a:noFill/>
        </p:spPr>
        <p:txBody>
          <a:bodyPr wrap="square" rtlCol="0">
            <a:spAutoFit/>
          </a:bodyPr>
          <a:lstStyle/>
          <a:p>
            <a:pPr algn="just">
              <a:lnSpc>
                <a:spcPct val="150000"/>
              </a:lnSpc>
            </a:pPr>
            <a:r>
              <a:rPr lang="zh-CN" altLang="en-US" sz="2400" dirty="0"/>
              <a:t>    </a:t>
            </a:r>
            <a:r>
              <a:rPr lang="zh-CN" altLang="en-US" sz="2000" dirty="0"/>
              <a:t>    图</a:t>
            </a:r>
            <a:r>
              <a:rPr lang="en-US" altLang="zh-CN" sz="2000" dirty="0"/>
              <a:t>19</a:t>
            </a:r>
            <a:r>
              <a:rPr lang="zh-CN" altLang="en-US" sz="2000" dirty="0"/>
              <a:t>所示为整体式多路换向阀的结构。油路为串并联连接。它由三位</a:t>
            </a:r>
            <a:r>
              <a:rPr lang="en-US" altLang="zh-CN" sz="2000" dirty="0"/>
              <a:t>(</a:t>
            </a:r>
            <a:r>
              <a:rPr lang="zh-CN" altLang="en-US" sz="2000" dirty="0"/>
              <a:t>左、中、右</a:t>
            </a:r>
            <a:r>
              <a:rPr lang="en-US" altLang="zh-CN" sz="2000" dirty="0"/>
              <a:t>)</a:t>
            </a:r>
            <a:r>
              <a:rPr lang="zh-CN" altLang="en-US" sz="2000" dirty="0"/>
              <a:t>滑阀</a:t>
            </a:r>
            <a:r>
              <a:rPr lang="en-US" altLang="zh-CN" sz="2000" dirty="0"/>
              <a:t>1</a:t>
            </a:r>
            <a:r>
              <a:rPr lang="zh-CN" altLang="en-US" sz="2000" dirty="0"/>
              <a:t>、四位</a:t>
            </a:r>
            <a:r>
              <a:rPr lang="en-US" altLang="zh-CN" sz="2000" dirty="0"/>
              <a:t>(Ⅰ</a:t>
            </a:r>
            <a:r>
              <a:rPr lang="zh-CN" altLang="en-US" sz="2000" dirty="0"/>
              <a:t>、</a:t>
            </a:r>
            <a:r>
              <a:rPr lang="en-US" altLang="zh-CN" sz="2000" dirty="0"/>
              <a:t>Ⅱ</a:t>
            </a:r>
            <a:r>
              <a:rPr lang="zh-CN" altLang="en-US" sz="2000" dirty="0"/>
              <a:t>、</a:t>
            </a:r>
            <a:r>
              <a:rPr lang="en-US" altLang="zh-CN" sz="2000" dirty="0"/>
              <a:t>Ⅲ</a:t>
            </a:r>
            <a:r>
              <a:rPr lang="zh-CN" altLang="en-US" sz="2000" dirty="0"/>
              <a:t>、</a:t>
            </a:r>
            <a:r>
              <a:rPr lang="en-US" altLang="zh-CN" sz="2000" dirty="0"/>
              <a:t>Ⅳ)</a:t>
            </a:r>
            <a:r>
              <a:rPr lang="zh-CN" altLang="en-US" sz="2000" dirty="0"/>
              <a:t>滑阀</a:t>
            </a:r>
            <a:r>
              <a:rPr lang="en-US" altLang="zh-CN" sz="2000" dirty="0"/>
              <a:t>2</a:t>
            </a:r>
            <a:r>
              <a:rPr lang="zh-CN" altLang="en-US" sz="2000" dirty="0"/>
              <a:t>、单向阀</a:t>
            </a:r>
            <a:r>
              <a:rPr lang="en-US" altLang="zh-CN" sz="2000" dirty="0"/>
              <a:t>3</a:t>
            </a:r>
            <a:r>
              <a:rPr lang="zh-CN" altLang="en-US" sz="2000" dirty="0"/>
              <a:t>和主安全阀</a:t>
            </a:r>
            <a:r>
              <a:rPr lang="en-US" altLang="zh-CN" sz="2000" dirty="0"/>
              <a:t>4</a:t>
            </a:r>
            <a:r>
              <a:rPr lang="zh-CN" altLang="en-US" sz="2000" dirty="0"/>
              <a:t>等组成。阀</a:t>
            </a:r>
            <a:r>
              <a:rPr lang="en-US" altLang="zh-CN" sz="2000" dirty="0"/>
              <a:t>1</a:t>
            </a:r>
            <a:r>
              <a:rPr lang="zh-CN" altLang="en-US" sz="2000" dirty="0"/>
              <a:t>由弹簧复位</a:t>
            </a:r>
            <a:r>
              <a:rPr lang="en-US" altLang="zh-CN" sz="2000" dirty="0"/>
              <a:t>;</a:t>
            </a:r>
            <a:r>
              <a:rPr lang="zh-CN" altLang="en-US" sz="2000" dirty="0"/>
              <a:t>阀</a:t>
            </a:r>
            <a:r>
              <a:rPr lang="en-US" altLang="zh-CN" sz="2000" dirty="0"/>
              <a:t>2</a:t>
            </a:r>
            <a:r>
              <a:rPr lang="zh-CN" altLang="en-US" sz="2000" dirty="0"/>
              <a:t>由弹珠定位。当滑阀</a:t>
            </a:r>
            <a:r>
              <a:rPr lang="en-US" altLang="zh-CN" sz="2000" dirty="0"/>
              <a:t>1</a:t>
            </a:r>
            <a:r>
              <a:rPr lang="zh-CN" altLang="en-US" sz="2000" dirty="0"/>
              <a:t>处于中位和滑阀</a:t>
            </a:r>
            <a:r>
              <a:rPr lang="en-US" altLang="zh-CN" sz="2000" dirty="0"/>
              <a:t>2</a:t>
            </a:r>
            <a:r>
              <a:rPr lang="zh-CN" altLang="en-US" sz="2000" dirty="0"/>
              <a:t>处于</a:t>
            </a:r>
            <a:r>
              <a:rPr lang="en-US" altLang="zh-CN" sz="2000" dirty="0"/>
              <a:t>Ⅲ</a:t>
            </a:r>
            <a:r>
              <a:rPr lang="zh-CN" altLang="en-US" sz="2000" dirty="0"/>
              <a:t>位</a:t>
            </a:r>
            <a:r>
              <a:rPr lang="en-US" altLang="zh-CN" sz="2000" dirty="0"/>
              <a:t>(</a:t>
            </a:r>
            <a:r>
              <a:rPr lang="zh-CN" altLang="en-US" sz="2000" dirty="0"/>
              <a:t>图示位置</a:t>
            </a:r>
            <a:r>
              <a:rPr lang="en-US" altLang="zh-CN" sz="2000" dirty="0"/>
              <a:t>)</a:t>
            </a:r>
            <a:r>
              <a:rPr lang="zh-CN" altLang="en-US" sz="2000" dirty="0"/>
              <a:t>时</a:t>
            </a:r>
            <a:r>
              <a:rPr lang="en-US" altLang="zh-CN" sz="2000" dirty="0"/>
              <a:t>,</a:t>
            </a:r>
            <a:r>
              <a:rPr lang="zh-CN" altLang="en-US" sz="2000" dirty="0"/>
              <a:t>从</a:t>
            </a:r>
            <a:r>
              <a:rPr lang="en-US" altLang="zh-CN" sz="2000" dirty="0"/>
              <a:t>P</a:t>
            </a:r>
            <a:r>
              <a:rPr lang="zh-CN" altLang="en-US" sz="2000" dirty="0"/>
              <a:t>口来的压力油经中间通道直接从</a:t>
            </a:r>
            <a:r>
              <a:rPr lang="en-US" altLang="zh-CN" sz="2000" dirty="0"/>
              <a:t>T</a:t>
            </a:r>
            <a:r>
              <a:rPr lang="zh-CN" altLang="en-US" sz="2000" dirty="0"/>
              <a:t>口回油箱。当滑阀处于换向位置时</a:t>
            </a:r>
            <a:r>
              <a:rPr lang="en-US" altLang="zh-CN" sz="2000" dirty="0"/>
              <a:t>,T</a:t>
            </a:r>
            <a:r>
              <a:rPr lang="zh-CN" altLang="en-US" sz="2000" dirty="0"/>
              <a:t>口油道关闭</a:t>
            </a:r>
            <a:r>
              <a:rPr lang="en-US" altLang="zh-CN" sz="2000" dirty="0"/>
              <a:t>,P</a:t>
            </a:r>
            <a:r>
              <a:rPr lang="zh-CN" altLang="en-US" sz="2000" dirty="0"/>
              <a:t>口的压力油经滑阀的径向孔打开单向阀进入工作油口</a:t>
            </a:r>
            <a:r>
              <a:rPr lang="en-US" altLang="zh-CN" sz="2000" dirty="0"/>
              <a:t>;</a:t>
            </a:r>
            <a:r>
              <a:rPr lang="zh-CN" altLang="en-US" sz="2000" dirty="0"/>
              <a:t>从另一工作油口来的油</a:t>
            </a:r>
            <a:r>
              <a:rPr lang="en-US" altLang="zh-CN" sz="2000" dirty="0"/>
              <a:t>,</a:t>
            </a:r>
            <a:r>
              <a:rPr lang="zh-CN" altLang="en-US" sz="2000" dirty="0"/>
              <a:t>经滑阀另一侧的径向孔回油箱。</a:t>
            </a:r>
          </a:p>
          <a:p>
            <a:pPr algn="just">
              <a:lnSpc>
                <a:spcPct val="125000"/>
              </a:lnSpc>
            </a:pPr>
            <a:endParaRPr lang="zh-CN" altLang="en-US" sz="20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966169C4-D1C5-761C-8B8D-9F9387A71203}"/>
              </a:ext>
            </a:extLst>
          </p:cNvPr>
          <p:cNvPicPr>
            <a:picLocks noChangeAspect="1"/>
          </p:cNvPicPr>
          <p:nvPr/>
        </p:nvPicPr>
        <p:blipFill>
          <a:blip r:embed="rId3"/>
          <a:stretch>
            <a:fillRect/>
          </a:stretch>
        </p:blipFill>
        <p:spPr>
          <a:xfrm>
            <a:off x="6286287" y="1641199"/>
            <a:ext cx="5273507" cy="3826020"/>
          </a:xfrm>
          <a:prstGeom prst="rect">
            <a:avLst/>
          </a:prstGeom>
        </p:spPr>
      </p:pic>
      <p:sp>
        <p:nvSpPr>
          <p:cNvPr id="9" name="文本框 8">
            <a:extLst>
              <a:ext uri="{FF2B5EF4-FFF2-40B4-BE49-F238E27FC236}">
                <a16:creationId xmlns:a16="http://schemas.microsoft.com/office/drawing/2014/main" id="{F1084099-B116-7AA3-49E6-D1D3840FED64}"/>
              </a:ext>
            </a:extLst>
          </p:cNvPr>
          <p:cNvSpPr txBox="1"/>
          <p:nvPr/>
        </p:nvSpPr>
        <p:spPr>
          <a:xfrm>
            <a:off x="6194666" y="5637806"/>
            <a:ext cx="5456747" cy="1077218"/>
          </a:xfrm>
          <a:prstGeom prst="rect">
            <a:avLst/>
          </a:prstGeom>
          <a:noFill/>
        </p:spPr>
        <p:txBody>
          <a:bodyPr wrap="square" rtlCol="0">
            <a:spAutoFit/>
          </a:bodyPr>
          <a:lstStyle/>
          <a:p>
            <a:pPr algn="ctr"/>
            <a:r>
              <a:rPr lang="zh-CN" altLang="en-US"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cs typeface="Times New Roman" panose="02020603050405020304" pitchFamily="18" charset="0"/>
              </a:rPr>
              <a:t>19   </a:t>
            </a:r>
            <a:r>
              <a:rPr lang="zh-CN" altLang="en-US" dirty="0">
                <a:latin typeface="Times New Roman" panose="02020603050405020304" pitchFamily="18" charset="0"/>
                <a:cs typeface="Times New Roman" panose="02020603050405020304" pitchFamily="18" charset="0"/>
              </a:rPr>
              <a:t>整体式多路换向阀</a:t>
            </a:r>
            <a:endParaRPr lang="en-US" altLang="zh-CN" dirty="0">
              <a:latin typeface="Times New Roman" panose="02020603050405020304" pitchFamily="18" charset="0"/>
              <a:cs typeface="Times New Roman" panose="02020603050405020304" pitchFamily="18" charset="0"/>
            </a:endParaRPr>
          </a:p>
          <a:p>
            <a:pPr algn="ct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三位滑阀  </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四位滑阀  </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单向阀  </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主安全阀</a:t>
            </a:r>
            <a:endParaRPr lang="en-US" altLang="zh-CN" dirty="0">
              <a:latin typeface="Times New Roman" panose="02020603050405020304" pitchFamily="18" charset="0"/>
              <a:cs typeface="Times New Roman" panose="02020603050405020304" pitchFamily="18" charset="0"/>
            </a:endParaRPr>
          </a:p>
          <a:p>
            <a:pPr algn="ctr"/>
            <a:endParaRPr lang="zh-CN" altLang="en-US" sz="1400" dirty="0">
              <a:latin typeface="Times New Roman" panose="02020603050405020304" pitchFamily="18" charset="0"/>
              <a:cs typeface="Times New Roman" panose="02020603050405020304" pitchFamily="18" charset="0"/>
            </a:endParaRPr>
          </a:p>
          <a:p>
            <a:pPr algn="ctr"/>
            <a:endParaRPr lang="zh-CN" altLang="en-US" sz="1400" dirty="0">
              <a:latin typeface="Times New Roman" panose="02020603050405020304" pitchFamily="18" charset="0"/>
              <a:cs typeface="Times New Roman" panose="02020603050405020304" pitchFamily="18" charset="0"/>
            </a:endParaRPr>
          </a:p>
        </p:txBody>
      </p:sp>
      <p:cxnSp>
        <p:nvCxnSpPr>
          <p:cNvPr id="13" name="直接连接符 12">
            <a:extLst>
              <a:ext uri="{FF2B5EF4-FFF2-40B4-BE49-F238E27FC236}">
                <a16:creationId xmlns:a16="http://schemas.microsoft.com/office/drawing/2014/main" id="{233BD5A9-B164-699A-263F-26FAC16D7EB1}"/>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F7EBA112-DA25-7CC6-EE4A-A5D762F855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6" name="文本框 15">
            <a:extLst>
              <a:ext uri="{FF2B5EF4-FFF2-40B4-BE49-F238E27FC236}">
                <a16:creationId xmlns:a16="http://schemas.microsoft.com/office/drawing/2014/main" id="{720EEC40-5FA3-F954-649A-A2CF12EC82F4}"/>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7" name="矩形 16">
            <a:extLst>
              <a:ext uri="{FF2B5EF4-FFF2-40B4-BE49-F238E27FC236}">
                <a16:creationId xmlns:a16="http://schemas.microsoft.com/office/drawing/2014/main" id="{BCCC6165-9C59-2E12-A8E0-788CE1CF126E}"/>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E6C9DE5-953C-CFBF-B52E-ED552BC7630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8.2.4 </a:t>
            </a:r>
            <a:r>
              <a:rPr lang="zh-CN" altLang="en-US" sz="2800" b="1" dirty="0">
                <a:solidFill>
                  <a:srgbClr val="003F88"/>
                </a:solidFill>
                <a:latin typeface="微软雅黑" panose="020B0503020204020204" pitchFamily="34" charset="-122"/>
                <a:ea typeface="微软雅黑" panose="020B0503020204020204" pitchFamily="34" charset="-122"/>
              </a:rPr>
              <a:t>多路换向阀</a:t>
            </a:r>
          </a:p>
        </p:txBody>
      </p:sp>
    </p:spTree>
    <p:extLst>
      <p:ext uri="{BB962C8B-B14F-4D97-AF65-F5344CB8AC3E}">
        <p14:creationId xmlns:p14="http://schemas.microsoft.com/office/powerpoint/2010/main" val="2574771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4EDBB8C-2E15-8AB7-17FF-DF7FF0F626FB}"/>
              </a:ext>
            </a:extLst>
          </p:cNvPr>
          <p:cNvSpPr>
            <a:spLocks noChangeArrowheads="1"/>
          </p:cNvSpPr>
          <p:nvPr/>
        </p:nvSpPr>
        <p:spPr bwMode="auto">
          <a:xfrm>
            <a:off x="7940842" y="19170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5EE1DBB-E8F5-8BFE-4A87-166D31B8BE51}"/>
              </a:ext>
            </a:extLst>
          </p:cNvPr>
          <p:cNvSpPr>
            <a:spLocks noChangeArrowheads="1"/>
          </p:cNvSpPr>
          <p:nvPr/>
        </p:nvSpPr>
        <p:spPr bwMode="auto">
          <a:xfrm>
            <a:off x="3021420" y="1771425"/>
            <a:ext cx="23671940" cy="6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cxnSp>
        <p:nvCxnSpPr>
          <p:cNvPr id="13" name="直接连接符 12">
            <a:extLst>
              <a:ext uri="{FF2B5EF4-FFF2-40B4-BE49-F238E27FC236}">
                <a16:creationId xmlns:a16="http://schemas.microsoft.com/office/drawing/2014/main" id="{233BD5A9-B164-699A-263F-26FAC16D7EB1}"/>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F7EBA112-DA25-7CC6-EE4A-A5D762F855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6" name="文本框 15">
            <a:extLst>
              <a:ext uri="{FF2B5EF4-FFF2-40B4-BE49-F238E27FC236}">
                <a16:creationId xmlns:a16="http://schemas.microsoft.com/office/drawing/2014/main" id="{720EEC40-5FA3-F954-649A-A2CF12EC82F4}"/>
              </a:ext>
            </a:extLst>
          </p:cNvPr>
          <p:cNvSpPr txBox="1"/>
          <p:nvPr/>
        </p:nvSpPr>
        <p:spPr>
          <a:xfrm>
            <a:off x="429656" y="135415"/>
            <a:ext cx="4574144" cy="646331"/>
          </a:xfrm>
          <a:prstGeom prst="rect">
            <a:avLst/>
          </a:prstGeom>
          <a:noFill/>
        </p:spPr>
        <p:txBody>
          <a:bodyPr wrap="square" rtlCol="0">
            <a:spAutoFit/>
          </a:bodyPr>
          <a:lstStyle/>
          <a:p>
            <a:r>
              <a:rPr lang="en-US" altLang="zh-CN" sz="3600" b="1" dirty="0">
                <a:solidFill>
                  <a:srgbClr val="003F88"/>
                </a:solidFill>
                <a:latin typeface="+mn-ea"/>
              </a:rPr>
              <a:t>8.2 </a:t>
            </a:r>
            <a:r>
              <a:rPr lang="zh-CN" altLang="en-US" sz="3600" b="1" dirty="0">
                <a:solidFill>
                  <a:srgbClr val="003F88"/>
                </a:solidFill>
                <a:latin typeface="+mn-ea"/>
              </a:rPr>
              <a:t>方向控制阀</a:t>
            </a:r>
          </a:p>
        </p:txBody>
      </p:sp>
      <p:sp>
        <p:nvSpPr>
          <p:cNvPr id="17" name="矩形 16">
            <a:extLst>
              <a:ext uri="{FF2B5EF4-FFF2-40B4-BE49-F238E27FC236}">
                <a16:creationId xmlns:a16="http://schemas.microsoft.com/office/drawing/2014/main" id="{BCCC6165-9C59-2E12-A8E0-788CE1CF126E}"/>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E6C9DE5-953C-CFBF-B52E-ED552BC76301}"/>
              </a:ext>
            </a:extLst>
          </p:cNvPr>
          <p:cNvSpPr/>
          <p:nvPr/>
        </p:nvSpPr>
        <p:spPr>
          <a:xfrm>
            <a:off x="429656" y="887912"/>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8.2.4 </a:t>
            </a:r>
            <a:r>
              <a:rPr lang="zh-CN" altLang="en-US" sz="2800" b="1" dirty="0">
                <a:solidFill>
                  <a:srgbClr val="003F88"/>
                </a:solidFill>
                <a:latin typeface="微软雅黑" panose="020B0503020204020204" pitchFamily="34" charset="-122"/>
                <a:ea typeface="微软雅黑" panose="020B0503020204020204" pitchFamily="34" charset="-122"/>
              </a:rPr>
              <a:t>多路换向阀</a:t>
            </a:r>
          </a:p>
        </p:txBody>
      </p:sp>
      <p:pic>
        <p:nvPicPr>
          <p:cNvPr id="7170" name="Picture 2" descr="https://www.henglihydraulics.com/upload/image/2024-05/1715322234000.png">
            <a:extLst>
              <a:ext uri="{FF2B5EF4-FFF2-40B4-BE49-F238E27FC236}">
                <a16:creationId xmlns:a16="http://schemas.microsoft.com/office/drawing/2014/main" id="{880F976B-F7BA-485B-BEC9-47FDCD2933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835" y="2535597"/>
            <a:ext cx="4973170" cy="331544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gimg2.baidu.com/image_search/src=http%3A%2F%2Fcbu01.alicdn.com%2Fimg%2Fibank%2FO1CN01kMevM01ZRWWDN8L7z_%21%212208203343191-0-cib.jpg&amp;refer=http%3A%2F%2Fcbu01.alicdn.com&amp;app=2002&amp;size=f9999,10000&amp;q=a80&amp;n=0&amp;g=0n&amp;fmt=auto?sec=1735296199&amp;t=65e14fa42bec829563cff1279f611701">
            <a:extLst>
              <a:ext uri="{FF2B5EF4-FFF2-40B4-BE49-F238E27FC236}">
                <a16:creationId xmlns:a16="http://schemas.microsoft.com/office/drawing/2014/main" id="{8236EFED-5512-45A4-B615-C295E8DECB6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628" r="13962"/>
          <a:stretch/>
        </p:blipFill>
        <p:spPr bwMode="auto">
          <a:xfrm rot="5400000">
            <a:off x="7586498" y="2847086"/>
            <a:ext cx="2888644" cy="3989294"/>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s://p9.itc.cn/q_70/images03/20230525/04abc3ebafb446da84170980e5e05265.png">
            <a:extLst>
              <a:ext uri="{FF2B5EF4-FFF2-40B4-BE49-F238E27FC236}">
                <a16:creationId xmlns:a16="http://schemas.microsoft.com/office/drawing/2014/main" id="{2D711117-E381-458C-A930-C19A68F6B3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4235" y="1336116"/>
            <a:ext cx="5112930" cy="216243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BBF5F50C-CB25-4D3E-AB95-1DFD4592FB5D}"/>
              </a:ext>
            </a:extLst>
          </p:cNvPr>
          <p:cNvSpPr txBox="1"/>
          <p:nvPr/>
        </p:nvSpPr>
        <p:spPr>
          <a:xfrm>
            <a:off x="2411505" y="6184914"/>
            <a:ext cx="1723549" cy="400110"/>
          </a:xfrm>
          <a:prstGeom prst="rect">
            <a:avLst/>
          </a:prstGeom>
          <a:noFill/>
        </p:spPr>
        <p:txBody>
          <a:bodyPr wrap="none" rtlCol="0">
            <a:spAutoFit/>
          </a:bodyPr>
          <a:lstStyle/>
          <a:p>
            <a:r>
              <a:rPr lang="zh-CN" altLang="en-US" sz="2000" b="1" dirty="0">
                <a:solidFill>
                  <a:srgbClr val="0070C0"/>
                </a:solidFill>
              </a:rPr>
              <a:t>分体式多路阀</a:t>
            </a:r>
          </a:p>
        </p:txBody>
      </p:sp>
      <p:sp>
        <p:nvSpPr>
          <p:cNvPr id="19" name="文本框 18">
            <a:extLst>
              <a:ext uri="{FF2B5EF4-FFF2-40B4-BE49-F238E27FC236}">
                <a16:creationId xmlns:a16="http://schemas.microsoft.com/office/drawing/2014/main" id="{B449C088-77B9-4152-BE6A-369BDD8F92F3}"/>
              </a:ext>
            </a:extLst>
          </p:cNvPr>
          <p:cNvSpPr txBox="1"/>
          <p:nvPr/>
        </p:nvSpPr>
        <p:spPr>
          <a:xfrm>
            <a:off x="8075347" y="6184914"/>
            <a:ext cx="1723549" cy="400110"/>
          </a:xfrm>
          <a:prstGeom prst="rect">
            <a:avLst/>
          </a:prstGeom>
          <a:noFill/>
        </p:spPr>
        <p:txBody>
          <a:bodyPr wrap="none" rtlCol="0">
            <a:spAutoFit/>
          </a:bodyPr>
          <a:lstStyle/>
          <a:p>
            <a:r>
              <a:rPr lang="zh-CN" altLang="en-US" sz="2000" b="1" dirty="0">
                <a:solidFill>
                  <a:srgbClr val="0070C0"/>
                </a:solidFill>
              </a:rPr>
              <a:t>整体式多路阀</a:t>
            </a:r>
          </a:p>
        </p:txBody>
      </p:sp>
    </p:spTree>
    <p:extLst>
      <p:ext uri="{BB962C8B-B14F-4D97-AF65-F5344CB8AC3E}">
        <p14:creationId xmlns:p14="http://schemas.microsoft.com/office/powerpoint/2010/main" val="3783921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mn-ea"/>
              </a:rPr>
              <a:t>8.3 </a:t>
            </a:r>
            <a:r>
              <a:rPr lang="zh-CN" altLang="en-US" sz="3600" b="1" dirty="0">
                <a:solidFill>
                  <a:srgbClr val="003F88"/>
                </a:solidFill>
                <a:latin typeface="+mn-ea"/>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540867" y="1275581"/>
            <a:ext cx="7547154" cy="589072"/>
          </a:xfrm>
          <a:prstGeom prst="rect">
            <a:avLst/>
          </a:prstGeom>
        </p:spPr>
        <p:txBody>
          <a:bodyPr wrap="square">
            <a:spAutoFit/>
          </a:bodyPr>
          <a:lstStyle/>
          <a:p>
            <a:pPr>
              <a:lnSpc>
                <a:spcPct val="125000"/>
              </a:lnSpc>
            </a:pPr>
            <a:r>
              <a:rPr lang="zh-CN" altLang="en-US" sz="2800" b="1" dirty="0">
                <a:solidFill>
                  <a:srgbClr val="000000"/>
                </a:solidFill>
                <a:latin typeface="+mn-ea"/>
                <a:cs typeface="Times New Roman" panose="02020603050405020304" pitchFamily="18" charset="0"/>
              </a:rPr>
              <a:t>常见的压力控制阀的类型：</a:t>
            </a:r>
          </a:p>
        </p:txBody>
      </p:sp>
      <p:graphicFrame>
        <p:nvGraphicFramePr>
          <p:cNvPr id="3" name="图示 2">
            <a:extLst>
              <a:ext uri="{FF2B5EF4-FFF2-40B4-BE49-F238E27FC236}">
                <a16:creationId xmlns:a16="http://schemas.microsoft.com/office/drawing/2014/main" id="{3303730B-267E-F518-F23E-D27C9EB9D218}"/>
              </a:ext>
            </a:extLst>
          </p:cNvPr>
          <p:cNvGraphicFramePr/>
          <p:nvPr>
            <p:extLst>
              <p:ext uri="{D42A27DB-BD31-4B8C-83A1-F6EECF244321}">
                <p14:modId xmlns:p14="http://schemas.microsoft.com/office/powerpoint/2010/main" val="722843760"/>
              </p:ext>
            </p:extLst>
          </p:nvPr>
        </p:nvGraphicFramePr>
        <p:xfrm>
          <a:off x="1576360" y="1570117"/>
          <a:ext cx="8427874" cy="47042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mj-ea"/>
                <a:ea typeface="+mj-ea"/>
              </a:rPr>
              <a:t>8.3 </a:t>
            </a:r>
            <a:r>
              <a:rPr lang="zh-CN" altLang="en-US" sz="3600" b="1" dirty="0">
                <a:solidFill>
                  <a:srgbClr val="003F88"/>
                </a:solidFill>
                <a:latin typeface="+mj-ea"/>
                <a:ea typeface="+mj-ea"/>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 name="矩形 2">
            <a:extLst>
              <a:ext uri="{FF2B5EF4-FFF2-40B4-BE49-F238E27FC236}">
                <a16:creationId xmlns:a16="http://schemas.microsoft.com/office/drawing/2014/main" id="{F42501F7-BADC-00B2-825C-8D348AB82F2B}"/>
              </a:ext>
            </a:extLst>
          </p:cNvPr>
          <p:cNvSpPr/>
          <p:nvPr/>
        </p:nvSpPr>
        <p:spPr>
          <a:xfrm>
            <a:off x="429895" y="965994"/>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8.3.1 </a:t>
            </a:r>
            <a:r>
              <a:rPr lang="zh-CN" altLang="en-US" sz="2800" b="1" dirty="0">
                <a:solidFill>
                  <a:srgbClr val="003F88"/>
                </a:solidFill>
                <a:latin typeface="微软雅黑" panose="020B0503020204020204" pitchFamily="34" charset="-122"/>
                <a:ea typeface="微软雅黑" panose="020B0503020204020204" pitchFamily="34" charset="-122"/>
              </a:rPr>
              <a:t>溢流阀</a:t>
            </a:r>
          </a:p>
        </p:txBody>
      </p:sp>
      <p:sp>
        <p:nvSpPr>
          <p:cNvPr id="4" name="文本框 3">
            <a:extLst>
              <a:ext uri="{FF2B5EF4-FFF2-40B4-BE49-F238E27FC236}">
                <a16:creationId xmlns:a16="http://schemas.microsoft.com/office/drawing/2014/main" id="{FA51B3E6-A0FC-1AC7-25FB-30D038EEEDF6}"/>
              </a:ext>
            </a:extLst>
          </p:cNvPr>
          <p:cNvSpPr txBox="1">
            <a:spLocks noChangeArrowheads="1"/>
          </p:cNvSpPr>
          <p:nvPr/>
        </p:nvSpPr>
        <p:spPr bwMode="auto">
          <a:xfrm>
            <a:off x="947730" y="2132492"/>
            <a:ext cx="2743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mn-ea"/>
                <a:ea typeface="+mn-ea"/>
              </a:rPr>
              <a:t>1.</a:t>
            </a:r>
            <a:r>
              <a:rPr lang="zh-CN" altLang="en-US" sz="2400" b="1" dirty="0">
                <a:latin typeface="+mn-ea"/>
                <a:ea typeface="+mn-ea"/>
              </a:rPr>
              <a:t>功用和要求</a:t>
            </a:r>
          </a:p>
        </p:txBody>
      </p:sp>
      <p:sp>
        <p:nvSpPr>
          <p:cNvPr id="7" name="矩形 6">
            <a:extLst>
              <a:ext uri="{FF2B5EF4-FFF2-40B4-BE49-F238E27FC236}">
                <a16:creationId xmlns:a16="http://schemas.microsoft.com/office/drawing/2014/main" id="{A20F49A5-51B9-294A-1CB7-A5E8F4F1EE14}"/>
              </a:ext>
            </a:extLst>
          </p:cNvPr>
          <p:cNvSpPr/>
          <p:nvPr/>
        </p:nvSpPr>
        <p:spPr>
          <a:xfrm>
            <a:off x="1493156" y="2927220"/>
            <a:ext cx="9435682" cy="1884618"/>
          </a:xfrm>
          <a:prstGeom prst="rect">
            <a:avLst/>
          </a:prstGeom>
        </p:spPr>
        <p:txBody>
          <a:bodyPr wrap="square">
            <a:spAutoFit/>
          </a:bodyPr>
          <a:lstStyle/>
          <a:p>
            <a:pPr indent="431800">
              <a:lnSpc>
                <a:spcPct val="150000"/>
              </a:lnSpc>
            </a:pPr>
            <a:r>
              <a:rPr lang="zh-CN" altLang="en-US" sz="2000" dirty="0">
                <a:solidFill>
                  <a:srgbClr val="000000"/>
                </a:solidFill>
                <a:latin typeface="+mn-ea"/>
                <a:cs typeface="Times New Roman" panose="02020603050405020304" pitchFamily="18" charset="0"/>
              </a:rPr>
              <a:t>溢流阀是通过阀口的溢流</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使被控制系统或回路的</a:t>
            </a:r>
            <a:r>
              <a:rPr lang="zh-CN" altLang="en-US" sz="2000" b="1" dirty="0">
                <a:solidFill>
                  <a:srgbClr val="0070C0"/>
                </a:solidFill>
                <a:latin typeface="+mn-ea"/>
                <a:cs typeface="Times New Roman" panose="02020603050405020304" pitchFamily="18" charset="0"/>
              </a:rPr>
              <a:t>压力维持恒定</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实现</a:t>
            </a:r>
            <a:r>
              <a:rPr lang="zh-CN" altLang="en-US" sz="2000" b="1" dirty="0">
                <a:solidFill>
                  <a:srgbClr val="FF0000"/>
                </a:solidFill>
                <a:latin typeface="+mn-ea"/>
                <a:cs typeface="Times New Roman" panose="02020603050405020304" pitchFamily="18" charset="0"/>
              </a:rPr>
              <a:t>稳压</a:t>
            </a:r>
            <a:r>
              <a:rPr lang="zh-CN" altLang="en-US" sz="2000" dirty="0">
                <a:solidFill>
                  <a:srgbClr val="000000"/>
                </a:solidFill>
                <a:latin typeface="+mn-ea"/>
                <a:cs typeface="Times New Roman" panose="02020603050405020304" pitchFamily="18" charset="0"/>
              </a:rPr>
              <a:t>、</a:t>
            </a:r>
            <a:r>
              <a:rPr lang="zh-CN" altLang="en-US" sz="2000" b="1" dirty="0">
                <a:solidFill>
                  <a:srgbClr val="FF0000"/>
                </a:solidFill>
                <a:latin typeface="+mn-ea"/>
                <a:cs typeface="Times New Roman" panose="02020603050405020304" pitchFamily="18" charset="0"/>
              </a:rPr>
              <a:t>调压</a:t>
            </a:r>
            <a:r>
              <a:rPr lang="zh-CN" altLang="en-US" sz="2000" dirty="0">
                <a:solidFill>
                  <a:srgbClr val="000000"/>
                </a:solidFill>
                <a:latin typeface="+mn-ea"/>
                <a:cs typeface="Times New Roman" panose="02020603050405020304" pitchFamily="18" charset="0"/>
              </a:rPr>
              <a:t>或</a:t>
            </a:r>
            <a:r>
              <a:rPr lang="zh-CN" altLang="en-US" sz="2000" b="1" dirty="0">
                <a:solidFill>
                  <a:srgbClr val="FF0000"/>
                </a:solidFill>
                <a:latin typeface="+mn-ea"/>
                <a:cs typeface="Times New Roman" panose="02020603050405020304" pitchFamily="18" charset="0"/>
              </a:rPr>
              <a:t>限压</a:t>
            </a:r>
            <a:r>
              <a:rPr lang="zh-CN" altLang="en-US" sz="2000" dirty="0">
                <a:solidFill>
                  <a:srgbClr val="000000"/>
                </a:solidFill>
                <a:latin typeface="+mn-ea"/>
                <a:cs typeface="Times New Roman" panose="02020603050405020304" pitchFamily="18" charset="0"/>
              </a:rPr>
              <a:t>作用。</a:t>
            </a:r>
          </a:p>
          <a:p>
            <a:pPr indent="431800">
              <a:lnSpc>
                <a:spcPct val="150000"/>
              </a:lnSpc>
            </a:pPr>
            <a:r>
              <a:rPr lang="zh-CN" altLang="en-US" sz="2000" dirty="0">
                <a:solidFill>
                  <a:srgbClr val="000000"/>
                </a:solidFill>
                <a:latin typeface="+mn-ea"/>
                <a:cs typeface="Times New Roman" panose="02020603050405020304" pitchFamily="18" charset="0"/>
              </a:rPr>
              <a:t>对溢流阀的主要要求是</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调压范围大</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调压偏差小</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压力振摆小</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动作灵敏</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过流能力大</a:t>
            </a:r>
            <a:r>
              <a:rPr lang="en-US" altLang="zh-CN" sz="2000" dirty="0">
                <a:solidFill>
                  <a:srgbClr val="000000"/>
                </a:solidFill>
                <a:latin typeface="+mn-ea"/>
                <a:cs typeface="Times New Roman" panose="02020603050405020304" pitchFamily="18" charset="0"/>
              </a:rPr>
              <a:t>,</a:t>
            </a:r>
            <a:r>
              <a:rPr lang="zh-CN" altLang="en-US" sz="2000" dirty="0">
                <a:solidFill>
                  <a:srgbClr val="000000"/>
                </a:solidFill>
                <a:latin typeface="+mn-ea"/>
                <a:cs typeface="Times New Roman" panose="02020603050405020304" pitchFamily="18" charset="0"/>
              </a:rPr>
              <a:t>噪声小。</a:t>
            </a:r>
          </a:p>
        </p:txBody>
      </p:sp>
    </p:spTree>
    <p:extLst>
      <p:ext uri="{BB962C8B-B14F-4D97-AF65-F5344CB8AC3E}">
        <p14:creationId xmlns:p14="http://schemas.microsoft.com/office/powerpoint/2010/main" val="185899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 name="矩形 25"/>
          <p:cNvSpPr/>
          <p:nvPr/>
        </p:nvSpPr>
        <p:spPr>
          <a:xfrm>
            <a:off x="579316" y="1781194"/>
            <a:ext cx="7547154" cy="511807"/>
          </a:xfrm>
          <a:prstGeom prst="rect">
            <a:avLst/>
          </a:prstGeom>
        </p:spPr>
        <p:txBody>
          <a:bodyPr wrap="square">
            <a:spAutoFit/>
          </a:bodyPr>
          <a:lstStyle/>
          <a:p>
            <a:pPr>
              <a:lnSpc>
                <a:spcPct val="125000"/>
              </a:lnSpc>
            </a:pPr>
            <a:r>
              <a:rPr lang="zh-CN" altLang="en-US" sz="2400" b="1" dirty="0">
                <a:latin typeface="微软雅黑" panose="020B0503020204020204" pitchFamily="34" charset="-122"/>
                <a:ea typeface="微软雅黑" panose="020B0503020204020204" pitchFamily="34" charset="-122"/>
              </a:rPr>
              <a:t>①</a:t>
            </a:r>
            <a:r>
              <a:rPr lang="zh-CN" altLang="en-US" sz="2400" dirty="0">
                <a:latin typeface="微软雅黑" panose="020B0503020204020204" pitchFamily="34" charset="-122"/>
                <a:ea typeface="微软雅黑" panose="020B0503020204020204" pitchFamily="34" charset="-122"/>
              </a:rPr>
              <a:t>直动式溢流阀</a:t>
            </a:r>
            <a:endParaRPr lang="zh-CN" altLang="en-US" sz="2400" b="1"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59E805C7-842A-1F8B-750A-85992CAD4EAA}"/>
              </a:ext>
            </a:extLst>
          </p:cNvPr>
          <p:cNvPicPr>
            <a:picLocks noChangeAspect="1"/>
          </p:cNvPicPr>
          <p:nvPr/>
        </p:nvPicPr>
        <p:blipFill>
          <a:blip r:embed="rId4"/>
          <a:srcRect t="8039" r="48984"/>
          <a:stretch/>
        </p:blipFill>
        <p:spPr>
          <a:xfrm>
            <a:off x="2680798" y="2262566"/>
            <a:ext cx="2996821" cy="3328924"/>
          </a:xfrm>
          <a:prstGeom prst="rect">
            <a:avLst/>
          </a:prstGeom>
        </p:spPr>
      </p:pic>
      <p:sp>
        <p:nvSpPr>
          <p:cNvPr id="3" name="矩形 2">
            <a:extLst>
              <a:ext uri="{FF2B5EF4-FFF2-40B4-BE49-F238E27FC236}">
                <a16:creationId xmlns:a16="http://schemas.microsoft.com/office/drawing/2014/main" id="{869D42A5-97A9-C5D3-88ED-2F01A8FA0553}"/>
              </a:ext>
            </a:extLst>
          </p:cNvPr>
          <p:cNvSpPr/>
          <p:nvPr/>
        </p:nvSpPr>
        <p:spPr>
          <a:xfrm>
            <a:off x="769325" y="3420232"/>
            <a:ext cx="2086634" cy="1600438"/>
          </a:xfrm>
          <a:prstGeom prst="rect">
            <a:avLst/>
          </a:prstGeom>
        </p:spPr>
        <p:txBody>
          <a:bodyPr wrap="square">
            <a:spAutoFit/>
          </a:bodyPr>
          <a:lstStyle/>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阻尼孔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阀体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阀心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阀盖</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调压螺钉</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弹簧座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弹簧</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5F7EDFBD-92A8-33E8-3658-92FA29764237}"/>
              </a:ext>
            </a:extLst>
          </p:cNvPr>
          <p:cNvSpPr/>
          <p:nvPr/>
        </p:nvSpPr>
        <p:spPr>
          <a:xfrm>
            <a:off x="2219624" y="5267949"/>
            <a:ext cx="3039615" cy="307777"/>
          </a:xfrm>
          <a:prstGeom prst="rect">
            <a:avLst/>
          </a:prstGeom>
        </p:spPr>
        <p:txBody>
          <a:bodyPr wrap="none">
            <a:spAutoFit/>
          </a:bodyPr>
          <a:lstStyle/>
          <a:p>
            <a:pPr indent="431800"/>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 </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直动式溢流阀的工作原理</a:t>
            </a:r>
          </a:p>
        </p:txBody>
      </p:sp>
      <p:sp>
        <p:nvSpPr>
          <p:cNvPr id="11" name="文本框 10">
            <a:extLst>
              <a:ext uri="{FF2B5EF4-FFF2-40B4-BE49-F238E27FC236}">
                <a16:creationId xmlns:a16="http://schemas.microsoft.com/office/drawing/2014/main" id="{4F533187-0E66-F109-A5CB-51D9D3DD5728}"/>
              </a:ext>
            </a:extLst>
          </p:cNvPr>
          <p:cNvSpPr txBox="1">
            <a:spLocks noChangeArrowheads="1"/>
          </p:cNvSpPr>
          <p:nvPr/>
        </p:nvSpPr>
        <p:spPr bwMode="auto">
          <a:xfrm>
            <a:off x="309373" y="1125246"/>
            <a:ext cx="36096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工作原理和结构</a:t>
            </a:r>
          </a:p>
        </p:txBody>
      </p:sp>
      <p:sp>
        <p:nvSpPr>
          <p:cNvPr id="13" name="文本框 12">
            <a:extLst>
              <a:ext uri="{FF2B5EF4-FFF2-40B4-BE49-F238E27FC236}">
                <a16:creationId xmlns:a16="http://schemas.microsoft.com/office/drawing/2014/main" id="{0B130143-0A1B-39F5-07ED-99E1327672CE}"/>
              </a:ext>
            </a:extLst>
          </p:cNvPr>
          <p:cNvSpPr txBox="1"/>
          <p:nvPr/>
        </p:nvSpPr>
        <p:spPr>
          <a:xfrm>
            <a:off x="6095999" y="1105539"/>
            <a:ext cx="5326676" cy="5577937"/>
          </a:xfrm>
          <a:prstGeom prst="rect">
            <a:avLst/>
          </a:prstGeom>
          <a:noFill/>
        </p:spPr>
        <p:txBody>
          <a:bodyPr wrap="square">
            <a:spAutoFit/>
          </a:bodyPr>
          <a:lstStyle/>
          <a:p>
            <a:pPr indent="431800" algn="just">
              <a:lnSpc>
                <a:spcPct val="150000"/>
              </a:lnSpc>
            </a:pPr>
            <a:r>
              <a:rPr lang="zh-CN" altLang="en-US" sz="2000" dirty="0">
                <a:latin typeface="微软雅黑" panose="020B0503020204020204" pitchFamily="34" charset="-122"/>
                <a:ea typeface="微软雅黑" panose="020B0503020204020204" pitchFamily="34" charset="-122"/>
              </a:rPr>
              <a:t>左图所示为直动式滑阀型溢流阀的工作原理。当作用在阀心</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上的液压力大于弹簧力时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阀口打开</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使油液溢流。通过溢流阀的流量变化时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阀心位置也要变化</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但因阀心移动量极小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作用在阀心上的弹簧力变化甚小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因此可以认为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只要阀口打开</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有油液流经溢流阀</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溢流阀入口处的压力基本上就是恒定的。</a:t>
            </a:r>
            <a:r>
              <a:rPr lang="zh-CN" altLang="en-US" sz="2000" b="1" dirty="0">
                <a:solidFill>
                  <a:schemeClr val="accent1"/>
                </a:solidFill>
                <a:latin typeface="微软雅黑" panose="020B0503020204020204" pitchFamily="34" charset="-122"/>
                <a:ea typeface="微软雅黑" panose="020B0503020204020204" pitchFamily="34" charset="-122"/>
              </a:rPr>
              <a:t>调节弹簧</a:t>
            </a:r>
            <a:r>
              <a:rPr lang="en-US" altLang="zh-CN" sz="2000" b="1" dirty="0">
                <a:solidFill>
                  <a:schemeClr val="accent1"/>
                </a:solidFill>
                <a:latin typeface="微软雅黑" panose="020B0503020204020204" pitchFamily="34" charset="-122"/>
                <a:ea typeface="微软雅黑" panose="020B0503020204020204" pitchFamily="34" charset="-122"/>
              </a:rPr>
              <a:t>7</a:t>
            </a:r>
            <a:r>
              <a:rPr lang="zh-CN" altLang="en-US" sz="2000" b="1" dirty="0">
                <a:solidFill>
                  <a:schemeClr val="accent1"/>
                </a:solidFill>
                <a:latin typeface="微软雅黑" panose="020B0503020204020204" pitchFamily="34" charset="-122"/>
                <a:ea typeface="微软雅黑" panose="020B0503020204020204" pitchFamily="34" charset="-122"/>
              </a:rPr>
              <a:t>的预紧力</a:t>
            </a:r>
            <a:r>
              <a:rPr lang="en-US" altLang="zh-CN" sz="2000" b="1" dirty="0">
                <a:solidFill>
                  <a:schemeClr val="accent1"/>
                </a:solidFill>
                <a:latin typeface="微软雅黑" panose="020B0503020204020204" pitchFamily="34" charset="-122"/>
                <a:ea typeface="微软雅黑" panose="020B0503020204020204" pitchFamily="34" charset="-122"/>
              </a:rPr>
              <a:t>,</a:t>
            </a:r>
            <a:r>
              <a:rPr lang="zh-CN" altLang="en-US" sz="2000" b="1" dirty="0">
                <a:solidFill>
                  <a:schemeClr val="accent1"/>
                </a:solidFill>
                <a:latin typeface="微软雅黑" panose="020B0503020204020204" pitchFamily="34" charset="-122"/>
                <a:ea typeface="微软雅黑" panose="020B0503020204020204" pitchFamily="34" charset="-122"/>
              </a:rPr>
              <a:t>便可调整溢流压力。改变弹簧的刚度</a:t>
            </a:r>
            <a:r>
              <a:rPr lang="en-US" altLang="zh-CN" sz="2000" b="1" dirty="0">
                <a:solidFill>
                  <a:schemeClr val="accent1"/>
                </a:solidFill>
                <a:latin typeface="微软雅黑" panose="020B0503020204020204" pitchFamily="34" charset="-122"/>
                <a:ea typeface="微软雅黑" panose="020B0503020204020204" pitchFamily="34" charset="-122"/>
              </a:rPr>
              <a:t>,</a:t>
            </a:r>
            <a:r>
              <a:rPr lang="zh-CN" altLang="en-US" sz="2000" b="1" dirty="0">
                <a:solidFill>
                  <a:schemeClr val="accent1"/>
                </a:solidFill>
                <a:latin typeface="微软雅黑" panose="020B0503020204020204" pitchFamily="34" charset="-122"/>
                <a:ea typeface="微软雅黑" panose="020B0503020204020204" pitchFamily="34" charset="-122"/>
              </a:rPr>
              <a:t>便可改变调压范围。</a:t>
            </a:r>
          </a:p>
          <a:p>
            <a:pPr indent="431800" algn="just">
              <a:lnSpc>
                <a:spcPct val="150000"/>
              </a:lnSpc>
            </a:pPr>
            <a:r>
              <a:rPr lang="zh-CN" altLang="en-US" sz="2000" dirty="0">
                <a:latin typeface="微软雅黑" panose="020B0503020204020204" pitchFamily="34" charset="-122"/>
                <a:ea typeface="微软雅黑" panose="020B0503020204020204" pitchFamily="34" charset="-122"/>
              </a:rPr>
              <a:t>这种直动式滑阀型溢流阀结构简单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灵敏度高</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但压力受溢流流量的影响较大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不适于在高压、大流量下工作。</a:t>
            </a:r>
          </a:p>
        </p:txBody>
      </p:sp>
      <p:pic>
        <p:nvPicPr>
          <p:cNvPr id="9218" name="Picture 2" descr="https://gimg2.baidu.com/image_search/src=http%3A%2F%2Fimage109.360doc.com%2FDownloadImg%2F2018%2F08%2F1419%2F141341817_2_20180814072044253.gif&amp;refer=http%3A%2F%2Fimage109.360doc.com&amp;app=2002&amp;size=f9999,10000&amp;q=a80&amp;n=0&amp;g=0n&amp;fmt=auto?sec=1735296682&amp;t=e3cd88a9bc2b2e8ab37594a4f8bac17e">
            <a:extLst>
              <a:ext uri="{FF2B5EF4-FFF2-40B4-BE49-F238E27FC236}">
                <a16:creationId xmlns:a16="http://schemas.microsoft.com/office/drawing/2014/main" id="{1673F2EE-E458-425A-9147-F97771F2C4F2}"/>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79316" y="2281912"/>
            <a:ext cx="5219700"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71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arn(inVertical)">
                                      <p:cBhvr>
                                        <p:cTn id="7"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E20F4AD-D00D-CA0F-A07C-9098007DC042}"/>
              </a:ext>
            </a:extLst>
          </p:cNvPr>
          <p:cNvSpPr/>
          <p:nvPr/>
        </p:nvSpPr>
        <p:spPr>
          <a:xfrm>
            <a:off x="1185706" y="2026217"/>
            <a:ext cx="5727561" cy="1884618"/>
          </a:xfrm>
          <a:prstGeom prst="rect">
            <a:avLst/>
          </a:prstGeom>
        </p:spPr>
        <p:txBody>
          <a:bodyPr wrap="square">
            <a:spAutoFit/>
          </a:bodyPr>
          <a:lstStyle/>
          <a:p>
            <a:pPr indent="431800">
              <a:lnSpc>
                <a:spcPct val="150000"/>
              </a:lnSpc>
            </a:pPr>
            <a:r>
              <a:rPr lang="zh-CN" altLang="en-US" sz="2000" dirty="0">
                <a:latin typeface="微软雅黑" panose="020B0503020204020204" pitchFamily="34" charset="-122"/>
                <a:ea typeface="微软雅黑" panose="020B0503020204020204" pitchFamily="34" charset="-122"/>
              </a:rPr>
              <a:t>右图所示为</a:t>
            </a:r>
            <a:r>
              <a:rPr lang="en-US" altLang="zh-CN" sz="2000" dirty="0">
                <a:latin typeface="微软雅黑" panose="020B0503020204020204" pitchFamily="34" charset="-122"/>
                <a:ea typeface="微软雅黑" panose="020B0503020204020204" pitchFamily="34" charset="-122"/>
              </a:rPr>
              <a:t>DBD</a:t>
            </a:r>
            <a:r>
              <a:rPr lang="zh-CN" altLang="en-US" sz="2000" dirty="0">
                <a:latin typeface="微软雅黑" panose="020B0503020204020204" pitchFamily="34" charset="-122"/>
                <a:ea typeface="微软雅黑" panose="020B0503020204020204" pitchFamily="34" charset="-122"/>
              </a:rPr>
              <a:t>型直动式锥阀型溢流阀的结构。图中锥阀</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下部为阻尼活塞。采取适当措施后</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直动式溢流阀也可用于高压大流量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如该阀的压力为</a:t>
            </a:r>
            <a:r>
              <a:rPr lang="en-US" altLang="zh-CN" sz="2000" dirty="0">
                <a:latin typeface="微软雅黑" panose="020B0503020204020204" pitchFamily="34" charset="-122"/>
                <a:ea typeface="微软雅黑" panose="020B0503020204020204" pitchFamily="34" charset="-122"/>
              </a:rPr>
              <a:t>31.5MPa,</a:t>
            </a:r>
            <a:r>
              <a:rPr lang="zh-CN" altLang="en-US" sz="2000" dirty="0">
                <a:latin typeface="微软雅黑" panose="020B0503020204020204" pitchFamily="34" charset="-122"/>
                <a:ea typeface="微软雅黑" panose="020B0503020204020204" pitchFamily="34" charset="-122"/>
              </a:rPr>
              <a:t>最大流量可达</a:t>
            </a:r>
            <a:r>
              <a:rPr lang="en-US" altLang="zh-CN" sz="2000" dirty="0">
                <a:latin typeface="微软雅黑" panose="020B0503020204020204" pitchFamily="34" charset="-122"/>
                <a:ea typeface="微软雅黑" panose="020B0503020204020204" pitchFamily="34" charset="-122"/>
              </a:rPr>
              <a:t>330L/min</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F42501F7-BADC-00B2-825C-8D348AB82F2B}"/>
              </a:ext>
            </a:extLst>
          </p:cNvPr>
          <p:cNvSpPr/>
          <p:nvPr/>
        </p:nvSpPr>
        <p:spPr>
          <a:xfrm>
            <a:off x="559786" y="1257941"/>
            <a:ext cx="7547154" cy="511807"/>
          </a:xfrm>
          <a:prstGeom prst="rect">
            <a:avLst/>
          </a:prstGeom>
        </p:spPr>
        <p:txBody>
          <a:bodyPr wrap="square">
            <a:spAutoFit/>
          </a:bodyPr>
          <a:lstStyle/>
          <a:p>
            <a:pPr>
              <a:lnSpc>
                <a:spcPct val="125000"/>
              </a:lnSpc>
            </a:pPr>
            <a:r>
              <a:rPr lang="zh-CN" altLang="en-US" sz="2400" b="1" dirty="0">
                <a:latin typeface="微软雅黑" panose="020B0503020204020204" pitchFamily="34" charset="-122"/>
                <a:ea typeface="微软雅黑" panose="020B0503020204020204" pitchFamily="34" charset="-122"/>
              </a:rPr>
              <a:t>①</a:t>
            </a:r>
            <a:r>
              <a:rPr lang="zh-CN" altLang="en-US" sz="2400" dirty="0">
                <a:latin typeface="微软雅黑" panose="020B0503020204020204" pitchFamily="34" charset="-122"/>
                <a:ea typeface="微软雅黑" panose="020B0503020204020204" pitchFamily="34" charset="-122"/>
              </a:rPr>
              <a:t>直动式溢流阀</a:t>
            </a:r>
            <a:endParaRPr lang="zh-CN" altLang="en-US" sz="2400" b="1" dirty="0">
              <a:latin typeface="微软雅黑" panose="020B0503020204020204" pitchFamily="34" charset="-122"/>
              <a:ea typeface="微软雅黑" panose="020B0503020204020204" pitchFamily="34" charset="-122"/>
            </a:endParaRPr>
          </a:p>
        </p:txBody>
      </p:sp>
      <p:sp>
        <p:nvSpPr>
          <p:cNvPr id="4" name="Content Placeholder 2">
            <a:extLst>
              <a:ext uri="{FF2B5EF4-FFF2-40B4-BE49-F238E27FC236}">
                <a16:creationId xmlns:a16="http://schemas.microsoft.com/office/drawing/2014/main" id="{4FEB26F2-9123-D106-85E0-E9FD99AB27A2}"/>
              </a:ext>
            </a:extLst>
          </p:cNvPr>
          <p:cNvSpPr txBox="1"/>
          <p:nvPr/>
        </p:nvSpPr>
        <p:spPr bwMode="auto">
          <a:xfrm>
            <a:off x="1185706" y="5316405"/>
            <a:ext cx="9039056" cy="880873"/>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a:lnSpc>
                <a:spcPct val="150000"/>
              </a:lnSpc>
              <a:buFont typeface="Wingdings" panose="05000000000000000000" pitchFamily="2" charset="2"/>
              <a:buChar char="Ø"/>
            </a:pPr>
            <a:r>
              <a:rPr lang="zh-CN" altLang="en-US" sz="2000" kern="0" dirty="0">
                <a:latin typeface="微软雅黑" panose="020B0503020204020204" pitchFamily="34" charset="-122"/>
                <a:ea typeface="微软雅黑" panose="020B0503020204020204" pitchFamily="34" charset="-122"/>
              </a:rPr>
              <a:t>只要阀口打开，有油液流经溢流阀，溢流阀</a:t>
            </a:r>
            <a:r>
              <a:rPr lang="zh-CN" altLang="en-US" sz="2000" kern="0" dirty="0">
                <a:solidFill>
                  <a:srgbClr val="FF0000"/>
                </a:solidFill>
                <a:latin typeface="微软雅黑" panose="020B0503020204020204" pitchFamily="34" charset="-122"/>
                <a:ea typeface="微软雅黑" panose="020B0503020204020204" pitchFamily="34" charset="-122"/>
              </a:rPr>
              <a:t>入口</a:t>
            </a:r>
            <a:r>
              <a:rPr lang="zh-CN" altLang="en-US" sz="2000" kern="0" dirty="0">
                <a:latin typeface="微软雅黑" panose="020B0503020204020204" pitchFamily="34" charset="-122"/>
                <a:ea typeface="微软雅黑" panose="020B0503020204020204" pitchFamily="34" charset="-122"/>
              </a:rPr>
              <a:t>处的压力</a:t>
            </a:r>
            <a:r>
              <a:rPr lang="zh-CN" altLang="en-US" sz="2000" b="1" kern="0" dirty="0">
                <a:solidFill>
                  <a:schemeClr val="accent1"/>
                </a:solidFill>
                <a:latin typeface="微软雅黑" panose="020B0503020204020204" pitchFamily="34" charset="-122"/>
                <a:ea typeface="微软雅黑" panose="020B0503020204020204" pitchFamily="34" charset="-122"/>
              </a:rPr>
              <a:t>基本</a:t>
            </a:r>
            <a:r>
              <a:rPr lang="zh-CN" altLang="en-US" sz="2000" kern="0" dirty="0">
                <a:latin typeface="微软雅黑" panose="020B0503020204020204" pitchFamily="34" charset="-122"/>
                <a:ea typeface="微软雅黑" panose="020B0503020204020204" pitchFamily="34" charset="-122"/>
              </a:rPr>
              <a:t>恒定</a:t>
            </a:r>
            <a:endParaRPr lang="en-US" altLang="zh-CN" sz="2000" kern="0" dirty="0">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Ø"/>
            </a:pPr>
            <a:r>
              <a:rPr lang="zh-CN" altLang="en-US" sz="2000" kern="0" dirty="0">
                <a:latin typeface="微软雅黑" panose="020B0503020204020204" pitchFamily="34" charset="-122"/>
                <a:ea typeface="微软雅黑" panose="020B0503020204020204" pitchFamily="34" charset="-122"/>
              </a:rPr>
              <a:t>调节弹簧预紧力，可调整</a:t>
            </a:r>
            <a:r>
              <a:rPr lang="zh-CN" altLang="en-US" sz="2000" kern="0" dirty="0">
                <a:solidFill>
                  <a:srgbClr val="FF0000"/>
                </a:solidFill>
                <a:latin typeface="微软雅黑" panose="020B0503020204020204" pitchFamily="34" charset="-122"/>
                <a:ea typeface="微软雅黑" panose="020B0503020204020204" pitchFamily="34" charset="-122"/>
              </a:rPr>
              <a:t>溢流压力</a:t>
            </a:r>
            <a:r>
              <a:rPr lang="zh-CN" altLang="en-US" sz="2000" kern="0" dirty="0">
                <a:latin typeface="微软雅黑" panose="020B0503020204020204" pitchFamily="34" charset="-122"/>
                <a:ea typeface="微软雅黑" panose="020B0503020204020204" pitchFamily="34" charset="-122"/>
              </a:rPr>
              <a:t>；改变弹簧刚度，可改变</a:t>
            </a:r>
            <a:r>
              <a:rPr lang="zh-CN" altLang="en-US" sz="2000" kern="0" dirty="0">
                <a:solidFill>
                  <a:srgbClr val="FF0000"/>
                </a:solidFill>
                <a:latin typeface="微软雅黑" panose="020B0503020204020204" pitchFamily="34" charset="-122"/>
                <a:ea typeface="微软雅黑" panose="020B0503020204020204" pitchFamily="34" charset="-122"/>
              </a:rPr>
              <a:t>调压范围</a:t>
            </a:r>
            <a:endParaRPr lang="en-US" altLang="zh-CN" sz="2000" kern="0" dirty="0">
              <a:solidFill>
                <a:srgbClr val="FF0000"/>
              </a:solidFill>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Ø"/>
            </a:pPr>
            <a:endParaRPr lang="en-US" altLang="zh-CN" sz="2000" kern="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2CBB519E-BCED-5AAD-D8FF-8E86102532C2}"/>
              </a:ext>
            </a:extLst>
          </p:cNvPr>
          <p:cNvPicPr>
            <a:picLocks noChangeAspect="1"/>
          </p:cNvPicPr>
          <p:nvPr/>
        </p:nvPicPr>
        <p:blipFill>
          <a:blip r:embed="rId4"/>
          <a:srcRect l="53303"/>
          <a:stretch/>
        </p:blipFill>
        <p:spPr>
          <a:xfrm>
            <a:off x="6735381" y="1257941"/>
            <a:ext cx="2743117" cy="3619927"/>
          </a:xfrm>
          <a:prstGeom prst="rect">
            <a:avLst/>
          </a:prstGeom>
        </p:spPr>
      </p:pic>
      <p:sp>
        <p:nvSpPr>
          <p:cNvPr id="11" name="矩形 10">
            <a:extLst>
              <a:ext uri="{FF2B5EF4-FFF2-40B4-BE49-F238E27FC236}">
                <a16:creationId xmlns:a16="http://schemas.microsoft.com/office/drawing/2014/main" id="{DE120863-CA9C-D7FB-7A1E-E461E4A7BA76}"/>
              </a:ext>
            </a:extLst>
          </p:cNvPr>
          <p:cNvSpPr/>
          <p:nvPr/>
        </p:nvSpPr>
        <p:spPr>
          <a:xfrm>
            <a:off x="8967815" y="2781856"/>
            <a:ext cx="1699492" cy="1600438"/>
          </a:xfrm>
          <a:prstGeom prst="rect">
            <a:avLst/>
          </a:prstGeom>
        </p:spPr>
        <p:txBody>
          <a:bodyPr wrap="square">
            <a:spAutoFit/>
          </a:bodyPr>
          <a:lstStyle/>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阀座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调节杆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弹簧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套管</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阀体 </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锥阀</a:t>
            </a:r>
            <a:endPar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431800"/>
            <a:endParaRPr lang="zh-CN" altLang="en-US" sz="14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F66F08CD-2D04-309E-0DEF-F7C3CC714D45}"/>
              </a:ext>
            </a:extLst>
          </p:cNvPr>
          <p:cNvSpPr/>
          <p:nvPr/>
        </p:nvSpPr>
        <p:spPr>
          <a:xfrm>
            <a:off x="6606034" y="4899719"/>
            <a:ext cx="3211527" cy="307777"/>
          </a:xfrm>
          <a:prstGeom prst="rect">
            <a:avLst/>
          </a:prstGeom>
        </p:spPr>
        <p:txBody>
          <a:bodyPr wrap="square">
            <a:spAutoFit/>
          </a:bodyPr>
          <a:lstStyle/>
          <a:p>
            <a:pPr indent="431800" algn="ct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21 DBD</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型直动式溢流阀</a:t>
            </a:r>
          </a:p>
        </p:txBody>
      </p:sp>
    </p:spTree>
    <p:extLst>
      <p:ext uri="{BB962C8B-B14F-4D97-AF65-F5344CB8AC3E}">
        <p14:creationId xmlns:p14="http://schemas.microsoft.com/office/powerpoint/2010/main" val="2980097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 name="矩形 25"/>
          <p:cNvSpPr/>
          <p:nvPr/>
        </p:nvSpPr>
        <p:spPr>
          <a:xfrm>
            <a:off x="540867" y="1187297"/>
            <a:ext cx="7547154" cy="511807"/>
          </a:xfrm>
          <a:prstGeom prst="rect">
            <a:avLst/>
          </a:prstGeom>
        </p:spPr>
        <p:txBody>
          <a:bodyPr wrap="square">
            <a:spAutoFit/>
          </a:bodyPr>
          <a:lstStyle/>
          <a:p>
            <a:pPr>
              <a:lnSpc>
                <a:spcPct val="125000"/>
              </a:lnSpc>
            </a:pPr>
            <a:r>
              <a:rPr lang="zh-CN" altLang="en-US" sz="2400" b="1" dirty="0">
                <a:latin typeface="微软雅黑" panose="020B0503020204020204" pitchFamily="34" charset="-122"/>
                <a:ea typeface="微软雅黑" panose="020B0503020204020204" pitchFamily="34" charset="-122"/>
              </a:rPr>
              <a:t>②</a:t>
            </a:r>
            <a:r>
              <a:rPr lang="zh-CN" altLang="en-US" sz="2400" dirty="0">
                <a:latin typeface="微软雅黑" panose="020B0503020204020204" pitchFamily="34" charset="-122"/>
                <a:ea typeface="微软雅黑" panose="020B0503020204020204" pitchFamily="34" charset="-122"/>
              </a:rPr>
              <a:t>先导式溢流阀</a:t>
            </a:r>
            <a:endParaRPr lang="zh-CN" altLang="en-US" sz="2400" b="1"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6525B9C7-0D30-1322-4D5D-7A71706FE3ED}"/>
              </a:ext>
            </a:extLst>
          </p:cNvPr>
          <p:cNvPicPr>
            <a:picLocks noChangeAspect="1"/>
          </p:cNvPicPr>
          <p:nvPr/>
        </p:nvPicPr>
        <p:blipFill>
          <a:blip r:embed="rId4"/>
          <a:srcRect b="23820"/>
          <a:stretch/>
        </p:blipFill>
        <p:spPr>
          <a:xfrm>
            <a:off x="1423846" y="1852212"/>
            <a:ext cx="5004043" cy="2666889"/>
          </a:xfrm>
          <a:prstGeom prst="rect">
            <a:avLst/>
          </a:prstGeom>
        </p:spPr>
      </p:pic>
      <p:pic>
        <p:nvPicPr>
          <p:cNvPr id="3" name="图片 2">
            <a:extLst>
              <a:ext uri="{FF2B5EF4-FFF2-40B4-BE49-F238E27FC236}">
                <a16:creationId xmlns:a16="http://schemas.microsoft.com/office/drawing/2014/main" id="{A159E867-8C80-FFA8-F296-F87864CD0FCA}"/>
              </a:ext>
            </a:extLst>
          </p:cNvPr>
          <p:cNvPicPr>
            <a:picLocks noChangeAspect="1"/>
          </p:cNvPicPr>
          <p:nvPr/>
        </p:nvPicPr>
        <p:blipFill>
          <a:blip r:embed="rId5"/>
          <a:srcRect b="19764"/>
          <a:stretch/>
        </p:blipFill>
        <p:spPr>
          <a:xfrm>
            <a:off x="6890588" y="1405204"/>
            <a:ext cx="4067944" cy="3113894"/>
          </a:xfrm>
          <a:prstGeom prst="rect">
            <a:avLst/>
          </a:prstGeom>
        </p:spPr>
      </p:pic>
      <p:sp>
        <p:nvSpPr>
          <p:cNvPr id="4" name="Content Placeholder 2">
            <a:extLst>
              <a:ext uri="{FF2B5EF4-FFF2-40B4-BE49-F238E27FC236}">
                <a16:creationId xmlns:a16="http://schemas.microsoft.com/office/drawing/2014/main" id="{1285A2BE-4210-0035-804A-444FD9A69D77}"/>
              </a:ext>
            </a:extLst>
          </p:cNvPr>
          <p:cNvSpPr txBox="1">
            <a:spLocks/>
          </p:cNvSpPr>
          <p:nvPr/>
        </p:nvSpPr>
        <p:spPr>
          <a:xfrm>
            <a:off x="1184208" y="5498609"/>
            <a:ext cx="8765485" cy="1224136"/>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由</a:t>
            </a:r>
            <a:r>
              <a:rPr lang="zh-CN" altLang="en-US" sz="2000" dirty="0">
                <a:solidFill>
                  <a:srgbClr val="FF0000"/>
                </a:solidFill>
                <a:latin typeface="微软雅黑" panose="020B0503020204020204" pitchFamily="34" charset="-122"/>
                <a:ea typeface="微软雅黑" panose="020B0503020204020204" pitchFamily="34" charset="-122"/>
              </a:rPr>
              <a:t>先导阀</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rPr>
              <a:t>主阀</a:t>
            </a:r>
            <a:r>
              <a:rPr lang="zh-CN" altLang="en-US" sz="2000" dirty="0">
                <a:latin typeface="微软雅黑" panose="020B0503020204020204" pitchFamily="34" charset="-122"/>
                <a:ea typeface="微软雅黑" panose="020B0503020204020204" pitchFamily="34" charset="-122"/>
              </a:rPr>
              <a:t>组成，阀体上有一个</a:t>
            </a:r>
            <a:r>
              <a:rPr lang="zh-CN" altLang="en-US" sz="2000" dirty="0">
                <a:solidFill>
                  <a:srgbClr val="FF0000"/>
                </a:solidFill>
                <a:latin typeface="微软雅黑" panose="020B0503020204020204" pitchFamily="34" charset="-122"/>
                <a:ea typeface="微软雅黑" panose="020B0503020204020204" pitchFamily="34" charset="-122"/>
              </a:rPr>
              <a:t>远程控制口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先导阀部分结构尺寸一般较小，压力调整比较轻便</a:t>
            </a:r>
            <a:endParaRPr lang="en-US" altLang="zh-CN" sz="2000" dirty="0">
              <a:latin typeface="微软雅黑" panose="020B0503020204020204" pitchFamily="34" charset="-122"/>
              <a:ea typeface="微软雅黑" panose="020B0503020204020204" pitchFamily="34" charset="-122"/>
            </a:endParaRPr>
          </a:p>
          <a:p>
            <a:pPr algn="jus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要求先导阀和主阀都动作后才能起控制作用，</a:t>
            </a:r>
            <a:r>
              <a:rPr lang="zh-CN" altLang="en-US" sz="2000" dirty="0">
                <a:solidFill>
                  <a:schemeClr val="accent1"/>
                </a:solidFill>
                <a:latin typeface="微软雅黑" panose="020B0503020204020204" pitchFamily="34" charset="-122"/>
                <a:ea typeface="微软雅黑" panose="020B0503020204020204" pitchFamily="34" charset="-122"/>
              </a:rPr>
              <a:t>反应不如直动式溢流阀灵敏</a:t>
            </a:r>
          </a:p>
          <a:p>
            <a:pPr algn="just">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85667E2-5268-A9A2-427E-74329AC71F43}"/>
              </a:ext>
            </a:extLst>
          </p:cNvPr>
          <p:cNvSpPr txBox="1"/>
          <p:nvPr/>
        </p:nvSpPr>
        <p:spPr>
          <a:xfrm>
            <a:off x="1233468" y="4519098"/>
            <a:ext cx="5066295" cy="841256"/>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22 </a:t>
            </a:r>
            <a:r>
              <a:rPr lang="zh-CN" altLang="en-US" sz="1400" dirty="0">
                <a:latin typeface="微软雅黑" panose="020B0503020204020204" pitchFamily="34" charset="-122"/>
                <a:ea typeface="微软雅黑" panose="020B0503020204020204" pitchFamily="34" charset="-122"/>
              </a:rPr>
              <a:t>先导式溢流阀的工作原理</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原理图 </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图形符号</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主阀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主阀弹簧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先导阀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调压弹簧 </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阻尼孔</a:t>
            </a:r>
          </a:p>
        </p:txBody>
      </p:sp>
      <p:sp>
        <p:nvSpPr>
          <p:cNvPr id="7" name="文本框 6">
            <a:extLst>
              <a:ext uri="{FF2B5EF4-FFF2-40B4-BE49-F238E27FC236}">
                <a16:creationId xmlns:a16="http://schemas.microsoft.com/office/drawing/2014/main" id="{F1EFD767-DE72-EF0D-8AB6-9B0664EDF19E}"/>
              </a:ext>
            </a:extLst>
          </p:cNvPr>
          <p:cNvSpPr txBox="1"/>
          <p:nvPr/>
        </p:nvSpPr>
        <p:spPr>
          <a:xfrm>
            <a:off x="6666972" y="4519098"/>
            <a:ext cx="4220539" cy="789960"/>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23 </a:t>
            </a:r>
            <a:r>
              <a:rPr lang="zh-CN" altLang="en-US" sz="1400" dirty="0">
                <a:latin typeface="微软雅黑" panose="020B0503020204020204" pitchFamily="34" charset="-122"/>
                <a:ea typeface="微软雅黑" panose="020B0503020204020204" pitchFamily="34" charset="-122"/>
              </a:rPr>
              <a:t>二节同心式先导式溢流阀</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主阀芯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8-</a:t>
            </a:r>
            <a:r>
              <a:rPr lang="zh-CN" altLang="en-US" sz="1400" dirty="0">
                <a:latin typeface="微软雅黑" panose="020B0503020204020204" pitchFamily="34" charset="-122"/>
                <a:ea typeface="微软雅黑" panose="020B0503020204020204" pitchFamily="34" charset="-122"/>
              </a:rPr>
              <a:t>阻尼孔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主阀弹簧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先导阀芯 </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先导阀弹簧 </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调压手轮 </a:t>
            </a:r>
            <a:r>
              <a:rPr lang="en-US" altLang="zh-CN" sz="1400" dirty="0">
                <a:latin typeface="微软雅黑" panose="020B0503020204020204" pitchFamily="34" charset="-122"/>
                <a:ea typeface="微软雅黑" panose="020B0503020204020204" pitchFamily="34" charset="-122"/>
              </a:rPr>
              <a:t>7-</a:t>
            </a:r>
            <a:r>
              <a:rPr lang="zh-CN" altLang="en-US" sz="1400" dirty="0">
                <a:latin typeface="微软雅黑" panose="020B0503020204020204" pitchFamily="34" charset="-122"/>
                <a:ea typeface="微软雅黑" panose="020B0503020204020204" pitchFamily="34" charset="-122"/>
              </a:rPr>
              <a:t>螺堵</a:t>
            </a:r>
          </a:p>
        </p:txBody>
      </p:sp>
    </p:spTree>
    <p:extLst>
      <p:ext uri="{BB962C8B-B14F-4D97-AF65-F5344CB8AC3E}">
        <p14:creationId xmlns:p14="http://schemas.microsoft.com/office/powerpoint/2010/main" val="93015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4AF57550-9D96-41A7-52F1-3C3EC269CD44}"/>
              </a:ext>
            </a:extLst>
          </p:cNvPr>
          <p:cNvSpPr/>
          <p:nvPr/>
        </p:nvSpPr>
        <p:spPr>
          <a:xfrm>
            <a:off x="5848062" y="1165470"/>
            <a:ext cx="5299688" cy="5577937"/>
          </a:xfrm>
          <a:prstGeom prst="rect">
            <a:avLst/>
          </a:prstGeom>
        </p:spPr>
        <p:txBody>
          <a:bodyPr wrap="square">
            <a:spAutoFit/>
          </a:bodyPr>
          <a:lstStyle/>
          <a:p>
            <a:pPr indent="431800" algn="just">
              <a:lnSpc>
                <a:spcPct val="150000"/>
              </a:lnSpc>
            </a:pPr>
            <a:r>
              <a:rPr lang="zh-CN" altLang="en-US" sz="2000" dirty="0">
                <a:latin typeface="微软雅黑" panose="020B0503020204020204" pitchFamily="34" charset="-122"/>
                <a:ea typeface="微软雅黑" panose="020B0503020204020204" pitchFamily="34" charset="-122"/>
              </a:rPr>
              <a:t>左图所示为先导控制式溢流阀的工作原理。它由先导阀和主阀组成</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主阀左腔设有远程控制口</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。当</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口关闭时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系统的压力作用于主阀</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左右两侧及先导阀</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上。当先导阀</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未打开时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腔中</a:t>
            </a:r>
            <a:r>
              <a:rPr lang="zh-CN" altLang="en-US" sz="2000" b="1" dirty="0">
                <a:solidFill>
                  <a:schemeClr val="accent1"/>
                </a:solidFill>
                <a:latin typeface="微软雅黑" panose="020B0503020204020204" pitchFamily="34" charset="-122"/>
                <a:ea typeface="微软雅黑" panose="020B0503020204020204" pitchFamily="34" charset="-122"/>
              </a:rPr>
              <a:t>液体没有流动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作用在主阀</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左右两侧的液压力平衡</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主阀</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被弹簧</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压在右端位置</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阀口关闭。当系统压力增大到使先导阀</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打开时</a:t>
            </a:r>
            <a:r>
              <a:rPr lang="en-US" altLang="zh-CN" sz="2000" dirty="0">
                <a:latin typeface="微软雅黑" panose="020B0503020204020204" pitchFamily="34" charset="-122"/>
                <a:ea typeface="微软雅黑" panose="020B0503020204020204" pitchFamily="34" charset="-122"/>
              </a:rPr>
              <a:t>,</a:t>
            </a:r>
            <a:r>
              <a:rPr lang="zh-CN" altLang="en-US" sz="2000" b="1" dirty="0">
                <a:solidFill>
                  <a:schemeClr val="accent1"/>
                </a:solidFill>
                <a:latin typeface="微软雅黑" panose="020B0503020204020204" pitchFamily="34" charset="-122"/>
                <a:ea typeface="微软雅黑" panose="020B0503020204020204" pitchFamily="34" charset="-122"/>
              </a:rPr>
              <a:t>液流</a:t>
            </a:r>
            <a:r>
              <a:rPr lang="zh-CN" altLang="en-US" sz="2000" dirty="0">
                <a:latin typeface="微软雅黑" panose="020B0503020204020204" pitchFamily="34" charset="-122"/>
                <a:ea typeface="微软雅黑" panose="020B0503020204020204" pitchFamily="34" charset="-122"/>
              </a:rPr>
              <a:t>通过阻尼孔</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、先导阀</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流回油箱。由于阻尼孔的</a:t>
            </a:r>
            <a:r>
              <a:rPr lang="zh-CN" altLang="en-US" sz="2000" b="1" dirty="0">
                <a:solidFill>
                  <a:schemeClr val="accent1"/>
                </a:solidFill>
                <a:latin typeface="微软雅黑" panose="020B0503020204020204" pitchFamily="34" charset="-122"/>
                <a:ea typeface="微软雅黑" panose="020B0503020204020204" pitchFamily="34" charset="-122"/>
              </a:rPr>
              <a:t>阻尼作用</a:t>
            </a:r>
            <a:r>
              <a:rPr lang="en-US" altLang="zh-CN"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使主阀</a:t>
            </a:r>
            <a:r>
              <a:rPr lang="en-US" altLang="zh-CN" sz="2000" b="1" dirty="0">
                <a:solidFill>
                  <a:srgbClr val="FF0000"/>
                </a:solidFill>
                <a:latin typeface="微软雅黑" panose="020B0503020204020204" pitchFamily="34" charset="-122"/>
                <a:ea typeface="微软雅黑" panose="020B0503020204020204" pitchFamily="34" charset="-122"/>
              </a:rPr>
              <a:t>1</a:t>
            </a:r>
            <a:r>
              <a:rPr lang="zh-CN" altLang="en-US" sz="2000" b="1" dirty="0">
                <a:solidFill>
                  <a:srgbClr val="FF0000"/>
                </a:solidFill>
                <a:latin typeface="微软雅黑" panose="020B0503020204020204" pitchFamily="34" charset="-122"/>
                <a:ea typeface="微软雅黑" panose="020B0503020204020204" pitchFamily="34" charset="-122"/>
              </a:rPr>
              <a:t>右端的压力大于左端的压力</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主阀</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在压差的作用下向左移动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打开阀口</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实现溢流作用。调节先导阀</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的调压弹簧</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便可实现溢流压力的调节。</a:t>
            </a:r>
          </a:p>
        </p:txBody>
      </p:sp>
      <p:sp>
        <p:nvSpPr>
          <p:cNvPr id="3" name="矩形 2">
            <a:extLst>
              <a:ext uri="{FF2B5EF4-FFF2-40B4-BE49-F238E27FC236}">
                <a16:creationId xmlns:a16="http://schemas.microsoft.com/office/drawing/2014/main" id="{4F87565D-5C4B-B088-0AED-0991DB8BC913}"/>
              </a:ext>
            </a:extLst>
          </p:cNvPr>
          <p:cNvSpPr/>
          <p:nvPr/>
        </p:nvSpPr>
        <p:spPr>
          <a:xfrm>
            <a:off x="540867" y="1187297"/>
            <a:ext cx="7547154" cy="511807"/>
          </a:xfrm>
          <a:prstGeom prst="rect">
            <a:avLst/>
          </a:prstGeom>
        </p:spPr>
        <p:txBody>
          <a:bodyPr wrap="square">
            <a:spAutoFit/>
          </a:bodyPr>
          <a:lstStyle/>
          <a:p>
            <a:pPr>
              <a:lnSpc>
                <a:spcPct val="125000"/>
              </a:lnSpc>
            </a:pPr>
            <a:r>
              <a:rPr lang="zh-CN" altLang="en-US" sz="2400" b="1" dirty="0">
                <a:latin typeface="微软雅黑" panose="020B0503020204020204" pitchFamily="34" charset="-122"/>
                <a:ea typeface="微软雅黑" panose="020B0503020204020204" pitchFamily="34" charset="-122"/>
              </a:rPr>
              <a:t>②</a:t>
            </a:r>
            <a:r>
              <a:rPr lang="zh-CN" altLang="en-US" sz="2400" dirty="0">
                <a:latin typeface="微软雅黑" panose="020B0503020204020204" pitchFamily="34" charset="-122"/>
                <a:ea typeface="微软雅黑" panose="020B0503020204020204" pitchFamily="34" charset="-122"/>
              </a:rPr>
              <a:t>先导式溢流阀</a:t>
            </a:r>
            <a:endParaRPr lang="zh-CN" altLang="en-US" sz="2400" b="1"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848921AE-076F-CACE-4794-8E4F8AC5477D}"/>
              </a:ext>
            </a:extLst>
          </p:cNvPr>
          <p:cNvPicPr>
            <a:picLocks noChangeAspect="1"/>
          </p:cNvPicPr>
          <p:nvPr/>
        </p:nvPicPr>
        <p:blipFill>
          <a:blip r:embed="rId4"/>
          <a:srcRect b="23820"/>
          <a:stretch/>
        </p:blipFill>
        <p:spPr>
          <a:xfrm>
            <a:off x="661317" y="2010797"/>
            <a:ext cx="5004043" cy="2666889"/>
          </a:xfrm>
          <a:prstGeom prst="rect">
            <a:avLst/>
          </a:prstGeom>
        </p:spPr>
      </p:pic>
      <p:sp>
        <p:nvSpPr>
          <p:cNvPr id="7" name="文本框 6">
            <a:extLst>
              <a:ext uri="{FF2B5EF4-FFF2-40B4-BE49-F238E27FC236}">
                <a16:creationId xmlns:a16="http://schemas.microsoft.com/office/drawing/2014/main" id="{0A3799C3-1DD5-BB1B-BED5-F7D2AFE2370D}"/>
              </a:ext>
            </a:extLst>
          </p:cNvPr>
          <p:cNvSpPr txBox="1"/>
          <p:nvPr/>
        </p:nvSpPr>
        <p:spPr>
          <a:xfrm>
            <a:off x="599065" y="4677686"/>
            <a:ext cx="5066295" cy="841256"/>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24 </a:t>
            </a:r>
            <a:r>
              <a:rPr lang="zh-CN" altLang="en-US" sz="1400" dirty="0">
                <a:latin typeface="微软雅黑" panose="020B0503020204020204" pitchFamily="34" charset="-122"/>
                <a:ea typeface="微软雅黑" panose="020B0503020204020204" pitchFamily="34" charset="-122"/>
              </a:rPr>
              <a:t>先导式溢流阀的工作原理</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原理图 </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图形符号</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主阀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主阀弹簧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先导阀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调压弹簧 </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阻尼孔</a:t>
            </a:r>
          </a:p>
        </p:txBody>
      </p:sp>
    </p:spTree>
    <p:extLst>
      <p:ext uri="{BB962C8B-B14F-4D97-AF65-F5344CB8AC3E}">
        <p14:creationId xmlns:p14="http://schemas.microsoft.com/office/powerpoint/2010/main" val="185443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F0B3E14-7368-33EB-8FCA-84EACC2AEB1B}"/>
              </a:ext>
            </a:extLst>
          </p:cNvPr>
          <p:cNvGrpSpPr/>
          <p:nvPr/>
        </p:nvGrpSpPr>
        <p:grpSpPr>
          <a:xfrm>
            <a:off x="-17100" y="135255"/>
            <a:ext cx="12209100" cy="719060"/>
            <a:chOff x="-17100" y="135255"/>
            <a:chExt cx="12209100" cy="71906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 name="矩形 1">
            <a:extLst>
              <a:ext uri="{FF2B5EF4-FFF2-40B4-BE49-F238E27FC236}">
                <a16:creationId xmlns:a16="http://schemas.microsoft.com/office/drawing/2014/main" id="{3E3E7598-ACA4-73F3-1237-8F15B7852C97}"/>
              </a:ext>
            </a:extLst>
          </p:cNvPr>
          <p:cNvSpPr/>
          <p:nvPr/>
        </p:nvSpPr>
        <p:spPr>
          <a:xfrm>
            <a:off x="6229815" y="1771167"/>
            <a:ext cx="4930678" cy="4192943"/>
          </a:xfrm>
          <a:prstGeom prst="rect">
            <a:avLst/>
          </a:prstGeom>
        </p:spPr>
        <p:txBody>
          <a:bodyPr wrap="square">
            <a:spAutoFit/>
          </a:bodyPr>
          <a:lstStyle/>
          <a:p>
            <a:pPr indent="431800" algn="just">
              <a:lnSpc>
                <a:spcPct val="150000"/>
              </a:lnSpc>
            </a:pPr>
            <a:r>
              <a:rPr lang="zh-CN" altLang="en-US" sz="2000" dirty="0">
                <a:latin typeface="微软雅黑" panose="020B0503020204020204" pitchFamily="34" charset="-122"/>
                <a:ea typeface="微软雅黑" panose="020B0503020204020204" pitchFamily="34" charset="-122"/>
              </a:rPr>
              <a:t>先导式溢流阀按其主阀心不同有三种典型结构形式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即一节、二节和三节同心式。二节同心式先导溢流阀如图所示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因其主阀和锥阀的配合面相互间要保持同心而得名。</a:t>
            </a:r>
            <a:endParaRPr lang="en-US" altLang="zh-CN" sz="2000" dirty="0">
              <a:latin typeface="微软雅黑" panose="020B0503020204020204" pitchFamily="34" charset="-122"/>
              <a:ea typeface="微软雅黑" panose="020B0503020204020204" pitchFamily="34" charset="-122"/>
            </a:endParaRPr>
          </a:p>
          <a:p>
            <a:pPr indent="431800" algn="just">
              <a:lnSpc>
                <a:spcPct val="150000"/>
              </a:lnSpc>
            </a:pPr>
            <a:r>
              <a:rPr lang="zh-CN" altLang="en-US" sz="2000" dirty="0">
                <a:latin typeface="微软雅黑" panose="020B0503020204020204" pitchFamily="34" charset="-122"/>
                <a:ea typeface="微软雅黑" panose="020B0503020204020204" pitchFamily="34" charset="-122"/>
              </a:rPr>
              <a:t>先导式溢流阀的导阀部分结构尺寸一般都较小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调压弹簧不必很强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因此压力调整比较轻便。但是先导式溢流阀要导阀和主阀都动作后才能起控制作用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因此反应不如直动式溢流阀灵敏。</a:t>
            </a:r>
          </a:p>
        </p:txBody>
      </p:sp>
      <p:sp>
        <p:nvSpPr>
          <p:cNvPr id="3" name="矩形 2">
            <a:extLst>
              <a:ext uri="{FF2B5EF4-FFF2-40B4-BE49-F238E27FC236}">
                <a16:creationId xmlns:a16="http://schemas.microsoft.com/office/drawing/2014/main" id="{7302BE7B-8B7E-65F4-C806-B96841814A3D}"/>
              </a:ext>
            </a:extLst>
          </p:cNvPr>
          <p:cNvSpPr/>
          <p:nvPr/>
        </p:nvSpPr>
        <p:spPr>
          <a:xfrm>
            <a:off x="547174" y="1259360"/>
            <a:ext cx="7547154" cy="511807"/>
          </a:xfrm>
          <a:prstGeom prst="rect">
            <a:avLst/>
          </a:prstGeom>
        </p:spPr>
        <p:txBody>
          <a:bodyPr wrap="square">
            <a:spAutoFit/>
          </a:bodyPr>
          <a:lstStyle/>
          <a:p>
            <a:pPr>
              <a:lnSpc>
                <a:spcPct val="125000"/>
              </a:lnSpc>
            </a:pPr>
            <a:r>
              <a:rPr lang="zh-CN" altLang="en-US" sz="2400" b="1" dirty="0">
                <a:latin typeface="微软雅黑" panose="020B0503020204020204" pitchFamily="34" charset="-122"/>
                <a:ea typeface="微软雅黑" panose="020B0503020204020204" pitchFamily="34" charset="-122"/>
              </a:rPr>
              <a:t>②</a:t>
            </a:r>
            <a:r>
              <a:rPr lang="zh-CN" altLang="en-US" sz="2400" dirty="0">
                <a:latin typeface="微软雅黑" panose="020B0503020204020204" pitchFamily="34" charset="-122"/>
                <a:ea typeface="微软雅黑" panose="020B0503020204020204" pitchFamily="34" charset="-122"/>
              </a:rPr>
              <a:t>先导式溢流阀</a:t>
            </a:r>
            <a:endParaRPr lang="zh-CN" altLang="en-US" sz="2400" b="1"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9A41B334-F1BB-C023-4013-4ACA216CCE1A}"/>
              </a:ext>
            </a:extLst>
          </p:cNvPr>
          <p:cNvPicPr>
            <a:picLocks noChangeAspect="1"/>
          </p:cNvPicPr>
          <p:nvPr/>
        </p:nvPicPr>
        <p:blipFill>
          <a:blip r:embed="rId4"/>
          <a:srcRect b="19764"/>
          <a:stretch/>
        </p:blipFill>
        <p:spPr>
          <a:xfrm>
            <a:off x="1434690" y="2007498"/>
            <a:ext cx="4067944" cy="3113894"/>
          </a:xfrm>
          <a:prstGeom prst="rect">
            <a:avLst/>
          </a:prstGeom>
        </p:spPr>
      </p:pic>
      <p:sp>
        <p:nvSpPr>
          <p:cNvPr id="10" name="文本框 9">
            <a:extLst>
              <a:ext uri="{FF2B5EF4-FFF2-40B4-BE49-F238E27FC236}">
                <a16:creationId xmlns:a16="http://schemas.microsoft.com/office/drawing/2014/main" id="{54381397-FB34-0961-7C67-FA16384D5476}"/>
              </a:ext>
            </a:extLst>
          </p:cNvPr>
          <p:cNvSpPr txBox="1"/>
          <p:nvPr/>
        </p:nvSpPr>
        <p:spPr>
          <a:xfrm>
            <a:off x="1211074" y="5121392"/>
            <a:ext cx="4220539" cy="789960"/>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25 </a:t>
            </a:r>
            <a:r>
              <a:rPr lang="zh-CN" altLang="en-US" sz="1400" dirty="0">
                <a:latin typeface="微软雅黑" panose="020B0503020204020204" pitchFamily="34" charset="-122"/>
                <a:ea typeface="微软雅黑" panose="020B0503020204020204" pitchFamily="34" charset="-122"/>
              </a:rPr>
              <a:t>二节同心式先导式溢流阀</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主阀芯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8-</a:t>
            </a:r>
            <a:r>
              <a:rPr lang="zh-CN" altLang="en-US" sz="1400" dirty="0">
                <a:latin typeface="微软雅黑" panose="020B0503020204020204" pitchFamily="34" charset="-122"/>
                <a:ea typeface="微软雅黑" panose="020B0503020204020204" pitchFamily="34" charset="-122"/>
              </a:rPr>
              <a:t>阻尼孔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主阀弹簧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先导阀芯 </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先导阀弹簧 </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调压手轮 </a:t>
            </a:r>
            <a:r>
              <a:rPr lang="en-US" altLang="zh-CN" sz="1400" dirty="0">
                <a:latin typeface="微软雅黑" panose="020B0503020204020204" pitchFamily="34" charset="-122"/>
                <a:ea typeface="微软雅黑" panose="020B0503020204020204" pitchFamily="34" charset="-122"/>
              </a:rPr>
              <a:t>7-</a:t>
            </a:r>
            <a:r>
              <a:rPr lang="zh-CN" altLang="en-US" sz="1400" dirty="0">
                <a:latin typeface="微软雅黑" panose="020B0503020204020204" pitchFamily="34" charset="-122"/>
                <a:ea typeface="微软雅黑" panose="020B0503020204020204" pitchFamily="34" charset="-122"/>
              </a:rPr>
              <a:t>螺堵</a:t>
            </a:r>
          </a:p>
        </p:txBody>
      </p:sp>
    </p:spTree>
    <p:extLst>
      <p:ext uri="{BB962C8B-B14F-4D97-AF65-F5344CB8AC3E}">
        <p14:creationId xmlns:p14="http://schemas.microsoft.com/office/powerpoint/2010/main" val="26396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75750" y="944618"/>
            <a:ext cx="6476256" cy="620688"/>
          </a:xfrm>
        </p:spPr>
        <p:txBody>
          <a:bodyPr>
            <a:normAutofit/>
          </a:bodyPr>
          <a:lstStyle/>
          <a:p>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溢流阀的静态特性</a:t>
            </a:r>
            <a:endParaRPr lang="en-US" sz="24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Content Placeholder 2"/>
              <p:cNvSpPr>
                <a:spLocks noGrp="1"/>
              </p:cNvSpPr>
              <p:nvPr>
                <p:ph idx="1"/>
              </p:nvPr>
            </p:nvSpPr>
            <p:spPr>
              <a:xfrm>
                <a:off x="1434688" y="1542843"/>
                <a:ext cx="8712968" cy="5084713"/>
              </a:xfrm>
            </p:spPr>
            <p:txBody>
              <a:bodyPr>
                <a:noAutofit/>
              </a:bodyPr>
              <a:lstStyle/>
              <a:p>
                <a:pPr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阀芯受力平衡方程：</a:t>
                </a:r>
                <a:endParaRPr lang="en-US" altLang="zh-CN" sz="2000" dirty="0">
                  <a:latin typeface="微软雅黑" panose="020B0503020204020204" pitchFamily="34" charset="-122"/>
                  <a:ea typeface="微软雅黑" panose="020B0503020204020204" pitchFamily="34" charset="-122"/>
                </a:endParaRPr>
              </a:p>
              <a:p>
                <a:pPr marL="0" indent="0" algn="just">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dirty="0">
                        <a:latin typeface="Cambria Math" panose="02040503050406030204" pitchFamily="18" charset="0"/>
                      </a:rPr>
                      <m:t>𝑝</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进口处的压力，</a:t>
                </a:r>
                <a14:m>
                  <m:oMath xmlns:m="http://schemas.openxmlformats.org/officeDocument/2006/math">
                    <m:r>
                      <a:rPr lang="en-US" altLang="zh-CN" sz="2000" dirty="0">
                        <a:latin typeface="Cambria Math" panose="02040503050406030204" pitchFamily="18" charset="0"/>
                      </a:rPr>
                      <m:t>𝐴</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阀芯承压面积，</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𝐹</m:t>
                        </m:r>
                      </m:e>
                      <m:sub>
                        <m:r>
                          <a:rPr lang="en-US" altLang="zh-CN" sz="2000" dirty="0">
                            <a:latin typeface="Cambria Math" panose="02040503050406030204" pitchFamily="18" charset="0"/>
                          </a:rPr>
                          <m:t>𝑠</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弹簧作用力，</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𝐹</m:t>
                        </m:r>
                      </m:e>
                      <m:sub>
                        <m:r>
                          <a:rPr lang="en-US" altLang="zh-CN" sz="2000" dirty="0">
                            <a:latin typeface="Cambria Math" panose="02040503050406030204" pitchFamily="18" charset="0"/>
                          </a:rPr>
                          <m:t>𝑔</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阀芯重力，</a:t>
                </a:r>
                <a:endParaRPr lang="en-US" altLang="zh-CN" sz="2000" dirty="0">
                  <a:latin typeface="微软雅黑" panose="020B0503020204020204" pitchFamily="34" charset="-122"/>
                  <a:ea typeface="微软雅黑" panose="020B0503020204020204" pitchFamily="34" charset="-122"/>
                </a:endParaRPr>
              </a:p>
              <a:p>
                <a:pPr marL="0" indent="0" algn="just">
                  <a:lnSpc>
                    <a:spcPct val="150000"/>
                  </a:lnSpc>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𝐹</m:t>
                        </m:r>
                      </m:e>
                      <m:sub>
                        <m:r>
                          <a:rPr lang="en-US" altLang="zh-CN" sz="2000" dirty="0">
                            <a:latin typeface="Cambria Math" panose="02040503050406030204" pitchFamily="18" charset="0"/>
                          </a:rPr>
                          <m:t>𝑏𝑠</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轴向稳态液动力，</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𝐹</m:t>
                        </m:r>
                      </m:e>
                      <m:sub>
                        <m:r>
                          <a:rPr lang="en-US" altLang="zh-CN" sz="2000" dirty="0">
                            <a:latin typeface="Cambria Math" panose="02040503050406030204" pitchFamily="18" charset="0"/>
                          </a:rPr>
                          <m:t>𝑓</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摩擦力</a:t>
                </a:r>
                <a:endParaRPr lang="en-US" altLang="zh-CN" sz="2000" dirty="0">
                  <a:latin typeface="微软雅黑" panose="020B0503020204020204" pitchFamily="34" charset="-122"/>
                  <a:ea typeface="微软雅黑" panose="020B0503020204020204" pitchFamily="34" charset="-122"/>
                </a:endParaRPr>
              </a:p>
              <a:p>
                <a:pPr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溢流阀进口处的压力是由弹簧力决定的。溢流阀的</a:t>
                </a:r>
                <a:r>
                  <a:rPr lang="zh-CN" altLang="en-US" sz="2000" b="1" dirty="0">
                    <a:solidFill>
                      <a:srgbClr val="FF0000"/>
                    </a:solidFill>
                    <a:latin typeface="微软雅黑" panose="020B0503020204020204" pitchFamily="34" charset="-122"/>
                    <a:ea typeface="微软雅黑" panose="020B0503020204020204" pitchFamily="34" charset="-122"/>
                  </a:rPr>
                  <a:t>开启压力</a:t>
                </a:r>
                <a:r>
                  <a:rPr lang="zh-CN" altLang="en-US" sz="2000" dirty="0">
                    <a:latin typeface="微软雅黑" panose="020B0503020204020204" pitchFamily="34" charset="-122"/>
                    <a:ea typeface="微软雅黑" panose="020B0503020204020204" pitchFamily="34" charset="-122"/>
                  </a:rPr>
                  <a:t>：</a:t>
                </a:r>
              </a:p>
              <a:p>
                <a:pPr algn="just">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endParaRPr>
              </a:p>
              <a:p>
                <a:pPr marL="0" indent="0" algn="just">
                  <a:lnSpc>
                    <a:spcPct val="150000"/>
                  </a:lnSpc>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𝑘</m:t>
                        </m:r>
                      </m:e>
                      <m:sub>
                        <m:r>
                          <a:rPr lang="en-US" altLang="zh-CN" sz="2000" dirty="0">
                            <a:latin typeface="Cambria Math" panose="02040503050406030204" pitchFamily="18" charset="0"/>
                          </a:rPr>
                          <m:t>𝑠</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弹簧刚度，</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𝑥</m:t>
                        </m:r>
                      </m:e>
                      <m:sub>
                        <m:r>
                          <a:rPr lang="en-US" altLang="zh-CN" sz="2000" dirty="0">
                            <a:latin typeface="Cambria Math" panose="02040503050406030204" pitchFamily="18" charset="0"/>
                          </a:rPr>
                          <m:t>𝑐</m:t>
                        </m:r>
                      </m:sub>
                    </m:sSub>
                  </m:oMath>
                </a14:m>
                <a:r>
                  <a:rPr lang="en-US" altLang="zh-CN"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弹簧预压缩量</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just">
                  <a:lnSpc>
                    <a:spcPct val="150000"/>
                  </a:lnSpc>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rPr>
                  <a:t>全流压力</a:t>
                </a:r>
                <a:r>
                  <a:rPr lang="zh-CN" altLang="en-US" sz="2000" dirty="0">
                    <a:latin typeface="微软雅黑" panose="020B0503020204020204" pitchFamily="34" charset="-122"/>
                    <a:ea typeface="微软雅黑" panose="020B0503020204020204" pitchFamily="34" charset="-122"/>
                  </a:rPr>
                  <a:t>：当溢流阀通过额定流量时的进口压力</a:t>
                </a:r>
                <a:endParaRPr lang="en-US" altLang="zh-CN" sz="2000" dirty="0">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静态调压偏差：</a:t>
                </a:r>
                <a:r>
                  <a:rPr lang="zh-CN" altLang="en-US" sz="2000" b="1" dirty="0">
                    <a:solidFill>
                      <a:srgbClr val="0070C0"/>
                    </a:solidFill>
                    <a:latin typeface="微软雅黑" panose="020B0503020204020204" pitchFamily="34" charset="-122"/>
                    <a:ea typeface="微软雅黑" panose="020B0503020204020204" pitchFamily="34" charset="-122"/>
                  </a:rPr>
                  <a:t>全流压力与开启压力之差</a:t>
                </a:r>
                <a:endParaRPr lang="en-US" altLang="zh-CN" sz="2000" b="1" dirty="0">
                  <a:solidFill>
                    <a:srgbClr val="0070C0"/>
                  </a:solidFill>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rPr>
                  <a:t>开启比</a:t>
                </a:r>
                <a:r>
                  <a:rPr lang="zh-CN" altLang="en-US" sz="2000" dirty="0">
                    <a:latin typeface="微软雅黑" panose="020B0503020204020204" pitchFamily="34" charset="-122"/>
                    <a:ea typeface="微软雅黑" panose="020B0503020204020204" pitchFamily="34" charset="-122"/>
                  </a:rPr>
                  <a:t>：开启压力与全流压力之比</a:t>
                </a:r>
                <a:endParaRPr lang="en-US" altLang="zh-CN" sz="2000" dirty="0">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溢流阀的开启比越大，静态调压偏差越小，系统压力越稳定</a:t>
                </a:r>
                <a:endParaRPr lang="en-US" altLang="zh-CN" sz="2000" dirty="0">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algn="just">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0" indent="0" algn="just">
                  <a:buNone/>
                </a:pP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2" name="Content Placeholder 2"/>
              <p:cNvSpPr>
                <a:spLocks noGrp="1" noRot="1" noChangeAspect="1" noMove="1" noResize="1" noEditPoints="1" noAdjustHandles="1" noChangeArrowheads="1" noChangeShapeType="1" noTextEdit="1"/>
              </p:cNvSpPr>
              <p:nvPr>
                <p:ph idx="1"/>
              </p:nvPr>
            </p:nvSpPr>
            <p:spPr>
              <a:xfrm>
                <a:off x="1434688" y="1542843"/>
                <a:ext cx="8712968" cy="5084713"/>
              </a:xfrm>
              <a:blipFill>
                <a:blip r:embed="rId3"/>
                <a:stretch>
                  <a:fillRect l="-629" t="-1199" r="-3566" b="-38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078693" y="1523937"/>
                <a:ext cx="2836546" cy="425053"/>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i="1" kern="0" smtClean="0">
                          <a:solidFill>
                            <a:srgbClr val="FF0000"/>
                          </a:solidFill>
                          <a:latin typeface="Cambria Math" panose="02040503050406030204" pitchFamily="18" charset="0"/>
                          <a:ea typeface="Cambria Math" panose="02040503050406030204" pitchFamily="18" charset="0"/>
                        </a:rPr>
                        <m:t>𝑝𝐴</m:t>
                      </m:r>
                      <m:r>
                        <a:rPr lang="en-US" altLang="zh-CN" sz="2000" i="1" kern="0" smtClean="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𝑠</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𝑔</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𝑏𝑠</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𝑓</m:t>
                          </m:r>
                        </m:sub>
                      </m:sSub>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4078693" y="1523937"/>
                <a:ext cx="2836546" cy="425053"/>
              </a:xfrm>
              <a:prstGeom prst="rect">
                <a:avLst/>
              </a:prstGeom>
              <a:blipFill>
                <a:blip r:embed="rId5"/>
                <a:stretch>
                  <a:fillRect b="-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921815" y="3615732"/>
                <a:ext cx="1373325" cy="674672"/>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200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𝑝</m:t>
                          </m:r>
                        </m:e>
                        <m:sub>
                          <m:r>
                            <a:rPr lang="en-US" altLang="zh-CN" sz="2000" i="1" kern="0" dirty="0">
                              <a:solidFill>
                                <a:srgbClr val="FF0000"/>
                              </a:solidFill>
                              <a:latin typeface="Cambria Math" panose="02040503050406030204" pitchFamily="18" charset="0"/>
                              <a:ea typeface="Cambria Math" panose="02040503050406030204" pitchFamily="18" charset="0"/>
                            </a:rPr>
                            <m:t>𝑐</m:t>
                          </m:r>
                        </m:sub>
                      </m:sSub>
                      <m:r>
                        <a:rPr lang="en-US" altLang="zh-CN" sz="2000" i="1" kern="0">
                          <a:solidFill>
                            <a:srgbClr val="FF0000"/>
                          </a:solidFill>
                          <a:latin typeface="Cambria Math" panose="02040503050406030204" pitchFamily="18" charset="0"/>
                          <a:ea typeface="Cambria Math" panose="02040503050406030204" pitchFamily="18" charset="0"/>
                        </a:rPr>
                        <m:t>=</m:t>
                      </m:r>
                      <m:f>
                        <m:fPr>
                          <m:ctrlPr>
                            <a:rPr lang="en-US" altLang="zh-CN" sz="2000" i="1" kern="0">
                              <a:solidFill>
                                <a:srgbClr val="FF0000"/>
                              </a:solidFill>
                              <a:latin typeface="Cambria Math" panose="02040503050406030204" pitchFamily="18" charset="0"/>
                              <a:ea typeface="Cambria Math" panose="02040503050406030204" pitchFamily="18" charset="0"/>
                            </a:rPr>
                          </m:ctrlPr>
                        </m:fPr>
                        <m:num>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𝑘</m:t>
                              </m:r>
                            </m:e>
                            <m:sub>
                              <m:r>
                                <a:rPr lang="en-US" altLang="zh-CN" sz="2000" i="1" kern="0" dirty="0">
                                  <a:solidFill>
                                    <a:srgbClr val="FF0000"/>
                                  </a:solidFill>
                                  <a:latin typeface="Cambria Math" panose="02040503050406030204" pitchFamily="18" charset="0"/>
                                  <a:ea typeface="Cambria Math" panose="02040503050406030204" pitchFamily="18" charset="0"/>
                                </a:rPr>
                                <m:t>𝑠</m:t>
                              </m:r>
                            </m:sub>
                          </m:sSub>
                        </m:num>
                        <m:den>
                          <m:r>
                            <a:rPr lang="en-US" altLang="zh-CN" sz="2000" i="1" kern="0">
                              <a:solidFill>
                                <a:srgbClr val="FF0000"/>
                              </a:solidFill>
                              <a:latin typeface="Cambria Math" panose="02040503050406030204" pitchFamily="18" charset="0"/>
                              <a:ea typeface="Cambria Math" panose="02040503050406030204" pitchFamily="18" charset="0"/>
                            </a:rPr>
                            <m:t>𝐴</m:t>
                          </m:r>
                        </m:den>
                      </m:f>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𝑥</m:t>
                          </m:r>
                        </m:e>
                        <m:sub>
                          <m:r>
                            <a:rPr lang="en-US" altLang="zh-CN" sz="2000" i="1" kern="0" dirty="0">
                              <a:solidFill>
                                <a:srgbClr val="FF0000"/>
                              </a:solidFill>
                              <a:latin typeface="Cambria Math" panose="02040503050406030204" pitchFamily="18" charset="0"/>
                              <a:ea typeface="Cambria Math" panose="02040503050406030204" pitchFamily="18" charset="0"/>
                            </a:rPr>
                            <m:t>𝑐</m:t>
                          </m:r>
                        </m:sub>
                      </m:sSub>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4921815" y="3615732"/>
                <a:ext cx="1373325" cy="674672"/>
              </a:xfrm>
              <a:prstGeom prst="rect">
                <a:avLst/>
              </a:prstGeom>
              <a:blipFill>
                <a:blip r:embed="rId6"/>
                <a:stretch>
                  <a:fillRect/>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B4CD3CA7-E344-25EB-E0BE-EA6B32D75A5F}"/>
              </a:ext>
            </a:extLst>
          </p:cNvPr>
          <p:cNvGrpSpPr/>
          <p:nvPr/>
        </p:nvGrpSpPr>
        <p:grpSpPr>
          <a:xfrm>
            <a:off x="-17100" y="135255"/>
            <a:ext cx="12209100" cy="719060"/>
            <a:chOff x="-17100" y="135255"/>
            <a:chExt cx="12209100" cy="719060"/>
          </a:xfrm>
        </p:grpSpPr>
        <p:cxnSp>
          <p:nvCxnSpPr>
            <p:cNvPr id="4" name="直接连接符 3">
              <a:extLst>
                <a:ext uri="{FF2B5EF4-FFF2-40B4-BE49-F238E27FC236}">
                  <a16:creationId xmlns:a16="http://schemas.microsoft.com/office/drawing/2014/main" id="{0E028835-EB4E-6B0D-79E4-79DAF1CBEF95}"/>
                </a:ext>
              </a:extLst>
            </p:cNvPr>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EB42DF0F-2123-AC7D-E708-3146B221ED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0" name="文本框 9">
              <a:extLst>
                <a:ext uri="{FF2B5EF4-FFF2-40B4-BE49-F238E27FC236}">
                  <a16:creationId xmlns:a16="http://schemas.microsoft.com/office/drawing/2014/main" id="{66A7BD36-2B7E-9BE3-C77B-EA60FED0CA9E}"/>
                </a:ext>
              </a:extLst>
            </p:cNvPr>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11" name="矩形 10">
              <a:extLst>
                <a:ext uri="{FF2B5EF4-FFF2-40B4-BE49-F238E27FC236}">
                  <a16:creationId xmlns:a16="http://schemas.microsoft.com/office/drawing/2014/main" id="{C37A2AE3-FC81-C78F-0D05-5AFAC3A777FC}"/>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770330E-5D78-B8DD-C50B-01EBEFFE4B8C}"/>
                  </a:ext>
                </a:extLst>
              </p:cNvPr>
              <p:cNvSpPr/>
              <p:nvPr/>
            </p:nvSpPr>
            <p:spPr>
              <a:xfrm>
                <a:off x="7172293" y="4290404"/>
                <a:ext cx="2727863" cy="730649"/>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𝑝</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𝑘</m:t>
                              </m:r>
                            </m:e>
                            <m:sub>
                              <m:r>
                                <a:rPr lang="en-US" altLang="zh-CN" sz="2000" i="1" dirty="0">
                                  <a:latin typeface="Cambria Math" panose="02040503050406030204" pitchFamily="18" charset="0"/>
                                </a:rPr>
                                <m:t>𝑠</m:t>
                              </m:r>
                            </m:sub>
                          </m:sSub>
                          <m:r>
                            <a:rPr lang="en-US" altLang="zh-CN" sz="2000" i="1" dirty="0">
                              <a:latin typeface="Cambria Math" panose="02040503050406030204" pitchFamily="18" charset="0"/>
                            </a:rPr>
                            <m:t>(</m:t>
                          </m:r>
                          <m:r>
                            <a:rPr lang="en-US" altLang="zh-CN" sz="2000" i="1" dirty="0">
                              <a:latin typeface="Cambria Math" panose="02040503050406030204" pitchFamily="18" charset="0"/>
                            </a:rPr>
                            <m:t>𝑥𝑐</m:t>
                          </m:r>
                          <m:r>
                            <a:rPr lang="en-US" altLang="zh-CN" sz="2000" i="1" dirty="0">
                              <a:latin typeface="Cambria Math" panose="02040503050406030204" pitchFamily="18" charset="0"/>
                            </a:rPr>
                            <m:t>+</m:t>
                          </m:r>
                          <m:r>
                            <a:rPr lang="en-US" altLang="zh-CN" sz="2000" i="1" dirty="0">
                              <a:latin typeface="Cambria Math" panose="02040503050406030204" pitchFamily="18" charset="0"/>
                            </a:rPr>
                            <m:t>𝑥𝑅</m:t>
                          </m:r>
                          <m:r>
                            <a:rPr lang="en-US" altLang="zh-CN" sz="2000" i="1" dirty="0">
                              <a:latin typeface="Cambria Math" panose="02040503050406030204" pitchFamily="18" charset="0"/>
                            </a:rPr>
                            <m:t>)</m:t>
                          </m:r>
                        </m:num>
                        <m:den>
                          <m:r>
                            <a:rPr lang="en-US" altLang="zh-CN" sz="2000" i="1">
                              <a:latin typeface="Cambria Math" panose="02040503050406030204" pitchFamily="18" charset="0"/>
                            </a:rPr>
                            <m:t>𝐴</m:t>
                          </m:r>
                          <m:r>
                            <a:rPr lang="en-US" altLang="zh-CN" sz="2000" i="1">
                              <a:latin typeface="Cambria Math" panose="02040503050406030204" pitchFamily="18" charset="0"/>
                            </a:rPr>
                            <m:t>−2</m:t>
                          </m:r>
                          <m:r>
                            <a:rPr lang="en-US" altLang="zh-CN" sz="2000" i="1">
                              <a:latin typeface="Cambria Math" panose="02040503050406030204" pitchFamily="18" charset="0"/>
                            </a:rPr>
                            <m:t>𝐶𝑑𝑤𝑥𝑅𝑐𝑜𝑠</m:t>
                          </m:r>
                          <m:r>
                            <a:rPr lang="zh-CN" altLang="en-US" sz="2000" i="1">
                              <a:latin typeface="Cambria Math" panose="02040503050406030204" pitchFamily="18" charset="0"/>
                            </a:rPr>
                            <m:t>𝜑</m:t>
                          </m:r>
                          <m:r>
                            <m:rPr>
                              <m:nor/>
                            </m:rPr>
                            <a:rPr lang="zh-CN" altLang="en-US" sz="2000" i="1" dirty="0">
                              <a:latin typeface="微软雅黑" panose="020B0503020204020204" pitchFamily="34" charset="-122"/>
                              <a:ea typeface="微软雅黑" panose="020B0503020204020204" pitchFamily="34" charset="-122"/>
                            </a:rPr>
                            <m:t> </m:t>
                          </m:r>
                        </m:den>
                      </m:f>
                    </m:oMath>
                  </m:oMathPara>
                </a14:m>
                <a:endParaRPr lang="en-US" altLang="zh-CN" sz="2000" i="1" dirty="0">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D770330E-5D78-B8DD-C50B-01EBEFFE4B8C}"/>
                  </a:ext>
                </a:extLst>
              </p:cNvPr>
              <p:cNvSpPr>
                <a:spLocks noRot="1" noChangeAspect="1" noMove="1" noResize="1" noEditPoints="1" noAdjustHandles="1" noChangeArrowheads="1" noChangeShapeType="1" noTextEdit="1"/>
              </p:cNvSpPr>
              <p:nvPr/>
            </p:nvSpPr>
            <p:spPr>
              <a:xfrm>
                <a:off x="7172293" y="4290404"/>
                <a:ext cx="2727863" cy="730649"/>
              </a:xfrm>
              <a:prstGeom prst="rect">
                <a:avLst/>
              </a:prstGeom>
              <a:blipFill>
                <a:blip r:embed="rId8"/>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45">
            <a:extLst>
              <a:ext uri="{FF2B5EF4-FFF2-40B4-BE49-F238E27FC236}">
                <a16:creationId xmlns:a16="http://schemas.microsoft.com/office/drawing/2014/main" id="{E1FC9A59-0452-C4B1-1A62-829BAE0A5B10}"/>
              </a:ext>
            </a:extLst>
          </p:cNvPr>
          <p:cNvPicPr>
            <a:picLocks noChangeAspect="1"/>
          </p:cNvPicPr>
          <p:nvPr/>
        </p:nvPicPr>
        <p:blipFill>
          <a:blip r:embed="rId3"/>
          <a:srcRect b="12142"/>
          <a:stretch/>
        </p:blipFill>
        <p:spPr>
          <a:xfrm>
            <a:off x="5640633" y="2475038"/>
            <a:ext cx="5729902" cy="4018260"/>
          </a:xfrm>
          <a:prstGeom prst="rect">
            <a:avLst/>
          </a:prstGeom>
        </p:spPr>
      </p:pic>
      <p:sp>
        <p:nvSpPr>
          <p:cNvPr id="3" name="圆角矩形 3"/>
          <p:cNvSpPr/>
          <p:nvPr/>
        </p:nvSpPr>
        <p:spPr>
          <a:xfrm>
            <a:off x="876020" y="81065"/>
            <a:ext cx="10616971" cy="916220"/>
          </a:xfrm>
          <a:prstGeom prst="roundRect">
            <a:avLst/>
          </a:prstGeom>
          <a:noFill/>
          <a:ln>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3" name="文本框 12"/>
          <p:cNvSpPr txBox="1"/>
          <p:nvPr/>
        </p:nvSpPr>
        <p:spPr>
          <a:xfrm>
            <a:off x="949638" y="165440"/>
            <a:ext cx="10181772" cy="748988"/>
          </a:xfrm>
          <a:prstGeom prst="rect">
            <a:avLst/>
          </a:prstGeom>
          <a:noFill/>
        </p:spPr>
        <p:txBody>
          <a:bodyPr wrap="square" rtlCol="0">
            <a:spAutoFit/>
          </a:bodyPr>
          <a:lstStyle/>
          <a:p>
            <a:pPr algn="ctr"/>
            <a:r>
              <a:rPr lang="zh-CN" altLang="en-US" sz="4267" dirty="0">
                <a:solidFill>
                  <a:schemeClr val="bg1"/>
                </a:solidFill>
                <a:latin typeface="微软雅黑" panose="020B0503020204020204" pitchFamily="34" charset="-122"/>
                <a:ea typeface="微软雅黑" panose="020B0503020204020204" pitchFamily="34" charset="-122"/>
              </a:rPr>
              <a:t>第四</a:t>
            </a:r>
            <a:r>
              <a:rPr lang="zh-CN" altLang="en-US" sz="4267">
                <a:solidFill>
                  <a:schemeClr val="bg1"/>
                </a:solidFill>
                <a:latin typeface="微软雅黑" panose="020B0503020204020204" pitchFamily="34" charset="-122"/>
                <a:ea typeface="微软雅黑" panose="020B0503020204020204" pitchFamily="34" charset="-122"/>
              </a:rPr>
              <a:t>节   压力控制阀</a:t>
            </a:r>
            <a:endParaRPr lang="zh-CN" altLang="en-US" sz="4267"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B481FCAE-A5A0-0DCE-A00F-43EFE2E27EEA}"/>
              </a:ext>
            </a:extLst>
          </p:cNvPr>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739B9356-3F40-5C43-4BA2-BB23A3E39B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8" name="文本框 17">
            <a:extLst>
              <a:ext uri="{FF2B5EF4-FFF2-40B4-BE49-F238E27FC236}">
                <a16:creationId xmlns:a16="http://schemas.microsoft.com/office/drawing/2014/main" id="{7C6AA57F-0342-BB98-BEEC-088F4652CEBA}"/>
              </a:ext>
            </a:extLst>
          </p:cNvPr>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19" name="矩形 18">
            <a:extLst>
              <a:ext uri="{FF2B5EF4-FFF2-40B4-BE49-F238E27FC236}">
                <a16:creationId xmlns:a16="http://schemas.microsoft.com/office/drawing/2014/main" id="{4725378E-6F07-8A54-3266-7C0C2A8A875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 name="Content Placeholder 2">
            <a:extLst>
              <a:ext uri="{FF2B5EF4-FFF2-40B4-BE49-F238E27FC236}">
                <a16:creationId xmlns:a16="http://schemas.microsoft.com/office/drawing/2014/main" id="{042F0D72-D72A-D1DB-8158-111BA0FEF36B}"/>
              </a:ext>
            </a:extLst>
          </p:cNvPr>
          <p:cNvSpPr txBox="1">
            <a:spLocks/>
          </p:cNvSpPr>
          <p:nvPr/>
        </p:nvSpPr>
        <p:spPr>
          <a:xfrm>
            <a:off x="949638" y="1899237"/>
            <a:ext cx="8208912" cy="5154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dirty="0">
                <a:latin typeface="微软雅黑" panose="020B0503020204020204" pitchFamily="34" charset="-122"/>
                <a:ea typeface="微软雅黑" panose="020B0503020204020204" pitchFamily="34" charset="-122"/>
              </a:rPr>
              <a:t>溢流阀的</a:t>
            </a:r>
            <a:r>
              <a:rPr lang="zh-CN" altLang="en-US" sz="2000" dirty="0">
                <a:solidFill>
                  <a:srgbClr val="FF0000"/>
                </a:solidFill>
                <a:latin typeface="微软雅黑" panose="020B0503020204020204" pitchFamily="34" charset="-122"/>
                <a:ea typeface="微软雅黑" panose="020B0503020204020204" pitchFamily="34" charset="-122"/>
              </a:rPr>
              <a:t>“压力</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流量”特性方程</a:t>
            </a:r>
            <a:r>
              <a:rPr lang="zh-CN" altLang="en-US" sz="2000" dirty="0">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E6B31081-82F8-6660-D890-39BD55FD8A25}"/>
                  </a:ext>
                </a:extLst>
              </p:cNvPr>
              <p:cNvSpPr/>
              <p:nvPr/>
            </p:nvSpPr>
            <p:spPr>
              <a:xfrm>
                <a:off x="5463669" y="1520203"/>
                <a:ext cx="4009496" cy="100168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Cambria Math" panose="02040503050406030204" pitchFamily="18" charset="0"/>
                        </a:rPr>
                        <m:t>𝑞</m:t>
                      </m:r>
                      <m:r>
                        <a:rPr lang="en-US" altLang="zh-CN" sz="2000" i="1" kern="0" smtClean="0">
                          <a:solidFill>
                            <a:srgbClr val="FF0000"/>
                          </a:solidFill>
                          <a:latin typeface="Cambria Math" panose="02040503050406030204" pitchFamily="18" charset="0"/>
                          <a:ea typeface="Cambria Math" panose="02040503050406030204" pitchFamily="18" charset="0"/>
                        </a:rPr>
                        <m:t>=</m:t>
                      </m:r>
                      <m:f>
                        <m:fPr>
                          <m:ctrlPr>
                            <a:rPr lang="en-US" altLang="zh-CN" sz="2000" i="1" kern="0" smtClean="0">
                              <a:solidFill>
                                <a:srgbClr val="FF0000"/>
                              </a:solidFill>
                              <a:latin typeface="Cambria Math" panose="02040503050406030204" pitchFamily="18" charset="0"/>
                              <a:ea typeface="Cambria Math" panose="02040503050406030204" pitchFamily="18" charset="0"/>
                            </a:rPr>
                          </m:ctrlPr>
                        </m:fPr>
                        <m:num>
                          <m:sSub>
                            <m:sSubPr>
                              <m:ctrlPr>
                                <a:rPr lang="en-US" altLang="zh-CN" sz="200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𝐶</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𝑑</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𝐴𝑤</m:t>
                          </m:r>
                        </m:num>
                        <m:den>
                          <m:sSub>
                            <m:sSubPr>
                              <m:ctrlPr>
                                <a:rPr lang="en-US" altLang="zh-CN" sz="200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𝑘</m:t>
                              </m:r>
                            </m:e>
                            <m:sub>
                              <m:r>
                                <a:rPr lang="en-US" altLang="zh-CN" sz="2000" b="0" i="1" kern="0" smtClean="0">
                                  <a:solidFill>
                                    <a:srgbClr val="FF0000"/>
                                  </a:solidFill>
                                  <a:latin typeface="Cambria Math" panose="02040503050406030204" pitchFamily="18" charset="0"/>
                                  <a:ea typeface="Cambria Math" panose="02040503050406030204" pitchFamily="18" charset="0"/>
                                </a:rPr>
                                <m:t>𝑠</m:t>
                              </m:r>
                            </m:sub>
                          </m:sSub>
                          <m:r>
                            <a:rPr lang="en-US" altLang="zh-CN" sz="2000" b="0" i="1" kern="0" smtClean="0">
                              <a:solidFill>
                                <a:srgbClr val="FF0000"/>
                              </a:solidFill>
                              <a:latin typeface="Cambria Math" panose="02040503050406030204" pitchFamily="18" charset="0"/>
                              <a:ea typeface="Cambria Math" panose="02040503050406030204" pitchFamily="18" charset="0"/>
                            </a:rPr>
                            <m:t>+2</m:t>
                          </m:r>
                          <m:sSub>
                            <m:sSubPr>
                              <m:ctrlPr>
                                <a:rPr lang="en-US" altLang="zh-CN" sz="2000" b="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𝐶</m:t>
                              </m:r>
                            </m:e>
                            <m:sub>
                              <m:r>
                                <a:rPr lang="en-US" altLang="zh-CN" sz="2000" b="0" i="1" kern="0" smtClean="0">
                                  <a:solidFill>
                                    <a:srgbClr val="FF0000"/>
                                  </a:solidFill>
                                  <a:latin typeface="Cambria Math" panose="02040503050406030204" pitchFamily="18" charset="0"/>
                                  <a:ea typeface="Cambria Math" panose="02040503050406030204" pitchFamily="18" charset="0"/>
                                </a:rPr>
                                <m:t>𝑑</m:t>
                              </m:r>
                            </m:sub>
                          </m:sSub>
                          <m:r>
                            <a:rPr lang="en-US" altLang="zh-CN" sz="2000" b="0" i="1" kern="0" smtClean="0">
                              <a:solidFill>
                                <a:srgbClr val="FF0000"/>
                              </a:solidFill>
                              <a:latin typeface="Cambria Math" panose="02040503050406030204" pitchFamily="18" charset="0"/>
                              <a:ea typeface="Cambria Math" panose="02040503050406030204" pitchFamily="18" charset="0"/>
                            </a:rPr>
                            <m:t>𝑤𝑐𝑜𝑠</m:t>
                          </m:r>
                          <m:r>
                            <a:rPr lang="zh-CN" altLang="en-US" sz="2000" b="0" i="1" kern="0" smtClean="0">
                              <a:solidFill>
                                <a:srgbClr val="FF0000"/>
                              </a:solidFill>
                              <a:latin typeface="Cambria Math" panose="02040503050406030204" pitchFamily="18" charset="0"/>
                              <a:ea typeface="Cambria Math" panose="02040503050406030204" pitchFamily="18" charset="0"/>
                            </a:rPr>
                            <m:t>𝜙</m:t>
                          </m:r>
                          <m:r>
                            <a:rPr lang="en-US" altLang="zh-CN" sz="2000" b="0" i="1" kern="0" smtClean="0">
                              <a:solidFill>
                                <a:srgbClr val="FF0000"/>
                              </a:solidFill>
                              <a:latin typeface="Cambria Math" panose="02040503050406030204" pitchFamily="18" charset="0"/>
                              <a:ea typeface="Cambria Math" panose="02040503050406030204" pitchFamily="18" charset="0"/>
                            </a:rPr>
                            <m:t>𝑝</m:t>
                          </m:r>
                        </m:den>
                      </m:f>
                      <m:r>
                        <a:rPr lang="en-US" altLang="zh-CN" sz="2000" b="0" i="1" kern="0" smtClean="0">
                          <a:solidFill>
                            <a:srgbClr val="FF0000"/>
                          </a:solidFill>
                          <a:latin typeface="Cambria Math" panose="02040503050406030204" pitchFamily="18" charset="0"/>
                          <a:ea typeface="Cambria Math" panose="02040503050406030204" pitchFamily="18" charset="0"/>
                        </a:rPr>
                        <m:t>(</m:t>
                      </m:r>
                      <m:r>
                        <a:rPr lang="en-US" altLang="zh-CN" sz="2000" b="0" i="1" kern="0" smtClean="0">
                          <a:solidFill>
                            <a:srgbClr val="FF0000"/>
                          </a:solidFill>
                          <a:latin typeface="Cambria Math" panose="02040503050406030204" pitchFamily="18" charset="0"/>
                          <a:ea typeface="Cambria Math" panose="02040503050406030204" pitchFamily="18" charset="0"/>
                        </a:rPr>
                        <m:t>𝑝</m:t>
                      </m:r>
                      <m:r>
                        <a:rPr lang="en-US" altLang="zh-CN" sz="2000" b="0" i="1" kern="0" smtClean="0">
                          <a:solidFill>
                            <a:srgbClr val="FF0000"/>
                          </a:solidFill>
                          <a:latin typeface="Cambria Math" panose="02040503050406030204" pitchFamily="18" charset="0"/>
                          <a:ea typeface="Cambria Math" panose="02040503050406030204" pitchFamily="18" charset="0"/>
                        </a:rPr>
                        <m:t>−</m:t>
                      </m:r>
                      <m:sSub>
                        <m:sSubPr>
                          <m:ctrlPr>
                            <a:rPr lang="en-US" altLang="zh-CN" sz="2000" b="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𝑝</m:t>
                          </m:r>
                        </m:e>
                        <m:sub>
                          <m:r>
                            <a:rPr lang="en-US" altLang="zh-CN" sz="2000" b="0" i="1" kern="0" smtClean="0">
                              <a:solidFill>
                                <a:srgbClr val="FF0000"/>
                              </a:solidFill>
                              <a:latin typeface="Cambria Math" panose="02040503050406030204" pitchFamily="18" charset="0"/>
                              <a:ea typeface="Cambria Math" panose="02040503050406030204" pitchFamily="18" charset="0"/>
                            </a:rPr>
                            <m:t>𝑐</m:t>
                          </m:r>
                        </m:sub>
                      </m:sSub>
                      <m:r>
                        <a:rPr lang="en-US" altLang="zh-CN" sz="2000" b="0" i="1" kern="0" smtClean="0">
                          <a:solidFill>
                            <a:srgbClr val="FF0000"/>
                          </a:solidFill>
                          <a:latin typeface="Cambria Math" panose="02040503050406030204" pitchFamily="18" charset="0"/>
                          <a:ea typeface="Cambria Math" panose="02040503050406030204" pitchFamily="18" charset="0"/>
                        </a:rPr>
                        <m:t>)</m:t>
                      </m:r>
                      <m:rad>
                        <m:radPr>
                          <m:degHide m:val="on"/>
                          <m:ctrlPr>
                            <a:rPr lang="en-US" altLang="zh-CN" sz="2000" b="0" i="1" kern="0" smtClean="0">
                              <a:solidFill>
                                <a:srgbClr val="FF0000"/>
                              </a:solidFill>
                              <a:latin typeface="Cambria Math" panose="02040503050406030204" pitchFamily="18" charset="0"/>
                              <a:ea typeface="Cambria Math" panose="02040503050406030204" pitchFamily="18" charset="0"/>
                            </a:rPr>
                          </m:ctrlPr>
                        </m:radPr>
                        <m:deg/>
                        <m:e>
                          <m:f>
                            <m:fPr>
                              <m:ctrlPr>
                                <a:rPr lang="en-US" altLang="zh-CN" sz="2000" b="0" i="1" kern="0" smtClean="0">
                                  <a:solidFill>
                                    <a:srgbClr val="FF0000"/>
                                  </a:solidFill>
                                  <a:latin typeface="Cambria Math" panose="02040503050406030204" pitchFamily="18" charset="0"/>
                                  <a:ea typeface="Cambria Math" panose="02040503050406030204" pitchFamily="18" charset="0"/>
                                </a:rPr>
                              </m:ctrlPr>
                            </m:fPr>
                            <m:num>
                              <m:r>
                                <a:rPr lang="en-US" altLang="zh-CN" sz="2000" b="0" i="1" kern="0" smtClean="0">
                                  <a:solidFill>
                                    <a:srgbClr val="FF0000"/>
                                  </a:solidFill>
                                  <a:latin typeface="Cambria Math" panose="02040503050406030204" pitchFamily="18" charset="0"/>
                                  <a:ea typeface="Cambria Math" panose="02040503050406030204" pitchFamily="18" charset="0"/>
                                </a:rPr>
                                <m:t>2</m:t>
                              </m:r>
                              <m:r>
                                <a:rPr lang="en-US" altLang="zh-CN" sz="2000" b="0" i="1" kern="0" smtClean="0">
                                  <a:solidFill>
                                    <a:srgbClr val="FF0000"/>
                                  </a:solidFill>
                                  <a:latin typeface="Cambria Math" panose="02040503050406030204" pitchFamily="18" charset="0"/>
                                  <a:ea typeface="Cambria Math" panose="02040503050406030204" pitchFamily="18" charset="0"/>
                                </a:rPr>
                                <m:t>𝑝</m:t>
                              </m:r>
                            </m:num>
                            <m:den>
                              <m:r>
                                <a:rPr lang="zh-CN" altLang="en-US" sz="2000" b="0" i="1" kern="0" smtClean="0">
                                  <a:solidFill>
                                    <a:srgbClr val="FF0000"/>
                                  </a:solidFill>
                                  <a:latin typeface="Cambria Math" panose="02040503050406030204" pitchFamily="18" charset="0"/>
                                  <a:ea typeface="Cambria Math" panose="02040503050406030204" pitchFamily="18" charset="0"/>
                                </a:rPr>
                                <m:t>𝜌</m:t>
                              </m:r>
                            </m:den>
                          </m:f>
                        </m:e>
                      </m:rad>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25" name="矩形 24">
                <a:extLst>
                  <a:ext uri="{FF2B5EF4-FFF2-40B4-BE49-F238E27FC236}">
                    <a16:creationId xmlns:a16="http://schemas.microsoft.com/office/drawing/2014/main" id="{E6B31081-82F8-6660-D890-39BD55FD8A25}"/>
                  </a:ext>
                </a:extLst>
              </p:cNvPr>
              <p:cNvSpPr>
                <a:spLocks noRot="1" noChangeAspect="1" noMove="1" noResize="1" noEditPoints="1" noAdjustHandles="1" noChangeArrowheads="1" noChangeShapeType="1" noTextEdit="1"/>
              </p:cNvSpPr>
              <p:nvPr/>
            </p:nvSpPr>
            <p:spPr>
              <a:xfrm>
                <a:off x="5463669" y="1520203"/>
                <a:ext cx="4009496" cy="1001684"/>
              </a:xfrm>
              <a:prstGeom prst="rect">
                <a:avLst/>
              </a:prstGeom>
              <a:blipFill>
                <a:blip r:embed="rId5"/>
                <a:stretch>
                  <a:fillRect/>
                </a:stretch>
              </a:blipFill>
            </p:spPr>
            <p:txBody>
              <a:bodyPr/>
              <a:lstStyle/>
              <a:p>
                <a:r>
                  <a:rPr lang="zh-CN" altLang="en-US">
                    <a:noFill/>
                  </a:rPr>
                  <a:t> </a:t>
                </a:r>
              </a:p>
            </p:txBody>
          </p:sp>
        </mc:Fallback>
      </mc:AlternateContent>
      <p:sp>
        <p:nvSpPr>
          <p:cNvPr id="26" name="Title 1">
            <a:extLst>
              <a:ext uri="{FF2B5EF4-FFF2-40B4-BE49-F238E27FC236}">
                <a16:creationId xmlns:a16="http://schemas.microsoft.com/office/drawing/2014/main" id="{DB4C1DA3-A65D-E882-42FA-D41EF6CEC78D}"/>
              </a:ext>
            </a:extLst>
          </p:cNvPr>
          <p:cNvSpPr txBox="1"/>
          <p:nvPr/>
        </p:nvSpPr>
        <p:spPr bwMode="auto">
          <a:xfrm>
            <a:off x="68416" y="1036108"/>
            <a:ext cx="3720660" cy="620688"/>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a:lstStyle>
          <a:p>
            <a:r>
              <a:rPr lang="en-US" altLang="zh-CN" sz="2400" b="1" dirty="0">
                <a:solidFill>
                  <a:schemeClr val="tx1"/>
                </a:solidFill>
                <a:latin typeface="微软雅黑" panose="020B0503020204020204" pitchFamily="34" charset="-122"/>
                <a:ea typeface="微软雅黑" panose="020B0503020204020204" pitchFamily="34" charset="-122"/>
              </a:rPr>
              <a:t>3.</a:t>
            </a:r>
            <a:r>
              <a:rPr lang="zh-CN" altLang="en-US" sz="2400" b="1" dirty="0">
                <a:solidFill>
                  <a:schemeClr val="tx1"/>
                </a:solidFill>
                <a:latin typeface="微软雅黑" panose="020B0503020204020204" pitchFamily="34" charset="-122"/>
                <a:ea typeface="微软雅黑" panose="020B0503020204020204" pitchFamily="34" charset="-122"/>
              </a:rPr>
              <a:t>溢流阀的静态特性</a:t>
            </a:r>
            <a:endParaRPr lang="en-US" sz="2400" b="1" dirty="0">
              <a:solidFill>
                <a:schemeClr val="tx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3C51B041-F25E-F090-BFFE-69DDD53DDEBA}"/>
              </a:ext>
            </a:extLst>
          </p:cNvPr>
          <p:cNvSpPr txBox="1"/>
          <p:nvPr/>
        </p:nvSpPr>
        <p:spPr>
          <a:xfrm>
            <a:off x="6878971" y="6255965"/>
            <a:ext cx="2664296"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26 </a:t>
            </a:r>
            <a:r>
              <a:rPr lang="zh-CN" altLang="en-US" sz="1400" dirty="0">
                <a:latin typeface="微软雅黑" panose="020B0503020204020204" pitchFamily="34" charset="-122"/>
                <a:ea typeface="微软雅黑" panose="020B0503020204020204" pitchFamily="34" charset="-122"/>
              </a:rPr>
              <a:t>溢流阀的特性曲线</a:t>
            </a:r>
          </a:p>
        </p:txBody>
      </p:sp>
      <p:sp>
        <p:nvSpPr>
          <p:cNvPr id="29" name="矩形 28">
            <a:extLst>
              <a:ext uri="{FF2B5EF4-FFF2-40B4-BE49-F238E27FC236}">
                <a16:creationId xmlns:a16="http://schemas.microsoft.com/office/drawing/2014/main" id="{7BA7568D-5080-0991-95F1-02C7E8ABB0F0}"/>
              </a:ext>
            </a:extLst>
          </p:cNvPr>
          <p:cNvSpPr/>
          <p:nvPr/>
        </p:nvSpPr>
        <p:spPr>
          <a:xfrm>
            <a:off x="1201372" y="2495840"/>
            <a:ext cx="4294630" cy="961289"/>
          </a:xfrm>
          <a:prstGeom prst="rect">
            <a:avLst/>
          </a:prstGeom>
        </p:spPr>
        <p:txBody>
          <a:bodyPr wrap="square">
            <a:spAutoFit/>
          </a:bodyPr>
          <a:lstStyle/>
          <a:p>
            <a:pPr algn="just">
              <a:lnSpc>
                <a:spcPct val="150000"/>
              </a:lnSpc>
              <a:spcBef>
                <a:spcPts val="480"/>
              </a:spcBef>
            </a:pPr>
            <a:r>
              <a:rPr lang="zh-CN" altLang="en-US" sz="2000" dirty="0">
                <a:latin typeface="微软雅黑" panose="020B0503020204020204" pitchFamily="34" charset="-122"/>
                <a:ea typeface="微软雅黑" panose="020B0503020204020204" pitchFamily="34" charset="-122"/>
              </a:rPr>
              <a:t>先导式溢流阀的开启比通常比直动式的大，静态调压偏差小，不灵敏区小</a:t>
            </a:r>
            <a:endParaRPr lang="en-US" altLang="zh-CN" sz="2000" dirty="0">
              <a:latin typeface="微软雅黑" panose="020B0503020204020204" pitchFamily="34" charset="-122"/>
              <a:ea typeface="微软雅黑" panose="020B0503020204020204" pitchFamily="34" charset="-122"/>
            </a:endParaRPr>
          </a:p>
        </p:txBody>
      </p:sp>
      <p:cxnSp>
        <p:nvCxnSpPr>
          <p:cNvPr id="30" name="直接连接符 29">
            <a:extLst>
              <a:ext uri="{FF2B5EF4-FFF2-40B4-BE49-F238E27FC236}">
                <a16:creationId xmlns:a16="http://schemas.microsoft.com/office/drawing/2014/main" id="{4B8EA4D8-0224-CC97-3966-CD495F3AC8CA}"/>
              </a:ext>
            </a:extLst>
          </p:cNvPr>
          <p:cNvCxnSpPr>
            <a:cxnSpLocks/>
          </p:cNvCxnSpPr>
          <p:nvPr/>
        </p:nvCxnSpPr>
        <p:spPr>
          <a:xfrm flipH="1">
            <a:off x="5496492" y="3848091"/>
            <a:ext cx="138247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BDFC7C3D-05AB-4F07-E0DC-6D275CA92D10}"/>
              </a:ext>
            </a:extLst>
          </p:cNvPr>
          <p:cNvSpPr/>
          <p:nvPr/>
        </p:nvSpPr>
        <p:spPr>
          <a:xfrm>
            <a:off x="3596132" y="3648036"/>
            <a:ext cx="2058703" cy="400110"/>
          </a:xfrm>
          <a:prstGeom prst="rect">
            <a:avLst/>
          </a:prstGeom>
        </p:spPr>
        <p:txBody>
          <a:bodyPr wrap="square">
            <a:spAutoFit/>
          </a:bodyPr>
          <a:lstStyle/>
          <a:p>
            <a:pPr algn="just">
              <a:spcBef>
                <a:spcPts val="480"/>
              </a:spcBef>
            </a:pPr>
            <a:r>
              <a:rPr lang="zh-CN" altLang="en-US" sz="2000" dirty="0">
                <a:latin typeface="微软雅黑" panose="020B0503020204020204" pitchFamily="34" charset="-122"/>
                <a:ea typeface="微软雅黑" panose="020B0503020204020204" pitchFamily="34" charset="-122"/>
              </a:rPr>
              <a:t>实线：</a:t>
            </a:r>
            <a:r>
              <a:rPr lang="zh-CN" altLang="en-US" sz="2000" dirty="0">
                <a:solidFill>
                  <a:srgbClr val="FF0000"/>
                </a:solidFill>
                <a:latin typeface="微软雅黑" panose="020B0503020204020204" pitchFamily="34" charset="-122"/>
                <a:ea typeface="微软雅黑" panose="020B0503020204020204" pitchFamily="34" charset="-122"/>
              </a:rPr>
              <a:t>开启特性</a:t>
            </a:r>
            <a:endParaRPr lang="en-US" altLang="zh-CN" sz="2000" dirty="0">
              <a:solidFill>
                <a:srgbClr val="FF0000"/>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C944247D-06D5-0A52-ABF7-6852F5C8A31B}"/>
              </a:ext>
            </a:extLst>
          </p:cNvPr>
          <p:cNvCxnSpPr>
            <a:cxnSpLocks/>
          </p:cNvCxnSpPr>
          <p:nvPr/>
        </p:nvCxnSpPr>
        <p:spPr>
          <a:xfrm flipH="1">
            <a:off x="5504344" y="4208131"/>
            <a:ext cx="12241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925D871B-1AA6-C158-E174-BCC826601B98}"/>
              </a:ext>
            </a:extLst>
          </p:cNvPr>
          <p:cNvSpPr/>
          <p:nvPr/>
        </p:nvSpPr>
        <p:spPr>
          <a:xfrm>
            <a:off x="3596131" y="4008076"/>
            <a:ext cx="2058703" cy="400110"/>
          </a:xfrm>
          <a:prstGeom prst="rect">
            <a:avLst/>
          </a:prstGeom>
        </p:spPr>
        <p:txBody>
          <a:bodyPr wrap="square">
            <a:spAutoFit/>
          </a:bodyPr>
          <a:lstStyle/>
          <a:p>
            <a:pPr algn="just">
              <a:spcBef>
                <a:spcPts val="480"/>
              </a:spcBef>
            </a:pPr>
            <a:r>
              <a:rPr lang="zh-CN" altLang="en-US" sz="2000" dirty="0">
                <a:latin typeface="微软雅黑" panose="020B0503020204020204" pitchFamily="34" charset="-122"/>
                <a:ea typeface="微软雅黑" panose="020B0503020204020204" pitchFamily="34" charset="-122"/>
              </a:rPr>
              <a:t>虚线：</a:t>
            </a:r>
            <a:r>
              <a:rPr lang="zh-CN" altLang="en-US" sz="2000" dirty="0">
                <a:solidFill>
                  <a:srgbClr val="FF0000"/>
                </a:solidFill>
                <a:latin typeface="微软雅黑" panose="020B0503020204020204" pitchFamily="34" charset="-122"/>
                <a:ea typeface="微软雅黑" panose="020B0503020204020204" pitchFamily="34" charset="-122"/>
              </a:rPr>
              <a:t>闭合特性</a:t>
            </a:r>
            <a:endParaRPr lang="en-US" altLang="zh-CN" sz="2000" dirty="0">
              <a:solidFill>
                <a:srgbClr val="FF0000"/>
              </a:solidFill>
              <a:latin typeface="微软雅黑" panose="020B0503020204020204" pitchFamily="34" charset="-122"/>
              <a:ea typeface="微软雅黑" panose="020B0503020204020204" pitchFamily="34" charset="-122"/>
            </a:endParaRPr>
          </a:p>
        </p:txBody>
      </p:sp>
      <p:cxnSp>
        <p:nvCxnSpPr>
          <p:cNvPr id="34" name="直接连接符 33">
            <a:extLst>
              <a:ext uri="{FF2B5EF4-FFF2-40B4-BE49-F238E27FC236}">
                <a16:creationId xmlns:a16="http://schemas.microsoft.com/office/drawing/2014/main" id="{DEBD140B-1246-66CB-2978-0E3FA6759046}"/>
              </a:ext>
            </a:extLst>
          </p:cNvPr>
          <p:cNvCxnSpPr>
            <a:cxnSpLocks/>
          </p:cNvCxnSpPr>
          <p:nvPr/>
        </p:nvCxnSpPr>
        <p:spPr>
          <a:xfrm flipH="1">
            <a:off x="5496002" y="4597384"/>
            <a:ext cx="1593547" cy="13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64C19926-C05B-62EE-973D-CD27DBC7C516}"/>
              </a:ext>
            </a:extLst>
          </p:cNvPr>
          <p:cNvSpPr/>
          <p:nvPr/>
        </p:nvSpPr>
        <p:spPr>
          <a:xfrm>
            <a:off x="3596130" y="4397330"/>
            <a:ext cx="2058703" cy="400110"/>
          </a:xfrm>
          <a:prstGeom prst="rect">
            <a:avLst/>
          </a:prstGeom>
        </p:spPr>
        <p:txBody>
          <a:bodyPr wrap="square">
            <a:spAutoFit/>
          </a:bodyPr>
          <a:lstStyle/>
          <a:p>
            <a:pPr algn="just">
              <a:spcBef>
                <a:spcPts val="480"/>
              </a:spcBef>
            </a:pPr>
            <a:r>
              <a:rPr lang="zh-CN" altLang="en-US" sz="2000" dirty="0">
                <a:latin typeface="微软雅黑" panose="020B0503020204020204" pitchFamily="34" charset="-122"/>
                <a:ea typeface="微软雅黑" panose="020B0503020204020204" pitchFamily="34" charset="-122"/>
              </a:rPr>
              <a:t>差值：</a:t>
            </a:r>
            <a:r>
              <a:rPr lang="zh-CN" altLang="en-US" sz="2000" dirty="0">
                <a:solidFill>
                  <a:srgbClr val="FF0000"/>
                </a:solidFill>
                <a:latin typeface="微软雅黑" panose="020B0503020204020204" pitchFamily="34" charset="-122"/>
                <a:ea typeface="微软雅黑" panose="020B0503020204020204" pitchFamily="34" charset="-122"/>
              </a:rPr>
              <a:t>不灵敏区</a:t>
            </a:r>
            <a:endParaRPr lang="en-US" altLang="zh-CN" sz="2000" dirty="0">
              <a:solidFill>
                <a:srgbClr val="FF0000"/>
              </a:solidFill>
              <a:latin typeface="微软雅黑" panose="020B0503020204020204" pitchFamily="34" charset="-122"/>
              <a:ea typeface="微软雅黑" panose="020B0503020204020204" pitchFamily="34" charset="-122"/>
            </a:endParaRPr>
          </a:p>
        </p:txBody>
      </p:sp>
      <p:cxnSp>
        <p:nvCxnSpPr>
          <p:cNvPr id="36" name="直接连接符 35">
            <a:extLst>
              <a:ext uri="{FF2B5EF4-FFF2-40B4-BE49-F238E27FC236}">
                <a16:creationId xmlns:a16="http://schemas.microsoft.com/office/drawing/2014/main" id="{092D8826-0EFE-E59A-85DA-31AE15883E7B}"/>
              </a:ext>
            </a:extLst>
          </p:cNvPr>
          <p:cNvCxnSpPr/>
          <p:nvPr/>
        </p:nvCxnSpPr>
        <p:spPr>
          <a:xfrm>
            <a:off x="7080138" y="4208131"/>
            <a:ext cx="0" cy="288032"/>
          </a:xfrm>
          <a:prstGeom prst="line">
            <a:avLst/>
          </a:prstGeom>
          <a:ln w="285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F3768EB-BC73-1465-2A30-B8A57879E2FC}"/>
              </a:ext>
            </a:extLst>
          </p:cNvPr>
          <p:cNvCxnSpPr/>
          <p:nvPr/>
        </p:nvCxnSpPr>
        <p:spPr>
          <a:xfrm rot="10800000">
            <a:off x="7080138" y="4712187"/>
            <a:ext cx="0" cy="288032"/>
          </a:xfrm>
          <a:prstGeom prst="line">
            <a:avLst/>
          </a:prstGeom>
          <a:ln w="285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77DF706-14BA-3404-688A-F11EB71B8D83}"/>
              </a:ext>
            </a:extLst>
          </p:cNvPr>
          <p:cNvCxnSpPr/>
          <p:nvPr/>
        </p:nvCxnSpPr>
        <p:spPr>
          <a:xfrm>
            <a:off x="7080138" y="4373098"/>
            <a:ext cx="0" cy="4243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8B31639A-90BD-BEF8-F766-A58F9111788D}"/>
              </a:ext>
            </a:extLst>
          </p:cNvPr>
          <p:cNvSpPr/>
          <p:nvPr/>
        </p:nvSpPr>
        <p:spPr>
          <a:xfrm>
            <a:off x="2163775" y="4008076"/>
            <a:ext cx="1210588" cy="400110"/>
          </a:xfrm>
          <a:prstGeom prst="rect">
            <a:avLst/>
          </a:prstGeom>
        </p:spPr>
        <p:txBody>
          <a:bodyPr wrap="non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黏滞现象</a:t>
            </a:r>
          </a:p>
        </p:txBody>
      </p:sp>
      <p:sp>
        <p:nvSpPr>
          <p:cNvPr id="40" name="左大括号 39">
            <a:extLst>
              <a:ext uri="{FF2B5EF4-FFF2-40B4-BE49-F238E27FC236}">
                <a16:creationId xmlns:a16="http://schemas.microsoft.com/office/drawing/2014/main" id="{5A4C50BF-BE79-A8C2-FB77-22A50563C5B7}"/>
              </a:ext>
            </a:extLst>
          </p:cNvPr>
          <p:cNvSpPr/>
          <p:nvPr/>
        </p:nvSpPr>
        <p:spPr>
          <a:xfrm>
            <a:off x="3383773" y="3741992"/>
            <a:ext cx="258076" cy="1008112"/>
          </a:xfrm>
          <a:prstGeom prst="leftBrace">
            <a:avLst>
              <a:gd name="adj1" fmla="val 56492"/>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023A3A87-C435-9ED5-0B73-20C5A2E4FED6}"/>
              </a:ext>
            </a:extLst>
          </p:cNvPr>
          <p:cNvSpPr/>
          <p:nvPr/>
        </p:nvSpPr>
        <p:spPr>
          <a:xfrm>
            <a:off x="2630798" y="5282322"/>
            <a:ext cx="1210588" cy="400110"/>
          </a:xfrm>
          <a:prstGeom prst="rect">
            <a:avLst/>
          </a:prstGeom>
        </p:spPr>
        <p:txBody>
          <a:bodyPr wrap="non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启闭特性</a:t>
            </a:r>
          </a:p>
        </p:txBody>
      </p:sp>
      <p:sp>
        <p:nvSpPr>
          <p:cNvPr id="42" name="矩形 41">
            <a:extLst>
              <a:ext uri="{FF2B5EF4-FFF2-40B4-BE49-F238E27FC236}">
                <a16:creationId xmlns:a16="http://schemas.microsoft.com/office/drawing/2014/main" id="{F33E0E5A-7BB9-2DB2-D4C1-9DB1FD2A8C34}"/>
              </a:ext>
            </a:extLst>
          </p:cNvPr>
          <p:cNvSpPr/>
          <p:nvPr/>
        </p:nvSpPr>
        <p:spPr>
          <a:xfrm>
            <a:off x="4146971" y="5135819"/>
            <a:ext cx="1210588" cy="400110"/>
          </a:xfrm>
          <a:prstGeom prst="rect">
            <a:avLst/>
          </a:prstGeom>
        </p:spPr>
        <p:txBody>
          <a:bodyPr wrap="non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开启压力</a:t>
            </a:r>
          </a:p>
        </p:txBody>
      </p:sp>
      <p:sp>
        <p:nvSpPr>
          <p:cNvPr id="43" name="矩形 42">
            <a:extLst>
              <a:ext uri="{FF2B5EF4-FFF2-40B4-BE49-F238E27FC236}">
                <a16:creationId xmlns:a16="http://schemas.microsoft.com/office/drawing/2014/main" id="{09C5B73E-7566-3868-ED63-50BC434A06D5}"/>
              </a:ext>
            </a:extLst>
          </p:cNvPr>
          <p:cNvSpPr/>
          <p:nvPr/>
        </p:nvSpPr>
        <p:spPr>
          <a:xfrm>
            <a:off x="4134683" y="5452778"/>
            <a:ext cx="1210588" cy="400110"/>
          </a:xfrm>
          <a:prstGeom prst="rect">
            <a:avLst/>
          </a:prstGeom>
        </p:spPr>
        <p:txBody>
          <a:bodyPr wrap="non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闭合压力</a:t>
            </a:r>
          </a:p>
        </p:txBody>
      </p:sp>
      <p:sp>
        <p:nvSpPr>
          <p:cNvPr id="44" name="左大括号 43">
            <a:extLst>
              <a:ext uri="{FF2B5EF4-FFF2-40B4-BE49-F238E27FC236}">
                <a16:creationId xmlns:a16="http://schemas.microsoft.com/office/drawing/2014/main" id="{F79BE3AF-B30C-9412-FF07-0ACBADD0DCF7}"/>
              </a:ext>
            </a:extLst>
          </p:cNvPr>
          <p:cNvSpPr/>
          <p:nvPr/>
        </p:nvSpPr>
        <p:spPr>
          <a:xfrm>
            <a:off x="3867197" y="5146624"/>
            <a:ext cx="258076" cy="726009"/>
          </a:xfrm>
          <a:prstGeom prst="leftBrace">
            <a:avLst>
              <a:gd name="adj1" fmla="val 56492"/>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6554D844-00D9-406E-97E3-51CFFC96A1C8}"/>
              </a:ext>
            </a:extLst>
          </p:cNvPr>
          <p:cNvSpPr txBox="1"/>
          <p:nvPr/>
        </p:nvSpPr>
        <p:spPr>
          <a:xfrm>
            <a:off x="528123" y="4585269"/>
            <a:ext cx="2749471" cy="400110"/>
          </a:xfrm>
          <a:prstGeom prst="rect">
            <a:avLst/>
          </a:prstGeom>
          <a:noFill/>
        </p:spPr>
        <p:txBody>
          <a:bodyPr wrap="none" rtlCol="0">
            <a:spAutoFit/>
          </a:bodyPr>
          <a:lstStyle/>
          <a:p>
            <a:r>
              <a:rPr lang="zh-CN" altLang="en-US" sz="2000" b="1" dirty="0">
                <a:solidFill>
                  <a:srgbClr val="0070C0"/>
                </a:solidFill>
              </a:rPr>
              <a:t>摩擦力方向相反造成的</a:t>
            </a:r>
          </a:p>
        </p:txBody>
      </p:sp>
      <p:sp>
        <p:nvSpPr>
          <p:cNvPr id="45" name="文本框 44">
            <a:extLst>
              <a:ext uri="{FF2B5EF4-FFF2-40B4-BE49-F238E27FC236}">
                <a16:creationId xmlns:a16="http://schemas.microsoft.com/office/drawing/2014/main" id="{DCA42415-30FC-4350-9ED8-57701E36B5E9}"/>
              </a:ext>
            </a:extLst>
          </p:cNvPr>
          <p:cNvSpPr txBox="1"/>
          <p:nvPr/>
        </p:nvSpPr>
        <p:spPr>
          <a:xfrm>
            <a:off x="6872926" y="5155685"/>
            <a:ext cx="2600239" cy="707886"/>
          </a:xfrm>
          <a:prstGeom prst="rect">
            <a:avLst/>
          </a:prstGeom>
          <a:noFill/>
        </p:spPr>
        <p:txBody>
          <a:bodyPr wrap="square" rtlCol="0">
            <a:spAutoFit/>
          </a:bodyPr>
          <a:lstStyle/>
          <a:p>
            <a:r>
              <a:rPr lang="zh-CN" altLang="en-US" sz="2000" b="1" dirty="0">
                <a:solidFill>
                  <a:srgbClr val="0070C0"/>
                </a:solidFill>
              </a:rPr>
              <a:t>关闭时摩擦力与弹簧压力方向相反</a:t>
            </a:r>
          </a:p>
        </p:txBody>
      </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7CCCE731-8D28-43D6-BCFE-36D6D690B6BE}"/>
                  </a:ext>
                </a:extLst>
              </p:cNvPr>
              <p:cNvSpPr/>
              <p:nvPr/>
            </p:nvSpPr>
            <p:spPr>
              <a:xfrm>
                <a:off x="9158550" y="4667895"/>
                <a:ext cx="2727863" cy="730649"/>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𝑝</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𝑘</m:t>
                              </m:r>
                            </m:e>
                            <m:sub>
                              <m:r>
                                <a:rPr lang="en-US" altLang="zh-CN" sz="2000" i="1" dirty="0">
                                  <a:latin typeface="Cambria Math" panose="02040503050406030204" pitchFamily="18" charset="0"/>
                                </a:rPr>
                                <m:t>𝑠</m:t>
                              </m:r>
                            </m:sub>
                          </m:sSub>
                          <m:r>
                            <a:rPr lang="en-US" altLang="zh-CN" sz="2000" i="1" dirty="0">
                              <a:latin typeface="Cambria Math" panose="02040503050406030204" pitchFamily="18" charset="0"/>
                            </a:rPr>
                            <m:t>(</m:t>
                          </m:r>
                          <m:r>
                            <a:rPr lang="en-US" altLang="zh-CN" sz="2000" i="1" dirty="0">
                              <a:latin typeface="Cambria Math" panose="02040503050406030204" pitchFamily="18" charset="0"/>
                            </a:rPr>
                            <m:t>𝑥𝑐</m:t>
                          </m:r>
                          <m:r>
                            <a:rPr lang="en-US" altLang="zh-CN" sz="2000" i="1" dirty="0">
                              <a:latin typeface="Cambria Math" panose="02040503050406030204" pitchFamily="18" charset="0"/>
                            </a:rPr>
                            <m:t>+</m:t>
                          </m:r>
                          <m:r>
                            <a:rPr lang="en-US" altLang="zh-CN" sz="2000" i="1" dirty="0">
                              <a:latin typeface="Cambria Math" panose="02040503050406030204" pitchFamily="18" charset="0"/>
                            </a:rPr>
                            <m:t>𝑥𝑅</m:t>
                          </m:r>
                          <m:r>
                            <a:rPr lang="en-US" altLang="zh-CN" sz="2000" i="1" dirty="0">
                              <a:latin typeface="Cambria Math" panose="02040503050406030204" pitchFamily="18" charset="0"/>
                            </a:rPr>
                            <m:t>)</m:t>
                          </m:r>
                        </m:num>
                        <m:den>
                          <m:r>
                            <a:rPr lang="en-US" altLang="zh-CN" sz="2000" i="1">
                              <a:latin typeface="Cambria Math" panose="02040503050406030204" pitchFamily="18" charset="0"/>
                            </a:rPr>
                            <m:t>𝐴</m:t>
                          </m:r>
                          <m:r>
                            <a:rPr lang="en-US" altLang="zh-CN" sz="2000" i="1">
                              <a:latin typeface="Cambria Math" panose="02040503050406030204" pitchFamily="18" charset="0"/>
                            </a:rPr>
                            <m:t>−2</m:t>
                          </m:r>
                          <m:r>
                            <a:rPr lang="en-US" altLang="zh-CN" sz="2000" i="1">
                              <a:latin typeface="Cambria Math" panose="02040503050406030204" pitchFamily="18" charset="0"/>
                            </a:rPr>
                            <m:t>𝐶𝑑𝑤𝑥𝑅𝑐𝑜𝑠</m:t>
                          </m:r>
                          <m:r>
                            <a:rPr lang="zh-CN" altLang="en-US" sz="2000" i="1">
                              <a:latin typeface="Cambria Math" panose="02040503050406030204" pitchFamily="18" charset="0"/>
                            </a:rPr>
                            <m:t>𝜑</m:t>
                          </m:r>
                          <m:r>
                            <m:rPr>
                              <m:nor/>
                            </m:rPr>
                            <a:rPr lang="zh-CN" altLang="en-US" sz="2000" i="1" dirty="0">
                              <a:latin typeface="微软雅黑" panose="020B0503020204020204" pitchFamily="34" charset="-122"/>
                              <a:ea typeface="微软雅黑" panose="020B0503020204020204" pitchFamily="34" charset="-122"/>
                            </a:rPr>
                            <m:t> </m:t>
                          </m:r>
                        </m:den>
                      </m:f>
                    </m:oMath>
                  </m:oMathPara>
                </a14:m>
                <a:endParaRPr lang="en-US" altLang="zh-CN" sz="2000" i="1" dirty="0">
                  <a:latin typeface="微软雅黑" panose="020B0503020204020204" pitchFamily="34" charset="-122"/>
                  <a:ea typeface="微软雅黑" panose="020B0503020204020204" pitchFamily="34" charset="-122"/>
                </a:endParaRPr>
              </a:p>
            </p:txBody>
          </p:sp>
        </mc:Choice>
        <mc:Fallback xmlns="">
          <p:sp>
            <p:nvSpPr>
              <p:cNvPr id="47" name="矩形 46">
                <a:extLst>
                  <a:ext uri="{FF2B5EF4-FFF2-40B4-BE49-F238E27FC236}">
                    <a16:creationId xmlns:a16="http://schemas.microsoft.com/office/drawing/2014/main" id="{7CCCE731-8D28-43D6-BCFE-36D6D690B6BE}"/>
                  </a:ext>
                </a:extLst>
              </p:cNvPr>
              <p:cNvSpPr>
                <a:spLocks noRot="1" noChangeAspect="1" noMove="1" noResize="1" noEditPoints="1" noAdjustHandles="1" noChangeArrowheads="1" noChangeShapeType="1" noTextEdit="1"/>
              </p:cNvSpPr>
              <p:nvPr/>
            </p:nvSpPr>
            <p:spPr>
              <a:xfrm>
                <a:off x="9158550" y="4667895"/>
                <a:ext cx="2727863" cy="73064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0B6FFC29-F6DF-4DC7-B8D6-6594E538D37B}"/>
                  </a:ext>
                </a:extLst>
              </p:cNvPr>
              <p:cNvSpPr/>
              <p:nvPr/>
            </p:nvSpPr>
            <p:spPr>
              <a:xfrm>
                <a:off x="9091519" y="3791285"/>
                <a:ext cx="2679580" cy="741742"/>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𝑝</m:t>
                      </m:r>
                      <m:r>
                        <a:rPr lang="en-US" altLang="zh-CN" sz="2000" i="1" smtClean="0">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𝑘</m:t>
                              </m:r>
                            </m:e>
                            <m:sub>
                              <m:r>
                                <a:rPr lang="en-US" altLang="zh-CN" sz="2000" i="1" dirty="0">
                                  <a:latin typeface="Cambria Math" panose="02040503050406030204" pitchFamily="18" charset="0"/>
                                </a:rPr>
                                <m:t>𝑠</m:t>
                              </m:r>
                            </m:sub>
                          </m:sSub>
                          <m:d>
                            <m:dPr>
                              <m:ctrlPr>
                                <a:rPr lang="en-US" altLang="zh-CN" sz="2000" i="1" dirty="0">
                                  <a:latin typeface="Cambria Math" panose="02040503050406030204" pitchFamily="18" charset="0"/>
                                </a:rPr>
                              </m:ctrlPr>
                            </m:dPr>
                            <m:e>
                              <m:r>
                                <a:rPr lang="en-US" altLang="zh-CN" sz="2000" i="1" dirty="0">
                                  <a:latin typeface="Cambria Math" panose="02040503050406030204" pitchFamily="18" charset="0"/>
                                </a:rPr>
                                <m:t>𝑥</m:t>
                              </m:r>
                              <m:r>
                                <a:rPr lang="en-US" altLang="zh-CN" sz="2000" i="1" baseline="-25000" dirty="0">
                                  <a:latin typeface="Cambria Math" panose="02040503050406030204" pitchFamily="18" charset="0"/>
                                </a:rPr>
                                <m:t>𝑐</m:t>
                              </m:r>
                              <m:r>
                                <a:rPr lang="en-US" altLang="zh-CN" sz="2000" i="1" dirty="0">
                                  <a:latin typeface="Cambria Math" panose="02040503050406030204" pitchFamily="18" charset="0"/>
                                </a:rPr>
                                <m:t>+</m:t>
                              </m:r>
                              <m:r>
                                <a:rPr lang="en-US" altLang="zh-CN" sz="2000" i="1" dirty="0">
                                  <a:latin typeface="Cambria Math" panose="02040503050406030204" pitchFamily="18" charset="0"/>
                                </a:rPr>
                                <m:t>𝑥𝑅</m:t>
                              </m:r>
                            </m:e>
                          </m:d>
                          <m:r>
                            <a:rPr lang="en-US" altLang="zh-CN" sz="2000" b="0" i="1" dirty="0"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𝑝</m:t>
                              </m:r>
                            </m:e>
                            <m:sup>
                              <m:r>
                                <a:rPr lang="en-US" altLang="zh-CN" sz="2000" b="0" i="1" dirty="0" smtClean="0">
                                  <a:latin typeface="Cambria Math" panose="02040503050406030204" pitchFamily="18" charset="0"/>
                                </a:rPr>
                                <m:t>′</m:t>
                              </m:r>
                            </m:sup>
                          </m:sSup>
                          <m:r>
                            <a:rPr lang="en-US" altLang="zh-CN" sz="2000" b="0" i="1" dirty="0" smtClean="0">
                              <a:latin typeface="Cambria Math" panose="02040503050406030204" pitchFamily="18" charset="0"/>
                            </a:rPr>
                            <m:t>𝐴</m:t>
                          </m:r>
                        </m:num>
                        <m:den>
                          <m:r>
                            <a:rPr lang="en-US" altLang="zh-CN" sz="2000" i="1">
                              <a:latin typeface="Cambria Math" panose="02040503050406030204" pitchFamily="18" charset="0"/>
                            </a:rPr>
                            <m:t>𝐴</m:t>
                          </m:r>
                          <m:r>
                            <a:rPr lang="en-US" altLang="zh-CN" sz="2000" i="1">
                              <a:latin typeface="Cambria Math" panose="02040503050406030204" pitchFamily="18" charset="0"/>
                            </a:rPr>
                            <m:t>−2</m:t>
                          </m:r>
                          <m:r>
                            <a:rPr lang="en-US" altLang="zh-CN" sz="2000" i="1">
                              <a:latin typeface="Cambria Math" panose="02040503050406030204" pitchFamily="18" charset="0"/>
                            </a:rPr>
                            <m:t>𝐶𝑑𝑤𝑥𝑅𝑐𝑜𝑠</m:t>
                          </m:r>
                          <m:r>
                            <a:rPr lang="zh-CN" altLang="en-US" sz="2000" i="1">
                              <a:latin typeface="Cambria Math" panose="02040503050406030204" pitchFamily="18" charset="0"/>
                            </a:rPr>
                            <m:t>𝜑</m:t>
                          </m:r>
                          <m:r>
                            <m:rPr>
                              <m:nor/>
                            </m:rPr>
                            <a:rPr lang="zh-CN" altLang="en-US" sz="2000" i="1" dirty="0">
                              <a:latin typeface="微软雅黑" panose="020B0503020204020204" pitchFamily="34" charset="-122"/>
                              <a:ea typeface="微软雅黑" panose="020B0503020204020204" pitchFamily="34" charset="-122"/>
                            </a:rPr>
                            <m:t> </m:t>
                          </m:r>
                        </m:den>
                      </m:f>
                    </m:oMath>
                  </m:oMathPara>
                </a14:m>
                <a:endParaRPr lang="en-US" altLang="zh-CN" sz="2000" i="1" dirty="0">
                  <a:latin typeface="微软雅黑" panose="020B0503020204020204" pitchFamily="34" charset="-122"/>
                  <a:ea typeface="微软雅黑" panose="020B0503020204020204" pitchFamily="34" charset="-122"/>
                </a:endParaRPr>
              </a:p>
            </p:txBody>
          </p:sp>
        </mc:Choice>
        <mc:Fallback xmlns="">
          <p:sp>
            <p:nvSpPr>
              <p:cNvPr id="48" name="矩形 47">
                <a:extLst>
                  <a:ext uri="{FF2B5EF4-FFF2-40B4-BE49-F238E27FC236}">
                    <a16:creationId xmlns:a16="http://schemas.microsoft.com/office/drawing/2014/main" id="{0B6FFC29-F6DF-4DC7-B8D6-6594E538D37B}"/>
                  </a:ext>
                </a:extLst>
              </p:cNvPr>
              <p:cNvSpPr>
                <a:spLocks noRot="1" noChangeAspect="1" noMove="1" noResize="1" noEditPoints="1" noAdjustHandles="1" noChangeArrowheads="1" noChangeShapeType="1" noTextEdit="1"/>
              </p:cNvSpPr>
              <p:nvPr/>
            </p:nvSpPr>
            <p:spPr>
              <a:xfrm>
                <a:off x="9091519" y="3791285"/>
                <a:ext cx="2679580" cy="741742"/>
              </a:xfrm>
              <a:prstGeom prst="rect">
                <a:avLst/>
              </a:prstGeom>
              <a:blipFill>
                <a:blip r:embed="rId7"/>
                <a:stretch>
                  <a:fillRect/>
                </a:stretch>
              </a:blipFill>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FE159116-A501-41C8-8AF7-18095CECF0E7}"/>
              </a:ext>
            </a:extLst>
          </p:cNvPr>
          <p:cNvCxnSpPr/>
          <p:nvPr/>
        </p:nvCxnSpPr>
        <p:spPr>
          <a:xfrm flipH="1" flipV="1">
            <a:off x="7699334" y="3838134"/>
            <a:ext cx="1415590" cy="324022"/>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2AD1FB7D-3B13-47A4-BC26-7F002542D355}"/>
              </a:ext>
            </a:extLst>
          </p:cNvPr>
          <p:cNvCxnSpPr>
            <a:cxnSpLocks/>
          </p:cNvCxnSpPr>
          <p:nvPr/>
        </p:nvCxnSpPr>
        <p:spPr>
          <a:xfrm flipH="1" flipV="1">
            <a:off x="7573617" y="4254798"/>
            <a:ext cx="1729676" cy="790284"/>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EEC19D4A-A472-4D8E-9A55-66CAC133C495}"/>
                  </a:ext>
                </a:extLst>
              </p:cNvPr>
              <p:cNvSpPr/>
              <p:nvPr/>
            </p:nvSpPr>
            <p:spPr>
              <a:xfrm>
                <a:off x="4125273" y="1079708"/>
                <a:ext cx="2836546" cy="425053"/>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i="1" kern="0" smtClean="0">
                          <a:solidFill>
                            <a:srgbClr val="FF0000"/>
                          </a:solidFill>
                          <a:latin typeface="Cambria Math" panose="02040503050406030204" pitchFamily="18" charset="0"/>
                          <a:ea typeface="Cambria Math" panose="02040503050406030204" pitchFamily="18" charset="0"/>
                        </a:rPr>
                        <m:t>𝑝𝐴</m:t>
                      </m:r>
                      <m:r>
                        <a:rPr lang="en-US" altLang="zh-CN" sz="2000" i="1" kern="0" smtClean="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𝑠</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𝑔</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𝑏𝑠</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𝐹</m:t>
                          </m:r>
                        </m:e>
                        <m:sub>
                          <m:r>
                            <a:rPr lang="en-US" altLang="zh-CN" sz="2000" i="1" kern="0" dirty="0">
                              <a:solidFill>
                                <a:srgbClr val="FF0000"/>
                              </a:solidFill>
                              <a:latin typeface="Cambria Math" panose="02040503050406030204" pitchFamily="18" charset="0"/>
                              <a:ea typeface="Cambria Math" panose="02040503050406030204" pitchFamily="18" charset="0"/>
                            </a:rPr>
                            <m:t>𝑓</m:t>
                          </m:r>
                        </m:sub>
                      </m:sSub>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50" name="矩形 49">
                <a:extLst>
                  <a:ext uri="{FF2B5EF4-FFF2-40B4-BE49-F238E27FC236}">
                    <a16:creationId xmlns:a16="http://schemas.microsoft.com/office/drawing/2014/main" id="{EEC19D4A-A472-4D8E-9A55-66CAC133C495}"/>
                  </a:ext>
                </a:extLst>
              </p:cNvPr>
              <p:cNvSpPr>
                <a:spLocks noRot="1" noChangeAspect="1" noMove="1" noResize="1" noEditPoints="1" noAdjustHandles="1" noChangeArrowheads="1" noChangeShapeType="1" noTextEdit="1"/>
              </p:cNvSpPr>
              <p:nvPr/>
            </p:nvSpPr>
            <p:spPr>
              <a:xfrm>
                <a:off x="4125273" y="1079708"/>
                <a:ext cx="2836546" cy="425053"/>
              </a:xfrm>
              <a:prstGeom prst="rect">
                <a:avLst/>
              </a:prstGeom>
              <a:blipFill>
                <a:blip r:embed="rId8"/>
                <a:stretch>
                  <a:fillRect b="-10000"/>
                </a:stretch>
              </a:blipFill>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3"/>
          <p:cNvSpPr/>
          <p:nvPr/>
        </p:nvSpPr>
        <p:spPr>
          <a:xfrm>
            <a:off x="876020" y="81065"/>
            <a:ext cx="10616971" cy="916220"/>
          </a:xfrm>
          <a:prstGeom prst="roundRect">
            <a:avLst/>
          </a:prstGeom>
          <a:noFill/>
          <a:ln>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3" name="文本框 12"/>
          <p:cNvSpPr txBox="1"/>
          <p:nvPr/>
        </p:nvSpPr>
        <p:spPr>
          <a:xfrm>
            <a:off x="949638" y="165440"/>
            <a:ext cx="10181772" cy="748988"/>
          </a:xfrm>
          <a:prstGeom prst="rect">
            <a:avLst/>
          </a:prstGeom>
          <a:noFill/>
        </p:spPr>
        <p:txBody>
          <a:bodyPr wrap="square" rtlCol="0">
            <a:spAutoFit/>
          </a:bodyPr>
          <a:lstStyle/>
          <a:p>
            <a:pPr algn="ctr"/>
            <a:r>
              <a:rPr lang="zh-CN" altLang="en-US" sz="4267" dirty="0">
                <a:solidFill>
                  <a:schemeClr val="bg1"/>
                </a:solidFill>
                <a:latin typeface="微软雅黑" panose="020B0503020204020204" pitchFamily="34" charset="-122"/>
                <a:ea typeface="微软雅黑" panose="020B0503020204020204" pitchFamily="34" charset="-122"/>
              </a:rPr>
              <a:t>第四</a:t>
            </a:r>
            <a:r>
              <a:rPr lang="zh-CN" altLang="en-US" sz="4267">
                <a:solidFill>
                  <a:schemeClr val="bg1"/>
                </a:solidFill>
                <a:latin typeface="微软雅黑" panose="020B0503020204020204" pitchFamily="34" charset="-122"/>
                <a:ea typeface="微软雅黑" panose="020B0503020204020204" pitchFamily="34" charset="-122"/>
              </a:rPr>
              <a:t>节   压力控制阀</a:t>
            </a:r>
            <a:endParaRPr lang="zh-CN" altLang="en-US" sz="4267"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a:spLocks noChangeArrowheads="1"/>
          </p:cNvSpPr>
          <p:nvPr/>
        </p:nvSpPr>
        <p:spPr bwMode="auto">
          <a:xfrm>
            <a:off x="514200" y="1159125"/>
            <a:ext cx="36576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cs typeface="+mj-cs"/>
              </a:rPr>
              <a:t>4.</a:t>
            </a:r>
            <a:r>
              <a:rPr lang="zh-CN" altLang="en-US" sz="2400" b="1" dirty="0">
                <a:latin typeface="微软雅黑" panose="020B0503020204020204" pitchFamily="34" charset="-122"/>
                <a:ea typeface="微软雅黑" panose="020B0503020204020204" pitchFamily="34" charset="-122"/>
                <a:cs typeface="+mj-cs"/>
              </a:rPr>
              <a:t>应用</a:t>
            </a:r>
          </a:p>
        </p:txBody>
      </p:sp>
      <p:sp>
        <p:nvSpPr>
          <p:cNvPr id="2" name="矩形 1"/>
          <p:cNvSpPr/>
          <p:nvPr/>
        </p:nvSpPr>
        <p:spPr>
          <a:xfrm>
            <a:off x="769495" y="4830414"/>
            <a:ext cx="10916983" cy="1422954"/>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中溢流阀旁接在泵的出口，用来保证系统压力恒定，称为</a:t>
            </a:r>
            <a:r>
              <a:rPr lang="zh-CN" altLang="en-US" sz="2000" dirty="0">
                <a:solidFill>
                  <a:srgbClr val="FF0000"/>
                </a:solidFill>
                <a:latin typeface="微软雅黑" panose="020B0503020204020204" pitchFamily="34" charset="-122"/>
                <a:ea typeface="微软雅黑" panose="020B0503020204020204" pitchFamily="34" charset="-122"/>
              </a:rPr>
              <a:t>调压阀</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中溢流阀接在执行元件的出口，用来保证系统运动平稳性，称为</a:t>
            </a:r>
            <a:r>
              <a:rPr lang="zh-CN" altLang="en-US" sz="2000" dirty="0">
                <a:solidFill>
                  <a:srgbClr val="FF0000"/>
                </a:solidFill>
                <a:latin typeface="微软雅黑" panose="020B0503020204020204" pitchFamily="34" charset="-122"/>
                <a:ea typeface="微软雅黑" panose="020B0503020204020204" pitchFamily="34" charset="-122"/>
              </a:rPr>
              <a:t>背压阀</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中溢流阀旁接在泵的出口，用来限制系统压力的最大值，对系统起保护作用，称为</a:t>
            </a:r>
            <a:r>
              <a:rPr lang="zh-CN" altLang="en-US" sz="2000" dirty="0">
                <a:solidFill>
                  <a:srgbClr val="FF0000"/>
                </a:solidFill>
                <a:latin typeface="微软雅黑" panose="020B0503020204020204" pitchFamily="34" charset="-122"/>
                <a:ea typeface="微软雅黑" panose="020B0503020204020204" pitchFamily="34" charset="-122"/>
              </a:rPr>
              <a:t>安全阀</a:t>
            </a:r>
            <a:r>
              <a:rPr lang="zh-CN" altLang="en-US" sz="2000" dirty="0">
                <a:latin typeface="微软雅黑" panose="020B0503020204020204" pitchFamily="34" charset="-122"/>
                <a:ea typeface="微软雅黑" panose="020B0503020204020204" pitchFamily="34" charset="-122"/>
              </a:rPr>
              <a:t>。</a:t>
            </a:r>
          </a:p>
        </p:txBody>
      </p:sp>
      <p:grpSp>
        <p:nvGrpSpPr>
          <p:cNvPr id="4" name="组合 3">
            <a:extLst>
              <a:ext uri="{FF2B5EF4-FFF2-40B4-BE49-F238E27FC236}">
                <a16:creationId xmlns:a16="http://schemas.microsoft.com/office/drawing/2014/main" id="{2BFFC963-455F-2BBA-6840-9DCD5215DEA1}"/>
              </a:ext>
            </a:extLst>
          </p:cNvPr>
          <p:cNvGrpSpPr/>
          <p:nvPr/>
        </p:nvGrpSpPr>
        <p:grpSpPr>
          <a:xfrm>
            <a:off x="-17100" y="135255"/>
            <a:ext cx="12209100" cy="719060"/>
            <a:chOff x="-17100" y="135255"/>
            <a:chExt cx="12209100" cy="719060"/>
          </a:xfrm>
        </p:grpSpPr>
        <p:cxnSp>
          <p:nvCxnSpPr>
            <p:cNvPr id="7" name="直接连接符 6">
              <a:extLst>
                <a:ext uri="{FF2B5EF4-FFF2-40B4-BE49-F238E27FC236}">
                  <a16:creationId xmlns:a16="http://schemas.microsoft.com/office/drawing/2014/main" id="{0823A2D1-D18D-E247-67BE-4BE7E1D7BB49}"/>
                </a:ext>
              </a:extLst>
            </p:cNvPr>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21953F51-0448-554B-6AF7-3251A0AB18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8" name="文本框 17">
              <a:extLst>
                <a:ext uri="{FF2B5EF4-FFF2-40B4-BE49-F238E27FC236}">
                  <a16:creationId xmlns:a16="http://schemas.microsoft.com/office/drawing/2014/main" id="{E0F417AB-1DE4-368B-6BF2-8484510CC6B6}"/>
                </a:ext>
              </a:extLst>
            </p:cNvPr>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19" name="矩形 18">
              <a:extLst>
                <a:ext uri="{FF2B5EF4-FFF2-40B4-BE49-F238E27FC236}">
                  <a16:creationId xmlns:a16="http://schemas.microsoft.com/office/drawing/2014/main" id="{FE6025AD-596C-D150-A01E-86552CE51F2D}"/>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grpSp>
        <p:nvGrpSpPr>
          <p:cNvPr id="15" name="组合 14">
            <a:extLst>
              <a:ext uri="{FF2B5EF4-FFF2-40B4-BE49-F238E27FC236}">
                <a16:creationId xmlns:a16="http://schemas.microsoft.com/office/drawing/2014/main" id="{C63E57AC-C3AA-95FC-6362-EFDBAE83750F}"/>
              </a:ext>
            </a:extLst>
          </p:cNvPr>
          <p:cNvGrpSpPr/>
          <p:nvPr/>
        </p:nvGrpSpPr>
        <p:grpSpPr>
          <a:xfrm>
            <a:off x="3376741" y="1834135"/>
            <a:ext cx="5188727" cy="2258139"/>
            <a:chOff x="5137690" y="2261189"/>
            <a:chExt cx="5188727" cy="2258139"/>
          </a:xfrm>
        </p:grpSpPr>
        <p:pic>
          <p:nvPicPr>
            <p:cNvPr id="10" name="图片 9">
              <a:extLst>
                <a:ext uri="{FF2B5EF4-FFF2-40B4-BE49-F238E27FC236}">
                  <a16:creationId xmlns:a16="http://schemas.microsoft.com/office/drawing/2014/main" id="{C64CF624-3E94-2B2E-7CE9-A933A6F91459}"/>
                </a:ext>
              </a:extLst>
            </p:cNvPr>
            <p:cNvPicPr>
              <a:picLocks noChangeAspect="1"/>
            </p:cNvPicPr>
            <p:nvPr/>
          </p:nvPicPr>
          <p:blipFill>
            <a:blip r:embed="rId4"/>
            <a:stretch>
              <a:fillRect/>
            </a:stretch>
          </p:blipFill>
          <p:spPr>
            <a:xfrm>
              <a:off x="5137690" y="2322062"/>
              <a:ext cx="1513571" cy="2168932"/>
            </a:xfrm>
            <a:prstGeom prst="rect">
              <a:avLst/>
            </a:prstGeom>
          </p:spPr>
        </p:pic>
        <p:pic>
          <p:nvPicPr>
            <p:cNvPr id="12" name="图片 11">
              <a:extLst>
                <a:ext uri="{FF2B5EF4-FFF2-40B4-BE49-F238E27FC236}">
                  <a16:creationId xmlns:a16="http://schemas.microsoft.com/office/drawing/2014/main" id="{570A2D09-3F82-8302-655F-0163D54C51C4}"/>
                </a:ext>
              </a:extLst>
            </p:cNvPr>
            <p:cNvPicPr>
              <a:picLocks noChangeAspect="1"/>
            </p:cNvPicPr>
            <p:nvPr/>
          </p:nvPicPr>
          <p:blipFill>
            <a:blip r:embed="rId5"/>
            <a:stretch>
              <a:fillRect/>
            </a:stretch>
          </p:blipFill>
          <p:spPr>
            <a:xfrm>
              <a:off x="6685164" y="2271312"/>
              <a:ext cx="2127359" cy="2248016"/>
            </a:xfrm>
            <a:prstGeom prst="rect">
              <a:avLst/>
            </a:prstGeom>
          </p:spPr>
        </p:pic>
        <p:pic>
          <p:nvPicPr>
            <p:cNvPr id="14" name="图片 13">
              <a:extLst>
                <a:ext uri="{FF2B5EF4-FFF2-40B4-BE49-F238E27FC236}">
                  <a16:creationId xmlns:a16="http://schemas.microsoft.com/office/drawing/2014/main" id="{A785E43E-7928-52F5-2CFD-32497A2F1F45}"/>
                </a:ext>
              </a:extLst>
            </p:cNvPr>
            <p:cNvPicPr>
              <a:picLocks noChangeAspect="1"/>
            </p:cNvPicPr>
            <p:nvPr/>
          </p:nvPicPr>
          <p:blipFill>
            <a:blip r:embed="rId6"/>
            <a:stretch>
              <a:fillRect/>
            </a:stretch>
          </p:blipFill>
          <p:spPr>
            <a:xfrm>
              <a:off x="8846426" y="2261189"/>
              <a:ext cx="1479991" cy="2248017"/>
            </a:xfrm>
            <a:prstGeom prst="rect">
              <a:avLst/>
            </a:prstGeom>
          </p:spPr>
        </p:pic>
      </p:grpSp>
      <p:sp>
        <p:nvSpPr>
          <p:cNvPr id="20" name="文本框 19">
            <a:extLst>
              <a:ext uri="{FF2B5EF4-FFF2-40B4-BE49-F238E27FC236}">
                <a16:creationId xmlns:a16="http://schemas.microsoft.com/office/drawing/2014/main" id="{E5E52AE4-1A41-5FA0-2809-952ACCF2B376}"/>
              </a:ext>
            </a:extLst>
          </p:cNvPr>
          <p:cNvSpPr txBox="1"/>
          <p:nvPr/>
        </p:nvSpPr>
        <p:spPr>
          <a:xfrm>
            <a:off x="3626127" y="4054902"/>
            <a:ext cx="495042" cy="307777"/>
          </a:xfrm>
          <a:prstGeom prst="rect">
            <a:avLst/>
          </a:prstGeom>
          <a:noFill/>
        </p:spPr>
        <p:txBody>
          <a:bodyPr wrap="square" rtlCol="0">
            <a:spAutoFit/>
          </a:bodyPr>
          <a:lstStyle/>
          <a:p>
            <a:pPr algn="ctr">
              <a:spcBef>
                <a:spcPts val="385"/>
              </a:spcBef>
            </a:pPr>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699D6E1C-7622-0615-62B7-AF2EEED6A43F}"/>
              </a:ext>
            </a:extLst>
          </p:cNvPr>
          <p:cNvSpPr txBox="1"/>
          <p:nvPr/>
        </p:nvSpPr>
        <p:spPr>
          <a:xfrm>
            <a:off x="5728016" y="4054902"/>
            <a:ext cx="495042" cy="307777"/>
          </a:xfrm>
          <a:prstGeom prst="rect">
            <a:avLst/>
          </a:prstGeom>
          <a:noFill/>
        </p:spPr>
        <p:txBody>
          <a:bodyPr wrap="square" rtlCol="0">
            <a:spAutoFit/>
          </a:bodyPr>
          <a:lstStyle/>
          <a:p>
            <a:pPr algn="ctr">
              <a:spcBef>
                <a:spcPts val="385"/>
              </a:spcBef>
            </a:pPr>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73871B34-44A1-B2EB-2A8C-33F5B4A182B0}"/>
              </a:ext>
            </a:extLst>
          </p:cNvPr>
          <p:cNvSpPr txBox="1"/>
          <p:nvPr/>
        </p:nvSpPr>
        <p:spPr>
          <a:xfrm>
            <a:off x="7257707" y="4054902"/>
            <a:ext cx="495042" cy="307777"/>
          </a:xfrm>
          <a:prstGeom prst="rect">
            <a:avLst/>
          </a:prstGeom>
          <a:noFill/>
        </p:spPr>
        <p:txBody>
          <a:bodyPr wrap="square" rtlCol="0">
            <a:spAutoFit/>
          </a:bodyPr>
          <a:lstStyle/>
          <a:p>
            <a:pPr algn="ctr">
              <a:spcBef>
                <a:spcPts val="385"/>
              </a:spcBef>
            </a:pPr>
            <a:r>
              <a:rPr lang="en-US" altLang="zh-CN" sz="1400" dirty="0">
                <a:latin typeface="微软雅黑" panose="020B0503020204020204" pitchFamily="34" charset="-122"/>
                <a:ea typeface="微软雅黑" panose="020B0503020204020204" pitchFamily="34" charset="-122"/>
              </a:rPr>
              <a:t>c)</a:t>
            </a:r>
            <a:endParaRPr lang="zh-CN" altLang="en-US" sz="1400"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CBFB3198-6FDC-C7AA-86EE-38F63AEC637B}"/>
              </a:ext>
            </a:extLst>
          </p:cNvPr>
          <p:cNvSpPr txBox="1"/>
          <p:nvPr/>
        </p:nvSpPr>
        <p:spPr>
          <a:xfrm>
            <a:off x="4945761" y="4413261"/>
            <a:ext cx="2127359" cy="307777"/>
          </a:xfrm>
          <a:prstGeom prst="rect">
            <a:avLst/>
          </a:prstGeom>
          <a:noFill/>
        </p:spPr>
        <p:txBody>
          <a:bodyPr wrap="square">
            <a:spAutoFit/>
          </a:bodyPr>
          <a:lstStyle/>
          <a:p>
            <a:r>
              <a:rPr lang="zh-CN" altLang="en-US" sz="1400" dirty="0"/>
              <a:t>图</a:t>
            </a:r>
            <a:r>
              <a:rPr lang="en-US" altLang="zh-CN" sz="1400" dirty="0"/>
              <a:t>27 </a:t>
            </a:r>
            <a:r>
              <a:rPr lang="zh-CN" altLang="en-US" sz="1400" dirty="0"/>
              <a:t>溢流阀的应用示例</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A031F92F-B0FF-C6E9-FB22-14ED7F321FCC}"/>
              </a:ext>
            </a:extLst>
          </p:cNvPr>
          <p:cNvGrpSpPr/>
          <p:nvPr/>
        </p:nvGrpSpPr>
        <p:grpSpPr>
          <a:xfrm>
            <a:off x="-17100" y="135255"/>
            <a:ext cx="12209100" cy="719060"/>
            <a:chOff x="-17100" y="135255"/>
            <a:chExt cx="12209100" cy="71906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6" name="矩形 25"/>
          <p:cNvSpPr/>
          <p:nvPr/>
        </p:nvSpPr>
        <p:spPr>
          <a:xfrm>
            <a:off x="540867" y="1048561"/>
            <a:ext cx="7547154" cy="662554"/>
          </a:xfrm>
          <a:prstGeom prst="rect">
            <a:avLst/>
          </a:prstGeom>
          <a:noFill/>
        </p:spPr>
        <p:txBody>
          <a:bodyPr wrap="square">
            <a:spAutoFit/>
          </a:bodyPr>
          <a:lstStyle/>
          <a:p>
            <a:pPr>
              <a:lnSpc>
                <a:spcPct val="150000"/>
              </a:lnSpc>
              <a:buFont typeface="Wingdings" panose="05000000000000000000" pitchFamily="2" charset="2"/>
              <a:buChar char="q"/>
            </a:pPr>
            <a:r>
              <a:rPr lang="en-US" altLang="zh-CN" sz="2800" b="1" dirty="0">
                <a:solidFill>
                  <a:srgbClr val="003F88"/>
                </a:solidFill>
                <a:latin typeface="微软雅黑" panose="020B0503020204020204" pitchFamily="34" charset="-122"/>
                <a:ea typeface="微软雅黑" panose="020B0503020204020204" pitchFamily="34" charset="-122"/>
              </a:rPr>
              <a:t>8.3.2</a:t>
            </a:r>
            <a:r>
              <a:rPr lang="zh-CN" altLang="en-US" sz="2800" b="1" dirty="0">
                <a:solidFill>
                  <a:srgbClr val="003F88"/>
                </a:solidFill>
                <a:latin typeface="微软雅黑" panose="020B0503020204020204" pitchFamily="34" charset="-122"/>
                <a:ea typeface="微软雅黑" panose="020B0503020204020204" pitchFamily="34" charset="-122"/>
              </a:rPr>
              <a:t> 减压阀</a:t>
            </a:r>
          </a:p>
        </p:txBody>
      </p:sp>
      <p:sp>
        <p:nvSpPr>
          <p:cNvPr id="3" name="矩形 2">
            <a:extLst>
              <a:ext uri="{FF2B5EF4-FFF2-40B4-BE49-F238E27FC236}">
                <a16:creationId xmlns:a16="http://schemas.microsoft.com/office/drawing/2014/main" id="{E326B00B-B0EC-CEE1-839E-9F1D8A8298F1}"/>
              </a:ext>
            </a:extLst>
          </p:cNvPr>
          <p:cNvSpPr/>
          <p:nvPr/>
        </p:nvSpPr>
        <p:spPr>
          <a:xfrm>
            <a:off x="1076579" y="1950674"/>
            <a:ext cx="9420836" cy="960776"/>
          </a:xfrm>
          <a:prstGeom prst="rect">
            <a:avLst/>
          </a:prstGeom>
        </p:spPr>
        <p:txBody>
          <a:bodyPr wrap="square">
            <a:spAutoFit/>
          </a:bodyPr>
          <a:lstStyle/>
          <a:p>
            <a:pPr indent="431800">
              <a:lnSpc>
                <a:spcPct val="150000"/>
              </a:lnSpc>
            </a:pPr>
            <a:r>
              <a:rPr lang="zh-CN" altLang="en-US" sz="2000" dirty="0">
                <a:latin typeface="微软雅黑" panose="020B0503020204020204" pitchFamily="34" charset="-122"/>
                <a:ea typeface="微软雅黑" panose="020B0503020204020204" pitchFamily="34" charset="-122"/>
              </a:rPr>
              <a:t> 减压阀分定值、定差和定比减压阀三种</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其中最常用的是定值减压阀。如不指明</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通常所称的减压阀即为定值减压阀。</a:t>
            </a:r>
          </a:p>
        </p:txBody>
      </p:sp>
      <p:sp>
        <p:nvSpPr>
          <p:cNvPr id="4" name="文本框 3">
            <a:extLst>
              <a:ext uri="{FF2B5EF4-FFF2-40B4-BE49-F238E27FC236}">
                <a16:creationId xmlns:a16="http://schemas.microsoft.com/office/drawing/2014/main" id="{1D4E7B59-18D1-0738-4731-04B611C96173}"/>
              </a:ext>
            </a:extLst>
          </p:cNvPr>
          <p:cNvSpPr txBox="1">
            <a:spLocks noChangeArrowheads="1"/>
          </p:cNvSpPr>
          <p:nvPr/>
        </p:nvSpPr>
        <p:spPr bwMode="auto">
          <a:xfrm>
            <a:off x="665476" y="3198167"/>
            <a:ext cx="2743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cs typeface="+mj-cs"/>
              </a:rPr>
              <a:t>1.</a:t>
            </a:r>
            <a:r>
              <a:rPr lang="zh-CN" altLang="en-US" sz="2400" b="1" dirty="0">
                <a:latin typeface="微软雅黑" panose="020B0503020204020204" pitchFamily="34" charset="-122"/>
                <a:ea typeface="微软雅黑" panose="020B0503020204020204" pitchFamily="34" charset="-122"/>
                <a:cs typeface="+mj-cs"/>
              </a:rPr>
              <a:t>功用和要求</a:t>
            </a:r>
          </a:p>
        </p:txBody>
      </p:sp>
      <p:sp>
        <p:nvSpPr>
          <p:cNvPr id="6" name="矩形 5">
            <a:extLst>
              <a:ext uri="{FF2B5EF4-FFF2-40B4-BE49-F238E27FC236}">
                <a16:creationId xmlns:a16="http://schemas.microsoft.com/office/drawing/2014/main" id="{8C806676-E9AC-CC2D-A331-47D694930F87}"/>
              </a:ext>
            </a:extLst>
          </p:cNvPr>
          <p:cNvSpPr/>
          <p:nvPr/>
        </p:nvSpPr>
        <p:spPr>
          <a:xfrm>
            <a:off x="826114" y="3826792"/>
            <a:ext cx="10871900" cy="2345770"/>
          </a:xfrm>
          <a:prstGeom prst="rect">
            <a:avLst/>
          </a:prstGeom>
        </p:spPr>
        <p:txBody>
          <a:bodyPr wrap="square">
            <a:spAutoFit/>
          </a:bodyPr>
          <a:lstStyle/>
          <a:p>
            <a:pPr indent="396240">
              <a:lnSpc>
                <a:spcPct val="150000"/>
              </a:lnSpc>
            </a:pPr>
            <a:r>
              <a:rPr lang="zh-CN" altLang="en-US" sz="2000" dirty="0">
                <a:latin typeface="微软雅黑" panose="020B0503020204020204" pitchFamily="34" charset="-122"/>
                <a:ea typeface="微软雅黑" panose="020B0503020204020204" pitchFamily="34" charset="-122"/>
              </a:rPr>
              <a:t> 在同一系统中</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往往有一个泵要向几个执行元件供油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而</a:t>
            </a:r>
            <a:r>
              <a:rPr lang="zh-CN" altLang="en-US" sz="2000" b="1" dirty="0">
                <a:solidFill>
                  <a:srgbClr val="0070C0"/>
                </a:solidFill>
                <a:latin typeface="微软雅黑" panose="020B0503020204020204" pitchFamily="34" charset="-122"/>
                <a:ea typeface="微软雅黑" panose="020B0503020204020204" pitchFamily="34" charset="-122"/>
              </a:rPr>
              <a:t>各执行元件所需的工作压力不尽相同的情况</a:t>
            </a:r>
            <a:r>
              <a:rPr lang="zh-CN" altLang="en-US" sz="2000" dirty="0">
                <a:latin typeface="微软雅黑" panose="020B0503020204020204" pitchFamily="34" charset="-122"/>
                <a:ea typeface="微软雅黑" panose="020B0503020204020204" pitchFamily="34" charset="-122"/>
              </a:rPr>
              <a:t>。若某执行元件所需的工作压力较泵的供油压力低时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可在该</a:t>
            </a:r>
            <a:r>
              <a:rPr lang="zh-CN" altLang="en-US" sz="2000" b="1" dirty="0">
                <a:solidFill>
                  <a:srgbClr val="FF0000"/>
                </a:solidFill>
                <a:latin typeface="微软雅黑" panose="020B0503020204020204" pitchFamily="34" charset="-122"/>
                <a:ea typeface="微软雅黑" panose="020B0503020204020204" pitchFamily="34" charset="-122"/>
              </a:rPr>
              <a:t>分支油路</a:t>
            </a:r>
            <a:r>
              <a:rPr lang="zh-CN" altLang="en-US" sz="2000" dirty="0">
                <a:latin typeface="微软雅黑" panose="020B0503020204020204" pitchFamily="34" charset="-122"/>
                <a:ea typeface="微软雅黑" panose="020B0503020204020204" pitchFamily="34" charset="-122"/>
              </a:rPr>
              <a:t>中串联一减压阀。油液流经减压阀后</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压力降低</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且使与其出口处相接的某一回路的</a:t>
            </a:r>
            <a:r>
              <a:rPr lang="zh-CN" altLang="en-US" sz="2000" b="1" dirty="0">
                <a:solidFill>
                  <a:srgbClr val="FF0000"/>
                </a:solidFill>
                <a:latin typeface="微软雅黑" panose="020B0503020204020204" pitchFamily="34" charset="-122"/>
                <a:ea typeface="微软雅黑" panose="020B0503020204020204" pitchFamily="34" charset="-122"/>
              </a:rPr>
              <a:t>压力保持恒定</a:t>
            </a:r>
            <a:r>
              <a:rPr lang="zh-CN" altLang="en-US" sz="2000" dirty="0">
                <a:latin typeface="微软雅黑" panose="020B0503020204020204" pitchFamily="34" charset="-122"/>
                <a:ea typeface="微软雅黑" panose="020B0503020204020204" pitchFamily="34" charset="-122"/>
              </a:rPr>
              <a:t>。这种减压阀称为</a:t>
            </a:r>
            <a:r>
              <a:rPr lang="zh-CN" altLang="en-US" sz="2000" b="1" dirty="0">
                <a:solidFill>
                  <a:srgbClr val="0070C0"/>
                </a:solidFill>
                <a:latin typeface="微软雅黑" panose="020B0503020204020204" pitchFamily="34" charset="-122"/>
                <a:ea typeface="微软雅黑" panose="020B0503020204020204" pitchFamily="34" charset="-122"/>
              </a:rPr>
              <a:t>定值减压阀</a:t>
            </a:r>
            <a:r>
              <a:rPr lang="zh-CN" altLang="en-US" sz="2000" dirty="0">
                <a:latin typeface="微软雅黑" panose="020B0503020204020204" pitchFamily="34" charset="-122"/>
                <a:ea typeface="微软雅黑" panose="020B0503020204020204" pitchFamily="34" charset="-122"/>
              </a:rPr>
              <a:t>。</a:t>
            </a:r>
          </a:p>
          <a:p>
            <a:pPr indent="432000">
              <a:lnSpc>
                <a:spcPct val="150000"/>
              </a:lnSpc>
            </a:pPr>
            <a:r>
              <a:rPr lang="zh-CN" altLang="en-US" sz="2000" dirty="0">
                <a:latin typeface="微软雅黑" panose="020B0503020204020204" pitchFamily="34" charset="-122"/>
                <a:ea typeface="微软雅黑" panose="020B0503020204020204" pitchFamily="34" charset="-122"/>
              </a:rPr>
              <a:t> 对减压阀的要求是</a:t>
            </a:r>
            <a:r>
              <a:rPr lang="en-US" altLang="zh-CN"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出口压力维持恒定</a:t>
            </a:r>
            <a:r>
              <a:rPr lang="en-US" altLang="zh-CN" sz="2000" dirty="0">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不受进口压力、通过流量大小的影响</a:t>
            </a:r>
            <a:r>
              <a:rPr lang="zh-CN" altLang="en-US" sz="20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9185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p:nvPr/>
        </p:nvSpPr>
        <p:spPr bwMode="auto">
          <a:xfrm>
            <a:off x="791752" y="1038360"/>
            <a:ext cx="8670538" cy="1296144"/>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a:lnSpc>
                <a:spcPts val="3000"/>
              </a:lnSpc>
              <a:buFont typeface="Wingdings" panose="05000000000000000000" pitchFamily="2" charset="2"/>
              <a:buChar char="u"/>
            </a:pPr>
            <a:r>
              <a:rPr lang="zh-CN" altLang="en-US" sz="2400" kern="0" dirty="0">
                <a:latin typeface="微软雅黑" panose="020B0503020204020204" pitchFamily="34" charset="-122"/>
                <a:ea typeface="微软雅黑" panose="020B0503020204020204" pitchFamily="34" charset="-122"/>
              </a:rPr>
              <a:t>减压阀和溢流阀的不同之处</a:t>
            </a:r>
            <a:endParaRPr lang="en-US" altLang="zh-CN" sz="2400" kern="0" dirty="0">
              <a:latin typeface="微软雅黑" panose="020B0503020204020204" pitchFamily="34" charset="-122"/>
              <a:ea typeface="微软雅黑" panose="020B0503020204020204" pitchFamily="34" charset="-122"/>
            </a:endParaRPr>
          </a:p>
          <a:p>
            <a:pPr algn="just">
              <a:lnSpc>
                <a:spcPts val="3000"/>
              </a:lnSpc>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rPr>
              <a:t>减压阀保持</a:t>
            </a:r>
            <a:r>
              <a:rPr lang="zh-CN" altLang="en-US" sz="2000" kern="0" dirty="0">
                <a:solidFill>
                  <a:srgbClr val="FF0000"/>
                </a:solidFill>
                <a:latin typeface="微软雅黑" panose="020B0503020204020204" pitchFamily="34" charset="-122"/>
                <a:ea typeface="微软雅黑" panose="020B0503020204020204" pitchFamily="34" charset="-122"/>
              </a:rPr>
              <a:t>出口</a:t>
            </a:r>
            <a:r>
              <a:rPr lang="zh-CN" altLang="en-US" sz="2000" kern="0" dirty="0">
                <a:latin typeface="微软雅黑" panose="020B0503020204020204" pitchFamily="34" charset="-122"/>
                <a:ea typeface="微软雅黑" panose="020B0503020204020204" pitchFamily="34" charset="-122"/>
              </a:rPr>
              <a:t>处压力基本不变，溢流阀保持</a:t>
            </a:r>
            <a:r>
              <a:rPr lang="zh-CN" altLang="en-US" sz="2000" kern="0" dirty="0">
                <a:solidFill>
                  <a:srgbClr val="FF0000"/>
                </a:solidFill>
                <a:latin typeface="微软雅黑" panose="020B0503020204020204" pitchFamily="34" charset="-122"/>
                <a:ea typeface="微软雅黑" panose="020B0503020204020204" pitchFamily="34" charset="-122"/>
              </a:rPr>
              <a:t>进口</a:t>
            </a:r>
            <a:r>
              <a:rPr lang="zh-CN" altLang="en-US" sz="2000" kern="0" dirty="0">
                <a:latin typeface="微软雅黑" panose="020B0503020204020204" pitchFamily="34" charset="-122"/>
                <a:ea typeface="微软雅黑" panose="020B0503020204020204" pitchFamily="34" charset="-122"/>
              </a:rPr>
              <a:t>处压力基本不变</a:t>
            </a:r>
          </a:p>
          <a:p>
            <a:pPr algn="just">
              <a:lnSpc>
                <a:spcPts val="3000"/>
              </a:lnSpc>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rPr>
              <a:t>在不工作时，减压阀进、出口互通，溢流阀进、出口不通</a:t>
            </a:r>
          </a:p>
        </p:txBody>
      </p:sp>
      <p:pic>
        <p:nvPicPr>
          <p:cNvPr id="8" name="图片 7"/>
          <p:cNvPicPr>
            <a:picLocks noChangeAspect="1"/>
          </p:cNvPicPr>
          <p:nvPr/>
        </p:nvPicPr>
        <p:blipFill>
          <a:blip r:embed="rId3"/>
          <a:srcRect b="7678"/>
          <a:stretch/>
        </p:blipFill>
        <p:spPr>
          <a:xfrm>
            <a:off x="2757643" y="2744935"/>
            <a:ext cx="3773366" cy="3680491"/>
          </a:xfrm>
          <a:prstGeom prst="rect">
            <a:avLst/>
          </a:prstGeom>
        </p:spPr>
      </p:pic>
      <p:pic>
        <p:nvPicPr>
          <p:cNvPr id="11" name="图片 10"/>
          <p:cNvPicPr>
            <a:picLocks noChangeAspect="1"/>
          </p:cNvPicPr>
          <p:nvPr/>
        </p:nvPicPr>
        <p:blipFill>
          <a:blip r:embed="rId4"/>
          <a:srcRect b="6301"/>
          <a:stretch/>
        </p:blipFill>
        <p:spPr>
          <a:xfrm>
            <a:off x="6556917" y="2693173"/>
            <a:ext cx="4152114" cy="3634656"/>
          </a:xfrm>
          <a:prstGeom prst="rect">
            <a:avLst/>
          </a:prstGeom>
        </p:spPr>
      </p:pic>
      <p:grpSp>
        <p:nvGrpSpPr>
          <p:cNvPr id="4" name="组合 3">
            <a:extLst>
              <a:ext uri="{FF2B5EF4-FFF2-40B4-BE49-F238E27FC236}">
                <a16:creationId xmlns:a16="http://schemas.microsoft.com/office/drawing/2014/main" id="{EA6E1AEE-FFB8-E1C7-6B7B-455D6FE80875}"/>
              </a:ext>
            </a:extLst>
          </p:cNvPr>
          <p:cNvGrpSpPr/>
          <p:nvPr/>
        </p:nvGrpSpPr>
        <p:grpSpPr>
          <a:xfrm>
            <a:off x="-17100" y="135255"/>
            <a:ext cx="12209100" cy="719060"/>
            <a:chOff x="-17100" y="135255"/>
            <a:chExt cx="12209100" cy="719060"/>
          </a:xfrm>
        </p:grpSpPr>
        <p:cxnSp>
          <p:nvCxnSpPr>
            <p:cNvPr id="6" name="直接连接符 5">
              <a:extLst>
                <a:ext uri="{FF2B5EF4-FFF2-40B4-BE49-F238E27FC236}">
                  <a16:creationId xmlns:a16="http://schemas.microsoft.com/office/drawing/2014/main" id="{9ACD257D-9445-16F2-135B-38BF6611FDC1}"/>
                </a:ext>
              </a:extLst>
            </p:cNvPr>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AB55FCC0-F835-5772-5492-04BB5B00F5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3" name="文本框 12">
              <a:extLst>
                <a:ext uri="{FF2B5EF4-FFF2-40B4-BE49-F238E27FC236}">
                  <a16:creationId xmlns:a16="http://schemas.microsoft.com/office/drawing/2014/main" id="{6DC740FF-75A0-11B7-A836-75CD61B9836A}"/>
                </a:ext>
              </a:extLst>
            </p:cNvPr>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14" name="矩形 13">
              <a:extLst>
                <a:ext uri="{FF2B5EF4-FFF2-40B4-BE49-F238E27FC236}">
                  <a16:creationId xmlns:a16="http://schemas.microsoft.com/office/drawing/2014/main" id="{8E653B47-D509-E790-907F-4F76F5EF42E3}"/>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5" name="文本框 14">
            <a:extLst>
              <a:ext uri="{FF2B5EF4-FFF2-40B4-BE49-F238E27FC236}">
                <a16:creationId xmlns:a16="http://schemas.microsoft.com/office/drawing/2014/main" id="{16F8FD56-3525-ED83-4437-F3799DB576A9}"/>
              </a:ext>
            </a:extLst>
          </p:cNvPr>
          <p:cNvSpPr txBox="1">
            <a:spLocks noChangeArrowheads="1"/>
          </p:cNvSpPr>
          <p:nvPr/>
        </p:nvSpPr>
        <p:spPr bwMode="auto">
          <a:xfrm>
            <a:off x="711846" y="2462340"/>
            <a:ext cx="35571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工作原理和结构</a:t>
            </a:r>
          </a:p>
        </p:txBody>
      </p:sp>
      <p:sp>
        <p:nvSpPr>
          <p:cNvPr id="2" name="文本框 1">
            <a:extLst>
              <a:ext uri="{FF2B5EF4-FFF2-40B4-BE49-F238E27FC236}">
                <a16:creationId xmlns:a16="http://schemas.microsoft.com/office/drawing/2014/main" id="{21612157-87DB-B7E6-5DF9-BC320C4DEF71}"/>
              </a:ext>
            </a:extLst>
          </p:cNvPr>
          <p:cNvSpPr txBox="1"/>
          <p:nvPr/>
        </p:nvSpPr>
        <p:spPr>
          <a:xfrm>
            <a:off x="2936883" y="6246355"/>
            <a:ext cx="2664296"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28</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 </a:t>
            </a:r>
            <a:r>
              <a:rPr lang="zh-CN" altLang="en-US" sz="1400" dirty="0">
                <a:solidFill>
                  <a:srgbClr val="0070C0"/>
                </a:solidFill>
                <a:latin typeface="微软雅黑" panose="020B0503020204020204" pitchFamily="34" charset="-122"/>
                <a:ea typeface="微软雅黑" panose="020B0503020204020204" pitchFamily="34" charset="-122"/>
              </a:rPr>
              <a:t>直动式</a:t>
            </a:r>
            <a:r>
              <a:rPr lang="zh-CN" altLang="en-US" sz="1400" dirty="0">
                <a:latin typeface="微软雅黑" panose="020B0503020204020204" pitchFamily="34" charset="-122"/>
                <a:ea typeface="微软雅黑" panose="020B0503020204020204" pitchFamily="34" charset="-122"/>
              </a:rPr>
              <a:t>减压阀工作原理</a:t>
            </a:r>
          </a:p>
        </p:txBody>
      </p:sp>
      <p:sp>
        <p:nvSpPr>
          <p:cNvPr id="3" name="文本框 2">
            <a:extLst>
              <a:ext uri="{FF2B5EF4-FFF2-40B4-BE49-F238E27FC236}">
                <a16:creationId xmlns:a16="http://schemas.microsoft.com/office/drawing/2014/main" id="{11D8E28D-B9F5-26F8-2ADB-6C7BDC9EDE08}"/>
              </a:ext>
            </a:extLst>
          </p:cNvPr>
          <p:cNvSpPr txBox="1"/>
          <p:nvPr/>
        </p:nvSpPr>
        <p:spPr>
          <a:xfrm>
            <a:off x="7405726" y="6327829"/>
            <a:ext cx="2664296"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solidFill>
                  <a:srgbClr val="0070C0"/>
                </a:solidFill>
                <a:latin typeface="微软雅黑" panose="020B0503020204020204" pitchFamily="34" charset="-122"/>
                <a:ea typeface="微软雅黑" panose="020B0503020204020204" pitchFamily="34" charset="-122"/>
              </a:rPr>
              <a:t>29  </a:t>
            </a:r>
            <a:r>
              <a:rPr lang="zh-CN" altLang="en-US" sz="1400" dirty="0">
                <a:solidFill>
                  <a:srgbClr val="0070C0"/>
                </a:solidFill>
                <a:latin typeface="微软雅黑" panose="020B0503020204020204" pitchFamily="34" charset="-122"/>
                <a:ea typeface="微软雅黑" panose="020B0503020204020204" pitchFamily="34" charset="-122"/>
              </a:rPr>
              <a:t>先导式</a:t>
            </a:r>
            <a:r>
              <a:rPr lang="zh-CN" altLang="en-US" sz="1400" dirty="0">
                <a:latin typeface="微软雅黑" panose="020B0503020204020204" pitchFamily="34" charset="-122"/>
                <a:ea typeface="微软雅黑" panose="020B0503020204020204" pitchFamily="34" charset="-122"/>
              </a:rPr>
              <a:t>减压阀</a:t>
            </a:r>
          </a:p>
        </p:txBody>
      </p:sp>
      <p:pic>
        <p:nvPicPr>
          <p:cNvPr id="16" name="图片 15">
            <a:extLst>
              <a:ext uri="{FF2B5EF4-FFF2-40B4-BE49-F238E27FC236}">
                <a16:creationId xmlns:a16="http://schemas.microsoft.com/office/drawing/2014/main" id="{0C96AC20-5801-4F4C-8679-01CE72479405}"/>
              </a:ext>
            </a:extLst>
          </p:cNvPr>
          <p:cNvPicPr>
            <a:picLocks noChangeAspect="1"/>
          </p:cNvPicPr>
          <p:nvPr/>
        </p:nvPicPr>
        <p:blipFill rotWithShape="1">
          <a:blip r:embed="rId6"/>
          <a:srcRect l="36211" t="49191" r="48984" b="16468"/>
          <a:stretch/>
        </p:blipFill>
        <p:spPr>
          <a:xfrm>
            <a:off x="774203" y="3892981"/>
            <a:ext cx="1417531" cy="2026133"/>
          </a:xfrm>
          <a:prstGeom prst="rect">
            <a:avLst/>
          </a:prstGeom>
        </p:spPr>
      </p:pic>
      <p:sp>
        <p:nvSpPr>
          <p:cNvPr id="17" name="文本框 16">
            <a:extLst>
              <a:ext uri="{FF2B5EF4-FFF2-40B4-BE49-F238E27FC236}">
                <a16:creationId xmlns:a16="http://schemas.microsoft.com/office/drawing/2014/main" id="{DBDC65AD-C5FE-4B6A-A4DC-794D50393091}"/>
              </a:ext>
            </a:extLst>
          </p:cNvPr>
          <p:cNvSpPr txBox="1"/>
          <p:nvPr/>
        </p:nvSpPr>
        <p:spPr>
          <a:xfrm>
            <a:off x="246679" y="6036571"/>
            <a:ext cx="2664296"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直动式溢流阀</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3"/>
          <p:cNvSpPr/>
          <p:nvPr/>
        </p:nvSpPr>
        <p:spPr>
          <a:xfrm>
            <a:off x="876020" y="81065"/>
            <a:ext cx="10616971" cy="916220"/>
          </a:xfrm>
          <a:prstGeom prst="roundRect">
            <a:avLst/>
          </a:prstGeom>
          <a:noFill/>
          <a:ln>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3" name="文本框 12"/>
          <p:cNvSpPr txBox="1"/>
          <p:nvPr/>
        </p:nvSpPr>
        <p:spPr>
          <a:xfrm>
            <a:off x="949638" y="165440"/>
            <a:ext cx="10181772" cy="748988"/>
          </a:xfrm>
          <a:prstGeom prst="rect">
            <a:avLst/>
          </a:prstGeom>
          <a:noFill/>
        </p:spPr>
        <p:txBody>
          <a:bodyPr wrap="square" rtlCol="0">
            <a:spAutoFit/>
          </a:bodyPr>
          <a:lstStyle/>
          <a:p>
            <a:pPr algn="ctr"/>
            <a:r>
              <a:rPr lang="zh-CN" altLang="en-US" sz="4267" dirty="0">
                <a:solidFill>
                  <a:schemeClr val="bg1"/>
                </a:solidFill>
                <a:latin typeface="微软雅黑" panose="020B0503020204020204" pitchFamily="34" charset="-122"/>
                <a:ea typeface="微软雅黑" panose="020B0503020204020204" pitchFamily="34" charset="-122"/>
              </a:rPr>
              <a:t>第四</a:t>
            </a:r>
            <a:r>
              <a:rPr lang="zh-CN" altLang="en-US" sz="4267">
                <a:solidFill>
                  <a:schemeClr val="bg1"/>
                </a:solidFill>
                <a:latin typeface="微软雅黑" panose="020B0503020204020204" pitchFamily="34" charset="-122"/>
                <a:ea typeface="微软雅黑" panose="020B0503020204020204" pitchFamily="34" charset="-122"/>
              </a:rPr>
              <a:t>节   压力控制阀</a:t>
            </a:r>
            <a:endParaRPr lang="zh-CN" altLang="en-US" sz="4267" dirty="0">
              <a:solidFill>
                <a:schemeClr val="bg1"/>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FB7B9799-0C82-C1C0-63D5-81DB4313E3CE}"/>
              </a:ext>
            </a:extLst>
          </p:cNvPr>
          <p:cNvGrpSpPr/>
          <p:nvPr/>
        </p:nvGrpSpPr>
        <p:grpSpPr>
          <a:xfrm>
            <a:off x="-17100" y="135255"/>
            <a:ext cx="12209100" cy="719060"/>
            <a:chOff x="-17100" y="135255"/>
            <a:chExt cx="12209100" cy="719060"/>
          </a:xfrm>
        </p:grpSpPr>
        <p:cxnSp>
          <p:nvCxnSpPr>
            <p:cNvPr id="17" name="直接连接符 16">
              <a:extLst>
                <a:ext uri="{FF2B5EF4-FFF2-40B4-BE49-F238E27FC236}">
                  <a16:creationId xmlns:a16="http://schemas.microsoft.com/office/drawing/2014/main" id="{5E1631C4-286C-FE3D-332F-0F061B3F936C}"/>
                </a:ext>
              </a:extLst>
            </p:cNvPr>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8E154964-89FF-8AF5-2D68-F439D1867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9" name="文本框 18">
              <a:extLst>
                <a:ext uri="{FF2B5EF4-FFF2-40B4-BE49-F238E27FC236}">
                  <a16:creationId xmlns:a16="http://schemas.microsoft.com/office/drawing/2014/main" id="{616A09AA-CEC5-DE56-DC51-8342FF42A46C}"/>
                </a:ext>
              </a:extLst>
            </p:cNvPr>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0" name="矩形 19">
              <a:extLst>
                <a:ext uri="{FF2B5EF4-FFF2-40B4-BE49-F238E27FC236}">
                  <a16:creationId xmlns:a16="http://schemas.microsoft.com/office/drawing/2014/main" id="{8C510515-5A48-7353-227A-93CD739B8AB8}"/>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1" name="Title 1">
            <a:extLst>
              <a:ext uri="{FF2B5EF4-FFF2-40B4-BE49-F238E27FC236}">
                <a16:creationId xmlns:a16="http://schemas.microsoft.com/office/drawing/2014/main" id="{A17652D3-2F4C-58B2-BFDB-C2BC400202CF}"/>
              </a:ext>
            </a:extLst>
          </p:cNvPr>
          <p:cNvSpPr txBox="1">
            <a:spLocks/>
          </p:cNvSpPr>
          <p:nvPr/>
        </p:nvSpPr>
        <p:spPr>
          <a:xfrm>
            <a:off x="483668" y="1181817"/>
            <a:ext cx="5012998" cy="5510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latin typeface="微软雅黑" panose="020B0503020204020204" pitchFamily="34" charset="-122"/>
                <a:ea typeface="微软雅黑" panose="020B0503020204020204" pitchFamily="34" charset="-122"/>
                <a:cs typeface="+mn-cs"/>
              </a:rPr>
              <a:t>3.</a:t>
            </a:r>
            <a:r>
              <a:rPr lang="zh-CN" altLang="en-US" sz="2400" b="1" dirty="0">
                <a:latin typeface="微软雅黑" panose="020B0503020204020204" pitchFamily="34" charset="-122"/>
                <a:ea typeface="微软雅黑" panose="020B0503020204020204" pitchFamily="34" charset="-122"/>
                <a:cs typeface="+mn-cs"/>
              </a:rPr>
              <a:t>减压阀的性能</a:t>
            </a:r>
            <a:endParaRPr lang="en-US" sz="2400" b="1" dirty="0">
              <a:latin typeface="微软雅黑" panose="020B0503020204020204" pitchFamily="34" charset="-122"/>
              <a:ea typeface="微软雅黑" panose="020B0503020204020204" pitchFamily="34" charset="-122"/>
              <a:cs typeface="+mn-cs"/>
            </a:endParaRPr>
          </a:p>
        </p:txBody>
      </p:sp>
      <p:sp>
        <p:nvSpPr>
          <p:cNvPr id="22" name="矩形 21">
            <a:extLst>
              <a:ext uri="{FF2B5EF4-FFF2-40B4-BE49-F238E27FC236}">
                <a16:creationId xmlns:a16="http://schemas.microsoft.com/office/drawing/2014/main" id="{46E1B25A-84D1-8408-4A88-304279D57015}"/>
              </a:ext>
            </a:extLst>
          </p:cNvPr>
          <p:cNvSpPr/>
          <p:nvPr/>
        </p:nvSpPr>
        <p:spPr>
          <a:xfrm>
            <a:off x="1950529" y="1894319"/>
            <a:ext cx="8496944" cy="426335"/>
          </a:xfrm>
          <a:prstGeom prst="rect">
            <a:avLst/>
          </a:prstGeom>
        </p:spPr>
        <p:txBody>
          <a:bodyPr wrap="square">
            <a:spAutoFit/>
          </a:bodyPr>
          <a:lstStyle/>
          <a:p>
            <a:pPr marL="342900" indent="-342900">
              <a:lnSpc>
                <a:spcPct val="12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忽略减压阀阀心的自重、摩擦力</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且令</a:t>
            </a:r>
            <a:r>
              <a:rPr lang="en-US" altLang="zh-CN" sz="2000" dirty="0" err="1">
                <a:latin typeface="微软雅黑" panose="020B0503020204020204" pitchFamily="34" charset="-122"/>
                <a:ea typeface="微软雅黑" panose="020B0503020204020204" pitchFamily="34" charset="-122"/>
              </a:rPr>
              <a:t>Cv</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则阀心上的力的平衡方程为</a:t>
            </a:r>
          </a:p>
        </p:txBody>
      </p:sp>
      <p:pic>
        <p:nvPicPr>
          <p:cNvPr id="23" name="Picture 4" descr="C:\Users\ADMINI~1\AppData\Local\Temp\ksohtml\wps1DBA.tmp.jpg">
            <a:extLst>
              <a:ext uri="{FF2B5EF4-FFF2-40B4-BE49-F238E27FC236}">
                <a16:creationId xmlns:a16="http://schemas.microsoft.com/office/drawing/2014/main" id="{7EFA5ED2-5091-3C80-7432-057EC92846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88" t="1" r="13801" b="-38930"/>
          <a:stretch/>
        </p:blipFill>
        <p:spPr bwMode="auto">
          <a:xfrm>
            <a:off x="2024292" y="2552240"/>
            <a:ext cx="5197592" cy="635953"/>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a:extLst>
              <a:ext uri="{FF2B5EF4-FFF2-40B4-BE49-F238E27FC236}">
                <a16:creationId xmlns:a16="http://schemas.microsoft.com/office/drawing/2014/main" id="{23DAB1C7-4865-F6EB-FE39-A7F5F0DBEF7C}"/>
              </a:ext>
            </a:extLst>
          </p:cNvPr>
          <p:cNvSpPr/>
          <p:nvPr/>
        </p:nvSpPr>
        <p:spPr>
          <a:xfrm>
            <a:off x="2024291" y="3440770"/>
            <a:ext cx="6526389" cy="307264"/>
          </a:xfrm>
          <a:prstGeom prst="rect">
            <a:avLst/>
          </a:prstGeom>
        </p:spPr>
        <p:txBody>
          <a:bodyPr wrap="square">
            <a:spAutoFit/>
          </a:bodyPr>
          <a:lstStyle/>
          <a:p>
            <a:pPr indent="266700">
              <a:lnSpc>
                <a:spcPts val="1575"/>
              </a:lnSpc>
            </a:pPr>
            <a:r>
              <a:rPr lang="en-US" altLang="zh-CN" sz="2000" dirty="0">
                <a:latin typeface="微软雅黑" panose="020B0503020204020204" pitchFamily="34" charset="-122"/>
                <a:ea typeface="微软雅黑" panose="020B0503020204020204" pitchFamily="34" charset="-122"/>
              </a:rPr>
              <a:t>x</a:t>
            </a:r>
            <a:r>
              <a:rPr lang="en-US" altLang="zh-CN" sz="2000" baseline="-25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为当阀心开口</a:t>
            </a:r>
            <a:r>
              <a:rPr lang="en-US" altLang="zh-CN" sz="2000" dirty="0" err="1">
                <a:latin typeface="微软雅黑" panose="020B0503020204020204" pitchFamily="34" charset="-122"/>
                <a:ea typeface="微软雅黑" panose="020B0503020204020204" pitchFamily="34" charset="-122"/>
              </a:rPr>
              <a:t>x</a:t>
            </a:r>
            <a:r>
              <a:rPr lang="en-US" altLang="zh-CN" sz="2000" baseline="-25000" dirty="0" err="1">
                <a:latin typeface="微软雅黑" panose="020B0503020204020204" pitchFamily="34" charset="-122"/>
                <a:ea typeface="微软雅黑" panose="020B0503020204020204" pitchFamily="34" charset="-122"/>
              </a:rPr>
              <a:t>R</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时的弹簧预压缩量</a:t>
            </a:r>
          </a:p>
        </p:txBody>
      </p:sp>
      <p:pic>
        <p:nvPicPr>
          <p:cNvPr id="25" name="Picture 6" descr="C:\Users\ADMINI~1\AppData\Local\Temp\ksohtml\wps1BB8.tmp.jpg">
            <a:extLst>
              <a:ext uri="{FF2B5EF4-FFF2-40B4-BE49-F238E27FC236}">
                <a16:creationId xmlns:a16="http://schemas.microsoft.com/office/drawing/2014/main" id="{64A42B0F-08E0-A195-E357-2554896CC5B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6051" b="-11939"/>
          <a:stretch/>
        </p:blipFill>
        <p:spPr bwMode="auto">
          <a:xfrm>
            <a:off x="2210292" y="4004087"/>
            <a:ext cx="4465362" cy="902224"/>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25">
            <a:extLst>
              <a:ext uri="{FF2B5EF4-FFF2-40B4-BE49-F238E27FC236}">
                <a16:creationId xmlns:a16="http://schemas.microsoft.com/office/drawing/2014/main" id="{788CC68C-C6C5-64B1-84E5-F07F17AF25A4}"/>
              </a:ext>
            </a:extLst>
          </p:cNvPr>
          <p:cNvSpPr/>
          <p:nvPr/>
        </p:nvSpPr>
        <p:spPr>
          <a:xfrm>
            <a:off x="1254934" y="5429903"/>
            <a:ext cx="3081293" cy="307264"/>
          </a:xfrm>
          <a:prstGeom prst="rect">
            <a:avLst/>
          </a:prstGeom>
        </p:spPr>
        <p:txBody>
          <a:bodyPr wrap="none">
            <a:spAutoFit/>
          </a:bodyPr>
          <a:lstStyle/>
          <a:p>
            <a:pPr indent="266700">
              <a:lnSpc>
                <a:spcPts val="1575"/>
              </a:lnSpc>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如果忽略稳态液动力</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则</a:t>
            </a:r>
          </a:p>
        </p:txBody>
      </p:sp>
      <p:pic>
        <p:nvPicPr>
          <p:cNvPr id="27" name="Picture 10" descr="C:\Users\ADMINI~1\AppData\Local\Temp\ksohtml\wpsC2D1.tmp.jpg">
            <a:extLst>
              <a:ext uri="{FF2B5EF4-FFF2-40B4-BE49-F238E27FC236}">
                <a16:creationId xmlns:a16="http://schemas.microsoft.com/office/drawing/2014/main" id="{CDC1D256-E09C-1B42-62EE-2BEF9FF00D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r="30163" b="-20982"/>
          <a:stretch/>
        </p:blipFill>
        <p:spPr bwMode="auto">
          <a:xfrm>
            <a:off x="4472376" y="5083515"/>
            <a:ext cx="2141314" cy="920170"/>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200B2286-F929-4A59-999E-797B694940E4}"/>
              </a:ext>
            </a:extLst>
          </p:cNvPr>
          <p:cNvPicPr>
            <a:picLocks noChangeAspect="1"/>
          </p:cNvPicPr>
          <p:nvPr/>
        </p:nvPicPr>
        <p:blipFill>
          <a:blip r:embed="rId7"/>
          <a:srcRect b="7678"/>
          <a:stretch/>
        </p:blipFill>
        <p:spPr>
          <a:xfrm>
            <a:off x="7719625" y="2463563"/>
            <a:ext cx="3773366" cy="3680491"/>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39A89A19-FA77-56DA-F004-1858FEB67BE2}"/>
                  </a:ext>
                </a:extLst>
              </p:cNvPr>
              <p:cNvSpPr txBox="1">
                <a:spLocks/>
              </p:cNvSpPr>
              <p:nvPr/>
            </p:nvSpPr>
            <p:spPr>
              <a:xfrm>
                <a:off x="1767149" y="2026762"/>
                <a:ext cx="3355093" cy="4099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dirty="0">
                    <a:latin typeface="微软雅黑" panose="020B0503020204020204" pitchFamily="34" charset="-122"/>
                    <a:ea typeface="微软雅黑" panose="020B0503020204020204" pitchFamily="34" charset="-122"/>
                  </a:rPr>
                  <a:t>减压阀的</a:t>
                </a:r>
                <a:r>
                  <a:rPr lang="zh-CN" altLang="en-US" sz="2000" dirty="0">
                    <a:solidFill>
                      <a:srgbClr val="FF0000"/>
                    </a:solidFill>
                    <a:latin typeface="微软雅黑" panose="020B0503020204020204" pitchFamily="34" charset="-122"/>
                    <a:ea typeface="微软雅黑" panose="020B0503020204020204" pitchFamily="34" charset="-122"/>
                  </a:rPr>
                  <a:t>出口压力</a:t>
                </a:r>
                <a:r>
                  <a:rPr lang="zh-CN" altLang="en-US" sz="2000" dirty="0">
                    <a:latin typeface="微软雅黑" panose="020B0503020204020204" pitchFamily="34" charset="-122"/>
                    <a:ea typeface="微软雅黑" panose="020B0503020204020204" pitchFamily="34" charset="-122"/>
                  </a:rPr>
                  <a:t>基本上保持定值：</a:t>
                </a:r>
                <a:endParaRPr lang="en-US" altLang="zh-CN" sz="2000" dirty="0">
                  <a:latin typeface="微软雅黑" panose="020B0503020204020204" pitchFamily="34" charset="-122"/>
                  <a:ea typeface="微软雅黑" panose="020B0503020204020204" pitchFamily="34" charset="-122"/>
                </a:endParaRPr>
              </a:p>
              <a:p>
                <a:pPr marL="0" indent="0" algn="just">
                  <a:buNone/>
                </a:pPr>
                <a:endParaRPr lang="en-US" altLang="zh-CN" sz="2000" dirty="0">
                  <a:latin typeface="微软雅黑" panose="020B0503020204020204" pitchFamily="34" charset="-122"/>
                  <a:ea typeface="微软雅黑" panose="020B0503020204020204" pitchFamily="34" charset="-122"/>
                </a:endParaRPr>
              </a:p>
              <a:p>
                <a:pPr marL="0" indent="0" algn="just">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𝑘</m:t>
                        </m:r>
                      </m:e>
                      <m:sub>
                        <m:r>
                          <a:rPr lang="en-US" altLang="zh-CN" sz="2000" i="1" dirty="0">
                            <a:latin typeface="Cambria Math" panose="02040503050406030204" pitchFamily="18" charset="0"/>
                            <a:ea typeface="Cambria Math" panose="02040503050406030204" pitchFamily="18" charset="0"/>
                          </a:rPr>
                          <m:t>𝑠</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弹簧刚度</a:t>
                </a:r>
                <a:endParaRPr lang="en-US" altLang="zh-CN" sz="2000" dirty="0">
                  <a:latin typeface="微软雅黑" panose="020B0503020204020204" pitchFamily="34" charset="-122"/>
                  <a:ea typeface="微软雅黑" panose="020B0503020204020204" pitchFamily="34" charset="-122"/>
                </a:endParaRPr>
              </a:p>
              <a:p>
                <a:pPr marL="0" indent="0" algn="just">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𝐴</m:t>
                    </m:r>
                    <m:r>
                      <a:rPr lang="en-US" altLang="zh-CN" sz="2000" i="1" smtClean="0">
                        <a:latin typeface="Cambria Math" panose="02040503050406030204" pitchFamily="18" charset="0"/>
                        <a:ea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阀芯承压面积</a:t>
                </a:r>
                <a:endParaRPr lang="en-US" altLang="zh-CN" sz="2000" i="1" dirty="0">
                  <a:latin typeface="微软雅黑" panose="020B0503020204020204" pitchFamily="34" charset="-122"/>
                  <a:ea typeface="微软雅黑" panose="020B0503020204020204" pitchFamily="34" charset="-122"/>
                </a:endParaRPr>
              </a:p>
              <a:p>
                <a:pPr marL="0" indent="0" algn="just">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𝑥</m:t>
                        </m:r>
                      </m:e>
                      <m:sub>
                        <m:r>
                          <a:rPr lang="en-US" altLang="zh-CN" sz="2000" i="1" dirty="0">
                            <a:latin typeface="Cambria Math" panose="02040503050406030204" pitchFamily="18" charset="0"/>
                            <a:ea typeface="Cambria Math" panose="02040503050406030204" pitchFamily="18" charset="0"/>
                          </a:rPr>
                          <m:t>𝑐</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弹簧预压缩量</a:t>
                </a:r>
                <a:endParaRPr lang="en-US" altLang="zh-CN" sz="2000" dirty="0">
                  <a:latin typeface="微软雅黑" panose="020B0503020204020204" pitchFamily="34" charset="-122"/>
                  <a:ea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rPr>
                  <a:t>进口压力恒定时，</a:t>
                </a:r>
                <a:r>
                  <a:rPr lang="zh-CN" altLang="en-US" sz="2000" dirty="0">
                    <a:solidFill>
                      <a:srgbClr val="0070C0"/>
                    </a:solidFill>
                    <a:latin typeface="微软雅黑" panose="020B0503020204020204" pitchFamily="34" charset="-122"/>
                    <a:ea typeface="微软雅黑" panose="020B0503020204020204" pitchFamily="34" charset="-122"/>
                  </a:rPr>
                  <a:t>若通过的流量增加，出口压力略微下降</a:t>
                </a:r>
              </a:p>
            </p:txBody>
          </p:sp>
        </mc:Choice>
        <mc:Fallback xmlns="">
          <p:sp>
            <p:nvSpPr>
              <p:cNvPr id="2" name="Content Placeholder 2">
                <a:extLst>
                  <a:ext uri="{FF2B5EF4-FFF2-40B4-BE49-F238E27FC236}">
                    <a16:creationId xmlns:a16="http://schemas.microsoft.com/office/drawing/2014/main" id="{39A89A19-FA77-56DA-F004-1858FEB67BE2}"/>
                  </a:ext>
                </a:extLst>
              </p:cNvPr>
              <p:cNvSpPr txBox="1">
                <a:spLocks noRot="1" noChangeAspect="1" noMove="1" noResize="1" noEditPoints="1" noAdjustHandles="1" noChangeArrowheads="1" noChangeShapeType="1" noTextEdit="1"/>
              </p:cNvSpPr>
              <p:nvPr/>
            </p:nvSpPr>
            <p:spPr>
              <a:xfrm>
                <a:off x="1767149" y="2026762"/>
                <a:ext cx="3355093" cy="4099532"/>
              </a:xfrm>
              <a:prstGeom prst="rect">
                <a:avLst/>
              </a:prstGeom>
              <a:blipFill>
                <a:blip r:embed="rId4"/>
                <a:stretch>
                  <a:fillRect l="-1636" t="-1486" r="-1818"/>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97B7BAA-D3AB-185D-1C23-1AFB87BF0D22}"/>
              </a:ext>
            </a:extLst>
          </p:cNvPr>
          <p:cNvPicPr>
            <a:picLocks noChangeAspect="1"/>
          </p:cNvPicPr>
          <p:nvPr/>
        </p:nvPicPr>
        <p:blipFill rotWithShape="1">
          <a:blip r:embed="rId5"/>
          <a:srcRect t="5428" r="52133" b="9965"/>
          <a:stretch/>
        </p:blipFill>
        <p:spPr>
          <a:xfrm>
            <a:off x="5793780" y="2026762"/>
            <a:ext cx="5298916" cy="3557879"/>
          </a:xfrm>
          <a:prstGeom prst="rect">
            <a:avLst/>
          </a:prstGeom>
        </p:spPr>
      </p:pic>
      <p:sp>
        <p:nvSpPr>
          <p:cNvPr id="6" name="Title 1">
            <a:extLst>
              <a:ext uri="{FF2B5EF4-FFF2-40B4-BE49-F238E27FC236}">
                <a16:creationId xmlns:a16="http://schemas.microsoft.com/office/drawing/2014/main" id="{0BF3BD72-9F00-437A-E90E-3C70060EFDB1}"/>
              </a:ext>
            </a:extLst>
          </p:cNvPr>
          <p:cNvSpPr txBox="1">
            <a:spLocks/>
          </p:cNvSpPr>
          <p:nvPr/>
        </p:nvSpPr>
        <p:spPr>
          <a:xfrm>
            <a:off x="477024" y="1233936"/>
            <a:ext cx="5012998" cy="5510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latin typeface="微软雅黑" panose="020B0503020204020204" pitchFamily="34" charset="-122"/>
                <a:ea typeface="微软雅黑" panose="020B0503020204020204" pitchFamily="34" charset="-122"/>
                <a:cs typeface="+mn-cs"/>
              </a:rPr>
              <a:t>3.</a:t>
            </a:r>
            <a:r>
              <a:rPr lang="zh-CN" altLang="en-US" sz="2400" b="1" dirty="0">
                <a:latin typeface="微软雅黑" panose="020B0503020204020204" pitchFamily="34" charset="-122"/>
                <a:ea typeface="微软雅黑" panose="020B0503020204020204" pitchFamily="34" charset="-122"/>
                <a:cs typeface="+mn-cs"/>
              </a:rPr>
              <a:t>减压阀的性能</a:t>
            </a:r>
            <a:endParaRPr lang="en-US" sz="2400" b="1" dirty="0">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7E3743FC-C43E-DD6F-BE29-06A434EE6FD4}"/>
              </a:ext>
            </a:extLst>
          </p:cNvPr>
          <p:cNvSpPr txBox="1"/>
          <p:nvPr/>
        </p:nvSpPr>
        <p:spPr>
          <a:xfrm>
            <a:off x="7113237" y="5584641"/>
            <a:ext cx="2664296"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30 </a:t>
            </a:r>
            <a:r>
              <a:rPr lang="zh-CN" altLang="en-US" sz="1400" dirty="0">
                <a:latin typeface="微软雅黑" panose="020B0503020204020204" pitchFamily="34" charset="-122"/>
                <a:ea typeface="微软雅黑" panose="020B0503020204020204" pitchFamily="34" charset="-122"/>
              </a:rPr>
              <a:t>减压阀的特性曲线</a:t>
            </a:r>
          </a:p>
        </p:txBody>
      </p:sp>
      <p:pic>
        <p:nvPicPr>
          <p:cNvPr id="10" name="Picture 10" descr="C:\Users\ADMINI~1\AppData\Local\Temp\ksohtml\wpsC2D1.tmp.jpg">
            <a:extLst>
              <a:ext uri="{FF2B5EF4-FFF2-40B4-BE49-F238E27FC236}">
                <a16:creationId xmlns:a16="http://schemas.microsoft.com/office/drawing/2014/main" id="{2AF69D35-9EF1-43DA-805A-BB712EA3AA9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r="30163" b="-20982"/>
          <a:stretch/>
        </p:blipFill>
        <p:spPr bwMode="auto">
          <a:xfrm>
            <a:off x="7460741" y="1324872"/>
            <a:ext cx="2141314" cy="920170"/>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0A075518-7FDF-4836-8A07-8D304E0BCFEE}"/>
              </a:ext>
            </a:extLst>
          </p:cNvPr>
          <p:cNvPicPr>
            <a:picLocks noChangeAspect="1"/>
          </p:cNvPicPr>
          <p:nvPr/>
        </p:nvPicPr>
        <p:blipFill rotWithShape="1">
          <a:blip r:embed="rId7">
            <a:clrChange>
              <a:clrFrom>
                <a:srgbClr val="FFFFFF"/>
              </a:clrFrom>
              <a:clrTo>
                <a:srgbClr val="FFFFFF">
                  <a:alpha val="0"/>
                </a:srgbClr>
              </a:clrTo>
            </a:clrChange>
          </a:blip>
          <a:srcRect r="39454" b="7678"/>
          <a:stretch/>
        </p:blipFill>
        <p:spPr>
          <a:xfrm>
            <a:off x="10004234" y="2730380"/>
            <a:ext cx="1669098" cy="2688907"/>
          </a:xfrm>
          <a:prstGeom prst="rect">
            <a:avLst/>
          </a:prstGeom>
        </p:spPr>
      </p:pic>
    </p:spTree>
    <p:extLst>
      <p:ext uri="{BB962C8B-B14F-4D97-AF65-F5344CB8AC3E}">
        <p14:creationId xmlns:p14="http://schemas.microsoft.com/office/powerpoint/2010/main" val="103620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Content Placeholder 2">
            <a:extLst>
              <a:ext uri="{FF2B5EF4-FFF2-40B4-BE49-F238E27FC236}">
                <a16:creationId xmlns:a16="http://schemas.microsoft.com/office/drawing/2014/main" id="{D705BB40-3B7F-1E59-C537-C75BD2B64451}"/>
              </a:ext>
            </a:extLst>
          </p:cNvPr>
          <p:cNvSpPr txBox="1">
            <a:spLocks/>
          </p:cNvSpPr>
          <p:nvPr/>
        </p:nvSpPr>
        <p:spPr>
          <a:xfrm>
            <a:off x="1205743" y="1576693"/>
            <a:ext cx="9576934" cy="21715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000"/>
              </a:lnSpc>
            </a:pPr>
            <a:r>
              <a:rPr lang="zh-CN" altLang="en-US" sz="2000" dirty="0">
                <a:latin typeface="微软雅黑" panose="020B0503020204020204" pitchFamily="34" charset="-122"/>
                <a:ea typeface="微软雅黑" panose="020B0503020204020204" pitchFamily="34" charset="-122"/>
              </a:rPr>
              <a:t>减压阀主要用在系统的夹紧、电液换向阀的控制压力油、润滑等回路中；减少压力波动的影响；三通减压阀还可用在有反向冲击流量的场合</a:t>
            </a:r>
            <a:endParaRPr lang="en-US" altLang="zh-CN" sz="2000" dirty="0">
              <a:latin typeface="微软雅黑" panose="020B0503020204020204" pitchFamily="34" charset="-122"/>
              <a:ea typeface="微软雅黑" panose="020B0503020204020204" pitchFamily="34" charset="-122"/>
            </a:endParaRPr>
          </a:p>
          <a:p>
            <a:pPr algn="just">
              <a:lnSpc>
                <a:spcPts val="3000"/>
              </a:lnSpc>
            </a:pPr>
            <a:r>
              <a:rPr lang="zh-CN" altLang="en-US" sz="2000" b="1" dirty="0">
                <a:solidFill>
                  <a:srgbClr val="0070C0"/>
                </a:solidFill>
                <a:latin typeface="微软雅黑" panose="020B0503020204020204" pitchFamily="34" charset="-122"/>
                <a:ea typeface="微软雅黑" panose="020B0503020204020204" pitchFamily="34" charset="-122"/>
              </a:rPr>
              <a:t>减压阀会增加功耗和使油液发热</a:t>
            </a:r>
            <a:r>
              <a:rPr lang="zh-CN" altLang="en-US" sz="2000" dirty="0">
                <a:latin typeface="微软雅黑" panose="020B0503020204020204" pitchFamily="34" charset="-122"/>
                <a:ea typeface="微软雅黑" panose="020B0503020204020204" pitchFamily="34" charset="-122"/>
              </a:rPr>
              <a:t>，当分支油路压力比主油路压力低很多且流量很大时，常采用高、低压泵分别供油</a:t>
            </a:r>
          </a:p>
          <a:p>
            <a:pPr algn="just">
              <a:lnSpc>
                <a:spcPts val="3000"/>
              </a:lnSpc>
            </a:pPr>
            <a:r>
              <a:rPr lang="zh-CN" altLang="en-US" sz="2000" dirty="0">
                <a:solidFill>
                  <a:srgbClr val="FF0000"/>
                </a:solidFill>
                <a:latin typeface="微软雅黑" panose="020B0503020204020204" pitchFamily="34" charset="-122"/>
                <a:ea typeface="微软雅黑" panose="020B0503020204020204" pitchFamily="34" charset="-122"/>
              </a:rPr>
              <a:t>定差减压阀</a:t>
            </a:r>
            <a:r>
              <a:rPr lang="zh-CN" altLang="en-US" sz="2000" dirty="0">
                <a:latin typeface="微软雅黑" panose="020B0503020204020204" pitchFamily="34" charset="-122"/>
                <a:ea typeface="微软雅黑" panose="020B0503020204020204" pitchFamily="34" charset="-122"/>
              </a:rPr>
              <a:t>可保证节流阀进出口间的压差维持恒定，</a:t>
            </a:r>
            <a:r>
              <a:rPr lang="zh-CN" altLang="en-US" sz="2000" dirty="0">
                <a:solidFill>
                  <a:srgbClr val="FF0000"/>
                </a:solidFill>
                <a:latin typeface="微软雅黑" panose="020B0503020204020204" pitchFamily="34" charset="-122"/>
                <a:ea typeface="微软雅黑" panose="020B0503020204020204" pitchFamily="34" charset="-122"/>
              </a:rPr>
              <a:t>定比减压阀</a:t>
            </a:r>
            <a:r>
              <a:rPr lang="zh-CN" altLang="en-US" sz="2000" dirty="0">
                <a:latin typeface="微软雅黑" panose="020B0503020204020204" pitchFamily="34" charset="-122"/>
                <a:ea typeface="微软雅黑" panose="020B0503020204020204" pitchFamily="34" charset="-122"/>
              </a:rPr>
              <a:t>的进口压力和出口压力之比维持恒定</a:t>
            </a:r>
          </a:p>
          <a:p>
            <a:pPr algn="just">
              <a:lnSpc>
                <a:spcPts val="3000"/>
              </a:lnSpc>
            </a:pPr>
            <a:endParaRPr lang="zh-CN" altLang="en-US" sz="2000" dirty="0">
              <a:latin typeface="微软雅黑" panose="020B0503020204020204" pitchFamily="34" charset="-122"/>
              <a:ea typeface="微软雅黑" panose="020B0503020204020204" pitchFamily="34" charset="-122"/>
            </a:endParaRPr>
          </a:p>
          <a:p>
            <a:pPr algn="just">
              <a:lnSpc>
                <a:spcPts val="3000"/>
              </a:lnSpc>
            </a:pPr>
            <a:endParaRPr lang="zh-CN" altLang="en-US" sz="20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9888517-950D-5AE1-82C4-4E3BF751504C}"/>
                  </a:ext>
                </a:extLst>
              </p:cNvPr>
              <p:cNvSpPr/>
              <p:nvPr/>
            </p:nvSpPr>
            <p:spPr>
              <a:xfrm>
                <a:off x="4794993" y="4152579"/>
                <a:ext cx="1130566" cy="722377"/>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f>
                        <m:f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fPr>
                        <m:num>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𝑝</m:t>
                              </m:r>
                            </m:e>
                            <m:sub>
                              <m:r>
                                <a:rPr lang="en-US" altLang="zh-CN" sz="2000" i="1" kern="0">
                                  <a:solidFill>
                                    <a:srgbClr val="FF0000"/>
                                  </a:solidFill>
                                  <a:latin typeface="Cambria Math" panose="02040503050406030204" pitchFamily="18" charset="0"/>
                                  <a:ea typeface="Cambria Math" panose="02040503050406030204" pitchFamily="18" charset="0"/>
                                </a:rPr>
                                <m:t>2</m:t>
                              </m:r>
                            </m:sub>
                          </m:sSub>
                        </m:num>
                        <m:den>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𝑝</m:t>
                              </m:r>
                            </m:e>
                            <m:sub>
                              <m:r>
                                <a:rPr lang="en-US" altLang="zh-CN" sz="2000" b="0" i="1" kern="0" smtClean="0">
                                  <a:solidFill>
                                    <a:srgbClr val="FF0000"/>
                                  </a:solidFill>
                                  <a:latin typeface="Cambria Math" panose="02040503050406030204" pitchFamily="18" charset="0"/>
                                  <a:ea typeface="Cambria Math" panose="02040503050406030204" pitchFamily="18" charset="0"/>
                                </a:rPr>
                                <m:t>1</m:t>
                              </m:r>
                            </m:sub>
                          </m:sSub>
                        </m:den>
                      </m:f>
                      <m:r>
                        <a:rPr lang="en-US" altLang="zh-CN" sz="2000" b="0" i="1" kern="0" dirty="0" smtClean="0">
                          <a:solidFill>
                            <a:srgbClr val="FF0000"/>
                          </a:solidFill>
                          <a:latin typeface="Cambria Math" panose="02040503050406030204" pitchFamily="18" charset="0"/>
                          <a:ea typeface="Cambria Math" panose="02040503050406030204" pitchFamily="18" charset="0"/>
                        </a:rPr>
                        <m:t>=</m:t>
                      </m:r>
                      <m:f>
                        <m:f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fPr>
                        <m:num>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𝐴</m:t>
                              </m:r>
                            </m:e>
                            <m:sub>
                              <m:r>
                                <a:rPr lang="en-US" altLang="zh-CN" sz="2000" b="0" i="1" kern="0" smtClean="0">
                                  <a:solidFill>
                                    <a:srgbClr val="FF0000"/>
                                  </a:solidFill>
                                  <a:latin typeface="Cambria Math" panose="02040503050406030204" pitchFamily="18" charset="0"/>
                                  <a:ea typeface="Cambria Math" panose="02040503050406030204" pitchFamily="18" charset="0"/>
                                </a:rPr>
                                <m:t>1</m:t>
                              </m:r>
                            </m:sub>
                          </m:sSub>
                        </m:num>
                        <m:den>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𝐴</m:t>
                              </m:r>
                            </m:e>
                            <m:sub>
                              <m:r>
                                <a:rPr lang="en-US" altLang="zh-CN" sz="2000" i="1" kern="0">
                                  <a:solidFill>
                                    <a:srgbClr val="FF0000"/>
                                  </a:solidFill>
                                  <a:latin typeface="Cambria Math" panose="02040503050406030204" pitchFamily="18" charset="0"/>
                                  <a:ea typeface="Cambria Math" panose="02040503050406030204" pitchFamily="18" charset="0"/>
                                </a:rPr>
                                <m:t>2</m:t>
                              </m:r>
                            </m:sub>
                          </m:sSub>
                        </m:den>
                      </m:f>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49888517-950D-5AE1-82C4-4E3BF751504C}"/>
                  </a:ext>
                </a:extLst>
              </p:cNvPr>
              <p:cNvSpPr>
                <a:spLocks noRot="1" noChangeAspect="1" noMove="1" noResize="1" noEditPoints="1" noAdjustHandles="1" noChangeArrowheads="1" noChangeShapeType="1" noTextEdit="1"/>
              </p:cNvSpPr>
              <p:nvPr/>
            </p:nvSpPr>
            <p:spPr>
              <a:xfrm>
                <a:off x="4794993" y="4152579"/>
                <a:ext cx="1130566" cy="722377"/>
              </a:xfrm>
              <a:prstGeom prst="rect">
                <a:avLst/>
              </a:prstGeom>
              <a:blipFill>
                <a:blip r:embed="rId4"/>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8EBF539-E310-80B3-BA1C-EEE69F4F6B97}"/>
              </a:ext>
            </a:extLst>
          </p:cNvPr>
          <p:cNvPicPr>
            <a:picLocks noChangeAspect="1"/>
          </p:cNvPicPr>
          <p:nvPr/>
        </p:nvPicPr>
        <p:blipFill rotWithShape="1">
          <a:blip r:embed="rId5"/>
          <a:srcRect l="49777" t="1882" r="-1908" b="9625"/>
          <a:stretch/>
        </p:blipFill>
        <p:spPr>
          <a:xfrm>
            <a:off x="6836897" y="3775347"/>
            <a:ext cx="3945780" cy="2544364"/>
          </a:xfrm>
          <a:prstGeom prst="rect">
            <a:avLst/>
          </a:prstGeom>
        </p:spPr>
      </p:pic>
      <p:pic>
        <p:nvPicPr>
          <p:cNvPr id="6" name="Picture 2" descr="C:\Users\ADMINI~1\AppData\Local\Temp\ksohtml\wps6930.tmp.jpg">
            <a:extLst>
              <a:ext uri="{FF2B5EF4-FFF2-40B4-BE49-F238E27FC236}">
                <a16:creationId xmlns:a16="http://schemas.microsoft.com/office/drawing/2014/main" id="{0BB77C9B-0997-7F11-CE8D-D9397A93E54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r="21054" b="-2684"/>
          <a:stretch>
            <a:fillRect/>
          </a:stretch>
        </p:blipFill>
        <p:spPr bwMode="auto">
          <a:xfrm>
            <a:off x="1999830" y="4275219"/>
            <a:ext cx="2305423" cy="338554"/>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4B0BD621-1EE9-B07B-1CC0-AF354C98FD02}"/>
              </a:ext>
            </a:extLst>
          </p:cNvPr>
          <p:cNvSpPr/>
          <p:nvPr/>
        </p:nvSpPr>
        <p:spPr>
          <a:xfrm>
            <a:off x="1615202" y="5047529"/>
            <a:ext cx="5347663" cy="1384995"/>
          </a:xfrm>
          <a:prstGeom prst="rect">
            <a:avLst/>
          </a:prstGeom>
        </p:spPr>
        <p:txBody>
          <a:bodyPr wrap="square">
            <a:spAutoFit/>
          </a:bodyPr>
          <a:lstStyle/>
          <a:p>
            <a:pPr indent="266700"/>
            <a:r>
              <a:rPr lang="zh-CN" altLang="en-US" sz="1400" dirty="0">
                <a:latin typeface="微软雅黑" panose="020B0503020204020204" pitchFamily="34" charset="-122"/>
                <a:ea typeface="微软雅黑" panose="020B0503020204020204" pitchFamily="34" charset="-122"/>
              </a:rPr>
              <a:t>式中 </a:t>
            </a:r>
            <a:r>
              <a:rPr lang="en-US" altLang="zh-CN" sz="1400" dirty="0">
                <a:latin typeface="微软雅黑" panose="020B0503020204020204" pitchFamily="34" charset="-122"/>
                <a:ea typeface="微软雅黑" panose="020B0503020204020204" pitchFamily="34" charset="-122"/>
              </a:rPr>
              <a:t>p</a:t>
            </a:r>
            <a:r>
              <a:rPr lang="en-US" altLang="zh-CN" sz="1400" baseline="-250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a:t>
            </a:r>
            <a:r>
              <a:rPr lang="en-US" altLang="zh-CN" sz="1400" baseline="-25000" dirty="0">
                <a:latin typeface="微软雅黑" panose="020B0503020204020204" pitchFamily="34" charset="-122"/>
                <a:ea typeface="微软雅黑" panose="020B0503020204020204" pitchFamily="34" charset="-122"/>
              </a:rPr>
              <a:t>2</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进口、出口压力</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indent="266700"/>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A</a:t>
            </a:r>
            <a:r>
              <a:rPr lang="en-US" altLang="zh-CN" sz="1400" baseline="-250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a:t>
            </a:r>
            <a:r>
              <a:rPr lang="en-US" altLang="zh-CN" sz="1400" baseline="-25000" dirty="0">
                <a:latin typeface="微软雅黑" panose="020B0503020204020204" pitchFamily="34" charset="-122"/>
                <a:ea typeface="微软雅黑" panose="020B0503020204020204" pitchFamily="34" charset="-122"/>
              </a:rPr>
              <a:t>2</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阀心面积</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indent="266700"/>
            <a:r>
              <a:rPr lang="zh-CN" altLang="en-US"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x</a:t>
            </a:r>
            <a:r>
              <a:rPr lang="en-US" altLang="zh-CN" sz="1400" baseline="-25000" dirty="0" err="1">
                <a:latin typeface="微软雅黑" panose="020B0503020204020204" pitchFamily="34" charset="-122"/>
                <a:ea typeface="微软雅黑" panose="020B0503020204020204" pitchFamily="34" charset="-122"/>
              </a:rPr>
              <a:t>R</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阀口开度</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indent="266700"/>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x</a:t>
            </a:r>
            <a:r>
              <a:rPr lang="en-US" altLang="zh-CN" sz="1400" baseline="-25000" dirty="0">
                <a:latin typeface="微软雅黑" panose="020B0503020204020204" pitchFamily="34" charset="-122"/>
                <a:ea typeface="微软雅黑" panose="020B0503020204020204" pitchFamily="34" charset="-122"/>
              </a:rPr>
              <a:t>c</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阀口关闭</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即</a:t>
            </a:r>
            <a:r>
              <a:rPr lang="en-US" altLang="zh-CN" sz="1400" dirty="0" err="1">
                <a:latin typeface="微软雅黑" panose="020B0503020204020204" pitchFamily="34" charset="-122"/>
                <a:ea typeface="微软雅黑" panose="020B0503020204020204" pitchFamily="34" charset="-122"/>
              </a:rPr>
              <a:t>x</a:t>
            </a:r>
            <a:r>
              <a:rPr lang="en-US" altLang="zh-CN" sz="1400" baseline="-25000" dirty="0" err="1">
                <a:latin typeface="微软雅黑" panose="020B0503020204020204" pitchFamily="34" charset="-122"/>
                <a:ea typeface="微软雅黑" panose="020B0503020204020204" pitchFamily="34" charset="-122"/>
              </a:rPr>
              <a:t>R</a:t>
            </a:r>
            <a:r>
              <a:rPr lang="en-US" altLang="zh-CN" sz="1400" dirty="0">
                <a:latin typeface="微软雅黑" panose="020B0503020204020204" pitchFamily="34" charset="-122"/>
                <a:ea typeface="微软雅黑" panose="020B0503020204020204" pitchFamily="34" charset="-122"/>
              </a:rPr>
              <a:t>=0</a:t>
            </a:r>
            <a:r>
              <a:rPr lang="zh-CN" altLang="en-US" sz="1400" dirty="0">
                <a:latin typeface="微软雅黑" panose="020B0503020204020204" pitchFamily="34" charset="-122"/>
                <a:ea typeface="微软雅黑" panose="020B0503020204020204" pitchFamily="34" charset="-122"/>
              </a:rPr>
              <a:t>时的弹簧预压缩量</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indent="266700"/>
            <a:r>
              <a:rPr lang="zh-CN" altLang="en-US"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k</a:t>
            </a:r>
            <a:r>
              <a:rPr lang="en-US" altLang="zh-CN" sz="1400" baseline="-25000" dirty="0" err="1">
                <a:latin typeface="微软雅黑" panose="020B0503020204020204" pitchFamily="34" charset="-122"/>
                <a:ea typeface="微软雅黑" panose="020B0503020204020204" pitchFamily="34" charset="-122"/>
              </a:rPr>
              <a:t>s</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弹簧刚度。</a:t>
            </a:r>
            <a:endParaRPr lang="en-US" altLang="zh-CN" sz="1400" dirty="0">
              <a:latin typeface="微软雅黑" panose="020B0503020204020204" pitchFamily="34" charset="-122"/>
              <a:ea typeface="微软雅黑" panose="020B0503020204020204" pitchFamily="34" charset="-122"/>
            </a:endParaRPr>
          </a:p>
          <a:p>
            <a:pPr indent="266700"/>
            <a:r>
              <a:rPr lang="zh-CN" altLang="en-US" sz="1400" dirty="0">
                <a:latin typeface="微软雅黑" panose="020B0503020204020204" pitchFamily="34" charset="-122"/>
                <a:ea typeface="微软雅黑" panose="020B0503020204020204" pitchFamily="34" charset="-122"/>
              </a:rPr>
              <a:t>弹簧力很小可忽略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则有</a:t>
            </a:r>
          </a:p>
        </p:txBody>
      </p:sp>
      <p:sp>
        <p:nvSpPr>
          <p:cNvPr id="11" name="Title 1">
            <a:extLst>
              <a:ext uri="{FF2B5EF4-FFF2-40B4-BE49-F238E27FC236}">
                <a16:creationId xmlns:a16="http://schemas.microsoft.com/office/drawing/2014/main" id="{9204C1A3-53A6-07DC-8DB4-780792865078}"/>
              </a:ext>
            </a:extLst>
          </p:cNvPr>
          <p:cNvSpPr txBox="1">
            <a:spLocks/>
          </p:cNvSpPr>
          <p:nvPr/>
        </p:nvSpPr>
        <p:spPr>
          <a:xfrm>
            <a:off x="483203" y="1105736"/>
            <a:ext cx="5012998" cy="5510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latin typeface="微软雅黑" panose="020B0503020204020204" pitchFamily="34" charset="-122"/>
                <a:ea typeface="微软雅黑" panose="020B0503020204020204" pitchFamily="34" charset="-122"/>
                <a:cs typeface="+mn-cs"/>
              </a:rPr>
              <a:t>4.</a:t>
            </a:r>
            <a:r>
              <a:rPr lang="zh-CN" altLang="en-US" sz="2400" b="1" dirty="0">
                <a:latin typeface="微软雅黑" panose="020B0503020204020204" pitchFamily="34" charset="-122"/>
                <a:ea typeface="微软雅黑" panose="020B0503020204020204" pitchFamily="34" charset="-122"/>
                <a:cs typeface="+mn-cs"/>
              </a:rPr>
              <a:t>减压阀的应用</a:t>
            </a:r>
            <a:endParaRPr lang="en-US" sz="2400" b="1" dirty="0">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2640281C-A6C5-F0FE-82AC-049CDCAD85B4}"/>
              </a:ext>
            </a:extLst>
          </p:cNvPr>
          <p:cNvSpPr txBox="1"/>
          <p:nvPr/>
        </p:nvSpPr>
        <p:spPr>
          <a:xfrm>
            <a:off x="7406950" y="6278635"/>
            <a:ext cx="3169848"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31 </a:t>
            </a:r>
            <a:r>
              <a:rPr lang="zh-CN" altLang="en-US" sz="1400" dirty="0">
                <a:latin typeface="微软雅黑" panose="020B0503020204020204" pitchFamily="34" charset="-122"/>
                <a:ea typeface="微软雅黑" panose="020B0503020204020204" pitchFamily="34" charset="-122"/>
              </a:rPr>
              <a:t>定比减压阀</a:t>
            </a:r>
          </a:p>
        </p:txBody>
      </p:sp>
      <p:cxnSp>
        <p:nvCxnSpPr>
          <p:cNvPr id="13" name="直接箭头连接符 12">
            <a:extLst>
              <a:ext uri="{FF2B5EF4-FFF2-40B4-BE49-F238E27FC236}">
                <a16:creationId xmlns:a16="http://schemas.microsoft.com/office/drawing/2014/main" id="{4F6A226E-3C9F-4188-97C6-936CEDF39683}"/>
              </a:ext>
            </a:extLst>
          </p:cNvPr>
          <p:cNvCxnSpPr>
            <a:cxnSpLocks/>
          </p:cNvCxnSpPr>
          <p:nvPr/>
        </p:nvCxnSpPr>
        <p:spPr>
          <a:xfrm>
            <a:off x="10641496" y="4613773"/>
            <a:ext cx="0" cy="355792"/>
          </a:xfrm>
          <a:prstGeom prst="straightConnector1">
            <a:avLst/>
          </a:prstGeom>
          <a:ln w="19050">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652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6EF56038-E401-AFDD-0EEF-AD2A780447FA}"/>
              </a:ext>
            </a:extLst>
          </p:cNvPr>
          <p:cNvSpPr txBox="1">
            <a:spLocks/>
          </p:cNvSpPr>
          <p:nvPr/>
        </p:nvSpPr>
        <p:spPr>
          <a:xfrm>
            <a:off x="543407" y="927138"/>
            <a:ext cx="6476256" cy="662554"/>
          </a:xfrm>
          <a:prstGeom prst="rect">
            <a:avLst/>
          </a:prstGeom>
          <a:noFill/>
        </p:spPr>
        <p:txBody>
          <a:bodyPr wrap="square">
            <a:spAutoFit/>
          </a:bodyPr>
          <a:lstStyle>
            <a:defPPr>
              <a:defRPr lang="zh-CN"/>
            </a:defPPr>
            <a:lvl1pPr>
              <a:lnSpc>
                <a:spcPct val="150000"/>
              </a:lnSpc>
              <a:buFont typeface="Wingdings" panose="05000000000000000000" pitchFamily="2" charset="2"/>
              <a:buChar char="q"/>
              <a:defRPr sz="2800" b="1">
                <a:solidFill>
                  <a:srgbClr val="003F88"/>
                </a:solidFill>
                <a:latin typeface="微软雅黑" panose="020B0503020204020204" pitchFamily="34" charset="-122"/>
                <a:ea typeface="微软雅黑" panose="020B0503020204020204" pitchFamily="34" charset="-122"/>
              </a:defRPr>
            </a:lvl1pPr>
          </a:lstStyle>
          <a:p>
            <a:r>
              <a:rPr lang="en-US" altLang="zh-CN" dirty="0"/>
              <a:t>8.3.3 </a:t>
            </a:r>
            <a:r>
              <a:rPr lang="zh-CN" altLang="en-US" dirty="0"/>
              <a:t>顺序阀</a:t>
            </a:r>
            <a:endParaRPr lang="en-US" dirty="0"/>
          </a:p>
        </p:txBody>
      </p:sp>
      <p:sp>
        <p:nvSpPr>
          <p:cNvPr id="3" name="Content Placeholder 2">
            <a:extLst>
              <a:ext uri="{FF2B5EF4-FFF2-40B4-BE49-F238E27FC236}">
                <a16:creationId xmlns:a16="http://schemas.microsoft.com/office/drawing/2014/main" id="{C936547E-3DE3-5072-CE52-A1100DC22CD5}"/>
              </a:ext>
            </a:extLst>
          </p:cNvPr>
          <p:cNvSpPr txBox="1">
            <a:spLocks/>
          </p:cNvSpPr>
          <p:nvPr/>
        </p:nvSpPr>
        <p:spPr>
          <a:xfrm>
            <a:off x="1440774" y="4498906"/>
            <a:ext cx="5043133" cy="21604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控制多个执行元件的顺序动作</a:t>
            </a:r>
            <a:endParaRPr lang="en-US" altLang="zh-CN" sz="2000" dirty="0">
              <a:latin typeface="微软雅黑" panose="020B0503020204020204" pitchFamily="34" charset="-122"/>
              <a:ea typeface="微软雅黑" panose="020B0503020204020204" pitchFamily="34" charset="-122"/>
            </a:endParaRPr>
          </a:p>
          <a:p>
            <a:pPr algn="jus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根据控制压力来源的不同，分为内控式和外控式；</a:t>
            </a:r>
            <a:endParaRPr lang="en-US" altLang="zh-CN" sz="2000" dirty="0">
              <a:latin typeface="微软雅黑" panose="020B0503020204020204" pitchFamily="34" charset="-122"/>
              <a:ea typeface="微软雅黑" panose="020B0503020204020204" pitchFamily="34" charset="-122"/>
            </a:endParaRPr>
          </a:p>
          <a:p>
            <a:pPr algn="jus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根据泄油方式，分为内泄式和外泄式</a:t>
            </a:r>
            <a:endParaRPr lang="en-US" altLang="zh-CN" sz="2000" dirty="0">
              <a:latin typeface="微软雅黑" panose="020B0503020204020204" pitchFamily="34" charset="-122"/>
              <a:ea typeface="微软雅黑" panose="020B0503020204020204" pitchFamily="34" charset="-122"/>
            </a:endParaRPr>
          </a:p>
          <a:p>
            <a:pPr algn="just">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符号与溢流阀相似，其出口处不接油箱，通向</a:t>
            </a:r>
            <a:r>
              <a:rPr lang="zh-CN" altLang="en-US" sz="2000" b="1" dirty="0">
                <a:solidFill>
                  <a:srgbClr val="FF0000"/>
                </a:solidFill>
                <a:latin typeface="微软雅黑" panose="020B0503020204020204" pitchFamily="34" charset="-122"/>
                <a:ea typeface="微软雅黑" panose="020B0503020204020204" pitchFamily="34" charset="-122"/>
              </a:rPr>
              <a:t>二次油路</a:t>
            </a:r>
          </a:p>
        </p:txBody>
      </p:sp>
      <p:pic>
        <p:nvPicPr>
          <p:cNvPr id="4" name="图片 3">
            <a:extLst>
              <a:ext uri="{FF2B5EF4-FFF2-40B4-BE49-F238E27FC236}">
                <a16:creationId xmlns:a16="http://schemas.microsoft.com/office/drawing/2014/main" id="{A5725B06-B46A-F40F-6ED3-6DDFA920B171}"/>
              </a:ext>
            </a:extLst>
          </p:cNvPr>
          <p:cNvPicPr>
            <a:picLocks noChangeAspect="1"/>
          </p:cNvPicPr>
          <p:nvPr/>
        </p:nvPicPr>
        <p:blipFill>
          <a:blip r:embed="rId4"/>
          <a:srcRect b="10994"/>
          <a:stretch/>
        </p:blipFill>
        <p:spPr>
          <a:xfrm>
            <a:off x="6796922" y="1640084"/>
            <a:ext cx="4752528" cy="4063751"/>
          </a:xfrm>
          <a:prstGeom prst="rect">
            <a:avLst/>
          </a:prstGeom>
        </p:spPr>
      </p:pic>
      <p:sp>
        <p:nvSpPr>
          <p:cNvPr id="6" name="矩形 5">
            <a:extLst>
              <a:ext uri="{FF2B5EF4-FFF2-40B4-BE49-F238E27FC236}">
                <a16:creationId xmlns:a16="http://schemas.microsoft.com/office/drawing/2014/main" id="{A0AF02B1-4C1C-E0AD-C4BF-A6BF9E1C1061}"/>
              </a:ext>
            </a:extLst>
          </p:cNvPr>
          <p:cNvSpPr/>
          <p:nvPr/>
        </p:nvSpPr>
        <p:spPr>
          <a:xfrm>
            <a:off x="673596" y="2168606"/>
            <a:ext cx="6215878" cy="1754326"/>
          </a:xfrm>
          <a:prstGeom prst="rect">
            <a:avLst/>
          </a:prstGeom>
        </p:spPr>
        <p:txBody>
          <a:bodyPr wrap="square">
            <a:spAutoFit/>
          </a:bodyPr>
          <a:lstStyle/>
          <a:p>
            <a:pPr indent="431800">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顺序阀用油液的压力来控制油路的通断</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并因常用于</a:t>
            </a: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控制多个执行元件的顺序动作</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而得名。通过改变控制方式、泄油方式和二次油路的接法</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顺序阀还可具有其他功能，如作背压阀、平衡阀或卸荷阀用。</a:t>
            </a:r>
          </a:p>
        </p:txBody>
      </p:sp>
      <p:sp>
        <p:nvSpPr>
          <p:cNvPr id="10" name="文本框 9">
            <a:extLst>
              <a:ext uri="{FF2B5EF4-FFF2-40B4-BE49-F238E27FC236}">
                <a16:creationId xmlns:a16="http://schemas.microsoft.com/office/drawing/2014/main" id="{C97DA23D-4702-4630-C46F-620BB58BA7F3}"/>
              </a:ext>
            </a:extLst>
          </p:cNvPr>
          <p:cNvSpPr txBox="1"/>
          <p:nvPr/>
        </p:nvSpPr>
        <p:spPr>
          <a:xfrm>
            <a:off x="517089" y="1736206"/>
            <a:ext cx="6123326"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功用</a:t>
            </a:r>
            <a:endParaRPr lang="en-US" altLang="zh-CN" sz="24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F54528C-8E1D-5C24-2353-CCE6CCDF4C9B}"/>
              </a:ext>
            </a:extLst>
          </p:cNvPr>
          <p:cNvSpPr txBox="1"/>
          <p:nvPr/>
        </p:nvSpPr>
        <p:spPr>
          <a:xfrm>
            <a:off x="549585" y="3922932"/>
            <a:ext cx="6123326"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主要应用</a:t>
            </a:r>
            <a:endParaRPr lang="en-US" altLang="zh-CN" sz="2400" b="1"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443C290-89A1-ADFE-3D0E-9BCDCED39BD5}"/>
              </a:ext>
            </a:extLst>
          </p:cNvPr>
          <p:cNvSpPr txBox="1"/>
          <p:nvPr/>
        </p:nvSpPr>
        <p:spPr>
          <a:xfrm>
            <a:off x="7062916" y="5579130"/>
            <a:ext cx="4220539" cy="574516"/>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32 </a:t>
            </a:r>
            <a:r>
              <a:rPr lang="zh-CN" altLang="en-US" sz="1400" dirty="0">
                <a:latin typeface="微软雅黑" panose="020B0503020204020204" pitchFamily="34" charset="-122"/>
                <a:ea typeface="微软雅黑" panose="020B0503020204020204" pitchFamily="34" charset="-122"/>
              </a:rPr>
              <a:t>先导式顺序阀</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阀体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阀芯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阻尼孔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盖板</a:t>
            </a:r>
            <a:endParaRPr lang="en-US" altLang="zh-CN"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7199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8.3 </a:t>
            </a:r>
            <a:r>
              <a:rPr lang="zh-CN" altLang="en-US" sz="3600" b="1" dirty="0">
                <a:solidFill>
                  <a:srgbClr val="003F88"/>
                </a:solidFill>
                <a:latin typeface="微软雅黑" panose="020B0503020204020204" pitchFamily="34" charset="-122"/>
                <a:ea typeface="微软雅黑" panose="020B0503020204020204" pitchFamily="34" charset="-122"/>
              </a:rPr>
              <a:t>压力控制阀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E40B7AA0-0B84-E1EB-F7CA-DEC3B7F8C621}"/>
              </a:ext>
            </a:extLst>
          </p:cNvPr>
          <p:cNvSpPr txBox="1">
            <a:spLocks/>
          </p:cNvSpPr>
          <p:nvPr/>
        </p:nvSpPr>
        <p:spPr>
          <a:xfrm>
            <a:off x="542784" y="932064"/>
            <a:ext cx="6476256" cy="662554"/>
          </a:xfrm>
          <a:prstGeom prst="rect">
            <a:avLst/>
          </a:prstGeom>
          <a:noFill/>
        </p:spPr>
        <p:txBody>
          <a:bodyPr wrap="square">
            <a:spAutoFit/>
          </a:bodyPr>
          <a:lstStyle>
            <a:defPPr>
              <a:defRPr lang="zh-CN"/>
            </a:defPPr>
            <a:lvl1pPr>
              <a:lnSpc>
                <a:spcPct val="150000"/>
              </a:lnSpc>
              <a:buFont typeface="Wingdings" panose="05000000000000000000" pitchFamily="2" charset="2"/>
              <a:buChar char="q"/>
              <a:defRPr sz="2800" b="1">
                <a:solidFill>
                  <a:srgbClr val="003F88"/>
                </a:solidFill>
                <a:latin typeface="微软雅黑" panose="020B0503020204020204" pitchFamily="34" charset="-122"/>
                <a:ea typeface="微软雅黑" panose="020B0503020204020204" pitchFamily="34" charset="-122"/>
              </a:defRPr>
            </a:lvl1pPr>
          </a:lstStyle>
          <a:p>
            <a:r>
              <a:rPr lang="en-US" altLang="zh-CN" dirty="0"/>
              <a:t>8.3.4 </a:t>
            </a:r>
            <a:r>
              <a:rPr lang="zh-CN" altLang="en-US" dirty="0"/>
              <a:t>压力继电器</a:t>
            </a:r>
            <a:endParaRPr lang="en-US" dirty="0"/>
          </a:p>
        </p:txBody>
      </p:sp>
      <p:sp>
        <p:nvSpPr>
          <p:cNvPr id="3" name="Content Placeholder 2">
            <a:extLst>
              <a:ext uri="{FF2B5EF4-FFF2-40B4-BE49-F238E27FC236}">
                <a16:creationId xmlns:a16="http://schemas.microsoft.com/office/drawing/2014/main" id="{3007F86B-8D63-A26C-2C36-8C22B60EF1AB}"/>
              </a:ext>
            </a:extLst>
          </p:cNvPr>
          <p:cNvSpPr txBox="1">
            <a:spLocks/>
          </p:cNvSpPr>
          <p:nvPr/>
        </p:nvSpPr>
        <p:spPr>
          <a:xfrm>
            <a:off x="622074" y="1728854"/>
            <a:ext cx="5953787" cy="24467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sz="2000" dirty="0">
                <a:latin typeface="微软雅黑" panose="020B0503020204020204" pitchFamily="34" charset="-122"/>
                <a:ea typeface="微软雅黑" panose="020B0503020204020204" pitchFamily="34" charset="-122"/>
              </a:rPr>
              <a:t>工作原理：利用油液</a:t>
            </a:r>
            <a:r>
              <a:rPr lang="zh-CN" altLang="en-US" sz="2000" dirty="0">
                <a:solidFill>
                  <a:srgbClr val="FF0000"/>
                </a:solidFill>
                <a:latin typeface="微软雅黑" panose="020B0503020204020204" pitchFamily="34" charset="-122"/>
                <a:ea typeface="微软雅黑" panose="020B0503020204020204" pitchFamily="34" charset="-122"/>
              </a:rPr>
              <a:t>压力信号</a:t>
            </a:r>
            <a:r>
              <a:rPr lang="zh-CN" altLang="en-US" sz="2000" dirty="0">
                <a:latin typeface="微软雅黑" panose="020B0503020204020204" pitchFamily="34" charset="-122"/>
                <a:ea typeface="微软雅黑" panose="020B0503020204020204" pitchFamily="34" charset="-122"/>
              </a:rPr>
              <a:t>来启闭</a:t>
            </a:r>
            <a:r>
              <a:rPr lang="zh-CN" altLang="en-US" sz="2000" dirty="0">
                <a:solidFill>
                  <a:srgbClr val="FF0000"/>
                </a:solidFill>
                <a:latin typeface="微软雅黑" panose="020B0503020204020204" pitchFamily="34" charset="-122"/>
                <a:ea typeface="微软雅黑" panose="020B0503020204020204" pitchFamily="34" charset="-122"/>
              </a:rPr>
              <a:t>电气触点</a:t>
            </a:r>
            <a:r>
              <a:rPr lang="zh-CN" altLang="en-US" sz="2000" dirty="0">
                <a:latin typeface="微软雅黑" panose="020B0503020204020204" pitchFamily="34" charset="-122"/>
                <a:ea typeface="微软雅黑" panose="020B0503020204020204" pitchFamily="34" charset="-122"/>
              </a:rPr>
              <a:t>，从而控制电路通断的</a:t>
            </a:r>
            <a:r>
              <a:rPr lang="zh-CN" altLang="en-US" sz="2000" dirty="0">
                <a:solidFill>
                  <a:srgbClr val="FF0000"/>
                </a:solidFill>
                <a:latin typeface="微软雅黑" panose="020B0503020204020204" pitchFamily="34" charset="-122"/>
                <a:ea typeface="微软雅黑" panose="020B0503020204020204" pitchFamily="34" charset="-122"/>
              </a:rPr>
              <a:t>液</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电转换</a:t>
            </a:r>
            <a:r>
              <a:rPr lang="zh-CN" altLang="en-US" sz="2000" dirty="0">
                <a:latin typeface="微软雅黑" panose="020B0503020204020204" pitchFamily="34" charset="-122"/>
                <a:ea typeface="微软雅黑" panose="020B0503020204020204" pitchFamily="34" charset="-122"/>
              </a:rPr>
              <a:t>元件</a:t>
            </a:r>
            <a:endParaRPr lang="en-US" altLang="zh-CN"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典型应用：刀具移到指定位置碰到挡铁或负载过大时的自动退刀；润滑系统发生故障时的工作机械自动停车；系统工作程序的自动换接</a:t>
            </a:r>
            <a:endParaRPr lang="en-US" altLang="zh-CN" sz="20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F95C1C49-BE79-A81A-416A-1AB29A414368}"/>
              </a:ext>
            </a:extLst>
          </p:cNvPr>
          <p:cNvSpPr/>
          <p:nvPr/>
        </p:nvSpPr>
        <p:spPr>
          <a:xfrm>
            <a:off x="2866714" y="4383258"/>
            <a:ext cx="1224136" cy="400110"/>
          </a:xfrm>
          <a:prstGeom prst="rect">
            <a:avLst/>
          </a:prstGeom>
        </p:spPr>
        <p:txBody>
          <a:bodyPr wrap="square">
            <a:spAutoFit/>
          </a:bodyPr>
          <a:lstStyle/>
          <a:p>
            <a:pPr algn="just">
              <a:spcBef>
                <a:spcPts val="480"/>
              </a:spcBef>
            </a:pPr>
            <a:r>
              <a:rPr lang="zh-CN" altLang="en-US" sz="2000" dirty="0">
                <a:solidFill>
                  <a:srgbClr val="FF0000"/>
                </a:solidFill>
                <a:latin typeface="微软雅黑" panose="020B0503020204020204" pitchFamily="34" charset="-122"/>
                <a:ea typeface="微软雅黑" panose="020B0503020204020204" pitchFamily="34" charset="-122"/>
              </a:rPr>
              <a:t>调压范围</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7C87EDC4-94F2-81F3-1388-4264909EDBBC}"/>
              </a:ext>
            </a:extLst>
          </p:cNvPr>
          <p:cNvSpPr/>
          <p:nvPr/>
        </p:nvSpPr>
        <p:spPr>
          <a:xfrm>
            <a:off x="2866711" y="4821706"/>
            <a:ext cx="2808313" cy="400110"/>
          </a:xfrm>
          <a:prstGeom prst="rect">
            <a:avLst/>
          </a:prstGeom>
        </p:spPr>
        <p:txBody>
          <a:bodyPr wrap="square">
            <a:spAutoFit/>
          </a:bodyPr>
          <a:lstStyle/>
          <a:p>
            <a:pPr algn="just">
              <a:spcBef>
                <a:spcPts val="480"/>
              </a:spcBef>
            </a:pPr>
            <a:r>
              <a:rPr lang="zh-CN" altLang="en-US" sz="2000" dirty="0">
                <a:solidFill>
                  <a:srgbClr val="FF0000"/>
                </a:solidFill>
                <a:latin typeface="微软雅黑" panose="020B0503020204020204" pitchFamily="34" charset="-122"/>
                <a:ea typeface="微软雅黑" panose="020B0503020204020204" pitchFamily="34" charset="-122"/>
              </a:rPr>
              <a:t>灵敏度和通断调节区间</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72A8AFB6-0005-AB24-E86D-ABFAA04DB4B0}"/>
              </a:ext>
            </a:extLst>
          </p:cNvPr>
          <p:cNvSpPr/>
          <p:nvPr/>
        </p:nvSpPr>
        <p:spPr>
          <a:xfrm>
            <a:off x="2866711" y="5260155"/>
            <a:ext cx="1224139" cy="400110"/>
          </a:xfrm>
          <a:prstGeom prst="rect">
            <a:avLst/>
          </a:prstGeom>
        </p:spPr>
        <p:txBody>
          <a:bodyPr wrap="square">
            <a:spAutoFit/>
          </a:bodyPr>
          <a:lstStyle/>
          <a:p>
            <a:pPr algn="just">
              <a:spcBef>
                <a:spcPts val="480"/>
              </a:spcBef>
            </a:pPr>
            <a:r>
              <a:rPr lang="zh-CN" altLang="en-US" sz="2000" dirty="0">
                <a:solidFill>
                  <a:srgbClr val="FF0000"/>
                </a:solidFill>
                <a:latin typeface="微软雅黑" panose="020B0503020204020204" pitchFamily="34" charset="-122"/>
                <a:ea typeface="微软雅黑" panose="020B0503020204020204" pitchFamily="34" charset="-122"/>
              </a:rPr>
              <a:t>重复精度</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5635B339-CB03-A5CF-E5C5-4721B04209FD}"/>
              </a:ext>
            </a:extLst>
          </p:cNvPr>
          <p:cNvSpPr/>
          <p:nvPr/>
        </p:nvSpPr>
        <p:spPr>
          <a:xfrm>
            <a:off x="1327260" y="4958901"/>
            <a:ext cx="146706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主要性能：</a:t>
            </a:r>
          </a:p>
        </p:txBody>
      </p:sp>
      <p:sp>
        <p:nvSpPr>
          <p:cNvPr id="11" name="左大括号 10">
            <a:extLst>
              <a:ext uri="{FF2B5EF4-FFF2-40B4-BE49-F238E27FC236}">
                <a16:creationId xmlns:a16="http://schemas.microsoft.com/office/drawing/2014/main" id="{87B25979-1EF8-262B-6D41-9B423971A9BE}"/>
              </a:ext>
            </a:extLst>
          </p:cNvPr>
          <p:cNvSpPr/>
          <p:nvPr/>
        </p:nvSpPr>
        <p:spPr>
          <a:xfrm>
            <a:off x="2608638" y="4383258"/>
            <a:ext cx="258076" cy="1715765"/>
          </a:xfrm>
          <a:prstGeom prst="leftBrace">
            <a:avLst>
              <a:gd name="adj1" fmla="val 56492"/>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577382AE-7EDB-FF48-B54B-936591E641F3}"/>
              </a:ext>
            </a:extLst>
          </p:cNvPr>
          <p:cNvSpPr/>
          <p:nvPr/>
        </p:nvSpPr>
        <p:spPr>
          <a:xfrm>
            <a:off x="2866711" y="5698913"/>
            <a:ext cx="2492990" cy="400110"/>
          </a:xfrm>
          <a:prstGeom prst="rect">
            <a:avLst/>
          </a:prstGeom>
        </p:spPr>
        <p:txBody>
          <a:bodyPr wrap="non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升压或降压动作时间</a:t>
            </a:r>
          </a:p>
        </p:txBody>
      </p:sp>
      <p:pic>
        <p:nvPicPr>
          <p:cNvPr id="13" name="图片 12">
            <a:extLst>
              <a:ext uri="{FF2B5EF4-FFF2-40B4-BE49-F238E27FC236}">
                <a16:creationId xmlns:a16="http://schemas.microsoft.com/office/drawing/2014/main" id="{2E2620B5-931E-A658-8B90-9AA6774B8D3A}"/>
              </a:ext>
            </a:extLst>
          </p:cNvPr>
          <p:cNvPicPr>
            <a:picLocks noChangeAspect="1"/>
          </p:cNvPicPr>
          <p:nvPr/>
        </p:nvPicPr>
        <p:blipFill>
          <a:blip r:embed="rId4"/>
          <a:srcRect l="1885" t="-9559" r="-1885" b="9559"/>
          <a:stretch/>
        </p:blipFill>
        <p:spPr>
          <a:xfrm>
            <a:off x="7051643" y="1159087"/>
            <a:ext cx="4387674" cy="4508122"/>
          </a:xfrm>
          <a:prstGeom prst="rect">
            <a:avLst/>
          </a:prstGeom>
        </p:spPr>
      </p:pic>
      <p:sp>
        <p:nvSpPr>
          <p:cNvPr id="14" name="文本框 13">
            <a:extLst>
              <a:ext uri="{FF2B5EF4-FFF2-40B4-BE49-F238E27FC236}">
                <a16:creationId xmlns:a16="http://schemas.microsoft.com/office/drawing/2014/main" id="{978F9851-8365-710B-DBCC-59728093BC66}"/>
              </a:ext>
            </a:extLst>
          </p:cNvPr>
          <p:cNvSpPr txBox="1"/>
          <p:nvPr/>
        </p:nvSpPr>
        <p:spPr>
          <a:xfrm>
            <a:off x="7051643" y="5607823"/>
            <a:ext cx="4220539" cy="574516"/>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33 </a:t>
            </a:r>
            <a:r>
              <a:rPr lang="zh-CN" altLang="en-US" sz="1400" dirty="0">
                <a:latin typeface="微软雅黑" panose="020B0503020204020204" pitchFamily="34" charset="-122"/>
                <a:ea typeface="微软雅黑" panose="020B0503020204020204" pitchFamily="34" charset="-122"/>
              </a:rPr>
              <a:t>压力继电器</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柱塞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顶杆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调节螺钉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微动开关</a:t>
            </a:r>
            <a:endParaRPr lang="en-US" altLang="zh-CN"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2007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 name="Content Placeholder 2">
            <a:extLst>
              <a:ext uri="{FF2B5EF4-FFF2-40B4-BE49-F238E27FC236}">
                <a16:creationId xmlns:a16="http://schemas.microsoft.com/office/drawing/2014/main" id="{72598325-6BCC-F309-B429-178894EBE236}"/>
              </a:ext>
            </a:extLst>
          </p:cNvPr>
          <p:cNvSpPr txBox="1">
            <a:spLocks/>
          </p:cNvSpPr>
          <p:nvPr/>
        </p:nvSpPr>
        <p:spPr>
          <a:xfrm>
            <a:off x="785381" y="1231635"/>
            <a:ext cx="10856654" cy="15371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sz="2000" dirty="0">
                <a:latin typeface="微软雅黑" panose="020B0503020204020204" pitchFamily="34" charset="-122"/>
                <a:ea typeface="微软雅黑" panose="020B0503020204020204" pitchFamily="34" charset="-122"/>
              </a:rPr>
              <a:t>依靠改变</a:t>
            </a:r>
            <a:r>
              <a:rPr lang="zh-CN" altLang="en-US" sz="2000" dirty="0">
                <a:solidFill>
                  <a:srgbClr val="FF0000"/>
                </a:solidFill>
                <a:latin typeface="微软雅黑" panose="020B0503020204020204" pitchFamily="34" charset="-122"/>
                <a:ea typeface="微软雅黑" panose="020B0503020204020204" pitchFamily="34" charset="-122"/>
              </a:rPr>
              <a:t>阀口通流面积</a:t>
            </a:r>
            <a:r>
              <a:rPr lang="zh-CN" altLang="en-US" sz="2000" dirty="0">
                <a:latin typeface="微软雅黑" panose="020B0503020204020204" pitchFamily="34" charset="-122"/>
                <a:ea typeface="微软雅黑" panose="020B0503020204020204" pitchFamily="34" charset="-122"/>
              </a:rPr>
              <a:t>的大小来改变液阻，控制通过阀的流量，达到调节</a:t>
            </a:r>
            <a:r>
              <a:rPr lang="zh-CN" altLang="en-US" sz="2000" dirty="0">
                <a:solidFill>
                  <a:srgbClr val="FF0000"/>
                </a:solidFill>
                <a:latin typeface="微软雅黑" panose="020B0503020204020204" pitchFamily="34" charset="-122"/>
                <a:ea typeface="微软雅黑" panose="020B0503020204020204" pitchFamily="34" charset="-122"/>
              </a:rPr>
              <a:t>执行元件</a:t>
            </a:r>
            <a:r>
              <a:rPr lang="zh-CN" altLang="en-US" sz="2000" dirty="0">
                <a:latin typeface="微软雅黑" panose="020B0503020204020204" pitchFamily="34" charset="-122"/>
                <a:ea typeface="微软雅黑" panose="020B0503020204020204" pitchFamily="34" charset="-122"/>
              </a:rPr>
              <a:t>（液压缸或液压马达）</a:t>
            </a:r>
            <a:r>
              <a:rPr lang="zh-CN" altLang="en-US" sz="2000" dirty="0">
                <a:solidFill>
                  <a:srgbClr val="FF0000"/>
                </a:solidFill>
                <a:latin typeface="微软雅黑" panose="020B0503020204020204" pitchFamily="34" charset="-122"/>
                <a:ea typeface="微软雅黑" panose="020B0503020204020204" pitchFamily="34" charset="-122"/>
              </a:rPr>
              <a:t>运动速度</a:t>
            </a:r>
            <a:r>
              <a:rPr lang="zh-CN" altLang="en-US" sz="2000" dirty="0">
                <a:latin typeface="微软雅黑" panose="020B0503020204020204" pitchFamily="34" charset="-122"/>
                <a:ea typeface="微软雅黑" panose="020B0503020204020204" pitchFamily="34" charset="-122"/>
              </a:rPr>
              <a:t>的目的</a:t>
            </a:r>
            <a:endParaRPr lang="en-US" altLang="zh-CN"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常用的流量控制阀有普通</a:t>
            </a:r>
            <a:r>
              <a:rPr lang="zh-CN" altLang="en-US" sz="2000" dirty="0">
                <a:solidFill>
                  <a:srgbClr val="FF0000"/>
                </a:solidFill>
                <a:latin typeface="微软雅黑" panose="020B0503020204020204" pitchFamily="34" charset="-122"/>
                <a:ea typeface="微软雅黑" panose="020B0503020204020204" pitchFamily="34" charset="-122"/>
              </a:rPr>
              <a:t>节流阀</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调速阀</a:t>
            </a:r>
            <a:r>
              <a:rPr lang="zh-CN" altLang="en-US" sz="2000" dirty="0">
                <a:latin typeface="微软雅黑" panose="020B0503020204020204" pitchFamily="34" charset="-122"/>
                <a:ea typeface="微软雅黑" panose="020B0503020204020204" pitchFamily="34" charset="-122"/>
              </a:rPr>
              <a:t>等</a:t>
            </a:r>
            <a:endParaRPr lang="en-US" altLang="zh-CN" sz="20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72D9C26-96C7-B90E-78C8-7BFE17362A3F}"/>
                  </a:ext>
                </a:extLst>
              </p:cNvPr>
              <p:cNvSpPr/>
              <p:nvPr/>
            </p:nvSpPr>
            <p:spPr>
              <a:xfrm>
                <a:off x="3059634" y="2974155"/>
                <a:ext cx="1956113" cy="100168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黑体" panose="02010609060101010101" pitchFamily="49" charset="-122"/>
                        </a:rPr>
                        <m:t>𝑄</m:t>
                      </m:r>
                      <m:r>
                        <a:rPr lang="en-US" altLang="zh-CN" sz="2000" i="1" kern="0">
                          <a:solidFill>
                            <a:srgbClr val="FF0000"/>
                          </a:solidFill>
                          <a:latin typeface="Cambria Math" panose="02040503050406030204" pitchFamily="18" charset="0"/>
                          <a:ea typeface="黑体" panose="02010609060101010101" pitchFamily="49" charset="-122"/>
                        </a:rPr>
                        <m:t>=</m:t>
                      </m:r>
                      <m:sSub>
                        <m:sSubPr>
                          <m:ctrlPr>
                            <a:rPr lang="en-US" altLang="zh-CN" sz="2000" i="1" kern="0">
                              <a:solidFill>
                                <a:srgbClr val="FF0000"/>
                              </a:solidFill>
                              <a:latin typeface="Cambria Math" panose="02040503050406030204" pitchFamily="18" charset="0"/>
                              <a:ea typeface="黑体" panose="02010609060101010101" pitchFamily="49" charset="-122"/>
                            </a:rPr>
                          </m:ctrlPr>
                        </m:sSubPr>
                        <m:e>
                          <m:r>
                            <a:rPr lang="en-US" altLang="zh-CN" sz="2000" i="1" kern="0">
                              <a:solidFill>
                                <a:srgbClr val="FF0000"/>
                              </a:solidFill>
                              <a:latin typeface="Cambria Math" panose="02040503050406030204" pitchFamily="18" charset="0"/>
                              <a:ea typeface="黑体" panose="02010609060101010101" pitchFamily="49" charset="-122"/>
                            </a:rPr>
                            <m:t>𝐶</m:t>
                          </m:r>
                        </m:e>
                        <m:sub>
                          <m:r>
                            <a:rPr lang="en-US" altLang="zh-CN" sz="2000" i="1" kern="0">
                              <a:solidFill>
                                <a:srgbClr val="FF0000"/>
                              </a:solidFill>
                              <a:latin typeface="Cambria Math" panose="02040503050406030204" pitchFamily="18" charset="0"/>
                              <a:ea typeface="黑体" panose="02010609060101010101" pitchFamily="49" charset="-122"/>
                            </a:rPr>
                            <m:t>𝑑</m:t>
                          </m:r>
                        </m:sub>
                      </m:sSub>
                      <m:r>
                        <a:rPr lang="en-US" altLang="zh-CN" sz="2000" b="0" i="1" kern="0" smtClean="0">
                          <a:solidFill>
                            <a:srgbClr val="FF0000"/>
                          </a:solidFill>
                          <a:latin typeface="Cambria Math" panose="02040503050406030204" pitchFamily="18" charset="0"/>
                          <a:ea typeface="黑体" panose="02010609060101010101" pitchFamily="49" charset="-122"/>
                        </a:rPr>
                        <m:t>𝐴</m:t>
                      </m:r>
                      <m:rad>
                        <m:radPr>
                          <m:degHide m:val="on"/>
                          <m:ctrlPr>
                            <a:rPr lang="en-US" altLang="zh-CN" sz="2000" i="1" kern="0">
                              <a:solidFill>
                                <a:srgbClr val="FF0000"/>
                              </a:solidFill>
                              <a:latin typeface="Cambria Math" panose="02040503050406030204" pitchFamily="18" charset="0"/>
                              <a:ea typeface="黑体" panose="02010609060101010101" pitchFamily="49" charset="-122"/>
                            </a:rPr>
                          </m:ctrlPr>
                        </m:radPr>
                        <m:deg/>
                        <m:e>
                          <m:f>
                            <m:fPr>
                              <m:ctrlPr>
                                <a:rPr lang="en-US" altLang="zh-CN" sz="2000" i="1" kern="0" smtClean="0">
                                  <a:solidFill>
                                    <a:srgbClr val="FF0000"/>
                                  </a:solidFill>
                                  <a:latin typeface="Cambria Math" panose="02040503050406030204" pitchFamily="18" charset="0"/>
                                  <a:ea typeface="黑体" panose="02010609060101010101" pitchFamily="49" charset="-122"/>
                                </a:rPr>
                              </m:ctrlPr>
                            </m:fPr>
                            <m:num>
                              <m:r>
                                <a:rPr lang="en-US" altLang="zh-CN" sz="2000" b="0" i="1" kern="0" smtClean="0">
                                  <a:solidFill>
                                    <a:srgbClr val="FF0000"/>
                                  </a:solidFill>
                                  <a:latin typeface="Cambria Math" panose="02040503050406030204" pitchFamily="18" charset="0"/>
                                  <a:ea typeface="黑体" panose="02010609060101010101" pitchFamily="49" charset="-122"/>
                                </a:rPr>
                                <m:t>2</m:t>
                              </m:r>
                            </m:num>
                            <m:den>
                              <m:r>
                                <a:rPr lang="zh-CN" altLang="en-US" sz="2000" i="1" kern="0" smtClean="0">
                                  <a:solidFill>
                                    <a:srgbClr val="FF0000"/>
                                  </a:solidFill>
                                  <a:latin typeface="Cambria Math" panose="02040503050406030204" pitchFamily="18" charset="0"/>
                                  <a:ea typeface="黑体" panose="02010609060101010101" pitchFamily="49" charset="-122"/>
                                </a:rPr>
                                <m:t>𝜌</m:t>
                              </m:r>
                            </m:den>
                          </m:f>
                          <m:r>
                            <a:rPr lang="el-GR" altLang="zh-CN" sz="2000" i="1" kern="0">
                              <a:solidFill>
                                <a:srgbClr val="FF0000"/>
                              </a:solidFill>
                              <a:latin typeface="Cambria Math" panose="02040503050406030204" pitchFamily="18" charset="0"/>
                              <a:ea typeface="Cambria Math" panose="02040503050406030204" pitchFamily="18" charset="0"/>
                            </a:rPr>
                            <m:t>𝛥</m:t>
                          </m:r>
                          <m:r>
                            <a:rPr lang="en-US" altLang="zh-CN" sz="2000" i="1" kern="0">
                              <a:solidFill>
                                <a:srgbClr val="FF0000"/>
                              </a:solidFill>
                              <a:latin typeface="Cambria Math" panose="02040503050406030204" pitchFamily="18" charset="0"/>
                              <a:ea typeface="Cambria Math" panose="02040503050406030204" pitchFamily="18" charset="0"/>
                            </a:rPr>
                            <m:t>𝑝</m:t>
                          </m:r>
                        </m:e>
                      </m:rad>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572D9C26-96C7-B90E-78C8-7BFE17362A3F}"/>
                  </a:ext>
                </a:extLst>
              </p:cNvPr>
              <p:cNvSpPr>
                <a:spLocks noRot="1" noChangeAspect="1" noMove="1" noResize="1" noEditPoints="1" noAdjustHandles="1" noChangeArrowheads="1" noChangeShapeType="1" noTextEdit="1"/>
              </p:cNvSpPr>
              <p:nvPr/>
            </p:nvSpPr>
            <p:spPr>
              <a:xfrm>
                <a:off x="3059634" y="2974155"/>
                <a:ext cx="1956113" cy="1001684"/>
              </a:xfrm>
              <a:prstGeom prst="rect">
                <a:avLst/>
              </a:prstGeom>
              <a:blipFill>
                <a:blip r:embed="rId4"/>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A928B716-286A-7526-8A79-02C92CC3A288}"/>
              </a:ext>
            </a:extLst>
          </p:cNvPr>
          <p:cNvSpPr/>
          <p:nvPr/>
        </p:nvSpPr>
        <p:spPr>
          <a:xfrm>
            <a:off x="1814592" y="3274942"/>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节流阀：</a:t>
            </a:r>
          </a:p>
        </p:txBody>
      </p:sp>
      <p:sp>
        <p:nvSpPr>
          <p:cNvPr id="12" name="矩形 11">
            <a:extLst>
              <a:ext uri="{FF2B5EF4-FFF2-40B4-BE49-F238E27FC236}">
                <a16:creationId xmlns:a16="http://schemas.microsoft.com/office/drawing/2014/main" id="{7488DE0C-8543-62DE-9F93-4D4573A791F5}"/>
              </a:ext>
            </a:extLst>
          </p:cNvPr>
          <p:cNvSpPr/>
          <p:nvPr/>
        </p:nvSpPr>
        <p:spPr>
          <a:xfrm>
            <a:off x="1814591" y="5153578"/>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调速阀：</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7343B443-4CCA-D72D-A63D-813854291DC8}"/>
                  </a:ext>
                </a:extLst>
              </p:cNvPr>
              <p:cNvSpPr/>
              <p:nvPr/>
            </p:nvSpPr>
            <p:spPr>
              <a:xfrm>
                <a:off x="3059634" y="4852791"/>
                <a:ext cx="1956113" cy="100168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黑体" panose="02010609060101010101" pitchFamily="49" charset="-122"/>
                        </a:rPr>
                        <m:t>𝑄</m:t>
                      </m:r>
                      <m:r>
                        <a:rPr lang="en-US" altLang="zh-CN" sz="2000" i="1" kern="0">
                          <a:solidFill>
                            <a:srgbClr val="FF0000"/>
                          </a:solidFill>
                          <a:latin typeface="Cambria Math" panose="02040503050406030204" pitchFamily="18" charset="0"/>
                          <a:ea typeface="黑体" panose="02010609060101010101" pitchFamily="49" charset="-122"/>
                        </a:rPr>
                        <m:t>=</m:t>
                      </m:r>
                      <m:sSub>
                        <m:sSubPr>
                          <m:ctrlPr>
                            <a:rPr lang="en-US" altLang="zh-CN" sz="2000" i="1" kern="0">
                              <a:solidFill>
                                <a:srgbClr val="FF0000"/>
                              </a:solidFill>
                              <a:latin typeface="Cambria Math" panose="02040503050406030204" pitchFamily="18" charset="0"/>
                              <a:ea typeface="黑体" panose="02010609060101010101" pitchFamily="49" charset="-122"/>
                            </a:rPr>
                          </m:ctrlPr>
                        </m:sSubPr>
                        <m:e>
                          <m:r>
                            <a:rPr lang="en-US" altLang="zh-CN" sz="2000" i="1" kern="0">
                              <a:solidFill>
                                <a:srgbClr val="FF0000"/>
                              </a:solidFill>
                              <a:latin typeface="Cambria Math" panose="02040503050406030204" pitchFamily="18" charset="0"/>
                              <a:ea typeface="黑体" panose="02010609060101010101" pitchFamily="49" charset="-122"/>
                            </a:rPr>
                            <m:t>𝐶</m:t>
                          </m:r>
                        </m:e>
                        <m:sub>
                          <m:r>
                            <a:rPr lang="en-US" altLang="zh-CN" sz="2000" i="1" kern="0">
                              <a:solidFill>
                                <a:srgbClr val="FF0000"/>
                              </a:solidFill>
                              <a:latin typeface="Cambria Math" panose="02040503050406030204" pitchFamily="18" charset="0"/>
                              <a:ea typeface="黑体" panose="02010609060101010101" pitchFamily="49" charset="-122"/>
                            </a:rPr>
                            <m:t>𝑑</m:t>
                          </m:r>
                        </m:sub>
                      </m:sSub>
                      <m:r>
                        <a:rPr lang="en-US" altLang="zh-CN" sz="2000" b="0" i="1" kern="0" smtClean="0">
                          <a:solidFill>
                            <a:srgbClr val="FF0000"/>
                          </a:solidFill>
                          <a:latin typeface="Cambria Math" panose="02040503050406030204" pitchFamily="18" charset="0"/>
                          <a:ea typeface="黑体" panose="02010609060101010101" pitchFamily="49" charset="-122"/>
                        </a:rPr>
                        <m:t>𝐴</m:t>
                      </m:r>
                      <m:rad>
                        <m:radPr>
                          <m:degHide m:val="on"/>
                          <m:ctrlPr>
                            <a:rPr lang="en-US" altLang="zh-CN" sz="2000" i="1" kern="0">
                              <a:solidFill>
                                <a:srgbClr val="FF0000"/>
                              </a:solidFill>
                              <a:latin typeface="Cambria Math" panose="02040503050406030204" pitchFamily="18" charset="0"/>
                              <a:ea typeface="黑体" panose="02010609060101010101" pitchFamily="49" charset="-122"/>
                            </a:rPr>
                          </m:ctrlPr>
                        </m:radPr>
                        <m:deg/>
                        <m:e>
                          <m:f>
                            <m:fPr>
                              <m:ctrlPr>
                                <a:rPr lang="en-US" altLang="zh-CN" sz="2000" i="1" kern="0" smtClean="0">
                                  <a:solidFill>
                                    <a:srgbClr val="FF0000"/>
                                  </a:solidFill>
                                  <a:latin typeface="Cambria Math" panose="02040503050406030204" pitchFamily="18" charset="0"/>
                                  <a:ea typeface="黑体" panose="02010609060101010101" pitchFamily="49" charset="-122"/>
                                </a:rPr>
                              </m:ctrlPr>
                            </m:fPr>
                            <m:num>
                              <m:r>
                                <a:rPr lang="en-US" altLang="zh-CN" sz="2000" b="0" i="1" kern="0" smtClean="0">
                                  <a:solidFill>
                                    <a:srgbClr val="FF0000"/>
                                  </a:solidFill>
                                  <a:latin typeface="Cambria Math" panose="02040503050406030204" pitchFamily="18" charset="0"/>
                                  <a:ea typeface="黑体" panose="02010609060101010101" pitchFamily="49" charset="-122"/>
                                </a:rPr>
                                <m:t>2</m:t>
                              </m:r>
                            </m:num>
                            <m:den>
                              <m:r>
                                <a:rPr lang="zh-CN" altLang="en-US" sz="2000" i="1" kern="0" smtClean="0">
                                  <a:solidFill>
                                    <a:srgbClr val="FF0000"/>
                                  </a:solidFill>
                                  <a:latin typeface="Cambria Math" panose="02040503050406030204" pitchFamily="18" charset="0"/>
                                  <a:ea typeface="黑体" panose="02010609060101010101" pitchFamily="49" charset="-122"/>
                                </a:rPr>
                                <m:t>𝜌</m:t>
                              </m:r>
                            </m:den>
                          </m:f>
                          <m:r>
                            <a:rPr lang="el-GR" altLang="zh-CN" sz="2000" i="1" kern="0">
                              <a:solidFill>
                                <a:srgbClr val="FF0000"/>
                              </a:solidFill>
                              <a:latin typeface="Cambria Math" panose="02040503050406030204" pitchFamily="18" charset="0"/>
                              <a:ea typeface="Cambria Math" panose="02040503050406030204" pitchFamily="18" charset="0"/>
                            </a:rPr>
                            <m:t>𝛥</m:t>
                          </m:r>
                          <m:r>
                            <a:rPr lang="en-US" altLang="zh-CN" sz="2000" i="1" kern="0">
                              <a:solidFill>
                                <a:srgbClr val="FF0000"/>
                              </a:solidFill>
                              <a:latin typeface="Cambria Math" panose="02040503050406030204" pitchFamily="18" charset="0"/>
                              <a:ea typeface="Cambria Math" panose="02040503050406030204" pitchFamily="18" charset="0"/>
                            </a:rPr>
                            <m:t>𝑝</m:t>
                          </m:r>
                        </m:e>
                      </m:rad>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6" name="矩形 15">
                <a:extLst>
                  <a:ext uri="{FF2B5EF4-FFF2-40B4-BE49-F238E27FC236}">
                    <a16:creationId xmlns:a16="http://schemas.microsoft.com/office/drawing/2014/main" id="{7343B443-4CCA-D72D-A63D-813854291DC8}"/>
                  </a:ext>
                </a:extLst>
              </p:cNvPr>
              <p:cNvSpPr>
                <a:spLocks noRot="1" noChangeAspect="1" noMove="1" noResize="1" noEditPoints="1" noAdjustHandles="1" noChangeArrowheads="1" noChangeShapeType="1" noTextEdit="1"/>
              </p:cNvSpPr>
              <p:nvPr/>
            </p:nvSpPr>
            <p:spPr>
              <a:xfrm>
                <a:off x="3059634" y="4852791"/>
                <a:ext cx="1956113" cy="1001684"/>
              </a:xfrm>
              <a:prstGeom prst="rect">
                <a:avLst/>
              </a:prstGeom>
              <a:blipFill>
                <a:blip r:embed="rId5"/>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ED769055-E793-3A3A-869D-D692B0B43EAE}"/>
              </a:ext>
            </a:extLst>
          </p:cNvPr>
          <p:cNvSpPr txBox="1"/>
          <p:nvPr/>
        </p:nvSpPr>
        <p:spPr>
          <a:xfrm>
            <a:off x="6940212" y="6275417"/>
            <a:ext cx="3960777" cy="307777"/>
          </a:xfrm>
          <a:prstGeom prst="rect">
            <a:avLst/>
          </a:prstGeom>
          <a:no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34 </a:t>
            </a:r>
            <a:r>
              <a:rPr lang="zh-CN" altLang="en-US" sz="1400" dirty="0">
                <a:latin typeface="微软雅黑" panose="020B0503020204020204" pitchFamily="34" charset="-122"/>
                <a:ea typeface="微软雅黑" panose="020B0503020204020204" pitchFamily="34" charset="-122"/>
              </a:rPr>
              <a:t>调速阀和节流阀的流量特性曲线</a:t>
            </a:r>
            <a:endParaRPr lang="en-US" altLang="zh-CN"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C875C669-3A37-7F4B-24CF-C104CCA563CF}"/>
                  </a:ext>
                </a:extLst>
              </p:cNvPr>
              <p:cNvSpPr/>
              <p:nvPr/>
            </p:nvSpPr>
            <p:spPr>
              <a:xfrm>
                <a:off x="3086084" y="3975839"/>
                <a:ext cx="1256048" cy="46506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黑体" panose="02010609060101010101" pitchFamily="49" charset="-122"/>
                        </a:rPr>
                        <m:t>𝑄</m:t>
                      </m:r>
                      <m:r>
                        <a:rPr lang="en-US" altLang="zh-CN" sz="2000" b="0" i="1" kern="0" smtClean="0">
                          <a:solidFill>
                            <a:srgbClr val="FF0000"/>
                          </a:solidFill>
                          <a:latin typeface="Cambria Math" panose="02040503050406030204" pitchFamily="18" charset="0"/>
                          <a:ea typeface="Cambria Math" panose="02040503050406030204" pitchFamily="18" charset="0"/>
                        </a:rPr>
                        <m:t>∝</m:t>
                      </m:r>
                      <m:rad>
                        <m:radPr>
                          <m:degHide m:val="on"/>
                          <m:ctrlPr>
                            <a:rPr lang="en-US" altLang="zh-CN" sz="2000" b="0" i="1" kern="0" smtClean="0">
                              <a:solidFill>
                                <a:srgbClr val="FF0000"/>
                              </a:solidFill>
                              <a:latin typeface="Cambria Math" panose="02040503050406030204" pitchFamily="18" charset="0"/>
                              <a:ea typeface="Cambria Math" panose="02040503050406030204" pitchFamily="18" charset="0"/>
                            </a:rPr>
                          </m:ctrlPr>
                        </m:radPr>
                        <m:deg/>
                        <m:e>
                          <m:r>
                            <a:rPr lang="el-GR" altLang="zh-CN" sz="2000" i="1" kern="0">
                              <a:solidFill>
                                <a:srgbClr val="FF0000"/>
                              </a:solidFill>
                              <a:latin typeface="Cambria Math" panose="02040503050406030204" pitchFamily="18" charset="0"/>
                              <a:ea typeface="Cambria Math" panose="02040503050406030204" pitchFamily="18" charset="0"/>
                            </a:rPr>
                            <m:t>𝛥</m:t>
                          </m:r>
                          <m:r>
                            <a:rPr lang="en-US" altLang="zh-CN" sz="2000" i="1" kern="0">
                              <a:solidFill>
                                <a:srgbClr val="FF0000"/>
                              </a:solidFill>
                              <a:latin typeface="Cambria Math" panose="02040503050406030204" pitchFamily="18" charset="0"/>
                              <a:ea typeface="Cambria Math" panose="02040503050406030204" pitchFamily="18" charset="0"/>
                            </a:rPr>
                            <m:t>𝑝</m:t>
                          </m:r>
                        </m:e>
                      </m:rad>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9" name="矩形 18">
                <a:extLst>
                  <a:ext uri="{FF2B5EF4-FFF2-40B4-BE49-F238E27FC236}">
                    <a16:creationId xmlns:a16="http://schemas.microsoft.com/office/drawing/2014/main" id="{C875C669-3A37-7F4B-24CF-C104CCA563CF}"/>
                  </a:ext>
                </a:extLst>
              </p:cNvPr>
              <p:cNvSpPr>
                <a:spLocks noRot="1" noChangeAspect="1" noMove="1" noResize="1" noEditPoints="1" noAdjustHandles="1" noChangeArrowheads="1" noChangeShapeType="1" noTextEdit="1"/>
              </p:cNvSpPr>
              <p:nvPr/>
            </p:nvSpPr>
            <p:spPr>
              <a:xfrm>
                <a:off x="3086084" y="3975839"/>
                <a:ext cx="1256048" cy="465064"/>
              </a:xfrm>
              <a:prstGeom prst="rect">
                <a:avLst/>
              </a:prstGeom>
              <a:blipFill>
                <a:blip r:embed="rId6"/>
                <a:stretch>
                  <a:fillRect b="-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9F61FD9B-913C-8A3E-E949-E491EA1E2F43}"/>
                  </a:ext>
                </a:extLst>
              </p:cNvPr>
              <p:cNvSpPr/>
              <p:nvPr/>
            </p:nvSpPr>
            <p:spPr>
              <a:xfrm>
                <a:off x="3059151" y="5854475"/>
                <a:ext cx="1453411" cy="400110"/>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黑体" panose="02010609060101010101" pitchFamily="49" charset="-122"/>
                        </a:rPr>
                        <m:t>𝑄</m:t>
                      </m:r>
                      <m:r>
                        <a:rPr lang="en-US" altLang="zh-CN" sz="2000" b="0" i="1" kern="0" smtClean="0">
                          <a:solidFill>
                            <a:srgbClr val="FF0000"/>
                          </a:solidFill>
                          <a:latin typeface="Cambria Math" panose="02040503050406030204" pitchFamily="18" charset="0"/>
                          <a:ea typeface="Cambria Math" panose="02040503050406030204" pitchFamily="18" charset="0"/>
                        </a:rPr>
                        <m:t>≈</m:t>
                      </m:r>
                      <m:r>
                        <a:rPr lang="en-US" altLang="zh-CN" sz="2000" b="0" i="1" kern="0" smtClean="0">
                          <a:solidFill>
                            <a:srgbClr val="FF0000"/>
                          </a:solidFill>
                          <a:latin typeface="Cambria Math" panose="02040503050406030204" pitchFamily="18" charset="0"/>
                          <a:ea typeface="Cambria Math" panose="02040503050406030204" pitchFamily="18" charset="0"/>
                        </a:rPr>
                        <m:t>𝑐𝑜𝑛𝑠𝑡</m:t>
                      </m:r>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20" name="矩形 19">
                <a:extLst>
                  <a:ext uri="{FF2B5EF4-FFF2-40B4-BE49-F238E27FC236}">
                    <a16:creationId xmlns:a16="http://schemas.microsoft.com/office/drawing/2014/main" id="{9F61FD9B-913C-8A3E-E949-E491EA1E2F43}"/>
                  </a:ext>
                </a:extLst>
              </p:cNvPr>
              <p:cNvSpPr>
                <a:spLocks noRot="1" noChangeAspect="1" noMove="1" noResize="1" noEditPoints="1" noAdjustHandles="1" noChangeArrowheads="1" noChangeShapeType="1" noTextEdit="1"/>
              </p:cNvSpPr>
              <p:nvPr/>
            </p:nvSpPr>
            <p:spPr>
              <a:xfrm>
                <a:off x="3059151" y="5854475"/>
                <a:ext cx="1453411" cy="400110"/>
              </a:xfrm>
              <a:prstGeom prst="rect">
                <a:avLst/>
              </a:prstGeom>
              <a:blipFill>
                <a:blip r:embed="rId7"/>
                <a:stretch>
                  <a:fillRect b="-1060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A4799B3-FD08-428E-F533-C7046DFA3F7C}"/>
              </a:ext>
            </a:extLst>
          </p:cNvPr>
          <p:cNvPicPr>
            <a:picLocks noChangeAspect="1"/>
          </p:cNvPicPr>
          <p:nvPr/>
        </p:nvPicPr>
        <p:blipFill>
          <a:blip r:embed="rId8"/>
          <a:stretch>
            <a:fillRect/>
          </a:stretch>
        </p:blipFill>
        <p:spPr>
          <a:xfrm>
            <a:off x="6488425" y="2827360"/>
            <a:ext cx="4864350" cy="3403775"/>
          </a:xfrm>
          <a:prstGeom prst="rect">
            <a:avLst/>
          </a:prstGeom>
        </p:spPr>
      </p:pic>
    </p:spTree>
    <p:extLst>
      <p:ext uri="{BB962C8B-B14F-4D97-AF65-F5344CB8AC3E}">
        <p14:creationId xmlns:p14="http://schemas.microsoft.com/office/powerpoint/2010/main" val="55676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BA20E3C7-DC8F-7377-A575-D94CA160E34B}"/>
              </a:ext>
            </a:extLst>
          </p:cNvPr>
          <p:cNvSpPr txBox="1">
            <a:spLocks/>
          </p:cNvSpPr>
          <p:nvPr/>
        </p:nvSpPr>
        <p:spPr>
          <a:xfrm>
            <a:off x="429895" y="903455"/>
            <a:ext cx="6476256" cy="662554"/>
          </a:xfrm>
          <a:prstGeom prst="rect">
            <a:avLst/>
          </a:prstGeom>
          <a:noFill/>
        </p:spPr>
        <p:txBody>
          <a:bodyPr wrap="square">
            <a:spAutoFit/>
          </a:bodyPr>
          <a:lstStyle>
            <a:defPPr>
              <a:defRPr lang="zh-CN"/>
            </a:defPPr>
            <a:lvl1pPr>
              <a:lnSpc>
                <a:spcPct val="150000"/>
              </a:lnSpc>
              <a:buFont typeface="Wingdings" panose="05000000000000000000" pitchFamily="2" charset="2"/>
              <a:buChar char="q"/>
              <a:defRPr sz="2800" b="1">
                <a:solidFill>
                  <a:srgbClr val="003F88"/>
                </a:solidFill>
                <a:latin typeface="微软雅黑" panose="020B0503020204020204" pitchFamily="34" charset="-122"/>
                <a:ea typeface="微软雅黑" panose="020B0503020204020204" pitchFamily="34" charset="-122"/>
              </a:defRPr>
            </a:lvl1pPr>
          </a:lstStyle>
          <a:p>
            <a:r>
              <a:rPr lang="en-US" altLang="zh-CN" dirty="0"/>
              <a:t>8.4.1 </a:t>
            </a:r>
            <a:r>
              <a:rPr lang="zh-CN" altLang="en-US" dirty="0"/>
              <a:t>普通节流阀</a:t>
            </a:r>
            <a:endParaRPr lang="en-US" dirty="0"/>
          </a:p>
        </p:txBody>
      </p:sp>
      <p:sp>
        <p:nvSpPr>
          <p:cNvPr id="4" name="文本框 3">
            <a:extLst>
              <a:ext uri="{FF2B5EF4-FFF2-40B4-BE49-F238E27FC236}">
                <a16:creationId xmlns:a16="http://schemas.microsoft.com/office/drawing/2014/main" id="{6F771022-41B4-34B3-D788-3F83A4781BB9}"/>
              </a:ext>
            </a:extLst>
          </p:cNvPr>
          <p:cNvSpPr txBox="1"/>
          <p:nvPr/>
        </p:nvSpPr>
        <p:spPr>
          <a:xfrm>
            <a:off x="5941497" y="5536890"/>
            <a:ext cx="4220539" cy="841256"/>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35 </a:t>
            </a:r>
            <a:r>
              <a:rPr lang="zh-CN" altLang="en-US" sz="1400" dirty="0">
                <a:latin typeface="微软雅黑" panose="020B0503020204020204" pitchFamily="34" charset="-122"/>
                <a:ea typeface="微软雅黑" panose="020B0503020204020204" pitchFamily="34" charset="-122"/>
              </a:rPr>
              <a:t>普通节流阀及其图形符号</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结构 </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图形符号</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弹簧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阀芯 </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推杆 </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调节手把</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F9536EB5-1C79-5293-A3EB-92062B5E28D0}"/>
                  </a:ext>
                </a:extLst>
              </p:cNvPr>
              <p:cNvSpPr txBox="1">
                <a:spLocks/>
              </p:cNvSpPr>
              <p:nvPr/>
            </p:nvSpPr>
            <p:spPr>
              <a:xfrm>
                <a:off x="1144564" y="1692289"/>
                <a:ext cx="10342907" cy="2643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dirty="0">
                    <a:latin typeface="微软雅黑" panose="020B0503020204020204" pitchFamily="34" charset="-122"/>
                    <a:ea typeface="微软雅黑" panose="020B0503020204020204" pitchFamily="34" charset="-122"/>
                  </a:rPr>
                  <a:t>改变节流口的</a:t>
                </a:r>
                <a:r>
                  <a:rPr lang="zh-CN" altLang="en-US" sz="2000" dirty="0">
                    <a:solidFill>
                      <a:srgbClr val="FF0000"/>
                    </a:solidFill>
                    <a:latin typeface="微软雅黑" panose="020B0503020204020204" pitchFamily="34" charset="-122"/>
                    <a:ea typeface="微软雅黑" panose="020B0503020204020204" pitchFamily="34" charset="-122"/>
                  </a:rPr>
                  <a:t>通流面积</a:t>
                </a:r>
                <a:r>
                  <a:rPr lang="zh-CN" altLang="en-US" sz="2000" dirty="0">
                    <a:latin typeface="微软雅黑" panose="020B0503020204020204" pitchFamily="34" charset="-122"/>
                    <a:ea typeface="微软雅黑" panose="020B0503020204020204" pitchFamily="34" charset="-122"/>
                  </a:rPr>
                  <a:t>来调节流量</a:t>
                </a:r>
                <a:endParaRPr lang="en-US" altLang="zh-CN" sz="2000" dirty="0">
                  <a:latin typeface="微软雅黑" panose="020B0503020204020204" pitchFamily="34" charset="-122"/>
                  <a:ea typeface="微软雅黑" panose="020B0503020204020204" pitchFamily="34" charset="-122"/>
                </a:endParaRPr>
              </a:p>
              <a:p>
                <a:pPr algn="just"/>
                <a:r>
                  <a:rPr lang="zh-CN" altLang="en-US" sz="2000" dirty="0">
                    <a:solidFill>
                      <a:srgbClr val="FF0000"/>
                    </a:solidFill>
                    <a:latin typeface="微软雅黑" panose="020B0503020204020204" pitchFamily="34" charset="-122"/>
                    <a:ea typeface="微软雅黑" panose="020B0503020204020204" pitchFamily="34" charset="-122"/>
                  </a:rPr>
                  <a:t>流量特性</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gn="just">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i="1" dirty="0" smtClean="0">
                        <a:latin typeface="Cambria Math" panose="02040503050406030204" pitchFamily="18" charset="0"/>
                      </a:rPr>
                      <m:t>𝐶</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由节流口形状、液体流态、油液性质等因素决定的系数，</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𝐴</m:t>
                        </m:r>
                      </m:e>
                      <m:sub>
                        <m:r>
                          <a:rPr lang="en-US" altLang="zh-CN" sz="2000" i="1">
                            <a:latin typeface="Cambria Math" panose="02040503050406030204" pitchFamily="18" charset="0"/>
                          </a:rPr>
                          <m:t>𝑇</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节流口的通流截面积；</a:t>
                </a:r>
                <a14:m>
                  <m:oMath xmlns:m="http://schemas.openxmlformats.org/officeDocument/2006/math">
                    <m:r>
                      <a:rPr lang="zh-CN" altLang="en-US" sz="2000" i="1" smtClean="0">
                        <a:latin typeface="Cambria Math" panose="02040503050406030204" pitchFamily="18" charset="0"/>
                      </a:rPr>
                      <m:t>𝜑</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由节流口形状决定的节流阀指数</a:t>
                </a:r>
                <a:endParaRPr lang="en-US" altLang="zh-CN" sz="2000" dirty="0">
                  <a:latin typeface="微软雅黑" panose="020B0503020204020204" pitchFamily="34" charset="-122"/>
                  <a:ea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rPr>
                  <a:t>节流阀的流量与节流口前后的</a:t>
                </a:r>
                <a:r>
                  <a:rPr lang="zh-CN" altLang="en-US" sz="2000" dirty="0">
                    <a:solidFill>
                      <a:srgbClr val="FF0000"/>
                    </a:solidFill>
                    <a:latin typeface="微软雅黑" panose="020B0503020204020204" pitchFamily="34" charset="-122"/>
                    <a:ea typeface="微软雅黑" panose="020B0503020204020204" pitchFamily="34" charset="-122"/>
                  </a:rPr>
                  <a:t>压差</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油温</a:t>
                </a:r>
                <a:r>
                  <a:rPr lang="zh-CN" altLang="en-US" sz="2000" dirty="0">
                    <a:latin typeface="微软雅黑" panose="020B0503020204020204" pitchFamily="34" charset="-122"/>
                    <a:ea typeface="微软雅黑" panose="020B0503020204020204" pitchFamily="34" charset="-122"/>
                  </a:rPr>
                  <a:t>以及</a:t>
                </a:r>
                <a:r>
                  <a:rPr lang="zh-CN" altLang="en-US" sz="2000" dirty="0">
                    <a:solidFill>
                      <a:srgbClr val="FF0000"/>
                    </a:solidFill>
                    <a:latin typeface="微软雅黑" panose="020B0503020204020204" pitchFamily="34" charset="-122"/>
                    <a:ea typeface="微软雅黑" panose="020B0503020204020204" pitchFamily="34" charset="-122"/>
                  </a:rPr>
                  <a:t>节流口形状</a:t>
                </a:r>
                <a:r>
                  <a:rPr lang="zh-CN" altLang="en-US" sz="2000" dirty="0">
                    <a:latin typeface="微软雅黑" panose="020B0503020204020204" pitchFamily="34" charset="-122"/>
                    <a:ea typeface="微软雅黑" panose="020B0503020204020204" pitchFamily="34" charset="-122"/>
                  </a:rPr>
                  <a:t>等因素相关</a:t>
                </a:r>
                <a:endParaRPr lang="en-US" altLang="zh-CN" sz="2000" dirty="0">
                  <a:latin typeface="微软雅黑" panose="020B0503020204020204" pitchFamily="34" charset="-122"/>
                  <a:ea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rPr>
                  <a:t>节流口制成</a:t>
                </a:r>
                <a:r>
                  <a:rPr lang="zh-CN" altLang="en-US" sz="2000" dirty="0">
                    <a:solidFill>
                      <a:srgbClr val="FF0000"/>
                    </a:solidFill>
                    <a:latin typeface="微软雅黑" panose="020B0503020204020204" pitchFamily="34" charset="-122"/>
                    <a:ea typeface="微软雅黑" panose="020B0503020204020204" pitchFamily="34" charset="-122"/>
                  </a:rPr>
                  <a:t>薄壁孔</a:t>
                </a:r>
                <a14:m>
                  <m:oMath xmlns:m="http://schemas.openxmlformats.org/officeDocument/2006/math">
                    <m:r>
                      <a:rPr lang="en-US" altLang="zh-CN" sz="2000" dirty="0" smtClean="0">
                        <a:latin typeface="Cambria Math" panose="02040503050406030204" pitchFamily="18" charset="0"/>
                      </a:rPr>
                      <m:t>(</m:t>
                    </m:r>
                    <m:r>
                      <a:rPr lang="zh-CN" altLang="en-US" sz="2000" i="1" dirty="0" smtClean="0">
                        <a:latin typeface="Cambria Math" panose="02040503050406030204" pitchFamily="18" charset="0"/>
                      </a:rPr>
                      <m:t>𝜑</m:t>
                    </m:r>
                    <m:r>
                      <a:rPr lang="zh-CN" altLang="en-US" sz="2000" i="1" dirty="0" smtClean="0">
                        <a:latin typeface="Cambria Math" panose="02040503050406030204" pitchFamily="18" charset="0"/>
                      </a:rPr>
                      <m:t>≈0.5)</m:t>
                    </m:r>
                  </m:oMath>
                </a14:m>
                <a:r>
                  <a:rPr lang="zh-CN" altLang="en-US" sz="2000" dirty="0">
                    <a:latin typeface="微软雅黑" panose="020B0503020204020204" pitchFamily="34" charset="-122"/>
                    <a:ea typeface="微软雅黑" panose="020B0503020204020204" pitchFamily="34" charset="-122"/>
                  </a:rPr>
                  <a:t>比制成细长孔</a:t>
                </a:r>
                <a14:m>
                  <m:oMath xmlns:m="http://schemas.openxmlformats.org/officeDocument/2006/math">
                    <m:r>
                      <a:rPr lang="en-US" altLang="zh-CN" sz="2000" dirty="0">
                        <a:latin typeface="Cambria Math" panose="02040503050406030204" pitchFamily="18" charset="0"/>
                      </a:rPr>
                      <m:t>(</m:t>
                    </m:r>
                    <m:r>
                      <a:rPr lang="zh-CN" altLang="en-US" sz="2000" i="1" dirty="0">
                        <a:latin typeface="Cambria Math" panose="02040503050406030204" pitchFamily="18" charset="0"/>
                      </a:rPr>
                      <m:t>𝜑</m:t>
                    </m:r>
                    <m:r>
                      <a:rPr lang="zh-CN" altLang="en-US" sz="2000" i="1" dirty="0">
                        <a:latin typeface="Cambria Math" panose="02040503050406030204" pitchFamily="18" charset="0"/>
                      </a:rPr>
                      <m:t>≈1)</m:t>
                    </m:r>
                  </m:oMath>
                </a14:m>
                <a:r>
                  <a:rPr lang="zh-CN" altLang="en-US" sz="2000" dirty="0">
                    <a:latin typeface="微软雅黑" panose="020B0503020204020204" pitchFamily="34" charset="-122"/>
                    <a:ea typeface="微软雅黑" panose="020B0503020204020204" pitchFamily="34" charset="-122"/>
                  </a:rPr>
                  <a:t>的好，能减小压差对流量稳定性的影响</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6" name="Content Placeholder 2">
                <a:extLst>
                  <a:ext uri="{FF2B5EF4-FFF2-40B4-BE49-F238E27FC236}">
                    <a16:creationId xmlns:a16="http://schemas.microsoft.com/office/drawing/2014/main" id="{F9536EB5-1C79-5293-A3EB-92062B5E28D0}"/>
                  </a:ext>
                </a:extLst>
              </p:cNvPr>
              <p:cNvSpPr txBox="1">
                <a:spLocks noRot="1" noChangeAspect="1" noMove="1" noResize="1" noEditPoints="1" noAdjustHandles="1" noChangeArrowheads="1" noChangeShapeType="1" noTextEdit="1"/>
              </p:cNvSpPr>
              <p:nvPr/>
            </p:nvSpPr>
            <p:spPr>
              <a:xfrm>
                <a:off x="1144564" y="1692289"/>
                <a:ext cx="10342907" cy="2643482"/>
              </a:xfrm>
              <a:prstGeom prst="rect">
                <a:avLst/>
              </a:prstGeom>
              <a:blipFill>
                <a:blip r:embed="rId4"/>
                <a:stretch>
                  <a:fillRect l="-649" t="-2540" r="-6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49AF5CE-C1AA-E176-C184-4335C4647CA1}"/>
                  </a:ext>
                </a:extLst>
              </p:cNvPr>
              <p:cNvSpPr/>
              <p:nvPr/>
            </p:nvSpPr>
            <p:spPr>
              <a:xfrm>
                <a:off x="2644712" y="2025017"/>
                <a:ext cx="1791260" cy="400110"/>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200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𝑞</m:t>
                          </m:r>
                        </m:e>
                        <m:sub>
                          <m:r>
                            <a:rPr lang="en-US" altLang="zh-CN" sz="2000" b="0" i="1" kern="0" smtClean="0">
                              <a:solidFill>
                                <a:srgbClr val="FF0000"/>
                              </a:solidFill>
                              <a:latin typeface="Cambria Math" panose="02040503050406030204" pitchFamily="18" charset="0"/>
                              <a:ea typeface="Cambria Math" panose="02040503050406030204" pitchFamily="18" charset="0"/>
                            </a:rPr>
                            <m:t>𝑇</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r>
                        <a:rPr lang="en-US" altLang="zh-CN" sz="2000" i="1" kern="0" dirty="0">
                          <a:solidFill>
                            <a:srgbClr val="FF0000"/>
                          </a:solidFill>
                          <a:latin typeface="Cambria Math" panose="02040503050406030204" pitchFamily="18" charset="0"/>
                          <a:ea typeface="Cambria Math" panose="02040503050406030204" pitchFamily="18" charset="0"/>
                        </a:rPr>
                        <m:t>𝐶</m:t>
                      </m:r>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𝐴</m:t>
                          </m:r>
                        </m:e>
                        <m:sub>
                          <m:r>
                            <a:rPr lang="en-US" altLang="zh-CN" sz="2000" i="1" kern="0">
                              <a:solidFill>
                                <a:srgbClr val="FF0000"/>
                              </a:solidFill>
                              <a:latin typeface="Cambria Math" panose="02040503050406030204" pitchFamily="18" charset="0"/>
                              <a:ea typeface="Cambria Math" panose="02040503050406030204" pitchFamily="18" charset="0"/>
                            </a:rPr>
                            <m:t>𝑇</m:t>
                          </m:r>
                        </m:sub>
                      </m:sSub>
                      <m:sSup>
                        <m:sSupPr>
                          <m:ctrlPr>
                            <a:rPr lang="en-US" altLang="zh-CN" sz="2000" i="1" kern="0" smtClean="0">
                              <a:solidFill>
                                <a:srgbClr val="FF0000"/>
                              </a:solidFill>
                              <a:latin typeface="Cambria Math" panose="02040503050406030204" pitchFamily="18" charset="0"/>
                              <a:ea typeface="Cambria Math" panose="02040503050406030204" pitchFamily="18" charset="0"/>
                            </a:rPr>
                          </m:ctrlPr>
                        </m:sSupPr>
                        <m:e>
                          <m:r>
                            <m:rPr>
                              <m:sty m:val="p"/>
                            </m:rPr>
                            <a:rPr lang="el-GR" altLang="zh-CN" sz="2000" i="1" kern="0" smtClean="0">
                              <a:solidFill>
                                <a:srgbClr val="FF0000"/>
                              </a:solidFill>
                              <a:latin typeface="Cambria Math" panose="02040503050406030204" pitchFamily="18" charset="0"/>
                              <a:ea typeface="Cambria Math" panose="02040503050406030204" pitchFamily="18" charset="0"/>
                            </a:rPr>
                            <m:t>Δ</m:t>
                          </m:r>
                          <m:r>
                            <a:rPr lang="en-US" altLang="zh-CN" sz="2000" b="0" i="1" kern="0" smtClean="0">
                              <a:solidFill>
                                <a:srgbClr val="FF0000"/>
                              </a:solidFill>
                              <a:latin typeface="Cambria Math" panose="02040503050406030204" pitchFamily="18" charset="0"/>
                              <a:ea typeface="Cambria Math" panose="02040503050406030204" pitchFamily="18" charset="0"/>
                            </a:rPr>
                            <m:t>𝑝</m:t>
                          </m:r>
                        </m:e>
                        <m:sup>
                          <m:r>
                            <a:rPr lang="zh-CN" altLang="en-US" sz="2000" i="1" kern="0" smtClean="0">
                              <a:solidFill>
                                <a:srgbClr val="FF0000"/>
                              </a:solidFill>
                              <a:latin typeface="Cambria Math" panose="02040503050406030204" pitchFamily="18" charset="0"/>
                              <a:ea typeface="Cambria Math" panose="02040503050406030204" pitchFamily="18" charset="0"/>
                            </a:rPr>
                            <m:t>𝜑</m:t>
                          </m:r>
                        </m:sup>
                      </m:sSup>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E49AF5CE-C1AA-E176-C184-4335C4647CA1}"/>
                  </a:ext>
                </a:extLst>
              </p:cNvPr>
              <p:cNvSpPr>
                <a:spLocks noRot="1" noChangeAspect="1" noMove="1" noResize="1" noEditPoints="1" noAdjustHandles="1" noChangeArrowheads="1" noChangeShapeType="1" noTextEdit="1"/>
              </p:cNvSpPr>
              <p:nvPr/>
            </p:nvSpPr>
            <p:spPr>
              <a:xfrm>
                <a:off x="2644712" y="2025017"/>
                <a:ext cx="1791260" cy="400110"/>
              </a:xfrm>
              <a:prstGeom prst="rect">
                <a:avLst/>
              </a:prstGeom>
              <a:blipFill>
                <a:blip r:embed="rId5"/>
                <a:stretch>
                  <a:fillRect b="-9091"/>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F22E6BAB-D852-0B4B-1963-3D50D296109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71871" t="34036" b="31274"/>
          <a:stretch/>
        </p:blipFill>
        <p:spPr>
          <a:xfrm>
            <a:off x="7210739" y="4102346"/>
            <a:ext cx="1682053" cy="1099875"/>
          </a:xfrm>
          <a:prstGeom prst="rect">
            <a:avLst/>
          </a:prstGeom>
        </p:spPr>
      </p:pic>
      <p:pic>
        <p:nvPicPr>
          <p:cNvPr id="11" name="图片 10">
            <a:extLst>
              <a:ext uri="{FF2B5EF4-FFF2-40B4-BE49-F238E27FC236}">
                <a16:creationId xmlns:a16="http://schemas.microsoft.com/office/drawing/2014/main" id="{41D2CC92-6C49-5A96-8F16-91CDFE7C132C}"/>
              </a:ext>
            </a:extLst>
          </p:cNvPr>
          <p:cNvPicPr>
            <a:picLocks noChangeAspect="1"/>
          </p:cNvPicPr>
          <p:nvPr/>
        </p:nvPicPr>
        <p:blipFill rotWithShape="1">
          <a:blip r:embed="rId7"/>
          <a:srcRect r="28561" b="24162"/>
          <a:stretch>
            <a:fillRect/>
          </a:stretch>
        </p:blipFill>
        <p:spPr>
          <a:xfrm>
            <a:off x="2206072" y="4231440"/>
            <a:ext cx="3532576" cy="2617850"/>
          </a:xfrm>
          <a:prstGeom prst="rect">
            <a:avLst/>
          </a:prstGeom>
        </p:spPr>
      </p:pic>
      <p:pic>
        <p:nvPicPr>
          <p:cNvPr id="3" name="图片 2">
            <a:extLst>
              <a:ext uri="{FF2B5EF4-FFF2-40B4-BE49-F238E27FC236}">
                <a16:creationId xmlns:a16="http://schemas.microsoft.com/office/drawing/2014/main" id="{CD037B06-49C4-606D-8B66-D7B4A7BD9405}"/>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71871" t="86597"/>
          <a:stretch/>
        </p:blipFill>
        <p:spPr>
          <a:xfrm>
            <a:off x="7410480" y="4999470"/>
            <a:ext cx="1282570" cy="324041"/>
          </a:xfrm>
          <a:prstGeom prst="rect">
            <a:avLst/>
          </a:prstGeom>
        </p:spPr>
      </p:pic>
      <mc:AlternateContent xmlns:mc="http://schemas.openxmlformats.org/markup-compatibility/2006">
        <mc:Choice xmlns:a14="http://schemas.microsoft.com/office/drawing/2010/main" Requires="a14">
          <p:sp>
            <p:nvSpPr>
              <p:cNvPr id="13" name="矩形 12">
                <a:extLst>
                  <a:ext uri="{FF2B5EF4-FFF2-40B4-BE49-F238E27FC236}">
                    <a16:creationId xmlns:a16="http://schemas.microsoft.com/office/drawing/2014/main" id="{380D0971-3556-4211-8745-9145BA87AA34}"/>
                  </a:ext>
                </a:extLst>
              </p:cNvPr>
              <p:cNvSpPr/>
              <p:nvPr/>
            </p:nvSpPr>
            <p:spPr>
              <a:xfrm>
                <a:off x="7367282" y="1324018"/>
                <a:ext cx="1414170" cy="741934"/>
              </a:xfrm>
              <a:prstGeom prst="rect">
                <a:avLst/>
              </a:prstGeom>
            </p:spPr>
            <p:txBody>
              <a:bodyPr wrap="none">
                <a:spAutoFit/>
              </a:bodyPr>
              <a:lstStyle/>
              <a:p>
                <a:pPr algn="ctr">
                  <a:lnSpc>
                    <a:spcPct val="150000"/>
                  </a:lnSpc>
                </a:pPr>
                <a:r>
                  <a:rPr lang="en-US" altLang="zh-CN" b="1" i="1" dirty="0">
                    <a:solidFill>
                      <a:srgbClr val="0070C0"/>
                    </a:solidFill>
                    <a:latin typeface="Times New Roman" panose="02020603050405020304" pitchFamily="18" charset="0"/>
                  </a:rPr>
                  <a:t>q</a:t>
                </a:r>
                <a14:m>
                  <m:oMath xmlns:m="http://schemas.openxmlformats.org/officeDocument/2006/math">
                    <m:r>
                      <a:rPr lang="en-US" altLang="zh-CN" b="1" i="1">
                        <a:solidFill>
                          <a:srgbClr val="0070C0"/>
                        </a:solidFill>
                        <a:latin typeface="Cambria Math" panose="02040503050406030204" pitchFamily="18" charset="0"/>
                      </a:rPr>
                      <m:t> =</m:t>
                    </m:r>
                    <m:f>
                      <m:fPr>
                        <m:ctrlPr>
                          <a:rPr lang="zh-CN" altLang="zh-CN" b="1" i="1">
                            <a:solidFill>
                              <a:srgbClr val="0070C0"/>
                            </a:solidFill>
                            <a:latin typeface="Cambria Math" panose="02040503050406030204" pitchFamily="18" charset="0"/>
                          </a:rPr>
                        </m:ctrlPr>
                      </m:fPr>
                      <m:num>
                        <m:r>
                          <a:rPr lang="en-US" altLang="zh-CN" b="1" i="1">
                            <a:solidFill>
                              <a:srgbClr val="0070C0"/>
                            </a:solidFill>
                            <a:latin typeface="Cambria Math" panose="02040503050406030204" pitchFamily="18" charset="0"/>
                          </a:rPr>
                          <m:t>𝝅</m:t>
                        </m:r>
                        <m:sSup>
                          <m:sSupPr>
                            <m:ctrlPr>
                              <a:rPr lang="zh-CN" altLang="zh-CN" b="1" i="1">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𝒅</m:t>
                            </m:r>
                          </m:e>
                          <m:sup>
                            <m:r>
                              <a:rPr lang="en-US" altLang="zh-CN" b="1" i="1">
                                <a:solidFill>
                                  <a:srgbClr val="0070C0"/>
                                </a:solidFill>
                                <a:latin typeface="Cambria Math" panose="02040503050406030204" pitchFamily="18" charset="0"/>
                              </a:rPr>
                              <m:t>𝟒</m:t>
                            </m:r>
                          </m:sup>
                        </m:sSup>
                      </m:num>
                      <m:den>
                        <m:r>
                          <a:rPr lang="en-US" altLang="zh-CN" b="1" i="1">
                            <a:solidFill>
                              <a:srgbClr val="0070C0"/>
                            </a:solidFill>
                            <a:latin typeface="Cambria Math" panose="02040503050406030204" pitchFamily="18" charset="0"/>
                          </a:rPr>
                          <m:t>𝟏𝟐𝟖</m:t>
                        </m:r>
                        <m:r>
                          <a:rPr lang="en-US" altLang="zh-CN" b="1" i="1">
                            <a:solidFill>
                              <a:srgbClr val="0070C0"/>
                            </a:solidFill>
                            <a:latin typeface="Cambria Math" panose="02040503050406030204" pitchFamily="18" charset="0"/>
                          </a:rPr>
                          <m:t>𝝁</m:t>
                        </m:r>
                        <m:r>
                          <a:rPr lang="en-US" altLang="zh-CN" b="1" i="1">
                            <a:solidFill>
                              <a:srgbClr val="0070C0"/>
                            </a:solidFill>
                            <a:latin typeface="Cambria Math" panose="02040503050406030204" pitchFamily="18" charset="0"/>
                          </a:rPr>
                          <m:t>𝒍</m:t>
                        </m:r>
                      </m:den>
                    </m:f>
                    <m:r>
                      <a:rPr lang="zh-CN" altLang="en-US" b="1" i="1">
                        <a:solidFill>
                          <a:srgbClr val="0070C0"/>
                        </a:solidFill>
                        <a:latin typeface="Cambria Math" panose="02040503050406030204" pitchFamily="18" charset="0"/>
                      </a:rPr>
                      <m:t>𝜟</m:t>
                    </m:r>
                    <m:r>
                      <a:rPr lang="en-US" altLang="zh-CN" b="1" i="1">
                        <a:solidFill>
                          <a:srgbClr val="0070C0"/>
                        </a:solidFill>
                        <a:latin typeface="Cambria Math" panose="02040503050406030204" pitchFamily="18" charset="0"/>
                      </a:rPr>
                      <m:t>𝑷</m:t>
                    </m:r>
                  </m:oMath>
                </a14:m>
                <a:endParaRPr lang="en-US" altLang="zh-CN" b="1" i="1" dirty="0">
                  <a:solidFill>
                    <a:srgbClr val="0070C0"/>
                  </a:solidFill>
                  <a:latin typeface="Times New Roman" panose="02020603050405020304" pitchFamily="18" charset="0"/>
                </a:endParaRPr>
              </a:p>
            </p:txBody>
          </p:sp>
        </mc:Choice>
        <mc:Fallback>
          <p:sp>
            <p:nvSpPr>
              <p:cNvPr id="13" name="矩形 12">
                <a:extLst>
                  <a:ext uri="{FF2B5EF4-FFF2-40B4-BE49-F238E27FC236}">
                    <a16:creationId xmlns:a16="http://schemas.microsoft.com/office/drawing/2014/main" id="{380D0971-3556-4211-8745-9145BA87AA34}"/>
                  </a:ext>
                </a:extLst>
              </p:cNvPr>
              <p:cNvSpPr>
                <a:spLocks noRot="1" noChangeAspect="1" noMove="1" noResize="1" noEditPoints="1" noAdjustHandles="1" noChangeArrowheads="1" noChangeShapeType="1" noTextEdit="1"/>
              </p:cNvSpPr>
              <p:nvPr/>
            </p:nvSpPr>
            <p:spPr>
              <a:xfrm>
                <a:off x="7367282" y="1324018"/>
                <a:ext cx="1414170" cy="741934"/>
              </a:xfrm>
              <a:prstGeom prst="rect">
                <a:avLst/>
              </a:prstGeom>
              <a:blipFill>
                <a:blip r:embed="rId8"/>
                <a:stretch>
                  <a:fillRect l="-34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91F3CA6A-DC93-474E-8548-339857CF112C}"/>
                  </a:ext>
                </a:extLst>
              </p:cNvPr>
              <p:cNvSpPr/>
              <p:nvPr/>
            </p:nvSpPr>
            <p:spPr>
              <a:xfrm>
                <a:off x="9798569" y="1032332"/>
                <a:ext cx="1819793" cy="1319913"/>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r>
                        <a:rPr lang="zh-CN" altLang="en-US" b="1" i="1" smtClean="0">
                          <a:solidFill>
                            <a:srgbClr val="0070C0"/>
                          </a:solidFill>
                          <a:latin typeface="Cambria Math" panose="02040503050406030204" pitchFamily="18" charset="0"/>
                        </a:rPr>
                        <m:t>𝒒</m:t>
                      </m:r>
                      <m:r>
                        <a:rPr lang="zh-CN" altLang="en-US" b="1">
                          <a:solidFill>
                            <a:srgbClr val="0070C0"/>
                          </a:solidFill>
                          <a:latin typeface="Cambria Math" panose="02040503050406030204" pitchFamily="18" charset="0"/>
                        </a:rPr>
                        <m:t>=</m:t>
                      </m:r>
                      <m:sSub>
                        <m:sSubPr>
                          <m:ctrlPr>
                            <a:rPr lang="zh-CN" altLang="en-US" b="1" i="1">
                              <a:solidFill>
                                <a:srgbClr val="0070C0"/>
                              </a:solidFill>
                              <a:latin typeface="Cambria Math" panose="02040503050406030204" pitchFamily="18" charset="0"/>
                            </a:rPr>
                          </m:ctrlPr>
                        </m:sSubPr>
                        <m:e>
                          <m:r>
                            <a:rPr lang="zh-CN" altLang="en-US" b="1" i="1">
                              <a:solidFill>
                                <a:srgbClr val="0070C0"/>
                              </a:solidFill>
                              <a:latin typeface="Cambria Math" panose="02040503050406030204" pitchFamily="18" charset="0"/>
                            </a:rPr>
                            <m:t>𝑪</m:t>
                          </m:r>
                        </m:e>
                        <m:sub>
                          <m:r>
                            <a:rPr lang="zh-CN" altLang="en-US" b="1">
                              <a:solidFill>
                                <a:srgbClr val="0070C0"/>
                              </a:solidFill>
                              <a:latin typeface="Cambria Math" panose="02040503050406030204" pitchFamily="18" charset="0"/>
                            </a:rPr>
                            <m:t>𝐝</m:t>
                          </m:r>
                        </m:sub>
                      </m:sSub>
                      <m:sSub>
                        <m:sSubPr>
                          <m:ctrlPr>
                            <a:rPr lang="zh-CN" altLang="en-US" b="1" i="1">
                              <a:solidFill>
                                <a:srgbClr val="0070C0"/>
                              </a:solidFill>
                              <a:latin typeface="Cambria Math" panose="02040503050406030204" pitchFamily="18" charset="0"/>
                            </a:rPr>
                          </m:ctrlPr>
                        </m:sSubPr>
                        <m:e>
                          <m:r>
                            <a:rPr lang="zh-CN" altLang="en-US" b="1" i="1">
                              <a:solidFill>
                                <a:srgbClr val="0070C0"/>
                              </a:solidFill>
                              <a:latin typeface="Cambria Math" panose="02040503050406030204" pitchFamily="18" charset="0"/>
                            </a:rPr>
                            <m:t>𝑨</m:t>
                          </m:r>
                        </m:e>
                        <m:sub>
                          <m:r>
                            <a:rPr lang="zh-CN" altLang="en-US" b="1">
                              <a:solidFill>
                                <a:srgbClr val="0070C0"/>
                              </a:solidFill>
                              <a:latin typeface="Cambria Math" panose="02040503050406030204" pitchFamily="18" charset="0"/>
                            </a:rPr>
                            <m:t>𝟎</m:t>
                          </m:r>
                        </m:sub>
                      </m:sSub>
                      <m:rad>
                        <m:radPr>
                          <m:degHide m:val="on"/>
                          <m:ctrlPr>
                            <a:rPr lang="zh-CN" altLang="en-US" b="1" i="1">
                              <a:solidFill>
                                <a:srgbClr val="0070C0"/>
                              </a:solidFill>
                              <a:latin typeface="Cambria Math" panose="02040503050406030204" pitchFamily="18" charset="0"/>
                            </a:rPr>
                          </m:ctrlPr>
                        </m:radPr>
                        <m:deg/>
                        <m:e>
                          <m:f>
                            <m:fPr>
                              <m:ctrlPr>
                                <a:rPr lang="zh-CN" altLang="en-US" b="1" i="1">
                                  <a:solidFill>
                                    <a:srgbClr val="0070C0"/>
                                  </a:solidFill>
                                  <a:latin typeface="Cambria Math" panose="02040503050406030204" pitchFamily="18" charset="0"/>
                                </a:rPr>
                              </m:ctrlPr>
                            </m:fPr>
                            <m:num>
                              <m:r>
                                <a:rPr lang="zh-CN" altLang="en-US" b="1">
                                  <a:solidFill>
                                    <a:srgbClr val="0070C0"/>
                                  </a:solidFill>
                                  <a:latin typeface="Cambria Math" panose="02040503050406030204" pitchFamily="18" charset="0"/>
                                </a:rPr>
                                <m:t>𝟐</m:t>
                              </m:r>
                              <m:r>
                                <a:rPr lang="zh-CN" altLang="en-US" b="1">
                                  <a:solidFill>
                                    <a:srgbClr val="0070C0"/>
                                  </a:solidFill>
                                  <a:latin typeface="Cambria Math" panose="02040503050406030204" pitchFamily="18" charset="0"/>
                                </a:rPr>
                                <m:t>𝚫</m:t>
                              </m:r>
                              <m:r>
                                <a:rPr lang="zh-CN" altLang="en-US" b="1" i="1">
                                  <a:solidFill>
                                    <a:srgbClr val="0070C0"/>
                                  </a:solidFill>
                                  <a:latin typeface="Cambria Math" panose="02040503050406030204" pitchFamily="18" charset="0"/>
                                </a:rPr>
                                <m:t>𝒑</m:t>
                              </m:r>
                            </m:num>
                            <m:den>
                              <m:r>
                                <a:rPr lang="zh-CN" altLang="en-US" b="1" i="1">
                                  <a:solidFill>
                                    <a:srgbClr val="0070C0"/>
                                  </a:solidFill>
                                  <a:latin typeface="Cambria Math" panose="02040503050406030204" pitchFamily="18" charset="0"/>
                                </a:rPr>
                                <m:t>𝝆</m:t>
                              </m:r>
                            </m:den>
                          </m:f>
                        </m:e>
                      </m:rad>
                    </m:oMath>
                  </m:oMathPara>
                </a14:m>
                <a:endParaRPr lang="en-US" altLang="zh-CN" sz="2400" dirty="0">
                  <a:solidFill>
                    <a:srgbClr val="0070C0"/>
                  </a:solidFill>
                  <a:latin typeface="微软雅黑" panose="020B0503020204020204" pitchFamily="34" charset="-122"/>
                  <a:ea typeface="微软雅黑" panose="020B0503020204020204" pitchFamily="34" charset="-122"/>
                </a:endParaRPr>
              </a:p>
            </p:txBody>
          </p:sp>
        </mc:Choice>
        <mc:Fallback>
          <p:sp>
            <p:nvSpPr>
              <p:cNvPr id="14" name="矩形 13">
                <a:extLst>
                  <a:ext uri="{FF2B5EF4-FFF2-40B4-BE49-F238E27FC236}">
                    <a16:creationId xmlns:a16="http://schemas.microsoft.com/office/drawing/2014/main" id="{91F3CA6A-DC93-474E-8548-339857CF112C}"/>
                  </a:ext>
                </a:extLst>
              </p:cNvPr>
              <p:cNvSpPr>
                <a:spLocks noRot="1" noChangeAspect="1" noMove="1" noResize="1" noEditPoints="1" noAdjustHandles="1" noChangeArrowheads="1" noChangeShapeType="1" noTextEdit="1"/>
              </p:cNvSpPr>
              <p:nvPr/>
            </p:nvSpPr>
            <p:spPr>
              <a:xfrm>
                <a:off x="9798569" y="1032332"/>
                <a:ext cx="1819793" cy="1319913"/>
              </a:xfrm>
              <a:prstGeom prst="rect">
                <a:avLst/>
              </a:prstGeom>
              <a:blipFill>
                <a:blip r:embed="rId9"/>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5754C737-990A-479E-ADAC-597D1C22C518}"/>
              </a:ext>
            </a:extLst>
          </p:cNvPr>
          <p:cNvSpPr txBox="1"/>
          <p:nvPr/>
        </p:nvSpPr>
        <p:spPr>
          <a:xfrm>
            <a:off x="6490119" y="1638235"/>
            <a:ext cx="877163" cy="369332"/>
          </a:xfrm>
          <a:prstGeom prst="rect">
            <a:avLst/>
          </a:prstGeom>
          <a:noFill/>
        </p:spPr>
        <p:txBody>
          <a:bodyPr wrap="none" rtlCol="0">
            <a:spAutoFit/>
          </a:bodyPr>
          <a:lstStyle/>
          <a:p>
            <a:r>
              <a:rPr lang="zh-CN" altLang="en-US" dirty="0">
                <a:solidFill>
                  <a:srgbClr val="0070C0"/>
                </a:solidFill>
              </a:rPr>
              <a:t>细长孔</a:t>
            </a:r>
          </a:p>
        </p:txBody>
      </p:sp>
      <p:sp>
        <p:nvSpPr>
          <p:cNvPr id="16" name="文本框 15">
            <a:extLst>
              <a:ext uri="{FF2B5EF4-FFF2-40B4-BE49-F238E27FC236}">
                <a16:creationId xmlns:a16="http://schemas.microsoft.com/office/drawing/2014/main" id="{56D16D5C-C3A4-477E-8113-0E8B0BF41EDE}"/>
              </a:ext>
            </a:extLst>
          </p:cNvPr>
          <p:cNvSpPr txBox="1"/>
          <p:nvPr/>
        </p:nvSpPr>
        <p:spPr>
          <a:xfrm>
            <a:off x="9089969" y="1656730"/>
            <a:ext cx="877163" cy="369332"/>
          </a:xfrm>
          <a:prstGeom prst="rect">
            <a:avLst/>
          </a:prstGeom>
          <a:noFill/>
        </p:spPr>
        <p:txBody>
          <a:bodyPr wrap="none" rtlCol="0">
            <a:spAutoFit/>
          </a:bodyPr>
          <a:lstStyle/>
          <a:p>
            <a:r>
              <a:rPr lang="zh-CN" altLang="en-US" dirty="0">
                <a:solidFill>
                  <a:srgbClr val="0070C0"/>
                </a:solidFill>
              </a:rPr>
              <a:t>薄壁孔</a:t>
            </a:r>
          </a:p>
        </p:txBody>
      </p:sp>
    </p:spTree>
    <p:extLst>
      <p:ext uri="{BB962C8B-B14F-4D97-AF65-F5344CB8AC3E}">
        <p14:creationId xmlns:p14="http://schemas.microsoft.com/office/powerpoint/2010/main" val="215750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4B206967-0973-D69A-2C76-593DFCEC462B}"/>
              </a:ext>
            </a:extLst>
          </p:cNvPr>
          <p:cNvSpPr txBox="1">
            <a:spLocks/>
          </p:cNvSpPr>
          <p:nvPr/>
        </p:nvSpPr>
        <p:spPr>
          <a:xfrm>
            <a:off x="504012" y="1023260"/>
            <a:ext cx="6476256" cy="662554"/>
          </a:xfrm>
          <a:prstGeom prst="rect">
            <a:avLst/>
          </a:prstGeom>
          <a:noFill/>
        </p:spPr>
        <p:txBody>
          <a:bodyPr wrap="square">
            <a:spAutoFit/>
          </a:bodyPr>
          <a:lstStyle>
            <a:defPPr>
              <a:defRPr lang="zh-CN"/>
            </a:defPPr>
            <a:lvl1pPr>
              <a:lnSpc>
                <a:spcPct val="150000"/>
              </a:lnSpc>
              <a:buFont typeface="Wingdings" panose="05000000000000000000" pitchFamily="2" charset="2"/>
              <a:buChar char="q"/>
              <a:defRPr sz="2800" b="1">
                <a:solidFill>
                  <a:srgbClr val="003F88"/>
                </a:solidFill>
                <a:latin typeface="微软雅黑" panose="020B0503020204020204" pitchFamily="34" charset="-122"/>
                <a:ea typeface="微软雅黑" panose="020B0503020204020204" pitchFamily="34" charset="-122"/>
              </a:defRPr>
            </a:lvl1pPr>
          </a:lstStyle>
          <a:p>
            <a:r>
              <a:rPr lang="en-US" altLang="zh-CN" dirty="0"/>
              <a:t>8.4.2 </a:t>
            </a:r>
            <a:r>
              <a:rPr lang="zh-CN" altLang="en-US" dirty="0"/>
              <a:t>调速阀</a:t>
            </a:r>
            <a:endParaRPr lang="en-US" dirty="0"/>
          </a:p>
        </p:txBody>
      </p:sp>
      <p:sp>
        <p:nvSpPr>
          <p:cNvPr id="3" name="Content Placeholder 2">
            <a:extLst>
              <a:ext uri="{FF2B5EF4-FFF2-40B4-BE49-F238E27FC236}">
                <a16:creationId xmlns:a16="http://schemas.microsoft.com/office/drawing/2014/main" id="{32BCD82D-DFFF-6E3E-35A6-57B921B13103}"/>
              </a:ext>
            </a:extLst>
          </p:cNvPr>
          <p:cNvSpPr txBox="1">
            <a:spLocks/>
          </p:cNvSpPr>
          <p:nvPr/>
        </p:nvSpPr>
        <p:spPr>
          <a:xfrm>
            <a:off x="688614" y="2846644"/>
            <a:ext cx="4364391" cy="33879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在节流阀前面串接一个</a:t>
            </a:r>
            <a:r>
              <a:rPr lang="zh-CN" altLang="en-US" sz="2000" dirty="0">
                <a:solidFill>
                  <a:srgbClr val="FF0000"/>
                </a:solidFill>
                <a:latin typeface="微软雅黑" panose="020B0503020204020204" pitchFamily="34" charset="-122"/>
                <a:ea typeface="微软雅黑" panose="020B0503020204020204" pitchFamily="34" charset="-122"/>
              </a:rPr>
              <a:t>定差式减压阀</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Ø"/>
            </a:pPr>
            <a:r>
              <a:rPr lang="zh-CN" altLang="en-US" sz="2000" dirty="0">
                <a:solidFill>
                  <a:srgbClr val="FF0000"/>
                </a:solidFill>
                <a:latin typeface="微软雅黑" panose="020B0503020204020204" pitchFamily="34" charset="-122"/>
                <a:ea typeface="微软雅黑" panose="020B0503020204020204" pitchFamily="34" charset="-122"/>
              </a:rPr>
              <a:t>节流阀前后的压差基本保持不变</a:t>
            </a:r>
            <a:r>
              <a:rPr lang="zh-CN" altLang="en-US" sz="2000" dirty="0">
                <a:latin typeface="微软雅黑" panose="020B0503020204020204" pitchFamily="34" charset="-122"/>
                <a:ea typeface="微软雅黑" panose="020B0503020204020204" pitchFamily="34" charset="-122"/>
              </a:rPr>
              <a:t>，通过调速阀的流量不变，活塞运动</a:t>
            </a:r>
            <a:r>
              <a:rPr lang="zh-CN" altLang="en-US" sz="2000" b="1" dirty="0">
                <a:solidFill>
                  <a:srgbClr val="0070C0"/>
                </a:solidFill>
                <a:latin typeface="微软雅黑" panose="020B0503020204020204" pitchFamily="34" charset="-122"/>
                <a:ea typeface="微软雅黑" panose="020B0503020204020204" pitchFamily="34" charset="-122"/>
              </a:rPr>
              <a:t>速度不受负载变化影响</a:t>
            </a:r>
          </a:p>
        </p:txBody>
      </p:sp>
      <p:pic>
        <p:nvPicPr>
          <p:cNvPr id="4" name="图片 3">
            <a:extLst>
              <a:ext uri="{FF2B5EF4-FFF2-40B4-BE49-F238E27FC236}">
                <a16:creationId xmlns:a16="http://schemas.microsoft.com/office/drawing/2014/main" id="{3DDCA4F6-8618-C627-6D8E-EB5756AC9543}"/>
              </a:ext>
            </a:extLst>
          </p:cNvPr>
          <p:cNvPicPr>
            <a:picLocks noChangeAspect="1"/>
          </p:cNvPicPr>
          <p:nvPr/>
        </p:nvPicPr>
        <p:blipFill>
          <a:blip r:embed="rId4"/>
          <a:srcRect b="8556"/>
          <a:stretch/>
        </p:blipFill>
        <p:spPr>
          <a:xfrm>
            <a:off x="5589996" y="1155690"/>
            <a:ext cx="5294517" cy="5078856"/>
          </a:xfrm>
          <a:prstGeom prst="rect">
            <a:avLst/>
          </a:prstGeom>
        </p:spPr>
      </p:pic>
      <p:sp>
        <p:nvSpPr>
          <p:cNvPr id="6" name="文本框 5">
            <a:extLst>
              <a:ext uri="{FF2B5EF4-FFF2-40B4-BE49-F238E27FC236}">
                <a16:creationId xmlns:a16="http://schemas.microsoft.com/office/drawing/2014/main" id="{4C6D1F9C-D2AF-39B7-3F93-6D1D8BF35820}"/>
              </a:ext>
            </a:extLst>
          </p:cNvPr>
          <p:cNvSpPr txBox="1">
            <a:spLocks noChangeArrowheads="1"/>
          </p:cNvSpPr>
          <p:nvPr/>
        </p:nvSpPr>
        <p:spPr bwMode="auto">
          <a:xfrm>
            <a:off x="559641" y="1825489"/>
            <a:ext cx="2743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工作原理</a:t>
            </a:r>
          </a:p>
        </p:txBody>
      </p:sp>
      <p:sp>
        <p:nvSpPr>
          <p:cNvPr id="10" name="文本框 9">
            <a:extLst>
              <a:ext uri="{FF2B5EF4-FFF2-40B4-BE49-F238E27FC236}">
                <a16:creationId xmlns:a16="http://schemas.microsoft.com/office/drawing/2014/main" id="{E41B6FBE-C181-CC34-C69A-6697E1510178}"/>
              </a:ext>
            </a:extLst>
          </p:cNvPr>
          <p:cNvSpPr txBox="1"/>
          <p:nvPr/>
        </p:nvSpPr>
        <p:spPr>
          <a:xfrm>
            <a:off x="6126984" y="6034422"/>
            <a:ext cx="4220539" cy="574516"/>
          </a:xfrm>
          <a:prstGeom prst="rect">
            <a:avLst/>
          </a:prstGeom>
          <a:solidFill>
            <a:schemeClr val="bg1"/>
          </a:solidFill>
        </p:spPr>
        <p:txBody>
          <a:bodyPr wrap="square" rtlCol="0">
            <a:spAutoFit/>
          </a:bodyPr>
          <a:lstStyle/>
          <a:p>
            <a:pPr algn="ctr">
              <a:spcBef>
                <a:spcPts val="385"/>
              </a:spcBef>
            </a:pPr>
            <a:r>
              <a:rPr lang="zh-CN" altLang="en-US"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36  </a:t>
            </a:r>
            <a:r>
              <a:rPr lang="zh-CN" altLang="en-US" sz="1400" dirty="0">
                <a:latin typeface="微软雅黑" panose="020B0503020204020204" pitchFamily="34" charset="-122"/>
                <a:ea typeface="微软雅黑" panose="020B0503020204020204" pitchFamily="34" charset="-122"/>
              </a:rPr>
              <a:t>调速阀的工作原理</a:t>
            </a:r>
            <a:endParaRPr lang="en-US" altLang="zh-CN" sz="1400" dirty="0">
              <a:latin typeface="微软雅黑" panose="020B0503020204020204" pitchFamily="34" charset="-122"/>
              <a:ea typeface="微软雅黑" panose="020B0503020204020204" pitchFamily="34" charset="-122"/>
            </a:endParaRPr>
          </a:p>
          <a:p>
            <a:pPr algn="ctr">
              <a:spcBef>
                <a:spcPts val="385"/>
              </a:spcBef>
            </a:pP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结构 </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图形符号 </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简化的图形符号</a:t>
            </a:r>
            <a:endParaRPr lang="en-US" altLang="zh-CN"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45F2D08-0043-4010-8B59-F8F2D9BB79AF}"/>
                  </a:ext>
                </a:extLst>
              </p:cNvPr>
              <p:cNvSpPr/>
              <p:nvPr/>
            </p:nvSpPr>
            <p:spPr>
              <a:xfrm>
                <a:off x="3633640" y="5111274"/>
                <a:ext cx="1956113" cy="100168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黑体" panose="02010609060101010101" pitchFamily="49" charset="-122"/>
                        </a:rPr>
                        <m:t>𝑄</m:t>
                      </m:r>
                      <m:r>
                        <a:rPr lang="en-US" altLang="zh-CN" sz="2000" i="1" kern="0">
                          <a:solidFill>
                            <a:srgbClr val="FF0000"/>
                          </a:solidFill>
                          <a:latin typeface="Cambria Math" panose="02040503050406030204" pitchFamily="18" charset="0"/>
                          <a:ea typeface="黑体" panose="02010609060101010101" pitchFamily="49" charset="-122"/>
                        </a:rPr>
                        <m:t>=</m:t>
                      </m:r>
                      <m:sSub>
                        <m:sSubPr>
                          <m:ctrlPr>
                            <a:rPr lang="en-US" altLang="zh-CN" sz="2000" i="1" kern="0">
                              <a:solidFill>
                                <a:srgbClr val="FF0000"/>
                              </a:solidFill>
                              <a:latin typeface="Cambria Math" panose="02040503050406030204" pitchFamily="18" charset="0"/>
                              <a:ea typeface="黑体" panose="02010609060101010101" pitchFamily="49" charset="-122"/>
                            </a:rPr>
                          </m:ctrlPr>
                        </m:sSubPr>
                        <m:e>
                          <m:r>
                            <a:rPr lang="en-US" altLang="zh-CN" sz="2000" i="1" kern="0">
                              <a:solidFill>
                                <a:srgbClr val="FF0000"/>
                              </a:solidFill>
                              <a:latin typeface="Cambria Math" panose="02040503050406030204" pitchFamily="18" charset="0"/>
                              <a:ea typeface="黑体" panose="02010609060101010101" pitchFamily="49" charset="-122"/>
                            </a:rPr>
                            <m:t>𝐶</m:t>
                          </m:r>
                        </m:e>
                        <m:sub>
                          <m:r>
                            <a:rPr lang="en-US" altLang="zh-CN" sz="2000" i="1" kern="0">
                              <a:solidFill>
                                <a:srgbClr val="FF0000"/>
                              </a:solidFill>
                              <a:latin typeface="Cambria Math" panose="02040503050406030204" pitchFamily="18" charset="0"/>
                              <a:ea typeface="黑体" panose="02010609060101010101" pitchFamily="49" charset="-122"/>
                            </a:rPr>
                            <m:t>𝑑</m:t>
                          </m:r>
                        </m:sub>
                      </m:sSub>
                      <m:r>
                        <a:rPr lang="en-US" altLang="zh-CN" sz="2000" b="0" i="1" kern="0" smtClean="0">
                          <a:solidFill>
                            <a:srgbClr val="FF0000"/>
                          </a:solidFill>
                          <a:latin typeface="Cambria Math" panose="02040503050406030204" pitchFamily="18" charset="0"/>
                          <a:ea typeface="黑体" panose="02010609060101010101" pitchFamily="49" charset="-122"/>
                        </a:rPr>
                        <m:t>𝐴</m:t>
                      </m:r>
                      <m:rad>
                        <m:radPr>
                          <m:degHide m:val="on"/>
                          <m:ctrlPr>
                            <a:rPr lang="en-US" altLang="zh-CN" sz="2000" i="1" kern="0">
                              <a:solidFill>
                                <a:srgbClr val="FF0000"/>
                              </a:solidFill>
                              <a:latin typeface="Cambria Math" panose="02040503050406030204" pitchFamily="18" charset="0"/>
                              <a:ea typeface="黑体" panose="02010609060101010101" pitchFamily="49" charset="-122"/>
                            </a:rPr>
                          </m:ctrlPr>
                        </m:radPr>
                        <m:deg/>
                        <m:e>
                          <m:f>
                            <m:fPr>
                              <m:ctrlPr>
                                <a:rPr lang="en-US" altLang="zh-CN" sz="2000" i="1" kern="0" smtClean="0">
                                  <a:solidFill>
                                    <a:srgbClr val="FF0000"/>
                                  </a:solidFill>
                                  <a:latin typeface="Cambria Math" panose="02040503050406030204" pitchFamily="18" charset="0"/>
                                  <a:ea typeface="黑体" panose="02010609060101010101" pitchFamily="49" charset="-122"/>
                                </a:rPr>
                              </m:ctrlPr>
                            </m:fPr>
                            <m:num>
                              <m:r>
                                <a:rPr lang="en-US" altLang="zh-CN" sz="2000" b="0" i="1" kern="0" smtClean="0">
                                  <a:solidFill>
                                    <a:srgbClr val="FF0000"/>
                                  </a:solidFill>
                                  <a:latin typeface="Cambria Math" panose="02040503050406030204" pitchFamily="18" charset="0"/>
                                  <a:ea typeface="黑体" panose="02010609060101010101" pitchFamily="49" charset="-122"/>
                                </a:rPr>
                                <m:t>2</m:t>
                              </m:r>
                            </m:num>
                            <m:den>
                              <m:r>
                                <a:rPr lang="zh-CN" altLang="en-US" sz="2000" i="1" kern="0" smtClean="0">
                                  <a:solidFill>
                                    <a:srgbClr val="FF0000"/>
                                  </a:solidFill>
                                  <a:latin typeface="Cambria Math" panose="02040503050406030204" pitchFamily="18" charset="0"/>
                                  <a:ea typeface="黑体" panose="02010609060101010101" pitchFamily="49" charset="-122"/>
                                </a:rPr>
                                <m:t>𝜌</m:t>
                              </m:r>
                            </m:den>
                          </m:f>
                          <m:r>
                            <a:rPr lang="el-GR" altLang="zh-CN" sz="2000" i="1" kern="0">
                              <a:solidFill>
                                <a:srgbClr val="FF0000"/>
                              </a:solidFill>
                              <a:latin typeface="Cambria Math" panose="02040503050406030204" pitchFamily="18" charset="0"/>
                              <a:ea typeface="Cambria Math" panose="02040503050406030204" pitchFamily="18" charset="0"/>
                            </a:rPr>
                            <m:t>𝛥</m:t>
                          </m:r>
                          <m:r>
                            <a:rPr lang="en-US" altLang="zh-CN" sz="2000" i="1" kern="0">
                              <a:solidFill>
                                <a:srgbClr val="FF0000"/>
                              </a:solidFill>
                              <a:latin typeface="Cambria Math" panose="02040503050406030204" pitchFamily="18" charset="0"/>
                              <a:ea typeface="Cambria Math" panose="02040503050406030204" pitchFamily="18" charset="0"/>
                            </a:rPr>
                            <m:t>𝑝</m:t>
                          </m:r>
                        </m:e>
                      </m:rad>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1" name="矩形 10">
                <a:extLst>
                  <a:ext uri="{FF2B5EF4-FFF2-40B4-BE49-F238E27FC236}">
                    <a16:creationId xmlns:a16="http://schemas.microsoft.com/office/drawing/2014/main" id="{A45F2D08-0043-4010-8B59-F8F2D9BB79AF}"/>
                  </a:ext>
                </a:extLst>
              </p:cNvPr>
              <p:cNvSpPr>
                <a:spLocks noRot="1" noChangeAspect="1" noMove="1" noResize="1" noEditPoints="1" noAdjustHandles="1" noChangeArrowheads="1" noChangeShapeType="1" noTextEdit="1"/>
              </p:cNvSpPr>
              <p:nvPr/>
            </p:nvSpPr>
            <p:spPr>
              <a:xfrm>
                <a:off x="3633640" y="5111274"/>
                <a:ext cx="1956113" cy="100168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7C092F4-9B27-4ADD-A1EC-F4D2A1FFC60E}"/>
                  </a:ext>
                </a:extLst>
              </p:cNvPr>
              <p:cNvSpPr/>
              <p:nvPr/>
            </p:nvSpPr>
            <p:spPr>
              <a:xfrm>
                <a:off x="3633157" y="6112958"/>
                <a:ext cx="1453411" cy="400110"/>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altLang="zh-CN" sz="2000" b="0" i="1" kern="0" smtClean="0">
                          <a:solidFill>
                            <a:srgbClr val="FF0000"/>
                          </a:solidFill>
                          <a:latin typeface="Cambria Math" panose="02040503050406030204" pitchFamily="18" charset="0"/>
                          <a:ea typeface="黑体" panose="02010609060101010101" pitchFamily="49" charset="-122"/>
                        </a:rPr>
                        <m:t>𝑄</m:t>
                      </m:r>
                      <m:r>
                        <a:rPr lang="en-US" altLang="zh-CN" sz="2000" b="0" i="1" kern="0" smtClean="0">
                          <a:solidFill>
                            <a:srgbClr val="FF0000"/>
                          </a:solidFill>
                          <a:latin typeface="Cambria Math" panose="02040503050406030204" pitchFamily="18" charset="0"/>
                          <a:ea typeface="Cambria Math" panose="02040503050406030204" pitchFamily="18" charset="0"/>
                        </a:rPr>
                        <m:t>≈</m:t>
                      </m:r>
                      <m:r>
                        <a:rPr lang="en-US" altLang="zh-CN" sz="2000" b="0" i="1" kern="0" smtClean="0">
                          <a:solidFill>
                            <a:srgbClr val="FF0000"/>
                          </a:solidFill>
                          <a:latin typeface="Cambria Math" panose="02040503050406030204" pitchFamily="18" charset="0"/>
                          <a:ea typeface="Cambria Math" panose="02040503050406030204" pitchFamily="18" charset="0"/>
                        </a:rPr>
                        <m:t>𝑐𝑜𝑛𝑠𝑡</m:t>
                      </m:r>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2" name="矩形 11">
                <a:extLst>
                  <a:ext uri="{FF2B5EF4-FFF2-40B4-BE49-F238E27FC236}">
                    <a16:creationId xmlns:a16="http://schemas.microsoft.com/office/drawing/2014/main" id="{67C092F4-9B27-4ADD-A1EC-F4D2A1FFC60E}"/>
                  </a:ext>
                </a:extLst>
              </p:cNvPr>
              <p:cNvSpPr>
                <a:spLocks noRot="1" noChangeAspect="1" noMove="1" noResize="1" noEditPoints="1" noAdjustHandles="1" noChangeArrowheads="1" noChangeShapeType="1" noTextEdit="1"/>
              </p:cNvSpPr>
              <p:nvPr/>
            </p:nvSpPr>
            <p:spPr>
              <a:xfrm>
                <a:off x="3633157" y="6112958"/>
                <a:ext cx="1453411" cy="400110"/>
              </a:xfrm>
              <a:prstGeom prst="rect">
                <a:avLst/>
              </a:prstGeom>
              <a:blipFill>
                <a:blip r:embed="rId6"/>
                <a:stretch>
                  <a:fillRect b="-107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1984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Title 1">
            <a:extLst>
              <a:ext uri="{FF2B5EF4-FFF2-40B4-BE49-F238E27FC236}">
                <a16:creationId xmlns:a16="http://schemas.microsoft.com/office/drawing/2014/main" id="{2863AFB9-3849-01EB-513C-4FB4BDD3B359}"/>
              </a:ext>
            </a:extLst>
          </p:cNvPr>
          <p:cNvSpPr txBox="1">
            <a:spLocks/>
          </p:cNvSpPr>
          <p:nvPr/>
        </p:nvSpPr>
        <p:spPr>
          <a:xfrm>
            <a:off x="429895" y="1189414"/>
            <a:ext cx="6476256" cy="44691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latin typeface="微软雅黑" panose="020B0503020204020204" pitchFamily="34" charset="-122"/>
                <a:ea typeface="微软雅黑" panose="020B0503020204020204" pitchFamily="34" charset="-122"/>
                <a:cs typeface="+mn-cs"/>
              </a:rPr>
              <a:t>2.</a:t>
            </a:r>
            <a:r>
              <a:rPr lang="zh-CN" altLang="en-US" sz="2400" b="1" dirty="0">
                <a:latin typeface="微软雅黑" panose="020B0503020204020204" pitchFamily="34" charset="-122"/>
                <a:ea typeface="微软雅黑" panose="020B0503020204020204" pitchFamily="34" charset="-122"/>
                <a:cs typeface="+mn-cs"/>
              </a:rPr>
              <a:t>调速阀的静态特性</a:t>
            </a:r>
            <a:endParaRPr lang="en-US" sz="2400" b="1" dirty="0">
              <a:latin typeface="微软雅黑" panose="020B0503020204020204" pitchFamily="34" charset="-122"/>
              <a:ea typeface="微软雅黑" panose="020B0503020204020204" pitchFamily="34" charset="-122"/>
              <a:cs typeface="+mn-cs"/>
            </a:endParaRPr>
          </a:p>
        </p:txBody>
      </p:sp>
      <p:sp>
        <p:nvSpPr>
          <p:cNvPr id="10" name="矩形 9">
            <a:extLst>
              <a:ext uri="{FF2B5EF4-FFF2-40B4-BE49-F238E27FC236}">
                <a16:creationId xmlns:a16="http://schemas.microsoft.com/office/drawing/2014/main" id="{F2047D90-1DA8-9DF0-D001-961A0C307F44}"/>
              </a:ext>
            </a:extLst>
          </p:cNvPr>
          <p:cNvSpPr/>
          <p:nvPr/>
        </p:nvSpPr>
        <p:spPr>
          <a:xfrm>
            <a:off x="893991" y="1766828"/>
            <a:ext cx="10791410" cy="961289"/>
          </a:xfrm>
          <a:prstGeom prst="rect">
            <a:avLst/>
          </a:prstGeom>
        </p:spPr>
        <p:txBody>
          <a:bodyPr wrap="square">
            <a:spAutoFit/>
          </a:bodyPr>
          <a:lstStyle/>
          <a:p>
            <a:pPr indent="396240">
              <a:lnSpc>
                <a:spcPct val="150000"/>
              </a:lnSpc>
            </a:pPr>
            <a:r>
              <a:rPr lang="zh-CN" altLang="en-US" sz="2000" dirty="0">
                <a:latin typeface="微软雅黑" panose="020B0503020204020204" pitchFamily="34" charset="-122"/>
                <a:ea typeface="微软雅黑" panose="020B0503020204020204" pitchFamily="34" charset="-122"/>
              </a:rPr>
              <a:t>调速阀的流量特性可按下述基本关系式推导出来。式中带</a:t>
            </a:r>
            <a:r>
              <a:rPr lang="en-US" altLang="zh-CN" sz="2000" dirty="0">
                <a:latin typeface="微软雅黑" panose="020B0503020204020204" pitchFamily="34" charset="-122"/>
                <a:ea typeface="微软雅黑" panose="020B0503020204020204" pitchFamily="34" charset="-122"/>
              </a:rPr>
              <a:t>R</a:t>
            </a:r>
            <a:r>
              <a:rPr lang="zh-CN" altLang="en-US" sz="2000" dirty="0">
                <a:latin typeface="微软雅黑" panose="020B0503020204020204" pitchFamily="34" charset="-122"/>
                <a:ea typeface="微软雅黑" panose="020B0503020204020204" pitchFamily="34" charset="-122"/>
              </a:rPr>
              <a:t>下标为减压阀</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带</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下标为节流阀。</a:t>
            </a:r>
          </a:p>
          <a:p>
            <a:pPr indent="396240">
              <a:lnSpc>
                <a:spcPct val="150000"/>
              </a:lnSpc>
            </a:pPr>
            <a:r>
              <a:rPr lang="zh-CN" altLang="en-US" sz="2000" dirty="0">
                <a:latin typeface="微软雅黑" panose="020B0503020204020204" pitchFamily="34" charset="-122"/>
                <a:ea typeface="微软雅黑" panose="020B0503020204020204" pitchFamily="34" charset="-122"/>
              </a:rPr>
              <a:t>当忽略减压阀阀心的自重和摩擦力时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阀心上受力平衡方程为</a:t>
            </a:r>
          </a:p>
        </p:txBody>
      </p:sp>
      <p:pic>
        <p:nvPicPr>
          <p:cNvPr id="11" name="Picture 2" descr="C:\Users\ADMINI~1\AppData\Local\Temp\ksohtml\wps55B4.tmp.jpg">
            <a:extLst>
              <a:ext uri="{FF2B5EF4-FFF2-40B4-BE49-F238E27FC236}">
                <a16:creationId xmlns:a16="http://schemas.microsoft.com/office/drawing/2014/main" id="{04A9D37E-6126-2BE0-8DF9-AB7BAD165F0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811" t="-1347" r="11811" b="-29975"/>
          <a:stretch/>
        </p:blipFill>
        <p:spPr bwMode="auto">
          <a:xfrm>
            <a:off x="2296520" y="2823725"/>
            <a:ext cx="5926774" cy="501366"/>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F1E2FA4F-6405-80F1-6491-E2ACF030F3EC}"/>
              </a:ext>
            </a:extLst>
          </p:cNvPr>
          <p:cNvSpPr/>
          <p:nvPr/>
        </p:nvSpPr>
        <p:spPr>
          <a:xfrm>
            <a:off x="893991" y="3270772"/>
            <a:ext cx="9409014" cy="961289"/>
          </a:xfrm>
          <a:prstGeom prst="rect">
            <a:avLst/>
          </a:prstGeom>
        </p:spPr>
        <p:txBody>
          <a:bodyPr wrap="square">
            <a:spAutoFit/>
          </a:bodyPr>
          <a:lstStyle/>
          <a:p>
            <a:pPr indent="396240">
              <a:lnSpc>
                <a:spcPct val="150000"/>
              </a:lnSpc>
            </a:pPr>
            <a:r>
              <a:rPr lang="zh-CN" altLang="en-US" sz="2000" dirty="0">
                <a:latin typeface="微软雅黑" panose="020B0503020204020204" pitchFamily="34" charset="-122"/>
                <a:ea typeface="微软雅黑" panose="020B0503020204020204" pitchFamily="34" charset="-122"/>
              </a:rPr>
              <a:t>式中 </a:t>
            </a:r>
            <a:r>
              <a:rPr lang="en-US" altLang="zh-CN" sz="2000" dirty="0">
                <a:latin typeface="微软雅黑" panose="020B0503020204020204" pitchFamily="34" charset="-122"/>
                <a:ea typeface="微软雅黑" panose="020B0503020204020204" pitchFamily="34" charset="-122"/>
              </a:rPr>
              <a:t>x</a:t>
            </a:r>
            <a:r>
              <a:rPr lang="en-US" altLang="zh-CN" sz="2000" baseline="-25000" dirty="0">
                <a:latin typeface="微软雅黑" panose="020B0503020204020204" pitchFamily="34" charset="-122"/>
                <a:ea typeface="微软雅黑" panose="020B0503020204020204" pitchFamily="34" charset="-122"/>
              </a:rPr>
              <a:t>c</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阀心开口</a:t>
            </a:r>
            <a:r>
              <a:rPr lang="en-US" altLang="zh-CN" sz="2000" dirty="0" err="1">
                <a:latin typeface="微软雅黑" panose="020B0503020204020204" pitchFamily="34" charset="-122"/>
                <a:ea typeface="微软雅黑" panose="020B0503020204020204" pitchFamily="34" charset="-122"/>
              </a:rPr>
              <a:t>x</a:t>
            </a:r>
            <a:r>
              <a:rPr lang="en-US" altLang="zh-CN" sz="2000" baseline="-25000" dirty="0" err="1">
                <a:latin typeface="微软雅黑" panose="020B0503020204020204" pitchFamily="34" charset="-122"/>
                <a:ea typeface="微软雅黑" panose="020B0503020204020204" pitchFamily="34" charset="-122"/>
              </a:rPr>
              <a:t>R</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时的弹簧预压缩量。</a:t>
            </a:r>
          </a:p>
          <a:p>
            <a:pPr indent="396240">
              <a:lnSpc>
                <a:spcPct val="150000"/>
              </a:lnSpc>
            </a:pPr>
            <a:r>
              <a:rPr lang="zh-CN" altLang="en-US" sz="2000" dirty="0">
                <a:latin typeface="微软雅黑" panose="020B0503020204020204" pitchFamily="34" charset="-122"/>
                <a:ea typeface="微软雅黑" panose="020B0503020204020204" pitchFamily="34" charset="-122"/>
              </a:rPr>
              <a:t>减压阀和节流阀的开口都是</a:t>
            </a:r>
            <a:r>
              <a:rPr lang="zh-CN" altLang="en-US" sz="2000" b="1" dirty="0">
                <a:solidFill>
                  <a:srgbClr val="0070C0"/>
                </a:solidFill>
                <a:latin typeface="微软雅黑" panose="020B0503020204020204" pitchFamily="34" charset="-122"/>
                <a:ea typeface="微软雅黑" panose="020B0503020204020204" pitchFamily="34" charset="-122"/>
              </a:rPr>
              <a:t>薄壁孔</a:t>
            </a:r>
            <a:r>
              <a:rPr lang="zh-CN" altLang="en-US" sz="2000" dirty="0">
                <a:latin typeface="微软雅黑" panose="020B0503020204020204" pitchFamily="34" charset="-122"/>
                <a:ea typeface="微软雅黑" panose="020B0503020204020204" pitchFamily="34" charset="-122"/>
              </a:rPr>
              <a:t>形式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所以通过减压阀和节流阀的流量分别为</a:t>
            </a:r>
          </a:p>
        </p:txBody>
      </p:sp>
      <p:pic>
        <p:nvPicPr>
          <p:cNvPr id="13" name="Picture 4" descr="C:\Users\ADMINI~1\AppData\Local\Temp\ksohtml\wps9267.tmp.jpg">
            <a:extLst>
              <a:ext uri="{FF2B5EF4-FFF2-40B4-BE49-F238E27FC236}">
                <a16:creationId xmlns:a16="http://schemas.microsoft.com/office/drawing/2014/main" id="{65E3BD62-D554-24C0-0CEC-91DD0EECCB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2923" y="4685325"/>
            <a:ext cx="2505779" cy="1665025"/>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D78C2D28-2BD3-3F51-4FEC-EB7FE998FEB6}"/>
              </a:ext>
            </a:extLst>
          </p:cNvPr>
          <p:cNvSpPr/>
          <p:nvPr/>
        </p:nvSpPr>
        <p:spPr>
          <a:xfrm>
            <a:off x="4642171" y="5317782"/>
            <a:ext cx="1453829" cy="400110"/>
          </a:xfrm>
          <a:prstGeom prst="rect">
            <a:avLst/>
          </a:prstGeom>
        </p:spPr>
        <p:txBody>
          <a:bodyPr wrap="square">
            <a:spAutoFit/>
          </a:bodyPr>
          <a:lstStyle/>
          <a:p>
            <a:pPr indent="396240"/>
            <a:r>
              <a:rPr lang="zh-CN" altLang="en-US" sz="2000" dirty="0">
                <a:latin typeface="微软雅黑" panose="020B0503020204020204" pitchFamily="34" charset="-122"/>
                <a:ea typeface="微软雅黑" panose="020B0503020204020204" pitchFamily="34" charset="-122"/>
              </a:rPr>
              <a:t>于是</a:t>
            </a:r>
          </a:p>
        </p:txBody>
      </p:sp>
      <p:pic>
        <p:nvPicPr>
          <p:cNvPr id="2" name="图片 1">
            <a:extLst>
              <a:ext uri="{FF2B5EF4-FFF2-40B4-BE49-F238E27FC236}">
                <a16:creationId xmlns:a16="http://schemas.microsoft.com/office/drawing/2014/main" id="{65E60563-7535-CDBD-747C-CDB47B17A160}"/>
              </a:ext>
            </a:extLst>
          </p:cNvPr>
          <p:cNvPicPr>
            <a:picLocks noChangeAspect="1"/>
          </p:cNvPicPr>
          <p:nvPr/>
        </p:nvPicPr>
        <p:blipFill>
          <a:blip r:embed="rId6"/>
          <a:stretch>
            <a:fillRect/>
          </a:stretch>
        </p:blipFill>
        <p:spPr>
          <a:xfrm>
            <a:off x="5726530" y="4685325"/>
            <a:ext cx="4773536" cy="1755327"/>
          </a:xfrm>
          <a:prstGeom prst="rect">
            <a:avLst/>
          </a:prstGeom>
        </p:spPr>
      </p:pic>
    </p:spTree>
    <p:extLst>
      <p:ext uri="{BB962C8B-B14F-4D97-AF65-F5344CB8AC3E}">
        <p14:creationId xmlns:p14="http://schemas.microsoft.com/office/powerpoint/2010/main" val="261656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1B2FCB5-7B62-6854-E19A-3D11947AF714}"/>
                  </a:ext>
                </a:extLst>
              </p:cNvPr>
              <p:cNvSpPr txBox="1">
                <a:spLocks/>
              </p:cNvSpPr>
              <p:nvPr/>
            </p:nvSpPr>
            <p:spPr>
              <a:xfrm>
                <a:off x="563785" y="3242336"/>
                <a:ext cx="5740530" cy="29692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dirty="0">
                    <a:latin typeface="微软雅黑" panose="020B0503020204020204" pitchFamily="34" charset="-122"/>
                    <a:ea typeface="微软雅黑" panose="020B0503020204020204" pitchFamily="34" charset="-122"/>
                  </a:rPr>
                  <a:t>通过调速阀的流量基本保持不变：</a:t>
                </a:r>
                <a:endParaRPr lang="en-US" altLang="zh-CN" sz="2000" dirty="0">
                  <a:latin typeface="微软雅黑" panose="020B0503020204020204" pitchFamily="34" charset="-122"/>
                  <a:ea typeface="微软雅黑" panose="020B0503020204020204" pitchFamily="34" charset="-122"/>
                </a:endParaRPr>
              </a:p>
              <a:p>
                <a:pPr marL="0" indent="0" algn="just">
                  <a:buNone/>
                </a:pPr>
                <a:endParaRPr lang="en-US" altLang="zh-CN" sz="2000" dirty="0">
                  <a:latin typeface="微软雅黑" panose="020B0503020204020204" pitchFamily="34" charset="-122"/>
                  <a:ea typeface="微软雅黑" panose="020B0503020204020204" pitchFamily="34" charset="-122"/>
                </a:endParaRPr>
              </a:p>
              <a:p>
                <a:pPr marL="0" indent="0" algn="just">
                  <a:buNone/>
                </a:pPr>
                <a:endParaRPr lang="en-US" altLang="zh-CN" sz="2000" dirty="0">
                  <a:latin typeface="微软雅黑" panose="020B0503020204020204" pitchFamily="34" charset="-122"/>
                  <a:ea typeface="微软雅黑" panose="020B0503020204020204" pitchFamily="34" charset="-122"/>
                </a:endParaRPr>
              </a:p>
              <a:p>
                <a:pPr marL="0" indent="0" algn="just">
                  <a:buNone/>
                </a:pPr>
                <a:endParaRPr lang="en-US" altLang="zh-CN" sz="2000" dirty="0">
                  <a:latin typeface="微软雅黑" panose="020B0503020204020204" pitchFamily="34" charset="-122"/>
                  <a:ea typeface="微软雅黑" panose="020B0503020204020204" pitchFamily="34" charset="-122"/>
                </a:endParaRPr>
              </a:p>
              <a:p>
                <a:pPr marL="0" indent="0" algn="just">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   带</a:t>
                </a:r>
                <a14:m>
                  <m:oMath xmlns:m="http://schemas.openxmlformats.org/officeDocument/2006/math">
                    <m:r>
                      <a:rPr lang="en-US" altLang="zh-CN" sz="2000" i="1" dirty="0">
                        <a:latin typeface="Cambria Math" panose="02040503050406030204" pitchFamily="18" charset="0"/>
                        <a:ea typeface="黑体" panose="02010609060101010101" pitchFamily="49" charset="-122"/>
                      </a:rPr>
                      <m:t>𝑅</m:t>
                    </m:r>
                  </m:oMath>
                </a14:m>
                <a:r>
                  <a:rPr lang="zh-CN" altLang="en-US" sz="2000" dirty="0">
                    <a:latin typeface="微软雅黑" panose="020B0503020204020204" pitchFamily="34" charset="-122"/>
                    <a:ea typeface="微软雅黑" panose="020B0503020204020204" pitchFamily="34" charset="-122"/>
                  </a:rPr>
                  <a:t>下标为减压阀，带</a:t>
                </a:r>
                <a14:m>
                  <m:oMath xmlns:m="http://schemas.openxmlformats.org/officeDocument/2006/math">
                    <m:r>
                      <a:rPr lang="en-US" altLang="zh-CN" sz="2000" i="1" dirty="0">
                        <a:latin typeface="Cambria Math" panose="02040503050406030204" pitchFamily="18" charset="0"/>
                        <a:ea typeface="黑体" panose="02010609060101010101" pitchFamily="49" charset="-122"/>
                      </a:rPr>
                      <m:t>𝑇</m:t>
                    </m:r>
                  </m:oMath>
                </a14:m>
                <a:r>
                  <a:rPr lang="zh-CN" altLang="en-US" sz="2000" dirty="0">
                    <a:latin typeface="微软雅黑" panose="020B0503020204020204" pitchFamily="34" charset="-122"/>
                    <a:ea typeface="微软雅黑" panose="020B0503020204020204" pitchFamily="34" charset="-122"/>
                  </a:rPr>
                  <a:t>下标为节流阀</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2" name="Content Placeholder 2">
                <a:extLst>
                  <a:ext uri="{FF2B5EF4-FFF2-40B4-BE49-F238E27FC236}">
                    <a16:creationId xmlns:a16="http://schemas.microsoft.com/office/drawing/2014/main" id="{B1B2FCB5-7B62-6854-E19A-3D11947AF714}"/>
                  </a:ext>
                </a:extLst>
              </p:cNvPr>
              <p:cNvSpPr txBox="1">
                <a:spLocks noRot="1" noChangeAspect="1" noMove="1" noResize="1" noEditPoints="1" noAdjustHandles="1" noChangeArrowheads="1" noChangeShapeType="1" noTextEdit="1"/>
              </p:cNvSpPr>
              <p:nvPr/>
            </p:nvSpPr>
            <p:spPr>
              <a:xfrm>
                <a:off x="563785" y="3242336"/>
                <a:ext cx="5740530" cy="2969276"/>
              </a:xfrm>
              <a:prstGeom prst="rect">
                <a:avLst/>
              </a:prstGeom>
              <a:blipFill>
                <a:blip r:embed="rId4"/>
                <a:stretch>
                  <a:fillRect l="-955" t="-22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3C9392D5-B47F-EDF3-04A8-B63930A35E3F}"/>
                  </a:ext>
                </a:extLst>
              </p:cNvPr>
              <p:cNvSpPr/>
              <p:nvPr/>
            </p:nvSpPr>
            <p:spPr>
              <a:xfrm>
                <a:off x="1574226" y="3734159"/>
                <a:ext cx="2662139" cy="100168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200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𝑞</m:t>
                          </m:r>
                        </m:e>
                        <m:sub>
                          <m:r>
                            <a:rPr lang="en-US" altLang="zh-CN" sz="2000" b="0" i="1" kern="0" smtClean="0">
                              <a:solidFill>
                                <a:srgbClr val="FF0000"/>
                              </a:solidFill>
                              <a:latin typeface="Cambria Math" panose="02040503050406030204" pitchFamily="18" charset="0"/>
                              <a:ea typeface="Cambria Math" panose="02040503050406030204" pitchFamily="18" charset="0"/>
                            </a:rPr>
                            <m:t>𝑇</m:t>
                          </m:r>
                        </m:sub>
                      </m:sSub>
                      <m:r>
                        <a:rPr lang="en-US" altLang="zh-CN" sz="200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𝐶</m:t>
                          </m:r>
                        </m:e>
                        <m:sub>
                          <m:r>
                            <a:rPr lang="en-US" altLang="zh-CN" sz="2000" i="1" kern="0">
                              <a:solidFill>
                                <a:srgbClr val="FF0000"/>
                              </a:solidFill>
                              <a:latin typeface="Cambria Math" panose="02040503050406030204" pitchFamily="18" charset="0"/>
                              <a:ea typeface="Cambria Math" panose="02040503050406030204" pitchFamily="18" charset="0"/>
                            </a:rPr>
                            <m:t>𝑑</m:t>
                          </m:r>
                          <m:r>
                            <a:rPr lang="en-US" altLang="zh-CN" sz="2000" b="0" i="1" kern="0" smtClean="0">
                              <a:solidFill>
                                <a:srgbClr val="FF0000"/>
                              </a:solidFill>
                              <a:latin typeface="Cambria Math" panose="02040503050406030204" pitchFamily="18" charset="0"/>
                              <a:ea typeface="Cambria Math" panose="02040503050406030204" pitchFamily="18" charset="0"/>
                            </a:rPr>
                            <m:t>𝑇</m:t>
                          </m:r>
                        </m:sub>
                      </m:sSub>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𝑤</m:t>
                          </m:r>
                        </m:e>
                        <m:sub>
                          <m:r>
                            <a:rPr lang="en-US" altLang="zh-CN" sz="2000" b="0" i="1" kern="0" smtClean="0">
                              <a:solidFill>
                                <a:srgbClr val="FF0000"/>
                              </a:solidFill>
                              <a:latin typeface="Cambria Math" panose="02040503050406030204" pitchFamily="18" charset="0"/>
                              <a:ea typeface="Cambria Math" panose="02040503050406030204" pitchFamily="18" charset="0"/>
                            </a:rPr>
                            <m:t>𝑇</m:t>
                          </m:r>
                        </m:sub>
                      </m:sSub>
                      <m:sSub>
                        <m:sSubPr>
                          <m:ctrlPr>
                            <a:rPr lang="en-US" altLang="zh-CN" sz="2000" i="1" kern="0">
                              <a:solidFill>
                                <a:srgbClr val="FF0000"/>
                              </a:solidFill>
                              <a:latin typeface="Cambria Math" panose="02040503050406030204" pitchFamily="18" charset="0"/>
                              <a:ea typeface="Cambria Math" panose="02040503050406030204" pitchFamily="18" charset="0"/>
                            </a:rPr>
                          </m:ctrlPr>
                        </m:sSubPr>
                        <m:e>
                          <m:r>
                            <a:rPr lang="en-US" altLang="zh-CN" sz="2000" i="1" kern="0">
                              <a:solidFill>
                                <a:srgbClr val="FF0000"/>
                              </a:solidFill>
                              <a:latin typeface="Cambria Math" panose="02040503050406030204" pitchFamily="18" charset="0"/>
                              <a:ea typeface="Cambria Math" panose="02040503050406030204" pitchFamily="18" charset="0"/>
                            </a:rPr>
                            <m:t>𝑥</m:t>
                          </m:r>
                        </m:e>
                        <m:sub>
                          <m:r>
                            <a:rPr lang="en-US" altLang="zh-CN" sz="2000" b="0" i="1" kern="0" smtClean="0">
                              <a:solidFill>
                                <a:srgbClr val="FF0000"/>
                              </a:solidFill>
                              <a:latin typeface="Cambria Math" panose="02040503050406030204" pitchFamily="18" charset="0"/>
                              <a:ea typeface="Cambria Math" panose="02040503050406030204" pitchFamily="18" charset="0"/>
                            </a:rPr>
                            <m:t>𝑇</m:t>
                          </m:r>
                        </m:sub>
                      </m:sSub>
                      <m:rad>
                        <m:radPr>
                          <m:degHide m:val="on"/>
                          <m:ctrlPr>
                            <a:rPr lang="en-US" altLang="zh-CN" sz="2000" i="1" kern="0" smtClean="0">
                              <a:solidFill>
                                <a:srgbClr val="FF0000"/>
                              </a:solidFill>
                              <a:latin typeface="Cambria Math" panose="02040503050406030204" pitchFamily="18" charset="0"/>
                              <a:ea typeface="Cambria Math" panose="02040503050406030204" pitchFamily="18" charset="0"/>
                            </a:rPr>
                          </m:ctrlPr>
                        </m:radPr>
                        <m:deg/>
                        <m:e>
                          <m:f>
                            <m:fPr>
                              <m:ctrlPr>
                                <a:rPr lang="en-US" altLang="zh-CN" sz="2000" i="1" kern="0" smtClean="0">
                                  <a:solidFill>
                                    <a:srgbClr val="FF0000"/>
                                  </a:solidFill>
                                  <a:latin typeface="Cambria Math" panose="02040503050406030204" pitchFamily="18" charset="0"/>
                                  <a:ea typeface="Cambria Math" panose="02040503050406030204" pitchFamily="18" charset="0"/>
                                </a:rPr>
                              </m:ctrlPr>
                            </m:fPr>
                            <m:num>
                              <m:r>
                                <a:rPr lang="en-US" altLang="zh-CN" sz="2000" b="0" i="1" kern="0" smtClean="0">
                                  <a:solidFill>
                                    <a:srgbClr val="FF0000"/>
                                  </a:solidFill>
                                  <a:latin typeface="Cambria Math" panose="02040503050406030204" pitchFamily="18" charset="0"/>
                                  <a:ea typeface="Cambria Math" panose="02040503050406030204" pitchFamily="18" charset="0"/>
                                </a:rPr>
                                <m:t>2</m:t>
                              </m:r>
                              <m:sSub>
                                <m:sSubPr>
                                  <m:ctrlPr>
                                    <a:rPr lang="en-US" altLang="zh-CN" sz="2000" b="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𝑘</m:t>
                                  </m:r>
                                </m:e>
                                <m:sub>
                                  <m:r>
                                    <a:rPr lang="en-US" altLang="zh-CN" sz="2000" b="0" i="1" kern="0" smtClean="0">
                                      <a:solidFill>
                                        <a:srgbClr val="FF0000"/>
                                      </a:solidFill>
                                      <a:latin typeface="Cambria Math" panose="02040503050406030204" pitchFamily="18" charset="0"/>
                                      <a:ea typeface="Cambria Math" panose="02040503050406030204" pitchFamily="18" charset="0"/>
                                    </a:rPr>
                                    <m:t>𝑠</m:t>
                                  </m:r>
                                </m:sub>
                              </m:sSub>
                              <m:sSub>
                                <m:sSubPr>
                                  <m:ctrlPr>
                                    <a:rPr lang="en-US" altLang="zh-CN" sz="2000" b="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𝑥</m:t>
                                  </m:r>
                                </m:e>
                                <m:sub>
                                  <m:r>
                                    <a:rPr lang="en-US" altLang="zh-CN" sz="2000" b="0" i="1" kern="0" smtClean="0">
                                      <a:solidFill>
                                        <a:srgbClr val="FF0000"/>
                                      </a:solidFill>
                                      <a:latin typeface="Cambria Math" panose="02040503050406030204" pitchFamily="18" charset="0"/>
                                      <a:ea typeface="Cambria Math" panose="02040503050406030204" pitchFamily="18" charset="0"/>
                                    </a:rPr>
                                    <m:t>𝑐</m:t>
                                  </m:r>
                                </m:sub>
                              </m:sSub>
                            </m:num>
                            <m:den>
                              <m:r>
                                <a:rPr lang="zh-CN" altLang="en-US" sz="2000" i="1" kern="0" smtClean="0">
                                  <a:solidFill>
                                    <a:srgbClr val="FF0000"/>
                                  </a:solidFill>
                                  <a:latin typeface="Cambria Math" panose="02040503050406030204" pitchFamily="18" charset="0"/>
                                  <a:ea typeface="Cambria Math" panose="02040503050406030204" pitchFamily="18" charset="0"/>
                                </a:rPr>
                                <m:t>𝜌</m:t>
                              </m:r>
                              <m:sSub>
                                <m:sSubPr>
                                  <m:ctrlPr>
                                    <a:rPr lang="en-US" altLang="zh-CN" sz="2000" i="1" kern="0" smtClean="0">
                                      <a:solidFill>
                                        <a:srgbClr val="FF0000"/>
                                      </a:solidFill>
                                      <a:latin typeface="Cambria Math" panose="02040503050406030204" pitchFamily="18" charset="0"/>
                                      <a:ea typeface="Cambria Math" panose="02040503050406030204" pitchFamily="18" charset="0"/>
                                    </a:rPr>
                                  </m:ctrlPr>
                                </m:sSubPr>
                                <m:e>
                                  <m:r>
                                    <a:rPr lang="en-US" altLang="zh-CN" sz="2000" b="0" i="1" kern="0" smtClean="0">
                                      <a:solidFill>
                                        <a:srgbClr val="FF0000"/>
                                      </a:solidFill>
                                      <a:latin typeface="Cambria Math" panose="02040503050406030204" pitchFamily="18" charset="0"/>
                                      <a:ea typeface="Cambria Math" panose="02040503050406030204" pitchFamily="18" charset="0"/>
                                    </a:rPr>
                                    <m:t>𝐴</m:t>
                                  </m:r>
                                </m:e>
                                <m:sub>
                                  <m:r>
                                    <a:rPr lang="en-US" altLang="zh-CN" sz="2000" b="0" i="1" kern="0" smtClean="0">
                                      <a:solidFill>
                                        <a:srgbClr val="FF0000"/>
                                      </a:solidFill>
                                      <a:latin typeface="Cambria Math" panose="02040503050406030204" pitchFamily="18" charset="0"/>
                                      <a:ea typeface="Cambria Math" panose="02040503050406030204" pitchFamily="18" charset="0"/>
                                    </a:rPr>
                                    <m:t>𝑅</m:t>
                                  </m:r>
                                </m:sub>
                              </m:sSub>
                            </m:den>
                          </m:f>
                        </m:e>
                      </m:rad>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3C9392D5-B47F-EDF3-04A8-B63930A35E3F}"/>
                  </a:ext>
                </a:extLst>
              </p:cNvPr>
              <p:cNvSpPr>
                <a:spLocks noRot="1" noChangeAspect="1" noMove="1" noResize="1" noEditPoints="1" noAdjustHandles="1" noChangeArrowheads="1" noChangeShapeType="1" noTextEdit="1"/>
              </p:cNvSpPr>
              <p:nvPr/>
            </p:nvSpPr>
            <p:spPr>
              <a:xfrm>
                <a:off x="1574226" y="3734159"/>
                <a:ext cx="2662139" cy="1001684"/>
              </a:xfrm>
              <a:prstGeom prst="rect">
                <a:avLst/>
              </a:prstGeom>
              <a:blipFill>
                <a:blip r:embed="rId5"/>
                <a:stretch>
                  <a:fillRect/>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6F2C036-55EB-1914-D4E8-FCC51DEC63FA}"/>
              </a:ext>
            </a:extLst>
          </p:cNvPr>
          <p:cNvSpPr txBox="1"/>
          <p:nvPr/>
        </p:nvSpPr>
        <p:spPr>
          <a:xfrm>
            <a:off x="6613809" y="5152588"/>
            <a:ext cx="3960777" cy="338554"/>
          </a:xfrm>
          <a:prstGeom prst="rect">
            <a:avLst/>
          </a:prstGeom>
          <a:noFill/>
        </p:spPr>
        <p:txBody>
          <a:bodyPr wrap="square" rtlCol="0">
            <a:spAutoFit/>
          </a:bodyPr>
          <a:lstStyle/>
          <a:p>
            <a:pPr algn="ctr">
              <a:spcBef>
                <a:spcPts val="385"/>
              </a:spcBef>
            </a:pPr>
            <a:r>
              <a:rPr lang="zh-CN" altLang="en-US" sz="1600" dirty="0">
                <a:latin typeface="微软雅黑" panose="020B0503020204020204" pitchFamily="34" charset="-122"/>
                <a:ea typeface="微软雅黑" panose="020B0503020204020204" pitchFamily="34" charset="-122"/>
              </a:rPr>
              <a:t>图</a:t>
            </a:r>
            <a:r>
              <a:rPr lang="en-US" altLang="zh-CN" sz="1600" dirty="0">
                <a:latin typeface="微软雅黑" panose="020B0503020204020204" pitchFamily="34" charset="-122"/>
                <a:ea typeface="微软雅黑" panose="020B0503020204020204" pitchFamily="34" charset="-122"/>
              </a:rPr>
              <a:t>37</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调速阀和节流阀的流量特性曲线</a:t>
            </a:r>
            <a:endParaRPr lang="en-US" altLang="zh-CN" sz="1600" dirty="0">
              <a:latin typeface="微软雅黑" panose="020B0503020204020204" pitchFamily="34" charset="-122"/>
              <a:ea typeface="微软雅黑" panose="020B0503020204020204" pitchFamily="34" charset="-122"/>
            </a:endParaRPr>
          </a:p>
        </p:txBody>
      </p:sp>
      <p:sp>
        <p:nvSpPr>
          <p:cNvPr id="7" name="Title 1">
            <a:extLst>
              <a:ext uri="{FF2B5EF4-FFF2-40B4-BE49-F238E27FC236}">
                <a16:creationId xmlns:a16="http://schemas.microsoft.com/office/drawing/2014/main" id="{2863AFB9-3849-01EB-513C-4FB4BDD3B359}"/>
              </a:ext>
            </a:extLst>
          </p:cNvPr>
          <p:cNvSpPr txBox="1">
            <a:spLocks/>
          </p:cNvSpPr>
          <p:nvPr/>
        </p:nvSpPr>
        <p:spPr>
          <a:xfrm>
            <a:off x="429895" y="1190201"/>
            <a:ext cx="6476256" cy="44691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latin typeface="微软雅黑" panose="020B0503020204020204" pitchFamily="34" charset="-122"/>
                <a:ea typeface="微软雅黑" panose="020B0503020204020204" pitchFamily="34" charset="-122"/>
                <a:cs typeface="+mn-cs"/>
              </a:rPr>
              <a:t>2.</a:t>
            </a:r>
            <a:r>
              <a:rPr lang="zh-CN" altLang="en-US" sz="2400" b="1" dirty="0">
                <a:latin typeface="微软雅黑" panose="020B0503020204020204" pitchFamily="34" charset="-122"/>
                <a:ea typeface="微软雅黑" panose="020B0503020204020204" pitchFamily="34" charset="-122"/>
                <a:cs typeface="+mn-cs"/>
              </a:rPr>
              <a:t>调速阀的静态特性</a:t>
            </a:r>
            <a:endParaRPr lang="en-US" sz="2400" b="1" dirty="0">
              <a:latin typeface="微软雅黑" panose="020B0503020204020204" pitchFamily="34" charset="-122"/>
              <a:ea typeface="微软雅黑" panose="020B0503020204020204" pitchFamily="34" charset="-122"/>
              <a:cs typeface="+mn-cs"/>
            </a:endParaRPr>
          </a:p>
        </p:txBody>
      </p:sp>
      <p:sp>
        <p:nvSpPr>
          <p:cNvPr id="10" name="矩形 9">
            <a:extLst>
              <a:ext uri="{FF2B5EF4-FFF2-40B4-BE49-F238E27FC236}">
                <a16:creationId xmlns:a16="http://schemas.microsoft.com/office/drawing/2014/main" id="{569A05D0-981C-91C0-10E8-740AB8DE7D0C}"/>
              </a:ext>
            </a:extLst>
          </p:cNvPr>
          <p:cNvSpPr/>
          <p:nvPr/>
        </p:nvSpPr>
        <p:spPr>
          <a:xfrm>
            <a:off x="488110" y="1838602"/>
            <a:ext cx="1555101" cy="307264"/>
          </a:xfrm>
          <a:prstGeom prst="rect">
            <a:avLst/>
          </a:prstGeom>
        </p:spPr>
        <p:txBody>
          <a:bodyPr wrap="square">
            <a:spAutoFit/>
          </a:bodyPr>
          <a:lstStyle/>
          <a:p>
            <a:pPr indent="266700">
              <a:lnSpc>
                <a:spcPts val="1575"/>
              </a:lnSpc>
            </a:pPr>
            <a:r>
              <a:rPr lang="zh-CN" altLang="en-US" sz="2000" dirty="0">
                <a:latin typeface="微软雅黑" panose="020B0503020204020204" pitchFamily="34" charset="-122"/>
                <a:ea typeface="微软雅黑" panose="020B0503020204020204" pitchFamily="34" charset="-122"/>
              </a:rPr>
              <a:t>考虑到</a:t>
            </a:r>
          </a:p>
        </p:txBody>
      </p:sp>
      <p:pic>
        <p:nvPicPr>
          <p:cNvPr id="11" name="Picture 4" descr="C:\Users\ADMINI~1\AppData\Local\Temp\ksohtml\wps7114.tmp.jpg">
            <a:extLst>
              <a:ext uri="{FF2B5EF4-FFF2-40B4-BE49-F238E27FC236}">
                <a16:creationId xmlns:a16="http://schemas.microsoft.com/office/drawing/2014/main" id="{407AD722-F585-561E-0BE4-3AF810801E4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861" t="-1" r="15213" b="-21688"/>
          <a:stretch/>
        </p:blipFill>
        <p:spPr bwMode="auto">
          <a:xfrm>
            <a:off x="854896" y="2179308"/>
            <a:ext cx="4347725" cy="906853"/>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17F3903D-D67B-9207-4FBE-8B90B65BF0CC}"/>
              </a:ext>
            </a:extLst>
          </p:cNvPr>
          <p:cNvSpPr txBox="1">
            <a:spLocks noChangeArrowheads="1"/>
          </p:cNvSpPr>
          <p:nvPr/>
        </p:nvSpPr>
        <p:spPr bwMode="auto">
          <a:xfrm>
            <a:off x="488110" y="5227666"/>
            <a:ext cx="2743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应用</a:t>
            </a:r>
          </a:p>
        </p:txBody>
      </p:sp>
      <p:sp>
        <p:nvSpPr>
          <p:cNvPr id="13" name="矩形 12">
            <a:extLst>
              <a:ext uri="{FF2B5EF4-FFF2-40B4-BE49-F238E27FC236}">
                <a16:creationId xmlns:a16="http://schemas.microsoft.com/office/drawing/2014/main" id="{E630F938-AE9C-4650-5FB3-DD383AD8BEBC}"/>
              </a:ext>
            </a:extLst>
          </p:cNvPr>
          <p:cNvSpPr/>
          <p:nvPr/>
        </p:nvSpPr>
        <p:spPr>
          <a:xfrm>
            <a:off x="854896" y="5685885"/>
            <a:ext cx="10880955" cy="961289"/>
          </a:xfrm>
          <a:prstGeom prst="rect">
            <a:avLst/>
          </a:prstGeom>
        </p:spPr>
        <p:txBody>
          <a:bodyPr wrap="square">
            <a:spAutoFit/>
          </a:bodyPr>
          <a:lstStyle/>
          <a:p>
            <a:pPr indent="431800">
              <a:lnSpc>
                <a:spcPct val="150000"/>
              </a:lnSpc>
            </a:pPr>
            <a:r>
              <a:rPr lang="zh-CN" altLang="en-US" sz="2000" dirty="0">
                <a:latin typeface="微软雅黑" panose="020B0503020204020204" pitchFamily="34" charset="-122"/>
                <a:ea typeface="微软雅黑" panose="020B0503020204020204" pitchFamily="34" charset="-122"/>
              </a:rPr>
              <a:t>调速阀在液压系统中的应用和节流阀相仿</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它适用于执行元件负载变化大而运动速度要求稳定的系统中</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也可用在容积</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节流调速回路中。</a:t>
            </a:r>
          </a:p>
        </p:txBody>
      </p:sp>
      <p:pic>
        <p:nvPicPr>
          <p:cNvPr id="17" name="图片 16">
            <a:extLst>
              <a:ext uri="{FF2B5EF4-FFF2-40B4-BE49-F238E27FC236}">
                <a16:creationId xmlns:a16="http://schemas.microsoft.com/office/drawing/2014/main" id="{116827DD-35D7-7560-11B3-6A878F257BC0}"/>
              </a:ext>
            </a:extLst>
          </p:cNvPr>
          <p:cNvPicPr>
            <a:picLocks noChangeAspect="1"/>
          </p:cNvPicPr>
          <p:nvPr/>
        </p:nvPicPr>
        <p:blipFill>
          <a:blip r:embed="rId7"/>
          <a:stretch>
            <a:fillRect/>
          </a:stretch>
        </p:blipFill>
        <p:spPr>
          <a:xfrm>
            <a:off x="6096000" y="1692679"/>
            <a:ext cx="4864350" cy="3403775"/>
          </a:xfrm>
          <a:prstGeom prst="rect">
            <a:avLst/>
          </a:prstGeom>
        </p:spPr>
      </p:pic>
    </p:spTree>
    <p:extLst>
      <p:ext uri="{BB962C8B-B14F-4D97-AF65-F5344CB8AC3E}">
        <p14:creationId xmlns:p14="http://schemas.microsoft.com/office/powerpoint/2010/main" val="4292407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42F77BE5-E59C-19F3-7A90-232FA94372C3}"/>
              </a:ext>
            </a:extLst>
          </p:cNvPr>
          <p:cNvSpPr txBox="1">
            <a:spLocks/>
          </p:cNvSpPr>
          <p:nvPr/>
        </p:nvSpPr>
        <p:spPr>
          <a:xfrm>
            <a:off x="429895" y="943803"/>
            <a:ext cx="6476256" cy="662554"/>
          </a:xfrm>
          <a:prstGeom prst="rect">
            <a:avLst/>
          </a:prstGeom>
          <a:noFill/>
        </p:spPr>
        <p:txBody>
          <a:bodyPr wrap="square">
            <a:spAutoFit/>
          </a:bodyPr>
          <a:lstStyle>
            <a:defPPr>
              <a:defRPr lang="zh-CN"/>
            </a:defPPr>
            <a:lvl1pPr>
              <a:lnSpc>
                <a:spcPct val="150000"/>
              </a:lnSpc>
              <a:buFont typeface="Wingdings" panose="05000000000000000000" pitchFamily="2" charset="2"/>
              <a:buChar char="q"/>
              <a:defRPr sz="2800" b="1">
                <a:solidFill>
                  <a:srgbClr val="003F88"/>
                </a:solidFill>
                <a:latin typeface="微软雅黑" panose="020B0503020204020204" pitchFamily="34" charset="-122"/>
                <a:ea typeface="微软雅黑" panose="020B0503020204020204" pitchFamily="34" charset="-122"/>
              </a:defRPr>
            </a:lvl1pPr>
          </a:lstStyle>
          <a:p>
            <a:r>
              <a:rPr lang="en-US" altLang="zh-CN" dirty="0"/>
              <a:t>8.4.3 </a:t>
            </a:r>
            <a:r>
              <a:rPr lang="zh-CN" altLang="en-US" dirty="0"/>
              <a:t>旁通式调速阀</a:t>
            </a:r>
            <a:endParaRPr lang="en-US" dirty="0"/>
          </a:p>
        </p:txBody>
      </p:sp>
      <p:sp>
        <p:nvSpPr>
          <p:cNvPr id="3" name="Content Placeholder 2">
            <a:extLst>
              <a:ext uri="{FF2B5EF4-FFF2-40B4-BE49-F238E27FC236}">
                <a16:creationId xmlns:a16="http://schemas.microsoft.com/office/drawing/2014/main" id="{DBAD567C-1AD0-0D63-0339-90313C88CC22}"/>
              </a:ext>
            </a:extLst>
          </p:cNvPr>
          <p:cNvSpPr txBox="1">
            <a:spLocks/>
          </p:cNvSpPr>
          <p:nvPr/>
        </p:nvSpPr>
        <p:spPr>
          <a:xfrm>
            <a:off x="734150" y="2369466"/>
            <a:ext cx="3626940" cy="41044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由于定差溢流阀的补偿作用使</a:t>
            </a:r>
            <a:r>
              <a:rPr lang="zh-CN" altLang="en-US" sz="2000" dirty="0">
                <a:solidFill>
                  <a:srgbClr val="FF0000"/>
                </a:solidFill>
                <a:latin typeface="微软雅黑" panose="020B0503020204020204" pitchFamily="34" charset="-122"/>
                <a:ea typeface="微软雅黑" panose="020B0503020204020204" pitchFamily="34" charset="-122"/>
              </a:rPr>
              <a:t>节流阀两端压差保持恒定</a:t>
            </a:r>
            <a:r>
              <a:rPr lang="zh-CN" altLang="en-US" sz="2000" dirty="0">
                <a:latin typeface="微软雅黑" panose="020B0503020204020204" pitchFamily="34" charset="-122"/>
                <a:ea typeface="微软雅黑" panose="020B0503020204020204" pitchFamily="34" charset="-122"/>
              </a:rPr>
              <a:t>，从而使流量与节流阀的通流面积成正比，与负载压力无关 </a:t>
            </a:r>
          </a:p>
        </p:txBody>
      </p:sp>
      <p:sp>
        <p:nvSpPr>
          <p:cNvPr id="6" name="文本框 5">
            <a:extLst>
              <a:ext uri="{FF2B5EF4-FFF2-40B4-BE49-F238E27FC236}">
                <a16:creationId xmlns:a16="http://schemas.microsoft.com/office/drawing/2014/main" id="{CAD7EE20-AAB2-13C1-BA90-4AC628BC177C}"/>
              </a:ext>
            </a:extLst>
          </p:cNvPr>
          <p:cNvSpPr txBox="1"/>
          <p:nvPr/>
        </p:nvSpPr>
        <p:spPr>
          <a:xfrm>
            <a:off x="4426438" y="5596161"/>
            <a:ext cx="3960777" cy="636072"/>
          </a:xfrm>
          <a:prstGeom prst="rect">
            <a:avLst/>
          </a:prstGeom>
          <a:noFill/>
        </p:spPr>
        <p:txBody>
          <a:bodyPr wrap="square" rtlCol="0">
            <a:spAutoFit/>
          </a:bodyPr>
          <a:lstStyle/>
          <a:p>
            <a:pPr algn="ctr">
              <a:spcBef>
                <a:spcPts val="385"/>
              </a:spcBef>
            </a:pPr>
            <a:r>
              <a:rPr lang="zh-CN" altLang="en-US" sz="1600" dirty="0">
                <a:latin typeface="微软雅黑" panose="020B0503020204020204" pitchFamily="34" charset="-122"/>
                <a:ea typeface="微软雅黑" panose="020B0503020204020204" pitchFamily="34" charset="-122"/>
              </a:rPr>
              <a:t>图</a:t>
            </a:r>
            <a:r>
              <a:rPr lang="en-US" altLang="zh-CN" sz="1600" dirty="0">
                <a:latin typeface="微软雅黑" panose="020B0503020204020204" pitchFamily="34" charset="-122"/>
                <a:ea typeface="微软雅黑" panose="020B0503020204020204" pitchFamily="34" charset="-122"/>
              </a:rPr>
              <a:t>38  </a:t>
            </a:r>
            <a:r>
              <a:rPr lang="zh-CN" altLang="en-US" sz="1600" dirty="0">
                <a:latin typeface="微软雅黑" panose="020B0503020204020204" pitchFamily="34" charset="-122"/>
                <a:ea typeface="微软雅黑" panose="020B0503020204020204" pitchFamily="34" charset="-122"/>
              </a:rPr>
              <a:t>旁通式调速阀及其图形符号</a:t>
            </a:r>
            <a:endParaRPr lang="en-US" altLang="zh-CN" sz="1600" dirty="0">
              <a:latin typeface="微软雅黑" panose="020B0503020204020204" pitchFamily="34" charset="-122"/>
              <a:ea typeface="微软雅黑" panose="020B0503020204020204" pitchFamily="34" charset="-122"/>
            </a:endParaRPr>
          </a:p>
          <a:p>
            <a:pPr algn="ctr">
              <a:spcBef>
                <a:spcPts val="385"/>
              </a:spcBef>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液压缸 </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安全阀 </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溢流阀 </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节流阀</a:t>
            </a:r>
            <a:endParaRPr lang="en-US" altLang="zh-CN" sz="1600" dirty="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BD48C933-B48A-9ECB-58B3-7BB0961EE4DF}"/>
              </a:ext>
            </a:extLst>
          </p:cNvPr>
          <p:cNvPicPr>
            <a:picLocks noChangeAspect="1"/>
          </p:cNvPicPr>
          <p:nvPr/>
        </p:nvPicPr>
        <p:blipFill>
          <a:blip r:embed="rId4"/>
          <a:srcRect b="9462"/>
          <a:stretch/>
        </p:blipFill>
        <p:spPr>
          <a:xfrm>
            <a:off x="4426438" y="1056986"/>
            <a:ext cx="4656011" cy="4376494"/>
          </a:xfrm>
          <a:prstGeom prst="rect">
            <a:avLst/>
          </a:prstGeom>
        </p:spPr>
      </p:pic>
      <p:sp>
        <p:nvSpPr>
          <p:cNvPr id="11" name="文本框 10">
            <a:extLst>
              <a:ext uri="{FF2B5EF4-FFF2-40B4-BE49-F238E27FC236}">
                <a16:creationId xmlns:a16="http://schemas.microsoft.com/office/drawing/2014/main" id="{7F2D9328-E272-1137-F826-98D1C4BD41E3}"/>
              </a:ext>
            </a:extLst>
          </p:cNvPr>
          <p:cNvSpPr txBox="1">
            <a:spLocks noChangeArrowheads="1"/>
          </p:cNvSpPr>
          <p:nvPr/>
        </p:nvSpPr>
        <p:spPr bwMode="auto">
          <a:xfrm>
            <a:off x="447353" y="1757079"/>
            <a:ext cx="2743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工作原理</a:t>
            </a:r>
          </a:p>
        </p:txBody>
      </p:sp>
      <p:pic>
        <p:nvPicPr>
          <p:cNvPr id="12" name="图片 11">
            <a:extLst>
              <a:ext uri="{FF2B5EF4-FFF2-40B4-BE49-F238E27FC236}">
                <a16:creationId xmlns:a16="http://schemas.microsoft.com/office/drawing/2014/main" id="{A227EC39-422C-4FD9-8EBA-BBB82611305B}"/>
              </a:ext>
            </a:extLst>
          </p:cNvPr>
          <p:cNvPicPr>
            <a:picLocks noChangeAspect="1"/>
          </p:cNvPicPr>
          <p:nvPr/>
        </p:nvPicPr>
        <p:blipFill rotWithShape="1">
          <a:blip r:embed="rId5"/>
          <a:srcRect l="54486" b="20356"/>
          <a:stretch/>
        </p:blipFill>
        <p:spPr>
          <a:xfrm>
            <a:off x="9404836" y="1217262"/>
            <a:ext cx="2409748" cy="4423475"/>
          </a:xfrm>
          <a:prstGeom prst="rect">
            <a:avLst/>
          </a:prstGeom>
        </p:spPr>
      </p:pic>
      <p:sp>
        <p:nvSpPr>
          <p:cNvPr id="13" name="文本框 12">
            <a:extLst>
              <a:ext uri="{FF2B5EF4-FFF2-40B4-BE49-F238E27FC236}">
                <a16:creationId xmlns:a16="http://schemas.microsoft.com/office/drawing/2014/main" id="{E89CDEB0-BB44-480C-9EA5-F47581B85DF2}"/>
              </a:ext>
            </a:extLst>
          </p:cNvPr>
          <p:cNvSpPr txBox="1"/>
          <p:nvPr/>
        </p:nvSpPr>
        <p:spPr>
          <a:xfrm>
            <a:off x="8771528" y="5575643"/>
            <a:ext cx="3960777" cy="338554"/>
          </a:xfrm>
          <a:prstGeom prst="rect">
            <a:avLst/>
          </a:prstGeom>
          <a:noFill/>
        </p:spPr>
        <p:txBody>
          <a:bodyPr wrap="square" rtlCol="0">
            <a:spAutoFit/>
          </a:bodyPr>
          <a:lstStyle/>
          <a:p>
            <a:pPr algn="ctr">
              <a:spcBef>
                <a:spcPts val="385"/>
              </a:spcBef>
            </a:pPr>
            <a:r>
              <a:rPr lang="zh-CN" altLang="en-US" sz="1600" dirty="0">
                <a:latin typeface="微软雅黑" panose="020B0503020204020204" pitchFamily="34" charset="-122"/>
                <a:ea typeface="微软雅黑" panose="020B0503020204020204" pitchFamily="34" charset="-122"/>
              </a:rPr>
              <a:t>调速阀图形符号</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574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p:cNvSpPr txBox="1"/>
          <p:nvPr/>
        </p:nvSpPr>
        <p:spPr>
          <a:xfrm>
            <a:off x="429895" y="135255"/>
            <a:ext cx="4235450" cy="645160"/>
          </a:xfrm>
          <a:prstGeom prst="rect">
            <a:avLst/>
          </a:prstGeom>
          <a:noFill/>
        </p:spPr>
        <p:txBody>
          <a:bodyPr wrap="square" rtlCol="0">
            <a:spAutoFit/>
          </a:bodyPr>
          <a:lstStyle/>
          <a:p>
            <a:r>
              <a:rPr lang="en-US" altLang="zh-CN" sz="3600" b="1" dirty="0">
                <a:solidFill>
                  <a:srgbClr val="003F88"/>
                </a:solidFill>
                <a:latin typeface="微软雅黑" panose="020B0503020204020204" pitchFamily="34" charset="-122"/>
                <a:ea typeface="微软雅黑" panose="020B0503020204020204" pitchFamily="34" charset="-122"/>
              </a:rPr>
              <a:t>8.4 </a:t>
            </a:r>
            <a:r>
              <a:rPr lang="zh-CN" altLang="en-US" sz="3600" b="1" dirty="0">
                <a:solidFill>
                  <a:srgbClr val="003F88"/>
                </a:solidFill>
                <a:latin typeface="微软雅黑" panose="020B0503020204020204" pitchFamily="34" charset="-122"/>
                <a:ea typeface="微软雅黑" panose="020B0503020204020204" pitchFamily="34" charset="-122"/>
              </a:rPr>
              <a:t>流量控制阀</a:t>
            </a:r>
          </a:p>
        </p:txBody>
      </p:sp>
      <p:sp>
        <p:nvSpPr>
          <p:cNvPr id="25" name="矩形 24"/>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AF29C25-83A5-3432-D473-A2418E5D34BC}"/>
                  </a:ext>
                </a:extLst>
              </p:cNvPr>
              <p:cNvSpPr txBox="1">
                <a:spLocks/>
              </p:cNvSpPr>
              <p:nvPr/>
            </p:nvSpPr>
            <p:spPr>
              <a:xfrm>
                <a:off x="2725602" y="1653653"/>
                <a:ext cx="8670538" cy="4043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000"/>
                  </a:lnSpc>
                </a:pPr>
                <a:r>
                  <a:rPr lang="zh-CN" altLang="en-US" sz="2000" dirty="0">
                    <a:latin typeface="微软雅黑" panose="020B0503020204020204" pitchFamily="34" charset="-122"/>
                    <a:ea typeface="微软雅黑" panose="020B0503020204020204" pitchFamily="34" charset="-122"/>
                  </a:rPr>
                  <a:t>溢流阀阀芯的受力平衡方程：</a:t>
                </a:r>
              </a:p>
              <a:p>
                <a:pPr algn="just">
                  <a:lnSpc>
                    <a:spcPts val="3000"/>
                  </a:lnSpc>
                </a:pPr>
                <a:endParaRPr lang="en-US" altLang="zh-CN" sz="2000" dirty="0">
                  <a:latin typeface="微软雅黑" panose="020B0503020204020204" pitchFamily="34" charset="-122"/>
                  <a:ea typeface="微软雅黑" panose="020B0503020204020204" pitchFamily="34" charset="-122"/>
                </a:endParaRPr>
              </a:p>
              <a:p>
                <a:pPr marL="0" indent="0" algn="just">
                  <a:lnSpc>
                    <a:spcPts val="3000"/>
                  </a:lnSpc>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smtClean="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𝑘</m:t>
                        </m:r>
                      </m:e>
                      <m:sub>
                        <m:r>
                          <a:rPr lang="en-US" altLang="zh-CN" sz="2000" i="1" dirty="0">
                            <a:latin typeface="Cambria Math" panose="02040503050406030204" pitchFamily="18" charset="0"/>
                            <a:ea typeface="Cambria Math" panose="02040503050406030204" pitchFamily="18" charset="0"/>
                          </a:rPr>
                          <m:t>𝑠</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溢流阀弹簧刚度，</a:t>
                </a:r>
                <a14:m>
                  <m:oMath xmlns:m="http://schemas.openxmlformats.org/officeDocument/2006/math">
                    <m:sSub>
                      <m:sSubPr>
                        <m:ctrlPr>
                          <a:rPr lang="en-US" altLang="zh-CN" sz="2000" i="1" dirty="0" smtClean="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𝑥</m:t>
                        </m:r>
                      </m:e>
                      <m:sub>
                        <m:r>
                          <a:rPr lang="en-US" altLang="zh-CN" sz="2000" i="1" dirty="0">
                            <a:latin typeface="Cambria Math" panose="02040503050406030204" pitchFamily="18" charset="0"/>
                            <a:ea typeface="Cambria Math" panose="02040503050406030204" pitchFamily="18" charset="0"/>
                          </a:rPr>
                          <m:t>0</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弹簧预压缩量，</a:t>
                </a:r>
                <a14:m>
                  <m:oMath xmlns:m="http://schemas.openxmlformats.org/officeDocument/2006/math">
                    <m:sSub>
                      <m:sSubPr>
                        <m:ctrlPr>
                          <a:rPr lang="en-US" altLang="zh-CN" sz="2000" i="1" dirty="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𝑥</m:t>
                        </m:r>
                      </m:e>
                      <m:sub>
                        <m:r>
                          <a:rPr lang="en-US" altLang="zh-CN" sz="2000" i="1" dirty="0" smtClean="0">
                            <a:latin typeface="Cambria Math" panose="02040503050406030204" pitchFamily="18" charset="0"/>
                            <a:ea typeface="Cambria Math" panose="02040503050406030204" pitchFamily="18" charset="0"/>
                          </a:rPr>
                          <m:t>𝑅</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阀开口量，</a:t>
                </a:r>
                <a:endParaRPr lang="en-US" altLang="zh-CN" sz="2000" dirty="0">
                  <a:latin typeface="微软雅黑" panose="020B0503020204020204" pitchFamily="34" charset="-122"/>
                  <a:ea typeface="微软雅黑" panose="020B0503020204020204" pitchFamily="34" charset="-122"/>
                </a:endParaRPr>
              </a:p>
              <a:p>
                <a:pPr marL="0" indent="0" algn="just">
                  <a:lnSpc>
                    <a:spcPts val="3000"/>
                  </a:lnSpc>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𝑥</m:t>
                        </m:r>
                      </m:e>
                      <m:sub>
                        <m:r>
                          <a:rPr lang="en-US" altLang="zh-CN" sz="2000" i="1" dirty="0" smtClean="0">
                            <a:latin typeface="Cambria Math" panose="02040503050406030204" pitchFamily="18" charset="0"/>
                            <a:ea typeface="Cambria Math" panose="02040503050406030204" pitchFamily="18" charset="0"/>
                          </a:rPr>
                          <m:t>𝑐</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溢流阀开启</a:t>
                </a:r>
                <a14:m>
                  <m:oMath xmlns:m="http://schemas.openxmlformats.org/officeDocument/2006/math">
                    <m:r>
                      <a:rPr lang="en-US" altLang="zh-CN" sz="2000" i="1" smtClean="0">
                        <a:latin typeface="Cambria Math" panose="02040503050406030204" pitchFamily="18" charset="0"/>
                        <a:ea typeface="黑体" panose="02010609060101010101" pitchFamily="49" charset="-122"/>
                      </a:rPr>
                      <m:t>(</m:t>
                    </m:r>
                    <m:sSub>
                      <m:sSubPr>
                        <m:ctrlPr>
                          <a:rPr lang="en-US" altLang="zh-CN" sz="2000" i="1" smtClean="0">
                            <a:latin typeface="Cambria Math" panose="02040503050406030204" pitchFamily="18" charset="0"/>
                            <a:ea typeface="黑体" panose="02010609060101010101" pitchFamily="49" charset="-122"/>
                          </a:rPr>
                        </m:ctrlPr>
                      </m:sSubPr>
                      <m:e>
                        <m:r>
                          <a:rPr lang="en-US" altLang="zh-CN" sz="2000" i="1" smtClean="0">
                            <a:latin typeface="Cambria Math" panose="02040503050406030204" pitchFamily="18" charset="0"/>
                            <a:ea typeface="黑体" panose="02010609060101010101" pitchFamily="49" charset="-122"/>
                          </a:rPr>
                          <m:t>𝑥</m:t>
                        </m:r>
                      </m:e>
                      <m:sub>
                        <m:r>
                          <a:rPr lang="en-US" altLang="zh-CN" sz="2000" i="1" smtClean="0">
                            <a:latin typeface="Cambria Math" panose="02040503050406030204" pitchFamily="18" charset="0"/>
                            <a:ea typeface="黑体" panose="02010609060101010101" pitchFamily="49" charset="-122"/>
                          </a:rPr>
                          <m:t>𝑅</m:t>
                        </m:r>
                      </m:sub>
                    </m:sSub>
                    <m:r>
                      <a:rPr lang="en-US" altLang="zh-CN" sz="2000" i="1" smtClean="0">
                        <a:latin typeface="Cambria Math" panose="02040503050406030204" pitchFamily="18" charset="0"/>
                        <a:ea typeface="黑体" panose="02010609060101010101" pitchFamily="49" charset="-122"/>
                      </a:rPr>
                      <m:t>=0)</m:t>
                    </m:r>
                  </m:oMath>
                </a14:m>
                <a:r>
                  <a:rPr lang="zh-CN" altLang="en-US" sz="2000" dirty="0">
                    <a:latin typeface="微软雅黑" panose="020B0503020204020204" pitchFamily="34" charset="-122"/>
                    <a:ea typeface="微软雅黑" panose="020B0503020204020204" pitchFamily="34" charset="-122"/>
                  </a:rPr>
                  <a:t>时阀芯的位移，</a:t>
                </a:r>
                <a14:m>
                  <m:oMath xmlns:m="http://schemas.openxmlformats.org/officeDocument/2006/math">
                    <m:sSub>
                      <m:sSubPr>
                        <m:ctrlPr>
                          <a:rPr lang="en-US" altLang="zh-CN" sz="2000" i="1" dirty="0" smtClean="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𝐹</m:t>
                        </m:r>
                      </m:e>
                      <m:sub>
                        <m:r>
                          <a:rPr lang="en-US" altLang="zh-CN" sz="2000" i="1" dirty="0">
                            <a:latin typeface="Cambria Math" panose="02040503050406030204" pitchFamily="18" charset="0"/>
                            <a:ea typeface="Cambria Math" panose="02040503050406030204" pitchFamily="18" charset="0"/>
                          </a:rPr>
                          <m:t>𝑓𝑠</m:t>
                        </m:r>
                      </m:sub>
                    </m:sSub>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阀芯稳态液动力</a:t>
                </a:r>
                <a:endParaRPr lang="en-US" altLang="zh-CN" sz="2000" dirty="0">
                  <a:latin typeface="微软雅黑" panose="020B0503020204020204" pitchFamily="34" charset="-122"/>
                  <a:ea typeface="微软雅黑" panose="020B0503020204020204" pitchFamily="34" charset="-122"/>
                </a:endParaRPr>
              </a:p>
              <a:p>
                <a:pPr algn="just">
                  <a:lnSpc>
                    <a:spcPts val="3000"/>
                  </a:lnSpc>
                </a:pPr>
                <a:r>
                  <a:rPr lang="zh-CN" altLang="en-US" sz="2000" dirty="0">
                    <a:solidFill>
                      <a:srgbClr val="FF0000"/>
                    </a:solidFill>
                    <a:latin typeface="微软雅黑" panose="020B0503020204020204" pitchFamily="34" charset="-122"/>
                    <a:ea typeface="微软雅黑" panose="020B0503020204020204" pitchFamily="34" charset="-122"/>
                  </a:rPr>
                  <a:t>节流阀两端压差基本保持恒定</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just"/>
                <a:endParaRPr lang="zh-CN" altLang="en-US" sz="2000" dirty="0">
                  <a:latin typeface="微软雅黑" panose="020B0503020204020204" pitchFamily="34" charset="-122"/>
                  <a:ea typeface="微软雅黑" panose="020B0503020204020204" pitchFamily="34" charset="-122"/>
                </a:endParaRPr>
              </a:p>
            </p:txBody>
          </p:sp>
        </mc:Choice>
        <mc:Fallback xmlns="">
          <p:sp>
            <p:nvSpPr>
              <p:cNvPr id="2" name="Content Placeholder 2">
                <a:extLst>
                  <a:ext uri="{FF2B5EF4-FFF2-40B4-BE49-F238E27FC236}">
                    <a16:creationId xmlns:a16="http://schemas.microsoft.com/office/drawing/2014/main" id="{BAF29C25-83A5-3432-D473-A2418E5D34BC}"/>
                  </a:ext>
                </a:extLst>
              </p:cNvPr>
              <p:cNvSpPr txBox="1">
                <a:spLocks noRot="1" noChangeAspect="1" noMove="1" noResize="1" noEditPoints="1" noAdjustHandles="1" noChangeArrowheads="1" noChangeShapeType="1" noTextEdit="1"/>
              </p:cNvSpPr>
              <p:nvPr/>
            </p:nvSpPr>
            <p:spPr>
              <a:xfrm>
                <a:off x="2725602" y="1653653"/>
                <a:ext cx="8670538" cy="4043803"/>
              </a:xfrm>
              <a:prstGeom prst="rect">
                <a:avLst/>
              </a:prstGeom>
              <a:blipFill>
                <a:blip r:embed="rId4"/>
                <a:stretch>
                  <a:fillRect l="-6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A141163-73D1-E651-51AB-4B4FC79E55E6}"/>
                  </a:ext>
                </a:extLst>
              </p:cNvPr>
              <p:cNvSpPr/>
              <p:nvPr/>
            </p:nvSpPr>
            <p:spPr>
              <a:xfrm>
                <a:off x="4458203" y="2135359"/>
                <a:ext cx="5205335" cy="424732"/>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𝑝</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2</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𝐴</m:t>
                      </m:r>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𝑘</m:t>
                          </m:r>
                        </m:e>
                        <m:sub>
                          <m:r>
                            <a:rPr lang="en-US" altLang="zh-CN" sz="2000" i="1" kern="0" dirty="0">
                              <a:solidFill>
                                <a:srgbClr val="FF0000"/>
                              </a:solidFill>
                              <a:latin typeface="Cambria Math" panose="02040503050406030204" pitchFamily="18" charset="0"/>
                              <a:ea typeface="Cambria Math" panose="02040503050406030204" pitchFamily="18" charset="0"/>
                            </a:rPr>
                            <m:t>𝑠</m:t>
                          </m:r>
                        </m:sub>
                      </m:sSub>
                      <m:d>
                        <m:dPr>
                          <m:ctrlPr>
                            <a:rPr lang="en-US" altLang="zh-CN" sz="2000" i="1" kern="0" dirty="0">
                              <a:solidFill>
                                <a:srgbClr val="FF0000"/>
                              </a:solidFill>
                              <a:latin typeface="Cambria Math" panose="02040503050406030204" pitchFamily="18" charset="0"/>
                              <a:ea typeface="Cambria Math" panose="02040503050406030204" pitchFamily="18" charset="0"/>
                            </a:rPr>
                          </m:ctrlPr>
                        </m:dPr>
                        <m:e>
                          <m:sSub>
                            <m:sSubPr>
                              <m:ctrlPr>
                                <a:rPr lang="en-US" altLang="zh-CN" sz="200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𝑥</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0</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𝑥</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𝑅</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𝑥</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𝑐</m:t>
                              </m:r>
                            </m:sub>
                          </m:sSub>
                        </m:e>
                      </m:d>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𝐹</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𝑓𝑠</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𝑝</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1</m:t>
                          </m:r>
                        </m:sub>
                      </m:sSub>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𝐴</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1</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𝑝</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1</m:t>
                          </m:r>
                        </m:sub>
                      </m:sSub>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𝐴</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2</m:t>
                          </m:r>
                        </m:sub>
                      </m:sSub>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EA141163-73D1-E651-51AB-4B4FC79E55E6}"/>
                  </a:ext>
                </a:extLst>
              </p:cNvPr>
              <p:cNvSpPr>
                <a:spLocks noRot="1" noChangeAspect="1" noMove="1" noResize="1" noEditPoints="1" noAdjustHandles="1" noChangeArrowheads="1" noChangeShapeType="1" noTextEdit="1"/>
              </p:cNvSpPr>
              <p:nvPr/>
            </p:nvSpPr>
            <p:spPr>
              <a:xfrm>
                <a:off x="4458203" y="2135359"/>
                <a:ext cx="5205335" cy="424732"/>
              </a:xfrm>
              <a:prstGeom prst="rect">
                <a:avLst/>
              </a:prstGeom>
              <a:blipFill>
                <a:blip r:embed="rId5"/>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F3C4A38-4A4C-8E9E-F9E3-479791321B67}"/>
                  </a:ext>
                </a:extLst>
              </p:cNvPr>
              <p:cNvSpPr/>
              <p:nvPr/>
            </p:nvSpPr>
            <p:spPr>
              <a:xfrm>
                <a:off x="6495485" y="3532239"/>
                <a:ext cx="2645660" cy="687624"/>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200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𝑝</m:t>
                          </m:r>
                        </m:e>
                        <m:sub>
                          <m:r>
                            <a:rPr lang="en-US" altLang="zh-CN" sz="2000" i="1" kern="0" dirty="0">
                              <a:solidFill>
                                <a:srgbClr val="FF0000"/>
                              </a:solidFill>
                              <a:latin typeface="Cambria Math" panose="02040503050406030204" pitchFamily="18" charset="0"/>
                              <a:ea typeface="Cambria Math" panose="02040503050406030204" pitchFamily="18" charset="0"/>
                            </a:rPr>
                            <m:t>1</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sSub>
                        <m:sSub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sSubPr>
                        <m:e>
                          <m:r>
                            <a:rPr lang="en-US" altLang="zh-CN" sz="2000" b="0" i="1" kern="0" dirty="0" smtClean="0">
                              <a:solidFill>
                                <a:srgbClr val="FF0000"/>
                              </a:solidFill>
                              <a:latin typeface="Cambria Math" panose="02040503050406030204" pitchFamily="18" charset="0"/>
                              <a:ea typeface="Cambria Math" panose="02040503050406030204" pitchFamily="18" charset="0"/>
                            </a:rPr>
                            <m:t>𝑝</m:t>
                          </m:r>
                        </m:e>
                        <m:sub>
                          <m:r>
                            <a:rPr lang="en-US" altLang="zh-CN" sz="2000" b="0" i="1" kern="0" dirty="0" smtClean="0">
                              <a:solidFill>
                                <a:srgbClr val="FF0000"/>
                              </a:solidFill>
                              <a:latin typeface="Cambria Math" panose="02040503050406030204" pitchFamily="18" charset="0"/>
                              <a:ea typeface="Cambria Math" panose="02040503050406030204" pitchFamily="18" charset="0"/>
                            </a:rPr>
                            <m:t>2</m:t>
                          </m:r>
                        </m:sub>
                      </m:sSub>
                      <m:r>
                        <a:rPr lang="en-US" altLang="zh-CN" sz="2000" b="0" i="1" kern="0" dirty="0" smtClean="0">
                          <a:solidFill>
                            <a:srgbClr val="FF0000"/>
                          </a:solidFill>
                          <a:latin typeface="Cambria Math" panose="02040503050406030204" pitchFamily="18" charset="0"/>
                          <a:ea typeface="Cambria Math" panose="02040503050406030204" pitchFamily="18" charset="0"/>
                        </a:rPr>
                        <m:t>≈</m:t>
                      </m:r>
                      <m:f>
                        <m:fPr>
                          <m:ctrlPr>
                            <a:rPr lang="en-US" altLang="zh-CN" sz="2000" b="0" i="1" kern="0" dirty="0" smtClean="0">
                              <a:solidFill>
                                <a:srgbClr val="FF0000"/>
                              </a:solidFill>
                              <a:latin typeface="Cambria Math" panose="02040503050406030204" pitchFamily="18" charset="0"/>
                              <a:ea typeface="Cambria Math" panose="02040503050406030204" pitchFamily="18" charset="0"/>
                            </a:rPr>
                          </m:ctrlPr>
                        </m:fPr>
                        <m:num>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𝑘</m:t>
                              </m:r>
                            </m:e>
                            <m:sub>
                              <m:r>
                                <a:rPr lang="en-US" altLang="zh-CN" sz="2000" i="1" kern="0" dirty="0">
                                  <a:solidFill>
                                    <a:srgbClr val="FF0000"/>
                                  </a:solidFill>
                                  <a:latin typeface="Cambria Math" panose="02040503050406030204" pitchFamily="18" charset="0"/>
                                  <a:ea typeface="Cambria Math" panose="02040503050406030204" pitchFamily="18" charset="0"/>
                                </a:rPr>
                                <m:t>𝑠</m:t>
                              </m:r>
                            </m:sub>
                          </m:sSub>
                          <m:d>
                            <m:dPr>
                              <m:ctrlPr>
                                <a:rPr lang="en-US" altLang="zh-CN" sz="2000" i="1" kern="0" dirty="0">
                                  <a:solidFill>
                                    <a:srgbClr val="FF0000"/>
                                  </a:solidFill>
                                  <a:latin typeface="Cambria Math" panose="02040503050406030204" pitchFamily="18" charset="0"/>
                                  <a:ea typeface="Cambria Math" panose="02040503050406030204" pitchFamily="18" charset="0"/>
                                </a:rPr>
                              </m:ctrlPr>
                            </m:dPr>
                            <m:e>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𝑥</m:t>
                                  </m:r>
                                </m:e>
                                <m:sub>
                                  <m:r>
                                    <a:rPr lang="en-US" altLang="zh-CN" sz="2000" i="1" kern="0" dirty="0">
                                      <a:solidFill>
                                        <a:srgbClr val="FF0000"/>
                                      </a:solidFill>
                                      <a:latin typeface="Cambria Math" panose="02040503050406030204" pitchFamily="18" charset="0"/>
                                      <a:ea typeface="Cambria Math" panose="02040503050406030204" pitchFamily="18" charset="0"/>
                                    </a:rPr>
                                    <m:t>0</m:t>
                                  </m:r>
                                </m:sub>
                              </m:sSub>
                              <m:r>
                                <a:rPr lang="en-US" altLang="zh-CN" sz="2000" i="1" kern="0" dirty="0">
                                  <a:solidFill>
                                    <a:srgbClr val="FF0000"/>
                                  </a:solidFill>
                                  <a:latin typeface="Cambria Math" panose="02040503050406030204" pitchFamily="18" charset="0"/>
                                  <a:ea typeface="Cambria Math" panose="02040503050406030204" pitchFamily="18" charset="0"/>
                                </a:rPr>
                                <m:t>+</m:t>
                              </m:r>
                              <m:sSub>
                                <m:sSubPr>
                                  <m:ctrlPr>
                                    <a:rPr lang="en-US" altLang="zh-CN" sz="2000" i="1" kern="0" dirty="0">
                                      <a:solidFill>
                                        <a:srgbClr val="FF0000"/>
                                      </a:solidFill>
                                      <a:latin typeface="Cambria Math" panose="02040503050406030204" pitchFamily="18" charset="0"/>
                                      <a:ea typeface="Cambria Math" panose="02040503050406030204" pitchFamily="18" charset="0"/>
                                    </a:rPr>
                                  </m:ctrlPr>
                                </m:sSubPr>
                                <m:e>
                                  <m:r>
                                    <a:rPr lang="en-US" altLang="zh-CN" sz="2000" i="1" kern="0" dirty="0">
                                      <a:solidFill>
                                        <a:srgbClr val="FF0000"/>
                                      </a:solidFill>
                                      <a:latin typeface="Cambria Math" panose="02040503050406030204" pitchFamily="18" charset="0"/>
                                      <a:ea typeface="Cambria Math" panose="02040503050406030204" pitchFamily="18" charset="0"/>
                                    </a:rPr>
                                    <m:t>𝑥</m:t>
                                  </m:r>
                                </m:e>
                                <m:sub>
                                  <m:r>
                                    <a:rPr lang="en-US" altLang="zh-CN" sz="2000" i="1" kern="0" dirty="0">
                                      <a:solidFill>
                                        <a:srgbClr val="FF0000"/>
                                      </a:solidFill>
                                      <a:latin typeface="Cambria Math" panose="02040503050406030204" pitchFamily="18" charset="0"/>
                                      <a:ea typeface="Cambria Math" panose="02040503050406030204" pitchFamily="18" charset="0"/>
                                    </a:rPr>
                                    <m:t>𝑐</m:t>
                                  </m:r>
                                </m:sub>
                              </m:sSub>
                            </m:e>
                          </m:d>
                        </m:num>
                        <m:den>
                          <m:r>
                            <a:rPr lang="en-US" altLang="zh-CN" sz="2000" b="0" i="1" kern="0" dirty="0" smtClean="0">
                              <a:solidFill>
                                <a:srgbClr val="FF0000"/>
                              </a:solidFill>
                              <a:latin typeface="Cambria Math" panose="02040503050406030204" pitchFamily="18" charset="0"/>
                              <a:ea typeface="Cambria Math" panose="02040503050406030204" pitchFamily="18" charset="0"/>
                            </a:rPr>
                            <m:t>𝐴</m:t>
                          </m:r>
                        </m:den>
                      </m:f>
                    </m:oMath>
                  </m:oMathPara>
                </a14:m>
                <a:endParaRPr lang="en-US" altLang="zh-CN" sz="2000" i="1" kern="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4" name="矩形 3">
                <a:extLst>
                  <a:ext uri="{FF2B5EF4-FFF2-40B4-BE49-F238E27FC236}">
                    <a16:creationId xmlns:a16="http://schemas.microsoft.com/office/drawing/2014/main" id="{DF3C4A38-4A4C-8E9E-F9E3-479791321B67}"/>
                  </a:ext>
                </a:extLst>
              </p:cNvPr>
              <p:cNvSpPr>
                <a:spLocks noRot="1" noChangeAspect="1" noMove="1" noResize="1" noEditPoints="1" noAdjustHandles="1" noChangeArrowheads="1" noChangeShapeType="1" noTextEdit="1"/>
              </p:cNvSpPr>
              <p:nvPr/>
            </p:nvSpPr>
            <p:spPr>
              <a:xfrm>
                <a:off x="6495485" y="3532239"/>
                <a:ext cx="2645660" cy="68762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56F4F7B2-8DA9-0431-9100-EEEDBB65636A}"/>
                  </a:ext>
                </a:extLst>
              </p:cNvPr>
              <p:cNvSpPr txBox="1"/>
              <p:nvPr/>
            </p:nvSpPr>
            <p:spPr bwMode="auto">
              <a:xfrm>
                <a:off x="2725602" y="4619531"/>
                <a:ext cx="8670538" cy="223224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a:lnSpc>
                    <a:spcPts val="3000"/>
                  </a:lnSpc>
                  <a:buFont typeface="Arial" panose="020B0604020202020204" pitchFamily="34" charset="0"/>
                  <a:buChar char="•"/>
                </a:pPr>
                <a:r>
                  <a:rPr lang="zh-CN" altLang="en-US" sz="2000" kern="0" dirty="0">
                    <a:solidFill>
                      <a:srgbClr val="FF0000"/>
                    </a:solidFill>
                    <a:latin typeface="微软雅黑" panose="020B0503020204020204" pitchFamily="34" charset="-122"/>
                    <a:ea typeface="微软雅黑" panose="020B0503020204020204" pitchFamily="34" charset="-122"/>
                  </a:rPr>
                  <a:t>调速阀</a:t>
                </a:r>
                <a:r>
                  <a:rPr lang="zh-CN" altLang="en-US" sz="2000" kern="0" dirty="0">
                    <a:latin typeface="微软雅黑" panose="020B0503020204020204" pitchFamily="34" charset="-122"/>
                    <a:ea typeface="微软雅黑" panose="020B0503020204020204" pitchFamily="34" charset="-122"/>
                  </a:rPr>
                  <a:t>可以安装在执行元件的进油路、回油路或旁油路上。</a:t>
                </a:r>
                <a:r>
                  <a:rPr lang="zh-CN" altLang="en-US" sz="2000" kern="0" dirty="0">
                    <a:solidFill>
                      <a:srgbClr val="FF0000"/>
                    </a:solidFill>
                    <a:latin typeface="微软雅黑" panose="020B0503020204020204" pitchFamily="34" charset="-122"/>
                    <a:ea typeface="微软雅黑" panose="020B0503020204020204" pitchFamily="34" charset="-122"/>
                  </a:rPr>
                  <a:t>旁通式调速阀</a:t>
                </a:r>
                <a:r>
                  <a:rPr lang="zh-CN" altLang="en-US" sz="2000" kern="0" dirty="0">
                    <a:latin typeface="微软雅黑" panose="020B0503020204020204" pitchFamily="34" charset="-122"/>
                    <a:ea typeface="微软雅黑" panose="020B0503020204020204" pitchFamily="34" charset="-122"/>
                  </a:rPr>
                  <a:t>只能用在</a:t>
                </a:r>
                <a:r>
                  <a:rPr lang="zh-CN" altLang="en-US" sz="2000" kern="0" dirty="0">
                    <a:solidFill>
                      <a:srgbClr val="FF0000"/>
                    </a:solidFill>
                    <a:latin typeface="微软雅黑" panose="020B0503020204020204" pitchFamily="34" charset="-122"/>
                    <a:ea typeface="微软雅黑" panose="020B0503020204020204" pitchFamily="34" charset="-122"/>
                  </a:rPr>
                  <a:t>进油路</a:t>
                </a:r>
                <a:r>
                  <a:rPr lang="zh-CN" altLang="en-US" sz="2000" kern="0" dirty="0">
                    <a:latin typeface="微软雅黑" panose="020B0503020204020204" pitchFamily="34" charset="-122"/>
                    <a:ea typeface="微软雅黑" panose="020B0503020204020204" pitchFamily="34" charset="-122"/>
                  </a:rPr>
                  <a:t>上，系统功率损失小，效率高，发热量小。</a:t>
                </a:r>
                <a:endParaRPr lang="en-US" altLang="zh-CN" sz="2000" kern="0" dirty="0">
                  <a:latin typeface="微软雅黑" panose="020B0503020204020204" pitchFamily="34" charset="-122"/>
                  <a:ea typeface="微软雅黑" panose="020B0503020204020204" pitchFamily="34" charset="-122"/>
                </a:endParaRPr>
              </a:p>
              <a:p>
                <a:pPr algn="just">
                  <a:lnSpc>
                    <a:spcPts val="3000"/>
                  </a:lnSpc>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rPr>
                  <a:t>旁通式调速阀具有</a:t>
                </a:r>
                <a:r>
                  <a:rPr lang="zh-CN" altLang="en-US" sz="2000" kern="0" dirty="0">
                    <a:solidFill>
                      <a:srgbClr val="FF0000"/>
                    </a:solidFill>
                    <a:latin typeface="微软雅黑" panose="020B0503020204020204" pitchFamily="34" charset="-122"/>
                    <a:ea typeface="微软雅黑" panose="020B0503020204020204" pitchFamily="34" charset="-122"/>
                  </a:rPr>
                  <a:t>溢流和安全功能</a:t>
                </a:r>
                <a:r>
                  <a:rPr lang="zh-CN" altLang="en-US" sz="2000" kern="0" dirty="0">
                    <a:latin typeface="微软雅黑" panose="020B0503020204020204" pitchFamily="34" charset="-122"/>
                    <a:ea typeface="微软雅黑" panose="020B0503020204020204" pitchFamily="34" charset="-122"/>
                  </a:rPr>
                  <a:t>，进口处不必单独设置溢流阀。旁通式调速阀中流过的流量比调速阀的大（一般是系统的全部流量），节流阀前后压差加大（须达</a:t>
                </a:r>
                <a14:m>
                  <m:oMath xmlns:m="http://schemas.openxmlformats.org/officeDocument/2006/math">
                    <m:r>
                      <a:rPr lang="en-US" altLang="zh-CN" sz="2000" i="1" kern="0" dirty="0" smtClean="0">
                        <a:latin typeface="Cambria Math" panose="02040503050406030204" pitchFamily="18" charset="0"/>
                        <a:ea typeface="黑体" panose="02010609060101010101" pitchFamily="49" charset="-122"/>
                      </a:rPr>
                      <m:t>0.3~0.5</m:t>
                    </m:r>
                    <m:r>
                      <a:rPr lang="en-US" altLang="zh-CN" sz="2000" i="1" kern="0" dirty="0" smtClean="0">
                        <a:latin typeface="Cambria Math" panose="02040503050406030204" pitchFamily="18" charset="0"/>
                        <a:ea typeface="黑体" panose="02010609060101010101" pitchFamily="49" charset="-122"/>
                      </a:rPr>
                      <m:t>𝑀𝑃𝑎</m:t>
                    </m:r>
                  </m:oMath>
                </a14:m>
                <a:r>
                  <a:rPr lang="zh-CN" altLang="en-US" sz="2000" kern="0" dirty="0">
                    <a:latin typeface="微软雅黑" panose="020B0503020204020204" pitchFamily="34" charset="-122"/>
                    <a:ea typeface="微软雅黑" panose="020B0503020204020204" pitchFamily="34" charset="-122"/>
                  </a:rPr>
                  <a:t>），</a:t>
                </a:r>
                <a:r>
                  <a:rPr lang="zh-CN" altLang="en-US" sz="2000" kern="0" dirty="0">
                    <a:solidFill>
                      <a:srgbClr val="FF0000"/>
                    </a:solidFill>
                    <a:latin typeface="微软雅黑" panose="020B0503020204020204" pitchFamily="34" charset="-122"/>
                    <a:ea typeface="微软雅黑" panose="020B0503020204020204" pitchFamily="34" charset="-122"/>
                  </a:rPr>
                  <a:t>稳定性稍差</a:t>
                </a:r>
                <a:r>
                  <a:rPr lang="zh-CN" altLang="en-US" sz="2000" kern="0" dirty="0">
                    <a:latin typeface="微软雅黑" panose="020B0503020204020204" pitchFamily="34" charset="-122"/>
                    <a:ea typeface="微软雅黑" panose="020B0503020204020204" pitchFamily="34" charset="-122"/>
                  </a:rPr>
                  <a:t>。</a:t>
                </a:r>
              </a:p>
            </p:txBody>
          </p:sp>
        </mc:Choice>
        <mc:Fallback xmlns="">
          <p:sp>
            <p:nvSpPr>
              <p:cNvPr id="7" name="Content Placeholder 2">
                <a:extLst>
                  <a:ext uri="{FF2B5EF4-FFF2-40B4-BE49-F238E27FC236}">
                    <a16:creationId xmlns:a16="http://schemas.microsoft.com/office/drawing/2014/main" id="{56F4F7B2-8DA9-0431-9100-EEEDBB65636A}"/>
                  </a:ext>
                </a:extLst>
              </p:cNvPr>
              <p:cNvSpPr txBox="1">
                <a:spLocks noRot="1" noChangeAspect="1" noMove="1" noResize="1" noEditPoints="1" noAdjustHandles="1" noChangeArrowheads="1" noChangeShapeType="1" noTextEdit="1"/>
              </p:cNvSpPr>
              <p:nvPr/>
            </p:nvSpPr>
            <p:spPr bwMode="auto">
              <a:xfrm>
                <a:off x="2725602" y="4619531"/>
                <a:ext cx="8670538" cy="2232247"/>
              </a:xfrm>
              <a:prstGeom prst="rect">
                <a:avLst/>
              </a:prstGeom>
              <a:blipFill>
                <a:blip r:embed="rId7"/>
                <a:stretch>
                  <a:fillRect l="-633" r="-774"/>
                </a:stretch>
              </a:blipFill>
              <a:ln w="9525">
                <a:noFill/>
                <a:miter lim="800000"/>
              </a:ln>
            </p:spPr>
            <p:txBody>
              <a:bodyPr/>
              <a:lstStyle/>
              <a:p>
                <a:r>
                  <a:rPr lang="zh-CN" altLang="en-US">
                    <a:noFill/>
                  </a:rPr>
                  <a:t> </a:t>
                </a:r>
              </a:p>
            </p:txBody>
          </p:sp>
        </mc:Fallback>
      </mc:AlternateContent>
      <p:sp>
        <p:nvSpPr>
          <p:cNvPr id="10" name="Title 1">
            <a:extLst>
              <a:ext uri="{FF2B5EF4-FFF2-40B4-BE49-F238E27FC236}">
                <a16:creationId xmlns:a16="http://schemas.microsoft.com/office/drawing/2014/main" id="{0EE3780D-8D8D-CAAB-856B-0F629322D8C6}"/>
              </a:ext>
            </a:extLst>
          </p:cNvPr>
          <p:cNvSpPr txBox="1">
            <a:spLocks/>
          </p:cNvSpPr>
          <p:nvPr/>
        </p:nvSpPr>
        <p:spPr>
          <a:xfrm>
            <a:off x="507255" y="1645115"/>
            <a:ext cx="6476256" cy="44691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latin typeface="微软雅黑" panose="020B0503020204020204" pitchFamily="34" charset="-122"/>
                <a:ea typeface="微软雅黑" panose="020B0503020204020204" pitchFamily="34" charset="-122"/>
                <a:cs typeface="+mn-cs"/>
              </a:rPr>
              <a:t>2.</a:t>
            </a:r>
            <a:r>
              <a:rPr lang="zh-CN" altLang="en-US" sz="2400" b="1" dirty="0">
                <a:latin typeface="微软雅黑" panose="020B0503020204020204" pitchFamily="34" charset="-122"/>
                <a:ea typeface="微软雅黑" panose="020B0503020204020204" pitchFamily="34" charset="-122"/>
                <a:cs typeface="+mn-cs"/>
              </a:rPr>
              <a:t>静态特性</a:t>
            </a:r>
            <a:endParaRPr lang="en-US" sz="2400" b="1" dirty="0">
              <a:latin typeface="微软雅黑" panose="020B0503020204020204" pitchFamily="34" charset="-122"/>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1361ECC0-DF8D-2967-2EAF-15A01A55B433}"/>
              </a:ext>
            </a:extLst>
          </p:cNvPr>
          <p:cNvSpPr txBox="1"/>
          <p:nvPr/>
        </p:nvSpPr>
        <p:spPr>
          <a:xfrm>
            <a:off x="507255" y="4135022"/>
            <a:ext cx="6630976" cy="461665"/>
          </a:xfrm>
          <a:prstGeom prst="rect">
            <a:avLst/>
          </a:prstGeom>
          <a:noFill/>
        </p:spPr>
        <p:txBody>
          <a:bodyPr wrap="square">
            <a:spAutoFit/>
          </a:bodyPr>
          <a:lstStyle/>
          <a:p>
            <a:pPr marL="0" indent="0" algn="just">
              <a:buNone/>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调速阀和旁通式调速阀的差别</a:t>
            </a:r>
            <a:endParaRPr lang="en-US" altLang="zh-CN" sz="2400" b="1" dirty="0">
              <a:latin typeface="微软雅黑" panose="020B0503020204020204" pitchFamily="34" charset="-122"/>
              <a:ea typeface="微软雅黑" panose="020B0503020204020204" pitchFamily="34" charset="-122"/>
            </a:endParaRPr>
          </a:p>
        </p:txBody>
      </p:sp>
      <p:sp>
        <p:nvSpPr>
          <p:cNvPr id="13" name="Title 1">
            <a:extLst>
              <a:ext uri="{FF2B5EF4-FFF2-40B4-BE49-F238E27FC236}">
                <a16:creationId xmlns:a16="http://schemas.microsoft.com/office/drawing/2014/main" id="{785B8F3B-364E-4DAD-B4C9-3C9439000A10}"/>
              </a:ext>
            </a:extLst>
          </p:cNvPr>
          <p:cNvSpPr txBox="1">
            <a:spLocks/>
          </p:cNvSpPr>
          <p:nvPr/>
        </p:nvSpPr>
        <p:spPr>
          <a:xfrm>
            <a:off x="429895" y="970151"/>
            <a:ext cx="6476256" cy="662554"/>
          </a:xfrm>
          <a:prstGeom prst="rect">
            <a:avLst/>
          </a:prstGeom>
          <a:noFill/>
        </p:spPr>
        <p:txBody>
          <a:bodyPr wrap="square">
            <a:spAutoFit/>
          </a:bodyPr>
          <a:lstStyle>
            <a:defPPr>
              <a:defRPr lang="zh-CN"/>
            </a:defPPr>
            <a:lvl1pPr>
              <a:lnSpc>
                <a:spcPct val="150000"/>
              </a:lnSpc>
              <a:buFont typeface="Wingdings" panose="05000000000000000000" pitchFamily="2" charset="2"/>
              <a:buChar char="q"/>
              <a:defRPr sz="2800" b="1">
                <a:solidFill>
                  <a:srgbClr val="003F88"/>
                </a:solidFill>
                <a:latin typeface="微软雅黑" panose="020B0503020204020204" pitchFamily="34" charset="-122"/>
                <a:ea typeface="微软雅黑" panose="020B0503020204020204" pitchFamily="34" charset="-122"/>
              </a:defRPr>
            </a:lvl1pPr>
          </a:lstStyle>
          <a:p>
            <a:r>
              <a:rPr lang="en-US" altLang="zh-CN" dirty="0"/>
              <a:t>8.4.3 </a:t>
            </a:r>
            <a:r>
              <a:rPr lang="zh-CN" altLang="en-US" dirty="0"/>
              <a:t>旁通式调速阀</a:t>
            </a:r>
            <a:endParaRPr lang="en-US" dirty="0"/>
          </a:p>
        </p:txBody>
      </p:sp>
    </p:spTree>
    <p:extLst>
      <p:ext uri="{BB962C8B-B14F-4D97-AF65-F5344CB8AC3E}">
        <p14:creationId xmlns:p14="http://schemas.microsoft.com/office/powerpoint/2010/main" val="168802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aria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1461</TotalTime>
  <Words>7810</Words>
  <Application>Microsoft Office PowerPoint</Application>
  <PresentationFormat>宽屏</PresentationFormat>
  <Paragraphs>674</Paragraphs>
  <Slides>67</Slides>
  <Notes>64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67</vt:i4>
      </vt:variant>
    </vt:vector>
  </HeadingPairs>
  <TitlesOfParts>
    <vt:vector size="77" baseType="lpstr">
      <vt:lpstr>等线</vt:lpstr>
      <vt:lpstr>等线 Light</vt:lpstr>
      <vt:lpstr>方正书宋_GBK</vt:lpstr>
      <vt:lpstr>黑体</vt:lpstr>
      <vt:lpstr>微软雅黑</vt:lpstr>
      <vt:lpstr>Arial</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3.溢流阀的静态特性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dc:creator>
  <cp:lastModifiedBy>dell</cp:lastModifiedBy>
  <cp:revision>208</cp:revision>
  <dcterms:created xsi:type="dcterms:W3CDTF">2024-06-04T23:12:24Z</dcterms:created>
  <dcterms:modified xsi:type="dcterms:W3CDTF">2025-12-10T01:37:21Z</dcterms:modified>
</cp:coreProperties>
</file>