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6" r:id="rId2"/>
    <p:sldId id="257" r:id="rId3"/>
    <p:sldId id="262" r:id="rId4"/>
    <p:sldId id="259" r:id="rId5"/>
    <p:sldId id="261" r:id="rId6"/>
    <p:sldId id="263" r:id="rId7"/>
    <p:sldId id="278" r:id="rId8"/>
    <p:sldId id="265" r:id="rId9"/>
    <p:sldId id="276" r:id="rId10"/>
    <p:sldId id="260" r:id="rId11"/>
    <p:sldId id="279" r:id="rId12"/>
    <p:sldId id="266" r:id="rId13"/>
    <p:sldId id="280" r:id="rId14"/>
    <p:sldId id="275" r:id="rId15"/>
    <p:sldId id="281" r:id="rId16"/>
    <p:sldId id="282" r:id="rId17"/>
    <p:sldId id="283" r:id="rId18"/>
    <p:sldId id="284" r:id="rId19"/>
    <p:sldId id="285" r:id="rId20"/>
    <p:sldId id="286" r:id="rId21"/>
    <p:sldId id="288" r:id="rId22"/>
    <p:sldId id="289" r:id="rId23"/>
    <p:sldId id="290" r:id="rId24"/>
    <p:sldId id="291" r:id="rId25"/>
    <p:sldId id="294" r:id="rId26"/>
    <p:sldId id="293" r:id="rId27"/>
    <p:sldId id="292" r:id="rId28"/>
    <p:sldId id="295" r:id="rId29"/>
    <p:sldId id="296" r:id="rId30"/>
    <p:sldId id="297"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1242E38-3209-4F1D-8C5D-FB52C80F77E8}" type="doc">
      <dgm:prSet loTypeId="urn:microsoft.com/office/officeart/2005/8/layout/process1" loCatId="process" qsTypeId="urn:microsoft.com/office/officeart/2005/8/quickstyle/simple1" qsCatId="simple" csTypeId="urn:microsoft.com/office/officeart/2005/8/colors/accent1_2" csCatId="accent1" phldr="1"/>
      <dgm:spPr/>
    </dgm:pt>
    <dgm:pt modelId="{85C8FA72-6A55-4A3F-96B2-E5BC0861DC9F}">
      <dgm:prSet phldrT="[文本]"/>
      <dgm:spPr/>
      <dgm:t>
        <a:bodyPr/>
        <a:lstStyle/>
        <a:p>
          <a:r>
            <a:rPr lang="zh-CN" altLang="en-US" dirty="0" smtClean="0"/>
            <a:t>电涡流位移传感器</a:t>
          </a:r>
          <a:endParaRPr lang="zh-CN" altLang="en-US" dirty="0"/>
        </a:p>
      </dgm:t>
    </dgm:pt>
    <dgm:pt modelId="{93D53E5A-62EE-4E49-AAD8-81206725B137}" type="parTrans" cxnId="{266C455F-52C8-4F33-B919-5AB325D8C6B1}">
      <dgm:prSet/>
      <dgm:spPr/>
      <dgm:t>
        <a:bodyPr/>
        <a:lstStyle/>
        <a:p>
          <a:endParaRPr lang="zh-CN" altLang="en-US"/>
        </a:p>
      </dgm:t>
    </dgm:pt>
    <dgm:pt modelId="{FC6D2CCF-93F7-4A3C-973E-05A34C5F436E}" type="sibTrans" cxnId="{266C455F-52C8-4F33-B919-5AB325D8C6B1}">
      <dgm:prSet/>
      <dgm:spPr/>
      <dgm:t>
        <a:bodyPr/>
        <a:lstStyle/>
        <a:p>
          <a:endParaRPr lang="zh-CN" altLang="en-US"/>
        </a:p>
      </dgm:t>
    </dgm:pt>
    <dgm:pt modelId="{7B093781-0907-479B-AF48-D445B2727AA5}">
      <dgm:prSet phldrT="[文本]"/>
      <dgm:spPr/>
      <dgm:t>
        <a:bodyPr/>
        <a:lstStyle/>
        <a:p>
          <a:r>
            <a:rPr lang="en-US" altLang="zh-CN" dirty="0" smtClean="0"/>
            <a:t>MI-2100</a:t>
          </a:r>
          <a:r>
            <a:rPr lang="zh-CN" altLang="en-US" dirty="0" smtClean="0"/>
            <a:t>正面</a:t>
          </a:r>
          <a:r>
            <a:rPr lang="en-US" altLang="zh-CN" dirty="0" smtClean="0"/>
            <a:t>-1</a:t>
          </a:r>
          <a:endParaRPr lang="zh-CN" altLang="en-US" dirty="0"/>
        </a:p>
      </dgm:t>
    </dgm:pt>
    <dgm:pt modelId="{740CE175-BF51-40CA-A5EA-1EE9020546F7}" type="parTrans" cxnId="{4D51B74B-2E6F-4EA8-8484-F8FAA08B1DAD}">
      <dgm:prSet/>
      <dgm:spPr/>
      <dgm:t>
        <a:bodyPr/>
        <a:lstStyle/>
        <a:p>
          <a:endParaRPr lang="zh-CN" altLang="en-US"/>
        </a:p>
      </dgm:t>
    </dgm:pt>
    <dgm:pt modelId="{E38EB9D7-AE51-4EAB-B896-3B6C6603896B}" type="sibTrans" cxnId="{4D51B74B-2E6F-4EA8-8484-F8FAA08B1DAD}">
      <dgm:prSet/>
      <dgm:spPr/>
      <dgm:t>
        <a:bodyPr/>
        <a:lstStyle/>
        <a:p>
          <a:endParaRPr lang="zh-CN" altLang="en-US"/>
        </a:p>
      </dgm:t>
    </dgm:pt>
    <dgm:pt modelId="{3DB2F951-0AD1-42BD-A09B-DA0D801FFDBF}">
      <dgm:prSet phldrT="[文本]"/>
      <dgm:spPr/>
      <dgm:t>
        <a:bodyPr/>
        <a:lstStyle/>
        <a:p>
          <a:r>
            <a:rPr lang="en-US" altLang="zh-CN" dirty="0" smtClean="0"/>
            <a:t>MI-2100</a:t>
          </a:r>
          <a:r>
            <a:rPr lang="zh-CN" altLang="en-US" dirty="0" smtClean="0"/>
            <a:t>背面</a:t>
          </a:r>
          <a:r>
            <a:rPr lang="en-US" altLang="zh-CN" dirty="0" smtClean="0"/>
            <a:t>-1</a:t>
          </a:r>
          <a:endParaRPr lang="zh-CN" altLang="en-US" dirty="0"/>
        </a:p>
      </dgm:t>
    </dgm:pt>
    <dgm:pt modelId="{973E0B70-947F-4E5A-AC1D-98B1DF7DBD89}" type="parTrans" cxnId="{2AB2EA18-38FA-4041-AB70-7EF29207E9C7}">
      <dgm:prSet/>
      <dgm:spPr/>
      <dgm:t>
        <a:bodyPr/>
        <a:lstStyle/>
        <a:p>
          <a:endParaRPr lang="zh-CN" altLang="en-US"/>
        </a:p>
      </dgm:t>
    </dgm:pt>
    <dgm:pt modelId="{F189B08F-F25E-4D8E-BDD3-32396B997461}" type="sibTrans" cxnId="{2AB2EA18-38FA-4041-AB70-7EF29207E9C7}">
      <dgm:prSet/>
      <dgm:spPr/>
      <dgm:t>
        <a:bodyPr/>
        <a:lstStyle/>
        <a:p>
          <a:endParaRPr lang="zh-CN" altLang="en-US"/>
        </a:p>
      </dgm:t>
    </dgm:pt>
    <dgm:pt modelId="{CFAD02C5-59E6-4F42-BB6D-F586CD08B362}">
      <dgm:prSet phldrT="[文本]"/>
      <dgm:spPr/>
      <dgm:t>
        <a:bodyPr/>
        <a:lstStyle/>
        <a:p>
          <a:r>
            <a:rPr lang="en-US" altLang="zh-CN" dirty="0" smtClean="0"/>
            <a:t>MI-7004-INPUT1</a:t>
          </a:r>
          <a:endParaRPr lang="zh-CN" altLang="en-US" dirty="0"/>
        </a:p>
      </dgm:t>
    </dgm:pt>
    <dgm:pt modelId="{81AC0721-F66A-4124-A1AE-B6743D72FCB8}" type="parTrans" cxnId="{2C8DB48E-95B8-4D69-ADE8-3897FE36F8F2}">
      <dgm:prSet/>
      <dgm:spPr/>
      <dgm:t>
        <a:bodyPr/>
        <a:lstStyle/>
        <a:p>
          <a:endParaRPr lang="zh-CN" altLang="en-US"/>
        </a:p>
      </dgm:t>
    </dgm:pt>
    <dgm:pt modelId="{2C2D7904-E139-4D5E-8F74-8756F9861F85}" type="sibTrans" cxnId="{2C8DB48E-95B8-4D69-ADE8-3897FE36F8F2}">
      <dgm:prSet/>
      <dgm:spPr/>
      <dgm:t>
        <a:bodyPr/>
        <a:lstStyle/>
        <a:p>
          <a:endParaRPr lang="zh-CN" altLang="en-US"/>
        </a:p>
      </dgm:t>
    </dgm:pt>
    <dgm:pt modelId="{0DCFEBFD-C927-43CC-BD1C-A8316A6611AB}" type="pres">
      <dgm:prSet presAssocID="{21242E38-3209-4F1D-8C5D-FB52C80F77E8}" presName="Name0" presStyleCnt="0">
        <dgm:presLayoutVars>
          <dgm:dir/>
          <dgm:resizeHandles val="exact"/>
        </dgm:presLayoutVars>
      </dgm:prSet>
      <dgm:spPr/>
    </dgm:pt>
    <dgm:pt modelId="{A5696C20-C33B-46A0-928E-B3B268C5A568}" type="pres">
      <dgm:prSet presAssocID="{85C8FA72-6A55-4A3F-96B2-E5BC0861DC9F}" presName="node" presStyleLbl="node1" presStyleIdx="0" presStyleCnt="4">
        <dgm:presLayoutVars>
          <dgm:bulletEnabled val="1"/>
        </dgm:presLayoutVars>
      </dgm:prSet>
      <dgm:spPr/>
    </dgm:pt>
    <dgm:pt modelId="{5928C337-60D7-41AA-9F0F-E6F18596736A}" type="pres">
      <dgm:prSet presAssocID="{FC6D2CCF-93F7-4A3C-973E-05A34C5F436E}" presName="sibTrans" presStyleLbl="sibTrans2D1" presStyleIdx="0" presStyleCnt="3"/>
      <dgm:spPr/>
    </dgm:pt>
    <dgm:pt modelId="{BE51A4AC-DF75-4C74-9B67-DD4D3F02241B}" type="pres">
      <dgm:prSet presAssocID="{FC6D2CCF-93F7-4A3C-973E-05A34C5F436E}" presName="connectorText" presStyleLbl="sibTrans2D1" presStyleIdx="0" presStyleCnt="3"/>
      <dgm:spPr/>
    </dgm:pt>
    <dgm:pt modelId="{37952F07-DF63-4C53-87CA-4B271FBAACFE}" type="pres">
      <dgm:prSet presAssocID="{7B093781-0907-479B-AF48-D445B2727AA5}" presName="node" presStyleLbl="node1" presStyleIdx="1" presStyleCnt="4">
        <dgm:presLayoutVars>
          <dgm:bulletEnabled val="1"/>
        </dgm:presLayoutVars>
      </dgm:prSet>
      <dgm:spPr/>
    </dgm:pt>
    <dgm:pt modelId="{8C710793-D131-4A91-9442-EAF24FDBDF4B}" type="pres">
      <dgm:prSet presAssocID="{E38EB9D7-AE51-4EAB-B896-3B6C6603896B}" presName="sibTrans" presStyleLbl="sibTrans2D1" presStyleIdx="1" presStyleCnt="3"/>
      <dgm:spPr/>
    </dgm:pt>
    <dgm:pt modelId="{0A3706A9-AA03-4AAE-8B93-C805B0A2EE0A}" type="pres">
      <dgm:prSet presAssocID="{E38EB9D7-AE51-4EAB-B896-3B6C6603896B}" presName="connectorText" presStyleLbl="sibTrans2D1" presStyleIdx="1" presStyleCnt="3"/>
      <dgm:spPr/>
    </dgm:pt>
    <dgm:pt modelId="{2B2DBBC1-F2DA-4D0C-B1F0-0548F748E5EA}" type="pres">
      <dgm:prSet presAssocID="{3DB2F951-0AD1-42BD-A09B-DA0D801FFDBF}" presName="node" presStyleLbl="node1" presStyleIdx="2" presStyleCnt="4">
        <dgm:presLayoutVars>
          <dgm:bulletEnabled val="1"/>
        </dgm:presLayoutVars>
      </dgm:prSet>
      <dgm:spPr/>
    </dgm:pt>
    <dgm:pt modelId="{F08D59E0-9BD6-46FB-9A33-91FB265A212C}" type="pres">
      <dgm:prSet presAssocID="{F189B08F-F25E-4D8E-BDD3-32396B997461}" presName="sibTrans" presStyleLbl="sibTrans2D1" presStyleIdx="2" presStyleCnt="3"/>
      <dgm:spPr/>
    </dgm:pt>
    <dgm:pt modelId="{04D7F183-515C-4C23-8F18-7DC7832377A3}" type="pres">
      <dgm:prSet presAssocID="{F189B08F-F25E-4D8E-BDD3-32396B997461}" presName="connectorText" presStyleLbl="sibTrans2D1" presStyleIdx="2" presStyleCnt="3"/>
      <dgm:spPr/>
    </dgm:pt>
    <dgm:pt modelId="{4EA1626A-DC99-4AB8-A677-220C01F335FF}" type="pres">
      <dgm:prSet presAssocID="{CFAD02C5-59E6-4F42-BB6D-F586CD08B362}" presName="node" presStyleLbl="node1" presStyleIdx="3" presStyleCnt="4">
        <dgm:presLayoutVars>
          <dgm:bulletEnabled val="1"/>
        </dgm:presLayoutVars>
      </dgm:prSet>
      <dgm:spPr/>
    </dgm:pt>
  </dgm:ptLst>
  <dgm:cxnLst>
    <dgm:cxn modelId="{A802937D-8A4A-47C3-B9C5-DDD3C02AA9E8}" type="presOf" srcId="{3DB2F951-0AD1-42BD-A09B-DA0D801FFDBF}" destId="{2B2DBBC1-F2DA-4D0C-B1F0-0548F748E5EA}" srcOrd="0" destOrd="0" presId="urn:microsoft.com/office/officeart/2005/8/layout/process1"/>
    <dgm:cxn modelId="{0CB7F673-4970-41C1-845D-8C30EB2D51DE}" type="presOf" srcId="{F189B08F-F25E-4D8E-BDD3-32396B997461}" destId="{F08D59E0-9BD6-46FB-9A33-91FB265A212C}" srcOrd="0" destOrd="0" presId="urn:microsoft.com/office/officeart/2005/8/layout/process1"/>
    <dgm:cxn modelId="{2BA8E80F-8E33-4654-AC68-023E9F86DE9A}" type="presOf" srcId="{85C8FA72-6A55-4A3F-96B2-E5BC0861DC9F}" destId="{A5696C20-C33B-46A0-928E-B3B268C5A568}" srcOrd="0" destOrd="0" presId="urn:microsoft.com/office/officeart/2005/8/layout/process1"/>
    <dgm:cxn modelId="{0E20D3C7-AE2B-48C5-B5EF-13789CE6BE2F}" type="presOf" srcId="{CFAD02C5-59E6-4F42-BB6D-F586CD08B362}" destId="{4EA1626A-DC99-4AB8-A677-220C01F335FF}" srcOrd="0" destOrd="0" presId="urn:microsoft.com/office/officeart/2005/8/layout/process1"/>
    <dgm:cxn modelId="{B657B976-E334-4358-925D-28C7F301AFB8}" type="presOf" srcId="{F189B08F-F25E-4D8E-BDD3-32396B997461}" destId="{04D7F183-515C-4C23-8F18-7DC7832377A3}" srcOrd="1" destOrd="0" presId="urn:microsoft.com/office/officeart/2005/8/layout/process1"/>
    <dgm:cxn modelId="{2AB2EA18-38FA-4041-AB70-7EF29207E9C7}" srcId="{21242E38-3209-4F1D-8C5D-FB52C80F77E8}" destId="{3DB2F951-0AD1-42BD-A09B-DA0D801FFDBF}" srcOrd="2" destOrd="0" parTransId="{973E0B70-947F-4E5A-AC1D-98B1DF7DBD89}" sibTransId="{F189B08F-F25E-4D8E-BDD3-32396B997461}"/>
    <dgm:cxn modelId="{311C8FC6-8F39-43B8-A2D2-5DF202C511C1}" type="presOf" srcId="{FC6D2CCF-93F7-4A3C-973E-05A34C5F436E}" destId="{BE51A4AC-DF75-4C74-9B67-DD4D3F02241B}" srcOrd="1" destOrd="0" presId="urn:microsoft.com/office/officeart/2005/8/layout/process1"/>
    <dgm:cxn modelId="{4D51B74B-2E6F-4EA8-8484-F8FAA08B1DAD}" srcId="{21242E38-3209-4F1D-8C5D-FB52C80F77E8}" destId="{7B093781-0907-479B-AF48-D445B2727AA5}" srcOrd="1" destOrd="0" parTransId="{740CE175-BF51-40CA-A5EA-1EE9020546F7}" sibTransId="{E38EB9D7-AE51-4EAB-B896-3B6C6603896B}"/>
    <dgm:cxn modelId="{CEB0225D-8706-40FD-BD2A-2EB017238476}" type="presOf" srcId="{FC6D2CCF-93F7-4A3C-973E-05A34C5F436E}" destId="{5928C337-60D7-41AA-9F0F-E6F18596736A}" srcOrd="0" destOrd="0" presId="urn:microsoft.com/office/officeart/2005/8/layout/process1"/>
    <dgm:cxn modelId="{1E9A4F9E-E448-4FB7-8D30-28303A7EA7C4}" type="presOf" srcId="{E38EB9D7-AE51-4EAB-B896-3B6C6603896B}" destId="{8C710793-D131-4A91-9442-EAF24FDBDF4B}" srcOrd="0" destOrd="0" presId="urn:microsoft.com/office/officeart/2005/8/layout/process1"/>
    <dgm:cxn modelId="{53BE3E67-52C1-40CA-AE9D-C14B31C48EF9}" type="presOf" srcId="{7B093781-0907-479B-AF48-D445B2727AA5}" destId="{37952F07-DF63-4C53-87CA-4B271FBAACFE}" srcOrd="0" destOrd="0" presId="urn:microsoft.com/office/officeart/2005/8/layout/process1"/>
    <dgm:cxn modelId="{4B92EDE2-DA3A-4F3E-A023-BF38FF34E6A4}" type="presOf" srcId="{E38EB9D7-AE51-4EAB-B896-3B6C6603896B}" destId="{0A3706A9-AA03-4AAE-8B93-C805B0A2EE0A}" srcOrd="1" destOrd="0" presId="urn:microsoft.com/office/officeart/2005/8/layout/process1"/>
    <dgm:cxn modelId="{2C8DB48E-95B8-4D69-ADE8-3897FE36F8F2}" srcId="{21242E38-3209-4F1D-8C5D-FB52C80F77E8}" destId="{CFAD02C5-59E6-4F42-BB6D-F586CD08B362}" srcOrd="3" destOrd="0" parTransId="{81AC0721-F66A-4124-A1AE-B6743D72FCB8}" sibTransId="{2C2D7904-E139-4D5E-8F74-8756F9861F85}"/>
    <dgm:cxn modelId="{8D7E5742-44A8-442D-BDC7-2DAC94A0D303}" type="presOf" srcId="{21242E38-3209-4F1D-8C5D-FB52C80F77E8}" destId="{0DCFEBFD-C927-43CC-BD1C-A8316A6611AB}" srcOrd="0" destOrd="0" presId="urn:microsoft.com/office/officeart/2005/8/layout/process1"/>
    <dgm:cxn modelId="{266C455F-52C8-4F33-B919-5AB325D8C6B1}" srcId="{21242E38-3209-4F1D-8C5D-FB52C80F77E8}" destId="{85C8FA72-6A55-4A3F-96B2-E5BC0861DC9F}" srcOrd="0" destOrd="0" parTransId="{93D53E5A-62EE-4E49-AAD8-81206725B137}" sibTransId="{FC6D2CCF-93F7-4A3C-973E-05A34C5F436E}"/>
    <dgm:cxn modelId="{4A83CEDB-841E-4CD9-BBE2-AF98E22B06AB}" type="presParOf" srcId="{0DCFEBFD-C927-43CC-BD1C-A8316A6611AB}" destId="{A5696C20-C33B-46A0-928E-B3B268C5A568}" srcOrd="0" destOrd="0" presId="urn:microsoft.com/office/officeart/2005/8/layout/process1"/>
    <dgm:cxn modelId="{B4CBDAA5-CCDA-4909-B412-25103F7E712B}" type="presParOf" srcId="{0DCFEBFD-C927-43CC-BD1C-A8316A6611AB}" destId="{5928C337-60D7-41AA-9F0F-E6F18596736A}" srcOrd="1" destOrd="0" presId="urn:microsoft.com/office/officeart/2005/8/layout/process1"/>
    <dgm:cxn modelId="{0CA2142E-AC06-4DD1-8A74-8ABB782BC7FB}" type="presParOf" srcId="{5928C337-60D7-41AA-9F0F-E6F18596736A}" destId="{BE51A4AC-DF75-4C74-9B67-DD4D3F02241B}" srcOrd="0" destOrd="0" presId="urn:microsoft.com/office/officeart/2005/8/layout/process1"/>
    <dgm:cxn modelId="{0FA9B5A9-9EF0-4954-B1CE-5ACDB1199257}" type="presParOf" srcId="{0DCFEBFD-C927-43CC-BD1C-A8316A6611AB}" destId="{37952F07-DF63-4C53-87CA-4B271FBAACFE}" srcOrd="2" destOrd="0" presId="urn:microsoft.com/office/officeart/2005/8/layout/process1"/>
    <dgm:cxn modelId="{96CC144F-8F3E-4ED8-96BE-C1790F9C9BA0}" type="presParOf" srcId="{0DCFEBFD-C927-43CC-BD1C-A8316A6611AB}" destId="{8C710793-D131-4A91-9442-EAF24FDBDF4B}" srcOrd="3" destOrd="0" presId="urn:microsoft.com/office/officeart/2005/8/layout/process1"/>
    <dgm:cxn modelId="{7AD86ADC-2B43-412E-A8C5-8D94D7E7C38C}" type="presParOf" srcId="{8C710793-D131-4A91-9442-EAF24FDBDF4B}" destId="{0A3706A9-AA03-4AAE-8B93-C805B0A2EE0A}" srcOrd="0" destOrd="0" presId="urn:microsoft.com/office/officeart/2005/8/layout/process1"/>
    <dgm:cxn modelId="{633BD03A-5ECD-4B7C-9284-D112170008B0}" type="presParOf" srcId="{0DCFEBFD-C927-43CC-BD1C-A8316A6611AB}" destId="{2B2DBBC1-F2DA-4D0C-B1F0-0548F748E5EA}" srcOrd="4" destOrd="0" presId="urn:microsoft.com/office/officeart/2005/8/layout/process1"/>
    <dgm:cxn modelId="{00561EF1-7938-4728-8A85-227DFBB751BA}" type="presParOf" srcId="{0DCFEBFD-C927-43CC-BD1C-A8316A6611AB}" destId="{F08D59E0-9BD6-46FB-9A33-91FB265A212C}" srcOrd="5" destOrd="0" presId="urn:microsoft.com/office/officeart/2005/8/layout/process1"/>
    <dgm:cxn modelId="{7ED04604-0689-45A8-BC61-054D9B2EE142}" type="presParOf" srcId="{F08D59E0-9BD6-46FB-9A33-91FB265A212C}" destId="{04D7F183-515C-4C23-8F18-7DC7832377A3}" srcOrd="0" destOrd="0" presId="urn:microsoft.com/office/officeart/2005/8/layout/process1"/>
    <dgm:cxn modelId="{FF182A03-BFCB-44E8-8D6B-FD1E07A3ABBC}" type="presParOf" srcId="{0DCFEBFD-C927-43CC-BD1C-A8316A6611AB}" destId="{4EA1626A-DC99-4AB8-A677-220C01F335FF}" srcOrd="6"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242E38-3209-4F1D-8C5D-FB52C80F77E8}" type="doc">
      <dgm:prSet loTypeId="urn:microsoft.com/office/officeart/2005/8/layout/process1" loCatId="process" qsTypeId="urn:microsoft.com/office/officeart/2005/8/quickstyle/simple1" qsCatId="simple" csTypeId="urn:microsoft.com/office/officeart/2005/8/colors/accent1_2" csCatId="accent1" phldr="1"/>
      <dgm:spPr/>
    </dgm:pt>
    <dgm:pt modelId="{85C8FA72-6A55-4A3F-96B2-E5BC0861DC9F}">
      <dgm:prSet phldrT="[文本]"/>
      <dgm:spPr/>
      <dgm:t>
        <a:bodyPr/>
        <a:lstStyle/>
        <a:p>
          <a:r>
            <a:rPr lang="zh-CN" altLang="en-US" dirty="0" smtClean="0"/>
            <a:t>光电转速传感器</a:t>
          </a:r>
          <a:endParaRPr lang="zh-CN" altLang="en-US" dirty="0"/>
        </a:p>
      </dgm:t>
    </dgm:pt>
    <dgm:pt modelId="{93D53E5A-62EE-4E49-AAD8-81206725B137}" type="parTrans" cxnId="{266C455F-52C8-4F33-B919-5AB325D8C6B1}">
      <dgm:prSet/>
      <dgm:spPr/>
      <dgm:t>
        <a:bodyPr/>
        <a:lstStyle/>
        <a:p>
          <a:endParaRPr lang="zh-CN" altLang="en-US"/>
        </a:p>
      </dgm:t>
    </dgm:pt>
    <dgm:pt modelId="{FC6D2CCF-93F7-4A3C-973E-05A34C5F436E}" type="sibTrans" cxnId="{266C455F-52C8-4F33-B919-5AB325D8C6B1}">
      <dgm:prSet/>
      <dgm:spPr/>
      <dgm:t>
        <a:bodyPr/>
        <a:lstStyle/>
        <a:p>
          <a:endParaRPr lang="zh-CN" altLang="en-US"/>
        </a:p>
      </dgm:t>
    </dgm:pt>
    <dgm:pt modelId="{7B093781-0907-479B-AF48-D445B2727AA5}">
      <dgm:prSet phldrT="[文本]"/>
      <dgm:spPr/>
      <dgm:t>
        <a:bodyPr/>
        <a:lstStyle/>
        <a:p>
          <a:r>
            <a:rPr lang="en-US" altLang="zh-CN" dirty="0" smtClean="0"/>
            <a:t>MI-2100</a:t>
          </a:r>
          <a:r>
            <a:rPr lang="zh-CN" altLang="en-US" dirty="0" smtClean="0"/>
            <a:t>正面</a:t>
          </a:r>
          <a:r>
            <a:rPr lang="en-US" altLang="zh-CN" dirty="0" smtClean="0"/>
            <a:t>-2</a:t>
          </a:r>
          <a:endParaRPr lang="zh-CN" altLang="en-US" dirty="0"/>
        </a:p>
      </dgm:t>
    </dgm:pt>
    <dgm:pt modelId="{740CE175-BF51-40CA-A5EA-1EE9020546F7}" type="parTrans" cxnId="{4D51B74B-2E6F-4EA8-8484-F8FAA08B1DAD}">
      <dgm:prSet/>
      <dgm:spPr/>
      <dgm:t>
        <a:bodyPr/>
        <a:lstStyle/>
        <a:p>
          <a:endParaRPr lang="zh-CN" altLang="en-US"/>
        </a:p>
      </dgm:t>
    </dgm:pt>
    <dgm:pt modelId="{E38EB9D7-AE51-4EAB-B896-3B6C6603896B}" type="sibTrans" cxnId="{4D51B74B-2E6F-4EA8-8484-F8FAA08B1DAD}">
      <dgm:prSet/>
      <dgm:spPr/>
      <dgm:t>
        <a:bodyPr/>
        <a:lstStyle/>
        <a:p>
          <a:endParaRPr lang="zh-CN" altLang="en-US"/>
        </a:p>
      </dgm:t>
    </dgm:pt>
    <dgm:pt modelId="{3DB2F951-0AD1-42BD-A09B-DA0D801FFDBF}">
      <dgm:prSet phldrT="[文本]"/>
      <dgm:spPr/>
      <dgm:t>
        <a:bodyPr/>
        <a:lstStyle/>
        <a:p>
          <a:r>
            <a:rPr lang="en-US" altLang="zh-CN" dirty="0" smtClean="0"/>
            <a:t>MI-2100</a:t>
          </a:r>
          <a:r>
            <a:rPr lang="zh-CN" altLang="en-US" dirty="0" smtClean="0"/>
            <a:t>背面</a:t>
          </a:r>
          <a:r>
            <a:rPr lang="en-US" altLang="zh-CN" dirty="0" smtClean="0"/>
            <a:t>-2</a:t>
          </a:r>
          <a:endParaRPr lang="zh-CN" altLang="en-US" dirty="0"/>
        </a:p>
      </dgm:t>
    </dgm:pt>
    <dgm:pt modelId="{973E0B70-947F-4E5A-AC1D-98B1DF7DBD89}" type="parTrans" cxnId="{2AB2EA18-38FA-4041-AB70-7EF29207E9C7}">
      <dgm:prSet/>
      <dgm:spPr/>
      <dgm:t>
        <a:bodyPr/>
        <a:lstStyle/>
        <a:p>
          <a:endParaRPr lang="zh-CN" altLang="en-US"/>
        </a:p>
      </dgm:t>
    </dgm:pt>
    <dgm:pt modelId="{F189B08F-F25E-4D8E-BDD3-32396B997461}" type="sibTrans" cxnId="{2AB2EA18-38FA-4041-AB70-7EF29207E9C7}">
      <dgm:prSet/>
      <dgm:spPr/>
      <dgm:t>
        <a:bodyPr/>
        <a:lstStyle/>
        <a:p>
          <a:endParaRPr lang="zh-CN" altLang="en-US"/>
        </a:p>
      </dgm:t>
    </dgm:pt>
    <dgm:pt modelId="{CFAD02C5-59E6-4F42-BB6D-F586CD08B362}">
      <dgm:prSet phldrT="[文本]"/>
      <dgm:spPr/>
      <dgm:t>
        <a:bodyPr/>
        <a:lstStyle/>
        <a:p>
          <a:r>
            <a:rPr lang="en-US" altLang="zh-CN" dirty="0" smtClean="0"/>
            <a:t>MI-7004-INPUT2</a:t>
          </a:r>
          <a:endParaRPr lang="zh-CN" altLang="en-US" dirty="0"/>
        </a:p>
      </dgm:t>
    </dgm:pt>
    <dgm:pt modelId="{81AC0721-F66A-4124-A1AE-B6743D72FCB8}" type="parTrans" cxnId="{2C8DB48E-95B8-4D69-ADE8-3897FE36F8F2}">
      <dgm:prSet/>
      <dgm:spPr/>
      <dgm:t>
        <a:bodyPr/>
        <a:lstStyle/>
        <a:p>
          <a:endParaRPr lang="zh-CN" altLang="en-US"/>
        </a:p>
      </dgm:t>
    </dgm:pt>
    <dgm:pt modelId="{2C2D7904-E139-4D5E-8F74-8756F9861F85}" type="sibTrans" cxnId="{2C8DB48E-95B8-4D69-ADE8-3897FE36F8F2}">
      <dgm:prSet/>
      <dgm:spPr/>
      <dgm:t>
        <a:bodyPr/>
        <a:lstStyle/>
        <a:p>
          <a:endParaRPr lang="zh-CN" altLang="en-US"/>
        </a:p>
      </dgm:t>
    </dgm:pt>
    <dgm:pt modelId="{0DCFEBFD-C927-43CC-BD1C-A8316A6611AB}" type="pres">
      <dgm:prSet presAssocID="{21242E38-3209-4F1D-8C5D-FB52C80F77E8}" presName="Name0" presStyleCnt="0">
        <dgm:presLayoutVars>
          <dgm:dir/>
          <dgm:resizeHandles val="exact"/>
        </dgm:presLayoutVars>
      </dgm:prSet>
      <dgm:spPr/>
    </dgm:pt>
    <dgm:pt modelId="{A5696C20-C33B-46A0-928E-B3B268C5A568}" type="pres">
      <dgm:prSet presAssocID="{85C8FA72-6A55-4A3F-96B2-E5BC0861DC9F}" presName="node" presStyleLbl="node1" presStyleIdx="0" presStyleCnt="4">
        <dgm:presLayoutVars>
          <dgm:bulletEnabled val="1"/>
        </dgm:presLayoutVars>
      </dgm:prSet>
      <dgm:spPr/>
      <dgm:t>
        <a:bodyPr/>
        <a:lstStyle/>
        <a:p>
          <a:endParaRPr lang="zh-CN" altLang="en-US"/>
        </a:p>
      </dgm:t>
    </dgm:pt>
    <dgm:pt modelId="{5928C337-60D7-41AA-9F0F-E6F18596736A}" type="pres">
      <dgm:prSet presAssocID="{FC6D2CCF-93F7-4A3C-973E-05A34C5F436E}" presName="sibTrans" presStyleLbl="sibTrans2D1" presStyleIdx="0" presStyleCnt="3"/>
      <dgm:spPr/>
    </dgm:pt>
    <dgm:pt modelId="{BE51A4AC-DF75-4C74-9B67-DD4D3F02241B}" type="pres">
      <dgm:prSet presAssocID="{FC6D2CCF-93F7-4A3C-973E-05A34C5F436E}" presName="connectorText" presStyleLbl="sibTrans2D1" presStyleIdx="0" presStyleCnt="3"/>
      <dgm:spPr/>
    </dgm:pt>
    <dgm:pt modelId="{37952F07-DF63-4C53-87CA-4B271FBAACFE}" type="pres">
      <dgm:prSet presAssocID="{7B093781-0907-479B-AF48-D445B2727AA5}" presName="node" presStyleLbl="node1" presStyleIdx="1" presStyleCnt="4">
        <dgm:presLayoutVars>
          <dgm:bulletEnabled val="1"/>
        </dgm:presLayoutVars>
      </dgm:prSet>
      <dgm:spPr/>
    </dgm:pt>
    <dgm:pt modelId="{8C710793-D131-4A91-9442-EAF24FDBDF4B}" type="pres">
      <dgm:prSet presAssocID="{E38EB9D7-AE51-4EAB-B896-3B6C6603896B}" presName="sibTrans" presStyleLbl="sibTrans2D1" presStyleIdx="1" presStyleCnt="3"/>
      <dgm:spPr/>
    </dgm:pt>
    <dgm:pt modelId="{0A3706A9-AA03-4AAE-8B93-C805B0A2EE0A}" type="pres">
      <dgm:prSet presAssocID="{E38EB9D7-AE51-4EAB-B896-3B6C6603896B}" presName="connectorText" presStyleLbl="sibTrans2D1" presStyleIdx="1" presStyleCnt="3"/>
      <dgm:spPr/>
    </dgm:pt>
    <dgm:pt modelId="{2B2DBBC1-F2DA-4D0C-B1F0-0548F748E5EA}" type="pres">
      <dgm:prSet presAssocID="{3DB2F951-0AD1-42BD-A09B-DA0D801FFDBF}" presName="node" presStyleLbl="node1" presStyleIdx="2" presStyleCnt="4">
        <dgm:presLayoutVars>
          <dgm:bulletEnabled val="1"/>
        </dgm:presLayoutVars>
      </dgm:prSet>
      <dgm:spPr/>
    </dgm:pt>
    <dgm:pt modelId="{F08D59E0-9BD6-46FB-9A33-91FB265A212C}" type="pres">
      <dgm:prSet presAssocID="{F189B08F-F25E-4D8E-BDD3-32396B997461}" presName="sibTrans" presStyleLbl="sibTrans2D1" presStyleIdx="2" presStyleCnt="3"/>
      <dgm:spPr/>
    </dgm:pt>
    <dgm:pt modelId="{04D7F183-515C-4C23-8F18-7DC7832377A3}" type="pres">
      <dgm:prSet presAssocID="{F189B08F-F25E-4D8E-BDD3-32396B997461}" presName="connectorText" presStyleLbl="sibTrans2D1" presStyleIdx="2" presStyleCnt="3"/>
      <dgm:spPr/>
    </dgm:pt>
    <dgm:pt modelId="{4EA1626A-DC99-4AB8-A677-220C01F335FF}" type="pres">
      <dgm:prSet presAssocID="{CFAD02C5-59E6-4F42-BB6D-F586CD08B362}" presName="node" presStyleLbl="node1" presStyleIdx="3" presStyleCnt="4">
        <dgm:presLayoutVars>
          <dgm:bulletEnabled val="1"/>
        </dgm:presLayoutVars>
      </dgm:prSet>
      <dgm:spPr/>
      <dgm:t>
        <a:bodyPr/>
        <a:lstStyle/>
        <a:p>
          <a:endParaRPr lang="zh-CN" altLang="en-US"/>
        </a:p>
      </dgm:t>
    </dgm:pt>
  </dgm:ptLst>
  <dgm:cxnLst>
    <dgm:cxn modelId="{A802937D-8A4A-47C3-B9C5-DDD3C02AA9E8}" type="presOf" srcId="{3DB2F951-0AD1-42BD-A09B-DA0D801FFDBF}" destId="{2B2DBBC1-F2DA-4D0C-B1F0-0548F748E5EA}" srcOrd="0" destOrd="0" presId="urn:microsoft.com/office/officeart/2005/8/layout/process1"/>
    <dgm:cxn modelId="{0CB7F673-4970-41C1-845D-8C30EB2D51DE}" type="presOf" srcId="{F189B08F-F25E-4D8E-BDD3-32396B997461}" destId="{F08D59E0-9BD6-46FB-9A33-91FB265A212C}" srcOrd="0" destOrd="0" presId="urn:microsoft.com/office/officeart/2005/8/layout/process1"/>
    <dgm:cxn modelId="{2BA8E80F-8E33-4654-AC68-023E9F86DE9A}" type="presOf" srcId="{85C8FA72-6A55-4A3F-96B2-E5BC0861DC9F}" destId="{A5696C20-C33B-46A0-928E-B3B268C5A568}" srcOrd="0" destOrd="0" presId="urn:microsoft.com/office/officeart/2005/8/layout/process1"/>
    <dgm:cxn modelId="{0E20D3C7-AE2B-48C5-B5EF-13789CE6BE2F}" type="presOf" srcId="{CFAD02C5-59E6-4F42-BB6D-F586CD08B362}" destId="{4EA1626A-DC99-4AB8-A677-220C01F335FF}" srcOrd="0" destOrd="0" presId="urn:microsoft.com/office/officeart/2005/8/layout/process1"/>
    <dgm:cxn modelId="{B657B976-E334-4358-925D-28C7F301AFB8}" type="presOf" srcId="{F189B08F-F25E-4D8E-BDD3-32396B997461}" destId="{04D7F183-515C-4C23-8F18-7DC7832377A3}" srcOrd="1" destOrd="0" presId="urn:microsoft.com/office/officeart/2005/8/layout/process1"/>
    <dgm:cxn modelId="{2AB2EA18-38FA-4041-AB70-7EF29207E9C7}" srcId="{21242E38-3209-4F1D-8C5D-FB52C80F77E8}" destId="{3DB2F951-0AD1-42BD-A09B-DA0D801FFDBF}" srcOrd="2" destOrd="0" parTransId="{973E0B70-947F-4E5A-AC1D-98B1DF7DBD89}" sibTransId="{F189B08F-F25E-4D8E-BDD3-32396B997461}"/>
    <dgm:cxn modelId="{311C8FC6-8F39-43B8-A2D2-5DF202C511C1}" type="presOf" srcId="{FC6D2CCF-93F7-4A3C-973E-05A34C5F436E}" destId="{BE51A4AC-DF75-4C74-9B67-DD4D3F02241B}" srcOrd="1" destOrd="0" presId="urn:microsoft.com/office/officeart/2005/8/layout/process1"/>
    <dgm:cxn modelId="{4D51B74B-2E6F-4EA8-8484-F8FAA08B1DAD}" srcId="{21242E38-3209-4F1D-8C5D-FB52C80F77E8}" destId="{7B093781-0907-479B-AF48-D445B2727AA5}" srcOrd="1" destOrd="0" parTransId="{740CE175-BF51-40CA-A5EA-1EE9020546F7}" sibTransId="{E38EB9D7-AE51-4EAB-B896-3B6C6603896B}"/>
    <dgm:cxn modelId="{CEB0225D-8706-40FD-BD2A-2EB017238476}" type="presOf" srcId="{FC6D2CCF-93F7-4A3C-973E-05A34C5F436E}" destId="{5928C337-60D7-41AA-9F0F-E6F18596736A}" srcOrd="0" destOrd="0" presId="urn:microsoft.com/office/officeart/2005/8/layout/process1"/>
    <dgm:cxn modelId="{1E9A4F9E-E448-4FB7-8D30-28303A7EA7C4}" type="presOf" srcId="{E38EB9D7-AE51-4EAB-B896-3B6C6603896B}" destId="{8C710793-D131-4A91-9442-EAF24FDBDF4B}" srcOrd="0" destOrd="0" presId="urn:microsoft.com/office/officeart/2005/8/layout/process1"/>
    <dgm:cxn modelId="{53BE3E67-52C1-40CA-AE9D-C14B31C48EF9}" type="presOf" srcId="{7B093781-0907-479B-AF48-D445B2727AA5}" destId="{37952F07-DF63-4C53-87CA-4B271FBAACFE}" srcOrd="0" destOrd="0" presId="urn:microsoft.com/office/officeart/2005/8/layout/process1"/>
    <dgm:cxn modelId="{4B92EDE2-DA3A-4F3E-A023-BF38FF34E6A4}" type="presOf" srcId="{E38EB9D7-AE51-4EAB-B896-3B6C6603896B}" destId="{0A3706A9-AA03-4AAE-8B93-C805B0A2EE0A}" srcOrd="1" destOrd="0" presId="urn:microsoft.com/office/officeart/2005/8/layout/process1"/>
    <dgm:cxn modelId="{2C8DB48E-95B8-4D69-ADE8-3897FE36F8F2}" srcId="{21242E38-3209-4F1D-8C5D-FB52C80F77E8}" destId="{CFAD02C5-59E6-4F42-BB6D-F586CD08B362}" srcOrd="3" destOrd="0" parTransId="{81AC0721-F66A-4124-A1AE-B6743D72FCB8}" sibTransId="{2C2D7904-E139-4D5E-8F74-8756F9861F85}"/>
    <dgm:cxn modelId="{8D7E5742-44A8-442D-BDC7-2DAC94A0D303}" type="presOf" srcId="{21242E38-3209-4F1D-8C5D-FB52C80F77E8}" destId="{0DCFEBFD-C927-43CC-BD1C-A8316A6611AB}" srcOrd="0" destOrd="0" presId="urn:microsoft.com/office/officeart/2005/8/layout/process1"/>
    <dgm:cxn modelId="{266C455F-52C8-4F33-B919-5AB325D8C6B1}" srcId="{21242E38-3209-4F1D-8C5D-FB52C80F77E8}" destId="{85C8FA72-6A55-4A3F-96B2-E5BC0861DC9F}" srcOrd="0" destOrd="0" parTransId="{93D53E5A-62EE-4E49-AAD8-81206725B137}" sibTransId="{FC6D2CCF-93F7-4A3C-973E-05A34C5F436E}"/>
    <dgm:cxn modelId="{4A83CEDB-841E-4CD9-BBE2-AF98E22B06AB}" type="presParOf" srcId="{0DCFEBFD-C927-43CC-BD1C-A8316A6611AB}" destId="{A5696C20-C33B-46A0-928E-B3B268C5A568}" srcOrd="0" destOrd="0" presId="urn:microsoft.com/office/officeart/2005/8/layout/process1"/>
    <dgm:cxn modelId="{B4CBDAA5-CCDA-4909-B412-25103F7E712B}" type="presParOf" srcId="{0DCFEBFD-C927-43CC-BD1C-A8316A6611AB}" destId="{5928C337-60D7-41AA-9F0F-E6F18596736A}" srcOrd="1" destOrd="0" presId="urn:microsoft.com/office/officeart/2005/8/layout/process1"/>
    <dgm:cxn modelId="{0CA2142E-AC06-4DD1-8A74-8ABB782BC7FB}" type="presParOf" srcId="{5928C337-60D7-41AA-9F0F-E6F18596736A}" destId="{BE51A4AC-DF75-4C74-9B67-DD4D3F02241B}" srcOrd="0" destOrd="0" presId="urn:microsoft.com/office/officeart/2005/8/layout/process1"/>
    <dgm:cxn modelId="{0FA9B5A9-9EF0-4954-B1CE-5ACDB1199257}" type="presParOf" srcId="{0DCFEBFD-C927-43CC-BD1C-A8316A6611AB}" destId="{37952F07-DF63-4C53-87CA-4B271FBAACFE}" srcOrd="2" destOrd="0" presId="urn:microsoft.com/office/officeart/2005/8/layout/process1"/>
    <dgm:cxn modelId="{96CC144F-8F3E-4ED8-96BE-C1790F9C9BA0}" type="presParOf" srcId="{0DCFEBFD-C927-43CC-BD1C-A8316A6611AB}" destId="{8C710793-D131-4A91-9442-EAF24FDBDF4B}" srcOrd="3" destOrd="0" presId="urn:microsoft.com/office/officeart/2005/8/layout/process1"/>
    <dgm:cxn modelId="{7AD86ADC-2B43-412E-A8C5-8D94D7E7C38C}" type="presParOf" srcId="{8C710793-D131-4A91-9442-EAF24FDBDF4B}" destId="{0A3706A9-AA03-4AAE-8B93-C805B0A2EE0A}" srcOrd="0" destOrd="0" presId="urn:microsoft.com/office/officeart/2005/8/layout/process1"/>
    <dgm:cxn modelId="{633BD03A-5ECD-4B7C-9284-D112170008B0}" type="presParOf" srcId="{0DCFEBFD-C927-43CC-BD1C-A8316A6611AB}" destId="{2B2DBBC1-F2DA-4D0C-B1F0-0548F748E5EA}" srcOrd="4" destOrd="0" presId="urn:microsoft.com/office/officeart/2005/8/layout/process1"/>
    <dgm:cxn modelId="{00561EF1-7938-4728-8A85-227DFBB751BA}" type="presParOf" srcId="{0DCFEBFD-C927-43CC-BD1C-A8316A6611AB}" destId="{F08D59E0-9BD6-46FB-9A33-91FB265A212C}" srcOrd="5" destOrd="0" presId="urn:microsoft.com/office/officeart/2005/8/layout/process1"/>
    <dgm:cxn modelId="{7ED04604-0689-45A8-BC61-054D9B2EE142}" type="presParOf" srcId="{F08D59E0-9BD6-46FB-9A33-91FB265A212C}" destId="{04D7F183-515C-4C23-8F18-7DC7832377A3}" srcOrd="0" destOrd="0" presId="urn:microsoft.com/office/officeart/2005/8/layout/process1"/>
    <dgm:cxn modelId="{FF182A03-BFCB-44E8-8D6B-FD1E07A3ABBC}" type="presParOf" srcId="{0DCFEBFD-C927-43CC-BD1C-A8316A6611AB}" destId="{4EA1626A-DC99-4AB8-A677-220C01F335FF}" srcOrd="6" destOrd="0" presId="urn:microsoft.com/office/officeart/2005/8/layout/process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242E38-3209-4F1D-8C5D-FB52C80F77E8}" type="doc">
      <dgm:prSet loTypeId="urn:microsoft.com/office/officeart/2005/8/layout/process1" loCatId="process" qsTypeId="urn:microsoft.com/office/officeart/2005/8/quickstyle/simple1" qsCatId="simple" csTypeId="urn:microsoft.com/office/officeart/2005/8/colors/accent1_2" csCatId="accent1" phldr="1"/>
      <dgm:spPr/>
    </dgm:pt>
    <dgm:pt modelId="{85C8FA72-6A55-4A3F-96B2-E5BC0861DC9F}">
      <dgm:prSet phldrT="[文本]" custT="1"/>
      <dgm:spPr/>
      <dgm:t>
        <a:bodyPr/>
        <a:lstStyle/>
        <a:p>
          <a:r>
            <a:rPr lang="zh-CN" altLang="en-US" sz="1300" dirty="0" smtClean="0"/>
            <a:t>加速度传感器</a:t>
          </a:r>
          <a:endParaRPr lang="zh-CN" altLang="en-US" sz="1300" dirty="0"/>
        </a:p>
      </dgm:t>
    </dgm:pt>
    <dgm:pt modelId="{93D53E5A-62EE-4E49-AAD8-81206725B137}" type="parTrans" cxnId="{266C455F-52C8-4F33-B919-5AB325D8C6B1}">
      <dgm:prSet/>
      <dgm:spPr/>
      <dgm:t>
        <a:bodyPr/>
        <a:lstStyle/>
        <a:p>
          <a:endParaRPr lang="zh-CN" altLang="en-US" sz="1300"/>
        </a:p>
      </dgm:t>
    </dgm:pt>
    <dgm:pt modelId="{FC6D2CCF-93F7-4A3C-973E-05A34C5F436E}" type="sibTrans" cxnId="{266C455F-52C8-4F33-B919-5AB325D8C6B1}">
      <dgm:prSet custT="1"/>
      <dgm:spPr/>
      <dgm:t>
        <a:bodyPr/>
        <a:lstStyle/>
        <a:p>
          <a:endParaRPr lang="zh-CN" altLang="en-US" sz="1300"/>
        </a:p>
      </dgm:t>
    </dgm:pt>
    <dgm:pt modelId="{7B093781-0907-479B-AF48-D445B2727AA5}">
      <dgm:prSet phldrT="[文本]" custT="1"/>
      <dgm:spPr/>
      <dgm:t>
        <a:bodyPr/>
        <a:lstStyle/>
        <a:p>
          <a:r>
            <a:rPr lang="en-US" altLang="zh-CN" sz="1300" dirty="0" smtClean="0"/>
            <a:t>MI-7004-INPUT3</a:t>
          </a:r>
          <a:endParaRPr lang="zh-CN" altLang="en-US" sz="1300" dirty="0"/>
        </a:p>
      </dgm:t>
    </dgm:pt>
    <dgm:pt modelId="{740CE175-BF51-40CA-A5EA-1EE9020546F7}" type="parTrans" cxnId="{4D51B74B-2E6F-4EA8-8484-F8FAA08B1DAD}">
      <dgm:prSet/>
      <dgm:spPr/>
      <dgm:t>
        <a:bodyPr/>
        <a:lstStyle/>
        <a:p>
          <a:endParaRPr lang="zh-CN" altLang="en-US" sz="1300"/>
        </a:p>
      </dgm:t>
    </dgm:pt>
    <dgm:pt modelId="{E38EB9D7-AE51-4EAB-B896-3B6C6603896B}" type="sibTrans" cxnId="{4D51B74B-2E6F-4EA8-8484-F8FAA08B1DAD}">
      <dgm:prSet/>
      <dgm:spPr/>
      <dgm:t>
        <a:bodyPr/>
        <a:lstStyle/>
        <a:p>
          <a:endParaRPr lang="zh-CN" altLang="en-US" sz="1300"/>
        </a:p>
      </dgm:t>
    </dgm:pt>
    <dgm:pt modelId="{0DCFEBFD-C927-43CC-BD1C-A8316A6611AB}" type="pres">
      <dgm:prSet presAssocID="{21242E38-3209-4F1D-8C5D-FB52C80F77E8}" presName="Name0" presStyleCnt="0">
        <dgm:presLayoutVars>
          <dgm:dir/>
          <dgm:resizeHandles val="exact"/>
        </dgm:presLayoutVars>
      </dgm:prSet>
      <dgm:spPr/>
    </dgm:pt>
    <dgm:pt modelId="{A5696C20-C33B-46A0-928E-B3B268C5A568}" type="pres">
      <dgm:prSet presAssocID="{85C8FA72-6A55-4A3F-96B2-E5BC0861DC9F}" presName="node" presStyleLbl="node1" presStyleIdx="0" presStyleCnt="2">
        <dgm:presLayoutVars>
          <dgm:bulletEnabled val="1"/>
        </dgm:presLayoutVars>
      </dgm:prSet>
      <dgm:spPr/>
      <dgm:t>
        <a:bodyPr/>
        <a:lstStyle/>
        <a:p>
          <a:endParaRPr lang="zh-CN" altLang="en-US"/>
        </a:p>
      </dgm:t>
    </dgm:pt>
    <dgm:pt modelId="{5928C337-60D7-41AA-9F0F-E6F18596736A}" type="pres">
      <dgm:prSet presAssocID="{FC6D2CCF-93F7-4A3C-973E-05A34C5F436E}" presName="sibTrans" presStyleLbl="sibTrans2D1" presStyleIdx="0" presStyleCnt="1"/>
      <dgm:spPr/>
    </dgm:pt>
    <dgm:pt modelId="{BE51A4AC-DF75-4C74-9B67-DD4D3F02241B}" type="pres">
      <dgm:prSet presAssocID="{FC6D2CCF-93F7-4A3C-973E-05A34C5F436E}" presName="connectorText" presStyleLbl="sibTrans2D1" presStyleIdx="0" presStyleCnt="1"/>
      <dgm:spPr/>
    </dgm:pt>
    <dgm:pt modelId="{37952F07-DF63-4C53-87CA-4B271FBAACFE}" type="pres">
      <dgm:prSet presAssocID="{7B093781-0907-479B-AF48-D445B2727AA5}" presName="node" presStyleLbl="node1" presStyleIdx="1" presStyleCnt="2">
        <dgm:presLayoutVars>
          <dgm:bulletEnabled val="1"/>
        </dgm:presLayoutVars>
      </dgm:prSet>
      <dgm:spPr/>
      <dgm:t>
        <a:bodyPr/>
        <a:lstStyle/>
        <a:p>
          <a:endParaRPr lang="zh-CN" altLang="en-US"/>
        </a:p>
      </dgm:t>
    </dgm:pt>
  </dgm:ptLst>
  <dgm:cxnLst>
    <dgm:cxn modelId="{266C455F-52C8-4F33-B919-5AB325D8C6B1}" srcId="{21242E38-3209-4F1D-8C5D-FB52C80F77E8}" destId="{85C8FA72-6A55-4A3F-96B2-E5BC0861DC9F}" srcOrd="0" destOrd="0" parTransId="{93D53E5A-62EE-4E49-AAD8-81206725B137}" sibTransId="{FC6D2CCF-93F7-4A3C-973E-05A34C5F436E}"/>
    <dgm:cxn modelId="{8D7E5742-44A8-442D-BDC7-2DAC94A0D303}" type="presOf" srcId="{21242E38-3209-4F1D-8C5D-FB52C80F77E8}" destId="{0DCFEBFD-C927-43CC-BD1C-A8316A6611AB}" srcOrd="0" destOrd="0" presId="urn:microsoft.com/office/officeart/2005/8/layout/process1"/>
    <dgm:cxn modelId="{2BA8E80F-8E33-4654-AC68-023E9F86DE9A}" type="presOf" srcId="{85C8FA72-6A55-4A3F-96B2-E5BC0861DC9F}" destId="{A5696C20-C33B-46A0-928E-B3B268C5A568}" srcOrd="0" destOrd="0" presId="urn:microsoft.com/office/officeart/2005/8/layout/process1"/>
    <dgm:cxn modelId="{CEB0225D-8706-40FD-BD2A-2EB017238476}" type="presOf" srcId="{FC6D2CCF-93F7-4A3C-973E-05A34C5F436E}" destId="{5928C337-60D7-41AA-9F0F-E6F18596736A}" srcOrd="0" destOrd="0" presId="urn:microsoft.com/office/officeart/2005/8/layout/process1"/>
    <dgm:cxn modelId="{4D51B74B-2E6F-4EA8-8484-F8FAA08B1DAD}" srcId="{21242E38-3209-4F1D-8C5D-FB52C80F77E8}" destId="{7B093781-0907-479B-AF48-D445B2727AA5}" srcOrd="1" destOrd="0" parTransId="{740CE175-BF51-40CA-A5EA-1EE9020546F7}" sibTransId="{E38EB9D7-AE51-4EAB-B896-3B6C6603896B}"/>
    <dgm:cxn modelId="{53BE3E67-52C1-40CA-AE9D-C14B31C48EF9}" type="presOf" srcId="{7B093781-0907-479B-AF48-D445B2727AA5}" destId="{37952F07-DF63-4C53-87CA-4B271FBAACFE}" srcOrd="0" destOrd="0" presId="urn:microsoft.com/office/officeart/2005/8/layout/process1"/>
    <dgm:cxn modelId="{311C8FC6-8F39-43B8-A2D2-5DF202C511C1}" type="presOf" srcId="{FC6D2CCF-93F7-4A3C-973E-05A34C5F436E}" destId="{BE51A4AC-DF75-4C74-9B67-DD4D3F02241B}" srcOrd="1" destOrd="0" presId="urn:microsoft.com/office/officeart/2005/8/layout/process1"/>
    <dgm:cxn modelId="{4A83CEDB-841E-4CD9-BBE2-AF98E22B06AB}" type="presParOf" srcId="{0DCFEBFD-C927-43CC-BD1C-A8316A6611AB}" destId="{A5696C20-C33B-46A0-928E-B3B268C5A568}" srcOrd="0" destOrd="0" presId="urn:microsoft.com/office/officeart/2005/8/layout/process1"/>
    <dgm:cxn modelId="{B4CBDAA5-CCDA-4909-B412-25103F7E712B}" type="presParOf" srcId="{0DCFEBFD-C927-43CC-BD1C-A8316A6611AB}" destId="{5928C337-60D7-41AA-9F0F-E6F18596736A}" srcOrd="1" destOrd="0" presId="urn:microsoft.com/office/officeart/2005/8/layout/process1"/>
    <dgm:cxn modelId="{0CA2142E-AC06-4DD1-8A74-8ABB782BC7FB}" type="presParOf" srcId="{5928C337-60D7-41AA-9F0F-E6F18596736A}" destId="{BE51A4AC-DF75-4C74-9B67-DD4D3F02241B}" srcOrd="0" destOrd="0" presId="urn:microsoft.com/office/officeart/2005/8/layout/process1"/>
    <dgm:cxn modelId="{0FA9B5A9-9EF0-4954-B1CE-5ACDB1199257}" type="presParOf" srcId="{0DCFEBFD-C927-43CC-BD1C-A8316A6611AB}" destId="{37952F07-DF63-4C53-87CA-4B271FBAACFE}" srcOrd="2" destOrd="0" presId="urn:microsoft.com/office/officeart/2005/8/layout/process1"/>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242E38-3209-4F1D-8C5D-FB52C80F77E8}" type="doc">
      <dgm:prSet loTypeId="urn:microsoft.com/office/officeart/2005/8/layout/process1" loCatId="process" qsTypeId="urn:microsoft.com/office/officeart/2005/8/quickstyle/simple1" qsCatId="simple" csTypeId="urn:microsoft.com/office/officeart/2005/8/colors/accent1_2" csCatId="accent1" phldr="1"/>
      <dgm:spPr/>
    </dgm:pt>
    <dgm:pt modelId="{85C8FA72-6A55-4A3F-96B2-E5BC0861DC9F}">
      <dgm:prSet phldrT="[文本]" custT="1"/>
      <dgm:spPr/>
      <dgm:t>
        <a:bodyPr/>
        <a:lstStyle/>
        <a:p>
          <a:r>
            <a:rPr lang="zh-CN" altLang="en-US" sz="1300" dirty="0" smtClean="0"/>
            <a:t>电脑</a:t>
          </a:r>
          <a:r>
            <a:rPr lang="en-US" altLang="zh-CN" sz="1300" dirty="0" smtClean="0"/>
            <a:t>USB</a:t>
          </a:r>
          <a:endParaRPr lang="zh-CN" altLang="en-US" sz="1300" dirty="0"/>
        </a:p>
      </dgm:t>
    </dgm:pt>
    <dgm:pt modelId="{93D53E5A-62EE-4E49-AAD8-81206725B137}" type="parTrans" cxnId="{266C455F-52C8-4F33-B919-5AB325D8C6B1}">
      <dgm:prSet/>
      <dgm:spPr/>
      <dgm:t>
        <a:bodyPr/>
        <a:lstStyle/>
        <a:p>
          <a:endParaRPr lang="zh-CN" altLang="en-US" sz="1300"/>
        </a:p>
      </dgm:t>
    </dgm:pt>
    <dgm:pt modelId="{FC6D2CCF-93F7-4A3C-973E-05A34C5F436E}" type="sibTrans" cxnId="{266C455F-52C8-4F33-B919-5AB325D8C6B1}">
      <dgm:prSet custT="1"/>
      <dgm:spPr/>
      <dgm:t>
        <a:bodyPr/>
        <a:lstStyle/>
        <a:p>
          <a:endParaRPr lang="zh-CN" altLang="en-US" sz="1300"/>
        </a:p>
      </dgm:t>
    </dgm:pt>
    <dgm:pt modelId="{7B093781-0907-479B-AF48-D445B2727AA5}">
      <dgm:prSet phldrT="[文本]" custT="1"/>
      <dgm:spPr/>
      <dgm:t>
        <a:bodyPr/>
        <a:lstStyle/>
        <a:p>
          <a:r>
            <a:rPr lang="en-US" altLang="zh-CN" sz="1300" dirty="0" smtClean="0"/>
            <a:t>MI-7004-USB</a:t>
          </a:r>
          <a:endParaRPr lang="zh-CN" altLang="en-US" sz="1300" dirty="0"/>
        </a:p>
      </dgm:t>
    </dgm:pt>
    <dgm:pt modelId="{740CE175-BF51-40CA-A5EA-1EE9020546F7}" type="parTrans" cxnId="{4D51B74B-2E6F-4EA8-8484-F8FAA08B1DAD}">
      <dgm:prSet/>
      <dgm:spPr/>
      <dgm:t>
        <a:bodyPr/>
        <a:lstStyle/>
        <a:p>
          <a:endParaRPr lang="zh-CN" altLang="en-US" sz="1300"/>
        </a:p>
      </dgm:t>
    </dgm:pt>
    <dgm:pt modelId="{E38EB9D7-AE51-4EAB-B896-3B6C6603896B}" type="sibTrans" cxnId="{4D51B74B-2E6F-4EA8-8484-F8FAA08B1DAD}">
      <dgm:prSet/>
      <dgm:spPr/>
      <dgm:t>
        <a:bodyPr/>
        <a:lstStyle/>
        <a:p>
          <a:endParaRPr lang="zh-CN" altLang="en-US" sz="1300"/>
        </a:p>
      </dgm:t>
    </dgm:pt>
    <dgm:pt modelId="{0DCFEBFD-C927-43CC-BD1C-A8316A6611AB}" type="pres">
      <dgm:prSet presAssocID="{21242E38-3209-4F1D-8C5D-FB52C80F77E8}" presName="Name0" presStyleCnt="0">
        <dgm:presLayoutVars>
          <dgm:dir/>
          <dgm:resizeHandles val="exact"/>
        </dgm:presLayoutVars>
      </dgm:prSet>
      <dgm:spPr/>
    </dgm:pt>
    <dgm:pt modelId="{A5696C20-C33B-46A0-928E-B3B268C5A568}" type="pres">
      <dgm:prSet presAssocID="{85C8FA72-6A55-4A3F-96B2-E5BC0861DC9F}" presName="node" presStyleLbl="node1" presStyleIdx="0" presStyleCnt="2">
        <dgm:presLayoutVars>
          <dgm:bulletEnabled val="1"/>
        </dgm:presLayoutVars>
      </dgm:prSet>
      <dgm:spPr/>
      <dgm:t>
        <a:bodyPr/>
        <a:lstStyle/>
        <a:p>
          <a:endParaRPr lang="zh-CN" altLang="en-US"/>
        </a:p>
      </dgm:t>
    </dgm:pt>
    <dgm:pt modelId="{5928C337-60D7-41AA-9F0F-E6F18596736A}" type="pres">
      <dgm:prSet presAssocID="{FC6D2CCF-93F7-4A3C-973E-05A34C5F436E}" presName="sibTrans" presStyleLbl="sibTrans2D1" presStyleIdx="0" presStyleCnt="1"/>
      <dgm:spPr/>
    </dgm:pt>
    <dgm:pt modelId="{BE51A4AC-DF75-4C74-9B67-DD4D3F02241B}" type="pres">
      <dgm:prSet presAssocID="{FC6D2CCF-93F7-4A3C-973E-05A34C5F436E}" presName="connectorText" presStyleLbl="sibTrans2D1" presStyleIdx="0" presStyleCnt="1"/>
      <dgm:spPr/>
    </dgm:pt>
    <dgm:pt modelId="{37952F07-DF63-4C53-87CA-4B271FBAACFE}" type="pres">
      <dgm:prSet presAssocID="{7B093781-0907-479B-AF48-D445B2727AA5}" presName="node" presStyleLbl="node1" presStyleIdx="1" presStyleCnt="2">
        <dgm:presLayoutVars>
          <dgm:bulletEnabled val="1"/>
        </dgm:presLayoutVars>
      </dgm:prSet>
      <dgm:spPr/>
      <dgm:t>
        <a:bodyPr/>
        <a:lstStyle/>
        <a:p>
          <a:endParaRPr lang="zh-CN" altLang="en-US"/>
        </a:p>
      </dgm:t>
    </dgm:pt>
  </dgm:ptLst>
  <dgm:cxnLst>
    <dgm:cxn modelId="{2BA8E80F-8E33-4654-AC68-023E9F86DE9A}" type="presOf" srcId="{85C8FA72-6A55-4A3F-96B2-E5BC0861DC9F}" destId="{A5696C20-C33B-46A0-928E-B3B268C5A568}" srcOrd="0" destOrd="0" presId="urn:microsoft.com/office/officeart/2005/8/layout/process1"/>
    <dgm:cxn modelId="{311C8FC6-8F39-43B8-A2D2-5DF202C511C1}" type="presOf" srcId="{FC6D2CCF-93F7-4A3C-973E-05A34C5F436E}" destId="{BE51A4AC-DF75-4C74-9B67-DD4D3F02241B}" srcOrd="1" destOrd="0" presId="urn:microsoft.com/office/officeart/2005/8/layout/process1"/>
    <dgm:cxn modelId="{8D7E5742-44A8-442D-BDC7-2DAC94A0D303}" type="presOf" srcId="{21242E38-3209-4F1D-8C5D-FB52C80F77E8}" destId="{0DCFEBFD-C927-43CC-BD1C-A8316A6611AB}" srcOrd="0" destOrd="0" presId="urn:microsoft.com/office/officeart/2005/8/layout/process1"/>
    <dgm:cxn modelId="{CEB0225D-8706-40FD-BD2A-2EB017238476}" type="presOf" srcId="{FC6D2CCF-93F7-4A3C-973E-05A34C5F436E}" destId="{5928C337-60D7-41AA-9F0F-E6F18596736A}" srcOrd="0" destOrd="0" presId="urn:microsoft.com/office/officeart/2005/8/layout/process1"/>
    <dgm:cxn modelId="{266C455F-52C8-4F33-B919-5AB325D8C6B1}" srcId="{21242E38-3209-4F1D-8C5D-FB52C80F77E8}" destId="{85C8FA72-6A55-4A3F-96B2-E5BC0861DC9F}" srcOrd="0" destOrd="0" parTransId="{93D53E5A-62EE-4E49-AAD8-81206725B137}" sibTransId="{FC6D2CCF-93F7-4A3C-973E-05A34C5F436E}"/>
    <dgm:cxn modelId="{53BE3E67-52C1-40CA-AE9D-C14B31C48EF9}" type="presOf" srcId="{7B093781-0907-479B-AF48-D445B2727AA5}" destId="{37952F07-DF63-4C53-87CA-4B271FBAACFE}" srcOrd="0" destOrd="0" presId="urn:microsoft.com/office/officeart/2005/8/layout/process1"/>
    <dgm:cxn modelId="{4D51B74B-2E6F-4EA8-8484-F8FAA08B1DAD}" srcId="{21242E38-3209-4F1D-8C5D-FB52C80F77E8}" destId="{7B093781-0907-479B-AF48-D445B2727AA5}" srcOrd="1" destOrd="0" parTransId="{740CE175-BF51-40CA-A5EA-1EE9020546F7}" sibTransId="{E38EB9D7-AE51-4EAB-B896-3B6C6603896B}"/>
    <dgm:cxn modelId="{4A83CEDB-841E-4CD9-BBE2-AF98E22B06AB}" type="presParOf" srcId="{0DCFEBFD-C927-43CC-BD1C-A8316A6611AB}" destId="{A5696C20-C33B-46A0-928E-B3B268C5A568}" srcOrd="0" destOrd="0" presId="urn:microsoft.com/office/officeart/2005/8/layout/process1"/>
    <dgm:cxn modelId="{B4CBDAA5-CCDA-4909-B412-25103F7E712B}" type="presParOf" srcId="{0DCFEBFD-C927-43CC-BD1C-A8316A6611AB}" destId="{5928C337-60D7-41AA-9F0F-E6F18596736A}" srcOrd="1" destOrd="0" presId="urn:microsoft.com/office/officeart/2005/8/layout/process1"/>
    <dgm:cxn modelId="{0CA2142E-AC06-4DD1-8A74-8ABB782BC7FB}" type="presParOf" srcId="{5928C337-60D7-41AA-9F0F-E6F18596736A}" destId="{BE51A4AC-DF75-4C74-9B67-DD4D3F02241B}" srcOrd="0" destOrd="0" presId="urn:microsoft.com/office/officeart/2005/8/layout/process1"/>
    <dgm:cxn modelId="{0FA9B5A9-9EF0-4954-B1CE-5ACDB1199257}" type="presParOf" srcId="{0DCFEBFD-C927-43CC-BD1C-A8316A6611AB}" destId="{37952F07-DF63-4C53-87CA-4B271FBAACFE}" srcOrd="2" destOrd="0" presId="urn:microsoft.com/office/officeart/2005/8/layout/process1"/>
  </dgm:cxnLst>
  <dgm:bg/>
  <dgm:whole/>
  <dgm:extLst>
    <a:ext uri="http://schemas.microsoft.com/office/drawing/2008/diagram">
      <dsp:dataModelExt xmlns:dsp="http://schemas.microsoft.com/office/drawing/2008/diagram" relId="rId2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96C20-C33B-46A0-928E-B3B268C5A568}">
      <dsp:nvSpPr>
        <dsp:cNvPr id="0" name=""/>
        <dsp:cNvSpPr/>
      </dsp:nvSpPr>
      <dsp:spPr>
        <a:xfrm>
          <a:off x="1903"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CN" altLang="en-US" sz="1300" kern="1200" dirty="0" smtClean="0"/>
            <a:t>电涡流位移传感器</a:t>
          </a:r>
          <a:endParaRPr lang="zh-CN" altLang="en-US" sz="1300" kern="1200" dirty="0"/>
        </a:p>
      </dsp:txBody>
      <dsp:txXfrm>
        <a:off x="17898" y="49710"/>
        <a:ext cx="800186" cy="514125"/>
      </dsp:txXfrm>
    </dsp:sp>
    <dsp:sp modelId="{5928C337-60D7-41AA-9F0F-E6F18596736A}">
      <dsp:nvSpPr>
        <dsp:cNvPr id="0" name=""/>
        <dsp:cNvSpPr/>
      </dsp:nvSpPr>
      <dsp:spPr>
        <a:xfrm>
          <a:off x="917297" y="203583"/>
          <a:ext cx="176421" cy="2063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917297" y="244859"/>
        <a:ext cx="123495" cy="123827"/>
      </dsp:txXfrm>
    </dsp:sp>
    <dsp:sp modelId="{37952F07-DF63-4C53-87CA-4B271FBAACFE}">
      <dsp:nvSpPr>
        <dsp:cNvPr id="0" name=""/>
        <dsp:cNvSpPr/>
      </dsp:nvSpPr>
      <dsp:spPr>
        <a:xfrm>
          <a:off x="1166950"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MI-2100</a:t>
          </a:r>
          <a:r>
            <a:rPr lang="zh-CN" altLang="en-US" sz="1300" kern="1200" dirty="0" smtClean="0"/>
            <a:t>正面</a:t>
          </a:r>
          <a:r>
            <a:rPr lang="en-US" altLang="zh-CN" sz="1300" kern="1200" dirty="0" smtClean="0"/>
            <a:t>-1</a:t>
          </a:r>
          <a:endParaRPr lang="zh-CN" altLang="en-US" sz="1300" kern="1200" dirty="0"/>
        </a:p>
      </dsp:txBody>
      <dsp:txXfrm>
        <a:off x="1182945" y="49710"/>
        <a:ext cx="800186" cy="514125"/>
      </dsp:txXfrm>
    </dsp:sp>
    <dsp:sp modelId="{8C710793-D131-4A91-9442-EAF24FDBDF4B}">
      <dsp:nvSpPr>
        <dsp:cNvPr id="0" name=""/>
        <dsp:cNvSpPr/>
      </dsp:nvSpPr>
      <dsp:spPr>
        <a:xfrm>
          <a:off x="2082343" y="203583"/>
          <a:ext cx="176421" cy="2063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2082343" y="244859"/>
        <a:ext cx="123495" cy="123827"/>
      </dsp:txXfrm>
    </dsp:sp>
    <dsp:sp modelId="{2B2DBBC1-F2DA-4D0C-B1F0-0548F748E5EA}">
      <dsp:nvSpPr>
        <dsp:cNvPr id="0" name=""/>
        <dsp:cNvSpPr/>
      </dsp:nvSpPr>
      <dsp:spPr>
        <a:xfrm>
          <a:off x="2331996"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MI-2100</a:t>
          </a:r>
          <a:r>
            <a:rPr lang="zh-CN" altLang="en-US" sz="1300" kern="1200" dirty="0" smtClean="0"/>
            <a:t>背面</a:t>
          </a:r>
          <a:r>
            <a:rPr lang="en-US" altLang="zh-CN" sz="1300" kern="1200" dirty="0" smtClean="0"/>
            <a:t>-1</a:t>
          </a:r>
          <a:endParaRPr lang="zh-CN" altLang="en-US" sz="1300" kern="1200" dirty="0"/>
        </a:p>
      </dsp:txBody>
      <dsp:txXfrm>
        <a:off x="2347991" y="49710"/>
        <a:ext cx="800186" cy="514125"/>
      </dsp:txXfrm>
    </dsp:sp>
    <dsp:sp modelId="{F08D59E0-9BD6-46FB-9A33-91FB265A212C}">
      <dsp:nvSpPr>
        <dsp:cNvPr id="0" name=""/>
        <dsp:cNvSpPr/>
      </dsp:nvSpPr>
      <dsp:spPr>
        <a:xfrm>
          <a:off x="3247390" y="203583"/>
          <a:ext cx="176421" cy="2063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311150">
            <a:lnSpc>
              <a:spcPct val="90000"/>
            </a:lnSpc>
            <a:spcBef>
              <a:spcPct val="0"/>
            </a:spcBef>
            <a:spcAft>
              <a:spcPct val="35000"/>
            </a:spcAft>
          </a:pPr>
          <a:endParaRPr lang="zh-CN" altLang="en-US" sz="700" kern="1200"/>
        </a:p>
      </dsp:txBody>
      <dsp:txXfrm>
        <a:off x="3247390" y="244859"/>
        <a:ext cx="123495" cy="123827"/>
      </dsp:txXfrm>
    </dsp:sp>
    <dsp:sp modelId="{4EA1626A-DC99-4AB8-A677-220C01F335FF}">
      <dsp:nvSpPr>
        <dsp:cNvPr id="0" name=""/>
        <dsp:cNvSpPr/>
      </dsp:nvSpPr>
      <dsp:spPr>
        <a:xfrm>
          <a:off x="3497043"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MI-7004-INPUT1</a:t>
          </a:r>
          <a:endParaRPr lang="zh-CN" altLang="en-US" sz="1300" kern="1200" dirty="0"/>
        </a:p>
      </dsp:txBody>
      <dsp:txXfrm>
        <a:off x="3513038" y="49710"/>
        <a:ext cx="800186" cy="51412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96C20-C33B-46A0-928E-B3B268C5A568}">
      <dsp:nvSpPr>
        <dsp:cNvPr id="0" name=""/>
        <dsp:cNvSpPr/>
      </dsp:nvSpPr>
      <dsp:spPr>
        <a:xfrm>
          <a:off x="1903"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CN" altLang="en-US" sz="1300" kern="1200" dirty="0" smtClean="0"/>
            <a:t>光电转速传感器</a:t>
          </a:r>
          <a:endParaRPr lang="zh-CN" altLang="en-US" sz="1300" kern="1200" dirty="0"/>
        </a:p>
      </dsp:txBody>
      <dsp:txXfrm>
        <a:off x="17898" y="49710"/>
        <a:ext cx="800186" cy="514125"/>
      </dsp:txXfrm>
    </dsp:sp>
    <dsp:sp modelId="{5928C337-60D7-41AA-9F0F-E6F18596736A}">
      <dsp:nvSpPr>
        <dsp:cNvPr id="0" name=""/>
        <dsp:cNvSpPr/>
      </dsp:nvSpPr>
      <dsp:spPr>
        <a:xfrm>
          <a:off x="917297" y="203583"/>
          <a:ext cx="176421" cy="2063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917297" y="244859"/>
        <a:ext cx="123495" cy="123827"/>
      </dsp:txXfrm>
    </dsp:sp>
    <dsp:sp modelId="{37952F07-DF63-4C53-87CA-4B271FBAACFE}">
      <dsp:nvSpPr>
        <dsp:cNvPr id="0" name=""/>
        <dsp:cNvSpPr/>
      </dsp:nvSpPr>
      <dsp:spPr>
        <a:xfrm>
          <a:off x="1166950"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MI-2100</a:t>
          </a:r>
          <a:r>
            <a:rPr lang="zh-CN" altLang="en-US" sz="1300" kern="1200" dirty="0" smtClean="0"/>
            <a:t>正面</a:t>
          </a:r>
          <a:r>
            <a:rPr lang="en-US" altLang="zh-CN" sz="1300" kern="1200" dirty="0" smtClean="0"/>
            <a:t>-2</a:t>
          </a:r>
          <a:endParaRPr lang="zh-CN" altLang="en-US" sz="1300" kern="1200" dirty="0"/>
        </a:p>
      </dsp:txBody>
      <dsp:txXfrm>
        <a:off x="1182945" y="49710"/>
        <a:ext cx="800186" cy="514125"/>
      </dsp:txXfrm>
    </dsp:sp>
    <dsp:sp modelId="{8C710793-D131-4A91-9442-EAF24FDBDF4B}">
      <dsp:nvSpPr>
        <dsp:cNvPr id="0" name=""/>
        <dsp:cNvSpPr/>
      </dsp:nvSpPr>
      <dsp:spPr>
        <a:xfrm>
          <a:off x="2082343" y="203583"/>
          <a:ext cx="176421" cy="2063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2082343" y="244859"/>
        <a:ext cx="123495" cy="123827"/>
      </dsp:txXfrm>
    </dsp:sp>
    <dsp:sp modelId="{2B2DBBC1-F2DA-4D0C-B1F0-0548F748E5EA}">
      <dsp:nvSpPr>
        <dsp:cNvPr id="0" name=""/>
        <dsp:cNvSpPr/>
      </dsp:nvSpPr>
      <dsp:spPr>
        <a:xfrm>
          <a:off x="2331996"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MI-2100</a:t>
          </a:r>
          <a:r>
            <a:rPr lang="zh-CN" altLang="en-US" sz="1300" kern="1200" dirty="0" smtClean="0"/>
            <a:t>背面</a:t>
          </a:r>
          <a:r>
            <a:rPr lang="en-US" altLang="zh-CN" sz="1300" kern="1200" dirty="0" smtClean="0"/>
            <a:t>-2</a:t>
          </a:r>
          <a:endParaRPr lang="zh-CN" altLang="en-US" sz="1300" kern="1200" dirty="0"/>
        </a:p>
      </dsp:txBody>
      <dsp:txXfrm>
        <a:off x="2347991" y="49710"/>
        <a:ext cx="800186" cy="514125"/>
      </dsp:txXfrm>
    </dsp:sp>
    <dsp:sp modelId="{F08D59E0-9BD6-46FB-9A33-91FB265A212C}">
      <dsp:nvSpPr>
        <dsp:cNvPr id="0" name=""/>
        <dsp:cNvSpPr/>
      </dsp:nvSpPr>
      <dsp:spPr>
        <a:xfrm>
          <a:off x="3247390" y="203583"/>
          <a:ext cx="176421" cy="206379"/>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488950">
            <a:lnSpc>
              <a:spcPct val="90000"/>
            </a:lnSpc>
            <a:spcBef>
              <a:spcPct val="0"/>
            </a:spcBef>
            <a:spcAft>
              <a:spcPct val="35000"/>
            </a:spcAft>
          </a:pPr>
          <a:endParaRPr lang="zh-CN" altLang="en-US" sz="1100" kern="1200"/>
        </a:p>
      </dsp:txBody>
      <dsp:txXfrm>
        <a:off x="3247390" y="244859"/>
        <a:ext cx="123495" cy="123827"/>
      </dsp:txXfrm>
    </dsp:sp>
    <dsp:sp modelId="{4EA1626A-DC99-4AB8-A677-220C01F335FF}">
      <dsp:nvSpPr>
        <dsp:cNvPr id="0" name=""/>
        <dsp:cNvSpPr/>
      </dsp:nvSpPr>
      <dsp:spPr>
        <a:xfrm>
          <a:off x="3497043" y="33715"/>
          <a:ext cx="832176" cy="54611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MI-7004-INPUT2</a:t>
          </a:r>
          <a:endParaRPr lang="zh-CN" altLang="en-US" sz="1300" kern="1200" dirty="0"/>
        </a:p>
      </dsp:txBody>
      <dsp:txXfrm>
        <a:off x="3513038" y="49710"/>
        <a:ext cx="800186" cy="51412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96C20-C33B-46A0-928E-B3B268C5A568}">
      <dsp:nvSpPr>
        <dsp:cNvPr id="0" name=""/>
        <dsp:cNvSpPr/>
      </dsp:nvSpPr>
      <dsp:spPr>
        <a:xfrm>
          <a:off x="2959" y="0"/>
          <a:ext cx="1802167" cy="3182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CN" altLang="en-US" sz="1300" kern="1200" dirty="0" smtClean="0"/>
            <a:t>加速度传感器</a:t>
          </a:r>
          <a:endParaRPr lang="zh-CN" altLang="en-US" sz="1300" kern="1200" dirty="0"/>
        </a:p>
      </dsp:txBody>
      <dsp:txXfrm>
        <a:off x="12282" y="9323"/>
        <a:ext cx="1783521" cy="299650"/>
      </dsp:txXfrm>
    </dsp:sp>
    <dsp:sp modelId="{5928C337-60D7-41AA-9F0F-E6F18596736A}">
      <dsp:nvSpPr>
        <dsp:cNvPr id="0" name=""/>
        <dsp:cNvSpPr/>
      </dsp:nvSpPr>
      <dsp:spPr>
        <a:xfrm>
          <a:off x="1985344" y="0"/>
          <a:ext cx="382059" cy="31829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985344" y="63659"/>
        <a:ext cx="286570" cy="190978"/>
      </dsp:txXfrm>
    </dsp:sp>
    <dsp:sp modelId="{37952F07-DF63-4C53-87CA-4B271FBAACFE}">
      <dsp:nvSpPr>
        <dsp:cNvPr id="0" name=""/>
        <dsp:cNvSpPr/>
      </dsp:nvSpPr>
      <dsp:spPr>
        <a:xfrm>
          <a:off x="2525995" y="0"/>
          <a:ext cx="1802167" cy="3182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MI-7004-INPUT3</a:t>
          </a:r>
          <a:endParaRPr lang="zh-CN" altLang="en-US" sz="1300" kern="1200" dirty="0"/>
        </a:p>
      </dsp:txBody>
      <dsp:txXfrm>
        <a:off x="2535318" y="9323"/>
        <a:ext cx="1783521" cy="2996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696C20-C33B-46A0-928E-B3B268C5A568}">
      <dsp:nvSpPr>
        <dsp:cNvPr id="0" name=""/>
        <dsp:cNvSpPr/>
      </dsp:nvSpPr>
      <dsp:spPr>
        <a:xfrm>
          <a:off x="845" y="0"/>
          <a:ext cx="1803929" cy="3561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zh-CN" altLang="en-US" sz="1300" kern="1200" dirty="0" smtClean="0"/>
            <a:t>电脑</a:t>
          </a:r>
          <a:r>
            <a:rPr lang="en-US" altLang="zh-CN" sz="1300" kern="1200" dirty="0" smtClean="0"/>
            <a:t>USB</a:t>
          </a:r>
          <a:endParaRPr lang="zh-CN" altLang="en-US" sz="1300" kern="1200" dirty="0"/>
        </a:p>
      </dsp:txBody>
      <dsp:txXfrm>
        <a:off x="11277" y="10432"/>
        <a:ext cx="1783065" cy="335319"/>
      </dsp:txXfrm>
    </dsp:sp>
    <dsp:sp modelId="{5928C337-60D7-41AA-9F0F-E6F18596736A}">
      <dsp:nvSpPr>
        <dsp:cNvPr id="0" name=""/>
        <dsp:cNvSpPr/>
      </dsp:nvSpPr>
      <dsp:spPr>
        <a:xfrm>
          <a:off x="1985168" y="0"/>
          <a:ext cx="382433" cy="356183"/>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lvl="0" algn="ctr" defTabSz="577850">
            <a:lnSpc>
              <a:spcPct val="90000"/>
            </a:lnSpc>
            <a:spcBef>
              <a:spcPct val="0"/>
            </a:spcBef>
            <a:spcAft>
              <a:spcPct val="35000"/>
            </a:spcAft>
          </a:pPr>
          <a:endParaRPr lang="zh-CN" altLang="en-US" sz="1300" kern="1200"/>
        </a:p>
      </dsp:txBody>
      <dsp:txXfrm>
        <a:off x="1985168" y="71237"/>
        <a:ext cx="275578" cy="213709"/>
      </dsp:txXfrm>
    </dsp:sp>
    <dsp:sp modelId="{37952F07-DF63-4C53-87CA-4B271FBAACFE}">
      <dsp:nvSpPr>
        <dsp:cNvPr id="0" name=""/>
        <dsp:cNvSpPr/>
      </dsp:nvSpPr>
      <dsp:spPr>
        <a:xfrm>
          <a:off x="2526347" y="0"/>
          <a:ext cx="1803929" cy="356183"/>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9530" tIns="49530" rIns="49530" bIns="49530" numCol="1" spcCol="1270" anchor="ctr" anchorCtr="0">
          <a:noAutofit/>
        </a:bodyPr>
        <a:lstStyle/>
        <a:p>
          <a:pPr lvl="0" algn="ctr" defTabSz="577850">
            <a:lnSpc>
              <a:spcPct val="90000"/>
            </a:lnSpc>
            <a:spcBef>
              <a:spcPct val="0"/>
            </a:spcBef>
            <a:spcAft>
              <a:spcPct val="35000"/>
            </a:spcAft>
          </a:pPr>
          <a:r>
            <a:rPr lang="en-US" altLang="zh-CN" sz="1300" kern="1200" dirty="0" smtClean="0"/>
            <a:t>MI-7004-USB</a:t>
          </a:r>
          <a:endParaRPr lang="zh-CN" altLang="en-US" sz="1300" kern="1200" dirty="0"/>
        </a:p>
      </dsp:txBody>
      <dsp:txXfrm>
        <a:off x="2536779" y="10432"/>
        <a:ext cx="1783065" cy="33531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90631F-BE1D-4726-8421-2986B27F0A2C}" type="datetimeFigureOut">
              <a:rPr lang="zh-CN" altLang="en-US" smtClean="0"/>
              <a:t>2025/12/6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D517A7-1C52-4672-99BC-92F3849C8C0A}" type="slidenum">
              <a:rPr lang="zh-CN" altLang="en-US" smtClean="0"/>
              <a:t>‹#›</a:t>
            </a:fld>
            <a:endParaRPr lang="zh-CN" altLang="en-US"/>
          </a:p>
        </p:txBody>
      </p:sp>
    </p:spTree>
    <p:extLst>
      <p:ext uri="{BB962C8B-B14F-4D97-AF65-F5344CB8AC3E}">
        <p14:creationId xmlns:p14="http://schemas.microsoft.com/office/powerpoint/2010/main" val="31806457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7D517A7-1C52-4672-99BC-92F3849C8C0A}" type="slidenum">
              <a:rPr lang="zh-CN" altLang="en-US" smtClean="0"/>
              <a:t>7</a:t>
            </a:fld>
            <a:endParaRPr lang="zh-CN" altLang="en-US"/>
          </a:p>
        </p:txBody>
      </p:sp>
    </p:spTree>
    <p:extLst>
      <p:ext uri="{BB962C8B-B14F-4D97-AF65-F5344CB8AC3E}">
        <p14:creationId xmlns:p14="http://schemas.microsoft.com/office/powerpoint/2010/main" val="109808723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7D517A7-1C52-4672-99BC-92F3849C8C0A}" type="slidenum">
              <a:rPr lang="zh-CN" altLang="en-US" smtClean="0"/>
              <a:t>9</a:t>
            </a:fld>
            <a:endParaRPr lang="zh-CN" altLang="en-US"/>
          </a:p>
        </p:txBody>
      </p:sp>
    </p:spTree>
    <p:extLst>
      <p:ext uri="{BB962C8B-B14F-4D97-AF65-F5344CB8AC3E}">
        <p14:creationId xmlns:p14="http://schemas.microsoft.com/office/powerpoint/2010/main" val="23659617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7D517A7-1C52-4672-99BC-92F3849C8C0A}" type="slidenum">
              <a:rPr lang="zh-CN" altLang="en-US" smtClean="0"/>
              <a:t>10</a:t>
            </a:fld>
            <a:endParaRPr lang="zh-CN" altLang="en-US"/>
          </a:p>
        </p:txBody>
      </p:sp>
    </p:spTree>
    <p:extLst>
      <p:ext uri="{BB962C8B-B14F-4D97-AF65-F5344CB8AC3E}">
        <p14:creationId xmlns:p14="http://schemas.microsoft.com/office/powerpoint/2010/main" val="26412299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7D517A7-1C52-4672-99BC-92F3849C8C0A}" type="slidenum">
              <a:rPr lang="zh-CN" altLang="en-US" smtClean="0"/>
              <a:t>11</a:t>
            </a:fld>
            <a:endParaRPr lang="zh-CN" altLang="en-US"/>
          </a:p>
        </p:txBody>
      </p:sp>
    </p:spTree>
    <p:extLst>
      <p:ext uri="{BB962C8B-B14F-4D97-AF65-F5344CB8AC3E}">
        <p14:creationId xmlns:p14="http://schemas.microsoft.com/office/powerpoint/2010/main" val="32127792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E7D517A7-1C52-4672-99BC-92F3849C8C0A}" type="slidenum">
              <a:rPr lang="zh-CN" altLang="en-US" smtClean="0"/>
              <a:t>14</a:t>
            </a:fld>
            <a:endParaRPr lang="zh-CN" altLang="en-US"/>
          </a:p>
        </p:txBody>
      </p:sp>
    </p:spTree>
    <p:extLst>
      <p:ext uri="{BB962C8B-B14F-4D97-AF65-F5344CB8AC3E}">
        <p14:creationId xmlns:p14="http://schemas.microsoft.com/office/powerpoint/2010/main" val="1885753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15148369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193914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20709285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3730584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2580825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3266321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2052320710"/>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193806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326852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2180274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E433AA18-24DB-485E-8E6F-83ABEA7C7B21}" type="datetimeFigureOut">
              <a:rPr lang="zh-CN" altLang="en-US" smtClean="0"/>
              <a:t>2025/12/6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4132150781"/>
      </p:ext>
    </p:extLst>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cxnSp>
        <p:nvCxnSpPr>
          <p:cNvPr id="6" name="直接连接符 5"/>
          <p:cNvCxnSpPr/>
          <p:nvPr userDrawn="1"/>
        </p:nvCxnSpPr>
        <p:spPr>
          <a:xfrm flipV="1">
            <a:off x="0" y="865280"/>
            <a:ext cx="12192000" cy="26504"/>
          </a:xfrm>
          <a:prstGeom prst="line">
            <a:avLst/>
          </a:prstGeom>
          <a:ln w="57150">
            <a:gradFill>
              <a:gsLst>
                <a:gs pos="0">
                  <a:srgbClr val="7030A0"/>
                </a:gs>
                <a:gs pos="53000">
                  <a:srgbClr val="00B050"/>
                </a:gs>
                <a:gs pos="100000">
                  <a:srgbClr val="00B0F0"/>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4026464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33AA18-24DB-485E-8E6F-83ABEA7C7B21}" type="datetimeFigureOut">
              <a:rPr lang="zh-CN" altLang="en-US" smtClean="0"/>
              <a:t>2025/12/6</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93B24DB-4C9F-4AF2-8129-20E3A5DB1810}" type="slidenum">
              <a:rPr lang="zh-CN" altLang="en-US" smtClean="0"/>
              <a:t>‹#›</a:t>
            </a:fld>
            <a:endParaRPr lang="zh-CN" altLang="en-US"/>
          </a:p>
        </p:txBody>
      </p:sp>
    </p:spTree>
    <p:extLst>
      <p:ext uri="{BB962C8B-B14F-4D97-AF65-F5344CB8AC3E}">
        <p14:creationId xmlns:p14="http://schemas.microsoft.com/office/powerpoint/2010/main" val="32861003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gif"/><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18" Type="http://schemas.microsoft.com/office/2007/relationships/diagramDrawing" Target="../diagrams/drawing3.xml"/><Relationship Id="rId3" Type="http://schemas.openxmlformats.org/officeDocument/2006/relationships/image" Target="../media/image7.png"/><Relationship Id="rId21" Type="http://schemas.openxmlformats.org/officeDocument/2006/relationships/diagramQuickStyle" Target="../diagrams/quickStyle4.xml"/><Relationship Id="rId7" Type="http://schemas.openxmlformats.org/officeDocument/2006/relationships/diagramColors" Target="../diagrams/colors1.xml"/><Relationship Id="rId12" Type="http://schemas.openxmlformats.org/officeDocument/2006/relationships/diagramColors" Target="../diagrams/colors2.xml"/><Relationship Id="rId17" Type="http://schemas.openxmlformats.org/officeDocument/2006/relationships/diagramColors" Target="../diagrams/colors3.xml"/><Relationship Id="rId2" Type="http://schemas.openxmlformats.org/officeDocument/2006/relationships/notesSlide" Target="../notesSlides/notesSlide1.xml"/><Relationship Id="rId16" Type="http://schemas.openxmlformats.org/officeDocument/2006/relationships/diagramQuickStyle" Target="../diagrams/quickStyle3.xml"/><Relationship Id="rId20" Type="http://schemas.openxmlformats.org/officeDocument/2006/relationships/diagramLayout" Target="../diagrams/layout4.xml"/><Relationship Id="rId1" Type="http://schemas.openxmlformats.org/officeDocument/2006/relationships/slideLayout" Target="../slideLayouts/slideLayout12.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5" Type="http://schemas.openxmlformats.org/officeDocument/2006/relationships/diagramLayout" Target="../diagrams/layout3.xml"/><Relationship Id="rId23" Type="http://schemas.microsoft.com/office/2007/relationships/diagramDrawing" Target="../diagrams/drawing4.xml"/><Relationship Id="rId10" Type="http://schemas.openxmlformats.org/officeDocument/2006/relationships/diagramLayout" Target="../diagrams/layout2.xml"/><Relationship Id="rId19" Type="http://schemas.openxmlformats.org/officeDocument/2006/relationships/diagramData" Target="../diagrams/data4.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diagramData" Target="../diagrams/data3.xml"/><Relationship Id="rId22" Type="http://schemas.openxmlformats.org/officeDocument/2006/relationships/diagramColors" Target="../diagrams/colors4.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5" Type="http://schemas.openxmlformats.org/officeDocument/2006/relationships/image" Target="../media/image11.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5.jpe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2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618969" y="2402315"/>
            <a:ext cx="9554817" cy="1754326"/>
          </a:xfrm>
          <a:prstGeom prst="rect">
            <a:avLst/>
          </a:prstGeom>
          <a:noFill/>
        </p:spPr>
        <p:txBody>
          <a:bodyPr wrap="square" rtlCol="0">
            <a:spAutoFit/>
          </a:bodyPr>
          <a:lstStyle/>
          <a:p>
            <a:pPr algn="ctr"/>
            <a:r>
              <a:rPr lang="zh-CN" altLang="en-US" sz="3600" b="1" dirty="0" smtClean="0">
                <a:latin typeface="微软雅黑" panose="020B0503020204020204" pitchFamily="34" charset="-122"/>
                <a:ea typeface="微软雅黑" panose="020B0503020204020204" pitchFamily="34" charset="-122"/>
              </a:rPr>
              <a:t>实验一</a:t>
            </a:r>
            <a:endParaRPr lang="en-US" altLang="zh-CN" sz="3600" b="1" dirty="0" smtClean="0">
              <a:latin typeface="微软雅黑" panose="020B0503020204020204" pitchFamily="34" charset="-122"/>
              <a:ea typeface="微软雅黑" panose="020B0503020204020204" pitchFamily="34" charset="-122"/>
            </a:endParaRPr>
          </a:p>
          <a:p>
            <a:pPr algn="ctr"/>
            <a:endParaRPr lang="en-US" altLang="zh-CN" sz="3600" b="1" dirty="0" smtClean="0">
              <a:latin typeface="微软雅黑" panose="020B0503020204020204" pitchFamily="34" charset="-122"/>
              <a:ea typeface="微软雅黑" panose="020B0503020204020204" pitchFamily="34" charset="-122"/>
            </a:endParaRPr>
          </a:p>
          <a:p>
            <a:r>
              <a:rPr lang="zh-CN" altLang="en-US" sz="3600" b="1" dirty="0" smtClean="0">
                <a:latin typeface="微软雅黑" panose="020B0503020204020204" pitchFamily="34" charset="-122"/>
                <a:ea typeface="微软雅黑" panose="020B0503020204020204" pitchFamily="34" charset="-122"/>
              </a:rPr>
              <a:t>电机转子转速测试及悬臂梁共振现象分析实验</a:t>
            </a:r>
            <a:endParaRPr lang="zh-CN" altLang="en-US" sz="3600" b="1" dirty="0">
              <a:latin typeface="微软雅黑" panose="020B0503020204020204" pitchFamily="34" charset="-122"/>
              <a:ea typeface="微软雅黑" panose="020B0503020204020204" pitchFamily="34" charset="-122"/>
            </a:endParaRPr>
          </a:p>
        </p:txBody>
      </p:sp>
      <p:sp>
        <p:nvSpPr>
          <p:cNvPr id="3" name="文本框 2"/>
          <p:cNvSpPr txBox="1"/>
          <p:nvPr/>
        </p:nvSpPr>
        <p:spPr>
          <a:xfrm>
            <a:off x="5554035" y="4975630"/>
            <a:ext cx="1684684" cy="523220"/>
          </a:xfrm>
          <a:prstGeom prst="rect">
            <a:avLst/>
          </a:prstGeom>
          <a:noFill/>
        </p:spPr>
        <p:txBody>
          <a:bodyPr wrap="square" rtlCol="0">
            <a:spAutoFit/>
          </a:bodyPr>
          <a:lstStyle/>
          <a:p>
            <a:r>
              <a:rPr lang="zh-CN" altLang="en-US" sz="2800" b="1" dirty="0" smtClean="0">
                <a:latin typeface="微软雅黑" panose="020B0503020204020204" pitchFamily="34" charset="-122"/>
                <a:ea typeface="微软雅黑" panose="020B0503020204020204" pitchFamily="34" charset="-122"/>
              </a:rPr>
              <a:t>管  凯  敏</a:t>
            </a:r>
            <a:endParaRPr lang="zh-CN" altLang="en-US" sz="2800" b="1" dirty="0">
              <a:latin typeface="微软雅黑" panose="020B0503020204020204" pitchFamily="34" charset="-122"/>
              <a:ea typeface="微软雅黑" panose="020B0503020204020204" pitchFamily="34" charset="-122"/>
            </a:endParaRPr>
          </a:p>
        </p:txBody>
      </p:sp>
      <p:sp>
        <p:nvSpPr>
          <p:cNvPr id="4" name="文本框 3"/>
          <p:cNvSpPr txBox="1"/>
          <p:nvPr/>
        </p:nvSpPr>
        <p:spPr>
          <a:xfrm>
            <a:off x="4064546" y="462525"/>
            <a:ext cx="4663661" cy="584775"/>
          </a:xfrm>
          <a:prstGeom prst="rect">
            <a:avLst/>
          </a:prstGeom>
          <a:noFill/>
        </p:spPr>
        <p:txBody>
          <a:bodyPr wrap="square" rtlCol="0">
            <a:spAutoFit/>
          </a:bodyPr>
          <a:lstStyle/>
          <a:p>
            <a:r>
              <a:rPr lang="zh-CN" altLang="en-US" sz="3200" b="1" dirty="0" smtClean="0">
                <a:latin typeface="微软雅黑" panose="020B0503020204020204" pitchFamily="34" charset="-122"/>
                <a:ea typeface="微软雅黑" panose="020B0503020204020204" pitchFamily="34" charset="-122"/>
              </a:rPr>
              <a:t>浙江大学本科生振动试验</a:t>
            </a:r>
            <a:endParaRPr lang="zh-CN" altLang="en-US" sz="3200" b="1" dirty="0">
              <a:latin typeface="微软雅黑" panose="020B0503020204020204" pitchFamily="34" charset="-122"/>
              <a:ea typeface="微软雅黑" panose="020B0503020204020204" pitchFamily="34" charset="-122"/>
            </a:endParaRPr>
          </a:p>
        </p:txBody>
      </p:sp>
      <p:grpSp>
        <p:nvGrpSpPr>
          <p:cNvPr id="7" name="组合 6"/>
          <p:cNvGrpSpPr/>
          <p:nvPr/>
        </p:nvGrpSpPr>
        <p:grpSpPr>
          <a:xfrm>
            <a:off x="9801225" y="0"/>
            <a:ext cx="2438400" cy="1244600"/>
            <a:chOff x="9029700" y="-82351"/>
            <a:chExt cx="3251200" cy="1659467"/>
          </a:xfrm>
        </p:grpSpPr>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29700" y="99827"/>
              <a:ext cx="1384300" cy="1384300"/>
            </a:xfrm>
            <a:prstGeom prst="rect">
              <a:avLst/>
            </a:prstGeom>
          </p:spPr>
        </p:pic>
        <p:pic>
          <p:nvPicPr>
            <p:cNvPr id="2050" name="Picture 2" descr="浙江大学机械工程学系 - 搜狗百科"/>
            <p:cNvPicPr>
              <a:picLocks noChangeAspect="1" noChangeArrowheads="1"/>
            </p:cNvPicPr>
            <p:nvPr/>
          </p:nvPicPr>
          <p:blipFill rotWithShape="1">
            <a:blip r:embed="rId3">
              <a:extLst>
                <a:ext uri="{28A0092B-C50C-407E-A947-70E740481C1C}">
                  <a14:useLocalDpi xmlns:a14="http://schemas.microsoft.com/office/drawing/2010/main" val="0"/>
                </a:ext>
              </a:extLst>
            </a:blip>
            <a:srcRect l="21382" t="18243" r="13044" b="19528"/>
            <a:stretch/>
          </p:blipFill>
          <p:spPr bwMode="auto">
            <a:xfrm>
              <a:off x="10414000" y="-82351"/>
              <a:ext cx="1866900" cy="165946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10" name="直接连接符 9"/>
          <p:cNvCxnSpPr/>
          <p:nvPr/>
        </p:nvCxnSpPr>
        <p:spPr>
          <a:xfrm flipV="1">
            <a:off x="0" y="1295212"/>
            <a:ext cx="12192000" cy="26504"/>
          </a:xfrm>
          <a:prstGeom prst="line">
            <a:avLst/>
          </a:prstGeom>
          <a:ln w="57150">
            <a:gradFill>
              <a:gsLst>
                <a:gs pos="0">
                  <a:srgbClr val="7030A0"/>
                </a:gs>
                <a:gs pos="53000">
                  <a:srgbClr val="00B050"/>
                </a:gs>
                <a:gs pos="100000">
                  <a:srgbClr val="00B0F0"/>
                </a:gs>
              </a:gsLst>
              <a:lin ang="0" scaled="0"/>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861061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nvCxnSpPr>
        <p:spPr>
          <a:xfrm flipV="1">
            <a:off x="0" y="865280"/>
            <a:ext cx="12192000" cy="26504"/>
          </a:xfrm>
          <a:prstGeom prst="line">
            <a:avLst/>
          </a:prstGeom>
          <a:ln w="57150">
            <a:gradFill>
              <a:gsLst>
                <a:gs pos="0">
                  <a:srgbClr val="7030A0"/>
                </a:gs>
                <a:gs pos="53000">
                  <a:srgbClr val="00B050"/>
                </a:gs>
                <a:gs pos="100000">
                  <a:srgbClr val="00B0F0"/>
                </a:gs>
              </a:gsLst>
              <a:lin ang="0" scaled="0"/>
            </a:gradFill>
          </a:ln>
        </p:spPr>
        <p:style>
          <a:lnRef idx="1">
            <a:schemeClr val="accent1"/>
          </a:lnRef>
          <a:fillRef idx="0">
            <a:schemeClr val="accent1"/>
          </a:fillRef>
          <a:effectRef idx="0">
            <a:schemeClr val="accent1"/>
          </a:effectRef>
          <a:fontRef idx="minor">
            <a:schemeClr val="tx1"/>
          </a:fontRef>
        </p:style>
      </p:cxnSp>
      <p:sp>
        <p:nvSpPr>
          <p:cNvPr id="4" name="文本框 3"/>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实 验 目 的</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776356" y="856357"/>
            <a:ext cx="11269870" cy="6001643"/>
          </a:xfrm>
          <a:prstGeom prst="rect">
            <a:avLst/>
          </a:prstGeom>
          <a:noFill/>
        </p:spPr>
        <p:txBody>
          <a:bodyPr wrap="square" rtlCol="0">
            <a:spAutoFit/>
          </a:bodyPr>
          <a:lstStyle/>
          <a:p>
            <a:pPr marL="285750" lvl="0" indent="-285750">
              <a:lnSpc>
                <a:spcPct val="200000"/>
              </a:lnSpc>
              <a:buFont typeface="Wingdings" panose="05000000000000000000" pitchFamily="2" charset="2"/>
              <a:buChar char="p"/>
            </a:pPr>
            <a:r>
              <a:rPr lang="zh-CN" altLang="zh-CN" sz="2400" dirty="0" smtClean="0">
                <a:latin typeface="微软雅黑" panose="020B0503020204020204" pitchFamily="34" charset="-122"/>
                <a:ea typeface="微软雅黑" panose="020B0503020204020204" pitchFamily="34" charset="-122"/>
              </a:rPr>
              <a:t>掌握</a:t>
            </a:r>
            <a:r>
              <a:rPr lang="zh-CN" altLang="zh-CN" sz="2400" b="1" dirty="0">
                <a:solidFill>
                  <a:srgbClr val="FF0000"/>
                </a:solidFill>
                <a:latin typeface="微软雅黑" panose="020B0503020204020204" pitchFamily="34" charset="-122"/>
                <a:ea typeface="微软雅黑" panose="020B0503020204020204" pitchFamily="34" charset="-122"/>
              </a:rPr>
              <a:t>电机启动</a:t>
            </a:r>
            <a:r>
              <a:rPr lang="zh-CN" altLang="zh-CN" sz="2400" dirty="0">
                <a:latin typeface="微软雅黑" panose="020B0503020204020204" pitchFamily="34" charset="-122"/>
                <a:ea typeface="微软雅黑" panose="020B0503020204020204" pitchFamily="34" charset="-122"/>
              </a:rPr>
              <a:t>运行及相关</a:t>
            </a:r>
            <a:r>
              <a:rPr lang="zh-CN" altLang="zh-CN" sz="2400" b="1" dirty="0">
                <a:solidFill>
                  <a:srgbClr val="FF0000"/>
                </a:solidFill>
                <a:latin typeface="微软雅黑" panose="020B0503020204020204" pitchFamily="34" charset="-122"/>
                <a:ea typeface="微软雅黑" panose="020B0503020204020204" pitchFamily="34" charset="-122"/>
              </a:rPr>
              <a:t>调速</a:t>
            </a:r>
            <a:r>
              <a:rPr lang="zh-CN" altLang="zh-CN" sz="2400" dirty="0">
                <a:latin typeface="微软雅黑" panose="020B0503020204020204" pitchFamily="34" charset="-122"/>
                <a:ea typeface="微软雅黑" panose="020B0503020204020204" pitchFamily="34" charset="-122"/>
              </a:rPr>
              <a:t>技巧；</a:t>
            </a:r>
          </a:p>
          <a:p>
            <a:pPr marL="285750" lvl="0" indent="-285750">
              <a:lnSpc>
                <a:spcPct val="200000"/>
              </a:lnSpc>
              <a:buFont typeface="Wingdings" panose="05000000000000000000" pitchFamily="2" charset="2"/>
              <a:buChar char="p"/>
            </a:pPr>
            <a:r>
              <a:rPr lang="zh-CN" altLang="zh-CN" sz="2400" dirty="0" smtClean="0">
                <a:latin typeface="微软雅黑" panose="020B0503020204020204" pitchFamily="34" charset="-122"/>
                <a:ea typeface="微软雅黑" panose="020B0503020204020204" pitchFamily="34" charset="-122"/>
              </a:rPr>
              <a:t>掌握</a:t>
            </a:r>
            <a:r>
              <a:rPr lang="zh-CN" altLang="en-US" sz="2400" b="1" dirty="0">
                <a:solidFill>
                  <a:srgbClr val="FF0000"/>
                </a:solidFill>
                <a:latin typeface="微软雅黑" panose="020B0503020204020204" pitchFamily="34" charset="-122"/>
                <a:ea typeface="微软雅黑" panose="020B0503020204020204" pitchFamily="34" charset="-122"/>
              </a:rPr>
              <a:t>电涡流</a:t>
            </a:r>
            <a:r>
              <a:rPr lang="zh-CN" altLang="zh-CN" sz="2400" b="1" dirty="0" smtClean="0">
                <a:solidFill>
                  <a:srgbClr val="FF0000"/>
                </a:solidFill>
                <a:latin typeface="微软雅黑" panose="020B0503020204020204" pitchFamily="34" charset="-122"/>
                <a:ea typeface="微软雅黑" panose="020B0503020204020204" pitchFamily="34" charset="-122"/>
              </a:rPr>
              <a:t>位移传感器</a:t>
            </a:r>
            <a:r>
              <a:rPr lang="zh-CN" altLang="en-US" sz="2400" b="1" dirty="0" smtClean="0">
                <a:solidFill>
                  <a:srgbClr val="FF0000"/>
                </a:solidFill>
                <a:latin typeface="微软雅黑" panose="020B0503020204020204" pitchFamily="34" charset="-122"/>
                <a:ea typeface="微软雅黑" panose="020B0503020204020204" pitchFamily="34" charset="-122"/>
              </a:rPr>
              <a:t>、</a:t>
            </a:r>
            <a:r>
              <a:rPr lang="zh-CN" altLang="zh-CN" sz="2400" b="1" dirty="0">
                <a:solidFill>
                  <a:srgbClr val="FF0000"/>
                </a:solidFill>
                <a:latin typeface="微软雅黑" panose="020B0503020204020204" pitchFamily="34" charset="-122"/>
                <a:ea typeface="微软雅黑" panose="020B0503020204020204" pitchFamily="34" charset="-122"/>
              </a:rPr>
              <a:t>加速度传感器</a:t>
            </a:r>
            <a:r>
              <a:rPr lang="zh-CN" altLang="zh-CN" sz="2400" dirty="0" smtClean="0">
                <a:latin typeface="微软雅黑" panose="020B0503020204020204" pitchFamily="34" charset="-122"/>
                <a:ea typeface="微软雅黑" panose="020B0503020204020204" pitchFamily="34" charset="-122"/>
              </a:rPr>
              <a:t>的</a:t>
            </a:r>
            <a:r>
              <a:rPr lang="zh-CN" altLang="zh-CN" sz="2400" dirty="0">
                <a:latin typeface="微软雅黑" panose="020B0503020204020204" pitchFamily="34" charset="-122"/>
                <a:ea typeface="微软雅黑" panose="020B0503020204020204" pitchFamily="34" charset="-122"/>
              </a:rPr>
              <a:t>安装及拾取振动量级的方法</a:t>
            </a:r>
            <a:r>
              <a:rPr lang="zh-CN" altLang="zh-CN" sz="2400" dirty="0" smtClean="0">
                <a:latin typeface="微软雅黑" panose="020B0503020204020204" pitchFamily="34" charset="-122"/>
                <a:ea typeface="微软雅黑" panose="020B0503020204020204" pitchFamily="34" charset="-122"/>
              </a:rPr>
              <a:t>；</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并比较加速度传感器和位移传感器所测得的振动信号量值及相互间的相位关系等；</a:t>
            </a:r>
            <a:endParaRPr lang="zh-CN" altLang="zh-CN" sz="2400" dirty="0">
              <a:latin typeface="微软雅黑" panose="020B0503020204020204" pitchFamily="34" charset="-122"/>
              <a:ea typeface="微软雅黑" panose="020B0503020204020204" pitchFamily="34" charset="-122"/>
            </a:endParaRPr>
          </a:p>
          <a:p>
            <a:pPr marL="285750" lvl="0" indent="-285750">
              <a:lnSpc>
                <a:spcPct val="200000"/>
              </a:lnSpc>
              <a:buFont typeface="Wingdings" panose="05000000000000000000" pitchFamily="2" charset="2"/>
              <a:buChar char="p"/>
            </a:pPr>
            <a:r>
              <a:rPr lang="zh-CN" altLang="zh-CN" sz="2400" dirty="0">
                <a:latin typeface="微软雅黑" panose="020B0503020204020204" pitchFamily="34" charset="-122"/>
                <a:ea typeface="微软雅黑" panose="020B0503020204020204" pitchFamily="34" charset="-122"/>
              </a:rPr>
              <a:t>掌握</a:t>
            </a:r>
            <a:r>
              <a:rPr lang="zh-CN" altLang="zh-CN" sz="2400" b="1" dirty="0">
                <a:solidFill>
                  <a:srgbClr val="FF0000"/>
                </a:solidFill>
                <a:latin typeface="微软雅黑" panose="020B0503020204020204" pitchFamily="34" charset="-122"/>
                <a:ea typeface="微软雅黑" panose="020B0503020204020204" pitchFamily="34" charset="-122"/>
              </a:rPr>
              <a:t>光电式测转速传感器</a:t>
            </a:r>
            <a:r>
              <a:rPr lang="zh-CN" altLang="zh-CN" sz="2400" dirty="0">
                <a:latin typeface="微软雅黑" panose="020B0503020204020204" pitchFamily="34" charset="-122"/>
                <a:ea typeface="微软雅黑" panose="020B0503020204020204" pitchFamily="34" charset="-122"/>
              </a:rPr>
              <a:t>的原理及使用方法；</a:t>
            </a:r>
          </a:p>
          <a:p>
            <a:pPr marL="285750" lvl="0" indent="-285750">
              <a:lnSpc>
                <a:spcPct val="200000"/>
              </a:lnSpc>
              <a:buFont typeface="Wingdings" panose="05000000000000000000" pitchFamily="2" charset="2"/>
              <a:buChar char="p"/>
            </a:pPr>
            <a:r>
              <a:rPr lang="zh-CN" altLang="zh-CN" sz="2400" dirty="0">
                <a:latin typeface="微软雅黑" panose="020B0503020204020204" pitchFamily="34" charset="-122"/>
                <a:ea typeface="微软雅黑" panose="020B0503020204020204" pitchFamily="34" charset="-122"/>
              </a:rPr>
              <a:t>掌握使用</a:t>
            </a:r>
            <a:r>
              <a:rPr lang="zh-CN" altLang="zh-CN" sz="2400" b="1" dirty="0">
                <a:solidFill>
                  <a:srgbClr val="FF0000"/>
                </a:solidFill>
                <a:latin typeface="微软雅黑" panose="020B0503020204020204" pitchFamily="34" charset="-122"/>
                <a:ea typeface="微软雅黑" panose="020B0503020204020204" pitchFamily="34" charset="-122"/>
              </a:rPr>
              <a:t>数据采集仪</a:t>
            </a:r>
            <a:r>
              <a:rPr lang="zh-CN" altLang="zh-CN" sz="2400" dirty="0">
                <a:latin typeface="微软雅黑" panose="020B0503020204020204" pitchFamily="34" charset="-122"/>
                <a:ea typeface="微软雅黑" panose="020B0503020204020204" pitchFamily="34" charset="-122"/>
              </a:rPr>
              <a:t>测量和记录悬臂梁振动信号的</a:t>
            </a:r>
            <a:r>
              <a:rPr lang="zh-CN" altLang="zh-CN" sz="2400" b="1" dirty="0">
                <a:solidFill>
                  <a:srgbClr val="FF0000"/>
                </a:solidFill>
                <a:latin typeface="微软雅黑" panose="020B0503020204020204" pitchFamily="34" charset="-122"/>
                <a:ea typeface="微软雅黑" panose="020B0503020204020204" pitchFamily="34" charset="-122"/>
              </a:rPr>
              <a:t>波形和频谱</a:t>
            </a:r>
            <a:r>
              <a:rPr lang="zh-CN" altLang="zh-CN" sz="2400" dirty="0" smtClean="0">
                <a:latin typeface="微软雅黑" panose="020B0503020204020204" pitchFamily="34" charset="-122"/>
                <a:ea typeface="微软雅黑" panose="020B0503020204020204" pitchFamily="34" charset="-122"/>
              </a:rPr>
              <a:t>；</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了解附加质量、材质对悬臂梁固有频率的影响。</a:t>
            </a:r>
            <a:endParaRPr lang="zh-CN" altLang="zh-CN" sz="2400" dirty="0">
              <a:latin typeface="微软雅黑" panose="020B0503020204020204" pitchFamily="34" charset="-122"/>
              <a:ea typeface="微软雅黑" panose="020B0503020204020204" pitchFamily="34" charset="-122"/>
            </a:endParaRPr>
          </a:p>
          <a:p>
            <a:pPr marL="285750" lvl="0" indent="-285750">
              <a:lnSpc>
                <a:spcPct val="200000"/>
              </a:lnSpc>
              <a:buFont typeface="Wingdings" panose="05000000000000000000" pitchFamily="2" charset="2"/>
              <a:buChar char="p"/>
            </a:pPr>
            <a:r>
              <a:rPr lang="zh-CN" altLang="zh-CN" sz="2400" dirty="0">
                <a:latin typeface="微软雅黑" panose="020B0503020204020204" pitchFamily="34" charset="-122"/>
                <a:ea typeface="微软雅黑" panose="020B0503020204020204" pitchFamily="34" charset="-122"/>
              </a:rPr>
              <a:t>了解改变转子实验台转速后，悬臂梁出现的</a:t>
            </a:r>
            <a:r>
              <a:rPr lang="zh-CN" altLang="zh-CN" sz="2400" b="1" dirty="0">
                <a:solidFill>
                  <a:srgbClr val="FF0000"/>
                </a:solidFill>
                <a:latin typeface="微软雅黑" panose="020B0503020204020204" pitchFamily="34" charset="-122"/>
                <a:ea typeface="微软雅黑" panose="020B0503020204020204" pitchFamily="34" charset="-122"/>
              </a:rPr>
              <a:t>共振现象</a:t>
            </a:r>
            <a:r>
              <a:rPr lang="zh-CN" altLang="zh-CN" sz="2400" dirty="0">
                <a:latin typeface="微软雅黑" panose="020B0503020204020204" pitchFamily="34" charset="-122"/>
                <a:ea typeface="微软雅黑" panose="020B0503020204020204" pitchFamily="34" charset="-122"/>
              </a:rPr>
              <a:t>，观察振动信号、频谱的变化规律</a:t>
            </a:r>
            <a:r>
              <a:rPr lang="zh-CN" altLang="zh-CN" sz="2400" dirty="0"/>
              <a:t>。</a:t>
            </a:r>
          </a:p>
        </p:txBody>
      </p:sp>
    </p:spTree>
    <p:extLst>
      <p:ext uri="{BB962C8B-B14F-4D97-AF65-F5344CB8AC3E}">
        <p14:creationId xmlns:p14="http://schemas.microsoft.com/office/powerpoint/2010/main" val="41989021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注 意 事 项</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矩形 4"/>
          <p:cNvSpPr/>
          <p:nvPr/>
        </p:nvSpPr>
        <p:spPr>
          <a:xfrm>
            <a:off x="1201058" y="1797988"/>
            <a:ext cx="10080172" cy="3785652"/>
          </a:xfrm>
          <a:prstGeom prst="rect">
            <a:avLst/>
          </a:prstGeom>
        </p:spPr>
        <p:txBody>
          <a:bodyPr wrap="square">
            <a:spAutoFit/>
          </a:bodyPr>
          <a:lstStyle/>
          <a:p>
            <a:pPr marL="285750" lvl="0" indent="-285750" algn="just">
              <a:lnSpc>
                <a:spcPct val="150000"/>
              </a:lnSpc>
              <a:spcAft>
                <a:spcPts val="0"/>
              </a:spcAft>
              <a:buFont typeface="Wingdings" panose="05000000000000000000" pitchFamily="2" charset="2"/>
              <a:buChar char="p"/>
            </a:pPr>
            <a:r>
              <a:rPr lang="zh-CN" altLang="zh-CN" sz="3200" b="1" kern="100" dirty="0">
                <a:latin typeface="微软雅黑" panose="020B0503020204020204" pitchFamily="34" charset="-122"/>
                <a:ea typeface="微软雅黑" panose="020B0503020204020204" pitchFamily="34" charset="-122"/>
                <a:cs typeface="Times New Roman" panose="02020603050405020304" pitchFamily="18" charset="0"/>
              </a:rPr>
              <a:t>在转子教学实验模拟平台</a:t>
            </a:r>
            <a:r>
              <a:rPr lang="zh-CN" altLang="zh-CN" sz="32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连接电源前，旋钮调零</a:t>
            </a:r>
            <a:r>
              <a:rPr lang="zh-CN" altLang="zh-CN" sz="3200" b="1" kern="100" dirty="0">
                <a:latin typeface="微软雅黑" panose="020B0503020204020204" pitchFamily="34" charset="-122"/>
                <a:ea typeface="微软雅黑" panose="020B0503020204020204" pitchFamily="34" charset="-122"/>
                <a:cs typeface="Times New Roman" panose="02020603050405020304" pitchFamily="18" charset="0"/>
              </a:rPr>
              <a:t>。</a:t>
            </a:r>
          </a:p>
          <a:p>
            <a:pPr marL="285750" lvl="0" indent="-285750" algn="just">
              <a:lnSpc>
                <a:spcPct val="150000"/>
              </a:lnSpc>
              <a:spcAft>
                <a:spcPts val="0"/>
              </a:spcAft>
              <a:buFont typeface="Wingdings" panose="05000000000000000000" pitchFamily="2" charset="2"/>
              <a:buChar char="p"/>
            </a:pPr>
            <a:r>
              <a:rPr lang="zh-CN" altLang="zh-CN" sz="3200" b="1" kern="100" dirty="0" smtClean="0">
                <a:latin typeface="微软雅黑" panose="020B0503020204020204" pitchFamily="34" charset="-122"/>
                <a:ea typeface="微软雅黑" panose="020B0503020204020204" pitchFamily="34" charset="-122"/>
                <a:cs typeface="Times New Roman" panose="02020603050405020304" pitchFamily="18" charset="0"/>
              </a:rPr>
              <a:t>实验</a:t>
            </a:r>
            <a:r>
              <a:rPr lang="zh-CN" altLang="zh-CN" sz="3200" b="1" kern="100" dirty="0">
                <a:latin typeface="微软雅黑" panose="020B0503020204020204" pitchFamily="34" charset="-122"/>
                <a:ea typeface="微软雅黑" panose="020B0503020204020204" pitchFamily="34" charset="-122"/>
                <a:cs typeface="Times New Roman" panose="02020603050405020304" pitchFamily="18" charset="0"/>
              </a:rPr>
              <a:t>时，需要慢慢调整电机的转速旋钮，且</a:t>
            </a:r>
            <a:r>
              <a:rPr lang="zh-CN" altLang="zh-CN" sz="32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最大</a:t>
            </a:r>
            <a:r>
              <a:rPr lang="zh-CN" altLang="zh-CN" sz="32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转速</a:t>
            </a:r>
            <a:r>
              <a:rPr lang="zh-CN" altLang="zh-CN" sz="32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不</a:t>
            </a:r>
            <a:r>
              <a:rPr lang="zh-CN" altLang="zh-CN" sz="32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超过</a:t>
            </a:r>
            <a:r>
              <a:rPr lang="en-US" altLang="zh-CN" sz="3200"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en-US" altLang="zh-CN" sz="3200"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000 RPM</a:t>
            </a:r>
            <a:r>
              <a:rPr lang="zh-CN" altLang="zh-CN" sz="3200" b="1"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sz="3200" b="1" kern="100" dirty="0">
              <a:latin typeface="微软雅黑" panose="020B0503020204020204" pitchFamily="34" charset="-122"/>
              <a:ea typeface="微软雅黑" panose="020B0503020204020204" pitchFamily="34" charset="-122"/>
              <a:cs typeface="Times New Roman" panose="02020603050405020304" pitchFamily="18" charset="0"/>
            </a:endParaRPr>
          </a:p>
          <a:p>
            <a:pPr marL="285750" lvl="0" indent="-285750" algn="just">
              <a:lnSpc>
                <a:spcPct val="150000"/>
              </a:lnSpc>
              <a:spcAft>
                <a:spcPts val="0"/>
              </a:spcAft>
              <a:buFont typeface="Wingdings" panose="05000000000000000000" pitchFamily="2" charset="2"/>
              <a:buChar char="p"/>
            </a:pPr>
            <a:r>
              <a:rPr lang="zh-CN" altLang="zh-CN" sz="3200" b="1" kern="100" dirty="0">
                <a:latin typeface="微软雅黑" panose="020B0503020204020204" pitchFamily="34" charset="-122"/>
                <a:ea typeface="微软雅黑" panose="020B0503020204020204" pitchFamily="34" charset="-122"/>
                <a:cs typeface="Times New Roman" panose="02020603050405020304" pitchFamily="18" charset="0"/>
              </a:rPr>
              <a:t>实验结束后，电机旋钮归零，拔掉电源。退出软件，并关闭数据采集仪。</a:t>
            </a:r>
          </a:p>
        </p:txBody>
      </p:sp>
    </p:spTree>
    <p:extLst>
      <p:ext uri="{BB962C8B-B14F-4D97-AF65-F5344CB8AC3E}">
        <p14:creationId xmlns:p14="http://schemas.microsoft.com/office/powerpoint/2010/main" val="87937577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实 验 原 理</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46743" y="1088571"/>
            <a:ext cx="2966357"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1. </a:t>
            </a:r>
            <a:r>
              <a:rPr lang="zh-CN" altLang="en-US" sz="2400" b="1" dirty="0" smtClean="0">
                <a:latin typeface="微软雅黑" panose="020B0503020204020204" pitchFamily="34" charset="-122"/>
                <a:ea typeface="微软雅黑" panose="020B0503020204020204" pitchFamily="34" charset="-122"/>
              </a:rPr>
              <a:t>振动测试</a:t>
            </a:r>
            <a:endParaRPr lang="zh-CN" altLang="en-US" sz="2400" b="1"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6100" y="1901816"/>
            <a:ext cx="5334000" cy="4000500"/>
          </a:xfrm>
          <a:prstGeom prst="rect">
            <a:avLst/>
          </a:prstGeom>
        </p:spPr>
      </p:pic>
      <mc:AlternateContent xmlns:mc="http://schemas.openxmlformats.org/markup-compatibility/2006">
        <mc:Choice xmlns:a14="http://schemas.microsoft.com/office/drawing/2010/main" Requires="a14">
          <p:sp>
            <p:nvSpPr>
              <p:cNvPr id="8" name="矩形 7"/>
              <p:cNvSpPr/>
              <p:nvPr/>
            </p:nvSpPr>
            <p:spPr>
              <a:xfrm>
                <a:off x="5880100" y="1324911"/>
                <a:ext cx="6096000" cy="3831818"/>
              </a:xfrm>
              <a:prstGeom prst="rect">
                <a:avLst/>
              </a:prstGeom>
            </p:spPr>
            <p:txBody>
              <a:bodyPr>
                <a:spAutoFit/>
              </a:bodyPr>
              <a:lstStyle/>
              <a:p>
                <a:pPr indent="304800" algn="just">
                  <a:lnSpc>
                    <a:spcPct val="150000"/>
                  </a:lnSpc>
                  <a:spcAft>
                    <a:spcPts val="0"/>
                  </a:spcAft>
                </a:pPr>
                <a:r>
                  <a:rPr lang="zh-CN" altLang="zh-CN" b="1" kern="100" dirty="0">
                    <a:latin typeface="微软雅黑" panose="020B0503020204020204" pitchFamily="34" charset="-122"/>
                    <a:ea typeface="微软雅黑" panose="020B0503020204020204" pitchFamily="34" charset="-122"/>
                    <a:cs typeface="Times New Roman" panose="02020603050405020304" pitchFamily="18" charset="0"/>
                  </a:rPr>
                  <a:t>振动测试</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包括两种方式：一是测量机械或结构在</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工作状态下的</a:t>
                </a:r>
                <a:r>
                  <a:rPr lang="zh-CN" altLang="zh-CN"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振动</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二</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是对机械设备或结构施加某种激励，测量其</a:t>
                </a:r>
                <a:r>
                  <a:rPr lang="zh-CN" altLang="zh-CN" b="1" kern="100" dirty="0" smtClean="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受迫振动</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（研究</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固有频率</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等性能参数）</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nSpc>
                    <a:spcPct val="150000"/>
                  </a:lnSpc>
                </a:pPr>
                <a:r>
                  <a:rPr lang="zh-CN" altLang="en-US" b="1" kern="100" dirty="0" smtClean="0">
                    <a:latin typeface="微软雅黑" panose="020B0503020204020204" pitchFamily="34" charset="-122"/>
                    <a:ea typeface="微软雅黑" panose="020B0503020204020204" pitchFamily="34" charset="-122"/>
                    <a:cs typeface="Times New Roman" panose="02020603050405020304" pitchFamily="18" charset="0"/>
                  </a:rPr>
                  <a:t>振动</a:t>
                </a:r>
                <a:r>
                  <a:rPr lang="zh-CN" altLang="zh-CN" b="1" kern="100" dirty="0" smtClean="0">
                    <a:latin typeface="微软雅黑" panose="020B0503020204020204" pitchFamily="34" charset="-122"/>
                    <a:ea typeface="微软雅黑" panose="020B0503020204020204" pitchFamily="34" charset="-122"/>
                    <a:cs typeface="Times New Roman" panose="02020603050405020304" pitchFamily="18" charset="0"/>
                  </a:rPr>
                  <a:t>三要素</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幅值、频率和相位</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b="1"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pP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实验中使用</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加速度传感器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和</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位移传感器</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采集振动特征信号，</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位移</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、速度、加速度信号的关系如下：</a:t>
                </a:r>
                <a:endParaRPr lang="en-US"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spcAft>
                    <a:spcPts val="0"/>
                  </a:spcAft>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位移信号为：</a:t>
                </a:r>
                <a14:m>
                  <m:oMath xmlns:m="http://schemas.openxmlformats.org/officeDocument/2006/math">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y</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Ysin</m:t>
                    </m:r>
                    <m:d>
                      <m:dPr>
                        <m:ctrlPr>
                          <a:rPr lang="zh-CN" altLang="zh-CN" i="1" kern="100">
                            <a:latin typeface="Cambria Math" panose="02040503050406030204" pitchFamily="18" charset="0"/>
                            <a:ea typeface="微软雅黑" panose="020B0503020204020204" pitchFamily="34" charset="-122"/>
                            <a:cs typeface="Times New Roman" panose="02020603050405020304" pitchFamily="18" charset="0"/>
                          </a:rPr>
                        </m:ctrlPr>
                      </m:dPr>
                      <m:e>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ωt</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φ</m:t>
                        </m:r>
                      </m:e>
                    </m:d>
                  </m:oMath>
                </a14:m>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spcAft>
                    <a:spcPts val="0"/>
                  </a:spcAft>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速度信号为：</a:t>
                </a:r>
                <a14:m>
                  <m:oMath xmlns:m="http://schemas.openxmlformats.org/officeDocument/2006/math">
                    <m:acc>
                      <m:accPr>
                        <m:chr m:val="̇"/>
                        <m:ctrlPr>
                          <a:rPr lang="zh-CN" altLang="zh-CN" i="1" kern="100">
                            <a:latin typeface="Cambria Math" panose="02040503050406030204" pitchFamily="18" charset="0"/>
                            <a:ea typeface="微软雅黑" panose="020B0503020204020204" pitchFamily="34" charset="-122"/>
                            <a:cs typeface="Times New Roman" panose="02020603050405020304" pitchFamily="18" charset="0"/>
                          </a:rPr>
                        </m:ctrlPr>
                      </m:accPr>
                      <m:e>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y</m:t>
                        </m:r>
                      </m:e>
                    </m:acc>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ωYcos</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ωt</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φ</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oMath>
                </a14:m>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spcAft>
                    <a:spcPts val="0"/>
                  </a:spcAft>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加速度信号为：</a:t>
                </a:r>
                <a14:m>
                  <m:oMath xmlns:m="http://schemas.openxmlformats.org/officeDocument/2006/math">
                    <m:acc>
                      <m:accPr>
                        <m:chr m:val="̈"/>
                        <m:ctrlPr>
                          <a:rPr lang="zh-CN" altLang="zh-CN" i="1" kern="100">
                            <a:latin typeface="Cambria Math" panose="02040503050406030204" pitchFamily="18" charset="0"/>
                            <a:ea typeface="微软雅黑" panose="020B0503020204020204" pitchFamily="34" charset="-122"/>
                            <a:cs typeface="Times New Roman" panose="02020603050405020304" pitchFamily="18" charset="0"/>
                          </a:rPr>
                        </m:ctrlPr>
                      </m:accPr>
                      <m:e>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y</m:t>
                        </m:r>
                      </m:e>
                    </m:acc>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sSup>
                      <m:sSupPr>
                        <m:ctrlPr>
                          <a:rPr lang="zh-CN" altLang="zh-CN" i="1" kern="100">
                            <a:latin typeface="Cambria Math" panose="02040503050406030204" pitchFamily="18" charset="0"/>
                            <a:ea typeface="微软雅黑" panose="020B0503020204020204" pitchFamily="34" charset="-122"/>
                            <a:cs typeface="Times New Roman" panose="02020603050405020304" pitchFamily="18" charset="0"/>
                          </a:rPr>
                        </m:ctrlPr>
                      </m:sSupPr>
                      <m:e>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ω</m:t>
                        </m:r>
                      </m:e>
                      <m:sup>
                        <m:r>
                          <a:rPr lang="en-US" altLang="zh-CN" kern="100">
                            <a:latin typeface="Cambria Math" panose="02040503050406030204" pitchFamily="18" charset="0"/>
                            <a:ea typeface="微软雅黑" panose="020B0503020204020204" pitchFamily="34" charset="-122"/>
                            <a:cs typeface="Times New Roman" panose="02020603050405020304" pitchFamily="18" charset="0"/>
                          </a:rPr>
                          <m:t>2</m:t>
                        </m:r>
                      </m:sup>
                    </m:sSup>
                    <m:r>
                      <m:rPr>
                        <m:sty m:val="p"/>
                      </m:rPr>
                      <a:rPr lang="en-US" altLang="zh-CN" i="1" kern="100">
                        <a:latin typeface="Cambria Math" panose="02040503050406030204" pitchFamily="18" charset="0"/>
                        <a:ea typeface="微软雅黑" panose="020B0503020204020204" pitchFamily="34" charset="-122"/>
                        <a:cs typeface="Times New Roman" panose="02020603050405020304" pitchFamily="18" charset="0"/>
                      </a:rPr>
                      <m:t>Y</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sin</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ωt</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r>
                      <m:rPr>
                        <m:sty m:val="p"/>
                      </m:rPr>
                      <a:rPr lang="en-US" altLang="zh-CN" kern="100">
                        <a:latin typeface="Cambria Math" panose="02040503050406030204" pitchFamily="18" charset="0"/>
                        <a:ea typeface="微软雅黑" panose="020B0503020204020204" pitchFamily="34" charset="-122"/>
                        <a:cs typeface="Times New Roman" panose="02020603050405020304" pitchFamily="18" charset="0"/>
                      </a:rPr>
                      <m:t>φ</m:t>
                    </m:r>
                    <m:r>
                      <a:rPr lang="en-US" altLang="zh-CN" kern="100">
                        <a:latin typeface="Cambria Math" panose="02040503050406030204" pitchFamily="18" charset="0"/>
                        <a:ea typeface="微软雅黑" panose="020B0503020204020204" pitchFamily="34" charset="-122"/>
                        <a:cs typeface="Times New Roman" panose="02020603050405020304" pitchFamily="18" charset="0"/>
                      </a:rPr>
                      <m:t>)</m:t>
                    </m:r>
                  </m:oMath>
                </a14:m>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5880100" y="1324911"/>
                <a:ext cx="6096000" cy="3831818"/>
              </a:xfrm>
              <a:prstGeom prst="rect">
                <a:avLst/>
              </a:prstGeom>
              <a:blipFill>
                <a:blip r:embed="rId3"/>
                <a:stretch>
                  <a:fillRect l="-900" r="-800" b="-318"/>
                </a:stretch>
              </a:blipFill>
            </p:spPr>
            <p:txBody>
              <a:bodyPr/>
              <a:lstStyle/>
              <a:p>
                <a:r>
                  <a:rPr lang="zh-CN" altLang="en-US">
                    <a:noFill/>
                  </a:rPr>
                  <a:t> </a:t>
                </a:r>
              </a:p>
            </p:txBody>
          </p:sp>
        </mc:Fallback>
      </mc:AlternateContent>
      <p:sp>
        <p:nvSpPr>
          <p:cNvPr id="3" name="文本框 2"/>
          <p:cNvSpPr txBox="1"/>
          <p:nvPr/>
        </p:nvSpPr>
        <p:spPr>
          <a:xfrm>
            <a:off x="6215270" y="5353878"/>
            <a:ext cx="5406887" cy="923330"/>
          </a:xfrm>
          <a:prstGeom prst="rect">
            <a:avLst/>
          </a:prstGeom>
          <a:solidFill>
            <a:schemeClr val="accent2">
              <a:lumMod val="20000"/>
              <a:lumOff val="80000"/>
            </a:schemeClr>
          </a:solidFill>
        </p:spPr>
        <p:txBody>
          <a:bodyPr wrap="square" rtlCol="0">
            <a:spAutoFit/>
          </a:bodyPr>
          <a:lstStyle/>
          <a:p>
            <a:r>
              <a:rPr lang="zh-CN" altLang="en-US" b="1" dirty="0" smtClean="0">
                <a:solidFill>
                  <a:srgbClr val="FF0000"/>
                </a:solidFill>
              </a:rPr>
              <a:t>思考：</a:t>
            </a:r>
            <a:endParaRPr lang="en-US" altLang="zh-CN" b="1" dirty="0" smtClean="0">
              <a:solidFill>
                <a:srgbClr val="FF0000"/>
              </a:solidFill>
            </a:endParaRPr>
          </a:p>
          <a:p>
            <a:r>
              <a:rPr lang="en-US" altLang="zh-CN" b="1" dirty="0" smtClean="0">
                <a:solidFill>
                  <a:srgbClr val="FF0000"/>
                </a:solidFill>
              </a:rPr>
              <a:t>1</a:t>
            </a:r>
            <a:r>
              <a:rPr lang="zh-CN" altLang="en-US" b="1" dirty="0" smtClean="0">
                <a:solidFill>
                  <a:srgbClr val="FF0000"/>
                </a:solidFill>
              </a:rPr>
              <a:t>、位移信号与加速度信号之间的关系？</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、加速度信号对什么参数敏感？</a:t>
            </a:r>
            <a:endParaRPr lang="zh-CN" altLang="en-US" b="1" dirty="0">
              <a:solidFill>
                <a:srgbClr val="FF0000"/>
              </a:solidFill>
            </a:endParaRPr>
          </a:p>
        </p:txBody>
      </p:sp>
    </p:spTree>
    <p:extLst>
      <p:ext uri="{BB962C8B-B14F-4D97-AF65-F5344CB8AC3E}">
        <p14:creationId xmlns:p14="http://schemas.microsoft.com/office/powerpoint/2010/main" val="112821820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实 验 原 理</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246743" y="1088571"/>
            <a:ext cx="3439886"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2. </a:t>
            </a:r>
            <a:r>
              <a:rPr lang="zh-CN" altLang="en-US" sz="2400" b="1" dirty="0" smtClean="0">
                <a:latin typeface="微软雅黑" panose="020B0503020204020204" pitchFamily="34" charset="-122"/>
                <a:ea typeface="微软雅黑" panose="020B0503020204020204" pitchFamily="34" charset="-122"/>
              </a:rPr>
              <a:t>悬臂梁共振测量</a:t>
            </a:r>
            <a:endParaRPr lang="zh-CN" altLang="en-US" sz="2400" b="1" dirty="0">
              <a:latin typeface="微软雅黑" panose="020B0503020204020204" pitchFamily="34" charset="-122"/>
              <a:ea typeface="微软雅黑" panose="020B0503020204020204" pitchFamily="34" charset="-122"/>
            </a:endParaRPr>
          </a:p>
        </p:txBody>
      </p:sp>
      <p:sp>
        <p:nvSpPr>
          <p:cNvPr id="6" name="矩形 5"/>
          <p:cNvSpPr/>
          <p:nvPr/>
        </p:nvSpPr>
        <p:spPr>
          <a:xfrm>
            <a:off x="7228332" y="1319403"/>
            <a:ext cx="4245429" cy="1569660"/>
          </a:xfrm>
          <a:prstGeom prst="rect">
            <a:avLst/>
          </a:prstGeom>
        </p:spPr>
        <p:txBody>
          <a:bodyPr wrap="square">
            <a:spAutoFit/>
          </a:bodyPr>
          <a:lstStyle/>
          <a:p>
            <a:pPr lvl="0">
              <a:lnSpc>
                <a:spcPct val="150000"/>
              </a:lnSpc>
              <a:spcAft>
                <a:spcPts val="0"/>
              </a:spcAft>
            </a:pPr>
            <a:r>
              <a:rPr lang="en-US" altLang="zh-CN" sz="1600" b="1" kern="100" dirty="0" smtClean="0">
                <a:latin typeface="微软雅黑" panose="020B0503020204020204" pitchFamily="34" charset="-122"/>
                <a:ea typeface="微软雅黑" panose="020B0503020204020204" pitchFamily="34" charset="-122"/>
                <a:cs typeface="Times New Roman" panose="02020603050405020304" pitchFamily="18" charset="0"/>
              </a:rPr>
              <a:t>a) </a:t>
            </a:r>
            <a:r>
              <a:rPr lang="zh-CN" altLang="zh-CN" sz="1600" b="1" kern="100" dirty="0" smtClean="0">
                <a:latin typeface="微软雅黑" panose="020B0503020204020204" pitchFamily="34" charset="-122"/>
                <a:ea typeface="微软雅黑" panose="020B0503020204020204" pitchFamily="34" charset="-122"/>
                <a:cs typeface="Times New Roman" panose="02020603050405020304" pitchFamily="18" charset="0"/>
              </a:rPr>
              <a:t>幅值判别法</a:t>
            </a:r>
            <a:endParaRPr lang="en-US" altLang="zh-CN" sz="1600" b="1"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lvl="0" indent="457200">
              <a:lnSpc>
                <a:spcPct val="150000"/>
              </a:lnSpc>
              <a:spcAft>
                <a:spcPts val="0"/>
              </a:spcAft>
            </a:pPr>
            <a:r>
              <a:rPr lang="zh-CN" altLang="zh-CN" sz="1600" kern="100" dirty="0" smtClean="0">
                <a:latin typeface="微软雅黑" panose="020B0503020204020204" pitchFamily="34" charset="-122"/>
                <a:ea typeface="微软雅黑" panose="020B0503020204020204" pitchFamily="34" charset="-122"/>
                <a:cs typeface="Times New Roman" panose="02020603050405020304" pitchFamily="18" charset="0"/>
              </a:rPr>
              <a:t>由</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低到高调节电机转速</a:t>
            </a:r>
            <a:r>
              <a:rPr lang="zh-CN" altLang="zh-CN" sz="1600" kern="100" dirty="0" smtClean="0">
                <a:latin typeface="微软雅黑" panose="020B0503020204020204" pitchFamily="34" charset="-122"/>
                <a:ea typeface="微软雅黑" panose="020B0503020204020204" pitchFamily="34" charset="-122"/>
                <a:cs typeface="Times New Roman" panose="02020603050405020304" pitchFamily="18" charset="0"/>
              </a:rPr>
              <a:t>，在</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某一频率下，任一振动量（位移、速度、加速度）幅值迅速增加，这就是悬臂梁的某阶固有频率。</a:t>
            </a:r>
          </a:p>
        </p:txBody>
      </p:sp>
      <p:sp>
        <p:nvSpPr>
          <p:cNvPr id="7" name="矩形 6"/>
          <p:cNvSpPr/>
          <p:nvPr/>
        </p:nvSpPr>
        <p:spPr>
          <a:xfrm>
            <a:off x="7139836" y="2889063"/>
            <a:ext cx="4729842" cy="1938992"/>
          </a:xfrm>
          <a:prstGeom prst="rect">
            <a:avLst/>
          </a:prstGeom>
        </p:spPr>
        <p:txBody>
          <a:bodyPr wrap="square">
            <a:spAutoFit/>
          </a:bodyPr>
          <a:lstStyle/>
          <a:p>
            <a:pPr algn="just">
              <a:lnSpc>
                <a:spcPct val="150000"/>
              </a:lnSpc>
            </a:pPr>
            <a:r>
              <a:rPr lang="en-US" altLang="zh-CN" sz="1600" b="1" kern="100" dirty="0" smtClean="0">
                <a:latin typeface="微软雅黑" panose="020B0503020204020204" pitchFamily="34" charset="-122"/>
                <a:ea typeface="微软雅黑" panose="020B0503020204020204" pitchFamily="34" charset="-122"/>
                <a:cs typeface="Times New Roman" panose="02020603050405020304" pitchFamily="18" charset="0"/>
              </a:rPr>
              <a:t>b) </a:t>
            </a:r>
            <a:r>
              <a:rPr lang="zh-CN" altLang="zh-CN" sz="1600" b="1" kern="100" dirty="0" smtClean="0">
                <a:latin typeface="微软雅黑" panose="020B0503020204020204" pitchFamily="34" charset="-122"/>
                <a:ea typeface="微软雅黑" panose="020B0503020204020204" pitchFamily="34" charset="-122"/>
                <a:cs typeface="Times New Roman" panose="02020603050405020304" pitchFamily="18" charset="0"/>
              </a:rPr>
              <a:t>自</a:t>
            </a:r>
            <a:r>
              <a:rPr lang="zh-CN" altLang="zh-CN" sz="1600" b="1" kern="100" dirty="0">
                <a:latin typeface="微软雅黑" panose="020B0503020204020204" pitchFamily="34" charset="-122"/>
                <a:ea typeface="微软雅黑" panose="020B0503020204020204" pitchFamily="34" charset="-122"/>
                <a:cs typeface="Times New Roman" panose="02020603050405020304" pitchFamily="18" charset="0"/>
              </a:rPr>
              <a:t>谱分析法</a:t>
            </a:r>
          </a:p>
          <a:p>
            <a:pPr indent="269875" algn="just">
              <a:lnSpc>
                <a:spcPct val="150000"/>
              </a:lnSpc>
            </a:pPr>
            <a:r>
              <a:rPr lang="zh-CN" altLang="zh-CN" sz="1600" kern="100" dirty="0" smtClean="0">
                <a:latin typeface="微软雅黑" panose="020B0503020204020204" pitchFamily="34" charset="-122"/>
                <a:ea typeface="微软雅黑" panose="020B0503020204020204" pitchFamily="34" charset="-122"/>
                <a:cs typeface="Times New Roman" panose="02020603050405020304" pitchFamily="18" charset="0"/>
              </a:rPr>
              <a:t>对</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时域波形做</a:t>
            </a:r>
            <a:r>
              <a:rPr lang="en-US" altLang="zh-CN" sz="1600" kern="100" dirty="0">
                <a:latin typeface="微软雅黑" panose="020B0503020204020204" pitchFamily="34" charset="-122"/>
                <a:ea typeface="微软雅黑" panose="020B0503020204020204" pitchFamily="34" charset="-122"/>
                <a:cs typeface="Times New Roman" panose="02020603050405020304" pitchFamily="18" charset="0"/>
              </a:rPr>
              <a:t>FFT</a:t>
            </a:r>
            <a:r>
              <a:rPr lang="zh-CN" altLang="zh-CN" sz="1600" kern="100" dirty="0" smtClean="0">
                <a:latin typeface="微软雅黑" panose="020B0503020204020204" pitchFamily="34" charset="-122"/>
                <a:ea typeface="微软雅黑" panose="020B0503020204020204" pitchFamily="34" charset="-122"/>
                <a:cs typeface="Times New Roman" panose="02020603050405020304" pitchFamily="18" charset="0"/>
              </a:rPr>
              <a:t>变</a:t>
            </a:r>
            <a:r>
              <a:rPr lang="zh-CN" altLang="en-US" sz="1600" kern="100" dirty="0" smtClean="0">
                <a:latin typeface="微软雅黑" panose="020B0503020204020204" pitchFamily="34" charset="-122"/>
                <a:ea typeface="微软雅黑" panose="020B0503020204020204" pitchFamily="34" charset="-122"/>
                <a:cs typeface="Times New Roman" panose="02020603050405020304" pitchFamily="18" charset="0"/>
              </a:rPr>
              <a:t>，</a:t>
            </a:r>
            <a:r>
              <a:rPr lang="zh-CN" altLang="zh-CN" sz="1600" kern="100" dirty="0" smtClean="0">
                <a:latin typeface="微软雅黑" panose="020B0503020204020204" pitchFamily="34" charset="-122"/>
                <a:ea typeface="微软雅黑" panose="020B0503020204020204" pitchFamily="34" charset="-122"/>
                <a:cs typeface="Times New Roman" panose="02020603050405020304" pitchFamily="18" charset="0"/>
              </a:rPr>
              <a:t>得到</a:t>
            </a:r>
            <a:r>
              <a:rPr lang="zh-CN" altLang="zh-CN" sz="1600" kern="100" dirty="0">
                <a:latin typeface="微软雅黑" panose="020B0503020204020204" pitchFamily="34" charset="-122"/>
                <a:ea typeface="微软雅黑" panose="020B0503020204020204" pitchFamily="34" charset="-122"/>
                <a:cs typeface="Times New Roman" panose="02020603050405020304" pitchFamily="18" charset="0"/>
              </a:rPr>
              <a:t>其频谱图。电机转速由低到高扫频一次，采用频域峰值保持的方式，可以从自谱图中的各峰值处得到悬臂梁的各阶固有频率。</a:t>
            </a:r>
          </a:p>
        </p:txBody>
      </p:sp>
      <p:pic>
        <p:nvPicPr>
          <p:cNvPr id="8" name="图片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7582" y="1929295"/>
            <a:ext cx="6658094" cy="3742309"/>
          </a:xfrm>
          <a:prstGeom prst="rect">
            <a:avLst/>
          </a:prstGeom>
        </p:spPr>
      </p:pic>
      <p:sp>
        <p:nvSpPr>
          <p:cNvPr id="9" name="文本框 8"/>
          <p:cNvSpPr txBox="1"/>
          <p:nvPr/>
        </p:nvSpPr>
        <p:spPr>
          <a:xfrm>
            <a:off x="7228332" y="4932940"/>
            <a:ext cx="4552851" cy="1477328"/>
          </a:xfrm>
          <a:prstGeom prst="rect">
            <a:avLst/>
          </a:prstGeom>
          <a:solidFill>
            <a:schemeClr val="accent2">
              <a:lumMod val="20000"/>
              <a:lumOff val="80000"/>
            </a:schemeClr>
          </a:solidFill>
        </p:spPr>
        <p:txBody>
          <a:bodyPr wrap="square" rtlCol="0">
            <a:spAutoFit/>
          </a:bodyPr>
          <a:lstStyle/>
          <a:p>
            <a:r>
              <a:rPr lang="zh-CN" altLang="en-US" b="1" dirty="0" smtClean="0">
                <a:solidFill>
                  <a:srgbClr val="FF0000"/>
                </a:solidFill>
              </a:rPr>
              <a:t>思考：</a:t>
            </a:r>
            <a:endParaRPr lang="en-US" altLang="zh-CN" b="1" dirty="0" smtClean="0">
              <a:solidFill>
                <a:srgbClr val="FF0000"/>
              </a:solidFill>
            </a:endParaRPr>
          </a:p>
          <a:p>
            <a:r>
              <a:rPr lang="en-US" altLang="zh-CN" b="1" dirty="0" smtClean="0">
                <a:solidFill>
                  <a:srgbClr val="FF0000"/>
                </a:solidFill>
              </a:rPr>
              <a:t>1</a:t>
            </a:r>
            <a:r>
              <a:rPr lang="zh-CN" altLang="en-US" b="1" dirty="0" smtClean="0">
                <a:solidFill>
                  <a:srgbClr val="FF0000"/>
                </a:solidFill>
              </a:rPr>
              <a:t>、在传感器综合实验中，振动台的幅值变化非常明显，比较方便判别其固有频率。但是悬臂梁的幅值较小，不容易观察，如何得到其固有频率呢？</a:t>
            </a:r>
            <a:endParaRPr lang="zh-CN" altLang="en-US" b="1" dirty="0">
              <a:solidFill>
                <a:srgbClr val="FF0000"/>
              </a:solidFill>
            </a:endParaRPr>
          </a:p>
        </p:txBody>
      </p:sp>
    </p:spTree>
    <p:extLst>
      <p:ext uri="{BB962C8B-B14F-4D97-AF65-F5344CB8AC3E}">
        <p14:creationId xmlns:p14="http://schemas.microsoft.com/office/powerpoint/2010/main" val="255988956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操 作 步 骤</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0112" y="1132114"/>
            <a:ext cx="1901372"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1. </a:t>
            </a:r>
            <a:r>
              <a:rPr lang="zh-CN" altLang="en-US" sz="2400" b="1" dirty="0" smtClean="0">
                <a:latin typeface="微软雅黑" panose="020B0503020204020204" pitchFamily="34" charset="-122"/>
                <a:ea typeface="微软雅黑" panose="020B0503020204020204" pitchFamily="34" charset="-122"/>
              </a:rPr>
              <a:t>桌面软件</a:t>
            </a:r>
            <a:endParaRPr lang="zh-CN" altLang="en-US" sz="2400" b="1" dirty="0">
              <a:latin typeface="微软雅黑" panose="020B0503020204020204" pitchFamily="34" charset="-122"/>
              <a:ea typeface="微软雅黑" panose="020B0503020204020204" pitchFamily="34" charset="-122"/>
            </a:endParaRPr>
          </a:p>
        </p:txBody>
      </p:sp>
      <p:sp>
        <p:nvSpPr>
          <p:cNvPr id="6" name="文本框 5"/>
          <p:cNvSpPr txBox="1"/>
          <p:nvPr/>
        </p:nvSpPr>
        <p:spPr>
          <a:xfrm>
            <a:off x="2963537" y="5178193"/>
            <a:ext cx="1695550" cy="523220"/>
          </a:xfrm>
          <a:prstGeom prst="rect">
            <a:avLst/>
          </a:prstGeom>
          <a:noFill/>
        </p:spPr>
        <p:txBody>
          <a:bodyPr wrap="square" rtlCol="0">
            <a:spAutoFit/>
          </a:bodyPr>
          <a:lstStyle/>
          <a:p>
            <a:r>
              <a:rPr lang="zh-CN" altLang="en-US" sz="2800" dirty="0" smtClean="0">
                <a:latin typeface="微软雅黑" panose="020B0503020204020204" pitchFamily="34" charset="-122"/>
                <a:ea typeface="微软雅黑" panose="020B0503020204020204" pitchFamily="34" charset="-122"/>
              </a:rPr>
              <a:t>数据</a:t>
            </a:r>
            <a:r>
              <a:rPr lang="zh-CN" altLang="en-US" sz="2800" dirty="0">
                <a:latin typeface="微软雅黑" panose="020B0503020204020204" pitchFamily="34" charset="-122"/>
                <a:ea typeface="微软雅黑" panose="020B0503020204020204" pitchFamily="34" charset="-122"/>
              </a:rPr>
              <a:t>采集</a:t>
            </a:r>
          </a:p>
        </p:txBody>
      </p:sp>
      <p:pic>
        <p:nvPicPr>
          <p:cNvPr id="7" name="图片 6"/>
          <p:cNvPicPr>
            <a:picLocks noChangeAspect="1"/>
          </p:cNvPicPr>
          <p:nvPr/>
        </p:nvPicPr>
        <p:blipFill rotWithShape="1">
          <a:blip r:embed="rId2"/>
          <a:srcRect l="9406" t="813" r="1560" b="50813"/>
          <a:stretch/>
        </p:blipFill>
        <p:spPr>
          <a:xfrm>
            <a:off x="2620803" y="2409371"/>
            <a:ext cx="2236848" cy="2332437"/>
          </a:xfrm>
          <a:prstGeom prst="rect">
            <a:avLst/>
          </a:prstGeom>
        </p:spPr>
      </p:pic>
      <p:sp>
        <p:nvSpPr>
          <p:cNvPr id="8" name="文本框 7"/>
          <p:cNvSpPr txBox="1"/>
          <p:nvPr/>
        </p:nvSpPr>
        <p:spPr>
          <a:xfrm>
            <a:off x="7380512" y="5178193"/>
            <a:ext cx="1669145" cy="523220"/>
          </a:xfrm>
          <a:prstGeom prst="rect">
            <a:avLst/>
          </a:prstGeom>
          <a:noFill/>
        </p:spPr>
        <p:txBody>
          <a:bodyPr wrap="square" rtlCol="0">
            <a:spAutoFit/>
          </a:bodyPr>
          <a:lstStyle/>
          <a:p>
            <a:r>
              <a:rPr lang="zh-CN" altLang="en-US" sz="2800" dirty="0" smtClean="0">
                <a:latin typeface="微软雅黑" panose="020B0503020204020204" pitchFamily="34" charset="-122"/>
                <a:ea typeface="微软雅黑" panose="020B0503020204020204" pitchFamily="34" charset="-122"/>
              </a:rPr>
              <a:t>离线分析</a:t>
            </a:r>
            <a:endParaRPr lang="zh-CN" altLang="en-US" sz="2800" dirty="0">
              <a:latin typeface="微软雅黑" panose="020B0503020204020204" pitchFamily="34" charset="-122"/>
              <a:ea typeface="微软雅黑" panose="020B0503020204020204" pitchFamily="34" charset="-122"/>
            </a:endParaRPr>
          </a:p>
        </p:txBody>
      </p:sp>
      <p:pic>
        <p:nvPicPr>
          <p:cNvPr id="10" name="图片 9"/>
          <p:cNvPicPr>
            <a:picLocks noChangeAspect="1"/>
          </p:cNvPicPr>
          <p:nvPr/>
        </p:nvPicPr>
        <p:blipFill rotWithShape="1">
          <a:blip r:embed="rId2"/>
          <a:srcRect l="9406" t="52518" r="7802"/>
          <a:stretch/>
        </p:blipFill>
        <p:spPr>
          <a:xfrm>
            <a:off x="7155543" y="2409371"/>
            <a:ext cx="2119085" cy="2332437"/>
          </a:xfrm>
          <a:prstGeom prst="rect">
            <a:avLst/>
          </a:prstGeom>
        </p:spPr>
      </p:pic>
    </p:spTree>
    <p:extLst>
      <p:ext uri="{BB962C8B-B14F-4D97-AF65-F5344CB8AC3E}">
        <p14:creationId xmlns:p14="http://schemas.microsoft.com/office/powerpoint/2010/main" val="2684380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操 作 步 骤</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0112" y="1132114"/>
            <a:ext cx="1901372"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、硬件连接</a:t>
            </a:r>
            <a:endParaRPr lang="zh-CN" altLang="en-US" sz="2400" b="1" dirty="0">
              <a:latin typeface="微软雅黑" panose="020B0503020204020204" pitchFamily="34" charset="-122"/>
              <a:ea typeface="微软雅黑" panose="020B0503020204020204" pitchFamily="34" charset="-122"/>
            </a:endParaRPr>
          </a:p>
        </p:txBody>
      </p:sp>
      <p:pic>
        <p:nvPicPr>
          <p:cNvPr id="9" name="图片 8" descr="E:\02 产品管理\02 产品需求\2021-06-16 转子试验台设计\2021-09-15 转子台新模型系统图实验二.png"/>
          <p:cNvPicPr/>
          <p:nvPr/>
        </p:nvPicPr>
        <p:blipFill>
          <a:blip r:embed="rId3">
            <a:extLst>
              <a:ext uri="{28A0092B-C50C-407E-A947-70E740481C1C}">
                <a14:useLocalDpi xmlns:a14="http://schemas.microsoft.com/office/drawing/2010/main" val="0"/>
              </a:ext>
            </a:extLst>
          </a:blip>
          <a:srcRect/>
          <a:stretch>
            <a:fillRect/>
          </a:stretch>
        </p:blipFill>
        <p:spPr>
          <a:xfrm>
            <a:off x="5376252" y="1220903"/>
            <a:ext cx="5632060" cy="5366328"/>
          </a:xfrm>
          <a:prstGeom prst="rect">
            <a:avLst/>
          </a:prstGeom>
          <a:noFill/>
          <a:ln>
            <a:noFill/>
          </a:ln>
        </p:spPr>
      </p:pic>
      <p:graphicFrame>
        <p:nvGraphicFramePr>
          <p:cNvPr id="3" name="图示 2"/>
          <p:cNvGraphicFramePr/>
          <p:nvPr>
            <p:extLst>
              <p:ext uri="{D42A27DB-BD31-4B8C-83A1-F6EECF244321}">
                <p14:modId xmlns:p14="http://schemas.microsoft.com/office/powerpoint/2010/main" val="3008802570"/>
              </p:ext>
            </p:extLst>
          </p:nvPr>
        </p:nvGraphicFramePr>
        <p:xfrm>
          <a:off x="769181" y="4328746"/>
          <a:ext cx="4331123" cy="6135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1" name="图示 10"/>
          <p:cNvGraphicFramePr/>
          <p:nvPr>
            <p:extLst>
              <p:ext uri="{D42A27DB-BD31-4B8C-83A1-F6EECF244321}">
                <p14:modId xmlns:p14="http://schemas.microsoft.com/office/powerpoint/2010/main" val="1034291502"/>
              </p:ext>
            </p:extLst>
          </p:nvPr>
        </p:nvGraphicFramePr>
        <p:xfrm>
          <a:off x="785828" y="5032900"/>
          <a:ext cx="4331123" cy="613547"/>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graphicFrame>
        <p:nvGraphicFramePr>
          <p:cNvPr id="12" name="图示 11"/>
          <p:cNvGraphicFramePr/>
          <p:nvPr>
            <p:extLst>
              <p:ext uri="{D42A27DB-BD31-4B8C-83A1-F6EECF244321}">
                <p14:modId xmlns:p14="http://schemas.microsoft.com/office/powerpoint/2010/main" val="534894229"/>
              </p:ext>
            </p:extLst>
          </p:nvPr>
        </p:nvGraphicFramePr>
        <p:xfrm>
          <a:off x="769181" y="5737054"/>
          <a:ext cx="4331123" cy="318296"/>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4" name="文本框 3"/>
          <p:cNvSpPr txBox="1"/>
          <p:nvPr/>
        </p:nvSpPr>
        <p:spPr>
          <a:xfrm>
            <a:off x="5527830" y="4394447"/>
            <a:ext cx="1103789" cy="276999"/>
          </a:xfrm>
          <a:prstGeom prst="rect">
            <a:avLst/>
          </a:prstGeom>
        </p:spPr>
        <p:style>
          <a:lnRef idx="1">
            <a:schemeClr val="accent5"/>
          </a:lnRef>
          <a:fillRef idx="3">
            <a:schemeClr val="accent5"/>
          </a:fillRef>
          <a:effectRef idx="2">
            <a:schemeClr val="accent5"/>
          </a:effectRef>
          <a:fontRef idx="minor">
            <a:schemeClr val="lt1"/>
          </a:fontRef>
        </p:style>
        <p:txBody>
          <a:bodyPr wrap="square" rtlCol="0">
            <a:spAutoFit/>
          </a:bodyPr>
          <a:lstStyle/>
          <a:p>
            <a:r>
              <a:rPr lang="zh-CN" altLang="en-US" sz="1200" dirty="0" smtClean="0"/>
              <a:t>加速度传感器</a:t>
            </a:r>
            <a:endParaRPr lang="zh-CN" altLang="en-US" sz="1200" dirty="0"/>
          </a:p>
        </p:txBody>
      </p:sp>
      <p:cxnSp>
        <p:nvCxnSpPr>
          <p:cNvPr id="14" name="直接箭头连接符 13"/>
          <p:cNvCxnSpPr>
            <a:stCxn id="4" idx="2"/>
          </p:cNvCxnSpPr>
          <p:nvPr/>
        </p:nvCxnSpPr>
        <p:spPr>
          <a:xfrm>
            <a:off x="6079725" y="4671446"/>
            <a:ext cx="898124" cy="477603"/>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5" name="文本框 14"/>
          <p:cNvSpPr txBox="1"/>
          <p:nvPr/>
        </p:nvSpPr>
        <p:spPr>
          <a:xfrm>
            <a:off x="370112" y="1672556"/>
            <a:ext cx="4811488" cy="2031325"/>
          </a:xfrm>
          <a:prstGeom prst="rect">
            <a:avLst/>
          </a:prstGeom>
          <a:noFill/>
        </p:spPr>
        <p:txBody>
          <a:bodyPr wrap="square" rtlCol="0">
            <a:spAutoFit/>
          </a:bodyPr>
          <a:lstStyle/>
          <a:p>
            <a:pPr marL="285750" indent="-285750">
              <a:buFont typeface="Wingdings" panose="05000000000000000000" pitchFamily="2" charset="2"/>
              <a:buChar char="u"/>
            </a:pPr>
            <a:r>
              <a:rPr lang="zh-CN" altLang="en-US" dirty="0"/>
              <a:t>安装</a:t>
            </a:r>
            <a:r>
              <a:rPr lang="zh-CN" altLang="en-US" dirty="0" smtClean="0"/>
              <a:t>加速度传感器时，先将其旋入左边蓝色基座，再将其传感器连接线（金色头）旋入，注意里面的针脚一定对准再旋紧，不可蛮力致其损坏。</a:t>
            </a:r>
            <a:endParaRPr lang="en-US" altLang="zh-CN" dirty="0" smtClean="0"/>
          </a:p>
          <a:p>
            <a:pPr marL="285750" indent="-285750">
              <a:buFont typeface="Wingdings" panose="05000000000000000000" pitchFamily="2" charset="2"/>
              <a:buChar char="u"/>
            </a:pPr>
            <a:r>
              <a:rPr lang="zh-CN" altLang="en-US" dirty="0" smtClean="0">
                <a:cs typeface="Times New Roman" panose="02020603050405020304" pitchFamily="18" charset="0"/>
              </a:rPr>
              <a:t>安装</a:t>
            </a:r>
            <a:r>
              <a:rPr lang="zh-CN" altLang="zh-CN" dirty="0" smtClean="0">
                <a:cs typeface="Times New Roman" panose="02020603050405020304" pitchFamily="18" charset="0"/>
              </a:rPr>
              <a:t>悬臂梁</a:t>
            </a:r>
            <a:r>
              <a:rPr lang="zh-CN" altLang="zh-CN" dirty="0">
                <a:cs typeface="Times New Roman" panose="02020603050405020304" pitchFamily="18" charset="0"/>
              </a:rPr>
              <a:t>（不锈钢材质，银色）</a:t>
            </a:r>
            <a:r>
              <a:rPr lang="zh-CN" altLang="en-US" dirty="0">
                <a:cs typeface="Times New Roman" panose="02020603050405020304" pitchFamily="18" charset="0"/>
              </a:rPr>
              <a:t>时</a:t>
            </a:r>
            <a:r>
              <a:rPr lang="zh-CN" altLang="zh-CN" dirty="0">
                <a:cs typeface="Times New Roman" panose="02020603050405020304" pitchFamily="18" charset="0"/>
              </a:rPr>
              <a:t>，从</a:t>
            </a:r>
            <a:r>
              <a:rPr lang="zh-CN" altLang="en-US" dirty="0">
                <a:cs typeface="Times New Roman" panose="02020603050405020304" pitchFamily="18" charset="0"/>
              </a:rPr>
              <a:t>下</a:t>
            </a:r>
            <a:r>
              <a:rPr lang="zh-CN" altLang="zh-CN" dirty="0">
                <a:cs typeface="Times New Roman" panose="02020603050405020304" pitchFamily="18" charset="0"/>
              </a:rPr>
              <a:t>至上分别为</a:t>
            </a:r>
            <a:r>
              <a:rPr lang="zh-CN" altLang="zh-CN" dirty="0" smtClean="0">
                <a:cs typeface="Times New Roman" panose="02020603050405020304" pitchFamily="18" charset="0"/>
              </a:rPr>
              <a:t>：</a:t>
            </a:r>
            <a:r>
              <a:rPr lang="zh-CN" altLang="en-US" dirty="0" smtClean="0">
                <a:cs typeface="Times New Roman" panose="02020603050405020304" pitchFamily="18" charset="0"/>
              </a:rPr>
              <a:t>右侧蓝色</a:t>
            </a:r>
            <a:r>
              <a:rPr lang="zh-CN" altLang="zh-CN" dirty="0">
                <a:cs typeface="Times New Roman" panose="02020603050405020304" pitchFamily="18" charset="0"/>
              </a:rPr>
              <a:t>基座、垫片、悬臂梁、垫片、弹簧垫片、旋紧螺母</a:t>
            </a:r>
            <a:r>
              <a:rPr lang="zh-CN" altLang="zh-CN" dirty="0" smtClean="0">
                <a:cs typeface="Times New Roman" panose="02020603050405020304" pitchFamily="18" charset="0"/>
              </a:rPr>
              <a:t>。</a:t>
            </a:r>
            <a:endParaRPr lang="zh-CN" altLang="en-US" dirty="0"/>
          </a:p>
        </p:txBody>
      </p:sp>
      <p:sp>
        <p:nvSpPr>
          <p:cNvPr id="17" name="文本框 16"/>
          <p:cNvSpPr txBox="1"/>
          <p:nvPr/>
        </p:nvSpPr>
        <p:spPr>
          <a:xfrm>
            <a:off x="689282" y="3983351"/>
            <a:ext cx="1444315" cy="307777"/>
          </a:xfrm>
          <a:prstGeom prst="rect">
            <a:avLst/>
          </a:prstGeom>
          <a:noFill/>
        </p:spPr>
        <p:txBody>
          <a:bodyPr wrap="square" rtlCol="0">
            <a:spAutoFit/>
          </a:bodyPr>
          <a:lstStyle/>
          <a:p>
            <a:r>
              <a:rPr lang="zh-CN" altLang="en-US" sz="1400" b="1" dirty="0" smtClean="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rPr>
              <a:t>电气连接方式</a:t>
            </a:r>
            <a:endParaRPr lang="zh-CN" altLang="en-US" sz="1400" b="1" dirty="0">
              <a:ln w="0"/>
              <a:solidFill>
                <a:schemeClr val="accent1"/>
              </a:solidFill>
              <a:effectLst>
                <a:outerShdw blurRad="38100" dist="25400" dir="5400000" algn="ctr" rotWithShape="0">
                  <a:srgbClr val="6E747A">
                    <a:alpha val="43000"/>
                  </a:srgbClr>
                </a:outerShdw>
              </a:effectLst>
              <a:latin typeface="微软雅黑" panose="020B0503020204020204" pitchFamily="34" charset="-122"/>
              <a:ea typeface="微软雅黑" panose="020B0503020204020204" pitchFamily="34" charset="-122"/>
            </a:endParaRPr>
          </a:p>
        </p:txBody>
      </p:sp>
      <p:graphicFrame>
        <p:nvGraphicFramePr>
          <p:cNvPr id="19" name="图示 18"/>
          <p:cNvGraphicFramePr/>
          <p:nvPr>
            <p:extLst>
              <p:ext uri="{D42A27DB-BD31-4B8C-83A1-F6EECF244321}">
                <p14:modId xmlns:p14="http://schemas.microsoft.com/office/powerpoint/2010/main" val="3619713955"/>
              </p:ext>
            </p:extLst>
          </p:nvPr>
        </p:nvGraphicFramePr>
        <p:xfrm>
          <a:off x="785827" y="6145957"/>
          <a:ext cx="4331123" cy="356183"/>
        </p:xfrm>
        <a:graphic>
          <a:graphicData uri="http://schemas.openxmlformats.org/drawingml/2006/diagram">
            <dgm:relIds xmlns:dgm="http://schemas.openxmlformats.org/drawingml/2006/diagram" xmlns:r="http://schemas.openxmlformats.org/officeDocument/2006/relationships" r:dm="rId19" r:lo="rId20" r:qs="rId21" r:cs="rId22"/>
          </a:graphicData>
        </a:graphic>
      </p:graphicFrame>
    </p:spTree>
    <p:extLst>
      <p:ext uri="{BB962C8B-B14F-4D97-AF65-F5344CB8AC3E}">
        <p14:creationId xmlns:p14="http://schemas.microsoft.com/office/powerpoint/2010/main" val="20664878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857651" y="106334"/>
            <a:ext cx="247669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操 作 步 骤</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435427" y="1038397"/>
            <a:ext cx="5660573"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3. </a:t>
            </a:r>
            <a:r>
              <a:rPr lang="zh-CN" altLang="en-US" sz="2400" b="1" dirty="0" smtClean="0">
                <a:latin typeface="微软雅黑" panose="020B0503020204020204" pitchFamily="34" charset="-122"/>
                <a:ea typeface="微软雅黑" panose="020B0503020204020204" pitchFamily="34" charset="-122"/>
              </a:rPr>
              <a:t>参数</a:t>
            </a:r>
            <a:r>
              <a:rPr lang="zh-CN" altLang="en-US" sz="2400" b="1" dirty="0" smtClean="0">
                <a:latin typeface="微软雅黑" panose="020B0503020204020204" pitchFamily="34" charset="-122"/>
                <a:ea typeface="微软雅黑" panose="020B0503020204020204" pitchFamily="34" charset="-122"/>
              </a:rPr>
              <a:t>设置</a:t>
            </a:r>
            <a:endParaRPr lang="zh-CN" altLang="en-US" sz="2400" b="1" dirty="0">
              <a:latin typeface="微软雅黑" panose="020B0503020204020204" pitchFamily="34" charset="-122"/>
              <a:ea typeface="微软雅黑" panose="020B0503020204020204" pitchFamily="34" charset="-122"/>
            </a:endParaRPr>
          </a:p>
        </p:txBody>
      </p:sp>
      <p:pic>
        <p:nvPicPr>
          <p:cNvPr id="11" name="图片 10"/>
          <p:cNvPicPr>
            <a:picLocks noChangeAspect="1"/>
          </p:cNvPicPr>
          <p:nvPr/>
        </p:nvPicPr>
        <p:blipFill rotWithShape="1">
          <a:blip r:embed="rId2"/>
          <a:srcRect t="-4257" r="11465" b="31494"/>
          <a:stretch/>
        </p:blipFill>
        <p:spPr>
          <a:xfrm>
            <a:off x="8719651" y="2774144"/>
            <a:ext cx="3153693" cy="3156664"/>
          </a:xfrm>
          <a:prstGeom prst="rect">
            <a:avLst/>
          </a:prstGeom>
        </p:spPr>
      </p:pic>
      <p:pic>
        <p:nvPicPr>
          <p:cNvPr id="3" name="图片 2"/>
          <p:cNvPicPr>
            <a:picLocks noChangeAspect="1"/>
          </p:cNvPicPr>
          <p:nvPr/>
        </p:nvPicPr>
        <p:blipFill>
          <a:blip r:embed="rId3"/>
          <a:stretch>
            <a:fillRect/>
          </a:stretch>
        </p:blipFill>
        <p:spPr>
          <a:xfrm>
            <a:off x="382984" y="1585159"/>
            <a:ext cx="11426032" cy="962078"/>
          </a:xfrm>
          <a:prstGeom prst="rect">
            <a:avLst/>
          </a:prstGeom>
        </p:spPr>
      </p:pic>
      <p:sp>
        <p:nvSpPr>
          <p:cNvPr id="4" name="文本框 3"/>
          <p:cNvSpPr txBox="1"/>
          <p:nvPr/>
        </p:nvSpPr>
        <p:spPr>
          <a:xfrm>
            <a:off x="2757487" y="2177905"/>
            <a:ext cx="307799" cy="369332"/>
          </a:xfrm>
          <a:prstGeom prst="rect">
            <a:avLst/>
          </a:prstGeom>
          <a:noFill/>
          <a:ln w="38100">
            <a:solidFill>
              <a:srgbClr val="FF0000"/>
            </a:solidFill>
            <a:prstDash val="solid"/>
          </a:ln>
        </p:spPr>
        <p:txBody>
          <a:bodyPr wrap="square" rtlCol="0">
            <a:spAutoFit/>
          </a:bodyPr>
          <a:lstStyle/>
          <a:p>
            <a:endParaRPr lang="zh-CN" altLang="en-US" dirty="0"/>
          </a:p>
        </p:txBody>
      </p:sp>
      <p:cxnSp>
        <p:nvCxnSpPr>
          <p:cNvPr id="14" name="直接箭头连接符 13"/>
          <p:cNvCxnSpPr>
            <a:stCxn id="4" idx="2"/>
          </p:cNvCxnSpPr>
          <p:nvPr/>
        </p:nvCxnSpPr>
        <p:spPr>
          <a:xfrm flipH="1">
            <a:off x="2223869" y="2547237"/>
            <a:ext cx="687518" cy="6954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p:cNvSpPr txBox="1"/>
          <p:nvPr/>
        </p:nvSpPr>
        <p:spPr>
          <a:xfrm>
            <a:off x="239040" y="5068984"/>
            <a:ext cx="3969657" cy="1200329"/>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① 硬件参数</a:t>
            </a:r>
            <a:r>
              <a:rPr lang="zh-CN" altLang="en-US" dirty="0" smtClean="0">
                <a:latin typeface="微软雅黑" panose="020B0503020204020204" pitchFamily="34" charset="-122"/>
                <a:ea typeface="微软雅黑" panose="020B0503020204020204" pitchFamily="34" charset="-122"/>
              </a:rPr>
              <a:t>：耦合方式、灵敏度</a:t>
            </a:r>
            <a:r>
              <a:rPr lang="zh-CN" altLang="en-US" dirty="0" smtClean="0">
                <a:latin typeface="微软雅黑" panose="020B0503020204020204" pitchFamily="34" charset="-122"/>
                <a:ea typeface="微软雅黑" panose="020B0503020204020204" pitchFamily="34" charset="-122"/>
              </a:rPr>
              <a:t>等，思考后面问题。</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加速度传感器的灵敏度根据其标定盒子数据确定。</a:t>
            </a:r>
            <a:endParaRPr lang="zh-CN" altLang="en-US" dirty="0">
              <a:latin typeface="微软雅黑" panose="020B0503020204020204" pitchFamily="34" charset="-122"/>
              <a:ea typeface="微软雅黑" panose="020B0503020204020204" pitchFamily="34" charset="-122"/>
            </a:endParaRPr>
          </a:p>
        </p:txBody>
      </p:sp>
      <p:sp>
        <p:nvSpPr>
          <p:cNvPr id="18" name="文本框 17"/>
          <p:cNvSpPr txBox="1"/>
          <p:nvPr/>
        </p:nvSpPr>
        <p:spPr>
          <a:xfrm>
            <a:off x="8954111" y="5946147"/>
            <a:ext cx="2919233" cy="646331"/>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③ 分析参数</a:t>
            </a:r>
            <a:r>
              <a:rPr lang="zh-CN" altLang="en-US" dirty="0" smtClean="0">
                <a:latin typeface="微软雅黑" panose="020B0503020204020204" pitchFamily="34" charset="-122"/>
                <a:ea typeface="微软雅黑" panose="020B0503020204020204" pitchFamily="34" charset="-122"/>
              </a:rPr>
              <a:t>：采样频率、采样</a:t>
            </a:r>
            <a:r>
              <a:rPr lang="zh-CN" altLang="en-US" dirty="0" smtClean="0">
                <a:latin typeface="微软雅黑" panose="020B0503020204020204" pitchFamily="34" charset="-122"/>
                <a:ea typeface="微软雅黑" panose="020B0503020204020204" pitchFamily="34" charset="-122"/>
              </a:rPr>
              <a:t>点数等</a:t>
            </a:r>
            <a:endParaRPr lang="zh-CN" altLang="en-US" dirty="0">
              <a:latin typeface="微软雅黑" panose="020B0503020204020204" pitchFamily="34" charset="-122"/>
              <a:ea typeface="微软雅黑" panose="020B0503020204020204" pitchFamily="34" charset="-122"/>
            </a:endParaRPr>
          </a:p>
        </p:txBody>
      </p:sp>
      <p:sp>
        <p:nvSpPr>
          <p:cNvPr id="19" name="文本框 18"/>
          <p:cNvSpPr txBox="1"/>
          <p:nvPr/>
        </p:nvSpPr>
        <p:spPr>
          <a:xfrm>
            <a:off x="4754620" y="6051727"/>
            <a:ext cx="3835013" cy="646331"/>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② 存储管理</a:t>
            </a:r>
            <a:r>
              <a:rPr lang="zh-CN" altLang="en-US" dirty="0" smtClean="0">
                <a:latin typeface="微软雅黑" panose="020B0503020204020204" pitchFamily="34" charset="-122"/>
                <a:ea typeface="微软雅黑" panose="020B0503020204020204" pitchFamily="34" charset="-122"/>
              </a:rPr>
              <a:t>：存储路径和类型</a:t>
            </a:r>
            <a:r>
              <a:rPr lang="zh-CN" altLang="en-US" dirty="0" smtClean="0">
                <a:latin typeface="微软雅黑" panose="020B0503020204020204" pitchFamily="34" charset="-122"/>
                <a:ea typeface="微软雅黑" panose="020B0503020204020204" pitchFamily="34" charset="-122"/>
              </a:rPr>
              <a:t>等</a:t>
            </a:r>
            <a:endParaRPr lang="en-US" altLang="zh-CN" dirty="0" smtClean="0">
              <a:latin typeface="微软雅黑" panose="020B0503020204020204" pitchFamily="34" charset="-122"/>
              <a:ea typeface="微软雅黑" panose="020B0503020204020204" pitchFamily="34" charset="-122"/>
            </a:endParaRPr>
          </a:p>
          <a:p>
            <a:r>
              <a:rPr lang="zh-CN" altLang="en-US" dirty="0" smtClean="0">
                <a:latin typeface="微软雅黑" panose="020B0503020204020204" pitchFamily="34" charset="-122"/>
                <a:ea typeface="微软雅黑" panose="020B0503020204020204" pitchFamily="34" charset="-122"/>
              </a:rPr>
              <a:t>选用</a:t>
            </a:r>
            <a:r>
              <a:rPr lang="en-US" altLang="zh-CN" dirty="0" smtClean="0">
                <a:latin typeface="微软雅黑" panose="020B0503020204020204" pitchFamily="34" charset="-122"/>
                <a:ea typeface="微软雅黑" panose="020B0503020204020204" pitchFamily="34" charset="-122"/>
              </a:rPr>
              <a:t>X-Y</a:t>
            </a:r>
            <a:r>
              <a:rPr lang="zh-CN" altLang="en-US" dirty="0" smtClean="0">
                <a:latin typeface="微软雅黑" panose="020B0503020204020204" pitchFamily="34" charset="-122"/>
                <a:ea typeface="微软雅黑" panose="020B0503020204020204" pitchFamily="34" charset="-122"/>
              </a:rPr>
              <a:t>形式，方便</a:t>
            </a:r>
            <a:r>
              <a:rPr lang="en-US" altLang="zh-CN" dirty="0" smtClean="0">
                <a:latin typeface="微软雅黑" panose="020B0503020204020204" pitchFamily="34" charset="-122"/>
                <a:ea typeface="微软雅黑" panose="020B0503020204020204" pitchFamily="34" charset="-122"/>
              </a:rPr>
              <a:t>MATLAB</a:t>
            </a:r>
            <a:r>
              <a:rPr lang="zh-CN" altLang="en-US" dirty="0" smtClean="0">
                <a:latin typeface="微软雅黑" panose="020B0503020204020204" pitchFamily="34" charset="-122"/>
                <a:ea typeface="微软雅黑" panose="020B0503020204020204" pitchFamily="34" charset="-122"/>
              </a:rPr>
              <a:t>等分析</a:t>
            </a:r>
            <a:endParaRPr lang="zh-CN" altLang="en-US" dirty="0">
              <a:latin typeface="微软雅黑" panose="020B0503020204020204" pitchFamily="34" charset="-122"/>
              <a:ea typeface="微软雅黑" panose="020B0503020204020204" pitchFamily="34" charset="-122"/>
            </a:endParaRPr>
          </a:p>
        </p:txBody>
      </p:sp>
      <p:cxnSp>
        <p:nvCxnSpPr>
          <p:cNvPr id="21" name="直接箭头连接符 20"/>
          <p:cNvCxnSpPr/>
          <p:nvPr/>
        </p:nvCxnSpPr>
        <p:spPr>
          <a:xfrm>
            <a:off x="3296444" y="2569629"/>
            <a:ext cx="3758213" cy="40903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文本框 23"/>
          <p:cNvSpPr txBox="1"/>
          <p:nvPr/>
        </p:nvSpPr>
        <p:spPr>
          <a:xfrm>
            <a:off x="3149601" y="2177905"/>
            <a:ext cx="293687" cy="369332"/>
          </a:xfrm>
          <a:prstGeom prst="rect">
            <a:avLst/>
          </a:prstGeom>
          <a:noFill/>
          <a:ln w="38100">
            <a:solidFill>
              <a:srgbClr val="FF0000"/>
            </a:solidFill>
            <a:prstDash val="solid"/>
          </a:ln>
        </p:spPr>
        <p:txBody>
          <a:bodyPr wrap="square" rtlCol="0">
            <a:spAutoFit/>
          </a:bodyPr>
          <a:lstStyle/>
          <a:p>
            <a:endParaRPr lang="zh-CN" altLang="en-US" dirty="0"/>
          </a:p>
        </p:txBody>
      </p:sp>
      <p:sp>
        <p:nvSpPr>
          <p:cNvPr id="26" name="文本框 25"/>
          <p:cNvSpPr txBox="1"/>
          <p:nvPr/>
        </p:nvSpPr>
        <p:spPr>
          <a:xfrm>
            <a:off x="3787776" y="2177905"/>
            <a:ext cx="293687" cy="369332"/>
          </a:xfrm>
          <a:prstGeom prst="rect">
            <a:avLst/>
          </a:prstGeom>
          <a:noFill/>
          <a:ln w="38100">
            <a:solidFill>
              <a:srgbClr val="FF0000"/>
            </a:solidFill>
            <a:prstDash val="solid"/>
          </a:ln>
        </p:spPr>
        <p:txBody>
          <a:bodyPr wrap="square" rtlCol="0">
            <a:spAutoFit/>
          </a:bodyPr>
          <a:lstStyle/>
          <a:p>
            <a:endParaRPr lang="zh-CN" altLang="en-US" dirty="0"/>
          </a:p>
        </p:txBody>
      </p:sp>
      <p:cxnSp>
        <p:nvCxnSpPr>
          <p:cNvPr id="27" name="直接箭头连接符 26"/>
          <p:cNvCxnSpPr>
            <a:stCxn id="26" idx="2"/>
          </p:cNvCxnSpPr>
          <p:nvPr/>
        </p:nvCxnSpPr>
        <p:spPr>
          <a:xfrm>
            <a:off x="3934620" y="2547237"/>
            <a:ext cx="6525548" cy="431423"/>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图片 4"/>
          <p:cNvPicPr>
            <a:picLocks noChangeAspect="1"/>
          </p:cNvPicPr>
          <p:nvPr/>
        </p:nvPicPr>
        <p:blipFill>
          <a:blip r:embed="rId4"/>
          <a:stretch>
            <a:fillRect/>
          </a:stretch>
        </p:blipFill>
        <p:spPr>
          <a:xfrm>
            <a:off x="149804" y="3248968"/>
            <a:ext cx="4604816" cy="1441451"/>
          </a:xfrm>
          <a:prstGeom prst="rect">
            <a:avLst/>
          </a:prstGeom>
        </p:spPr>
      </p:pic>
      <p:pic>
        <p:nvPicPr>
          <p:cNvPr id="8" name="图片 7"/>
          <p:cNvPicPr>
            <a:picLocks noChangeAspect="1"/>
          </p:cNvPicPr>
          <p:nvPr/>
        </p:nvPicPr>
        <p:blipFill>
          <a:blip r:embed="rId5"/>
          <a:stretch>
            <a:fillRect/>
          </a:stretch>
        </p:blipFill>
        <p:spPr>
          <a:xfrm>
            <a:off x="4916141" y="3054651"/>
            <a:ext cx="3375603" cy="2994059"/>
          </a:xfrm>
          <a:prstGeom prst="rect">
            <a:avLst/>
          </a:prstGeom>
        </p:spPr>
      </p:pic>
    </p:spTree>
    <p:extLst>
      <p:ext uri="{BB962C8B-B14F-4D97-AF65-F5344CB8AC3E}">
        <p14:creationId xmlns:p14="http://schemas.microsoft.com/office/powerpoint/2010/main" val="36848297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4022366" y="116480"/>
            <a:ext cx="512972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硬件参数与传感器介绍</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246743" y="1088571"/>
            <a:ext cx="4414034"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1</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电涡流位移传感器</a:t>
            </a:r>
            <a:endParaRPr lang="zh-CN" altLang="en-US" sz="2400" b="1" dirty="0">
              <a:latin typeface="微软雅黑" panose="020B0503020204020204" pitchFamily="34" charset="-122"/>
              <a:ea typeface="微软雅黑" panose="020B0503020204020204" pitchFamily="34" charset="-122"/>
            </a:endParaRPr>
          </a:p>
        </p:txBody>
      </p:sp>
      <p:sp>
        <p:nvSpPr>
          <p:cNvPr id="2" name="矩形 1"/>
          <p:cNvSpPr/>
          <p:nvPr/>
        </p:nvSpPr>
        <p:spPr>
          <a:xfrm>
            <a:off x="2453760" y="2088553"/>
            <a:ext cx="2562688" cy="1200329"/>
          </a:xfrm>
          <a:prstGeom prst="rect">
            <a:avLst/>
          </a:prstGeom>
        </p:spPr>
        <p:txBody>
          <a:bodyPr wrap="square">
            <a:spAutoFit/>
          </a:bodyPr>
          <a:lstStyle/>
          <a:p>
            <a:pPr algn="just">
              <a:spcAft>
                <a:spcPts val="0"/>
              </a:spcAft>
            </a:pPr>
            <a:r>
              <a:rPr lang="zh-CN" altLang="zh-CN" kern="100" dirty="0">
                <a:latin typeface="等线" panose="02010600030101010101" pitchFamily="2" charset="-122"/>
                <a:cs typeface="Times New Roman" panose="02020603050405020304" pitchFamily="18" charset="0"/>
              </a:rPr>
              <a:t>型号：</a:t>
            </a:r>
            <a:r>
              <a:rPr lang="en-US" altLang="zh-CN" kern="100" dirty="0">
                <a:latin typeface="等线" panose="02010600030101010101" pitchFamily="2" charset="-122"/>
                <a:cs typeface="Times New Roman" panose="02020603050405020304" pitchFamily="18" charset="0"/>
              </a:rPr>
              <a:t>LR18XCF06LUM</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en-US" altLang="zh-CN" kern="100" dirty="0">
                <a:latin typeface="等线" panose="02010600030101010101" pitchFamily="2" charset="-122"/>
                <a:cs typeface="Times New Roman" panose="02020603050405020304" pitchFamily="18" charset="0"/>
              </a:rPr>
              <a:t>BK</a:t>
            </a: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	0-10 V</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en-US" altLang="zh-CN" kern="100" dirty="0">
                <a:latin typeface="等线" panose="02010600030101010101" pitchFamily="2" charset="-122"/>
                <a:cs typeface="Times New Roman" panose="02020603050405020304" pitchFamily="18" charset="0"/>
              </a:rPr>
              <a:t>Sn:	</a:t>
            </a:r>
            <a:r>
              <a:rPr lang="en-US" altLang="zh-CN" kern="100" dirty="0" smtClean="0">
                <a:latin typeface="等线" panose="02010600030101010101" pitchFamily="2" charset="-122"/>
                <a:cs typeface="Times New Roman" panose="02020603050405020304" pitchFamily="18" charset="0"/>
              </a:rPr>
              <a:t>1-5 </a:t>
            </a:r>
            <a:r>
              <a:rPr lang="en-US" altLang="zh-CN" kern="100" dirty="0">
                <a:latin typeface="等线" panose="02010600030101010101" pitchFamily="2" charset="-122"/>
                <a:cs typeface="Times New Roman" panose="02020603050405020304" pitchFamily="18" charset="0"/>
              </a:rPr>
              <a:t>mm</a:t>
            </a:r>
            <a:endParaRPr lang="zh-CN" altLang="zh-CN" kern="100" dirty="0">
              <a:latin typeface="等线" panose="02010600030101010101" pitchFamily="2" charset="-122"/>
              <a:cs typeface="Times New Roman" panose="02020603050405020304" pitchFamily="18" charset="0"/>
            </a:endParaRPr>
          </a:p>
          <a:p>
            <a:pPr algn="just">
              <a:spcAft>
                <a:spcPts val="0"/>
              </a:spcAft>
            </a:pPr>
            <a:r>
              <a:rPr lang="en-US" altLang="zh-CN" kern="100" dirty="0">
                <a:latin typeface="等线" panose="02010600030101010101" pitchFamily="2" charset="-122"/>
                <a:cs typeface="Times New Roman" panose="02020603050405020304" pitchFamily="18" charset="0"/>
              </a:rPr>
              <a:t>UB</a:t>
            </a:r>
            <a:r>
              <a:rPr lang="zh-CN" altLang="zh-CN" kern="100" dirty="0">
                <a:latin typeface="等线" panose="02010600030101010101" pitchFamily="2" charset="-122"/>
                <a:cs typeface="Times New Roman" panose="02020603050405020304" pitchFamily="18" charset="0"/>
              </a:rPr>
              <a:t>：</a:t>
            </a:r>
            <a:r>
              <a:rPr lang="en-US" altLang="zh-CN" kern="100" dirty="0">
                <a:latin typeface="等线" panose="02010600030101010101" pitchFamily="2" charset="-122"/>
                <a:cs typeface="Times New Roman" panose="02020603050405020304" pitchFamily="18" charset="0"/>
              </a:rPr>
              <a:t>	15-30 </a:t>
            </a:r>
            <a:r>
              <a:rPr lang="en-US" altLang="zh-CN" kern="100" dirty="0" smtClean="0">
                <a:latin typeface="等线" panose="02010600030101010101" pitchFamily="2" charset="-122"/>
                <a:cs typeface="Times New Roman" panose="02020603050405020304" pitchFamily="18" charset="0"/>
              </a:rPr>
              <a:t>VDC</a:t>
            </a:r>
            <a:endParaRPr lang="zh-CN" altLang="zh-CN" kern="100" dirty="0">
              <a:latin typeface="等线" panose="02010600030101010101" pitchFamily="2" charset="-122"/>
              <a:cs typeface="Times New Roman" panose="02020603050405020304" pitchFamily="18" charset="0"/>
            </a:endParaRPr>
          </a:p>
        </p:txBody>
      </p:sp>
      <p:sp>
        <p:nvSpPr>
          <p:cNvPr id="3" name="矩形 2"/>
          <p:cNvSpPr/>
          <p:nvPr/>
        </p:nvSpPr>
        <p:spPr>
          <a:xfrm>
            <a:off x="6895042" y="2259785"/>
            <a:ext cx="4514103" cy="1477328"/>
          </a:xfrm>
          <a:prstGeom prst="rect">
            <a:avLst/>
          </a:prstGeom>
        </p:spPr>
        <p:txBody>
          <a:bodyPr wrap="square">
            <a:spAutoFit/>
          </a:bodyPr>
          <a:lstStyle/>
          <a:p>
            <a:r>
              <a:rPr lang="zh-CN" altLang="zh-CN" dirty="0" smtClean="0">
                <a:cs typeface="Times New Roman" panose="02020603050405020304" pitchFamily="18" charset="0"/>
              </a:rPr>
              <a:t>位移传感器</a:t>
            </a:r>
            <a:r>
              <a:rPr lang="zh-CN" altLang="zh-CN" dirty="0">
                <a:cs typeface="Times New Roman" panose="02020603050405020304" pitchFamily="18" charset="0"/>
              </a:rPr>
              <a:t>位置调整方式：旋松上下螺母。先调节下面螺母，使其紧贴支架的时候，传感器与悬臂梁的间距正好为</a:t>
            </a:r>
            <a:r>
              <a:rPr lang="en-US" altLang="zh-CN" dirty="0">
                <a:cs typeface="Times New Roman" panose="02020603050405020304" pitchFamily="18" charset="0"/>
              </a:rPr>
              <a:t>3mm</a:t>
            </a:r>
            <a:r>
              <a:rPr lang="zh-CN" altLang="zh-CN" dirty="0">
                <a:cs typeface="Times New Roman" panose="02020603050405020304" pitchFamily="18" charset="0"/>
              </a:rPr>
              <a:t>左右，用手旋紧上方螺母。再下方用扳手固定下方螺母，上方用固定扳手旋紧上方螺母</a:t>
            </a:r>
            <a:endParaRPr lang="zh-CN" altLang="en-US" dirty="0"/>
          </a:p>
        </p:txBody>
      </p:sp>
      <p:sp>
        <p:nvSpPr>
          <p:cNvPr id="6" name="矩形 5"/>
          <p:cNvSpPr/>
          <p:nvPr/>
        </p:nvSpPr>
        <p:spPr>
          <a:xfrm>
            <a:off x="258579" y="4079169"/>
            <a:ext cx="6096000" cy="1754326"/>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、数据采集仪（</a:t>
            </a:r>
            <a:r>
              <a:rPr lang="en-US" altLang="zh-CN" b="1" dirty="0" smtClean="0">
                <a:solidFill>
                  <a:srgbClr val="FF0000"/>
                </a:solidFill>
              </a:rPr>
              <a:t>MI-7004</a:t>
            </a:r>
            <a:r>
              <a:rPr lang="zh-CN" altLang="zh-CN" b="1" dirty="0" smtClean="0">
                <a:solidFill>
                  <a:srgbClr val="FF0000"/>
                </a:solidFill>
              </a:rPr>
              <a:t>）输入</a:t>
            </a:r>
            <a:r>
              <a:rPr lang="zh-CN" altLang="zh-CN" b="1" dirty="0">
                <a:solidFill>
                  <a:srgbClr val="FF0000"/>
                </a:solidFill>
              </a:rPr>
              <a:t>通道</a:t>
            </a:r>
            <a:r>
              <a:rPr lang="en-US" altLang="zh-CN" b="1" dirty="0">
                <a:solidFill>
                  <a:srgbClr val="FF0000"/>
                </a:solidFill>
              </a:rPr>
              <a:t>1</a:t>
            </a:r>
            <a:r>
              <a:rPr lang="zh-CN" altLang="en-US" b="1" dirty="0" smtClean="0">
                <a:solidFill>
                  <a:srgbClr val="FF0000"/>
                </a:solidFill>
              </a:rPr>
              <a:t>的耦合方式选用哪一种？为什么？高通滤波器的作用是什么？灵敏度</a:t>
            </a:r>
            <a:r>
              <a:rPr lang="zh-CN" altLang="zh-CN" b="1" dirty="0">
                <a:solidFill>
                  <a:srgbClr val="FF0000"/>
                </a:solidFill>
              </a:rPr>
              <a:t>设置为多少？</a:t>
            </a:r>
            <a:r>
              <a:rPr lang="zh-CN" altLang="en-US" b="1" dirty="0">
                <a:solidFill>
                  <a:srgbClr val="FF0000"/>
                </a:solidFill>
              </a:rPr>
              <a:t>为什么？</a:t>
            </a:r>
            <a:endParaRPr lang="zh-CN" altLang="zh-CN" b="1" dirty="0">
              <a:solidFill>
                <a:srgbClr val="FF0000"/>
              </a:solidFill>
            </a:endParaRPr>
          </a:p>
          <a:p>
            <a:r>
              <a:rPr lang="en-US" altLang="zh-CN" b="1" dirty="0">
                <a:solidFill>
                  <a:srgbClr val="FF0000"/>
                </a:solidFill>
              </a:rPr>
              <a:t>2</a:t>
            </a:r>
            <a:r>
              <a:rPr lang="zh-CN" altLang="zh-CN" b="1" dirty="0">
                <a:solidFill>
                  <a:srgbClr val="FF0000"/>
                </a:solidFill>
              </a:rPr>
              <a:t>、信号调理器（</a:t>
            </a:r>
            <a:r>
              <a:rPr lang="en-US" altLang="zh-CN" b="1" dirty="0">
                <a:solidFill>
                  <a:srgbClr val="FF0000"/>
                </a:solidFill>
              </a:rPr>
              <a:t>MI-2100</a:t>
            </a:r>
            <a:r>
              <a:rPr lang="zh-CN" altLang="zh-CN" b="1" dirty="0">
                <a:solidFill>
                  <a:srgbClr val="FF0000"/>
                </a:solidFill>
              </a:rPr>
              <a:t>）应该选择什么档</a:t>
            </a:r>
            <a:r>
              <a:rPr lang="zh-CN" altLang="zh-CN" b="1" dirty="0" smtClean="0">
                <a:solidFill>
                  <a:srgbClr val="FF0000"/>
                </a:solidFill>
              </a:rPr>
              <a:t>位</a:t>
            </a:r>
            <a:r>
              <a:rPr lang="zh-CN" altLang="en-US" b="1" dirty="0" smtClean="0">
                <a:solidFill>
                  <a:srgbClr val="FF0000"/>
                </a:solidFill>
              </a:rPr>
              <a:t>？</a:t>
            </a:r>
            <a:endParaRPr lang="zh-CN" altLang="zh-CN" b="1" dirty="0">
              <a:solidFill>
                <a:srgbClr val="FF0000"/>
              </a:solidFill>
            </a:endParaRPr>
          </a:p>
          <a:p>
            <a:r>
              <a:rPr lang="en-US" altLang="zh-CN" b="1" dirty="0">
                <a:solidFill>
                  <a:srgbClr val="FF0000"/>
                </a:solidFill>
              </a:rPr>
              <a:t>3</a:t>
            </a:r>
            <a:r>
              <a:rPr lang="zh-CN" altLang="zh-CN" b="1" dirty="0">
                <a:solidFill>
                  <a:srgbClr val="FF0000"/>
                </a:solidFill>
              </a:rPr>
              <a:t>、</a:t>
            </a:r>
            <a:r>
              <a:rPr lang="zh-CN" altLang="en-US" b="1" dirty="0">
                <a:solidFill>
                  <a:srgbClr val="FF0000"/>
                </a:solidFill>
              </a:rPr>
              <a:t>位移</a:t>
            </a:r>
            <a:r>
              <a:rPr lang="zh-CN" altLang="zh-CN" b="1" dirty="0">
                <a:solidFill>
                  <a:srgbClr val="FF0000"/>
                </a:solidFill>
              </a:rPr>
              <a:t>传感器</a:t>
            </a:r>
            <a:r>
              <a:rPr lang="zh-CN" altLang="en-US" b="1" dirty="0">
                <a:solidFill>
                  <a:srgbClr val="FF0000"/>
                </a:solidFill>
              </a:rPr>
              <a:t>与悬臂梁的最佳距离</a:t>
            </a:r>
            <a:r>
              <a:rPr lang="zh-CN" altLang="zh-CN" b="1" dirty="0">
                <a:solidFill>
                  <a:srgbClr val="FF0000"/>
                </a:solidFill>
              </a:rPr>
              <a:t>是多少</a:t>
            </a:r>
            <a:r>
              <a:rPr lang="zh-CN" altLang="zh-CN" b="1" dirty="0" smtClean="0">
                <a:solidFill>
                  <a:srgbClr val="FF0000"/>
                </a:solidFill>
              </a:rPr>
              <a:t>？</a:t>
            </a:r>
            <a:r>
              <a:rPr lang="zh-CN" altLang="en-US" b="1" dirty="0" smtClean="0">
                <a:solidFill>
                  <a:srgbClr val="FF0000"/>
                </a:solidFill>
              </a:rPr>
              <a:t>为什么？</a:t>
            </a:r>
            <a:endParaRPr lang="en-US" altLang="zh-CN" b="1" dirty="0" smtClean="0">
              <a:solidFill>
                <a:srgbClr val="FF0000"/>
              </a:solidFill>
            </a:endParaRPr>
          </a:p>
        </p:txBody>
      </p:sp>
      <p:pic>
        <p:nvPicPr>
          <p:cNvPr id="10" name="图片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6200000">
            <a:off x="8013191" y="2699280"/>
            <a:ext cx="1958209" cy="4514103"/>
          </a:xfrm>
          <a:prstGeom prst="rect">
            <a:avLst/>
          </a:prstGeom>
        </p:spPr>
      </p:pic>
      <p:pic>
        <p:nvPicPr>
          <p:cNvPr id="11" name="图片 10"/>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75512" y="1738468"/>
            <a:ext cx="1230427" cy="1998645"/>
          </a:xfrm>
          <a:prstGeom prst="rect">
            <a:avLst/>
          </a:prstGeom>
        </p:spPr>
      </p:pic>
    </p:spTree>
    <p:extLst>
      <p:ext uri="{BB962C8B-B14F-4D97-AF65-F5344CB8AC3E}">
        <p14:creationId xmlns:p14="http://schemas.microsoft.com/office/powerpoint/2010/main" val="390020274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E:\02 产品管理\02 产品需求\2021-06-16 转子试验台设计\2021-09-15 转子台新模型 光电2.png"/>
          <p:cNvPicPr/>
          <p:nvPr/>
        </p:nvPicPr>
        <p:blipFill>
          <a:blip r:embed="rId3">
            <a:extLst>
              <a:ext uri="{28A0092B-C50C-407E-A947-70E740481C1C}">
                <a14:useLocalDpi xmlns:a14="http://schemas.microsoft.com/office/drawing/2010/main" val="0"/>
              </a:ext>
            </a:extLst>
          </a:blip>
          <a:srcRect/>
          <a:stretch>
            <a:fillRect/>
          </a:stretch>
        </p:blipFill>
        <p:spPr>
          <a:xfrm>
            <a:off x="369662" y="1950382"/>
            <a:ext cx="5726338" cy="3994150"/>
          </a:xfrm>
          <a:prstGeom prst="rect">
            <a:avLst/>
          </a:prstGeom>
          <a:noFill/>
          <a:ln>
            <a:noFill/>
          </a:ln>
        </p:spPr>
      </p:pic>
      <p:sp>
        <p:nvSpPr>
          <p:cNvPr id="7" name="文本框 6"/>
          <p:cNvSpPr txBox="1"/>
          <p:nvPr/>
        </p:nvSpPr>
        <p:spPr>
          <a:xfrm>
            <a:off x="246743" y="1088571"/>
            <a:ext cx="4414034"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反射式光电转速传感器</a:t>
            </a:r>
            <a:endParaRPr lang="zh-CN" altLang="en-US" sz="2400" b="1" dirty="0">
              <a:latin typeface="微软雅黑" panose="020B0503020204020204" pitchFamily="34" charset="-122"/>
              <a:ea typeface="微软雅黑" panose="020B0503020204020204" pitchFamily="34" charset="-122"/>
            </a:endParaRPr>
          </a:p>
        </p:txBody>
      </p:sp>
      <p:sp>
        <p:nvSpPr>
          <p:cNvPr id="8" name="矩形 7"/>
          <p:cNvSpPr/>
          <p:nvPr/>
        </p:nvSpPr>
        <p:spPr>
          <a:xfrm>
            <a:off x="6229658" y="1591919"/>
            <a:ext cx="5588000" cy="4198393"/>
          </a:xfrm>
          <a:prstGeom prst="rect">
            <a:avLst/>
          </a:prstGeom>
        </p:spPr>
        <p:txBody>
          <a:bodyPr wrap="square">
            <a:spAutoFit/>
          </a:bodyPr>
          <a:lstStyle/>
          <a:p>
            <a:pPr indent="304800" algn="just">
              <a:lnSpc>
                <a:spcPct val="150000"/>
              </a:lnSpc>
            </a:pP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本实验所用的光电式转速传感器是一种反射式光电转速传感器，内部装有光源、感光元件以及放大器等</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pP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从</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光源发射出来的脉冲光经过被测物体表面</a:t>
            </a:r>
            <a:r>
              <a:rPr lang="en-US" altLang="zh-CN" kern="1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反光贴纸的反射，被传感器的</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感光元件所接收，输出高电平</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；如果感光元件</a:t>
            </a:r>
            <a:r>
              <a:rPr lang="zh-CN" altLang="zh-CN" b="1" kern="10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没有接收到反射光则输出低电平</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pP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光电式转速传感器</a:t>
            </a:r>
            <a:r>
              <a:rPr lang="zh-CN" altLang="zh-CN" kern="100" dirty="0">
                <a:latin typeface="微软雅黑" panose="020B0503020204020204" pitchFamily="34" charset="-122"/>
                <a:ea typeface="微软雅黑" panose="020B0503020204020204" pitchFamily="34" charset="-122"/>
                <a:cs typeface="Times New Roman" panose="02020603050405020304" pitchFamily="18" charset="0"/>
              </a:rPr>
              <a:t>具有抗干扰性好、结构紧凑、响应快、非接触式测量转速等优点，在检测和控制领域得到了广泛的应用</a:t>
            </a:r>
            <a:r>
              <a:rPr lang="zh-CN"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indent="304800" algn="just">
              <a:lnSpc>
                <a:spcPct val="150000"/>
              </a:lnSpc>
            </a:pP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本实验光电式转速传感器距离转子的最佳安装距离约为</a:t>
            </a:r>
            <a:r>
              <a:rPr lang="en-US" altLang="zh-CN" kern="100" dirty="0" smtClean="0">
                <a:latin typeface="微软雅黑" panose="020B0503020204020204" pitchFamily="34" charset="-122"/>
                <a:ea typeface="微软雅黑" panose="020B0503020204020204" pitchFamily="34" charset="-122"/>
                <a:cs typeface="Times New Roman" panose="02020603050405020304" pitchFamily="18" charset="0"/>
              </a:rPr>
              <a:t>1cm</a:t>
            </a:r>
            <a:r>
              <a:rPr lang="zh-CN" altLang="en-US"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zh-CN" altLang="zh-CN" kern="1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9" name="文本框 8"/>
          <p:cNvSpPr txBox="1"/>
          <p:nvPr/>
        </p:nvSpPr>
        <p:spPr>
          <a:xfrm>
            <a:off x="4022366" y="116480"/>
            <a:ext cx="5129728"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硬件参数与传感器介绍</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10" name="矩形 9"/>
          <p:cNvSpPr/>
          <p:nvPr/>
        </p:nvSpPr>
        <p:spPr>
          <a:xfrm>
            <a:off x="6317158" y="5944532"/>
            <a:ext cx="5037382" cy="646331"/>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a:t>
            </a:r>
            <a:r>
              <a:rPr lang="en-US" altLang="zh-CN" b="1" dirty="0" smtClean="0">
                <a:solidFill>
                  <a:srgbClr val="FF0000"/>
                </a:solidFill>
              </a:rPr>
              <a:t>DC</a:t>
            </a:r>
            <a:r>
              <a:rPr lang="zh-CN" altLang="en-US" b="1" dirty="0" smtClean="0">
                <a:solidFill>
                  <a:srgbClr val="FF0000"/>
                </a:solidFill>
              </a:rPr>
              <a:t>耦合和</a:t>
            </a:r>
            <a:r>
              <a:rPr lang="en-US" altLang="zh-CN" b="1" dirty="0" smtClean="0">
                <a:solidFill>
                  <a:srgbClr val="FF0000"/>
                </a:solidFill>
              </a:rPr>
              <a:t>AC</a:t>
            </a:r>
            <a:r>
              <a:rPr lang="zh-CN" altLang="en-US" b="1" dirty="0" smtClean="0">
                <a:solidFill>
                  <a:srgbClr val="FF0000"/>
                </a:solidFill>
              </a:rPr>
              <a:t>耦合的区别是什么？</a:t>
            </a:r>
            <a:endParaRPr lang="zh-CN" altLang="en-US" b="1" dirty="0">
              <a:solidFill>
                <a:srgbClr val="FF0000"/>
              </a:solidFill>
            </a:endParaRPr>
          </a:p>
        </p:txBody>
      </p:sp>
      <p:pic>
        <p:nvPicPr>
          <p:cNvPr id="2" name="图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5679" y="2274076"/>
            <a:ext cx="2254268" cy="735821"/>
          </a:xfrm>
          <a:prstGeom prst="rect">
            <a:avLst/>
          </a:prstGeom>
        </p:spPr>
      </p:pic>
    </p:spTree>
    <p:extLst>
      <p:ext uri="{BB962C8B-B14F-4D97-AF65-F5344CB8AC3E}">
        <p14:creationId xmlns:p14="http://schemas.microsoft.com/office/powerpoint/2010/main" val="167837086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8"/>
          <p:cNvSpPr txBox="1"/>
          <p:nvPr/>
        </p:nvSpPr>
        <p:spPr>
          <a:xfrm>
            <a:off x="4660777" y="125358"/>
            <a:ext cx="3328345" cy="646331"/>
          </a:xfrm>
          <a:prstGeom prst="rect">
            <a:avLst/>
          </a:prstGeom>
          <a:noFill/>
        </p:spPr>
        <p:txBody>
          <a:bodyPr wrap="square" rtlCol="0">
            <a:spAutoFit/>
          </a:bodyPr>
          <a:lstStyle/>
          <a:p>
            <a:r>
              <a:rPr lang="zh-CN" altLang="en-US" sz="3600" b="1" dirty="0" smtClean="0">
                <a:solidFill>
                  <a:srgbClr val="7030A0"/>
                </a:solidFill>
                <a:latin typeface="微软雅黑" panose="020B0503020204020204" pitchFamily="34" charset="-122"/>
                <a:ea typeface="微软雅黑" panose="020B0503020204020204" pitchFamily="34" charset="-122"/>
              </a:rPr>
              <a:t>分析参数</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10" name="矩形 9"/>
          <p:cNvSpPr/>
          <p:nvPr/>
        </p:nvSpPr>
        <p:spPr>
          <a:xfrm>
            <a:off x="1009791" y="2382506"/>
            <a:ext cx="5037382" cy="2031325"/>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a:t>
            </a:r>
            <a:r>
              <a:rPr lang="zh-CN" altLang="en-US" b="1" dirty="0" smtClean="0">
                <a:solidFill>
                  <a:srgbClr val="FF0000"/>
                </a:solidFill>
              </a:rPr>
              <a:t>转子实验台转子的最高频率是多少？</a:t>
            </a:r>
            <a:r>
              <a:rPr lang="en-US" altLang="zh-CN" b="1" dirty="0" smtClean="0">
                <a:solidFill>
                  <a:srgbClr val="FF0000"/>
                </a:solidFill>
              </a:rPr>
              <a:t/>
            </a:r>
            <a:br>
              <a:rPr lang="en-US" altLang="zh-CN" b="1" dirty="0" smtClean="0">
                <a:solidFill>
                  <a:srgbClr val="FF0000"/>
                </a:solidFill>
              </a:rPr>
            </a:br>
            <a:r>
              <a:rPr lang="en-US" altLang="zh-CN" b="1" dirty="0" smtClean="0">
                <a:solidFill>
                  <a:srgbClr val="FF0000"/>
                </a:solidFill>
              </a:rPr>
              <a:t>2</a:t>
            </a:r>
            <a:r>
              <a:rPr lang="zh-CN" altLang="en-US" b="1" dirty="0" smtClean="0">
                <a:solidFill>
                  <a:srgbClr val="FF0000"/>
                </a:solidFill>
              </a:rPr>
              <a:t>、采样频率设为多少以上比较合适？</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、什么是采样点数？</a:t>
            </a:r>
            <a:endParaRPr lang="en-US" altLang="zh-CN" b="1" dirty="0" smtClean="0">
              <a:solidFill>
                <a:srgbClr val="FF0000"/>
              </a:solidFill>
            </a:endParaRPr>
          </a:p>
          <a:p>
            <a:r>
              <a:rPr lang="en-US" altLang="zh-CN" b="1" dirty="0" smtClean="0">
                <a:solidFill>
                  <a:srgbClr val="FF0000"/>
                </a:solidFill>
              </a:rPr>
              <a:t>4</a:t>
            </a:r>
            <a:r>
              <a:rPr lang="zh-CN" altLang="en-US" b="1" dirty="0" smtClean="0">
                <a:solidFill>
                  <a:srgbClr val="FF0000"/>
                </a:solidFill>
              </a:rPr>
              <a:t>、帧时间怎么计算？</a:t>
            </a:r>
            <a:endParaRPr lang="en-US" altLang="zh-CN" b="1" dirty="0" smtClean="0">
              <a:solidFill>
                <a:srgbClr val="FF0000"/>
              </a:solidFill>
            </a:endParaRPr>
          </a:p>
          <a:p>
            <a:r>
              <a:rPr lang="en-US" altLang="zh-CN" b="1" dirty="0" smtClean="0">
                <a:solidFill>
                  <a:srgbClr val="FF0000"/>
                </a:solidFill>
              </a:rPr>
              <a:t>5</a:t>
            </a:r>
            <a:r>
              <a:rPr lang="zh-CN" altLang="en-US" b="1" dirty="0" smtClean="0">
                <a:solidFill>
                  <a:srgbClr val="FF0000"/>
                </a:solidFill>
              </a:rPr>
              <a:t>、频率间隔怎么计算？</a:t>
            </a:r>
            <a:endParaRPr lang="en-US" altLang="zh-CN" b="1" dirty="0" smtClean="0">
              <a:solidFill>
                <a:srgbClr val="FF0000"/>
              </a:solidFill>
            </a:endParaRPr>
          </a:p>
          <a:p>
            <a:r>
              <a:rPr lang="en-US" altLang="zh-CN" b="1" dirty="0" smtClean="0">
                <a:solidFill>
                  <a:srgbClr val="FF0000"/>
                </a:solidFill>
              </a:rPr>
              <a:t>6</a:t>
            </a:r>
            <a:r>
              <a:rPr lang="zh-CN" altLang="en-US" b="1" dirty="0" smtClean="0">
                <a:solidFill>
                  <a:srgbClr val="FF0000"/>
                </a:solidFill>
              </a:rPr>
              <a:t>、说说你对采样参数里面各个参数的理解。</a:t>
            </a:r>
            <a:endParaRPr lang="zh-CN" altLang="en-US" b="1" dirty="0">
              <a:solidFill>
                <a:srgbClr val="FF0000"/>
              </a:solidFill>
            </a:endParaRPr>
          </a:p>
        </p:txBody>
      </p:sp>
      <p:sp>
        <p:nvSpPr>
          <p:cNvPr id="3" name="矩形 2"/>
          <p:cNvSpPr/>
          <p:nvPr/>
        </p:nvSpPr>
        <p:spPr>
          <a:xfrm>
            <a:off x="970626" y="1346265"/>
            <a:ext cx="10153094" cy="923330"/>
          </a:xfrm>
          <a:prstGeom prst="rect">
            <a:avLst/>
          </a:prstGeom>
        </p:spPr>
        <p:txBody>
          <a:bodyPr wrap="square">
            <a:spAutoFit/>
          </a:bodyPr>
          <a:lstStyle/>
          <a:p>
            <a:r>
              <a:rPr lang="zh-CN" altLang="zh-CN" kern="100" dirty="0">
                <a:latin typeface="等线" panose="02010600030101010101" pitchFamily="2" charset="-122"/>
                <a:ea typeface="宋体" panose="02010600030101010101" pitchFamily="2" charset="-122"/>
                <a:cs typeface="Times New Roman" panose="02020603050405020304" pitchFamily="18" charset="0"/>
              </a:rPr>
              <a:t>实际测试中，通常采样频率设置成接入信号频率的</a:t>
            </a:r>
            <a:r>
              <a:rPr lang="en-US" altLang="zh-CN" kern="100" dirty="0">
                <a:latin typeface="等线" panose="02010600030101010101" pitchFamily="2" charset="-122"/>
                <a:ea typeface="宋体" panose="02010600030101010101" pitchFamily="2" charset="-122"/>
                <a:cs typeface="Times New Roman" panose="02020603050405020304" pitchFamily="18" charset="0"/>
              </a:rPr>
              <a:t>3-5</a:t>
            </a:r>
            <a:r>
              <a:rPr lang="zh-CN" altLang="zh-CN" kern="100" dirty="0">
                <a:latin typeface="等线" panose="02010600030101010101" pitchFamily="2" charset="-122"/>
                <a:ea typeface="宋体" panose="02010600030101010101" pitchFamily="2" charset="-122"/>
                <a:cs typeface="Times New Roman" panose="02020603050405020304" pitchFamily="18" charset="0"/>
              </a:rPr>
              <a:t>倍，但是如果需要在时域看到准确的信号幅值则采样频率往往需要设置为信号频率的</a:t>
            </a:r>
            <a:r>
              <a:rPr lang="en-US" altLang="zh-CN" b="1" kern="100" dirty="0">
                <a:solidFill>
                  <a:schemeClr val="accent2"/>
                </a:solidFill>
                <a:latin typeface="等线" panose="02010600030101010101" pitchFamily="2" charset="-122"/>
                <a:ea typeface="宋体" panose="02010600030101010101" pitchFamily="2" charset="-122"/>
                <a:cs typeface="Times New Roman" panose="02020603050405020304" pitchFamily="18" charset="0"/>
              </a:rPr>
              <a:t>10</a:t>
            </a:r>
            <a:r>
              <a:rPr lang="zh-CN" altLang="zh-CN" b="1" kern="100" dirty="0">
                <a:solidFill>
                  <a:schemeClr val="accent2"/>
                </a:solidFill>
                <a:latin typeface="等线" panose="02010600030101010101" pitchFamily="2" charset="-122"/>
                <a:ea typeface="宋体" panose="02010600030101010101" pitchFamily="2" charset="-122"/>
                <a:cs typeface="Times New Roman" panose="02020603050405020304" pitchFamily="18" charset="0"/>
              </a:rPr>
              <a:t>倍</a:t>
            </a:r>
            <a:r>
              <a:rPr lang="zh-CN" altLang="zh-CN" kern="100" dirty="0">
                <a:latin typeface="等线" panose="02010600030101010101" pitchFamily="2" charset="-122"/>
                <a:ea typeface="宋体" panose="02010600030101010101" pitchFamily="2" charset="-122"/>
                <a:cs typeface="Times New Roman" panose="02020603050405020304" pitchFamily="18" charset="0"/>
              </a:rPr>
              <a:t>或更高。在测试过程中，用户根据实际信号可适当调整采样频率。</a:t>
            </a:r>
            <a:endParaRPr lang="zh-CN" altLang="en-US" dirty="0"/>
          </a:p>
        </p:txBody>
      </p:sp>
      <p:pic>
        <p:nvPicPr>
          <p:cNvPr id="5" name="图片 4"/>
          <p:cNvPicPr>
            <a:picLocks noChangeAspect="1"/>
          </p:cNvPicPr>
          <p:nvPr/>
        </p:nvPicPr>
        <p:blipFill>
          <a:blip r:embed="rId3"/>
          <a:stretch>
            <a:fillRect/>
          </a:stretch>
        </p:blipFill>
        <p:spPr>
          <a:xfrm>
            <a:off x="7308113" y="2210330"/>
            <a:ext cx="3424571" cy="4208225"/>
          </a:xfrm>
          <a:prstGeom prst="rect">
            <a:avLst/>
          </a:prstGeom>
        </p:spPr>
      </p:pic>
    </p:spTree>
    <p:extLst>
      <p:ext uri="{BB962C8B-B14F-4D97-AF65-F5344CB8AC3E}">
        <p14:creationId xmlns:p14="http://schemas.microsoft.com/office/powerpoint/2010/main" val="5558021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p:cNvPicPr>
            <a:picLocks noChangeAspect="1"/>
          </p:cNvPicPr>
          <p:nvPr/>
        </p:nvPicPr>
        <p:blipFill>
          <a:blip r:embed="rId2"/>
          <a:stretch>
            <a:fillRect/>
          </a:stretch>
        </p:blipFill>
        <p:spPr>
          <a:xfrm>
            <a:off x="192208" y="1640522"/>
            <a:ext cx="7801014" cy="4193350"/>
          </a:xfrm>
          <a:prstGeom prst="rect">
            <a:avLst/>
          </a:prstGeom>
        </p:spPr>
      </p:pic>
      <p:sp>
        <p:nvSpPr>
          <p:cNvPr id="2" name="文本框 1"/>
          <p:cNvSpPr txBox="1"/>
          <p:nvPr/>
        </p:nvSpPr>
        <p:spPr>
          <a:xfrm>
            <a:off x="4687967" y="190741"/>
            <a:ext cx="2816066"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操 作 步 </a:t>
            </a:r>
            <a:r>
              <a:rPr lang="zh-CN" altLang="en-US" sz="3600" b="1" dirty="0" smtClean="0">
                <a:solidFill>
                  <a:srgbClr val="7030A0"/>
                </a:solidFill>
                <a:latin typeface="微软雅黑" panose="020B0503020204020204" pitchFamily="34" charset="-122"/>
                <a:ea typeface="微软雅黑" panose="020B0503020204020204" pitchFamily="34" charset="-122"/>
              </a:rPr>
              <a:t>骤</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0111" y="1132114"/>
            <a:ext cx="5773769" cy="461665"/>
          </a:xfrm>
          <a:prstGeom prst="rect">
            <a:avLst/>
          </a:prstGeom>
          <a:noFill/>
        </p:spPr>
        <p:txBody>
          <a:bodyPr wrap="square" rtlCol="0">
            <a:spAutoFit/>
          </a:bodyPr>
          <a:lstStyle/>
          <a:p>
            <a:r>
              <a:rPr lang="en-US" altLang="zh-CN" sz="2400" b="1" dirty="0">
                <a:latin typeface="微软雅黑" panose="020B0503020204020204" pitchFamily="34" charset="-122"/>
                <a:ea typeface="微软雅黑" panose="020B0503020204020204" pitchFamily="34" charset="-122"/>
              </a:rPr>
              <a:t>3</a:t>
            </a:r>
            <a:r>
              <a:rPr lang="en-US" altLang="zh-CN" sz="2400" b="1" dirty="0" smtClean="0">
                <a:latin typeface="微软雅黑" panose="020B0503020204020204" pitchFamily="34" charset="-122"/>
                <a:ea typeface="微软雅黑" panose="020B0503020204020204" pitchFamily="34" charset="-122"/>
              </a:rPr>
              <a:t>. </a:t>
            </a:r>
            <a:r>
              <a:rPr lang="zh-CN" altLang="en-US" sz="2400" b="1" dirty="0" smtClean="0">
                <a:latin typeface="微软雅黑" panose="020B0503020204020204" pitchFamily="34" charset="-122"/>
                <a:ea typeface="微软雅黑" panose="020B0503020204020204" pitchFamily="34" charset="-122"/>
              </a:rPr>
              <a:t>窗口显示内容</a:t>
            </a:r>
            <a:r>
              <a:rPr lang="zh-CN" altLang="en-US" sz="2400" b="1" dirty="0" smtClean="0">
                <a:latin typeface="微软雅黑" panose="020B0503020204020204" pitchFamily="34" charset="-122"/>
                <a:ea typeface="微软雅黑" panose="020B0503020204020204" pitchFamily="34" charset="-122"/>
              </a:rPr>
              <a:t>设置</a:t>
            </a:r>
            <a:endParaRPr lang="zh-CN" altLang="en-US" sz="2400" b="1" dirty="0">
              <a:latin typeface="微软雅黑" panose="020B0503020204020204" pitchFamily="34" charset="-122"/>
              <a:ea typeface="微软雅黑" panose="020B0503020204020204" pitchFamily="34" charset="-122"/>
            </a:endParaRPr>
          </a:p>
        </p:txBody>
      </p:sp>
      <p:pic>
        <p:nvPicPr>
          <p:cNvPr id="12" name="图片 11"/>
          <p:cNvPicPr>
            <a:picLocks noChangeAspect="1"/>
          </p:cNvPicPr>
          <p:nvPr/>
        </p:nvPicPr>
        <p:blipFill>
          <a:blip r:embed="rId3"/>
          <a:stretch>
            <a:fillRect/>
          </a:stretch>
        </p:blipFill>
        <p:spPr>
          <a:xfrm>
            <a:off x="12279802" y="0"/>
            <a:ext cx="4189814" cy="2892460"/>
          </a:xfrm>
          <a:prstGeom prst="rect">
            <a:avLst/>
          </a:prstGeom>
        </p:spPr>
      </p:pic>
      <p:sp>
        <p:nvSpPr>
          <p:cNvPr id="14" name="文本框 13"/>
          <p:cNvSpPr txBox="1"/>
          <p:nvPr/>
        </p:nvSpPr>
        <p:spPr>
          <a:xfrm rot="10800000" flipV="1">
            <a:off x="8013824" y="3265661"/>
            <a:ext cx="2818405" cy="1754326"/>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② 右键，显示设置</a:t>
            </a:r>
            <a:r>
              <a:rPr lang="zh-CN" altLang="en-US" dirty="0" smtClean="0">
                <a:latin typeface="微软雅黑" panose="020B0503020204020204" pitchFamily="34" charset="-122"/>
                <a:ea typeface="微软雅黑" panose="020B0503020204020204" pitchFamily="34" charset="-122"/>
              </a:rPr>
              <a:t>，进行各个窗口相关</a:t>
            </a:r>
            <a:r>
              <a:rPr lang="zh-CN" altLang="en-US" dirty="0">
                <a:latin typeface="微软雅黑" panose="020B0503020204020204" pitchFamily="34" charset="-122"/>
                <a:ea typeface="微软雅黑" panose="020B0503020204020204" pitchFamily="34" charset="-122"/>
              </a:rPr>
              <a:t>参数显示。或者，从左侧</a:t>
            </a:r>
            <a:r>
              <a:rPr lang="zh-CN" altLang="en-US" b="1" dirty="0">
                <a:latin typeface="微软雅黑" panose="020B0503020204020204" pitchFamily="34" charset="-122"/>
                <a:ea typeface="微软雅黑" panose="020B0503020204020204" pitchFamily="34" charset="-122"/>
              </a:rPr>
              <a:t>“函数”栏</a:t>
            </a:r>
            <a:r>
              <a:rPr lang="zh-CN" altLang="en-US" dirty="0">
                <a:latin typeface="微软雅黑" panose="020B0503020204020204" pitchFamily="34" charset="-122"/>
                <a:ea typeface="微软雅黑" panose="020B0503020204020204" pitchFamily="34" charset="-122"/>
              </a:rPr>
              <a:t>中，将对应的信号拖到右侧窗格中</a:t>
            </a:r>
            <a:r>
              <a:rPr lang="zh-CN" altLang="en-US" dirty="0" smtClean="0">
                <a:latin typeface="微软雅黑" panose="020B0503020204020204" pitchFamily="34" charset="-122"/>
                <a:ea typeface="微软雅黑" panose="020B0503020204020204" pitchFamily="34" charset="-122"/>
              </a:rPr>
              <a:t>显示，详细见下一页</a:t>
            </a:r>
            <a:endParaRPr lang="zh-CN" altLang="en-US"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8013824" y="5180933"/>
            <a:ext cx="3545619" cy="923330"/>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③ </a:t>
            </a:r>
            <a:r>
              <a:rPr lang="zh-CN" altLang="en-US" b="1" dirty="0" smtClean="0">
                <a:latin typeface="微软雅黑" panose="020B0503020204020204" pitchFamily="34" charset="-122"/>
                <a:ea typeface="微软雅黑" panose="020B0503020204020204" pitchFamily="34" charset="-122"/>
              </a:rPr>
              <a:t>右键，选择函数计算</a:t>
            </a:r>
            <a:r>
              <a:rPr lang="zh-CN" altLang="en-US" dirty="0" smtClean="0">
                <a:latin typeface="微软雅黑" panose="020B0503020204020204" pitchFamily="34" charset="-122"/>
                <a:ea typeface="微软雅黑" panose="020B0503020204020204" pitchFamily="34" charset="-122"/>
              </a:rPr>
              <a:t>：</a:t>
            </a:r>
            <a:endParaRPr lang="en-US" altLang="zh-CN" dirty="0" smtClean="0">
              <a:latin typeface="微软雅黑" panose="020B0503020204020204" pitchFamily="34" charset="-122"/>
              <a:ea typeface="微软雅黑" panose="020B0503020204020204" pitchFamily="34" charset="-122"/>
            </a:endParaRPr>
          </a:p>
          <a:p>
            <a:r>
              <a:rPr lang="en-US" altLang="zh-CN" dirty="0" err="1" smtClean="0">
                <a:latin typeface="微软雅黑" panose="020B0503020204020204" pitchFamily="34" charset="-122"/>
                <a:ea typeface="微软雅黑" panose="020B0503020204020204" pitchFamily="34" charset="-122"/>
              </a:rPr>
              <a:t>Tacho</a:t>
            </a:r>
            <a:r>
              <a:rPr lang="zh-CN" altLang="en-US" dirty="0" smtClean="0">
                <a:latin typeface="微软雅黑" panose="020B0503020204020204" pitchFamily="34" charset="-122"/>
                <a:ea typeface="微软雅黑" panose="020B0503020204020204" pitchFamily="34" charset="-122"/>
              </a:rPr>
              <a:t>转速计算等自定义</a:t>
            </a:r>
            <a:r>
              <a:rPr lang="zh-CN" altLang="en-US" dirty="0" smtClean="0">
                <a:latin typeface="微软雅黑" panose="020B0503020204020204" pitchFamily="34" charset="-122"/>
                <a:ea typeface="微软雅黑" panose="020B0503020204020204" pitchFamily="34" charset="-122"/>
              </a:rPr>
              <a:t>函数，见后续反射式光电传感器介绍</a:t>
            </a:r>
            <a:endParaRPr lang="zh-CN" altLang="en-US"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8050262" y="1431158"/>
            <a:ext cx="3166015" cy="646331"/>
          </a:xfrm>
          <a:prstGeom prst="rect">
            <a:avLst/>
          </a:prstGeom>
          <a:noFill/>
        </p:spPr>
        <p:txBody>
          <a:bodyPr wrap="square" rtlCol="0">
            <a:spAutoFit/>
          </a:bodyPr>
          <a:lstStyle/>
          <a:p>
            <a:r>
              <a:rPr lang="zh-CN" altLang="en-US" b="1" dirty="0" smtClean="0">
                <a:latin typeface="微软雅黑" panose="020B0503020204020204" pitchFamily="34" charset="-122"/>
                <a:ea typeface="微软雅黑" panose="020B0503020204020204" pitchFamily="34" charset="-122"/>
              </a:rPr>
              <a:t>① 右键</a:t>
            </a:r>
            <a:r>
              <a:rPr lang="zh-CN" altLang="en-US" b="1" dirty="0" smtClean="0">
                <a:latin typeface="微软雅黑" panose="020B0503020204020204" pitchFamily="34" charset="-122"/>
                <a:ea typeface="微软雅黑" panose="020B0503020204020204" pitchFamily="34" charset="-122"/>
              </a:rPr>
              <a:t>，窗口图形，增加列，变成</a:t>
            </a:r>
            <a:r>
              <a:rPr lang="en-US" altLang="zh-CN" b="1" dirty="0" smtClean="0">
                <a:latin typeface="微软雅黑" panose="020B0503020204020204" pitchFamily="34" charset="-122"/>
                <a:ea typeface="微软雅黑" panose="020B0503020204020204" pitchFamily="34" charset="-122"/>
              </a:rPr>
              <a:t>2*3</a:t>
            </a:r>
            <a:r>
              <a:rPr lang="zh-CN" altLang="en-US" b="1" dirty="0" smtClean="0">
                <a:latin typeface="微软雅黑" panose="020B0503020204020204" pitchFamily="34" charset="-122"/>
                <a:ea typeface="微软雅黑" panose="020B0503020204020204" pitchFamily="34" charset="-122"/>
              </a:rPr>
              <a:t>的</a:t>
            </a:r>
            <a:r>
              <a:rPr lang="en-US" altLang="zh-CN" b="1" dirty="0" smtClean="0">
                <a:latin typeface="微软雅黑" panose="020B0503020204020204" pitchFamily="34" charset="-122"/>
                <a:ea typeface="微软雅黑" panose="020B0503020204020204" pitchFamily="34" charset="-122"/>
              </a:rPr>
              <a:t>6</a:t>
            </a:r>
            <a:r>
              <a:rPr lang="zh-CN" altLang="en-US" b="1" dirty="0" smtClean="0">
                <a:latin typeface="微软雅黑" panose="020B0503020204020204" pitchFamily="34" charset="-122"/>
                <a:ea typeface="微软雅黑" panose="020B0503020204020204" pitchFamily="34" charset="-122"/>
              </a:rPr>
              <a:t>窗格</a:t>
            </a:r>
            <a:endParaRPr lang="zh-CN" altLang="en-US" dirty="0">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4"/>
          <a:stretch>
            <a:fillRect/>
          </a:stretch>
        </p:blipFill>
        <p:spPr>
          <a:xfrm>
            <a:off x="8178417" y="2077489"/>
            <a:ext cx="2489221" cy="1091165"/>
          </a:xfrm>
          <a:prstGeom prst="rect">
            <a:avLst/>
          </a:prstGeom>
        </p:spPr>
      </p:pic>
      <p:sp>
        <p:nvSpPr>
          <p:cNvPr id="8" name="矩形 7"/>
          <p:cNvSpPr/>
          <p:nvPr/>
        </p:nvSpPr>
        <p:spPr>
          <a:xfrm>
            <a:off x="171606" y="1985984"/>
            <a:ext cx="212930" cy="391391"/>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0946415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2"/>
          <a:stretch>
            <a:fillRect/>
          </a:stretch>
        </p:blipFill>
        <p:spPr>
          <a:xfrm>
            <a:off x="12279802" y="0"/>
            <a:ext cx="4189814" cy="2892460"/>
          </a:xfrm>
          <a:prstGeom prst="rect">
            <a:avLst/>
          </a:prstGeom>
        </p:spPr>
      </p:pic>
      <p:pic>
        <p:nvPicPr>
          <p:cNvPr id="3" name="图片 2"/>
          <p:cNvPicPr>
            <a:picLocks noChangeAspect="1"/>
          </p:cNvPicPr>
          <p:nvPr/>
        </p:nvPicPr>
        <p:blipFill>
          <a:blip r:embed="rId3"/>
          <a:stretch>
            <a:fillRect/>
          </a:stretch>
        </p:blipFill>
        <p:spPr>
          <a:xfrm>
            <a:off x="742633" y="1676579"/>
            <a:ext cx="4988909" cy="3805434"/>
          </a:xfrm>
          <a:prstGeom prst="rect">
            <a:avLst/>
          </a:prstGeom>
        </p:spPr>
      </p:pic>
      <p:sp>
        <p:nvSpPr>
          <p:cNvPr id="6" name="矩形 5"/>
          <p:cNvSpPr/>
          <p:nvPr/>
        </p:nvSpPr>
        <p:spPr>
          <a:xfrm>
            <a:off x="652272" y="5482013"/>
            <a:ext cx="5079270" cy="646331"/>
          </a:xfrm>
          <a:prstGeom prst="rect">
            <a:avLst/>
          </a:prstGeom>
        </p:spPr>
        <p:txBody>
          <a:bodyPr wrap="square">
            <a:spAutoFit/>
          </a:bodyPr>
          <a:lstStyle/>
          <a:p>
            <a:r>
              <a:rPr lang="zh-CN" altLang="zh-CN" kern="100" dirty="0" smtClean="0">
                <a:latin typeface="等线" panose="02010600030101010101" pitchFamily="2" charset="-122"/>
                <a:ea typeface="宋体" panose="02010600030101010101" pitchFamily="2" charset="-122"/>
                <a:cs typeface="Times New Roman" panose="02020603050405020304" pitchFamily="18" charset="0"/>
              </a:rPr>
              <a:t>在设置</a:t>
            </a:r>
            <a:r>
              <a:rPr lang="zh-CN" altLang="zh-CN" kern="100" dirty="0">
                <a:latin typeface="等线" panose="02010600030101010101" pitchFamily="2" charset="-122"/>
                <a:ea typeface="宋体" panose="02010600030101010101" pitchFamily="2" charset="-122"/>
                <a:cs typeface="Times New Roman" panose="02020603050405020304" pitchFamily="18" charset="0"/>
              </a:rPr>
              <a:t>对话框中</a:t>
            </a:r>
            <a:r>
              <a:rPr lang="zh-CN" altLang="zh-CN" kern="100" dirty="0" smtClean="0">
                <a:latin typeface="等线" panose="02010600030101010101" pitchFamily="2" charset="-122"/>
                <a:ea typeface="宋体" panose="02010600030101010101" pitchFamily="2" charset="-122"/>
                <a:cs typeface="Times New Roman" panose="02020603050405020304" pitchFamily="18" charset="0"/>
              </a:rPr>
              <a:t>，可</a:t>
            </a:r>
            <a:r>
              <a:rPr lang="zh-CN" altLang="zh-CN" kern="100" dirty="0">
                <a:latin typeface="等线" panose="02010600030101010101" pitchFamily="2" charset="-122"/>
                <a:ea typeface="宋体" panose="02010600030101010101" pitchFamily="2" charset="-122"/>
                <a:cs typeface="Times New Roman" panose="02020603050405020304" pitchFamily="18" charset="0"/>
              </a:rPr>
              <a:t>勾选显示信号的特征值，如最大值、最小值、平均值、有效值等。</a:t>
            </a:r>
            <a:endParaRPr lang="zh-CN" altLang="en-US" dirty="0"/>
          </a:p>
        </p:txBody>
      </p:sp>
      <p:sp>
        <p:nvSpPr>
          <p:cNvPr id="10" name="矩形 9"/>
          <p:cNvSpPr/>
          <p:nvPr/>
        </p:nvSpPr>
        <p:spPr>
          <a:xfrm>
            <a:off x="9704683" y="2531075"/>
            <a:ext cx="1944624" cy="2862322"/>
          </a:xfrm>
          <a:prstGeom prst="rect">
            <a:avLst/>
          </a:prstGeom>
        </p:spPr>
        <p:txBody>
          <a:bodyPr wrap="square">
            <a:spAutoFit/>
          </a:bodyPr>
          <a:lstStyle/>
          <a:p>
            <a:r>
              <a:rPr lang="zh-CN" altLang="zh-CN" kern="100" dirty="0" smtClean="0">
                <a:latin typeface="等线" panose="02010600030101010101" pitchFamily="2" charset="-122"/>
                <a:ea typeface="宋体" panose="02010600030101010101" pitchFamily="2" charset="-122"/>
                <a:cs typeface="Times New Roman" panose="02020603050405020304" pitchFamily="18" charset="0"/>
              </a:rPr>
              <a:t>在的</a:t>
            </a:r>
            <a:r>
              <a:rPr lang="en-US" altLang="zh-CN" kern="100" dirty="0">
                <a:latin typeface="等线" panose="02010600030101010101" pitchFamily="2" charset="-122"/>
                <a:ea typeface="宋体" panose="02010600030101010101" pitchFamily="2" charset="-122"/>
                <a:cs typeface="Times New Roman" panose="02020603050405020304" pitchFamily="18" charset="0"/>
              </a:rPr>
              <a:t>Y</a:t>
            </a:r>
            <a:r>
              <a:rPr lang="zh-CN" altLang="zh-CN" kern="100" dirty="0">
                <a:latin typeface="等线" panose="02010600030101010101" pitchFamily="2" charset="-122"/>
                <a:ea typeface="宋体" panose="02010600030101010101" pitchFamily="2" charset="-122"/>
                <a:cs typeface="Times New Roman" panose="02020603050405020304" pitchFamily="18" charset="0"/>
              </a:rPr>
              <a:t>轴坐标上单击鼠标右键，在弹出的选项中选“对数”，再次操作选择“</a:t>
            </a:r>
            <a:r>
              <a:rPr lang="en-US" altLang="zh-CN" kern="100" dirty="0">
                <a:latin typeface="等线" panose="02010600030101010101" pitchFamily="2" charset="-122"/>
                <a:ea typeface="宋体" panose="02010600030101010101" pitchFamily="2" charset="-122"/>
                <a:cs typeface="Times New Roman" panose="02020603050405020304" pitchFamily="18" charset="0"/>
              </a:rPr>
              <a:t>Peak</a:t>
            </a:r>
            <a:r>
              <a:rPr lang="zh-CN" altLang="zh-CN" kern="100" dirty="0">
                <a:latin typeface="等线" panose="02010600030101010101" pitchFamily="2" charset="-122"/>
                <a:ea typeface="宋体" panose="02010600030101010101" pitchFamily="2" charset="-122"/>
                <a:cs typeface="Times New Roman" panose="02020603050405020304" pitchFamily="18" charset="0"/>
              </a:rPr>
              <a:t>”，这时自功率谱信号窗格显示的是位移传感器信号的频域幅值谱。</a:t>
            </a:r>
            <a:endParaRPr lang="zh-CN" altLang="en-US" dirty="0"/>
          </a:p>
        </p:txBody>
      </p:sp>
      <p:pic>
        <p:nvPicPr>
          <p:cNvPr id="13" name="图片 12"/>
          <p:cNvPicPr>
            <a:picLocks noChangeAspect="1"/>
          </p:cNvPicPr>
          <p:nvPr/>
        </p:nvPicPr>
        <p:blipFill>
          <a:blip r:embed="rId4"/>
          <a:stretch>
            <a:fillRect/>
          </a:stretch>
        </p:blipFill>
        <p:spPr>
          <a:xfrm>
            <a:off x="6568440" y="1683020"/>
            <a:ext cx="2921482" cy="4108675"/>
          </a:xfrm>
          <a:prstGeom prst="rect">
            <a:avLst/>
          </a:prstGeom>
        </p:spPr>
      </p:pic>
      <p:sp>
        <p:nvSpPr>
          <p:cNvPr id="16" name="矩形 15"/>
          <p:cNvSpPr/>
          <p:nvPr/>
        </p:nvSpPr>
        <p:spPr>
          <a:xfrm>
            <a:off x="742633" y="1082726"/>
            <a:ext cx="1980029" cy="400110"/>
          </a:xfrm>
          <a:prstGeom prst="rect">
            <a:avLst/>
          </a:prstGeom>
          <a:noFill/>
        </p:spPr>
        <p:txBody>
          <a:bodyPr wrap="square" rtlCol="0">
            <a:spAutoFit/>
          </a:bodyPr>
          <a:lstStyle/>
          <a:p>
            <a:r>
              <a:rPr lang="zh-CN" altLang="zh-CN" sz="2000" b="1" dirty="0">
                <a:solidFill>
                  <a:srgbClr val="7030A0"/>
                </a:solidFill>
                <a:latin typeface="微软雅黑" panose="020B0503020204020204" pitchFamily="34" charset="-122"/>
                <a:ea typeface="微软雅黑" panose="020B0503020204020204" pitchFamily="34" charset="-122"/>
              </a:rPr>
              <a:t>时域信号的显示</a:t>
            </a:r>
            <a:endParaRPr lang="zh-CN" altLang="en-US" sz="2000" b="1" dirty="0">
              <a:solidFill>
                <a:srgbClr val="7030A0"/>
              </a:solidFill>
              <a:latin typeface="微软雅黑" panose="020B0503020204020204" pitchFamily="34" charset="-122"/>
              <a:ea typeface="微软雅黑" panose="020B0503020204020204" pitchFamily="34" charset="-122"/>
            </a:endParaRPr>
          </a:p>
        </p:txBody>
      </p:sp>
      <p:sp>
        <p:nvSpPr>
          <p:cNvPr id="17" name="矩形 16"/>
          <p:cNvSpPr/>
          <p:nvPr/>
        </p:nvSpPr>
        <p:spPr>
          <a:xfrm>
            <a:off x="6568440" y="1106842"/>
            <a:ext cx="2492990" cy="400110"/>
          </a:xfrm>
          <a:prstGeom prst="rect">
            <a:avLst/>
          </a:prstGeom>
          <a:noFill/>
        </p:spPr>
        <p:txBody>
          <a:bodyPr wrap="square" rtlCol="0">
            <a:spAutoFit/>
          </a:bodyPr>
          <a:lstStyle/>
          <a:p>
            <a:r>
              <a:rPr lang="zh-CN" altLang="zh-CN" sz="2000" b="1" dirty="0">
                <a:solidFill>
                  <a:srgbClr val="7030A0"/>
                </a:solidFill>
                <a:latin typeface="微软雅黑" panose="020B0503020204020204" pitchFamily="34" charset="-122"/>
                <a:ea typeface="微软雅黑" panose="020B0503020204020204" pitchFamily="34" charset="-122"/>
              </a:rPr>
              <a:t>自功率谱信号</a:t>
            </a:r>
            <a:r>
              <a:rPr lang="zh-CN" altLang="en-US" sz="2000" b="1" dirty="0">
                <a:solidFill>
                  <a:srgbClr val="7030A0"/>
                </a:solidFill>
                <a:latin typeface="微软雅黑" panose="020B0503020204020204" pitchFamily="34" charset="-122"/>
                <a:ea typeface="微软雅黑" panose="020B0503020204020204" pitchFamily="34" charset="-122"/>
              </a:rPr>
              <a:t>的显示</a:t>
            </a:r>
          </a:p>
        </p:txBody>
      </p:sp>
      <p:sp>
        <p:nvSpPr>
          <p:cNvPr id="18" name="文本框 17"/>
          <p:cNvSpPr txBox="1"/>
          <p:nvPr/>
        </p:nvSpPr>
        <p:spPr>
          <a:xfrm>
            <a:off x="4687967" y="190741"/>
            <a:ext cx="2816066"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操 作 步 </a:t>
            </a:r>
            <a:r>
              <a:rPr lang="zh-CN" altLang="en-US" sz="3600" b="1" dirty="0" smtClean="0">
                <a:solidFill>
                  <a:srgbClr val="7030A0"/>
                </a:solidFill>
                <a:latin typeface="微软雅黑" panose="020B0503020204020204" pitchFamily="34" charset="-122"/>
                <a:ea typeface="微软雅黑" panose="020B0503020204020204" pitchFamily="34" charset="-122"/>
              </a:rPr>
              <a:t>骤</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12148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p:cNvSpPr txBox="1"/>
          <p:nvPr/>
        </p:nvSpPr>
        <p:spPr>
          <a:xfrm>
            <a:off x="607789" y="928375"/>
            <a:ext cx="3631883" cy="400110"/>
          </a:xfrm>
          <a:prstGeom prst="rect">
            <a:avLst/>
          </a:prstGeom>
          <a:noFill/>
        </p:spPr>
        <p:txBody>
          <a:bodyPr wrap="square" rtlCol="0">
            <a:spAutoFit/>
          </a:bodyPr>
          <a:lstStyle>
            <a:defPPr>
              <a:defRPr lang="zh-CN"/>
            </a:defPPr>
            <a:lvl1pPr>
              <a:defRPr sz="3600" b="1">
                <a:solidFill>
                  <a:srgbClr val="7030A0"/>
                </a:solidFill>
                <a:latin typeface="微软雅黑" panose="020B0503020204020204" pitchFamily="34" charset="-122"/>
                <a:ea typeface="微软雅黑" panose="020B0503020204020204" pitchFamily="34" charset="-122"/>
              </a:defRPr>
            </a:lvl1pPr>
          </a:lstStyle>
          <a:p>
            <a:r>
              <a:rPr lang="zh-CN" altLang="en-US" sz="2000" dirty="0"/>
              <a:t>用户自定义函数的显示</a:t>
            </a:r>
            <a:endParaRPr lang="zh-CN" altLang="en-US" sz="2000" dirty="0"/>
          </a:p>
        </p:txBody>
      </p:sp>
      <p:pic>
        <p:nvPicPr>
          <p:cNvPr id="6" name="图片 5"/>
          <p:cNvPicPr>
            <a:picLocks noChangeAspect="1"/>
          </p:cNvPicPr>
          <p:nvPr/>
        </p:nvPicPr>
        <p:blipFill>
          <a:blip r:embed="rId3"/>
          <a:stretch>
            <a:fillRect/>
          </a:stretch>
        </p:blipFill>
        <p:spPr>
          <a:xfrm>
            <a:off x="726113" y="3905900"/>
            <a:ext cx="3312341" cy="2667220"/>
          </a:xfrm>
          <a:prstGeom prst="rect">
            <a:avLst/>
          </a:prstGeom>
        </p:spPr>
      </p:pic>
      <p:sp>
        <p:nvSpPr>
          <p:cNvPr id="9" name="文本框 8"/>
          <p:cNvSpPr txBox="1"/>
          <p:nvPr/>
        </p:nvSpPr>
        <p:spPr>
          <a:xfrm>
            <a:off x="636807" y="1365606"/>
            <a:ext cx="3497871" cy="2308324"/>
          </a:xfrm>
          <a:prstGeom prst="rect">
            <a:avLst/>
          </a:prstGeom>
          <a:noFill/>
        </p:spPr>
        <p:txBody>
          <a:bodyPr wrap="square" rtlCol="0">
            <a:spAutoFit/>
          </a:bodyPr>
          <a:lstStyle/>
          <a:p>
            <a:r>
              <a:rPr lang="zh-CN" altLang="zh-CN" sz="1600" dirty="0" smtClean="0"/>
              <a:t>当</a:t>
            </a:r>
            <a:r>
              <a:rPr lang="zh-CN" altLang="zh-CN" sz="1600" dirty="0"/>
              <a:t>旋转部件上的反光贴纸</a:t>
            </a:r>
            <a:r>
              <a:rPr lang="en-US" altLang="zh-CN" sz="1600" dirty="0"/>
              <a:t>/</a:t>
            </a:r>
            <a:r>
              <a:rPr lang="zh-CN" altLang="zh-CN" sz="1600" dirty="0"/>
              <a:t>黑贴纸通过光电传感器前时，光电传感器的输出就会跳变一次。通过测出这个跳变频率</a:t>
            </a:r>
            <a:r>
              <a:rPr lang="en-US" altLang="zh-CN" sz="1600" i="1" dirty="0"/>
              <a:t>f</a:t>
            </a:r>
            <a:r>
              <a:rPr lang="zh-CN" altLang="zh-CN" sz="1600" dirty="0"/>
              <a:t>，就可知道转速</a:t>
            </a:r>
            <a:r>
              <a:rPr lang="en-US" altLang="zh-CN" sz="1600" dirty="0"/>
              <a:t>n RPM</a:t>
            </a:r>
            <a:r>
              <a:rPr lang="zh-CN" altLang="zh-CN" sz="1600" dirty="0" smtClean="0"/>
              <a:t>。</a:t>
            </a:r>
            <a:endParaRPr lang="en-US" altLang="zh-CN" sz="1600" dirty="0" smtClean="0"/>
          </a:p>
          <a:p>
            <a:pPr algn="ctr"/>
            <a:r>
              <a:rPr lang="en-US" altLang="zh-CN" sz="1600" dirty="0" smtClean="0"/>
              <a:t>n=</a:t>
            </a:r>
            <a:r>
              <a:rPr lang="en-US" altLang="zh-CN" sz="1600" i="1" dirty="0" smtClean="0"/>
              <a:t>f</a:t>
            </a:r>
            <a:r>
              <a:rPr lang="en-US" altLang="zh-CN" sz="1600" dirty="0" smtClean="0"/>
              <a:t>*60</a:t>
            </a:r>
            <a:endParaRPr lang="zh-CN" altLang="zh-CN" sz="1600" dirty="0"/>
          </a:p>
          <a:p>
            <a:r>
              <a:rPr lang="zh-CN" altLang="zh-CN" sz="1600" dirty="0"/>
              <a:t>如果在被测部件上对称安装多个反光片贴纸，</a:t>
            </a:r>
            <a:r>
              <a:rPr lang="zh-CN" altLang="zh-CN" sz="1600" dirty="0" smtClean="0"/>
              <a:t>那么</a:t>
            </a:r>
            <a:endParaRPr lang="en-US" altLang="zh-CN" sz="1600" dirty="0" smtClean="0"/>
          </a:p>
          <a:p>
            <a:pPr algn="ctr"/>
            <a:r>
              <a:rPr lang="en-US" altLang="zh-CN" sz="1600" dirty="0" smtClean="0"/>
              <a:t>n</a:t>
            </a:r>
            <a:r>
              <a:rPr lang="en-US" altLang="zh-CN" sz="1600" dirty="0"/>
              <a:t>=(</a:t>
            </a:r>
            <a:r>
              <a:rPr lang="en-US" altLang="zh-CN" sz="1600" i="1" dirty="0"/>
              <a:t>f</a:t>
            </a:r>
            <a:r>
              <a:rPr lang="en-US" altLang="zh-CN" sz="1600" dirty="0"/>
              <a:t> *60)/</a:t>
            </a:r>
            <a:r>
              <a:rPr lang="en-US" altLang="zh-CN" sz="1600" dirty="0" smtClean="0"/>
              <a:t>N</a:t>
            </a:r>
          </a:p>
          <a:p>
            <a:r>
              <a:rPr lang="en-US" altLang="zh-CN" sz="1600" dirty="0" smtClean="0"/>
              <a:t>N</a:t>
            </a:r>
            <a:r>
              <a:rPr lang="zh-CN" altLang="zh-CN" sz="1600" dirty="0"/>
              <a:t>为反光贴纸或黑色贴纸的数量。</a:t>
            </a:r>
            <a:endParaRPr lang="zh-CN" altLang="en-US" sz="1600" dirty="0"/>
          </a:p>
        </p:txBody>
      </p:sp>
      <p:cxnSp>
        <p:nvCxnSpPr>
          <p:cNvPr id="11" name="直接连接符 10"/>
          <p:cNvCxnSpPr/>
          <p:nvPr/>
        </p:nvCxnSpPr>
        <p:spPr>
          <a:xfrm flipV="1">
            <a:off x="1047565" y="5424256"/>
            <a:ext cx="2849732" cy="17756"/>
          </a:xfrm>
          <a:prstGeom prst="line">
            <a:avLst/>
          </a:prstGeom>
        </p:spPr>
        <p:style>
          <a:lnRef idx="2">
            <a:schemeClr val="accent2"/>
          </a:lnRef>
          <a:fillRef idx="0">
            <a:schemeClr val="accent2"/>
          </a:fillRef>
          <a:effectRef idx="1">
            <a:schemeClr val="accent2"/>
          </a:effectRef>
          <a:fontRef idx="minor">
            <a:schemeClr val="tx1"/>
          </a:fontRef>
        </p:style>
      </p:cxnSp>
      <p:cxnSp>
        <p:nvCxnSpPr>
          <p:cNvPr id="12" name="直接连接符 11"/>
          <p:cNvCxnSpPr/>
          <p:nvPr/>
        </p:nvCxnSpPr>
        <p:spPr>
          <a:xfrm flipV="1">
            <a:off x="1047565" y="4935984"/>
            <a:ext cx="2876365" cy="8878"/>
          </a:xfrm>
          <a:prstGeom prst="line">
            <a:avLst/>
          </a:prstGeom>
        </p:spPr>
        <p:style>
          <a:lnRef idx="1">
            <a:schemeClr val="accent2"/>
          </a:lnRef>
          <a:fillRef idx="0">
            <a:schemeClr val="accent2"/>
          </a:fillRef>
          <a:effectRef idx="0">
            <a:schemeClr val="accent2"/>
          </a:effectRef>
          <a:fontRef idx="minor">
            <a:schemeClr val="tx1"/>
          </a:fontRef>
        </p:style>
      </p:cxnSp>
      <p:pic>
        <p:nvPicPr>
          <p:cNvPr id="13" name="图片 12"/>
          <p:cNvPicPr>
            <a:picLocks noChangeAspect="1"/>
          </p:cNvPicPr>
          <p:nvPr/>
        </p:nvPicPr>
        <p:blipFill>
          <a:blip r:embed="rId4"/>
          <a:stretch>
            <a:fillRect/>
          </a:stretch>
        </p:blipFill>
        <p:spPr>
          <a:xfrm>
            <a:off x="4639711" y="3673930"/>
            <a:ext cx="4600622" cy="2899190"/>
          </a:xfrm>
          <a:prstGeom prst="rect">
            <a:avLst/>
          </a:prstGeom>
        </p:spPr>
      </p:pic>
      <p:sp>
        <p:nvSpPr>
          <p:cNvPr id="14" name="椭圆 13"/>
          <p:cNvSpPr/>
          <p:nvPr/>
        </p:nvSpPr>
        <p:spPr>
          <a:xfrm>
            <a:off x="607789" y="3239824"/>
            <a:ext cx="355107" cy="497150"/>
          </a:xfrm>
          <a:prstGeom prst="ellipse">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5" name="直接箭头连接符 14"/>
          <p:cNvCxnSpPr>
            <a:stCxn id="14" idx="5"/>
          </p:cNvCxnSpPr>
          <p:nvPr/>
        </p:nvCxnSpPr>
        <p:spPr>
          <a:xfrm>
            <a:off x="910892" y="3664168"/>
            <a:ext cx="6423457" cy="1904706"/>
          </a:xfrm>
          <a:prstGeom prst="straightConnector1">
            <a:avLst/>
          </a:prstGeom>
          <a:ln w="952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6" name="直接箭头连接符 15"/>
          <p:cNvCxnSpPr/>
          <p:nvPr/>
        </p:nvCxnSpPr>
        <p:spPr>
          <a:xfrm>
            <a:off x="3931295" y="5433134"/>
            <a:ext cx="4420168" cy="399495"/>
          </a:xfrm>
          <a:prstGeom prst="straightConnector1">
            <a:avLst/>
          </a:prstGeom>
          <a:ln w="952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7" name="直接箭头连接符 16"/>
          <p:cNvCxnSpPr/>
          <p:nvPr/>
        </p:nvCxnSpPr>
        <p:spPr>
          <a:xfrm>
            <a:off x="3931295" y="4935984"/>
            <a:ext cx="4875346" cy="600793"/>
          </a:xfrm>
          <a:prstGeom prst="straightConnector1">
            <a:avLst/>
          </a:prstGeom>
          <a:ln w="9525"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8" name="矩形 17"/>
          <p:cNvSpPr/>
          <p:nvPr/>
        </p:nvSpPr>
        <p:spPr>
          <a:xfrm>
            <a:off x="5193430" y="6294268"/>
            <a:ext cx="461639" cy="27885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p:cNvSpPr/>
          <p:nvPr/>
        </p:nvSpPr>
        <p:spPr>
          <a:xfrm>
            <a:off x="5795695" y="5444133"/>
            <a:ext cx="461639" cy="202065"/>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0" name="组合 19"/>
          <p:cNvGrpSpPr/>
          <p:nvPr/>
        </p:nvGrpSpPr>
        <p:grpSpPr>
          <a:xfrm>
            <a:off x="4682280" y="1080851"/>
            <a:ext cx="3341779" cy="2431542"/>
            <a:chOff x="5021458" y="1056857"/>
            <a:chExt cx="3341779" cy="2431542"/>
          </a:xfrm>
        </p:grpSpPr>
        <p:pic>
          <p:nvPicPr>
            <p:cNvPr id="21" name="图片 20"/>
            <p:cNvPicPr>
              <a:picLocks noChangeAspect="1"/>
            </p:cNvPicPr>
            <p:nvPr/>
          </p:nvPicPr>
          <p:blipFill>
            <a:blip r:embed="rId5"/>
            <a:stretch>
              <a:fillRect/>
            </a:stretch>
          </p:blipFill>
          <p:spPr>
            <a:xfrm>
              <a:off x="5021458" y="1056857"/>
              <a:ext cx="3341779" cy="2431542"/>
            </a:xfrm>
            <a:prstGeom prst="rect">
              <a:avLst/>
            </a:prstGeom>
            <a:ln>
              <a:solidFill>
                <a:srgbClr val="00B0F0"/>
              </a:solidFill>
            </a:ln>
          </p:spPr>
        </p:pic>
        <p:sp>
          <p:nvSpPr>
            <p:cNvPr id="22" name="矩形 21"/>
            <p:cNvSpPr/>
            <p:nvPr/>
          </p:nvSpPr>
          <p:spPr>
            <a:xfrm>
              <a:off x="5732142" y="1161894"/>
              <a:ext cx="461639" cy="203712"/>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p:cNvSpPr/>
            <p:nvPr/>
          </p:nvSpPr>
          <p:spPr>
            <a:xfrm>
              <a:off x="6036816" y="2540062"/>
              <a:ext cx="381739" cy="20313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p:cNvGrpSpPr/>
          <p:nvPr/>
        </p:nvGrpSpPr>
        <p:grpSpPr>
          <a:xfrm>
            <a:off x="8263591" y="1086401"/>
            <a:ext cx="3487965" cy="2431542"/>
            <a:chOff x="8645338" y="1086401"/>
            <a:chExt cx="3487965" cy="2431542"/>
          </a:xfrm>
        </p:grpSpPr>
        <p:pic>
          <p:nvPicPr>
            <p:cNvPr id="25" name="图片 24"/>
            <p:cNvPicPr>
              <a:picLocks noChangeAspect="1"/>
            </p:cNvPicPr>
            <p:nvPr/>
          </p:nvPicPr>
          <p:blipFill>
            <a:blip r:embed="rId6"/>
            <a:stretch>
              <a:fillRect/>
            </a:stretch>
          </p:blipFill>
          <p:spPr>
            <a:xfrm>
              <a:off x="8645338" y="1086401"/>
              <a:ext cx="3487965" cy="2431542"/>
            </a:xfrm>
            <a:prstGeom prst="rect">
              <a:avLst/>
            </a:prstGeom>
            <a:ln>
              <a:solidFill>
                <a:srgbClr val="00B0F0"/>
              </a:solidFill>
            </a:ln>
          </p:spPr>
        </p:pic>
        <p:sp>
          <p:nvSpPr>
            <p:cNvPr id="26" name="矩形 25"/>
            <p:cNvSpPr/>
            <p:nvPr/>
          </p:nvSpPr>
          <p:spPr>
            <a:xfrm>
              <a:off x="11125200" y="1263750"/>
              <a:ext cx="850777" cy="174433"/>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7" name="矩形 26"/>
          <p:cNvSpPr/>
          <p:nvPr/>
        </p:nvSpPr>
        <p:spPr>
          <a:xfrm>
            <a:off x="8105306" y="5010126"/>
            <a:ext cx="1038688" cy="174433"/>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文本框 27"/>
          <p:cNvSpPr txBox="1"/>
          <p:nvPr/>
        </p:nvSpPr>
        <p:spPr>
          <a:xfrm>
            <a:off x="9311674" y="3695292"/>
            <a:ext cx="2539495" cy="1384995"/>
          </a:xfrm>
          <a:prstGeom prst="rect">
            <a:avLst/>
          </a:prstGeom>
          <a:noFill/>
        </p:spPr>
        <p:txBody>
          <a:bodyPr wrap="square" rtlCol="0">
            <a:spAutoFit/>
          </a:bodyPr>
          <a:lstStyle/>
          <a:p>
            <a:r>
              <a:rPr lang="zh-CN" altLang="en-US" sz="1200" dirty="0" smtClean="0"/>
              <a:t>转速的计算通过</a:t>
            </a:r>
            <a:r>
              <a:rPr lang="zh-CN" altLang="en-US" sz="1200" b="1" dirty="0" smtClean="0">
                <a:solidFill>
                  <a:schemeClr val="accent2"/>
                </a:solidFill>
              </a:rPr>
              <a:t>分析计算</a:t>
            </a:r>
            <a:r>
              <a:rPr lang="zh-CN" altLang="en-US" sz="1200" dirty="0" smtClean="0"/>
              <a:t>专门函数</a:t>
            </a:r>
            <a:r>
              <a:rPr lang="en-US" altLang="zh-CN" sz="1200" b="1" dirty="0" err="1" smtClean="0">
                <a:solidFill>
                  <a:schemeClr val="accent2"/>
                </a:solidFill>
              </a:rPr>
              <a:t>Tacho</a:t>
            </a:r>
            <a:r>
              <a:rPr lang="en-US" altLang="zh-CN" sz="1200" b="1" dirty="0" smtClean="0">
                <a:solidFill>
                  <a:schemeClr val="accent2"/>
                </a:solidFill>
              </a:rPr>
              <a:t>(x)</a:t>
            </a:r>
            <a:r>
              <a:rPr lang="zh-CN" altLang="en-US" sz="1200" dirty="0" smtClean="0"/>
              <a:t>进行计算。通过光电传感器的信号通道，时域信号大小，黑色贴纸数量进行参数设置。见左图。</a:t>
            </a:r>
            <a:endParaRPr lang="en-US" altLang="zh-CN" sz="1200" dirty="0" smtClean="0"/>
          </a:p>
          <a:p>
            <a:endParaRPr lang="en-US" altLang="zh-CN" sz="1200" dirty="0" smtClean="0"/>
          </a:p>
          <a:p>
            <a:r>
              <a:rPr lang="zh-CN" altLang="en-US" sz="1200" dirty="0" smtClean="0"/>
              <a:t>如果设置有误，可以在函数管理界面编辑或者删除。见下图</a:t>
            </a:r>
            <a:endParaRPr lang="zh-CN" altLang="en-US" sz="1200" dirty="0"/>
          </a:p>
        </p:txBody>
      </p:sp>
      <p:grpSp>
        <p:nvGrpSpPr>
          <p:cNvPr id="29" name="组合 28"/>
          <p:cNvGrpSpPr/>
          <p:nvPr/>
        </p:nvGrpSpPr>
        <p:grpSpPr>
          <a:xfrm>
            <a:off x="9477271" y="5184559"/>
            <a:ext cx="2082181" cy="1450787"/>
            <a:chOff x="9824879" y="4843481"/>
            <a:chExt cx="2082181" cy="1450787"/>
          </a:xfrm>
        </p:grpSpPr>
        <p:pic>
          <p:nvPicPr>
            <p:cNvPr id="30" name="图片 29"/>
            <p:cNvPicPr>
              <a:picLocks noChangeAspect="1"/>
            </p:cNvPicPr>
            <p:nvPr/>
          </p:nvPicPr>
          <p:blipFill>
            <a:blip r:embed="rId7"/>
            <a:stretch>
              <a:fillRect/>
            </a:stretch>
          </p:blipFill>
          <p:spPr>
            <a:xfrm>
              <a:off x="9824879" y="4843481"/>
              <a:ext cx="2082181" cy="1450787"/>
            </a:xfrm>
            <a:prstGeom prst="rect">
              <a:avLst/>
            </a:prstGeom>
            <a:ln>
              <a:solidFill>
                <a:srgbClr val="00B0F0"/>
              </a:solidFill>
            </a:ln>
          </p:spPr>
        </p:pic>
        <p:sp>
          <p:nvSpPr>
            <p:cNvPr id="31" name="矩形 30"/>
            <p:cNvSpPr/>
            <p:nvPr/>
          </p:nvSpPr>
          <p:spPr>
            <a:xfrm>
              <a:off x="11308335" y="5045751"/>
              <a:ext cx="446356" cy="13880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p:cNvSpPr/>
            <p:nvPr/>
          </p:nvSpPr>
          <p:spPr>
            <a:xfrm>
              <a:off x="11327410" y="5248021"/>
              <a:ext cx="446356" cy="138808"/>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右箭头 32"/>
          <p:cNvSpPr/>
          <p:nvPr/>
        </p:nvSpPr>
        <p:spPr>
          <a:xfrm>
            <a:off x="7892241" y="1837678"/>
            <a:ext cx="514905" cy="328473"/>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4" name="下箭头 33"/>
          <p:cNvSpPr/>
          <p:nvPr/>
        </p:nvSpPr>
        <p:spPr>
          <a:xfrm>
            <a:off x="8407146" y="3385406"/>
            <a:ext cx="399495" cy="624137"/>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
        <p:nvSpPr>
          <p:cNvPr id="37" name="文本框 36"/>
          <p:cNvSpPr txBox="1"/>
          <p:nvPr/>
        </p:nvSpPr>
        <p:spPr>
          <a:xfrm>
            <a:off x="1265998" y="6048268"/>
            <a:ext cx="2205171" cy="307777"/>
          </a:xfrm>
          <a:prstGeom prst="rect">
            <a:avLst/>
          </a:prstGeom>
          <a:noFill/>
        </p:spPr>
        <p:txBody>
          <a:bodyPr wrap="square" rtlCol="0">
            <a:spAutoFit/>
          </a:bodyPr>
          <a:lstStyle/>
          <a:p>
            <a:r>
              <a:rPr lang="zh-CN" altLang="en-US" sz="1400" b="1" dirty="0" smtClean="0">
                <a:solidFill>
                  <a:schemeClr val="accent2"/>
                </a:solidFill>
                <a:latin typeface="微软雅黑" panose="020B0503020204020204" pitchFamily="34" charset="-122"/>
                <a:ea typeface="微软雅黑" panose="020B0503020204020204" pitchFamily="34" charset="-122"/>
              </a:rPr>
              <a:t>光电转速传感器时域信号</a:t>
            </a:r>
            <a:endParaRPr lang="zh-CN" altLang="en-US" sz="1400" b="1" dirty="0">
              <a:solidFill>
                <a:schemeClr val="accent2"/>
              </a:solidFill>
              <a:latin typeface="微软雅黑" panose="020B0503020204020204" pitchFamily="34" charset="-122"/>
              <a:ea typeface="微软雅黑" panose="020B0503020204020204" pitchFamily="34" charset="-122"/>
            </a:endParaRPr>
          </a:p>
        </p:txBody>
      </p:sp>
      <p:sp>
        <p:nvSpPr>
          <p:cNvPr id="38" name="矩形 37"/>
          <p:cNvSpPr/>
          <p:nvPr/>
        </p:nvSpPr>
        <p:spPr>
          <a:xfrm>
            <a:off x="6977391" y="5863044"/>
            <a:ext cx="2093336" cy="400110"/>
          </a:xfrm>
          <a:prstGeom prst="rect">
            <a:avLst/>
          </a:prstGeom>
        </p:spPr>
        <p:style>
          <a:lnRef idx="3">
            <a:schemeClr val="lt1"/>
          </a:lnRef>
          <a:fillRef idx="1">
            <a:schemeClr val="accent2"/>
          </a:fillRef>
          <a:effectRef idx="1">
            <a:schemeClr val="accent2"/>
          </a:effectRef>
          <a:fontRef idx="minor">
            <a:schemeClr val="lt1"/>
          </a:fontRef>
        </p:style>
        <p:txBody>
          <a:bodyPr wrap="square">
            <a:spAutoFit/>
          </a:bodyPr>
          <a:lstStyle/>
          <a:p>
            <a:r>
              <a:rPr lang="zh-CN" altLang="zh-CN" sz="1000" kern="100" dirty="0">
                <a:latin typeface="等线" panose="02010600030101010101" pitchFamily="2" charset="-122"/>
                <a:ea typeface="宋体" panose="02010600030101010101" pitchFamily="2" charset="-122"/>
                <a:cs typeface="Times New Roman" panose="02020603050405020304" pitchFamily="18" charset="0"/>
              </a:rPr>
              <a:t>低电平和高电平根据传感器</a:t>
            </a:r>
            <a:r>
              <a:rPr lang="zh-CN" altLang="zh-CN" sz="1000" kern="100" dirty="0" smtClean="0">
                <a:latin typeface="等线" panose="02010600030101010101" pitchFamily="2" charset="-122"/>
                <a:ea typeface="宋体" panose="02010600030101010101" pitchFamily="2" charset="-122"/>
                <a:cs typeface="Times New Roman" panose="02020603050405020304" pitchFamily="18" charset="0"/>
              </a:rPr>
              <a:t>的实际</a:t>
            </a:r>
            <a:r>
              <a:rPr lang="zh-CN" altLang="zh-CN" sz="1000" kern="100" dirty="0">
                <a:latin typeface="等线" panose="02010600030101010101" pitchFamily="2" charset="-122"/>
                <a:ea typeface="宋体" panose="02010600030101010101" pitchFamily="2" charset="-122"/>
                <a:cs typeface="Times New Roman" panose="02020603050405020304" pitchFamily="18" charset="0"/>
              </a:rPr>
              <a:t>时域信号的区间取</a:t>
            </a:r>
            <a:r>
              <a:rPr lang="zh-CN" altLang="zh-CN" sz="1000" kern="100" dirty="0" smtClean="0">
                <a:latin typeface="等线" panose="02010600030101010101" pitchFamily="2" charset="-122"/>
                <a:ea typeface="宋体" panose="02010600030101010101" pitchFamily="2" charset="-122"/>
                <a:cs typeface="Times New Roman" panose="02020603050405020304" pitchFamily="18" charset="0"/>
              </a:rPr>
              <a:t>中间值确定</a:t>
            </a:r>
            <a:r>
              <a:rPr lang="zh-CN" altLang="zh-CN" sz="1000" kern="100" dirty="0">
                <a:latin typeface="等线" panose="02010600030101010101" pitchFamily="2" charset="-122"/>
                <a:ea typeface="宋体" panose="02010600030101010101" pitchFamily="2" charset="-122"/>
                <a:cs typeface="Times New Roman" panose="02020603050405020304" pitchFamily="18" charset="0"/>
              </a:rPr>
              <a:t>。</a:t>
            </a:r>
            <a:endParaRPr lang="zh-CN" altLang="en-US" sz="1000" dirty="0"/>
          </a:p>
        </p:txBody>
      </p:sp>
      <p:sp>
        <p:nvSpPr>
          <p:cNvPr id="39" name="文本框 38"/>
          <p:cNvSpPr txBox="1"/>
          <p:nvPr/>
        </p:nvSpPr>
        <p:spPr>
          <a:xfrm>
            <a:off x="4687967" y="190741"/>
            <a:ext cx="2816066"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操 作 步 </a:t>
            </a:r>
            <a:r>
              <a:rPr lang="zh-CN" altLang="en-US" sz="3600" b="1" dirty="0" smtClean="0">
                <a:solidFill>
                  <a:srgbClr val="7030A0"/>
                </a:solidFill>
                <a:latin typeface="微软雅黑" panose="020B0503020204020204" pitchFamily="34" charset="-122"/>
                <a:ea typeface="微软雅黑" panose="020B0503020204020204" pitchFamily="34" charset="-122"/>
              </a:rPr>
              <a:t>骤</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495511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370112" y="1132113"/>
            <a:ext cx="352718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数据采集与分析</a:t>
            </a:r>
            <a:endParaRPr lang="zh-CN" altLang="en-US" sz="24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70112" y="1727365"/>
            <a:ext cx="8267861" cy="707886"/>
          </a:xfrm>
          <a:prstGeom prst="rect">
            <a:avLst/>
          </a:prstGeom>
          <a:noFill/>
        </p:spPr>
        <p:txBody>
          <a:bodyPr wrap="square" rtlCol="0">
            <a:spAutoFit/>
          </a:bodyPr>
          <a:lstStyle>
            <a:defPPr>
              <a:defRPr lang="zh-CN"/>
            </a:defPPr>
            <a:lvl1pPr>
              <a:defRPr sz="3600" b="1">
                <a:solidFill>
                  <a:srgbClr val="7030A0"/>
                </a:solidFill>
                <a:latin typeface="微软雅黑" panose="020B0503020204020204" pitchFamily="34" charset="-122"/>
                <a:ea typeface="微软雅黑" panose="020B0503020204020204" pitchFamily="34" charset="-122"/>
              </a:defRPr>
            </a:lvl1pPr>
          </a:lstStyle>
          <a:p>
            <a:r>
              <a:rPr lang="zh-CN" altLang="en-US" sz="2000" dirty="0" smtClean="0"/>
              <a:t>悬臂梁固有频率估算</a:t>
            </a:r>
            <a:endParaRPr lang="en-US" altLang="zh-CN" sz="2000" dirty="0" smtClean="0"/>
          </a:p>
          <a:p>
            <a:r>
              <a:rPr lang="zh-CN" altLang="en-US" sz="2000" dirty="0" smtClean="0"/>
              <a:t>方法</a:t>
            </a:r>
            <a:r>
              <a:rPr lang="en-US" altLang="zh-CN" sz="2000" dirty="0" smtClean="0"/>
              <a:t>1</a:t>
            </a:r>
            <a:r>
              <a:rPr lang="zh-CN" altLang="en-US" sz="2000" dirty="0" smtClean="0"/>
              <a:t>：转子保持静止，用手轻轻拨动悬臂梁，看位移传感器信号变化。</a:t>
            </a:r>
            <a:endParaRPr lang="zh-CN" altLang="en-US" sz="2000" dirty="0"/>
          </a:p>
        </p:txBody>
      </p:sp>
      <p:pic>
        <p:nvPicPr>
          <p:cNvPr id="7" name="图片 6"/>
          <p:cNvPicPr>
            <a:picLocks noChangeAspect="1"/>
          </p:cNvPicPr>
          <p:nvPr/>
        </p:nvPicPr>
        <p:blipFill>
          <a:blip r:embed="rId2"/>
          <a:stretch>
            <a:fillRect/>
          </a:stretch>
        </p:blipFill>
        <p:spPr>
          <a:xfrm>
            <a:off x="293429" y="2435251"/>
            <a:ext cx="7581064" cy="4085153"/>
          </a:xfrm>
          <a:prstGeom prst="rect">
            <a:avLst/>
          </a:prstGeom>
        </p:spPr>
      </p:pic>
      <p:sp>
        <p:nvSpPr>
          <p:cNvPr id="13" name="矩形 12"/>
          <p:cNvSpPr/>
          <p:nvPr/>
        </p:nvSpPr>
        <p:spPr>
          <a:xfrm>
            <a:off x="8200704" y="3046666"/>
            <a:ext cx="3215979" cy="2862322"/>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a:t>
            </a:r>
            <a:r>
              <a:rPr lang="zh-CN" altLang="en-US" b="1" dirty="0" smtClean="0">
                <a:solidFill>
                  <a:srgbClr val="FF0000"/>
                </a:solidFill>
              </a:rPr>
              <a:t>是否可以得到悬臂梁的固有频率，数值大概是多少？</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、除了固有频率附近振幅较大，还有哪些地方振幅也比较大？</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、加速度传感器连接的基座的转子并未转动，但是其一直也有一个较稳定的周期振动，可能是什么原因造成的？</a:t>
            </a:r>
            <a:endParaRPr lang="zh-CN" altLang="en-US" b="1" dirty="0">
              <a:solidFill>
                <a:srgbClr val="FF0000"/>
              </a:solidFill>
            </a:endParaRPr>
          </a:p>
        </p:txBody>
      </p:sp>
    </p:spTree>
    <p:extLst>
      <p:ext uri="{BB962C8B-B14F-4D97-AF65-F5344CB8AC3E}">
        <p14:creationId xmlns:p14="http://schemas.microsoft.com/office/powerpoint/2010/main" val="397196251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0112" y="1132113"/>
            <a:ext cx="3527185"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数据采集与分析</a:t>
            </a:r>
            <a:endParaRPr lang="zh-CN" altLang="en-US" sz="24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70112" y="1625086"/>
            <a:ext cx="10948917" cy="1015663"/>
          </a:xfrm>
          <a:prstGeom prst="rect">
            <a:avLst/>
          </a:prstGeom>
          <a:noFill/>
        </p:spPr>
        <p:txBody>
          <a:bodyPr wrap="square" rtlCol="0">
            <a:spAutoFit/>
          </a:bodyPr>
          <a:lstStyle>
            <a:defPPr>
              <a:defRPr lang="zh-CN"/>
            </a:defPPr>
            <a:lvl1pPr>
              <a:defRPr sz="3600" b="1">
                <a:solidFill>
                  <a:srgbClr val="7030A0"/>
                </a:solidFill>
                <a:latin typeface="微软雅黑" panose="020B0503020204020204" pitchFamily="34" charset="-122"/>
                <a:ea typeface="微软雅黑" panose="020B0503020204020204" pitchFamily="34" charset="-122"/>
              </a:defRPr>
            </a:lvl1pPr>
          </a:lstStyle>
          <a:p>
            <a:r>
              <a:rPr lang="zh-CN" altLang="en-US" sz="2000" dirty="0" smtClean="0"/>
              <a:t>悬臂梁固有频率测量</a:t>
            </a:r>
            <a:endParaRPr lang="en-US" altLang="zh-CN" sz="2000" dirty="0" smtClean="0"/>
          </a:p>
          <a:p>
            <a:r>
              <a:rPr lang="zh-CN" altLang="en-US" sz="2000" dirty="0" smtClean="0"/>
              <a:t>方法</a:t>
            </a:r>
            <a:r>
              <a:rPr lang="en-US" altLang="zh-CN" sz="2000" dirty="0" smtClean="0"/>
              <a:t>2</a:t>
            </a:r>
            <a:r>
              <a:rPr lang="zh-CN" altLang="en-US" sz="2000" dirty="0" smtClean="0"/>
              <a:t>：调节转子转速，观察各个通道数据变化。</a:t>
            </a:r>
            <a:endParaRPr lang="en-US" altLang="zh-CN" sz="2000" dirty="0" smtClean="0"/>
          </a:p>
          <a:p>
            <a:r>
              <a:rPr lang="en-US" altLang="zh-CN" sz="2000" dirty="0" smtClean="0"/>
              <a:t>A</a:t>
            </a:r>
            <a:r>
              <a:rPr lang="zh-CN" altLang="en-US" sz="2000" dirty="0" smtClean="0"/>
              <a:t>）实时数据解读，转子低速时。</a:t>
            </a:r>
            <a:endParaRPr lang="zh-CN" altLang="en-US" sz="2000" dirty="0"/>
          </a:p>
        </p:txBody>
      </p:sp>
      <p:sp>
        <p:nvSpPr>
          <p:cNvPr id="13" name="矩形 12"/>
          <p:cNvSpPr/>
          <p:nvPr/>
        </p:nvSpPr>
        <p:spPr>
          <a:xfrm>
            <a:off x="7037729" y="2975644"/>
            <a:ext cx="3215979" cy="2862322"/>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a:t>
            </a:r>
            <a:r>
              <a:rPr lang="zh-CN" altLang="en-US" b="1" dirty="0" smtClean="0">
                <a:solidFill>
                  <a:srgbClr val="FF0000"/>
                </a:solidFill>
              </a:rPr>
              <a:t>转子实时频率是多少？</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、位移传感器能否分析出当前转子频率？</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、位移传感器能否分析出悬臂梁频率？</a:t>
            </a:r>
            <a:endParaRPr lang="en-US" altLang="zh-CN" b="1" dirty="0" smtClean="0">
              <a:solidFill>
                <a:srgbClr val="FF0000"/>
              </a:solidFill>
            </a:endParaRPr>
          </a:p>
          <a:p>
            <a:r>
              <a:rPr lang="en-US" altLang="zh-CN" b="1" dirty="0" smtClean="0">
                <a:solidFill>
                  <a:srgbClr val="FF0000"/>
                </a:solidFill>
              </a:rPr>
              <a:t>4</a:t>
            </a:r>
            <a:r>
              <a:rPr lang="zh-CN" altLang="en-US" b="1" dirty="0" smtClean="0">
                <a:solidFill>
                  <a:srgbClr val="FF0000"/>
                </a:solidFill>
              </a:rPr>
              <a:t>、加速度</a:t>
            </a:r>
            <a:r>
              <a:rPr lang="zh-CN" altLang="en-US" b="1" dirty="0">
                <a:solidFill>
                  <a:srgbClr val="FF0000"/>
                </a:solidFill>
              </a:rPr>
              <a:t>位移传感器能否分析出当前转子频率？</a:t>
            </a:r>
            <a:endParaRPr lang="en-US" altLang="zh-CN" b="1" dirty="0">
              <a:solidFill>
                <a:srgbClr val="FF0000"/>
              </a:solidFill>
            </a:endParaRPr>
          </a:p>
          <a:p>
            <a:r>
              <a:rPr lang="en-US" altLang="zh-CN" b="1" dirty="0" smtClean="0">
                <a:solidFill>
                  <a:srgbClr val="FF0000"/>
                </a:solidFill>
              </a:rPr>
              <a:t>5</a:t>
            </a:r>
            <a:r>
              <a:rPr lang="zh-CN" altLang="en-US" b="1" dirty="0" smtClean="0">
                <a:solidFill>
                  <a:srgbClr val="FF0000"/>
                </a:solidFill>
              </a:rPr>
              <a:t>、</a:t>
            </a:r>
            <a:r>
              <a:rPr lang="zh-CN" altLang="en-US" b="1" dirty="0">
                <a:solidFill>
                  <a:srgbClr val="FF0000"/>
                </a:solidFill>
              </a:rPr>
              <a:t>加速度</a:t>
            </a:r>
            <a:r>
              <a:rPr lang="zh-CN" altLang="en-US" b="1" dirty="0" smtClean="0">
                <a:solidFill>
                  <a:srgbClr val="FF0000"/>
                </a:solidFill>
              </a:rPr>
              <a:t>位移传感器</a:t>
            </a:r>
            <a:r>
              <a:rPr lang="zh-CN" altLang="en-US" b="1" dirty="0">
                <a:solidFill>
                  <a:srgbClr val="FF0000"/>
                </a:solidFill>
              </a:rPr>
              <a:t>能否分析出悬臂梁频率？</a:t>
            </a:r>
            <a:endParaRPr lang="zh-CN" altLang="en-US" b="1" dirty="0">
              <a:solidFill>
                <a:srgbClr val="FF0000"/>
              </a:solidFill>
            </a:endParaRPr>
          </a:p>
        </p:txBody>
      </p:sp>
      <p:pic>
        <p:nvPicPr>
          <p:cNvPr id="3" name="图片 2"/>
          <p:cNvPicPr>
            <a:picLocks noChangeAspect="1"/>
          </p:cNvPicPr>
          <p:nvPr/>
        </p:nvPicPr>
        <p:blipFill>
          <a:blip r:embed="rId2"/>
          <a:stretch>
            <a:fillRect/>
          </a:stretch>
        </p:blipFill>
        <p:spPr>
          <a:xfrm>
            <a:off x="370112" y="2691437"/>
            <a:ext cx="6519101" cy="3857809"/>
          </a:xfrm>
          <a:prstGeom prst="rect">
            <a:avLst/>
          </a:prstGeom>
        </p:spPr>
      </p:pic>
      <p:sp>
        <p:nvSpPr>
          <p:cNvPr id="8" name="文本框 7"/>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00343256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0112" y="1132113"/>
            <a:ext cx="3527185"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4. </a:t>
            </a:r>
            <a:r>
              <a:rPr lang="zh-CN" altLang="en-US" sz="2400" b="1" dirty="0" smtClean="0">
                <a:latin typeface="微软雅黑" panose="020B0503020204020204" pitchFamily="34" charset="-122"/>
                <a:ea typeface="微软雅黑" panose="020B0503020204020204" pitchFamily="34" charset="-122"/>
              </a:rPr>
              <a:t>数据采集与分析</a:t>
            </a:r>
            <a:endParaRPr lang="zh-CN" altLang="en-US" sz="24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70112" y="1625086"/>
            <a:ext cx="10948917" cy="1015663"/>
          </a:xfrm>
          <a:prstGeom prst="rect">
            <a:avLst/>
          </a:prstGeom>
          <a:noFill/>
        </p:spPr>
        <p:txBody>
          <a:bodyPr wrap="square" rtlCol="0">
            <a:spAutoFit/>
          </a:bodyPr>
          <a:lstStyle>
            <a:defPPr>
              <a:defRPr lang="zh-CN"/>
            </a:defPPr>
            <a:lvl1pPr>
              <a:defRPr sz="3600" b="1">
                <a:solidFill>
                  <a:srgbClr val="7030A0"/>
                </a:solidFill>
                <a:latin typeface="微软雅黑" panose="020B0503020204020204" pitchFamily="34" charset="-122"/>
                <a:ea typeface="微软雅黑" panose="020B0503020204020204" pitchFamily="34" charset="-122"/>
              </a:defRPr>
            </a:lvl1pPr>
          </a:lstStyle>
          <a:p>
            <a:r>
              <a:rPr lang="zh-CN" altLang="en-US" sz="2000" dirty="0" smtClean="0"/>
              <a:t>悬臂梁固有频率测量</a:t>
            </a:r>
            <a:endParaRPr lang="en-US" altLang="zh-CN" sz="2000" dirty="0" smtClean="0"/>
          </a:p>
          <a:p>
            <a:r>
              <a:rPr lang="zh-CN" altLang="en-US" sz="2000" dirty="0" smtClean="0"/>
              <a:t>方法</a:t>
            </a:r>
            <a:r>
              <a:rPr lang="en-US" altLang="zh-CN" sz="2000" dirty="0" smtClean="0"/>
              <a:t>2</a:t>
            </a:r>
            <a:r>
              <a:rPr lang="zh-CN" altLang="en-US" sz="2000" dirty="0" smtClean="0"/>
              <a:t>：调节转子转速。观察各个通道数据变化。</a:t>
            </a:r>
            <a:endParaRPr lang="en-US" altLang="zh-CN" sz="2000" dirty="0" smtClean="0"/>
          </a:p>
          <a:p>
            <a:r>
              <a:rPr lang="en-US" altLang="zh-CN" sz="2000" dirty="0" smtClean="0"/>
              <a:t>B</a:t>
            </a:r>
            <a:r>
              <a:rPr lang="zh-CN" altLang="en-US" sz="2000" dirty="0" smtClean="0"/>
              <a:t>）实时数据解读，转子中速时。</a:t>
            </a:r>
            <a:endParaRPr lang="zh-CN" altLang="en-US" sz="2000" dirty="0"/>
          </a:p>
        </p:txBody>
      </p:sp>
      <p:sp>
        <p:nvSpPr>
          <p:cNvPr id="13" name="矩形 12"/>
          <p:cNvSpPr/>
          <p:nvPr/>
        </p:nvSpPr>
        <p:spPr>
          <a:xfrm>
            <a:off x="7037729" y="2975644"/>
            <a:ext cx="3215979" cy="2862322"/>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a:t>
            </a:r>
            <a:r>
              <a:rPr lang="zh-CN" altLang="en-US" b="1" dirty="0" smtClean="0">
                <a:solidFill>
                  <a:srgbClr val="FF0000"/>
                </a:solidFill>
              </a:rPr>
              <a:t>转子实时频率是多少？</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、位移传感器能否分析出当前转子频率？</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、位移传感器能否分析出悬臂梁频率？</a:t>
            </a:r>
            <a:endParaRPr lang="en-US" altLang="zh-CN" b="1" dirty="0" smtClean="0">
              <a:solidFill>
                <a:srgbClr val="FF0000"/>
              </a:solidFill>
            </a:endParaRPr>
          </a:p>
          <a:p>
            <a:r>
              <a:rPr lang="en-US" altLang="zh-CN" b="1" dirty="0" smtClean="0">
                <a:solidFill>
                  <a:srgbClr val="FF0000"/>
                </a:solidFill>
              </a:rPr>
              <a:t>4</a:t>
            </a:r>
            <a:r>
              <a:rPr lang="zh-CN" altLang="en-US" b="1" dirty="0" smtClean="0">
                <a:solidFill>
                  <a:srgbClr val="FF0000"/>
                </a:solidFill>
              </a:rPr>
              <a:t>、加速度</a:t>
            </a:r>
            <a:r>
              <a:rPr lang="zh-CN" altLang="en-US" b="1" dirty="0">
                <a:solidFill>
                  <a:srgbClr val="FF0000"/>
                </a:solidFill>
              </a:rPr>
              <a:t>位移传感器能否分析出当前转子频率？</a:t>
            </a:r>
            <a:endParaRPr lang="en-US" altLang="zh-CN" b="1" dirty="0">
              <a:solidFill>
                <a:srgbClr val="FF0000"/>
              </a:solidFill>
            </a:endParaRPr>
          </a:p>
          <a:p>
            <a:r>
              <a:rPr lang="en-US" altLang="zh-CN" b="1" dirty="0" smtClean="0">
                <a:solidFill>
                  <a:srgbClr val="FF0000"/>
                </a:solidFill>
              </a:rPr>
              <a:t>5</a:t>
            </a:r>
            <a:r>
              <a:rPr lang="zh-CN" altLang="en-US" b="1" dirty="0" smtClean="0">
                <a:solidFill>
                  <a:srgbClr val="FF0000"/>
                </a:solidFill>
              </a:rPr>
              <a:t>、</a:t>
            </a:r>
            <a:r>
              <a:rPr lang="zh-CN" altLang="en-US" b="1" dirty="0">
                <a:solidFill>
                  <a:srgbClr val="FF0000"/>
                </a:solidFill>
              </a:rPr>
              <a:t>加速度</a:t>
            </a:r>
            <a:r>
              <a:rPr lang="zh-CN" altLang="en-US" b="1" dirty="0" smtClean="0">
                <a:solidFill>
                  <a:srgbClr val="FF0000"/>
                </a:solidFill>
              </a:rPr>
              <a:t>位移传感器</a:t>
            </a:r>
            <a:r>
              <a:rPr lang="zh-CN" altLang="en-US" b="1" dirty="0">
                <a:solidFill>
                  <a:srgbClr val="FF0000"/>
                </a:solidFill>
              </a:rPr>
              <a:t>能否分析出悬臂梁频率？</a:t>
            </a:r>
            <a:endParaRPr lang="zh-CN" altLang="en-US" b="1" dirty="0">
              <a:solidFill>
                <a:srgbClr val="FF0000"/>
              </a:solidFill>
            </a:endParaRPr>
          </a:p>
        </p:txBody>
      </p:sp>
      <p:pic>
        <p:nvPicPr>
          <p:cNvPr id="4" name="图片 3"/>
          <p:cNvPicPr>
            <a:picLocks noChangeAspect="1"/>
          </p:cNvPicPr>
          <p:nvPr/>
        </p:nvPicPr>
        <p:blipFill>
          <a:blip r:embed="rId2"/>
          <a:stretch>
            <a:fillRect/>
          </a:stretch>
        </p:blipFill>
        <p:spPr>
          <a:xfrm>
            <a:off x="438435" y="2672057"/>
            <a:ext cx="6242859" cy="3704644"/>
          </a:xfrm>
          <a:prstGeom prst="rect">
            <a:avLst/>
          </a:prstGeom>
        </p:spPr>
      </p:pic>
      <p:sp>
        <p:nvSpPr>
          <p:cNvPr id="8" name="文本框 7"/>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44016971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0112" y="1132113"/>
            <a:ext cx="3527185"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4. </a:t>
            </a:r>
            <a:r>
              <a:rPr lang="zh-CN" altLang="en-US" sz="2400" b="1" dirty="0" smtClean="0">
                <a:latin typeface="微软雅黑" panose="020B0503020204020204" pitchFamily="34" charset="-122"/>
                <a:ea typeface="微软雅黑" panose="020B0503020204020204" pitchFamily="34" charset="-122"/>
              </a:rPr>
              <a:t>数据采集与分析</a:t>
            </a:r>
            <a:endParaRPr lang="zh-CN" altLang="en-US" sz="24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70112" y="1625086"/>
            <a:ext cx="10948917" cy="1015663"/>
          </a:xfrm>
          <a:prstGeom prst="rect">
            <a:avLst/>
          </a:prstGeom>
          <a:noFill/>
        </p:spPr>
        <p:txBody>
          <a:bodyPr wrap="square" rtlCol="0">
            <a:spAutoFit/>
          </a:bodyPr>
          <a:lstStyle>
            <a:defPPr>
              <a:defRPr lang="zh-CN"/>
            </a:defPPr>
            <a:lvl1pPr>
              <a:defRPr sz="3600" b="1">
                <a:solidFill>
                  <a:srgbClr val="7030A0"/>
                </a:solidFill>
                <a:latin typeface="微软雅黑" panose="020B0503020204020204" pitchFamily="34" charset="-122"/>
                <a:ea typeface="微软雅黑" panose="020B0503020204020204" pitchFamily="34" charset="-122"/>
              </a:defRPr>
            </a:lvl1pPr>
          </a:lstStyle>
          <a:p>
            <a:r>
              <a:rPr lang="zh-CN" altLang="en-US" sz="2000" dirty="0" smtClean="0"/>
              <a:t>悬臂梁固有频率测量</a:t>
            </a:r>
            <a:endParaRPr lang="en-US" altLang="zh-CN" sz="2000" dirty="0" smtClean="0"/>
          </a:p>
          <a:p>
            <a:r>
              <a:rPr lang="zh-CN" altLang="en-US" sz="2000" dirty="0" smtClean="0"/>
              <a:t>方法</a:t>
            </a:r>
            <a:r>
              <a:rPr lang="en-US" altLang="zh-CN" sz="2000" dirty="0" smtClean="0"/>
              <a:t>2</a:t>
            </a:r>
            <a:r>
              <a:rPr lang="zh-CN" altLang="en-US" sz="2000" dirty="0" smtClean="0"/>
              <a:t>：调节转子转速。观察各个通道数据变化。</a:t>
            </a:r>
            <a:endParaRPr lang="en-US" altLang="zh-CN" sz="2000" dirty="0" smtClean="0"/>
          </a:p>
          <a:p>
            <a:r>
              <a:rPr lang="en-US" altLang="zh-CN" sz="2000" dirty="0" smtClean="0"/>
              <a:t>C</a:t>
            </a:r>
            <a:r>
              <a:rPr lang="zh-CN" altLang="en-US" sz="2000" dirty="0" smtClean="0"/>
              <a:t>）实时数据解读，转子高速时。</a:t>
            </a:r>
            <a:endParaRPr lang="zh-CN" altLang="en-US" sz="2000" dirty="0"/>
          </a:p>
        </p:txBody>
      </p:sp>
      <p:sp>
        <p:nvSpPr>
          <p:cNvPr id="13" name="矩形 12"/>
          <p:cNvSpPr/>
          <p:nvPr/>
        </p:nvSpPr>
        <p:spPr>
          <a:xfrm>
            <a:off x="7037729" y="2975644"/>
            <a:ext cx="3215979" cy="2862322"/>
          </a:xfrm>
          <a:prstGeom prst="rect">
            <a:avLst/>
          </a:prstGeom>
          <a:solidFill>
            <a:schemeClr val="accent2">
              <a:lumMod val="20000"/>
              <a:lumOff val="80000"/>
            </a:schemeClr>
          </a:solidFill>
        </p:spPr>
        <p:txBody>
          <a:bodyPr wrap="square" rtlCol="0">
            <a:spAutoFit/>
          </a:bodyPr>
          <a:lstStyle/>
          <a:p>
            <a:r>
              <a:rPr lang="zh-CN" altLang="zh-CN" b="1" dirty="0">
                <a:solidFill>
                  <a:srgbClr val="FF0000"/>
                </a:solidFill>
              </a:rPr>
              <a:t>思考：</a:t>
            </a:r>
          </a:p>
          <a:p>
            <a:r>
              <a:rPr lang="en-US" altLang="zh-CN" b="1" dirty="0">
                <a:solidFill>
                  <a:srgbClr val="FF0000"/>
                </a:solidFill>
              </a:rPr>
              <a:t>1</a:t>
            </a:r>
            <a:r>
              <a:rPr lang="zh-CN" altLang="zh-CN" b="1" dirty="0" smtClean="0">
                <a:solidFill>
                  <a:srgbClr val="FF0000"/>
                </a:solidFill>
              </a:rPr>
              <a:t>、</a:t>
            </a:r>
            <a:r>
              <a:rPr lang="zh-CN" altLang="en-US" b="1" dirty="0" smtClean="0">
                <a:solidFill>
                  <a:srgbClr val="FF0000"/>
                </a:solidFill>
              </a:rPr>
              <a:t>转子实时频率是多少？</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、位移传感器能否分析出当前转子频率？</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、位移传感器能否分析出悬臂梁频率？</a:t>
            </a:r>
            <a:endParaRPr lang="en-US" altLang="zh-CN" b="1" dirty="0" smtClean="0">
              <a:solidFill>
                <a:srgbClr val="FF0000"/>
              </a:solidFill>
            </a:endParaRPr>
          </a:p>
          <a:p>
            <a:r>
              <a:rPr lang="en-US" altLang="zh-CN" b="1" dirty="0" smtClean="0">
                <a:solidFill>
                  <a:srgbClr val="FF0000"/>
                </a:solidFill>
              </a:rPr>
              <a:t>4</a:t>
            </a:r>
            <a:r>
              <a:rPr lang="zh-CN" altLang="en-US" b="1" dirty="0" smtClean="0">
                <a:solidFill>
                  <a:srgbClr val="FF0000"/>
                </a:solidFill>
              </a:rPr>
              <a:t>、加速度</a:t>
            </a:r>
            <a:r>
              <a:rPr lang="zh-CN" altLang="en-US" b="1" dirty="0">
                <a:solidFill>
                  <a:srgbClr val="FF0000"/>
                </a:solidFill>
              </a:rPr>
              <a:t>位移传感器能否分析出当前转子频率？</a:t>
            </a:r>
            <a:endParaRPr lang="en-US" altLang="zh-CN" b="1" dirty="0">
              <a:solidFill>
                <a:srgbClr val="FF0000"/>
              </a:solidFill>
            </a:endParaRPr>
          </a:p>
          <a:p>
            <a:r>
              <a:rPr lang="en-US" altLang="zh-CN" b="1" dirty="0" smtClean="0">
                <a:solidFill>
                  <a:srgbClr val="FF0000"/>
                </a:solidFill>
              </a:rPr>
              <a:t>5</a:t>
            </a:r>
            <a:r>
              <a:rPr lang="zh-CN" altLang="en-US" b="1" dirty="0" smtClean="0">
                <a:solidFill>
                  <a:srgbClr val="FF0000"/>
                </a:solidFill>
              </a:rPr>
              <a:t>、</a:t>
            </a:r>
            <a:r>
              <a:rPr lang="zh-CN" altLang="en-US" b="1" dirty="0">
                <a:solidFill>
                  <a:srgbClr val="FF0000"/>
                </a:solidFill>
              </a:rPr>
              <a:t>加速度</a:t>
            </a:r>
            <a:r>
              <a:rPr lang="zh-CN" altLang="en-US" b="1" dirty="0" smtClean="0">
                <a:solidFill>
                  <a:srgbClr val="FF0000"/>
                </a:solidFill>
              </a:rPr>
              <a:t>位移传感器</a:t>
            </a:r>
            <a:r>
              <a:rPr lang="zh-CN" altLang="en-US" b="1" dirty="0">
                <a:solidFill>
                  <a:srgbClr val="FF0000"/>
                </a:solidFill>
              </a:rPr>
              <a:t>能否分析出悬臂梁频率？</a:t>
            </a:r>
            <a:endParaRPr lang="zh-CN" altLang="en-US" b="1" dirty="0">
              <a:solidFill>
                <a:srgbClr val="FF0000"/>
              </a:solidFill>
            </a:endParaRPr>
          </a:p>
        </p:txBody>
      </p:sp>
      <p:pic>
        <p:nvPicPr>
          <p:cNvPr id="3" name="图片 2"/>
          <p:cNvPicPr>
            <a:picLocks noChangeAspect="1"/>
          </p:cNvPicPr>
          <p:nvPr/>
        </p:nvPicPr>
        <p:blipFill>
          <a:blip r:embed="rId2"/>
          <a:stretch>
            <a:fillRect/>
          </a:stretch>
        </p:blipFill>
        <p:spPr>
          <a:xfrm>
            <a:off x="471552" y="2672057"/>
            <a:ext cx="6359146" cy="3803796"/>
          </a:xfrm>
          <a:prstGeom prst="rect">
            <a:avLst/>
          </a:prstGeom>
        </p:spPr>
      </p:pic>
      <p:sp>
        <p:nvSpPr>
          <p:cNvPr id="8" name="文本框 7"/>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824992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0112" y="1132113"/>
            <a:ext cx="3527185"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4. </a:t>
            </a:r>
            <a:r>
              <a:rPr lang="zh-CN" altLang="en-US" sz="2400" b="1" dirty="0" smtClean="0">
                <a:latin typeface="微软雅黑" panose="020B0503020204020204" pitchFamily="34" charset="-122"/>
                <a:ea typeface="微软雅黑" panose="020B0503020204020204" pitchFamily="34" charset="-122"/>
              </a:rPr>
              <a:t>数据采集与分析</a:t>
            </a:r>
            <a:endParaRPr lang="zh-CN" altLang="en-US" sz="2400" b="1" dirty="0">
              <a:latin typeface="微软雅黑" panose="020B0503020204020204" pitchFamily="34" charset="-122"/>
              <a:ea typeface="微软雅黑" panose="020B0503020204020204" pitchFamily="34" charset="-122"/>
            </a:endParaRPr>
          </a:p>
        </p:txBody>
      </p:sp>
      <p:sp>
        <p:nvSpPr>
          <p:cNvPr id="11" name="文本框 10"/>
          <p:cNvSpPr txBox="1"/>
          <p:nvPr/>
        </p:nvSpPr>
        <p:spPr>
          <a:xfrm>
            <a:off x="370112" y="1625086"/>
            <a:ext cx="11241880" cy="1323439"/>
          </a:xfrm>
          <a:prstGeom prst="rect">
            <a:avLst/>
          </a:prstGeom>
          <a:noFill/>
        </p:spPr>
        <p:txBody>
          <a:bodyPr wrap="square" rtlCol="0">
            <a:spAutoFit/>
          </a:bodyPr>
          <a:lstStyle>
            <a:defPPr>
              <a:defRPr lang="zh-CN"/>
            </a:defPPr>
            <a:lvl1pPr>
              <a:defRPr sz="3600" b="1">
                <a:solidFill>
                  <a:srgbClr val="7030A0"/>
                </a:solidFill>
                <a:latin typeface="微软雅黑" panose="020B0503020204020204" pitchFamily="34" charset="-122"/>
                <a:ea typeface="微软雅黑" panose="020B0503020204020204" pitchFamily="34" charset="-122"/>
              </a:defRPr>
            </a:lvl1pPr>
          </a:lstStyle>
          <a:p>
            <a:r>
              <a:rPr lang="zh-CN" altLang="en-US" sz="2000" dirty="0" smtClean="0"/>
              <a:t>悬臂梁固有频率测量</a:t>
            </a:r>
            <a:endParaRPr lang="en-US" altLang="zh-CN" sz="2000" dirty="0" smtClean="0"/>
          </a:p>
          <a:p>
            <a:r>
              <a:rPr lang="zh-CN" altLang="en-US" sz="2000" dirty="0" smtClean="0"/>
              <a:t>方法</a:t>
            </a:r>
            <a:r>
              <a:rPr lang="en-US" altLang="zh-CN" sz="2000" dirty="0" smtClean="0"/>
              <a:t>3</a:t>
            </a:r>
            <a:r>
              <a:rPr lang="zh-CN" altLang="en-US" sz="2000" dirty="0" smtClean="0"/>
              <a:t>：调节转子转速从</a:t>
            </a:r>
            <a:r>
              <a:rPr lang="en-US" altLang="zh-CN" sz="2000" dirty="0" smtClean="0"/>
              <a:t>0-3000r/min</a:t>
            </a:r>
            <a:r>
              <a:rPr lang="zh-CN" altLang="en-US" sz="2000" dirty="0" smtClean="0"/>
              <a:t>，慢慢变大。进行数据记录并进行离线分析。</a:t>
            </a:r>
            <a:endParaRPr lang="en-US" altLang="zh-CN" sz="2000" dirty="0"/>
          </a:p>
          <a:p>
            <a:r>
              <a:rPr lang="zh-CN" altLang="en-US" sz="2000" dirty="0" smtClean="0"/>
              <a:t>注意：转子刚启动时，由于启动力矩较大，旋钮先旋大，再调小，在较小转速平稳后，开启数据记录，再开始测试。转速到</a:t>
            </a:r>
            <a:r>
              <a:rPr lang="en-US" altLang="zh-CN" sz="2000" dirty="0" smtClean="0"/>
              <a:t>3000r/min</a:t>
            </a:r>
            <a:r>
              <a:rPr lang="zh-CN" altLang="en-US" sz="2000" dirty="0" smtClean="0"/>
              <a:t>后，关闭测试。再调整转子停止。</a:t>
            </a:r>
            <a:endParaRPr lang="en-US" altLang="zh-CN" sz="2000" dirty="0" smtClean="0"/>
          </a:p>
        </p:txBody>
      </p:sp>
      <p:pic>
        <p:nvPicPr>
          <p:cNvPr id="4" name="图片 3"/>
          <p:cNvPicPr>
            <a:picLocks noChangeAspect="1"/>
          </p:cNvPicPr>
          <p:nvPr/>
        </p:nvPicPr>
        <p:blipFill>
          <a:blip r:embed="rId2"/>
          <a:stretch>
            <a:fillRect/>
          </a:stretch>
        </p:blipFill>
        <p:spPr>
          <a:xfrm>
            <a:off x="550641" y="2876365"/>
            <a:ext cx="6783708" cy="3641073"/>
          </a:xfrm>
          <a:prstGeom prst="rect">
            <a:avLst/>
          </a:prstGeom>
        </p:spPr>
      </p:pic>
      <p:pic>
        <p:nvPicPr>
          <p:cNvPr id="8" name="图片 7"/>
          <p:cNvPicPr>
            <a:picLocks noChangeAspect="1"/>
          </p:cNvPicPr>
          <p:nvPr/>
        </p:nvPicPr>
        <p:blipFill>
          <a:blip r:embed="rId3"/>
          <a:stretch>
            <a:fillRect/>
          </a:stretch>
        </p:blipFill>
        <p:spPr>
          <a:xfrm>
            <a:off x="8994469" y="2672057"/>
            <a:ext cx="2368948" cy="2101186"/>
          </a:xfrm>
          <a:prstGeom prst="rect">
            <a:avLst/>
          </a:prstGeom>
        </p:spPr>
      </p:pic>
      <p:sp>
        <p:nvSpPr>
          <p:cNvPr id="9" name="矩形 8"/>
          <p:cNvSpPr/>
          <p:nvPr/>
        </p:nvSpPr>
        <p:spPr>
          <a:xfrm>
            <a:off x="8994469" y="4854037"/>
            <a:ext cx="2289049" cy="1200329"/>
          </a:xfrm>
          <a:prstGeom prst="rect">
            <a:avLst/>
          </a:prstGeom>
        </p:spPr>
        <p:txBody>
          <a:bodyPr wrap="square">
            <a:spAutoFit/>
          </a:bodyPr>
          <a:lstStyle/>
          <a:p>
            <a:r>
              <a:rPr lang="en-US" altLang="zh-CN" kern="100" dirty="0" smtClean="0">
                <a:latin typeface="等线" panose="02010600030101010101" pitchFamily="2" charset="-122"/>
                <a:ea typeface="宋体" panose="02010600030101010101" pitchFamily="2" charset="-122"/>
                <a:cs typeface="Times New Roman" panose="02020603050405020304" pitchFamily="18" charset="0"/>
              </a:rPr>
              <a:t>1</a:t>
            </a:r>
            <a:r>
              <a:rPr lang="zh-CN" altLang="en-US" kern="100" dirty="0" smtClean="0">
                <a:latin typeface="等线" panose="02010600030101010101" pitchFamily="2" charset="-122"/>
                <a:ea typeface="宋体" panose="02010600030101010101" pitchFamily="2" charset="-122"/>
                <a:cs typeface="Times New Roman" panose="02020603050405020304" pitchFamily="18" charset="0"/>
              </a:rPr>
              <a:t>、检查有没有对存储管理进行合理设置</a:t>
            </a:r>
            <a:endParaRPr lang="en-US" altLang="zh-CN" kern="100" dirty="0" smtClean="0">
              <a:latin typeface="等线" panose="02010600030101010101" pitchFamily="2" charset="-122"/>
              <a:ea typeface="宋体" panose="02010600030101010101" pitchFamily="2" charset="-122"/>
              <a:cs typeface="Times New Roman" panose="02020603050405020304" pitchFamily="18" charset="0"/>
            </a:endParaRPr>
          </a:p>
          <a:p>
            <a:r>
              <a:rPr lang="en-US" altLang="zh-CN" kern="100" dirty="0" smtClean="0">
                <a:latin typeface="等线" panose="02010600030101010101" pitchFamily="2" charset="-122"/>
                <a:ea typeface="宋体" panose="02010600030101010101" pitchFamily="2" charset="-122"/>
                <a:cs typeface="Times New Roman" panose="02020603050405020304" pitchFamily="18" charset="0"/>
              </a:rPr>
              <a:t>2</a:t>
            </a:r>
            <a:r>
              <a:rPr lang="zh-CN" altLang="en-US" kern="100" dirty="0" smtClean="0">
                <a:latin typeface="等线" panose="02010600030101010101" pitchFamily="2" charset="-122"/>
                <a:ea typeface="宋体" panose="02010600030101010101" pitchFamily="2" charset="-122"/>
                <a:cs typeface="Times New Roman" panose="02020603050405020304" pitchFamily="18" charset="0"/>
              </a:rPr>
              <a:t>、点击数据记录</a:t>
            </a:r>
            <a:endParaRPr lang="en-US" altLang="zh-CN" kern="100" dirty="0" smtClean="0">
              <a:latin typeface="等线" panose="02010600030101010101" pitchFamily="2" charset="-122"/>
              <a:ea typeface="宋体" panose="02010600030101010101" pitchFamily="2" charset="-122"/>
              <a:cs typeface="Times New Roman" panose="02020603050405020304" pitchFamily="18" charset="0"/>
            </a:endParaRPr>
          </a:p>
          <a:p>
            <a:r>
              <a:rPr lang="en-US" altLang="zh-CN" kern="100" dirty="0" smtClean="0">
                <a:latin typeface="等线" panose="02010600030101010101" pitchFamily="2" charset="-122"/>
                <a:ea typeface="宋体" panose="02010600030101010101" pitchFamily="2" charset="-122"/>
                <a:cs typeface="Times New Roman" panose="02020603050405020304" pitchFamily="18" charset="0"/>
              </a:rPr>
              <a:t>3</a:t>
            </a:r>
            <a:r>
              <a:rPr lang="zh-CN" altLang="en-US" kern="100" dirty="0" smtClean="0">
                <a:latin typeface="等线" panose="02010600030101010101" pitchFamily="2" charset="-122"/>
                <a:ea typeface="宋体" panose="02010600030101010101" pitchFamily="2" charset="-122"/>
                <a:cs typeface="Times New Roman" panose="02020603050405020304" pitchFamily="18" charset="0"/>
              </a:rPr>
              <a:t>、点击开始测试</a:t>
            </a:r>
            <a:endParaRPr lang="zh-CN" altLang="en-US" dirty="0"/>
          </a:p>
        </p:txBody>
      </p:sp>
      <p:sp>
        <p:nvSpPr>
          <p:cNvPr id="10" name="文本框 9"/>
          <p:cNvSpPr txBox="1"/>
          <p:nvPr/>
        </p:nvSpPr>
        <p:spPr>
          <a:xfrm>
            <a:off x="6957104" y="4539135"/>
            <a:ext cx="313708" cy="157766"/>
          </a:xfrm>
          <a:prstGeom prst="rect">
            <a:avLst/>
          </a:prstGeom>
          <a:noFill/>
          <a:ln w="38100">
            <a:solidFill>
              <a:srgbClr val="FF0000"/>
            </a:solidFill>
            <a:prstDash val="solid"/>
          </a:ln>
        </p:spPr>
        <p:txBody>
          <a:bodyPr wrap="square" rtlCol="0">
            <a:spAutoFit/>
          </a:bodyPr>
          <a:lstStyle/>
          <a:p>
            <a:endParaRPr lang="zh-CN" altLang="en-US" dirty="0"/>
          </a:p>
        </p:txBody>
      </p:sp>
      <p:sp>
        <p:nvSpPr>
          <p:cNvPr id="12" name="文本框 11"/>
          <p:cNvSpPr txBox="1"/>
          <p:nvPr/>
        </p:nvSpPr>
        <p:spPr>
          <a:xfrm>
            <a:off x="6958498" y="3549984"/>
            <a:ext cx="313708" cy="157766"/>
          </a:xfrm>
          <a:prstGeom prst="rect">
            <a:avLst/>
          </a:prstGeom>
          <a:noFill/>
          <a:ln w="38100">
            <a:solidFill>
              <a:srgbClr val="FF0000"/>
            </a:solidFill>
            <a:prstDash val="solid"/>
          </a:ln>
        </p:spPr>
        <p:txBody>
          <a:bodyPr wrap="square" rtlCol="0">
            <a:spAutoFit/>
          </a:bodyPr>
          <a:lstStyle/>
          <a:p>
            <a:endParaRPr lang="zh-CN" altLang="en-US" dirty="0"/>
          </a:p>
        </p:txBody>
      </p:sp>
      <p:sp>
        <p:nvSpPr>
          <p:cNvPr id="6" name="文本框 5"/>
          <p:cNvSpPr txBox="1"/>
          <p:nvPr/>
        </p:nvSpPr>
        <p:spPr>
          <a:xfrm>
            <a:off x="8578971" y="3143838"/>
            <a:ext cx="415498" cy="369332"/>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dirty="0" smtClean="0"/>
              <a:t>①</a:t>
            </a:r>
            <a:endParaRPr lang="zh-CN" altLang="en-US" dirty="0"/>
          </a:p>
        </p:txBody>
      </p:sp>
      <p:sp>
        <p:nvSpPr>
          <p:cNvPr id="14" name="文本框 13"/>
          <p:cNvSpPr txBox="1"/>
          <p:nvPr/>
        </p:nvSpPr>
        <p:spPr>
          <a:xfrm>
            <a:off x="7272201" y="4484705"/>
            <a:ext cx="415498" cy="369332"/>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dirty="0" smtClean="0"/>
              <a:t>②</a:t>
            </a:r>
            <a:endParaRPr lang="zh-CN" altLang="en-US" dirty="0"/>
          </a:p>
        </p:txBody>
      </p:sp>
      <p:sp>
        <p:nvSpPr>
          <p:cNvPr id="15" name="文本框 14"/>
          <p:cNvSpPr txBox="1"/>
          <p:nvPr/>
        </p:nvSpPr>
        <p:spPr>
          <a:xfrm>
            <a:off x="7279784" y="3479743"/>
            <a:ext cx="415498" cy="369332"/>
          </a:xfrm>
          <a:prstGeom prst="rect">
            <a:avLst/>
          </a:prstGeom>
        </p:spPr>
        <p:style>
          <a:lnRef idx="3">
            <a:schemeClr val="lt1"/>
          </a:lnRef>
          <a:fillRef idx="1">
            <a:schemeClr val="accent2"/>
          </a:fillRef>
          <a:effectRef idx="1">
            <a:schemeClr val="accent2"/>
          </a:effectRef>
          <a:fontRef idx="minor">
            <a:schemeClr val="lt1"/>
          </a:fontRef>
        </p:style>
        <p:txBody>
          <a:bodyPr wrap="none" rtlCol="0">
            <a:spAutoFit/>
          </a:bodyPr>
          <a:lstStyle/>
          <a:p>
            <a:r>
              <a:rPr lang="zh-CN" altLang="en-US" dirty="0" smtClean="0"/>
              <a:t>③</a:t>
            </a:r>
            <a:endParaRPr lang="zh-CN" altLang="en-US" dirty="0"/>
          </a:p>
        </p:txBody>
      </p:sp>
      <p:sp>
        <p:nvSpPr>
          <p:cNvPr id="16" name="文本框 15"/>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200240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0111" y="1132114"/>
            <a:ext cx="4042231"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5. </a:t>
            </a:r>
            <a:r>
              <a:rPr lang="zh-CN" altLang="en-US" sz="2400" b="1" dirty="0" smtClean="0">
                <a:latin typeface="微软雅黑" panose="020B0503020204020204" pitchFamily="34" charset="-122"/>
                <a:ea typeface="微软雅黑" panose="020B0503020204020204" pitchFamily="34" charset="-122"/>
              </a:rPr>
              <a:t>离线分析</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数据查看</a:t>
            </a:r>
            <a:endParaRPr lang="zh-CN" altLang="en-US" sz="24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496123" y="1670724"/>
            <a:ext cx="3090456" cy="2360765"/>
          </a:xfrm>
          <a:prstGeom prst="rect">
            <a:avLst/>
          </a:prstGeom>
          <a:ln>
            <a:solidFill>
              <a:schemeClr val="accent1"/>
            </a:solidFill>
          </a:ln>
        </p:spPr>
      </p:pic>
      <p:pic>
        <p:nvPicPr>
          <p:cNvPr id="4" name="图片 3"/>
          <p:cNvPicPr>
            <a:picLocks noChangeAspect="1"/>
          </p:cNvPicPr>
          <p:nvPr/>
        </p:nvPicPr>
        <p:blipFill>
          <a:blip r:embed="rId3"/>
          <a:stretch>
            <a:fillRect/>
          </a:stretch>
        </p:blipFill>
        <p:spPr>
          <a:xfrm>
            <a:off x="4113600" y="1670724"/>
            <a:ext cx="5586376" cy="2303518"/>
          </a:xfrm>
          <a:prstGeom prst="rect">
            <a:avLst/>
          </a:prstGeom>
          <a:ln>
            <a:solidFill>
              <a:schemeClr val="accent1"/>
            </a:solidFill>
          </a:ln>
        </p:spPr>
      </p:pic>
      <p:pic>
        <p:nvPicPr>
          <p:cNvPr id="6" name="图片 5"/>
          <p:cNvPicPr>
            <a:picLocks noChangeAspect="1"/>
          </p:cNvPicPr>
          <p:nvPr/>
        </p:nvPicPr>
        <p:blipFill>
          <a:blip r:embed="rId4"/>
          <a:stretch>
            <a:fillRect/>
          </a:stretch>
        </p:blipFill>
        <p:spPr>
          <a:xfrm>
            <a:off x="496123" y="4591996"/>
            <a:ext cx="7761707" cy="2038531"/>
          </a:xfrm>
          <a:prstGeom prst="rect">
            <a:avLst/>
          </a:prstGeom>
          <a:ln>
            <a:solidFill>
              <a:schemeClr val="accent1"/>
            </a:solidFill>
          </a:ln>
        </p:spPr>
      </p:pic>
      <p:sp>
        <p:nvSpPr>
          <p:cNvPr id="7" name="右箭头 6"/>
          <p:cNvSpPr/>
          <p:nvPr/>
        </p:nvSpPr>
        <p:spPr>
          <a:xfrm>
            <a:off x="3483864" y="2822483"/>
            <a:ext cx="758952" cy="240757"/>
          </a:xfrm>
          <a:prstGeom prst="rightArrow">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zh-CN" altLang="en-US"/>
          </a:p>
        </p:txBody>
      </p:sp>
      <p:sp>
        <p:nvSpPr>
          <p:cNvPr id="9" name="下箭头 8"/>
          <p:cNvSpPr/>
          <p:nvPr/>
        </p:nvSpPr>
        <p:spPr>
          <a:xfrm>
            <a:off x="6537960" y="3886200"/>
            <a:ext cx="283464" cy="1161288"/>
          </a:xfrm>
          <a:prstGeom prst="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cxnSp>
        <p:nvCxnSpPr>
          <p:cNvPr id="12" name="直接箭头连接符 11"/>
          <p:cNvCxnSpPr/>
          <p:nvPr/>
        </p:nvCxnSpPr>
        <p:spPr>
          <a:xfrm flipV="1">
            <a:off x="1179576" y="4919472"/>
            <a:ext cx="493776" cy="2194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4" name="文本框 13"/>
          <p:cNvSpPr txBox="1"/>
          <p:nvPr/>
        </p:nvSpPr>
        <p:spPr>
          <a:xfrm>
            <a:off x="1583683" y="4767590"/>
            <a:ext cx="1288906" cy="523220"/>
          </a:xfrm>
          <a:prstGeom prst="rect">
            <a:avLst/>
          </a:prstGeom>
          <a:noFill/>
        </p:spPr>
        <p:txBody>
          <a:bodyPr wrap="square" rtlCol="0">
            <a:spAutoFit/>
          </a:bodyPr>
          <a:lstStyle/>
          <a:p>
            <a:r>
              <a:rPr lang="zh-CN" altLang="en-US" sz="1400" dirty="0" smtClean="0"/>
              <a:t>调整分析数据的起始位置</a:t>
            </a:r>
            <a:endParaRPr lang="zh-CN" altLang="en-US" sz="1400" dirty="0"/>
          </a:p>
        </p:txBody>
      </p:sp>
      <p:cxnSp>
        <p:nvCxnSpPr>
          <p:cNvPr id="16" name="直接箭头连接符 15"/>
          <p:cNvCxnSpPr/>
          <p:nvPr/>
        </p:nvCxnSpPr>
        <p:spPr>
          <a:xfrm flipV="1">
            <a:off x="8006439" y="4937760"/>
            <a:ext cx="493776" cy="219456"/>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
        <p:nvSpPr>
          <p:cNvPr id="17" name="文本框 16"/>
          <p:cNvSpPr txBox="1"/>
          <p:nvPr/>
        </p:nvSpPr>
        <p:spPr>
          <a:xfrm>
            <a:off x="8483899" y="4767590"/>
            <a:ext cx="1288906" cy="523220"/>
          </a:xfrm>
          <a:prstGeom prst="rect">
            <a:avLst/>
          </a:prstGeom>
          <a:noFill/>
        </p:spPr>
        <p:txBody>
          <a:bodyPr wrap="square" rtlCol="0">
            <a:spAutoFit/>
          </a:bodyPr>
          <a:lstStyle/>
          <a:p>
            <a:r>
              <a:rPr lang="zh-CN" altLang="en-US" sz="1400" dirty="0" smtClean="0"/>
              <a:t>调整分析数据的结束位置</a:t>
            </a:r>
            <a:endParaRPr lang="zh-CN" altLang="en-US" sz="1400" dirty="0"/>
          </a:p>
        </p:txBody>
      </p:sp>
      <p:sp>
        <p:nvSpPr>
          <p:cNvPr id="18" name="文本框 17"/>
          <p:cNvSpPr txBox="1"/>
          <p:nvPr/>
        </p:nvSpPr>
        <p:spPr>
          <a:xfrm>
            <a:off x="621232" y="4312955"/>
            <a:ext cx="962452" cy="307777"/>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sz="1400" dirty="0" smtClean="0"/>
              <a:t>浏览文件</a:t>
            </a:r>
            <a:endParaRPr lang="zh-CN" altLang="en-US" sz="1400" dirty="0"/>
          </a:p>
        </p:txBody>
      </p:sp>
      <p:sp>
        <p:nvSpPr>
          <p:cNvPr id="19" name="文本框 18"/>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7301805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370111" y="1132114"/>
            <a:ext cx="4042231"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5. </a:t>
            </a:r>
            <a:r>
              <a:rPr lang="zh-CN" altLang="en-US" sz="2400" b="1" dirty="0" smtClean="0">
                <a:latin typeface="微软雅黑" panose="020B0503020204020204" pitchFamily="34" charset="-122"/>
                <a:ea typeface="微软雅黑" panose="020B0503020204020204" pitchFamily="34" charset="-122"/>
              </a:rPr>
              <a:t>离线分析</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数据查看</a:t>
            </a:r>
            <a:endParaRPr lang="zh-CN" altLang="en-US" sz="2400" b="1"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2"/>
          <a:stretch>
            <a:fillRect/>
          </a:stretch>
        </p:blipFill>
        <p:spPr>
          <a:xfrm>
            <a:off x="370111" y="2237171"/>
            <a:ext cx="7601902" cy="4093941"/>
          </a:xfrm>
          <a:prstGeom prst="rect">
            <a:avLst/>
          </a:prstGeom>
        </p:spPr>
      </p:pic>
      <p:sp>
        <p:nvSpPr>
          <p:cNvPr id="15" name="文本框 14"/>
          <p:cNvSpPr txBox="1"/>
          <p:nvPr/>
        </p:nvSpPr>
        <p:spPr>
          <a:xfrm>
            <a:off x="948315" y="6106752"/>
            <a:ext cx="480989" cy="224359"/>
          </a:xfrm>
          <a:prstGeom prst="rect">
            <a:avLst/>
          </a:prstGeom>
          <a:noFill/>
          <a:ln w="38100">
            <a:solidFill>
              <a:srgbClr val="FF0000"/>
            </a:solidFill>
            <a:prstDash val="solid"/>
          </a:ln>
        </p:spPr>
        <p:txBody>
          <a:bodyPr wrap="square" rtlCol="0">
            <a:spAutoFit/>
          </a:bodyPr>
          <a:lstStyle/>
          <a:p>
            <a:endParaRPr lang="zh-CN" altLang="en-US" dirty="0"/>
          </a:p>
        </p:txBody>
      </p:sp>
      <p:sp>
        <p:nvSpPr>
          <p:cNvPr id="18" name="文本框 17"/>
          <p:cNvSpPr txBox="1"/>
          <p:nvPr/>
        </p:nvSpPr>
        <p:spPr>
          <a:xfrm>
            <a:off x="558392" y="1862718"/>
            <a:ext cx="1030712" cy="307777"/>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sz="1400" dirty="0"/>
              <a:t>时</a:t>
            </a:r>
            <a:r>
              <a:rPr lang="zh-CN" altLang="en-US" sz="1400" dirty="0" smtClean="0"/>
              <a:t>频显示</a:t>
            </a:r>
            <a:r>
              <a:rPr lang="en-US" altLang="zh-CN" sz="1400" dirty="0" smtClean="0"/>
              <a:t>1</a:t>
            </a:r>
            <a:endParaRPr lang="zh-CN" altLang="en-US" sz="1400" dirty="0"/>
          </a:p>
        </p:txBody>
      </p:sp>
      <p:sp>
        <p:nvSpPr>
          <p:cNvPr id="19" name="矩形 18"/>
          <p:cNvSpPr/>
          <p:nvPr/>
        </p:nvSpPr>
        <p:spPr>
          <a:xfrm>
            <a:off x="8129683" y="2237171"/>
            <a:ext cx="2807607" cy="3970318"/>
          </a:xfrm>
          <a:prstGeom prst="rect">
            <a:avLst/>
          </a:prstGeom>
          <a:solidFill>
            <a:schemeClr val="accent2">
              <a:lumMod val="20000"/>
              <a:lumOff val="80000"/>
            </a:schemeClr>
          </a:solidFill>
        </p:spPr>
        <p:txBody>
          <a:bodyPr wrap="square" rtlCol="0">
            <a:spAutoFit/>
          </a:bodyPr>
          <a:lstStyle/>
          <a:p>
            <a:r>
              <a:rPr lang="zh-CN" altLang="en-US" b="1" dirty="0" smtClean="0">
                <a:solidFill>
                  <a:srgbClr val="FF0000"/>
                </a:solidFill>
              </a:rPr>
              <a:t>方法</a:t>
            </a:r>
            <a:r>
              <a:rPr lang="en-US" altLang="zh-CN" b="1" dirty="0" smtClean="0">
                <a:solidFill>
                  <a:srgbClr val="FF0000"/>
                </a:solidFill>
              </a:rPr>
              <a:t>1</a:t>
            </a:r>
            <a:r>
              <a:rPr lang="zh-CN" altLang="en-US" b="1" dirty="0" smtClean="0">
                <a:solidFill>
                  <a:srgbClr val="FF0000"/>
                </a:solidFill>
              </a:rPr>
              <a:t>：查看整个时间段信号的整体变化。</a:t>
            </a:r>
            <a:endParaRPr lang="en-US" altLang="zh-CN" b="1" dirty="0" smtClean="0">
              <a:solidFill>
                <a:srgbClr val="FF0000"/>
              </a:solidFill>
            </a:endParaRPr>
          </a:p>
          <a:p>
            <a:r>
              <a:rPr lang="en-US" altLang="zh-CN" b="1" dirty="0" smtClean="0">
                <a:solidFill>
                  <a:srgbClr val="FF0000"/>
                </a:solidFill>
              </a:rPr>
              <a:t>1</a:t>
            </a:r>
            <a:r>
              <a:rPr lang="zh-CN" altLang="en-US" b="1" dirty="0" smtClean="0">
                <a:solidFill>
                  <a:srgbClr val="FF0000"/>
                </a:solidFill>
              </a:rPr>
              <a:t>、设置→分析参数→采样点数→</a:t>
            </a:r>
            <a:r>
              <a:rPr lang="en-US" altLang="zh-CN" b="1" dirty="0" smtClean="0">
                <a:solidFill>
                  <a:srgbClr val="FF0000"/>
                </a:solidFill>
              </a:rPr>
              <a:t>131072</a:t>
            </a:r>
            <a:r>
              <a:rPr lang="zh-CN" altLang="en-US" b="1" dirty="0" smtClean="0">
                <a:solidFill>
                  <a:srgbClr val="FF0000"/>
                </a:solidFill>
              </a:rPr>
              <a:t>（如果实际采样点数较少，可以减小此值）</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、各窗口设置同数据采集与分析时的设置</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、添加光标线，设置各时间窗口光标联动模式（右键，如图）。</a:t>
            </a:r>
            <a:endParaRPr lang="en-US" altLang="zh-CN" b="1" dirty="0" smtClean="0">
              <a:solidFill>
                <a:srgbClr val="FF0000"/>
              </a:solidFill>
            </a:endParaRPr>
          </a:p>
          <a:p>
            <a:r>
              <a:rPr lang="en-US" altLang="zh-CN" b="1" dirty="0" smtClean="0">
                <a:solidFill>
                  <a:srgbClr val="FF0000"/>
                </a:solidFill>
              </a:rPr>
              <a:t>4</a:t>
            </a:r>
            <a:r>
              <a:rPr lang="zh-CN" altLang="en-US" b="1" dirty="0" smtClean="0">
                <a:solidFill>
                  <a:srgbClr val="FF0000"/>
                </a:solidFill>
              </a:rPr>
              <a:t>、看位移传感器在时域振动最大的时间对应的转速值是否与预期相符。</a:t>
            </a:r>
            <a:endParaRPr lang="zh-CN" altLang="en-US" b="1" dirty="0">
              <a:solidFill>
                <a:srgbClr val="FF0000"/>
              </a:solidFill>
            </a:endParaRPr>
          </a:p>
        </p:txBody>
      </p:sp>
      <p:pic>
        <p:nvPicPr>
          <p:cNvPr id="10" name="图片 9"/>
          <p:cNvPicPr>
            <a:picLocks noChangeAspect="1"/>
          </p:cNvPicPr>
          <p:nvPr/>
        </p:nvPicPr>
        <p:blipFill>
          <a:blip r:embed="rId3"/>
          <a:stretch>
            <a:fillRect/>
          </a:stretch>
        </p:blipFill>
        <p:spPr>
          <a:xfrm>
            <a:off x="10697882" y="4085900"/>
            <a:ext cx="1349213" cy="1418256"/>
          </a:xfrm>
          <a:prstGeom prst="rect">
            <a:avLst/>
          </a:prstGeom>
        </p:spPr>
      </p:pic>
      <p:sp>
        <p:nvSpPr>
          <p:cNvPr id="20" name="文本框 19"/>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40053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495394" y="2170495"/>
            <a:ext cx="7313458" cy="3950029"/>
          </a:xfrm>
          <a:prstGeom prst="rect">
            <a:avLst/>
          </a:prstGeom>
        </p:spPr>
      </p:pic>
      <p:sp>
        <p:nvSpPr>
          <p:cNvPr id="5" name="文本框 4"/>
          <p:cNvSpPr txBox="1"/>
          <p:nvPr/>
        </p:nvSpPr>
        <p:spPr>
          <a:xfrm>
            <a:off x="370111" y="1132114"/>
            <a:ext cx="4042231"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5. </a:t>
            </a:r>
            <a:r>
              <a:rPr lang="zh-CN" altLang="en-US" sz="2400" b="1" dirty="0" smtClean="0">
                <a:latin typeface="微软雅黑" panose="020B0503020204020204" pitchFamily="34" charset="-122"/>
                <a:ea typeface="微软雅黑" panose="020B0503020204020204" pitchFamily="34" charset="-122"/>
              </a:rPr>
              <a:t>离线分析</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数据查看</a:t>
            </a:r>
            <a:endParaRPr lang="zh-CN" altLang="en-US" sz="2400" b="1" dirty="0">
              <a:latin typeface="微软雅黑" panose="020B0503020204020204" pitchFamily="34" charset="-122"/>
              <a:ea typeface="微软雅黑" panose="020B0503020204020204" pitchFamily="34" charset="-122"/>
            </a:endParaRPr>
          </a:p>
        </p:txBody>
      </p:sp>
      <p:sp>
        <p:nvSpPr>
          <p:cNvPr id="15" name="文本框 14"/>
          <p:cNvSpPr txBox="1"/>
          <p:nvPr/>
        </p:nvSpPr>
        <p:spPr>
          <a:xfrm>
            <a:off x="1073748" y="5896165"/>
            <a:ext cx="480989" cy="224359"/>
          </a:xfrm>
          <a:prstGeom prst="rect">
            <a:avLst/>
          </a:prstGeom>
          <a:noFill/>
          <a:ln w="38100">
            <a:solidFill>
              <a:srgbClr val="FF0000"/>
            </a:solidFill>
            <a:prstDash val="solid"/>
          </a:ln>
        </p:spPr>
        <p:txBody>
          <a:bodyPr wrap="square" rtlCol="0">
            <a:spAutoFit/>
          </a:bodyPr>
          <a:lstStyle/>
          <a:p>
            <a:endParaRPr lang="zh-CN" altLang="en-US" dirty="0"/>
          </a:p>
        </p:txBody>
      </p:sp>
      <p:sp>
        <p:nvSpPr>
          <p:cNvPr id="18" name="文本框 17"/>
          <p:cNvSpPr txBox="1"/>
          <p:nvPr/>
        </p:nvSpPr>
        <p:spPr>
          <a:xfrm>
            <a:off x="558392" y="1862718"/>
            <a:ext cx="1030712" cy="307777"/>
          </a:xfrm>
          <a:prstGeom prst="rect">
            <a:avLst/>
          </a:prstGeom>
        </p:spPr>
        <p:style>
          <a:lnRef idx="3">
            <a:schemeClr val="lt1"/>
          </a:lnRef>
          <a:fillRef idx="1">
            <a:schemeClr val="accent4"/>
          </a:fillRef>
          <a:effectRef idx="1">
            <a:schemeClr val="accent4"/>
          </a:effectRef>
          <a:fontRef idx="minor">
            <a:schemeClr val="lt1"/>
          </a:fontRef>
        </p:style>
        <p:txBody>
          <a:bodyPr wrap="square" rtlCol="0">
            <a:spAutoFit/>
          </a:bodyPr>
          <a:lstStyle/>
          <a:p>
            <a:r>
              <a:rPr lang="zh-CN" altLang="en-US" sz="1400" dirty="0"/>
              <a:t>时</a:t>
            </a:r>
            <a:r>
              <a:rPr lang="zh-CN" altLang="en-US" sz="1400" dirty="0" smtClean="0"/>
              <a:t>频显示</a:t>
            </a:r>
            <a:r>
              <a:rPr lang="en-US" altLang="zh-CN" sz="1400" dirty="0" smtClean="0"/>
              <a:t>1</a:t>
            </a:r>
            <a:endParaRPr lang="zh-CN" altLang="en-US" sz="1400" dirty="0"/>
          </a:p>
        </p:txBody>
      </p:sp>
      <p:sp>
        <p:nvSpPr>
          <p:cNvPr id="19" name="矩形 18"/>
          <p:cNvSpPr/>
          <p:nvPr/>
        </p:nvSpPr>
        <p:spPr>
          <a:xfrm>
            <a:off x="8122912" y="4909350"/>
            <a:ext cx="3219983" cy="1754326"/>
          </a:xfrm>
          <a:prstGeom prst="rect">
            <a:avLst/>
          </a:prstGeom>
          <a:solidFill>
            <a:schemeClr val="accent2">
              <a:lumMod val="20000"/>
              <a:lumOff val="80000"/>
            </a:schemeClr>
          </a:solidFill>
        </p:spPr>
        <p:txBody>
          <a:bodyPr wrap="square" rtlCol="0">
            <a:spAutoFit/>
          </a:bodyPr>
          <a:lstStyle/>
          <a:p>
            <a:r>
              <a:rPr lang="zh-CN" altLang="en-US" b="1" dirty="0" smtClean="0">
                <a:solidFill>
                  <a:srgbClr val="FF0000"/>
                </a:solidFill>
              </a:rPr>
              <a:t>方法</a:t>
            </a:r>
            <a:r>
              <a:rPr lang="en-US" altLang="zh-CN" b="1" dirty="0" smtClean="0">
                <a:solidFill>
                  <a:srgbClr val="FF0000"/>
                </a:solidFill>
              </a:rPr>
              <a:t>2</a:t>
            </a:r>
            <a:r>
              <a:rPr lang="zh-CN" altLang="en-US" b="1" dirty="0" smtClean="0">
                <a:solidFill>
                  <a:srgbClr val="FF0000"/>
                </a:solidFill>
              </a:rPr>
              <a:t>：使用频域峰值保持。</a:t>
            </a:r>
            <a:endParaRPr lang="en-US" altLang="zh-CN" b="1" dirty="0" smtClean="0">
              <a:solidFill>
                <a:srgbClr val="FF0000"/>
              </a:solidFill>
            </a:endParaRPr>
          </a:p>
          <a:p>
            <a:r>
              <a:rPr lang="en-US" altLang="zh-CN" b="1" dirty="0" smtClean="0">
                <a:solidFill>
                  <a:srgbClr val="FF0000"/>
                </a:solidFill>
              </a:rPr>
              <a:t>1</a:t>
            </a:r>
            <a:r>
              <a:rPr lang="zh-CN" altLang="en-US" b="1" dirty="0" smtClean="0">
                <a:solidFill>
                  <a:srgbClr val="FF0000"/>
                </a:solidFill>
              </a:rPr>
              <a:t>、分析参数设置如上图所示</a:t>
            </a:r>
            <a:endParaRPr lang="en-US" altLang="zh-CN" b="1" dirty="0" smtClean="0">
              <a:solidFill>
                <a:srgbClr val="FF0000"/>
              </a:solidFill>
            </a:endParaRPr>
          </a:p>
          <a:p>
            <a:r>
              <a:rPr lang="en-US" altLang="zh-CN" b="1" dirty="0" smtClean="0">
                <a:solidFill>
                  <a:srgbClr val="FF0000"/>
                </a:solidFill>
              </a:rPr>
              <a:t>2</a:t>
            </a:r>
            <a:r>
              <a:rPr lang="zh-CN" altLang="en-US" b="1" dirty="0" smtClean="0">
                <a:solidFill>
                  <a:srgbClr val="FF0000"/>
                </a:solidFill>
              </a:rPr>
              <a:t>、窗口运行过程中，哪个窗口反映转子转速的变化？</a:t>
            </a:r>
            <a:endParaRPr lang="en-US" altLang="zh-CN" b="1" dirty="0" smtClean="0">
              <a:solidFill>
                <a:srgbClr val="FF0000"/>
              </a:solidFill>
            </a:endParaRPr>
          </a:p>
          <a:p>
            <a:r>
              <a:rPr lang="en-US" altLang="zh-CN" b="1" dirty="0" smtClean="0">
                <a:solidFill>
                  <a:srgbClr val="FF0000"/>
                </a:solidFill>
              </a:rPr>
              <a:t>3</a:t>
            </a:r>
            <a:r>
              <a:rPr lang="zh-CN" altLang="en-US" b="1" dirty="0" smtClean="0">
                <a:solidFill>
                  <a:srgbClr val="FF0000"/>
                </a:solidFill>
              </a:rPr>
              <a:t>、什么是频域峰值保持？能否得到悬臂梁的固有频率？</a:t>
            </a:r>
            <a:endParaRPr lang="zh-CN" altLang="en-US" b="1" dirty="0">
              <a:solidFill>
                <a:srgbClr val="FF0000"/>
              </a:solidFill>
            </a:endParaRPr>
          </a:p>
        </p:txBody>
      </p:sp>
      <p:pic>
        <p:nvPicPr>
          <p:cNvPr id="3" name="图片 2"/>
          <p:cNvPicPr>
            <a:picLocks noChangeAspect="1"/>
          </p:cNvPicPr>
          <p:nvPr/>
        </p:nvPicPr>
        <p:blipFill>
          <a:blip r:embed="rId3"/>
          <a:stretch>
            <a:fillRect/>
          </a:stretch>
        </p:blipFill>
        <p:spPr>
          <a:xfrm>
            <a:off x="8122912" y="1209181"/>
            <a:ext cx="2955185" cy="3568902"/>
          </a:xfrm>
          <a:prstGeom prst="rect">
            <a:avLst/>
          </a:prstGeom>
        </p:spPr>
      </p:pic>
      <p:sp>
        <p:nvSpPr>
          <p:cNvPr id="11" name="文本框 10"/>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035999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370110" y="1033104"/>
            <a:ext cx="4042231"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6. </a:t>
            </a:r>
            <a:r>
              <a:rPr lang="zh-CN" altLang="en-US" sz="2400" b="1" dirty="0" smtClean="0">
                <a:latin typeface="微软雅黑" panose="020B0503020204020204" pitchFamily="34" charset="-122"/>
                <a:ea typeface="微软雅黑" panose="020B0503020204020204" pitchFamily="34" charset="-122"/>
              </a:rPr>
              <a:t>悬臂梁共振试验</a:t>
            </a:r>
            <a:endParaRPr lang="zh-CN" altLang="en-US" sz="2400" b="1" dirty="0">
              <a:latin typeface="微软雅黑" panose="020B0503020204020204" pitchFamily="34" charset="-122"/>
              <a:ea typeface="微软雅黑" panose="020B0503020204020204" pitchFamily="34" charset="-122"/>
            </a:endParaRPr>
          </a:p>
        </p:txBody>
      </p:sp>
      <p:sp>
        <p:nvSpPr>
          <p:cNvPr id="5" name="矩形 4"/>
          <p:cNvSpPr/>
          <p:nvPr/>
        </p:nvSpPr>
        <p:spPr>
          <a:xfrm>
            <a:off x="702365" y="1637438"/>
            <a:ext cx="10137913" cy="3077766"/>
          </a:xfrm>
          <a:prstGeom prst="rect">
            <a:avLst/>
          </a:prstGeom>
        </p:spPr>
        <p:txBody>
          <a:bodyPr wrap="square">
            <a:spAutoFit/>
          </a:bodyPr>
          <a:lstStyle/>
          <a:p>
            <a:pPr marL="457200" indent="-457200" algn="just">
              <a:lnSpc>
                <a:spcPct val="150000"/>
              </a:lnSpc>
              <a:spcAft>
                <a:spcPts val="3000"/>
              </a:spcAft>
              <a:buFont typeface="+mj-lt"/>
              <a:buAutoNum type="arabicPeriod"/>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从离线分析，查看电涡流位移传感器</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时域、自功率谱幅值最大时刻对应的转速</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3000"/>
              </a:spcAft>
              <a:buFont typeface="+mj-lt"/>
              <a:buAutoNum type="arabicPeriod"/>
            </a:pPr>
            <a:r>
              <a:rPr lang="zh-CN" altLang="zh-CN" sz="2400" b="1" kern="100" dirty="0" smtClean="0">
                <a:latin typeface="微软雅黑" panose="020B0503020204020204" pitchFamily="34" charset="-122"/>
                <a:ea typeface="微软雅黑" panose="020B0503020204020204" pitchFamily="34" charset="-122"/>
                <a:cs typeface="Times New Roman" panose="02020603050405020304" pitchFamily="18" charset="0"/>
              </a:rPr>
              <a:t>调整</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电机转速</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到</a:t>
            </a:r>
            <a:r>
              <a:rPr lang="zh-CN" altLang="en-US" sz="2400" kern="100" dirty="0" smtClean="0">
                <a:latin typeface="微软雅黑" panose="020B0503020204020204" pitchFamily="34" charset="-122"/>
                <a:ea typeface="微软雅黑" panose="020B0503020204020204" pitchFamily="34" charset="-122"/>
                <a:cs typeface="Times New Roman" panose="02020603050405020304" pitchFamily="18" charset="0"/>
              </a:rPr>
              <a:t>固有频率</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位置，查看悬臂梁的共振现象</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3000"/>
              </a:spcAft>
              <a:buFont typeface="+mj-lt"/>
              <a:buAutoNum type="arabicPeriod"/>
            </a:pP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测试</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记录悬臂梁</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共振时的电机转速、位移幅值</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6" name="文本框 5"/>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9187775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1879" y="1298147"/>
            <a:ext cx="9660834" cy="461665"/>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将不锈钢悬臂梁更换成黄铜材质悬臂梁，重复上述实验并进行分析。</a:t>
            </a:r>
            <a:endParaRPr lang="en-US" altLang="zh-CN" sz="2400" b="1" dirty="0" smtClean="0">
              <a:latin typeface="微软雅黑" panose="020B0503020204020204" pitchFamily="34" charset="-122"/>
              <a:ea typeface="微软雅黑" panose="020B0503020204020204" pitchFamily="34" charset="-122"/>
            </a:endParaRPr>
          </a:p>
        </p:txBody>
      </p:sp>
      <p:sp>
        <p:nvSpPr>
          <p:cNvPr id="6" name="文本框 5"/>
          <p:cNvSpPr txBox="1"/>
          <p:nvPr/>
        </p:nvSpPr>
        <p:spPr>
          <a:xfrm>
            <a:off x="2739030" y="111212"/>
            <a:ext cx="6713941"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黄铜材质悬臂梁固有频率分析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144697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781878" y="1298147"/>
            <a:ext cx="10794603" cy="830997"/>
          </a:xfrm>
          <a:prstGeom prst="rect">
            <a:avLst/>
          </a:prstGeom>
          <a:noFill/>
        </p:spPr>
        <p:txBody>
          <a:bodyPr wrap="square" rtlCol="0">
            <a:spAutoFit/>
          </a:bodyPr>
          <a:lstStyle/>
          <a:p>
            <a:r>
              <a:rPr lang="zh-CN" altLang="en-US" sz="2400" b="1" dirty="0" smtClean="0">
                <a:latin typeface="微软雅黑" panose="020B0503020204020204" pitchFamily="34" charset="-122"/>
                <a:ea typeface="微软雅黑" panose="020B0503020204020204" pitchFamily="34" charset="-122"/>
              </a:rPr>
              <a:t>将加速度传感器安装至不锈钢悬臂梁末端，使加速度传感器正对位移传感器。</a:t>
            </a:r>
            <a:endParaRPr lang="en-US" altLang="zh-CN" sz="2400" b="1" dirty="0" smtClean="0">
              <a:latin typeface="微软雅黑" panose="020B0503020204020204" pitchFamily="34" charset="-122"/>
              <a:ea typeface="微软雅黑" panose="020B0503020204020204" pitchFamily="34" charset="-122"/>
            </a:endParaRPr>
          </a:p>
          <a:p>
            <a:r>
              <a:rPr lang="en-US" altLang="zh-CN" sz="2400" b="1" dirty="0" smtClean="0">
                <a:latin typeface="微软雅黑" panose="020B0503020204020204" pitchFamily="34" charset="-122"/>
                <a:ea typeface="微软雅黑" panose="020B0503020204020204" pitchFamily="34" charset="-122"/>
              </a:rPr>
              <a:t>1</a:t>
            </a:r>
            <a:r>
              <a:rPr lang="zh-CN" altLang="en-US" sz="2400" b="1" dirty="0" smtClean="0">
                <a:latin typeface="微软雅黑" panose="020B0503020204020204" pitchFamily="34" charset="-122"/>
                <a:ea typeface="微软雅黑" panose="020B0503020204020204" pitchFamily="34" charset="-122"/>
              </a:rPr>
              <a:t>、采用手动拨动法</a:t>
            </a:r>
            <a:endParaRPr lang="zh-CN" altLang="en-US" sz="2400" b="1" dirty="0">
              <a:latin typeface="微软雅黑" panose="020B0503020204020204" pitchFamily="34" charset="-122"/>
              <a:ea typeface="微软雅黑" panose="020B0503020204020204" pitchFamily="34" charset="-122"/>
            </a:endParaRPr>
          </a:p>
        </p:txBody>
      </p:sp>
      <p:sp>
        <p:nvSpPr>
          <p:cNvPr id="7" name="文本框 6"/>
          <p:cNvSpPr txBox="1"/>
          <p:nvPr/>
        </p:nvSpPr>
        <p:spPr>
          <a:xfrm>
            <a:off x="781879" y="2475784"/>
            <a:ext cx="5062330" cy="1938992"/>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a</a:t>
            </a:r>
            <a:r>
              <a:rPr lang="zh-CN" altLang="en-US" sz="2400" b="1" dirty="0" smtClean="0">
                <a:latin typeface="微软雅黑" panose="020B0503020204020204" pitchFamily="34" charset="-122"/>
                <a:ea typeface="微软雅黑" panose="020B0503020204020204" pitchFamily="34" charset="-122"/>
              </a:rPr>
              <a:t>、各通道设置与前面实验一致</a:t>
            </a:r>
            <a:endParaRPr lang="en-US" altLang="zh-CN" sz="2400" b="1" dirty="0" smtClean="0">
              <a:latin typeface="微软雅黑" panose="020B0503020204020204" pitchFamily="34" charset="-122"/>
              <a:ea typeface="微软雅黑" panose="020B0503020204020204" pitchFamily="34" charset="-122"/>
            </a:endParaRPr>
          </a:p>
          <a:p>
            <a:r>
              <a:rPr lang="en-US" altLang="zh-CN" sz="2400" b="1" dirty="0" smtClean="0">
                <a:latin typeface="微软雅黑" panose="020B0503020204020204" pitchFamily="34" charset="-122"/>
                <a:ea typeface="微软雅黑" panose="020B0503020204020204" pitchFamily="34" charset="-122"/>
              </a:rPr>
              <a:t>b</a:t>
            </a:r>
            <a:r>
              <a:rPr lang="zh-CN" altLang="en-US" sz="2400" b="1" dirty="0" smtClean="0">
                <a:latin typeface="微软雅黑" panose="020B0503020204020204" pitchFamily="34" charset="-122"/>
                <a:ea typeface="微软雅黑" panose="020B0503020204020204" pitchFamily="34" charset="-122"/>
              </a:rPr>
              <a:t>、增加</a:t>
            </a:r>
            <a:r>
              <a:rPr lang="zh-CN" altLang="en-US" sz="2400" b="1" dirty="0">
                <a:latin typeface="微软雅黑" panose="020B0503020204020204" pitchFamily="34" charset="-122"/>
                <a:ea typeface="微软雅黑" panose="020B0503020204020204" pitchFamily="34" charset="-122"/>
              </a:rPr>
              <a:t>伯德图。设置</a:t>
            </a:r>
            <a:r>
              <a:rPr lang="zh-CN" altLang="en-US" sz="2400" b="1" dirty="0" smtClean="0">
                <a:latin typeface="微软雅黑" panose="020B0503020204020204" pitchFamily="34" charset="-122"/>
                <a:ea typeface="微软雅黑" panose="020B0503020204020204" pitchFamily="34" charset="-122"/>
              </a:rPr>
              <a:t>→测试内容→频率响应→</a:t>
            </a:r>
            <a:r>
              <a:rPr lang="en-US" altLang="zh-CN" sz="2400" b="1" dirty="0" smtClean="0">
                <a:latin typeface="微软雅黑" panose="020B0503020204020204" pitchFamily="34" charset="-122"/>
                <a:ea typeface="微软雅黑" panose="020B0503020204020204" pitchFamily="34" charset="-122"/>
              </a:rPr>
              <a:t>H1,3</a:t>
            </a:r>
            <a:r>
              <a:rPr lang="zh-CN" altLang="en-US" sz="2400" b="1" dirty="0" smtClean="0">
                <a:latin typeface="微软雅黑" panose="020B0503020204020204" pitchFamily="34" charset="-122"/>
                <a:ea typeface="微软雅黑" panose="020B0503020204020204" pitchFamily="34" charset="-122"/>
              </a:rPr>
              <a:t>（</a:t>
            </a:r>
            <a:r>
              <a:rPr lang="en-US" altLang="zh-CN" sz="2400" b="1" dirty="0" smtClean="0">
                <a:latin typeface="微软雅黑" panose="020B0503020204020204" pitchFamily="34" charset="-122"/>
                <a:ea typeface="微软雅黑" panose="020B0503020204020204" pitchFamily="34" charset="-122"/>
              </a:rPr>
              <a:t>f</a:t>
            </a:r>
            <a:r>
              <a:rPr lang="zh-CN" altLang="en-US" sz="2400" b="1" dirty="0" smtClean="0">
                <a:latin typeface="微软雅黑" panose="020B0503020204020204" pitchFamily="34" charset="-122"/>
                <a:ea typeface="微软雅黑" panose="020B0503020204020204" pitchFamily="34" charset="-122"/>
              </a:rPr>
              <a:t>）</a:t>
            </a:r>
            <a:endParaRPr lang="en-US" altLang="zh-CN" sz="2400" b="1" dirty="0" smtClean="0">
              <a:latin typeface="微软雅黑" panose="020B0503020204020204" pitchFamily="34" charset="-122"/>
              <a:ea typeface="微软雅黑" panose="020B0503020204020204" pitchFamily="34" charset="-122"/>
            </a:endParaRPr>
          </a:p>
          <a:p>
            <a:r>
              <a:rPr lang="en-US" altLang="zh-CN" sz="2400" b="1" dirty="0" smtClean="0">
                <a:latin typeface="微软雅黑" panose="020B0503020204020204" pitchFamily="34" charset="-122"/>
                <a:ea typeface="微软雅黑" panose="020B0503020204020204" pitchFamily="34" charset="-122"/>
              </a:rPr>
              <a:t>c</a:t>
            </a:r>
            <a:r>
              <a:rPr lang="zh-CN" altLang="en-US" sz="2400" b="1" dirty="0" smtClean="0">
                <a:latin typeface="微软雅黑" panose="020B0503020204020204" pitchFamily="34" charset="-122"/>
                <a:ea typeface="微软雅黑" panose="020B0503020204020204" pitchFamily="34" charset="-122"/>
              </a:rPr>
              <a:t>、点击波德图窗口       ，将函数栏，频率响应，</a:t>
            </a:r>
            <a:r>
              <a:rPr lang="en-US" altLang="zh-CN" sz="2400" b="1" dirty="0">
                <a:latin typeface="微软雅黑" panose="020B0503020204020204" pitchFamily="34" charset="-122"/>
                <a:ea typeface="微软雅黑" panose="020B0503020204020204" pitchFamily="34" charset="-122"/>
              </a:rPr>
              <a:t> H1,3</a:t>
            </a:r>
            <a:r>
              <a:rPr lang="zh-CN" altLang="en-US" sz="2400" b="1" dirty="0">
                <a:latin typeface="微软雅黑" panose="020B0503020204020204" pitchFamily="34" charset="-122"/>
                <a:ea typeface="微软雅黑" panose="020B0503020204020204" pitchFamily="34" charset="-122"/>
              </a:rPr>
              <a:t>（</a:t>
            </a:r>
            <a:r>
              <a:rPr lang="en-US" altLang="zh-CN" sz="2400" b="1" dirty="0">
                <a:latin typeface="微软雅黑" panose="020B0503020204020204" pitchFamily="34" charset="-122"/>
                <a:ea typeface="微软雅黑" panose="020B0503020204020204" pitchFamily="34" charset="-122"/>
              </a:rPr>
              <a:t>f</a:t>
            </a:r>
            <a:r>
              <a:rPr lang="zh-CN" altLang="en-US" sz="2400" b="1" dirty="0" smtClean="0">
                <a:latin typeface="微软雅黑" panose="020B0503020204020204" pitchFamily="34" charset="-122"/>
                <a:ea typeface="微软雅黑" panose="020B0503020204020204" pitchFamily="34" charset="-122"/>
              </a:rPr>
              <a:t>），拖入窗口。</a:t>
            </a:r>
            <a:endParaRPr lang="zh-CN" altLang="en-US" sz="2400" b="1" dirty="0">
              <a:latin typeface="微软雅黑" panose="020B0503020204020204" pitchFamily="34" charset="-122"/>
              <a:ea typeface="微软雅黑" panose="020B0503020204020204" pitchFamily="34" charset="-122"/>
            </a:endParaRPr>
          </a:p>
        </p:txBody>
      </p:sp>
      <p:pic>
        <p:nvPicPr>
          <p:cNvPr id="3" name="图片 2"/>
          <p:cNvPicPr>
            <a:picLocks noChangeAspect="1"/>
          </p:cNvPicPr>
          <p:nvPr/>
        </p:nvPicPr>
        <p:blipFill>
          <a:blip r:embed="rId2"/>
          <a:stretch>
            <a:fillRect/>
          </a:stretch>
        </p:blipFill>
        <p:spPr>
          <a:xfrm>
            <a:off x="6580909" y="1824343"/>
            <a:ext cx="4224323" cy="3390221"/>
          </a:xfrm>
          <a:prstGeom prst="rect">
            <a:avLst/>
          </a:prstGeom>
        </p:spPr>
      </p:pic>
      <p:pic>
        <p:nvPicPr>
          <p:cNvPr id="8" name="图片 7"/>
          <p:cNvPicPr>
            <a:picLocks noChangeAspect="1"/>
          </p:cNvPicPr>
          <p:nvPr/>
        </p:nvPicPr>
        <p:blipFill>
          <a:blip r:embed="rId3"/>
          <a:stretch>
            <a:fillRect/>
          </a:stretch>
        </p:blipFill>
        <p:spPr>
          <a:xfrm>
            <a:off x="8569223" y="4152378"/>
            <a:ext cx="2448267" cy="2124371"/>
          </a:xfrm>
          <a:prstGeom prst="rect">
            <a:avLst/>
          </a:prstGeom>
        </p:spPr>
      </p:pic>
      <p:pic>
        <p:nvPicPr>
          <p:cNvPr id="9" name="图片 8"/>
          <p:cNvPicPr>
            <a:picLocks noChangeAspect="1"/>
          </p:cNvPicPr>
          <p:nvPr/>
        </p:nvPicPr>
        <p:blipFill>
          <a:blip r:embed="rId4"/>
          <a:stretch>
            <a:fillRect/>
          </a:stretch>
        </p:blipFill>
        <p:spPr>
          <a:xfrm>
            <a:off x="3542860" y="3575209"/>
            <a:ext cx="525558" cy="470235"/>
          </a:xfrm>
          <a:prstGeom prst="rect">
            <a:avLst/>
          </a:prstGeom>
        </p:spPr>
      </p:pic>
      <p:pic>
        <p:nvPicPr>
          <p:cNvPr id="10" name="图片 9"/>
          <p:cNvPicPr>
            <a:picLocks noChangeAspect="1"/>
          </p:cNvPicPr>
          <p:nvPr/>
        </p:nvPicPr>
        <p:blipFill>
          <a:blip r:embed="rId5"/>
          <a:stretch>
            <a:fillRect/>
          </a:stretch>
        </p:blipFill>
        <p:spPr>
          <a:xfrm>
            <a:off x="1213754" y="4442499"/>
            <a:ext cx="4193134" cy="2253810"/>
          </a:xfrm>
          <a:prstGeom prst="rect">
            <a:avLst/>
          </a:prstGeom>
        </p:spPr>
      </p:pic>
      <p:sp>
        <p:nvSpPr>
          <p:cNvPr id="11" name="文本框 10"/>
          <p:cNvSpPr txBox="1"/>
          <p:nvPr/>
        </p:nvSpPr>
        <p:spPr>
          <a:xfrm>
            <a:off x="1402067" y="155600"/>
            <a:ext cx="9387867"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不锈钢材质悬臂梁附加质量块固有频率分析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84557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p:cNvSpPr txBox="1"/>
          <p:nvPr/>
        </p:nvSpPr>
        <p:spPr>
          <a:xfrm>
            <a:off x="1402067" y="155600"/>
            <a:ext cx="9387867"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不锈钢材质悬臂梁附加质量块固有频率分析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443883" y="1882560"/>
            <a:ext cx="5761317" cy="3090926"/>
          </a:xfrm>
          <a:prstGeom prst="rect">
            <a:avLst/>
          </a:prstGeom>
        </p:spPr>
      </p:pic>
      <p:pic>
        <p:nvPicPr>
          <p:cNvPr id="3" name="图片 2"/>
          <p:cNvPicPr>
            <a:picLocks noChangeAspect="1"/>
          </p:cNvPicPr>
          <p:nvPr/>
        </p:nvPicPr>
        <p:blipFill>
          <a:blip r:embed="rId3"/>
          <a:stretch>
            <a:fillRect/>
          </a:stretch>
        </p:blipFill>
        <p:spPr>
          <a:xfrm>
            <a:off x="6338696" y="1882560"/>
            <a:ext cx="5226287" cy="3090926"/>
          </a:xfrm>
          <a:prstGeom prst="rect">
            <a:avLst/>
          </a:prstGeom>
        </p:spPr>
      </p:pic>
      <p:sp>
        <p:nvSpPr>
          <p:cNvPr id="7" name="矩形 6"/>
          <p:cNvSpPr/>
          <p:nvPr/>
        </p:nvSpPr>
        <p:spPr>
          <a:xfrm>
            <a:off x="602375" y="5284204"/>
            <a:ext cx="10962608" cy="923330"/>
          </a:xfrm>
          <a:prstGeom prst="rect">
            <a:avLst/>
          </a:prstGeom>
          <a:solidFill>
            <a:schemeClr val="accent2">
              <a:lumMod val="20000"/>
              <a:lumOff val="80000"/>
            </a:schemeClr>
          </a:solidFill>
        </p:spPr>
        <p:txBody>
          <a:bodyPr wrap="square" rtlCol="0">
            <a:spAutoFit/>
          </a:bodyPr>
          <a:lstStyle/>
          <a:p>
            <a:r>
              <a:rPr lang="zh-CN" altLang="en-US" b="1" dirty="0" smtClean="0">
                <a:solidFill>
                  <a:srgbClr val="FF0000"/>
                </a:solidFill>
              </a:rPr>
              <a:t>思考：</a:t>
            </a:r>
            <a:endParaRPr lang="en-US" altLang="zh-CN" b="1" dirty="0" smtClean="0">
              <a:solidFill>
                <a:srgbClr val="FF0000"/>
              </a:solidFill>
            </a:endParaRPr>
          </a:p>
          <a:p>
            <a:r>
              <a:rPr lang="en-US" altLang="zh-CN" b="1" dirty="0" smtClean="0">
                <a:solidFill>
                  <a:srgbClr val="FF0000"/>
                </a:solidFill>
              </a:rPr>
              <a:t>1</a:t>
            </a:r>
            <a:r>
              <a:rPr lang="zh-CN" altLang="en-US" b="1" dirty="0" smtClean="0">
                <a:solidFill>
                  <a:srgbClr val="FF0000"/>
                </a:solidFill>
              </a:rPr>
              <a:t>、能否得到其固有频率？</a:t>
            </a:r>
            <a:endParaRPr lang="en-US" altLang="zh-CN" b="1" dirty="0">
              <a:solidFill>
                <a:srgbClr val="FF0000"/>
              </a:solidFill>
            </a:endParaRPr>
          </a:p>
          <a:p>
            <a:r>
              <a:rPr lang="en-US" altLang="zh-CN" b="1" dirty="0" smtClean="0">
                <a:solidFill>
                  <a:srgbClr val="FF0000"/>
                </a:solidFill>
              </a:rPr>
              <a:t>2</a:t>
            </a:r>
            <a:r>
              <a:rPr lang="zh-CN" altLang="en-US" b="1" dirty="0" smtClean="0">
                <a:solidFill>
                  <a:srgbClr val="FF0000"/>
                </a:solidFill>
              </a:rPr>
              <a:t>、位置传感器和加速度传感器的相位差是多少？</a:t>
            </a:r>
            <a:endParaRPr lang="zh-CN" altLang="en-US" b="1" dirty="0">
              <a:solidFill>
                <a:srgbClr val="FF0000"/>
              </a:solidFill>
            </a:endParaRPr>
          </a:p>
        </p:txBody>
      </p:sp>
      <p:sp>
        <p:nvSpPr>
          <p:cNvPr id="5" name="矩形 4"/>
          <p:cNvSpPr/>
          <p:nvPr/>
        </p:nvSpPr>
        <p:spPr>
          <a:xfrm>
            <a:off x="443883" y="926747"/>
            <a:ext cx="10651237" cy="830997"/>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d</a:t>
            </a:r>
            <a:r>
              <a:rPr lang="zh-CN" altLang="en-US" sz="2400" b="1" dirty="0" smtClean="0">
                <a:latin typeface="微软雅黑" panose="020B0503020204020204" pitchFamily="34" charset="-122"/>
                <a:ea typeface="微软雅黑" panose="020B0503020204020204" pitchFamily="34" charset="-122"/>
              </a:rPr>
              <a:t>、在</a:t>
            </a:r>
            <a:r>
              <a:rPr lang="zh-CN" altLang="en-US" sz="2400" b="1" dirty="0">
                <a:latin typeface="微软雅黑" panose="020B0503020204020204" pitchFamily="34" charset="-122"/>
                <a:ea typeface="微软雅黑" panose="020B0503020204020204" pitchFamily="34" charset="-122"/>
              </a:rPr>
              <a:t>各频域窗口添加线光标，并设置光标联动。任何窗口的的光标拖动，会在对应频域窗口同步更新。</a:t>
            </a:r>
            <a:endParaRPr lang="en-US" altLang="zh-CN"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859731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402067" y="155600"/>
            <a:ext cx="9387867"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不锈钢材质悬臂梁附加质量块固有频率分析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781878" y="1298147"/>
            <a:ext cx="10794603"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2</a:t>
            </a:r>
            <a:r>
              <a:rPr lang="zh-CN" altLang="en-US"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采用转子振动法</a:t>
            </a:r>
            <a:endParaRPr lang="zh-CN" altLang="en-US" sz="2400" b="1" dirty="0">
              <a:latin typeface="微软雅黑" panose="020B0503020204020204" pitchFamily="34" charset="-122"/>
              <a:ea typeface="微软雅黑" panose="020B0503020204020204" pitchFamily="34" charset="-122"/>
            </a:endParaRPr>
          </a:p>
        </p:txBody>
      </p:sp>
      <p:sp>
        <p:nvSpPr>
          <p:cNvPr id="8" name="文本框 7"/>
          <p:cNvSpPr txBox="1"/>
          <p:nvPr/>
        </p:nvSpPr>
        <p:spPr>
          <a:xfrm>
            <a:off x="781878" y="1759812"/>
            <a:ext cx="7220184" cy="307777"/>
          </a:xfrm>
          <a:prstGeom prst="rect">
            <a:avLst/>
          </a:prstGeom>
          <a:noFill/>
        </p:spPr>
        <p:txBody>
          <a:bodyPr wrap="square" rtlCol="0">
            <a:spAutoFit/>
          </a:bodyPr>
          <a:lstStyle/>
          <a:p>
            <a:r>
              <a:rPr lang="zh-CN" altLang="en-US" sz="1400" b="1" dirty="0" smtClean="0">
                <a:latin typeface="微软雅黑" panose="020B0503020204020204" pitchFamily="34" charset="-122"/>
                <a:ea typeface="微软雅黑" panose="020B0503020204020204" pitchFamily="34" charset="-122"/>
              </a:rPr>
              <a:t>给</a:t>
            </a:r>
            <a:r>
              <a:rPr lang="zh-CN" altLang="en-US" sz="1400" b="1" dirty="0" smtClean="0">
                <a:latin typeface="微软雅黑" panose="020B0503020204020204" pitchFamily="34" charset="-122"/>
                <a:ea typeface="微软雅黑" panose="020B0503020204020204" pitchFamily="34" charset="-122"/>
              </a:rPr>
              <a:t>转子一个稳定转速，查看当前激振频率下各信号的特点。</a:t>
            </a:r>
            <a:endParaRPr lang="zh-CN" altLang="en-US" sz="14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354893" y="2067589"/>
            <a:ext cx="6209002" cy="3305209"/>
          </a:xfrm>
          <a:prstGeom prst="rect">
            <a:avLst/>
          </a:prstGeom>
        </p:spPr>
      </p:pic>
      <p:pic>
        <p:nvPicPr>
          <p:cNvPr id="3" name="图片 2"/>
          <p:cNvPicPr>
            <a:picLocks noChangeAspect="1"/>
          </p:cNvPicPr>
          <p:nvPr/>
        </p:nvPicPr>
        <p:blipFill>
          <a:blip r:embed="rId3"/>
          <a:stretch>
            <a:fillRect/>
          </a:stretch>
        </p:blipFill>
        <p:spPr>
          <a:xfrm>
            <a:off x="6646731" y="2256028"/>
            <a:ext cx="5048060" cy="2974928"/>
          </a:xfrm>
          <a:prstGeom prst="rect">
            <a:avLst/>
          </a:prstGeom>
        </p:spPr>
      </p:pic>
      <p:sp>
        <p:nvSpPr>
          <p:cNvPr id="10" name="矩形 9"/>
          <p:cNvSpPr/>
          <p:nvPr/>
        </p:nvSpPr>
        <p:spPr>
          <a:xfrm>
            <a:off x="781878" y="5561237"/>
            <a:ext cx="10962608" cy="646331"/>
          </a:xfrm>
          <a:prstGeom prst="rect">
            <a:avLst/>
          </a:prstGeom>
          <a:solidFill>
            <a:schemeClr val="accent2">
              <a:lumMod val="20000"/>
              <a:lumOff val="80000"/>
            </a:schemeClr>
          </a:solidFill>
        </p:spPr>
        <p:txBody>
          <a:bodyPr wrap="square" rtlCol="0">
            <a:spAutoFit/>
          </a:bodyPr>
          <a:lstStyle/>
          <a:p>
            <a:r>
              <a:rPr lang="zh-CN" altLang="en-US" b="1" dirty="0" smtClean="0">
                <a:solidFill>
                  <a:srgbClr val="FF0000"/>
                </a:solidFill>
              </a:rPr>
              <a:t>思考：</a:t>
            </a:r>
            <a:endParaRPr lang="en-US" altLang="zh-CN" b="1" dirty="0" smtClean="0">
              <a:solidFill>
                <a:srgbClr val="FF0000"/>
              </a:solidFill>
            </a:endParaRPr>
          </a:p>
          <a:p>
            <a:r>
              <a:rPr lang="en-US" altLang="zh-CN" b="1" dirty="0" smtClean="0">
                <a:solidFill>
                  <a:srgbClr val="FF0000"/>
                </a:solidFill>
              </a:rPr>
              <a:t>1</a:t>
            </a:r>
            <a:r>
              <a:rPr lang="zh-CN" altLang="en-US" b="1" dirty="0" smtClean="0">
                <a:solidFill>
                  <a:srgbClr val="FF0000"/>
                </a:solidFill>
              </a:rPr>
              <a:t>、可以得出哪些有用信息？</a:t>
            </a:r>
            <a:endParaRPr lang="zh-CN" altLang="en-US" b="1" dirty="0">
              <a:solidFill>
                <a:srgbClr val="FF0000"/>
              </a:solidFill>
            </a:endParaRPr>
          </a:p>
        </p:txBody>
      </p:sp>
    </p:spTree>
    <p:extLst>
      <p:ext uri="{BB962C8B-B14F-4D97-AF65-F5344CB8AC3E}">
        <p14:creationId xmlns:p14="http://schemas.microsoft.com/office/powerpoint/2010/main" val="27131665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402067" y="155600"/>
            <a:ext cx="9387867"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不锈钢材质悬臂梁附加质量块固有频率分析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089339" y="1794363"/>
            <a:ext cx="10794603"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a)</a:t>
            </a:r>
            <a:r>
              <a:rPr lang="zh-CN" altLang="en-US" sz="2400" b="1" dirty="0" smtClean="0">
                <a:latin typeface="微软雅黑" panose="020B0503020204020204" pitchFamily="34" charset="-122"/>
                <a:ea typeface="微软雅黑" panose="020B0503020204020204" pitchFamily="34" charset="-122"/>
              </a:rPr>
              <a:t>整个时间段观测</a:t>
            </a:r>
            <a:endParaRPr lang="zh-CN" altLang="en-US" sz="2400" b="1" dirty="0">
              <a:latin typeface="微软雅黑" panose="020B0503020204020204" pitchFamily="34" charset="-122"/>
              <a:ea typeface="微软雅黑" panose="020B0503020204020204" pitchFamily="34" charset="-122"/>
            </a:endParaRPr>
          </a:p>
        </p:txBody>
      </p:sp>
      <p:pic>
        <p:nvPicPr>
          <p:cNvPr id="4" name="图片 3"/>
          <p:cNvPicPr>
            <a:picLocks noChangeAspect="1"/>
          </p:cNvPicPr>
          <p:nvPr/>
        </p:nvPicPr>
        <p:blipFill>
          <a:blip r:embed="rId2"/>
          <a:stretch>
            <a:fillRect/>
          </a:stretch>
        </p:blipFill>
        <p:spPr>
          <a:xfrm>
            <a:off x="1089339" y="2256028"/>
            <a:ext cx="7368351" cy="3990068"/>
          </a:xfrm>
          <a:prstGeom prst="rect">
            <a:avLst/>
          </a:prstGeom>
        </p:spPr>
      </p:pic>
      <p:sp>
        <p:nvSpPr>
          <p:cNvPr id="9" name="文本框 8"/>
          <p:cNvSpPr txBox="1"/>
          <p:nvPr/>
        </p:nvSpPr>
        <p:spPr>
          <a:xfrm>
            <a:off x="632437" y="1032763"/>
            <a:ext cx="10794603"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3</a:t>
            </a:r>
            <a:r>
              <a:rPr lang="zh-CN" altLang="en-US"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采用激振</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离线分析法</a:t>
            </a:r>
            <a:endParaRPr lang="zh-CN" altLang="en-US" sz="24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1936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1402067" y="155600"/>
            <a:ext cx="9387867"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不锈钢材质悬臂梁附加质量块固有频率分析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
        <p:nvSpPr>
          <p:cNvPr id="7" name="文本框 6"/>
          <p:cNvSpPr txBox="1"/>
          <p:nvPr/>
        </p:nvSpPr>
        <p:spPr>
          <a:xfrm>
            <a:off x="1169238" y="1494428"/>
            <a:ext cx="10794603"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b)</a:t>
            </a:r>
            <a:r>
              <a:rPr lang="zh-CN" altLang="en-US" sz="2400" b="1" dirty="0" smtClean="0">
                <a:latin typeface="微软雅黑" panose="020B0503020204020204" pitchFamily="34" charset="-122"/>
                <a:ea typeface="微软雅黑" panose="020B0503020204020204" pitchFamily="34" charset="-122"/>
              </a:rPr>
              <a:t>频域峰值保持</a:t>
            </a:r>
            <a:endParaRPr lang="zh-CN" altLang="en-US" sz="2400" b="1" dirty="0">
              <a:latin typeface="微软雅黑" panose="020B0503020204020204" pitchFamily="34" charset="-122"/>
              <a:ea typeface="微软雅黑" panose="020B0503020204020204" pitchFamily="34" charset="-122"/>
            </a:endParaRPr>
          </a:p>
        </p:txBody>
      </p:sp>
      <p:sp>
        <p:nvSpPr>
          <p:cNvPr id="9" name="文本框 8"/>
          <p:cNvSpPr txBox="1"/>
          <p:nvPr/>
        </p:nvSpPr>
        <p:spPr>
          <a:xfrm>
            <a:off x="632437" y="1032763"/>
            <a:ext cx="10794603" cy="461665"/>
          </a:xfrm>
          <a:prstGeom prst="rect">
            <a:avLst/>
          </a:prstGeom>
          <a:noFill/>
        </p:spPr>
        <p:txBody>
          <a:bodyPr wrap="square" rtlCol="0">
            <a:spAutoFit/>
          </a:bodyPr>
          <a:lstStyle/>
          <a:p>
            <a:r>
              <a:rPr lang="en-US" altLang="zh-CN" sz="2400" b="1" dirty="0" smtClean="0">
                <a:latin typeface="微软雅黑" panose="020B0503020204020204" pitchFamily="34" charset="-122"/>
                <a:ea typeface="微软雅黑" panose="020B0503020204020204" pitchFamily="34" charset="-122"/>
              </a:rPr>
              <a:t>3</a:t>
            </a:r>
            <a:r>
              <a:rPr lang="zh-CN" altLang="en-US"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采用激振</a:t>
            </a:r>
            <a:r>
              <a:rPr lang="en-US" altLang="zh-CN" sz="2400" b="1" dirty="0" smtClean="0">
                <a:latin typeface="微软雅黑" panose="020B0503020204020204" pitchFamily="34" charset="-122"/>
                <a:ea typeface="微软雅黑" panose="020B0503020204020204" pitchFamily="34" charset="-122"/>
              </a:rPr>
              <a:t>+</a:t>
            </a:r>
            <a:r>
              <a:rPr lang="zh-CN" altLang="en-US" sz="2400" b="1" dirty="0" smtClean="0">
                <a:latin typeface="微软雅黑" panose="020B0503020204020204" pitchFamily="34" charset="-122"/>
                <a:ea typeface="微软雅黑" panose="020B0503020204020204" pitchFamily="34" charset="-122"/>
              </a:rPr>
              <a:t>离线分析法</a:t>
            </a:r>
            <a:endParaRPr lang="zh-CN" altLang="en-US" sz="2400" b="1" dirty="0">
              <a:latin typeface="微软雅黑" panose="020B0503020204020204" pitchFamily="34" charset="-122"/>
              <a:ea typeface="微软雅黑" panose="020B0503020204020204" pitchFamily="34" charset="-122"/>
            </a:endParaRPr>
          </a:p>
        </p:txBody>
      </p:sp>
      <p:pic>
        <p:nvPicPr>
          <p:cNvPr id="2" name="图片 1"/>
          <p:cNvPicPr>
            <a:picLocks noChangeAspect="1"/>
          </p:cNvPicPr>
          <p:nvPr/>
        </p:nvPicPr>
        <p:blipFill>
          <a:blip r:embed="rId2"/>
          <a:stretch>
            <a:fillRect/>
          </a:stretch>
        </p:blipFill>
        <p:spPr>
          <a:xfrm>
            <a:off x="531886" y="2183906"/>
            <a:ext cx="5555329" cy="2991776"/>
          </a:xfrm>
          <a:prstGeom prst="rect">
            <a:avLst/>
          </a:prstGeom>
        </p:spPr>
      </p:pic>
      <p:pic>
        <p:nvPicPr>
          <p:cNvPr id="3" name="图片 2"/>
          <p:cNvPicPr>
            <a:picLocks noChangeAspect="1"/>
          </p:cNvPicPr>
          <p:nvPr/>
        </p:nvPicPr>
        <p:blipFill>
          <a:blip r:embed="rId3"/>
          <a:stretch>
            <a:fillRect/>
          </a:stretch>
        </p:blipFill>
        <p:spPr>
          <a:xfrm>
            <a:off x="6195542" y="2183906"/>
            <a:ext cx="5576903" cy="2991776"/>
          </a:xfrm>
          <a:prstGeom prst="rect">
            <a:avLst/>
          </a:prstGeom>
        </p:spPr>
      </p:pic>
    </p:spTree>
    <p:extLst>
      <p:ext uri="{BB962C8B-B14F-4D97-AF65-F5344CB8AC3E}">
        <p14:creationId xmlns:p14="http://schemas.microsoft.com/office/powerpoint/2010/main" val="12552088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702365" y="1637438"/>
            <a:ext cx="10137913" cy="3077766"/>
          </a:xfrm>
          <a:prstGeom prst="rect">
            <a:avLst/>
          </a:prstGeom>
        </p:spPr>
        <p:txBody>
          <a:bodyPr wrap="square">
            <a:spAutoFit/>
          </a:bodyPr>
          <a:lstStyle/>
          <a:p>
            <a:pPr marL="457200" indent="-457200" algn="just">
              <a:lnSpc>
                <a:spcPct val="150000"/>
              </a:lnSpc>
              <a:spcAft>
                <a:spcPts val="3000"/>
              </a:spcAft>
              <a:buFont typeface="+mj-lt"/>
              <a:buAutoNum type="arabicPeriod"/>
            </a:pP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从离线分析，查看电涡流位移传感器</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时域、自功率谱幅值最大时刻对应的转速</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3000"/>
              </a:spcAft>
              <a:buFont typeface="+mj-lt"/>
              <a:buAutoNum type="arabicPeriod"/>
            </a:pPr>
            <a:r>
              <a:rPr lang="zh-CN" altLang="zh-CN" sz="2400" b="1" kern="100" dirty="0" smtClean="0">
                <a:latin typeface="微软雅黑" panose="020B0503020204020204" pitchFamily="34" charset="-122"/>
                <a:ea typeface="微软雅黑" panose="020B0503020204020204" pitchFamily="34" charset="-122"/>
                <a:cs typeface="Times New Roman" panose="02020603050405020304" pitchFamily="18" charset="0"/>
              </a:rPr>
              <a:t>调整</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电机转速</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到</a:t>
            </a:r>
            <a:r>
              <a:rPr lang="zh-CN" altLang="en-US" sz="2400" kern="100" dirty="0" smtClean="0">
                <a:latin typeface="微软雅黑" panose="020B0503020204020204" pitchFamily="34" charset="-122"/>
                <a:ea typeface="微软雅黑" panose="020B0503020204020204" pitchFamily="34" charset="-122"/>
                <a:cs typeface="Times New Roman" panose="02020603050405020304" pitchFamily="18" charset="0"/>
              </a:rPr>
              <a:t>固有频率</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的</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位置，查看悬臂梁的共振现象</a:t>
            </a: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a:t>
            </a:r>
            <a:endParaRPr lang="en-US"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endParaRPr>
          </a:p>
          <a:p>
            <a:pPr marL="457200" indent="-457200" algn="just">
              <a:lnSpc>
                <a:spcPct val="150000"/>
              </a:lnSpc>
              <a:spcAft>
                <a:spcPts val="3000"/>
              </a:spcAft>
              <a:buFont typeface="+mj-lt"/>
              <a:buAutoNum type="arabicPeriod"/>
            </a:pPr>
            <a:r>
              <a:rPr lang="zh-CN" altLang="zh-CN" sz="2400" kern="100" dirty="0" smtClean="0">
                <a:latin typeface="微软雅黑" panose="020B0503020204020204" pitchFamily="34" charset="-122"/>
                <a:ea typeface="微软雅黑" panose="020B0503020204020204" pitchFamily="34" charset="-122"/>
                <a:cs typeface="Times New Roman" panose="02020603050405020304" pitchFamily="18" charset="0"/>
              </a:rPr>
              <a:t>测试</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记录悬臂梁</a:t>
            </a:r>
            <a:r>
              <a:rPr lang="zh-CN" altLang="zh-CN" sz="2400" b="1" kern="100" dirty="0">
                <a:latin typeface="微软雅黑" panose="020B0503020204020204" pitchFamily="34" charset="-122"/>
                <a:ea typeface="微软雅黑" panose="020B0503020204020204" pitchFamily="34" charset="-122"/>
                <a:cs typeface="Times New Roman" panose="02020603050405020304" pitchFamily="18" charset="0"/>
              </a:rPr>
              <a:t>共振时的电机转速、位移幅值</a:t>
            </a:r>
            <a:r>
              <a:rPr lang="zh-CN" altLang="zh-CN" sz="2400" kern="100" dirty="0">
                <a:latin typeface="微软雅黑" panose="020B0503020204020204" pitchFamily="34" charset="-122"/>
                <a:ea typeface="微软雅黑" panose="020B0503020204020204" pitchFamily="34" charset="-122"/>
                <a:cs typeface="Times New Roman" panose="02020603050405020304" pitchFamily="18" charset="0"/>
              </a:rPr>
              <a:t>。</a:t>
            </a:r>
          </a:p>
        </p:txBody>
      </p:sp>
      <p:sp>
        <p:nvSpPr>
          <p:cNvPr id="7" name="文本框 6"/>
          <p:cNvSpPr txBox="1"/>
          <p:nvPr/>
        </p:nvSpPr>
        <p:spPr>
          <a:xfrm>
            <a:off x="1402067" y="155600"/>
            <a:ext cx="9387867" cy="646331"/>
          </a:xfrm>
          <a:prstGeom prst="rect">
            <a:avLst/>
          </a:prstGeom>
          <a:noFill/>
        </p:spPr>
        <p:txBody>
          <a:bodyPr wrap="square" rtlCol="0">
            <a:spAutoFit/>
          </a:bodyPr>
          <a:lstStyle/>
          <a:p>
            <a:pPr algn="ctr"/>
            <a:r>
              <a:rPr lang="zh-CN" altLang="en-US" sz="3600" b="1" dirty="0" smtClean="0">
                <a:solidFill>
                  <a:srgbClr val="7030A0"/>
                </a:solidFill>
                <a:latin typeface="微软雅黑" panose="020B0503020204020204" pitchFamily="34" charset="-122"/>
                <a:ea typeface="微软雅黑" panose="020B0503020204020204" pitchFamily="34" charset="-122"/>
              </a:rPr>
              <a:t>不锈钢材质悬臂梁附加质量块固有频率分析</a:t>
            </a:r>
            <a:endParaRPr lang="zh-CN" altLang="en-US" sz="3600" b="1" dirty="0">
              <a:solidFill>
                <a:srgbClr val="7030A0"/>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035199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718</TotalTime>
  <Words>2254</Words>
  <Application>Microsoft Office PowerPoint</Application>
  <PresentationFormat>宽屏</PresentationFormat>
  <Paragraphs>223</Paragraphs>
  <Slides>30</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30</vt:i4>
      </vt:variant>
    </vt:vector>
  </HeadingPairs>
  <TitlesOfParts>
    <vt:vector size="39" baseType="lpstr">
      <vt:lpstr>等线</vt:lpstr>
      <vt:lpstr>等线 Light</vt:lpstr>
      <vt:lpstr>宋体</vt:lpstr>
      <vt:lpstr>微软雅黑</vt:lpstr>
      <vt:lpstr>Arial</vt:lpstr>
      <vt:lpstr>Cambria Math</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69</cp:revision>
  <dcterms:created xsi:type="dcterms:W3CDTF">2023-12-08T07:05:37Z</dcterms:created>
  <dcterms:modified xsi:type="dcterms:W3CDTF">2025-12-06T18:55:51Z</dcterms:modified>
</cp:coreProperties>
</file>